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9" r:id="rId1"/>
  </p:sldMasterIdLst>
  <p:notesMasterIdLst>
    <p:notesMasterId r:id="rId37"/>
  </p:notesMasterIdLst>
  <p:sldIdLst>
    <p:sldId id="256" r:id="rId2"/>
    <p:sldId id="291" r:id="rId3"/>
    <p:sldId id="293" r:id="rId4"/>
    <p:sldId id="295" r:id="rId5"/>
    <p:sldId id="297" r:id="rId6"/>
    <p:sldId id="298" r:id="rId7"/>
    <p:sldId id="301" r:id="rId8"/>
    <p:sldId id="299" r:id="rId9"/>
    <p:sldId id="310" r:id="rId10"/>
    <p:sldId id="300" r:id="rId11"/>
    <p:sldId id="311" r:id="rId12"/>
    <p:sldId id="312" r:id="rId13"/>
    <p:sldId id="313" r:id="rId14"/>
    <p:sldId id="304" r:id="rId15"/>
    <p:sldId id="318" r:id="rId16"/>
    <p:sldId id="303" r:id="rId17"/>
    <p:sldId id="305" r:id="rId18"/>
    <p:sldId id="306" r:id="rId19"/>
    <p:sldId id="307" r:id="rId20"/>
    <p:sldId id="309" r:id="rId21"/>
    <p:sldId id="308" r:id="rId22"/>
    <p:sldId id="314" r:id="rId23"/>
    <p:sldId id="315" r:id="rId24"/>
    <p:sldId id="316" r:id="rId25"/>
    <p:sldId id="317" r:id="rId26"/>
    <p:sldId id="322" r:id="rId27"/>
    <p:sldId id="321" r:id="rId28"/>
    <p:sldId id="323" r:id="rId29"/>
    <p:sldId id="320" r:id="rId30"/>
    <p:sldId id="324" r:id="rId31"/>
    <p:sldId id="325" r:id="rId32"/>
    <p:sldId id="326" r:id="rId33"/>
    <p:sldId id="296" r:id="rId34"/>
    <p:sldId id="319" r:id="rId35"/>
    <p:sldId id="302" r:id="rId36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38"/>
      <p:bold r:id="rId39"/>
      <p:italic r:id="rId40"/>
      <p:boldItalic r:id="rId41"/>
    </p:embeddedFont>
    <p:embeddedFont>
      <p:font typeface="Arial Nova" panose="020B0504020202020204" pitchFamily="34" charset="0"/>
      <p:regular r:id="rId42"/>
      <p:bold r:id="rId43"/>
      <p:italic r:id="rId44"/>
      <p:boldItalic r:id="rId45"/>
    </p:embeddedFont>
    <p:embeddedFont>
      <p:font typeface="Oswald" panose="020B0604020202020204" charset="0"/>
      <p:regular r:id="rId46"/>
      <p:bold r:id="rId47"/>
    </p:embeddedFont>
    <p:embeddedFont>
      <p:font typeface="Source Code Pro" panose="020B0604020202020204" charset="0"/>
      <p:regular r:id="rId48"/>
      <p:bold r:id="rId49"/>
    </p:embeddedFont>
    <p:embeddedFont>
      <p:font typeface="Work Sans" panose="020B0604020202020204" charset="0"/>
      <p:regular r:id="rId5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5E9"/>
    <a:srgbClr val="FEFAD2"/>
    <a:srgbClr val="DAE2E6"/>
    <a:srgbClr val="607D8B"/>
    <a:srgbClr val="F274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40EC8D-E34B-4EA3-BABA-1C79BECF740E}">
  <a:tblStyle styleId="{EA40EC8D-E34B-4EA3-BABA-1C79BECF74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6"/>
  </p:normalViewPr>
  <p:slideViewPr>
    <p:cSldViewPr snapToGrid="0">
      <p:cViewPr varScale="1">
        <p:scale>
          <a:sx n="90" d="100"/>
          <a:sy n="90" d="100"/>
        </p:scale>
        <p:origin x="81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4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645623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669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4a16cbdd42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4a16cbdd42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0006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4a16cbdd42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4a16cbdd42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4369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4a16cbdd42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4a16cbdd42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359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4a16cbdd42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4a16cbdd42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096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4a16cbdd42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4a16cbdd42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0144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name="adj" fmla="val 50000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bg>
      <p:bgPr>
        <a:solidFill>
          <a:srgbClr val="0671BD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4455" y="-51687"/>
            <a:ext cx="6512404" cy="524687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1928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Oswald"/>
              <a:buNone/>
              <a:defRPr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Oswald"/>
              <a:buNone/>
              <a:defRPr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Oswald"/>
              <a:buNone/>
              <a:defRPr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Oswald"/>
              <a:buNone/>
              <a:defRPr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Oswald"/>
              <a:buNone/>
              <a:defRPr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Oswald"/>
              <a:buNone/>
              <a:defRPr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Oswald"/>
              <a:buNone/>
              <a:defRPr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Oswald"/>
              <a:buNone/>
              <a:defRPr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Oswald"/>
              <a:buNone/>
              <a:defRPr sz="3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07763" y="168563"/>
            <a:ext cx="73342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7950" y="1810675"/>
            <a:ext cx="26860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Google Shape;26;p4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9225" y="4937750"/>
            <a:ext cx="137160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2483550" y="1567350"/>
            <a:ext cx="6660300" cy="20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2483550" y="1889700"/>
            <a:ext cx="62298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2" y="-41500"/>
            <a:ext cx="3849624" cy="5226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9225" y="4937750"/>
            <a:ext cx="137160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p7"/>
          <p:cNvCxnSpPr/>
          <p:nvPr/>
        </p:nvCxnSpPr>
        <p:spPr>
          <a:xfrm>
            <a:off x="429200" y="1046977"/>
            <a:ext cx="6141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311700" y="13164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832400" y="13164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0" y="4974625"/>
            <a:ext cx="91440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Work Sans"/>
                <a:ea typeface="Work Sans"/>
                <a:cs typeface="Work Sans"/>
                <a:sym typeface="Work Sans"/>
              </a:rPr>
              <a:t>o9 Solutions, Inc. Confidential &amp; Proprietary.  Your use of these materials is governed by the terms of your written agreement with o9 Solutions.  All unauthorized use and reproduction or distribution is prohibited.</a:t>
            </a:r>
            <a:endParaRPr sz="600"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7" name="Google Shape;47;p7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9225" y="4937750"/>
            <a:ext cx="137160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429200" y="1046977"/>
            <a:ext cx="6141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lgDash"/>
            <a:round/>
            <a:headEnd type="none" w="sm" len="sm"/>
            <a:tailEnd type="none" w="sm" len="sm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9225" y="4937750"/>
            <a:ext cx="137160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0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0"/>
          <p:cNvSpPr txBox="1"/>
          <p:nvPr/>
        </p:nvSpPr>
        <p:spPr>
          <a:xfrm>
            <a:off x="0" y="4974625"/>
            <a:ext cx="91440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Work Sans"/>
                <a:ea typeface="Work Sans"/>
                <a:cs typeface="Work Sans"/>
                <a:sym typeface="Work Sans"/>
              </a:rPr>
              <a:t>o9 Solutions, Inc. Confidential &amp; Proprietary.  Your use of these materials is governed by the terms of your written agreement with o9 Solutions.  All unauthorized use and reproduction or distribution is prohibited.</a:t>
            </a:r>
            <a:endParaRPr sz="600"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5" name="Google Shape;65;p10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9225" y="4937750"/>
            <a:ext cx="137160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9225" y="4937750"/>
            <a:ext cx="137160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 1 1">
  <p:cSld name="CAPTION_ONLY_1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6310500" cy="60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/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9225" y="4937750"/>
            <a:ext cx="137160" cy="205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7"/>
          <p:cNvCxnSpPr/>
          <p:nvPr/>
        </p:nvCxnSpPr>
        <p:spPr>
          <a:xfrm>
            <a:off x="133925" y="532627"/>
            <a:ext cx="6141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98" name="Google Shape;98;p17"/>
          <p:cNvSpPr txBox="1"/>
          <p:nvPr/>
        </p:nvSpPr>
        <p:spPr>
          <a:xfrm>
            <a:off x="0" y="4974625"/>
            <a:ext cx="91440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Work Sans"/>
                <a:ea typeface="Work Sans"/>
                <a:cs typeface="Work Sans"/>
                <a:sym typeface="Work Sans"/>
              </a:rPr>
              <a:t>o9 Solutions, Inc. Confidential &amp; Proprietary.  Your use of these materials is governed by the terms of your written agreement with o9 Solutions.  All unauthorized use and reproduction or distribution is prohibited.</a:t>
            </a:r>
            <a:endParaRPr sz="600"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18"/>
          <p:cNvCxnSpPr/>
          <p:nvPr/>
        </p:nvCxnSpPr>
        <p:spPr>
          <a:xfrm>
            <a:off x="413275" y="2302475"/>
            <a:ext cx="910500" cy="0"/>
          </a:xfrm>
          <a:prstGeom prst="straightConnector1">
            <a:avLst/>
          </a:prstGeom>
          <a:noFill/>
          <a:ln w="28575" cap="flat" cmpd="sng">
            <a:solidFill>
              <a:srgbClr val="D9D9D9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101" name="Google Shape;101;p18"/>
          <p:cNvSpPr txBox="1">
            <a:spLocks noGrp="1"/>
          </p:cNvSpPr>
          <p:nvPr>
            <p:ph type="title" hasCustomPrompt="1"/>
          </p:nvPr>
        </p:nvSpPr>
        <p:spPr>
          <a:xfrm>
            <a:off x="311700" y="4203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311700" y="2466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9225" y="4937750"/>
            <a:ext cx="137160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Work Sans"/>
              <a:buChar char="●"/>
              <a:defRPr sz="18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●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●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Work Sans"/>
              <a:buChar char="■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 b="0" i="0">
                <a:solidFill>
                  <a:schemeClr val="dk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6" r:id="rId7"/>
    <p:sldLayoutId id="2147483657" r:id="rId8"/>
    <p:sldLayoutId id="2147483659" r:id="rId9"/>
    <p:sldLayoutId id="2147483663" r:id="rId10"/>
    <p:sldLayoutId id="214748366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10.0.1.210/SupplyRefModel/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>
            <a:spLocks noGrp="1"/>
          </p:cNvSpPr>
          <p:nvPr>
            <p:ph type="ctrTitle"/>
          </p:nvPr>
        </p:nvSpPr>
        <p:spPr>
          <a:xfrm>
            <a:off x="411175" y="1221925"/>
            <a:ext cx="8282400" cy="19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Reference Model: Supply Planning</a:t>
            </a:r>
            <a:br>
              <a:rPr lang="en" dirty="0"/>
            </a:br>
            <a:r>
              <a:rPr lang="en-IN" sz="2400" dirty="0"/>
              <a:t>Architecture Training</a:t>
            </a:r>
            <a:endParaRPr dirty="0"/>
          </a:p>
        </p:txBody>
      </p:sp>
      <p:sp>
        <p:nvSpPr>
          <p:cNvPr id="176" name="Google Shape;176;p34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FFD966"/>
                </a:solidFill>
              </a:rPr>
              <a:t>Industry Solutions</a:t>
            </a:r>
            <a:endParaRPr sz="2400" dirty="0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Contents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9323A-3498-4AE5-B504-2B4AF627DB78}"/>
              </a:ext>
            </a:extLst>
          </p:cNvPr>
          <p:cNvSpPr txBox="1"/>
          <p:nvPr/>
        </p:nvSpPr>
        <p:spPr>
          <a:xfrm>
            <a:off x="440268" y="1388534"/>
            <a:ext cx="45063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Modules Overview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Basic Master Planning Module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Extending/Customizing The Ref Model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Additional Master Planning Modules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Order Planning 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AEE032-093F-4AC5-8728-93F10EA02928}"/>
              </a:ext>
            </a:extLst>
          </p:cNvPr>
          <p:cNvSpPr/>
          <p:nvPr/>
        </p:nvSpPr>
        <p:spPr>
          <a:xfrm>
            <a:off x="311700" y="1467556"/>
            <a:ext cx="128568" cy="3160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D2269-B940-45CC-A4E9-C13450856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316425"/>
            <a:ext cx="7748567" cy="3099900"/>
          </a:xfrm>
        </p:spPr>
        <p:txBody>
          <a:bodyPr/>
          <a:lstStyle/>
          <a:p>
            <a:r>
              <a:rPr lang="en-IN" dirty="0"/>
              <a:t>Module 1: Basic Master Planning</a:t>
            </a:r>
          </a:p>
          <a:p>
            <a:pPr lvl="1">
              <a:spcBef>
                <a:spcPts val="0"/>
              </a:spcBef>
            </a:pPr>
            <a:r>
              <a:rPr lang="en-IN" dirty="0"/>
              <a:t>Forecast Netting</a:t>
            </a:r>
          </a:p>
          <a:p>
            <a:pPr lvl="1">
              <a:spcBef>
                <a:spcPts val="0"/>
              </a:spcBef>
            </a:pPr>
            <a:r>
              <a:rPr lang="en-IN" dirty="0"/>
              <a:t>Demand Prioritization</a:t>
            </a:r>
          </a:p>
          <a:p>
            <a:pPr lvl="1">
              <a:spcBef>
                <a:spcPts val="0"/>
              </a:spcBef>
            </a:pPr>
            <a:r>
              <a:rPr lang="en-IN" dirty="0"/>
              <a:t>Plan Generation</a:t>
            </a:r>
          </a:p>
          <a:p>
            <a:pPr lvl="1">
              <a:spcBef>
                <a:spcPts val="0"/>
              </a:spcBef>
            </a:pPr>
            <a:r>
              <a:rPr lang="en-IN" dirty="0"/>
              <a:t>Pegging &amp; Root Causing</a:t>
            </a:r>
          </a:p>
          <a:p>
            <a:r>
              <a:rPr lang="en-IN" dirty="0"/>
              <a:t>Module 2: Incremental &amp; Interactive Planning (for Master Planning)</a:t>
            </a:r>
          </a:p>
          <a:p>
            <a:r>
              <a:rPr lang="en-IN" dirty="0"/>
              <a:t>Module 3: Scenario Management (for Master Planning)</a:t>
            </a:r>
          </a:p>
          <a:p>
            <a:r>
              <a:rPr lang="en-IN" dirty="0"/>
              <a:t>Module 4: Financials (for Master Planning)</a:t>
            </a:r>
          </a:p>
          <a:p>
            <a:r>
              <a:rPr lang="en-IN" dirty="0"/>
              <a:t>Module 5: Order Planning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A133C-5EBF-4FE2-B91B-3E916F94CD8B}"/>
              </a:ext>
            </a:extLst>
          </p:cNvPr>
          <p:cNvSpPr txBox="1"/>
          <p:nvPr/>
        </p:nvSpPr>
        <p:spPr>
          <a:xfrm>
            <a:off x="496711" y="3939822"/>
            <a:ext cx="4652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Documentation URL: </a:t>
            </a:r>
            <a:r>
              <a:rPr lang="en-IN" dirty="0">
                <a:hlinkClick r:id="rId2"/>
              </a:rPr>
              <a:t>http://10.0.1.210/SupplyRefModel/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249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Contents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9323A-3498-4AE5-B504-2B4AF627DB78}"/>
              </a:ext>
            </a:extLst>
          </p:cNvPr>
          <p:cNvSpPr txBox="1"/>
          <p:nvPr/>
        </p:nvSpPr>
        <p:spPr>
          <a:xfrm>
            <a:off x="440268" y="1388534"/>
            <a:ext cx="450636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Modules Overview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Basic Master Planning Module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</a:t>
            </a:r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Functional Overview</a:t>
            </a:r>
          </a:p>
          <a:p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Model: Dimensions</a:t>
            </a:r>
          </a:p>
          <a:p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Function Deep Dive</a:t>
            </a:r>
          </a:p>
          <a:p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Model: Rules Overview</a:t>
            </a:r>
          </a:p>
          <a:p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Model: Plans/</a:t>
            </a:r>
            <a:r>
              <a:rPr lang="en-I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MeasureGroups</a:t>
            </a:r>
            <a:endParaRPr lang="en-IN" sz="2000" dirty="0">
              <a:solidFill>
                <a:schemeClr val="bg2">
                  <a:lumMod val="60000"/>
                  <a:lumOff val="40000"/>
                </a:schemeClr>
              </a:solidFill>
              <a:latin typeface="Arial Narrow" panose="020B0606020202030204" pitchFamily="34" charset="0"/>
            </a:endParaRP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Extending/Customizing The Ref Model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Additional Master Planning Modules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Order Planning 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AEE032-093F-4AC5-8728-93F10EA02928}"/>
              </a:ext>
            </a:extLst>
          </p:cNvPr>
          <p:cNvSpPr/>
          <p:nvPr/>
        </p:nvSpPr>
        <p:spPr>
          <a:xfrm>
            <a:off x="1203522" y="2190052"/>
            <a:ext cx="162434" cy="6434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960673-89BD-4234-9A42-AC2090BBC705}"/>
              </a:ext>
            </a:extLst>
          </p:cNvPr>
          <p:cNvSpPr/>
          <p:nvPr/>
        </p:nvSpPr>
        <p:spPr>
          <a:xfrm>
            <a:off x="311700" y="1817515"/>
            <a:ext cx="128568" cy="3160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759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Functional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D2269-B940-45CC-A4E9-C13450856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316425"/>
            <a:ext cx="7748567" cy="3099900"/>
          </a:xfrm>
        </p:spPr>
        <p:txBody>
          <a:bodyPr/>
          <a:lstStyle/>
          <a:p>
            <a:r>
              <a:rPr lang="en-IN" dirty="0"/>
              <a:t>The basic master planning module has the following functions</a:t>
            </a:r>
          </a:p>
          <a:p>
            <a:pPr lvl="1">
              <a:spcBef>
                <a:spcPts val="0"/>
              </a:spcBef>
            </a:pPr>
            <a:r>
              <a:rPr lang="en-IN" dirty="0"/>
              <a:t>Network Creation</a:t>
            </a:r>
          </a:p>
          <a:p>
            <a:pPr lvl="1">
              <a:spcBef>
                <a:spcPts val="0"/>
              </a:spcBef>
            </a:pPr>
            <a:r>
              <a:rPr lang="en-IN" dirty="0"/>
              <a:t>Network Validation</a:t>
            </a:r>
          </a:p>
          <a:p>
            <a:pPr lvl="1">
              <a:spcBef>
                <a:spcPts val="0"/>
              </a:spcBef>
            </a:pPr>
            <a:r>
              <a:rPr lang="en-IN" dirty="0"/>
              <a:t>Forecast Netting</a:t>
            </a:r>
          </a:p>
          <a:p>
            <a:pPr lvl="1">
              <a:spcBef>
                <a:spcPts val="0"/>
              </a:spcBef>
            </a:pPr>
            <a:r>
              <a:rPr lang="en-IN" dirty="0"/>
              <a:t>Demand Prioritization</a:t>
            </a:r>
          </a:p>
          <a:p>
            <a:pPr lvl="1">
              <a:spcBef>
                <a:spcPts val="0"/>
              </a:spcBef>
            </a:pPr>
            <a:r>
              <a:rPr lang="en-IN" dirty="0"/>
              <a:t>Plan Generation</a:t>
            </a:r>
          </a:p>
          <a:p>
            <a:pPr lvl="1">
              <a:spcBef>
                <a:spcPts val="0"/>
              </a:spcBef>
            </a:pPr>
            <a:r>
              <a:rPr lang="en-IN" dirty="0"/>
              <a:t>Pegging &amp; Root Causing</a:t>
            </a:r>
          </a:p>
          <a:p>
            <a:r>
              <a:rPr lang="en-IN" dirty="0"/>
              <a:t>The default configuration is set for weekly planning buckets</a:t>
            </a:r>
          </a:p>
        </p:txBody>
      </p:sp>
    </p:spTree>
    <p:extLst>
      <p:ext uri="{BB962C8B-B14F-4D97-AF65-F5344CB8AC3E}">
        <p14:creationId xmlns:p14="http://schemas.microsoft.com/office/powerpoint/2010/main" val="2831692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Dimensions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474134" y="1219200"/>
            <a:ext cx="225895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SCSItem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SCSResource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SCSResourceGroup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SCSLocation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SCSDemand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SCSDemandType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SalesAccount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SCSActivity1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SCSActivity2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SCSActivity3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SCSDocuments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SCSSupplier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BEB99E-D9B9-48B2-B0B5-628C78AB2E43}"/>
              </a:ext>
            </a:extLst>
          </p:cNvPr>
          <p:cNvSpPr txBox="1"/>
          <p:nvPr/>
        </p:nvSpPr>
        <p:spPr>
          <a:xfrm>
            <a:off x="4665663" y="1219200"/>
            <a:ext cx="2582758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SCSPriorityType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ItemClassification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CustClassification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CustomerClass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SCSItemCustomerClass</a:t>
            </a:r>
            <a:endParaRPr lang="en-IN" sz="1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6F72683-27B8-41BE-83C5-D7A0AA48B83D}"/>
              </a:ext>
            </a:extLst>
          </p:cNvPr>
          <p:cNvSpPr/>
          <p:nvPr/>
        </p:nvSpPr>
        <p:spPr>
          <a:xfrm>
            <a:off x="2540000" y="1332089"/>
            <a:ext cx="162629" cy="34389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EAE36B-29E6-4F9B-BF4C-0C53A596E361}"/>
              </a:ext>
            </a:extLst>
          </p:cNvPr>
          <p:cNvSpPr txBox="1"/>
          <p:nvPr/>
        </p:nvSpPr>
        <p:spPr>
          <a:xfrm>
            <a:off x="2770653" y="2759156"/>
            <a:ext cx="163859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‘Core’</a:t>
            </a:r>
          </a:p>
          <a:p>
            <a:r>
              <a:rPr lang="en-IN" sz="1800" b="1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Plan Generation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5A4C34-AF9D-4DD4-B018-0838E259077F}"/>
              </a:ext>
            </a:extLst>
          </p:cNvPr>
          <p:cNvSpPr txBox="1"/>
          <p:nvPr/>
        </p:nvSpPr>
        <p:spPr>
          <a:xfrm>
            <a:off x="7348506" y="1582354"/>
            <a:ext cx="1635493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Used For Demand Prioritization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A6E7D00B-F05E-4300-908E-D70D89A65FBE}"/>
              </a:ext>
            </a:extLst>
          </p:cNvPr>
          <p:cNvSpPr/>
          <p:nvPr/>
        </p:nvSpPr>
        <p:spPr>
          <a:xfrm>
            <a:off x="7268088" y="1313997"/>
            <a:ext cx="80418" cy="13825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5DFB7A-89C8-49FE-AF54-215A0E08B8B2}"/>
              </a:ext>
            </a:extLst>
          </p:cNvPr>
          <p:cNvSpPr txBox="1"/>
          <p:nvPr/>
        </p:nvSpPr>
        <p:spPr>
          <a:xfrm>
            <a:off x="4665664" y="2809728"/>
            <a:ext cx="258275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Tenant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D2EA8A-E2EF-4939-9875-3CBD75F33658}"/>
              </a:ext>
            </a:extLst>
          </p:cNvPr>
          <p:cNvSpPr txBox="1"/>
          <p:nvPr/>
        </p:nvSpPr>
        <p:spPr>
          <a:xfrm>
            <a:off x="7348506" y="2759156"/>
            <a:ext cx="1635493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Used For </a:t>
            </a:r>
            <a:r>
              <a:rPr lang="en-IN" sz="1600" b="1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Powershell</a:t>
            </a:r>
            <a:r>
              <a:rPr lang="en-IN" sz="1600" b="1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 plugin integration</a:t>
            </a:r>
          </a:p>
        </p:txBody>
      </p:sp>
    </p:spTree>
    <p:extLst>
      <p:ext uri="{BB962C8B-B14F-4D97-AF65-F5344CB8AC3E}">
        <p14:creationId xmlns:p14="http://schemas.microsoft.com/office/powerpoint/2010/main" val="2615590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416D369-3188-4F27-9C11-15703B366443}"/>
              </a:ext>
            </a:extLst>
          </p:cNvPr>
          <p:cNvSpPr/>
          <p:nvPr/>
        </p:nvSpPr>
        <p:spPr>
          <a:xfrm>
            <a:off x="311700" y="2652506"/>
            <a:ext cx="8708122" cy="13849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E9B305-D639-4137-B457-14C7DA210936}"/>
              </a:ext>
            </a:extLst>
          </p:cNvPr>
          <p:cNvSpPr/>
          <p:nvPr/>
        </p:nvSpPr>
        <p:spPr>
          <a:xfrm>
            <a:off x="5645289" y="1998133"/>
            <a:ext cx="1726354" cy="2234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Dimensions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474134" y="1219200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9F23E-79C1-4AF0-84D5-753EE7EA5328}"/>
              </a:ext>
            </a:extLst>
          </p:cNvPr>
          <p:cNvSpPr txBox="1"/>
          <p:nvPr/>
        </p:nvSpPr>
        <p:spPr>
          <a:xfrm>
            <a:off x="5645288" y="1106000"/>
            <a:ext cx="1726355" cy="1384995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FiscalYear</a:t>
            </a:r>
            <a:endParaRPr lang="en-IN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FiscalQuarter</a:t>
            </a:r>
            <a:endParaRPr lang="en-IN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FiscalMonth</a:t>
            </a:r>
            <a:endParaRPr lang="en-IN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FiscalWeek</a:t>
            </a:r>
            <a:endParaRPr lang="en-IN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Day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AD999-0B6F-411D-B301-2F0F9F7425AA}"/>
              </a:ext>
            </a:extLst>
          </p:cNvPr>
          <p:cNvSpPr txBox="1"/>
          <p:nvPr/>
        </p:nvSpPr>
        <p:spPr>
          <a:xfrm>
            <a:off x="2032842" y="1106000"/>
            <a:ext cx="3302507" cy="523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Arial Narrow" panose="020B0606020202030204" pitchFamily="34" charset="0"/>
              </a:defRPr>
            </a:lvl1pPr>
          </a:lstStyle>
          <a:p>
            <a:r>
              <a:rPr lang="en-IN" dirty="0"/>
              <a:t>Only fiscal calendar modelled</a:t>
            </a:r>
          </a:p>
          <a:p>
            <a:r>
              <a:rPr lang="en-IN" dirty="0" err="1"/>
              <a:t>FiscalMonth</a:t>
            </a:r>
            <a:r>
              <a:rPr lang="en-IN" dirty="0"/>
              <a:t> in terms of 4-4-5 Fiscal Weeks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3618D-0EDC-47AF-B790-E1934F10520D}"/>
              </a:ext>
            </a:extLst>
          </p:cNvPr>
          <p:cNvSpPr/>
          <p:nvPr/>
        </p:nvSpPr>
        <p:spPr>
          <a:xfrm>
            <a:off x="5645288" y="3578505"/>
            <a:ext cx="1726353" cy="2538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987207-3EC4-4590-9E86-F121FA039663}"/>
              </a:ext>
            </a:extLst>
          </p:cNvPr>
          <p:cNvSpPr txBox="1"/>
          <p:nvPr/>
        </p:nvSpPr>
        <p:spPr>
          <a:xfrm>
            <a:off x="474134" y="2765706"/>
            <a:ext cx="1364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SCSItem</a:t>
            </a:r>
            <a:endParaRPr lang="en-IN" sz="2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A56DD-0F20-4ADC-90F7-1C5FB4CC32FF}"/>
              </a:ext>
            </a:extLst>
          </p:cNvPr>
          <p:cNvSpPr txBox="1"/>
          <p:nvPr/>
        </p:nvSpPr>
        <p:spPr>
          <a:xfrm>
            <a:off x="5645289" y="2652506"/>
            <a:ext cx="1726354" cy="1169551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Primary Hierarchy </a:t>
            </a:r>
            <a:r>
              <a:rPr lang="en-IN" b="1" i="1" dirty="0" err="1">
                <a:latin typeface="Arial Narrow" panose="020B0606020202030204" pitchFamily="34" charset="0"/>
              </a:rPr>
              <a:t>ItemHierarchy</a:t>
            </a:r>
            <a:endParaRPr lang="en-IN" b="1" i="1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ItemGroup</a:t>
            </a:r>
            <a:endParaRPr lang="en-IN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ItemSubGroup</a:t>
            </a:r>
            <a:endParaRPr lang="en-IN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Item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B519A-BE1F-41B9-A825-316A857EB27F}"/>
              </a:ext>
            </a:extLst>
          </p:cNvPr>
          <p:cNvSpPr txBox="1"/>
          <p:nvPr/>
        </p:nvSpPr>
        <p:spPr>
          <a:xfrm>
            <a:off x="2032842" y="2652506"/>
            <a:ext cx="33025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Models the items (parts) – raw materials, finished goods, sub assemblies etc…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Has multiple hierarchies</a:t>
            </a:r>
          </a:p>
          <a:p>
            <a:pPr marL="361950" indent="-271463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Primary: </a:t>
            </a:r>
            <a:r>
              <a:rPr lang="en-IN" dirty="0" err="1">
                <a:latin typeface="Arial Narrow" panose="020B0606020202030204" pitchFamily="34" charset="0"/>
              </a:rPr>
              <a:t>ItemHierarchy</a:t>
            </a:r>
            <a:endParaRPr lang="en-IN" dirty="0">
              <a:latin typeface="Arial Narrow" panose="020B0606020202030204" pitchFamily="34" charset="0"/>
            </a:endParaRPr>
          </a:p>
          <a:p>
            <a:pPr marL="361950" indent="-271463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Others: </a:t>
            </a:r>
            <a:r>
              <a:rPr lang="en-IN" dirty="0" err="1">
                <a:latin typeface="Arial Narrow" panose="020B0606020202030204" pitchFamily="34" charset="0"/>
              </a:rPr>
              <a:t>ProductHierarchy</a:t>
            </a:r>
            <a:r>
              <a:rPr lang="en-IN" dirty="0">
                <a:latin typeface="Arial Narrow" panose="020B0606020202030204" pitchFamily="34" charset="0"/>
              </a:rPr>
              <a:t>, </a:t>
            </a:r>
            <a:r>
              <a:rPr lang="en-IN" dirty="0" err="1">
                <a:latin typeface="Arial Narrow" panose="020B0606020202030204" pitchFamily="34" charset="0"/>
              </a:rPr>
              <a:t>ProductTypeHierarchy</a:t>
            </a:r>
            <a:r>
              <a:rPr lang="en-IN" dirty="0">
                <a:latin typeface="Arial Narrow" panose="020B0606020202030204" pitchFamily="34" charset="0"/>
              </a:rPr>
              <a:t>, </a:t>
            </a:r>
            <a:r>
              <a:rPr lang="en-IN" dirty="0" err="1">
                <a:latin typeface="Arial Narrow" panose="020B0606020202030204" pitchFamily="34" charset="0"/>
              </a:rPr>
              <a:t>StageHierarchy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E49E62B0-1E98-4259-8330-933B25D29D25}"/>
              </a:ext>
            </a:extLst>
          </p:cNvPr>
          <p:cNvSpPr/>
          <p:nvPr/>
        </p:nvSpPr>
        <p:spPr>
          <a:xfrm>
            <a:off x="6575364" y="4013148"/>
            <a:ext cx="2256936" cy="910478"/>
          </a:xfrm>
          <a:prstGeom prst="wedgeRectCallout">
            <a:avLst>
              <a:gd name="adj1" fmla="val -15384"/>
              <a:gd name="adj2" fmla="val -120465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2">
                    <a:lumMod val="75000"/>
                  </a:schemeClr>
                </a:solidFill>
              </a:rPr>
              <a:t>Standard members are ‘</a:t>
            </a:r>
            <a:r>
              <a:rPr lang="en-IN" sz="1100" dirty="0" err="1">
                <a:solidFill>
                  <a:schemeClr val="tx2">
                    <a:lumMod val="75000"/>
                  </a:schemeClr>
                </a:solidFill>
              </a:rPr>
              <a:t>FinishedGoods</a:t>
            </a:r>
            <a:r>
              <a:rPr lang="en-IN" sz="1100" dirty="0">
                <a:solidFill>
                  <a:schemeClr val="tx2">
                    <a:lumMod val="75000"/>
                  </a:schemeClr>
                </a:solidFill>
              </a:rPr>
              <a:t>’, ‘</a:t>
            </a:r>
            <a:r>
              <a:rPr lang="en-IN" sz="1100" dirty="0" err="1">
                <a:solidFill>
                  <a:schemeClr val="tx2">
                    <a:lumMod val="75000"/>
                  </a:schemeClr>
                </a:solidFill>
              </a:rPr>
              <a:t>RawMaterials</a:t>
            </a:r>
            <a:r>
              <a:rPr lang="en-IN" sz="1100" dirty="0">
                <a:solidFill>
                  <a:schemeClr val="tx2">
                    <a:lumMod val="75000"/>
                  </a:schemeClr>
                </a:solidFill>
              </a:rPr>
              <a:t>’, ‘</a:t>
            </a:r>
            <a:r>
              <a:rPr lang="en-IN" sz="1100" dirty="0" err="1">
                <a:solidFill>
                  <a:schemeClr val="tx2">
                    <a:lumMod val="75000"/>
                  </a:schemeClr>
                </a:solidFill>
              </a:rPr>
              <a:t>SubAssemblies</a:t>
            </a:r>
            <a:r>
              <a:rPr lang="en-IN" sz="1100" dirty="0">
                <a:solidFill>
                  <a:schemeClr val="tx2">
                    <a:lumMod val="75000"/>
                  </a:schemeClr>
                </a:solidFill>
              </a:rPr>
              <a:t>’. Most reports are filtered to run off these members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49291D02-1694-4DDD-A293-7308D237D734}"/>
              </a:ext>
            </a:extLst>
          </p:cNvPr>
          <p:cNvSpPr/>
          <p:nvPr/>
        </p:nvSpPr>
        <p:spPr>
          <a:xfrm>
            <a:off x="7371641" y="3127022"/>
            <a:ext cx="101603" cy="44114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10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416D369-3188-4F27-9C11-15703B366443}"/>
              </a:ext>
            </a:extLst>
          </p:cNvPr>
          <p:cNvSpPr/>
          <p:nvPr/>
        </p:nvSpPr>
        <p:spPr>
          <a:xfrm>
            <a:off x="311700" y="2652506"/>
            <a:ext cx="8708122" cy="13849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E9B305-D639-4137-B457-14C7DA210936}"/>
              </a:ext>
            </a:extLst>
          </p:cNvPr>
          <p:cNvSpPr/>
          <p:nvPr/>
        </p:nvSpPr>
        <p:spPr>
          <a:xfrm>
            <a:off x="6164580" y="1998133"/>
            <a:ext cx="1726354" cy="2234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Dimensions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474134" y="1219200"/>
            <a:ext cx="1904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SCSLocation</a:t>
            </a:r>
            <a:endParaRPr lang="en-IN" sz="2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9F23E-79C1-4AF0-84D5-753EE7EA5328}"/>
              </a:ext>
            </a:extLst>
          </p:cNvPr>
          <p:cNvSpPr txBox="1"/>
          <p:nvPr/>
        </p:nvSpPr>
        <p:spPr>
          <a:xfrm>
            <a:off x="6164579" y="1106000"/>
            <a:ext cx="1726355" cy="1169551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Primary Hierarchy </a:t>
            </a:r>
            <a:r>
              <a:rPr lang="en-IN" b="1" i="1" dirty="0" err="1">
                <a:latin typeface="Arial Narrow" panose="020B0606020202030204" pitchFamily="34" charset="0"/>
              </a:rPr>
              <a:t>LocationHierarchy</a:t>
            </a:r>
            <a:endParaRPr lang="en-IN" b="1" i="1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LocationGroup</a:t>
            </a:r>
            <a:endParaRPr lang="en-IN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Location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AD999-0B6F-411D-B301-2F0F9F7425AA}"/>
              </a:ext>
            </a:extLst>
          </p:cNvPr>
          <p:cNvSpPr txBox="1"/>
          <p:nvPr/>
        </p:nvSpPr>
        <p:spPr>
          <a:xfrm>
            <a:off x="2552133" y="1106000"/>
            <a:ext cx="3302507" cy="523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Arial Narrow" panose="020B0606020202030204" pitchFamily="34" charset="0"/>
              </a:defRPr>
            </a:lvl1pPr>
          </a:lstStyle>
          <a:p>
            <a:r>
              <a:rPr lang="en-IN" dirty="0"/>
              <a:t>Models all locations (sites)</a:t>
            </a:r>
          </a:p>
          <a:p>
            <a:r>
              <a:rPr lang="en-IN" dirty="0"/>
              <a:t>Hierarchies:</a:t>
            </a:r>
          </a:p>
          <a:p>
            <a:pPr marL="361950" indent="-271463"/>
            <a:r>
              <a:rPr lang="en-IN" dirty="0"/>
              <a:t>Primary: </a:t>
            </a:r>
            <a:r>
              <a:rPr lang="en-IN" dirty="0" err="1"/>
              <a:t>LocationHierarchy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3618D-0EDC-47AF-B790-E1934F10520D}"/>
              </a:ext>
            </a:extLst>
          </p:cNvPr>
          <p:cNvSpPr/>
          <p:nvPr/>
        </p:nvSpPr>
        <p:spPr>
          <a:xfrm>
            <a:off x="6164579" y="3770418"/>
            <a:ext cx="1726353" cy="2538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987207-3EC4-4590-9E86-F121FA039663}"/>
              </a:ext>
            </a:extLst>
          </p:cNvPr>
          <p:cNvSpPr txBox="1"/>
          <p:nvPr/>
        </p:nvSpPr>
        <p:spPr>
          <a:xfrm>
            <a:off x="474134" y="2765706"/>
            <a:ext cx="1986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SalesAccount</a:t>
            </a:r>
            <a:endParaRPr lang="en-IN" sz="2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A56DD-0F20-4ADC-90F7-1C5FB4CC32FF}"/>
              </a:ext>
            </a:extLst>
          </p:cNvPr>
          <p:cNvSpPr txBox="1"/>
          <p:nvPr/>
        </p:nvSpPr>
        <p:spPr>
          <a:xfrm>
            <a:off x="6164580" y="2652506"/>
            <a:ext cx="1726354" cy="1384995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AccountGroup6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AccountGroup5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AccountGroup1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B519A-BE1F-41B9-A825-316A857EB27F}"/>
              </a:ext>
            </a:extLst>
          </p:cNvPr>
          <p:cNvSpPr txBox="1"/>
          <p:nvPr/>
        </p:nvSpPr>
        <p:spPr>
          <a:xfrm>
            <a:off x="2552133" y="2652506"/>
            <a:ext cx="33025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Models the customer accounts (e.g. Customer IDs) and/or channels, markets etc…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This model is shared with </a:t>
            </a:r>
            <a:r>
              <a:rPr lang="en-IN" dirty="0" err="1">
                <a:latin typeface="Arial Narrow" panose="020B0606020202030204" pitchFamily="34" charset="0"/>
              </a:rPr>
              <a:t>DemandPlanning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26AB96AB-E97D-410C-B44F-8FBF0848893F}"/>
              </a:ext>
            </a:extLst>
          </p:cNvPr>
          <p:cNvSpPr/>
          <p:nvPr/>
        </p:nvSpPr>
        <p:spPr>
          <a:xfrm>
            <a:off x="3752673" y="1880733"/>
            <a:ext cx="2256936" cy="691017"/>
          </a:xfrm>
          <a:prstGeom prst="wedgeRectCallout">
            <a:avLst>
              <a:gd name="adj1" fmla="val 72149"/>
              <a:gd name="adj2" fmla="val -45316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2">
                    <a:lumMod val="75000"/>
                  </a:schemeClr>
                </a:solidFill>
              </a:rPr>
              <a:t>Standard members are ‘Plant’. ‘DC’, ‘RDC’. Most reports are filtered to run off these members</a:t>
            </a:r>
          </a:p>
        </p:txBody>
      </p:sp>
    </p:spTree>
    <p:extLst>
      <p:ext uri="{BB962C8B-B14F-4D97-AF65-F5344CB8AC3E}">
        <p14:creationId xmlns:p14="http://schemas.microsoft.com/office/powerpoint/2010/main" val="1460153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416D369-3188-4F27-9C11-15703B366443}"/>
              </a:ext>
            </a:extLst>
          </p:cNvPr>
          <p:cNvSpPr/>
          <p:nvPr/>
        </p:nvSpPr>
        <p:spPr>
          <a:xfrm>
            <a:off x="311700" y="2652506"/>
            <a:ext cx="8708122" cy="13849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E9B305-D639-4137-B457-14C7DA210936}"/>
              </a:ext>
            </a:extLst>
          </p:cNvPr>
          <p:cNvSpPr/>
          <p:nvPr/>
        </p:nvSpPr>
        <p:spPr>
          <a:xfrm>
            <a:off x="6683872" y="1998133"/>
            <a:ext cx="1726354" cy="2234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Dimensions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474134" y="1219200"/>
            <a:ext cx="2052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SCSResource</a:t>
            </a:r>
            <a:endParaRPr lang="en-IN" sz="2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9F23E-79C1-4AF0-84D5-753EE7EA5328}"/>
              </a:ext>
            </a:extLst>
          </p:cNvPr>
          <p:cNvSpPr txBox="1"/>
          <p:nvPr/>
        </p:nvSpPr>
        <p:spPr>
          <a:xfrm>
            <a:off x="6683871" y="1106000"/>
            <a:ext cx="1726355" cy="1169551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Primary Hierarchy </a:t>
            </a:r>
            <a:r>
              <a:rPr lang="en-IN" b="1" i="1" dirty="0" err="1">
                <a:latin typeface="Arial Narrow" panose="020B0606020202030204" pitchFamily="34" charset="0"/>
              </a:rPr>
              <a:t>ResourceHierarchy</a:t>
            </a:r>
            <a:endParaRPr lang="en-IN" b="1" i="1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Arial Narrow" panose="020B0606020202030204" pitchFamily="34" charset="0"/>
              </a:rPr>
              <a:t>ResourceGroup</a:t>
            </a:r>
            <a:endParaRPr lang="en-IN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Resource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AD999-0B6F-411D-B301-2F0F9F7425AA}"/>
              </a:ext>
            </a:extLst>
          </p:cNvPr>
          <p:cNvSpPr txBox="1"/>
          <p:nvPr/>
        </p:nvSpPr>
        <p:spPr>
          <a:xfrm>
            <a:off x="3251200" y="1106000"/>
            <a:ext cx="2603440" cy="523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Arial Narrow" panose="020B0606020202030204" pitchFamily="34" charset="0"/>
              </a:defRPr>
            </a:lvl1pPr>
          </a:lstStyle>
          <a:p>
            <a:r>
              <a:rPr lang="en-IN" dirty="0"/>
              <a:t>Models all resources</a:t>
            </a:r>
          </a:p>
          <a:p>
            <a:r>
              <a:rPr lang="en-IN" dirty="0"/>
              <a:t>Hierarchies:</a:t>
            </a:r>
          </a:p>
          <a:p>
            <a:pPr marL="361950" indent="-271463"/>
            <a:r>
              <a:rPr lang="en-IN" dirty="0"/>
              <a:t>Primary: </a:t>
            </a:r>
            <a:r>
              <a:rPr lang="en-IN" dirty="0" err="1"/>
              <a:t>ResourceHierarchy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3618D-0EDC-47AF-B790-E1934F10520D}"/>
              </a:ext>
            </a:extLst>
          </p:cNvPr>
          <p:cNvSpPr/>
          <p:nvPr/>
        </p:nvSpPr>
        <p:spPr>
          <a:xfrm>
            <a:off x="6683871" y="3770418"/>
            <a:ext cx="1726353" cy="2538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987207-3EC4-4590-9E86-F121FA039663}"/>
              </a:ext>
            </a:extLst>
          </p:cNvPr>
          <p:cNvSpPr txBox="1"/>
          <p:nvPr/>
        </p:nvSpPr>
        <p:spPr>
          <a:xfrm>
            <a:off x="474134" y="2765706"/>
            <a:ext cx="2869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SCSResourceGroup</a:t>
            </a:r>
            <a:endParaRPr lang="en-IN" sz="2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A56DD-0F20-4ADC-90F7-1C5FB4CC32FF}"/>
              </a:ext>
            </a:extLst>
          </p:cNvPr>
          <p:cNvSpPr txBox="1"/>
          <p:nvPr/>
        </p:nvSpPr>
        <p:spPr>
          <a:xfrm>
            <a:off x="6683872" y="2652506"/>
            <a:ext cx="1726354" cy="1384995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AccountGroup6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AccountGroup5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AccountGroup1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B519A-BE1F-41B9-A825-316A857EB27F}"/>
              </a:ext>
            </a:extLst>
          </p:cNvPr>
          <p:cNvSpPr txBox="1"/>
          <p:nvPr/>
        </p:nvSpPr>
        <p:spPr>
          <a:xfrm>
            <a:off x="3251200" y="2652506"/>
            <a:ext cx="260344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Models groups of simultaneous resources</a:t>
            </a:r>
          </a:p>
        </p:txBody>
      </p:sp>
    </p:spTree>
    <p:extLst>
      <p:ext uri="{BB962C8B-B14F-4D97-AF65-F5344CB8AC3E}">
        <p14:creationId xmlns:p14="http://schemas.microsoft.com/office/powerpoint/2010/main" val="1560339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416D369-3188-4F27-9C11-15703B366443}"/>
              </a:ext>
            </a:extLst>
          </p:cNvPr>
          <p:cNvSpPr/>
          <p:nvPr/>
        </p:nvSpPr>
        <p:spPr>
          <a:xfrm>
            <a:off x="311700" y="2652506"/>
            <a:ext cx="8708122" cy="13849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E9B305-D639-4137-B457-14C7DA210936}"/>
              </a:ext>
            </a:extLst>
          </p:cNvPr>
          <p:cNvSpPr/>
          <p:nvPr/>
        </p:nvSpPr>
        <p:spPr>
          <a:xfrm>
            <a:off x="6627429" y="1817509"/>
            <a:ext cx="1726354" cy="2234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Dimensions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474134" y="1219200"/>
            <a:ext cx="1904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SCSDemand</a:t>
            </a:r>
            <a:endParaRPr lang="en-IN" sz="2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9F23E-79C1-4AF0-84D5-753EE7EA5328}"/>
              </a:ext>
            </a:extLst>
          </p:cNvPr>
          <p:cNvSpPr txBox="1"/>
          <p:nvPr/>
        </p:nvSpPr>
        <p:spPr>
          <a:xfrm>
            <a:off x="6627428" y="1106000"/>
            <a:ext cx="1726355" cy="954107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DemandClass</a:t>
            </a:r>
            <a:endParaRPr lang="en-IN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DemandGroup</a:t>
            </a:r>
            <a:endParaRPr lang="en-IN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DemandID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AD999-0B6F-411D-B301-2F0F9F7425AA}"/>
              </a:ext>
            </a:extLst>
          </p:cNvPr>
          <p:cNvSpPr txBox="1"/>
          <p:nvPr/>
        </p:nvSpPr>
        <p:spPr>
          <a:xfrm>
            <a:off x="3014982" y="1106000"/>
            <a:ext cx="3476129" cy="7979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Arial Narrow" panose="020B0606020202030204" pitchFamily="34" charset="0"/>
              </a:defRPr>
            </a:lvl1pPr>
          </a:lstStyle>
          <a:p>
            <a:r>
              <a:rPr lang="en-IN" dirty="0"/>
              <a:t>Models individual demand line items</a:t>
            </a:r>
          </a:p>
          <a:p>
            <a:r>
              <a:rPr lang="en-IN" dirty="0"/>
              <a:t>Every individual demand intersection gets a unique </a:t>
            </a:r>
            <a:r>
              <a:rPr lang="en-IN" dirty="0" err="1"/>
              <a:t>DemandID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3618D-0EDC-47AF-B790-E1934F10520D}"/>
              </a:ext>
            </a:extLst>
          </p:cNvPr>
          <p:cNvSpPr/>
          <p:nvPr/>
        </p:nvSpPr>
        <p:spPr>
          <a:xfrm>
            <a:off x="6627428" y="2912454"/>
            <a:ext cx="1726353" cy="2538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987207-3EC4-4590-9E86-F121FA039663}"/>
              </a:ext>
            </a:extLst>
          </p:cNvPr>
          <p:cNvSpPr txBox="1"/>
          <p:nvPr/>
        </p:nvSpPr>
        <p:spPr>
          <a:xfrm>
            <a:off x="474134" y="2765706"/>
            <a:ext cx="2558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SCSDemandType</a:t>
            </a:r>
            <a:endParaRPr lang="en-IN" sz="2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A56DD-0F20-4ADC-90F7-1C5FB4CC32FF}"/>
              </a:ext>
            </a:extLst>
          </p:cNvPr>
          <p:cNvSpPr txBox="1"/>
          <p:nvPr/>
        </p:nvSpPr>
        <p:spPr>
          <a:xfrm>
            <a:off x="6627429" y="2652506"/>
            <a:ext cx="1726354" cy="523220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Narrow" panose="020B0606020202030204" pitchFamily="34" charset="0"/>
              </a:rPr>
              <a:t>No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DemandType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B519A-BE1F-41B9-A825-316A857EB27F}"/>
              </a:ext>
            </a:extLst>
          </p:cNvPr>
          <p:cNvSpPr txBox="1"/>
          <p:nvPr/>
        </p:nvSpPr>
        <p:spPr>
          <a:xfrm>
            <a:off x="3014982" y="2652506"/>
            <a:ext cx="33025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Models the various layers (types) of demand after forecast netting:</a:t>
            </a:r>
          </a:p>
          <a:p>
            <a:pPr marL="361950" indent="-271463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COM_ORDER</a:t>
            </a:r>
          </a:p>
          <a:p>
            <a:pPr marL="361950" indent="-271463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NEW_ORDER</a:t>
            </a:r>
          </a:p>
          <a:p>
            <a:pPr marL="361950" indent="-271463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UNF_ORDER</a:t>
            </a:r>
          </a:p>
          <a:p>
            <a:pPr marL="361950" indent="-271463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COM_FCST</a:t>
            </a:r>
          </a:p>
          <a:p>
            <a:pPr marL="361950" indent="-271463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NEW_FCST</a:t>
            </a:r>
          </a:p>
          <a:p>
            <a:pPr marL="361950" indent="-271463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COM_BUF</a:t>
            </a:r>
          </a:p>
          <a:p>
            <a:pPr marL="361950" indent="-271463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NEW_BUF</a:t>
            </a:r>
          </a:p>
        </p:txBody>
      </p:sp>
    </p:spTree>
    <p:extLst>
      <p:ext uri="{BB962C8B-B14F-4D97-AF65-F5344CB8AC3E}">
        <p14:creationId xmlns:p14="http://schemas.microsoft.com/office/powerpoint/2010/main" val="2130085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Dimensions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566245-4EF3-4B7F-80A7-5138789393D4}"/>
              </a:ext>
            </a:extLst>
          </p:cNvPr>
          <p:cNvSpPr txBox="1"/>
          <p:nvPr/>
        </p:nvSpPr>
        <p:spPr>
          <a:xfrm>
            <a:off x="311700" y="1075278"/>
            <a:ext cx="8520600" cy="523116"/>
          </a:xfrm>
          <a:prstGeom prst="rect">
            <a:avLst/>
          </a:prstGeom>
          <a:solidFill>
            <a:schemeClr val="accent6">
              <a:lumMod val="75000"/>
              <a:alpha val="41961"/>
            </a:schemeClr>
          </a:solidFill>
        </p:spPr>
        <p:txBody>
          <a:bodyPr wrap="square" rtlCol="0">
            <a:no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The activities/operations in the supply network (i.e. manufacturing, distribution or procurement operations) are represented/specified by a combination of 3 Attributes. The example below explains:</a:t>
            </a:r>
          </a:p>
        </p:txBody>
      </p:sp>
      <p:sp>
        <p:nvSpPr>
          <p:cNvPr id="3" name="Flowchart: Extract 2">
            <a:extLst>
              <a:ext uri="{FF2B5EF4-FFF2-40B4-BE49-F238E27FC236}">
                <a16:creationId xmlns:a16="http://schemas.microsoft.com/office/drawing/2014/main" id="{90382250-9A52-457D-A60E-ACA31BB1D648}"/>
              </a:ext>
            </a:extLst>
          </p:cNvPr>
          <p:cNvSpPr/>
          <p:nvPr/>
        </p:nvSpPr>
        <p:spPr>
          <a:xfrm>
            <a:off x="311700" y="1930401"/>
            <a:ext cx="230167" cy="191911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lowchart: Extract 23">
            <a:extLst>
              <a:ext uri="{FF2B5EF4-FFF2-40B4-BE49-F238E27FC236}">
                <a16:creationId xmlns:a16="http://schemas.microsoft.com/office/drawing/2014/main" id="{46A25384-A777-46C9-915A-02FAE4350C9B}"/>
              </a:ext>
            </a:extLst>
          </p:cNvPr>
          <p:cNvSpPr/>
          <p:nvPr/>
        </p:nvSpPr>
        <p:spPr>
          <a:xfrm>
            <a:off x="311700" y="2176995"/>
            <a:ext cx="230167" cy="191911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Extract 24">
            <a:extLst>
              <a:ext uri="{FF2B5EF4-FFF2-40B4-BE49-F238E27FC236}">
                <a16:creationId xmlns:a16="http://schemas.microsoft.com/office/drawing/2014/main" id="{1D079EF1-BB9C-4ED6-8DAC-E9E1B5ABB170}"/>
              </a:ext>
            </a:extLst>
          </p:cNvPr>
          <p:cNvSpPr/>
          <p:nvPr/>
        </p:nvSpPr>
        <p:spPr>
          <a:xfrm>
            <a:off x="311700" y="2447573"/>
            <a:ext cx="230167" cy="191911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lowchart: Extract 25">
            <a:extLst>
              <a:ext uri="{FF2B5EF4-FFF2-40B4-BE49-F238E27FC236}">
                <a16:creationId xmlns:a16="http://schemas.microsoft.com/office/drawing/2014/main" id="{FB528DD1-5B56-4DF0-8226-508A68CFCF97}"/>
              </a:ext>
            </a:extLst>
          </p:cNvPr>
          <p:cNvSpPr/>
          <p:nvPr/>
        </p:nvSpPr>
        <p:spPr>
          <a:xfrm>
            <a:off x="311700" y="3316818"/>
            <a:ext cx="230167" cy="191911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Flowchart: Extract 26">
            <a:extLst>
              <a:ext uri="{FF2B5EF4-FFF2-40B4-BE49-F238E27FC236}">
                <a16:creationId xmlns:a16="http://schemas.microsoft.com/office/drawing/2014/main" id="{188DAB06-FA5E-4951-AB9C-77970BFB513A}"/>
              </a:ext>
            </a:extLst>
          </p:cNvPr>
          <p:cNvSpPr/>
          <p:nvPr/>
        </p:nvSpPr>
        <p:spPr>
          <a:xfrm>
            <a:off x="311700" y="4208640"/>
            <a:ext cx="230167" cy="191911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D24B0E-E123-4C64-9C22-91285ED76A95}"/>
              </a:ext>
            </a:extLst>
          </p:cNvPr>
          <p:cNvSpPr/>
          <p:nvPr/>
        </p:nvSpPr>
        <p:spPr>
          <a:xfrm>
            <a:off x="903111" y="2122312"/>
            <a:ext cx="1174045" cy="325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solidFill>
                  <a:schemeClr val="bg2"/>
                </a:solidFill>
              </a:rPr>
              <a:t>Mfg</a:t>
            </a:r>
            <a:r>
              <a:rPr lang="en-IN" sz="1200" dirty="0">
                <a:solidFill>
                  <a:schemeClr val="bg2"/>
                </a:solidFill>
              </a:rPr>
              <a:t> Activity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FC06F4-0BA7-46CB-A3B9-6C737FAC6412}"/>
              </a:ext>
            </a:extLst>
          </p:cNvPr>
          <p:cNvSpPr/>
          <p:nvPr/>
        </p:nvSpPr>
        <p:spPr>
          <a:xfrm>
            <a:off x="903111" y="3250142"/>
            <a:ext cx="1174045" cy="325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solidFill>
                  <a:schemeClr val="bg2"/>
                </a:solidFill>
              </a:rPr>
              <a:t>Dist</a:t>
            </a:r>
            <a:r>
              <a:rPr lang="en-IN" sz="1200" dirty="0">
                <a:solidFill>
                  <a:schemeClr val="bg2"/>
                </a:solidFill>
              </a:rPr>
              <a:t> Activity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C5CAD1F-B793-4846-A772-8022590472AF}"/>
              </a:ext>
            </a:extLst>
          </p:cNvPr>
          <p:cNvSpPr/>
          <p:nvPr/>
        </p:nvSpPr>
        <p:spPr>
          <a:xfrm>
            <a:off x="903111" y="4141964"/>
            <a:ext cx="1174045" cy="3252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bg2"/>
                </a:solidFill>
              </a:rPr>
              <a:t>Proc Activity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F37ACB7-F898-4C80-B85C-E78101D2586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84325" y="2026357"/>
            <a:ext cx="418786" cy="258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531E72D-8E37-417C-9EBB-77E455DD8CC6}"/>
              </a:ext>
            </a:extLst>
          </p:cNvPr>
          <p:cNvCxnSpPr>
            <a:cxnSpLocks/>
            <a:stCxn id="24" idx="3"/>
            <a:endCxn id="4" idx="1"/>
          </p:cNvCxnSpPr>
          <p:nvPr/>
        </p:nvCxnSpPr>
        <p:spPr>
          <a:xfrm>
            <a:off x="484325" y="2272951"/>
            <a:ext cx="418786" cy="11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F099128-6CAE-4773-B32F-E5AB64CF4B8F}"/>
              </a:ext>
            </a:extLst>
          </p:cNvPr>
          <p:cNvCxnSpPr>
            <a:cxnSpLocks/>
            <a:stCxn id="25" idx="3"/>
            <a:endCxn id="4" idx="1"/>
          </p:cNvCxnSpPr>
          <p:nvPr/>
        </p:nvCxnSpPr>
        <p:spPr>
          <a:xfrm flipV="1">
            <a:off x="484325" y="2284943"/>
            <a:ext cx="418786" cy="258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63F340A-0AF9-4555-9BF3-2012D80C69E9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>
          <a:xfrm flipV="1">
            <a:off x="484325" y="3412773"/>
            <a:ext cx="4187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857D987-3D32-44AF-86C0-3EC38A19BA84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 flipV="1">
            <a:off x="484325" y="4304595"/>
            <a:ext cx="4187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Extract 45">
            <a:extLst>
              <a:ext uri="{FF2B5EF4-FFF2-40B4-BE49-F238E27FC236}">
                <a16:creationId xmlns:a16="http://schemas.microsoft.com/office/drawing/2014/main" id="{84CF1014-D744-44E8-B656-D0B40027DEC2}"/>
              </a:ext>
            </a:extLst>
          </p:cNvPr>
          <p:cNvSpPr/>
          <p:nvPr/>
        </p:nvSpPr>
        <p:spPr>
          <a:xfrm>
            <a:off x="2380858" y="2177386"/>
            <a:ext cx="230167" cy="191911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Flowchart: Extract 46">
            <a:extLst>
              <a:ext uri="{FF2B5EF4-FFF2-40B4-BE49-F238E27FC236}">
                <a16:creationId xmlns:a16="http://schemas.microsoft.com/office/drawing/2014/main" id="{19EED00E-B0CF-418A-B96F-F5A325FE15BB}"/>
              </a:ext>
            </a:extLst>
          </p:cNvPr>
          <p:cNvSpPr/>
          <p:nvPr/>
        </p:nvSpPr>
        <p:spPr>
          <a:xfrm>
            <a:off x="2380858" y="3316818"/>
            <a:ext cx="230167" cy="191911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Flowchart: Extract 47">
            <a:extLst>
              <a:ext uri="{FF2B5EF4-FFF2-40B4-BE49-F238E27FC236}">
                <a16:creationId xmlns:a16="http://schemas.microsoft.com/office/drawing/2014/main" id="{04A92E60-F019-48FF-BBE4-A98AA13B8198}"/>
              </a:ext>
            </a:extLst>
          </p:cNvPr>
          <p:cNvSpPr/>
          <p:nvPr/>
        </p:nvSpPr>
        <p:spPr>
          <a:xfrm>
            <a:off x="2380858" y="4212167"/>
            <a:ext cx="230167" cy="191911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C8E3994-0700-454E-984B-8462D3261E4E}"/>
              </a:ext>
            </a:extLst>
          </p:cNvPr>
          <p:cNvCxnSpPr>
            <a:cxnSpLocks/>
            <a:stCxn id="4" idx="3"/>
            <a:endCxn id="46" idx="1"/>
          </p:cNvCxnSpPr>
          <p:nvPr/>
        </p:nvCxnSpPr>
        <p:spPr>
          <a:xfrm flipV="1">
            <a:off x="2077156" y="2273342"/>
            <a:ext cx="361244" cy="11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8128332-F58D-471E-BA0B-A64BF0EC8E80}"/>
              </a:ext>
            </a:extLst>
          </p:cNvPr>
          <p:cNvCxnSpPr>
            <a:cxnSpLocks/>
            <a:stCxn id="30" idx="3"/>
            <a:endCxn id="47" idx="1"/>
          </p:cNvCxnSpPr>
          <p:nvPr/>
        </p:nvCxnSpPr>
        <p:spPr>
          <a:xfrm>
            <a:off x="2077156" y="3412773"/>
            <a:ext cx="3612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7690688-CE5F-4035-A8E8-05E08B469671}"/>
              </a:ext>
            </a:extLst>
          </p:cNvPr>
          <p:cNvCxnSpPr>
            <a:cxnSpLocks/>
            <a:stCxn id="31" idx="3"/>
            <a:endCxn id="48" idx="1"/>
          </p:cNvCxnSpPr>
          <p:nvPr/>
        </p:nvCxnSpPr>
        <p:spPr>
          <a:xfrm>
            <a:off x="2077156" y="4304595"/>
            <a:ext cx="361244" cy="3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lowchart: Extract 58">
            <a:extLst>
              <a:ext uri="{FF2B5EF4-FFF2-40B4-BE49-F238E27FC236}">
                <a16:creationId xmlns:a16="http://schemas.microsoft.com/office/drawing/2014/main" id="{A8C9C6FE-4874-49EA-B5EB-AE0683FEFE02}"/>
              </a:ext>
            </a:extLst>
          </p:cNvPr>
          <p:cNvSpPr/>
          <p:nvPr/>
        </p:nvSpPr>
        <p:spPr>
          <a:xfrm rot="10800000">
            <a:off x="1375049" y="1729845"/>
            <a:ext cx="230167" cy="191911"/>
          </a:xfrm>
          <a:prstGeom prst="flowChartExtract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Flowchart: Extract 59">
            <a:extLst>
              <a:ext uri="{FF2B5EF4-FFF2-40B4-BE49-F238E27FC236}">
                <a16:creationId xmlns:a16="http://schemas.microsoft.com/office/drawing/2014/main" id="{269E17E7-3A17-4DA2-B877-6B39AF0ABE4C}"/>
              </a:ext>
            </a:extLst>
          </p:cNvPr>
          <p:cNvSpPr/>
          <p:nvPr/>
        </p:nvSpPr>
        <p:spPr>
          <a:xfrm rot="10800000">
            <a:off x="1375049" y="2842685"/>
            <a:ext cx="230167" cy="191911"/>
          </a:xfrm>
          <a:prstGeom prst="flowChartExtract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A981F5C-9B2D-494B-A6D1-112468978CD2}"/>
              </a:ext>
            </a:extLst>
          </p:cNvPr>
          <p:cNvCxnSpPr>
            <a:stCxn id="59" idx="0"/>
            <a:endCxn id="4" idx="0"/>
          </p:cNvCxnSpPr>
          <p:nvPr/>
        </p:nvCxnSpPr>
        <p:spPr>
          <a:xfrm>
            <a:off x="1490132" y="1921756"/>
            <a:ext cx="2" cy="200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6A3F81C-3322-4292-A431-2B6BAE3D312F}"/>
              </a:ext>
            </a:extLst>
          </p:cNvPr>
          <p:cNvCxnSpPr>
            <a:stCxn id="60" idx="0"/>
            <a:endCxn id="30" idx="0"/>
          </p:cNvCxnSpPr>
          <p:nvPr/>
        </p:nvCxnSpPr>
        <p:spPr>
          <a:xfrm>
            <a:off x="1490132" y="3034596"/>
            <a:ext cx="2" cy="21554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5D3D063-6D46-41E0-818C-B35F7DE7CF5D}"/>
              </a:ext>
            </a:extLst>
          </p:cNvPr>
          <p:cNvSpPr txBox="1"/>
          <p:nvPr/>
        </p:nvSpPr>
        <p:spPr>
          <a:xfrm>
            <a:off x="3621099" y="1622954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Attribute1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A1679D-604B-4012-BA90-1B9A4F78C8BA}"/>
              </a:ext>
            </a:extLst>
          </p:cNvPr>
          <p:cNvSpPr txBox="1"/>
          <p:nvPr/>
        </p:nvSpPr>
        <p:spPr>
          <a:xfrm>
            <a:off x="5636982" y="1622954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Attribute2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C69E98-415C-4D0B-96B4-3B81FC02D8EA}"/>
              </a:ext>
            </a:extLst>
          </p:cNvPr>
          <p:cNvSpPr txBox="1"/>
          <p:nvPr/>
        </p:nvSpPr>
        <p:spPr>
          <a:xfrm>
            <a:off x="7409337" y="1622954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Attribute3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94E428-B3C9-4E0A-B822-11AD6BAB2327}"/>
              </a:ext>
            </a:extLst>
          </p:cNvPr>
          <p:cNvSpPr txBox="1"/>
          <p:nvPr/>
        </p:nvSpPr>
        <p:spPr>
          <a:xfrm>
            <a:off x="3630665" y="2131053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BOM ID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CABE419-A332-4BC1-B24E-1B3A8980CE5F}"/>
              </a:ext>
            </a:extLst>
          </p:cNvPr>
          <p:cNvSpPr txBox="1"/>
          <p:nvPr/>
        </p:nvSpPr>
        <p:spPr>
          <a:xfrm>
            <a:off x="3456741" y="3258883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 err="1">
                <a:solidFill>
                  <a:schemeClr val="bg2"/>
                </a:solidFill>
              </a:rPr>
              <a:t>Dist</a:t>
            </a:r>
            <a:r>
              <a:rPr lang="en-IN" dirty="0">
                <a:solidFill>
                  <a:schemeClr val="bg2"/>
                </a:solidFill>
              </a:rPr>
              <a:t> Lane ID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3766D7-1794-400E-8B8A-7B847EA1C7CD}"/>
              </a:ext>
            </a:extLst>
          </p:cNvPr>
          <p:cNvSpPr txBox="1"/>
          <p:nvPr/>
        </p:nvSpPr>
        <p:spPr>
          <a:xfrm>
            <a:off x="3621052" y="4141964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Supplier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2EEA87-3E66-4EEE-B9F4-ACD5BC04D33A}"/>
              </a:ext>
            </a:extLst>
          </p:cNvPr>
          <p:cNvSpPr txBox="1"/>
          <p:nvPr/>
        </p:nvSpPr>
        <p:spPr>
          <a:xfrm>
            <a:off x="5711522" y="2131053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Routing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016617F-DF51-4388-BDD9-ED3521FF42E1}"/>
              </a:ext>
            </a:extLst>
          </p:cNvPr>
          <p:cNvSpPr txBox="1"/>
          <p:nvPr/>
        </p:nvSpPr>
        <p:spPr>
          <a:xfrm>
            <a:off x="5195358" y="3259313"/>
            <a:ext cx="1834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Transportation Mode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1D6BC31-E881-4B2B-9FD8-2B875D117E3F}"/>
              </a:ext>
            </a:extLst>
          </p:cNvPr>
          <p:cNvSpPr txBox="1"/>
          <p:nvPr/>
        </p:nvSpPr>
        <p:spPr>
          <a:xfrm>
            <a:off x="5195358" y="4138358"/>
            <a:ext cx="1834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Transportation Mode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E524CF-7CFF-40A9-8F59-DDB88D36E69E}"/>
              </a:ext>
            </a:extLst>
          </p:cNvPr>
          <p:cNvSpPr txBox="1"/>
          <p:nvPr/>
        </p:nvSpPr>
        <p:spPr>
          <a:xfrm>
            <a:off x="7210567" y="2131053"/>
            <a:ext cx="1348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Produced Item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5B1312-230E-4BAC-8E09-6597D6B1B4AA}"/>
              </a:ext>
            </a:extLst>
          </p:cNvPr>
          <p:cNvSpPr txBox="1"/>
          <p:nvPr/>
        </p:nvSpPr>
        <p:spPr>
          <a:xfrm>
            <a:off x="7210567" y="3258883"/>
            <a:ext cx="1348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Produced Item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CBF6D1C-EC8B-4F6D-8FFC-2B0217E43643}"/>
              </a:ext>
            </a:extLst>
          </p:cNvPr>
          <p:cNvSpPr txBox="1"/>
          <p:nvPr/>
        </p:nvSpPr>
        <p:spPr>
          <a:xfrm>
            <a:off x="7041456" y="4137300"/>
            <a:ext cx="1686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Procurement op ID</a:t>
            </a:r>
          </a:p>
        </p:txBody>
      </p:sp>
    </p:spTree>
    <p:extLst>
      <p:ext uri="{BB962C8B-B14F-4D97-AF65-F5344CB8AC3E}">
        <p14:creationId xmlns:p14="http://schemas.microsoft.com/office/powerpoint/2010/main" val="783636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416D369-3188-4F27-9C11-15703B366443}"/>
              </a:ext>
            </a:extLst>
          </p:cNvPr>
          <p:cNvSpPr/>
          <p:nvPr/>
        </p:nvSpPr>
        <p:spPr>
          <a:xfrm>
            <a:off x="311700" y="2697663"/>
            <a:ext cx="8708122" cy="10841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E9B305-D639-4137-B457-14C7DA210936}"/>
              </a:ext>
            </a:extLst>
          </p:cNvPr>
          <p:cNvSpPr/>
          <p:nvPr/>
        </p:nvSpPr>
        <p:spPr>
          <a:xfrm>
            <a:off x="6627429" y="2043289"/>
            <a:ext cx="1726354" cy="2234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Dimensions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474134" y="1682049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SCSActivity1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9F23E-79C1-4AF0-84D5-753EE7EA5328}"/>
              </a:ext>
            </a:extLst>
          </p:cNvPr>
          <p:cNvSpPr txBox="1"/>
          <p:nvPr/>
        </p:nvSpPr>
        <p:spPr>
          <a:xfrm>
            <a:off x="6627428" y="1568849"/>
            <a:ext cx="1726355" cy="738664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Narrow" panose="020B0606020202030204" pitchFamily="34" charset="0"/>
              </a:rPr>
              <a:t>No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ActivityType1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Activity1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AD999-0B6F-411D-B301-2F0F9F7425AA}"/>
              </a:ext>
            </a:extLst>
          </p:cNvPr>
          <p:cNvSpPr txBox="1"/>
          <p:nvPr/>
        </p:nvSpPr>
        <p:spPr>
          <a:xfrm>
            <a:off x="3014982" y="1568849"/>
            <a:ext cx="3476129" cy="7979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Arial Narrow" panose="020B0606020202030204" pitchFamily="34" charset="0"/>
              </a:defRPr>
            </a:lvl1pPr>
          </a:lstStyle>
          <a:p>
            <a:r>
              <a:rPr lang="en-IN" dirty="0"/>
              <a:t>Models BOM IDs, BOD (Distribution) Lanes</a:t>
            </a:r>
          </a:p>
          <a:p>
            <a:r>
              <a:rPr lang="en-IN" dirty="0"/>
              <a:t>For procurement operations the Supplier names are filled in here.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987207-3EC4-4590-9E86-F121FA039663}"/>
              </a:ext>
            </a:extLst>
          </p:cNvPr>
          <p:cNvSpPr txBox="1"/>
          <p:nvPr/>
        </p:nvSpPr>
        <p:spPr>
          <a:xfrm>
            <a:off x="474134" y="2810863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SCSActivity2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B519A-BE1F-41B9-A825-316A857EB27F}"/>
              </a:ext>
            </a:extLst>
          </p:cNvPr>
          <p:cNvSpPr txBox="1"/>
          <p:nvPr/>
        </p:nvSpPr>
        <p:spPr>
          <a:xfrm>
            <a:off x="3014982" y="2697663"/>
            <a:ext cx="33025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Models Routings and transportation modes (for both distribution and procurement operations)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F622B9-ED3A-47D5-8227-4B35B78E6194}"/>
              </a:ext>
            </a:extLst>
          </p:cNvPr>
          <p:cNvSpPr txBox="1"/>
          <p:nvPr/>
        </p:nvSpPr>
        <p:spPr>
          <a:xfrm>
            <a:off x="474134" y="4088801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SCSActivity3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C644A7-5A68-46B6-82CF-AE1120244F99}"/>
              </a:ext>
            </a:extLst>
          </p:cNvPr>
          <p:cNvSpPr txBox="1"/>
          <p:nvPr/>
        </p:nvSpPr>
        <p:spPr>
          <a:xfrm>
            <a:off x="3014982" y="3975601"/>
            <a:ext cx="3476129" cy="7979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Arial Narrow" panose="020B0606020202030204" pitchFamily="34" charset="0"/>
              </a:defRPr>
            </a:lvl1pPr>
          </a:lstStyle>
          <a:p>
            <a:r>
              <a:rPr lang="en-IN" dirty="0"/>
              <a:t>Models procurement operation IDs. </a:t>
            </a:r>
          </a:p>
          <a:p>
            <a:r>
              <a:rPr lang="en-IN" dirty="0"/>
              <a:t>For manufacturing and distribution operations, the (produced) items are filled in here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95713C-B2EC-43EE-B5E5-6C605F24F832}"/>
              </a:ext>
            </a:extLst>
          </p:cNvPr>
          <p:cNvSpPr/>
          <p:nvPr/>
        </p:nvSpPr>
        <p:spPr>
          <a:xfrm>
            <a:off x="6627429" y="3212841"/>
            <a:ext cx="1726354" cy="2234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FA7A48-349B-4AA5-82E1-01D683827ACD}"/>
              </a:ext>
            </a:extLst>
          </p:cNvPr>
          <p:cNvSpPr txBox="1"/>
          <p:nvPr/>
        </p:nvSpPr>
        <p:spPr>
          <a:xfrm>
            <a:off x="6627428" y="2738401"/>
            <a:ext cx="1726355" cy="738664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Narrow" panose="020B0606020202030204" pitchFamily="34" charset="0"/>
              </a:rPr>
              <a:t>No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ActivityType2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Activity2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63B653-532E-4E37-BFB2-29C878B45CF5}"/>
              </a:ext>
            </a:extLst>
          </p:cNvPr>
          <p:cNvSpPr/>
          <p:nvPr/>
        </p:nvSpPr>
        <p:spPr>
          <a:xfrm>
            <a:off x="6627429" y="4450041"/>
            <a:ext cx="1726354" cy="2234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5DA121-4FF5-40CA-AC14-1CFEFAE6E8F1}"/>
              </a:ext>
            </a:extLst>
          </p:cNvPr>
          <p:cNvSpPr txBox="1"/>
          <p:nvPr/>
        </p:nvSpPr>
        <p:spPr>
          <a:xfrm>
            <a:off x="6627428" y="3975601"/>
            <a:ext cx="1726355" cy="738664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Narrow" panose="020B0606020202030204" pitchFamily="34" charset="0"/>
              </a:rPr>
              <a:t>No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ActivityType3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Activity3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0E81E4-79EA-4F59-AF6A-80EB9ED5C0A2}"/>
              </a:ext>
            </a:extLst>
          </p:cNvPr>
          <p:cNvSpPr txBox="1"/>
          <p:nvPr/>
        </p:nvSpPr>
        <p:spPr>
          <a:xfrm>
            <a:off x="311700" y="1075278"/>
            <a:ext cx="8520600" cy="420872"/>
          </a:xfrm>
          <a:prstGeom prst="rect">
            <a:avLst/>
          </a:prstGeom>
          <a:solidFill>
            <a:schemeClr val="accent6">
              <a:lumMod val="75000"/>
              <a:alpha val="41961"/>
            </a:schemeClr>
          </a:solidFill>
        </p:spPr>
        <p:txBody>
          <a:bodyPr wrap="square" rtlCol="0">
            <a:no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The 3 Attributes explained in the previous slide are modelled in the following 3 </a:t>
            </a:r>
            <a:r>
              <a:rPr lang="en-IN" dirty="0" err="1">
                <a:latin typeface="Arial Narrow" panose="020B0606020202030204" pitchFamily="34" charset="0"/>
              </a:rPr>
              <a:t>SCSActivity</a:t>
            </a:r>
            <a:r>
              <a:rPr lang="en-IN" dirty="0">
                <a:latin typeface="Arial Narrow" panose="020B0606020202030204" pitchFamily="34" charset="0"/>
              </a:rPr>
              <a:t> dimensions.</a:t>
            </a:r>
          </a:p>
        </p:txBody>
      </p:sp>
    </p:spTree>
    <p:extLst>
      <p:ext uri="{BB962C8B-B14F-4D97-AF65-F5344CB8AC3E}">
        <p14:creationId xmlns:p14="http://schemas.microsoft.com/office/powerpoint/2010/main" val="2678399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416D369-3188-4F27-9C11-15703B366443}"/>
              </a:ext>
            </a:extLst>
          </p:cNvPr>
          <p:cNvSpPr/>
          <p:nvPr/>
        </p:nvSpPr>
        <p:spPr>
          <a:xfrm>
            <a:off x="311700" y="2652506"/>
            <a:ext cx="8708122" cy="13849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E9B305-D639-4137-B457-14C7DA210936}"/>
              </a:ext>
            </a:extLst>
          </p:cNvPr>
          <p:cNvSpPr/>
          <p:nvPr/>
        </p:nvSpPr>
        <p:spPr>
          <a:xfrm>
            <a:off x="6627429" y="1580440"/>
            <a:ext cx="1726354" cy="2234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Dimensions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474134" y="1219200"/>
            <a:ext cx="2281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SCSDocuments</a:t>
            </a:r>
            <a:endParaRPr lang="en-IN" sz="2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9F23E-79C1-4AF0-84D5-753EE7EA5328}"/>
              </a:ext>
            </a:extLst>
          </p:cNvPr>
          <p:cNvSpPr txBox="1"/>
          <p:nvPr/>
        </p:nvSpPr>
        <p:spPr>
          <a:xfrm>
            <a:off x="6627428" y="1106000"/>
            <a:ext cx="1726355" cy="738664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Narrow" panose="020B0606020202030204" pitchFamily="34" charset="0"/>
              </a:rPr>
              <a:t>No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DocumentType</a:t>
            </a:r>
            <a:endParaRPr lang="en-IN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OrderLineID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AD999-0B6F-411D-B301-2F0F9F7425AA}"/>
              </a:ext>
            </a:extLst>
          </p:cNvPr>
          <p:cNvSpPr txBox="1"/>
          <p:nvPr/>
        </p:nvSpPr>
        <p:spPr>
          <a:xfrm>
            <a:off x="3014982" y="1106000"/>
            <a:ext cx="3476129" cy="7979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Arial Narrow" panose="020B0606020202030204" pitchFamily="34" charset="0"/>
              </a:defRPr>
            </a:lvl1pPr>
          </a:lstStyle>
          <a:p>
            <a:r>
              <a:rPr lang="en-IN" dirty="0"/>
              <a:t>Models all supply transaction IDs</a:t>
            </a:r>
          </a:p>
          <a:p>
            <a:pPr marL="361950" indent="-271463"/>
            <a:r>
              <a:rPr lang="en-IN" dirty="0"/>
              <a:t>Purchase Order IDs (actually line item IDs)</a:t>
            </a:r>
          </a:p>
          <a:p>
            <a:pPr marL="361950" indent="-271463"/>
            <a:r>
              <a:rPr lang="en-IN" dirty="0" err="1"/>
              <a:t>Mfg</a:t>
            </a:r>
            <a:r>
              <a:rPr lang="en-IN" dirty="0"/>
              <a:t> Order IDs</a:t>
            </a:r>
          </a:p>
          <a:p>
            <a:pPr marL="361950" indent="-271463"/>
            <a:r>
              <a:rPr lang="en-IN" dirty="0"/>
              <a:t>Delivery/Transportation Order IDs</a:t>
            </a:r>
          </a:p>
          <a:p>
            <a:pPr marL="361950" indent="-271463"/>
            <a:r>
              <a:rPr lang="en-IN" dirty="0"/>
              <a:t>Stock On Hand (standard ID: OnHand)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3618D-0EDC-47AF-B790-E1934F10520D}"/>
              </a:ext>
            </a:extLst>
          </p:cNvPr>
          <p:cNvSpPr/>
          <p:nvPr/>
        </p:nvSpPr>
        <p:spPr>
          <a:xfrm>
            <a:off x="6627428" y="3149523"/>
            <a:ext cx="1726353" cy="2538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987207-3EC4-4590-9E86-F121FA039663}"/>
              </a:ext>
            </a:extLst>
          </p:cNvPr>
          <p:cNvSpPr txBox="1"/>
          <p:nvPr/>
        </p:nvSpPr>
        <p:spPr>
          <a:xfrm>
            <a:off x="474134" y="2765706"/>
            <a:ext cx="1872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</a:rPr>
              <a:t>SCSSupplier</a:t>
            </a:r>
            <a:endParaRPr lang="en-IN" sz="2800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A56DD-0F20-4ADC-90F7-1C5FB4CC32FF}"/>
              </a:ext>
            </a:extLst>
          </p:cNvPr>
          <p:cNvSpPr txBox="1"/>
          <p:nvPr/>
        </p:nvSpPr>
        <p:spPr>
          <a:xfrm>
            <a:off x="6627429" y="2652506"/>
            <a:ext cx="1726354" cy="738664"/>
          </a:xfrm>
          <a:prstGeom prst="rect">
            <a:avLst/>
          </a:prstGeom>
          <a:solidFill>
            <a:srgbClr val="DEE5E9">
              <a:alpha val="41961"/>
            </a:srgb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Supplier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 Narrow" panose="020B0606020202030204" pitchFamily="34" charset="0"/>
              </a:rPr>
              <a:t>SupplierLocation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B519A-BE1F-41B9-A825-316A857EB27F}"/>
              </a:ext>
            </a:extLst>
          </p:cNvPr>
          <p:cNvSpPr txBox="1"/>
          <p:nvPr/>
        </p:nvSpPr>
        <p:spPr>
          <a:xfrm>
            <a:off x="3014982" y="2652506"/>
            <a:ext cx="33025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Models the suppliers and their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The supplier locations are also automatically created in the </a:t>
            </a:r>
            <a:r>
              <a:rPr lang="en-IN" dirty="0" err="1">
                <a:latin typeface="Arial Narrow" panose="020B0606020202030204" pitchFamily="34" charset="0"/>
              </a:rPr>
              <a:t>SCSLocation</a:t>
            </a:r>
            <a:r>
              <a:rPr lang="en-IN" dirty="0">
                <a:latin typeface="Arial Narrow" panose="020B0606020202030204" pitchFamily="34" charset="0"/>
              </a:rPr>
              <a:t> dimension by the reference model during the </a:t>
            </a:r>
            <a:r>
              <a:rPr lang="en-IN" dirty="0" err="1">
                <a:latin typeface="Arial Narrow" panose="020B0606020202030204" pitchFamily="34" charset="0"/>
              </a:rPr>
              <a:t>CreateNetwork</a:t>
            </a:r>
            <a:r>
              <a:rPr lang="en-IN" dirty="0">
                <a:latin typeface="Arial Narrow" panose="020B0606020202030204" pitchFamily="34" charset="0"/>
              </a:rPr>
              <a:t> workflow</a:t>
            </a:r>
          </a:p>
        </p:txBody>
      </p:sp>
    </p:spTree>
    <p:extLst>
      <p:ext uri="{BB962C8B-B14F-4D97-AF65-F5344CB8AC3E}">
        <p14:creationId xmlns:p14="http://schemas.microsoft.com/office/powerpoint/2010/main" val="586633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Contents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9323A-3498-4AE5-B504-2B4AF627DB78}"/>
              </a:ext>
            </a:extLst>
          </p:cNvPr>
          <p:cNvSpPr txBox="1"/>
          <p:nvPr/>
        </p:nvSpPr>
        <p:spPr>
          <a:xfrm>
            <a:off x="440268" y="1388534"/>
            <a:ext cx="450636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Modules Overview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Basic Master Planning Module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</a:t>
            </a:r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Functional Overview</a:t>
            </a:r>
          </a:p>
          <a:p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Model: Dimensions</a:t>
            </a:r>
          </a:p>
          <a:p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Function Deep Dive</a:t>
            </a:r>
          </a:p>
          <a:p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Model: Rules Overview</a:t>
            </a:r>
          </a:p>
          <a:p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Model: Plans/</a:t>
            </a:r>
            <a:r>
              <a:rPr lang="en-I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MeasureGroups</a:t>
            </a:r>
            <a:endParaRPr lang="en-IN" sz="2000" dirty="0">
              <a:solidFill>
                <a:schemeClr val="bg2">
                  <a:lumMod val="60000"/>
                  <a:lumOff val="40000"/>
                </a:schemeClr>
              </a:solidFill>
              <a:latin typeface="Arial Narrow" panose="020B0606020202030204" pitchFamily="34" charset="0"/>
            </a:endParaRP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Extending/Customizing The Ref Model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Additional Master Planning Modules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Order Planning 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AEE032-093F-4AC5-8728-93F10EA02928}"/>
              </a:ext>
            </a:extLst>
          </p:cNvPr>
          <p:cNvSpPr/>
          <p:nvPr/>
        </p:nvSpPr>
        <p:spPr>
          <a:xfrm>
            <a:off x="1203522" y="2856088"/>
            <a:ext cx="128567" cy="2483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699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D2269-B940-45CC-A4E9-C13450856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316425"/>
            <a:ext cx="7748567" cy="3099900"/>
          </a:xfrm>
        </p:spPr>
        <p:txBody>
          <a:bodyPr/>
          <a:lstStyle/>
          <a:p>
            <a:r>
              <a:rPr lang="en-IN" dirty="0"/>
              <a:t>Network creation</a:t>
            </a:r>
          </a:p>
          <a:p>
            <a:r>
              <a:rPr lang="en-IN" dirty="0"/>
              <a:t>Forecast netting</a:t>
            </a:r>
          </a:p>
          <a:p>
            <a:r>
              <a:rPr lang="en-IN" dirty="0"/>
              <a:t>Demand prioritization</a:t>
            </a:r>
          </a:p>
          <a:p>
            <a:r>
              <a:rPr lang="en-IN" dirty="0"/>
              <a:t>Plan generation (solver)</a:t>
            </a:r>
          </a:p>
          <a:p>
            <a:r>
              <a:rPr lang="en-IN" dirty="0"/>
              <a:t>Supportability analytics</a:t>
            </a:r>
          </a:p>
          <a:p>
            <a:r>
              <a:rPr lang="en-IN" dirty="0"/>
              <a:t>Root Cause reporting</a:t>
            </a:r>
          </a:p>
          <a:p>
            <a:r>
              <a:rPr lang="en-IN" dirty="0"/>
              <a:t>Inventory plans</a:t>
            </a:r>
          </a:p>
          <a:p>
            <a:r>
              <a:rPr lang="en-IN" dirty="0"/>
              <a:t>Capacity plans</a:t>
            </a:r>
          </a:p>
        </p:txBody>
      </p:sp>
    </p:spTree>
    <p:extLst>
      <p:ext uri="{BB962C8B-B14F-4D97-AF65-F5344CB8AC3E}">
        <p14:creationId xmlns:p14="http://schemas.microsoft.com/office/powerpoint/2010/main" val="880963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Network Creation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3030125" y="1209267"/>
            <a:ext cx="4620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 the static supply network from ‘raw’ input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47101-3B81-40C9-B9E4-E345D26DA24A}"/>
              </a:ext>
            </a:extLst>
          </p:cNvPr>
          <p:cNvSpPr txBox="1"/>
          <p:nvPr/>
        </p:nvSpPr>
        <p:spPr>
          <a:xfrm>
            <a:off x="680898" y="1209267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Primary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F3B09-C943-4D90-A16B-AAA47A7C72C9}"/>
              </a:ext>
            </a:extLst>
          </p:cNvPr>
          <p:cNvSpPr txBox="1"/>
          <p:nvPr/>
        </p:nvSpPr>
        <p:spPr>
          <a:xfrm>
            <a:off x="680898" y="1751130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Inputs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0A421-EA9E-4806-A56D-710D515319AD}"/>
              </a:ext>
            </a:extLst>
          </p:cNvPr>
          <p:cNvSpPr txBox="1"/>
          <p:nvPr/>
        </p:nvSpPr>
        <p:spPr>
          <a:xfrm>
            <a:off x="3030125" y="1751130"/>
            <a:ext cx="542488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Items, Locations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BOMs, Routings (Manufacturing)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 (Distribution) Lanes, Transportation Modes (Distribution)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Suppliers, Inbound Lanes/Transportation Modes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0C5454-EF8D-4DBD-A0FC-C8B0753A719E}"/>
              </a:ext>
            </a:extLst>
          </p:cNvPr>
          <p:cNvSpPr txBox="1"/>
          <p:nvPr/>
        </p:nvSpPr>
        <p:spPr>
          <a:xfrm>
            <a:off x="680898" y="2868197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Outputs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B5CAB-C06D-4E2A-AF11-B8F3ACB7AEC5}"/>
              </a:ext>
            </a:extLst>
          </p:cNvPr>
          <p:cNvSpPr txBox="1"/>
          <p:nvPr/>
        </p:nvSpPr>
        <p:spPr>
          <a:xfrm>
            <a:off x="3030125" y="2868197"/>
            <a:ext cx="25314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inputs to solver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A9EF9B-CE79-4DD3-9973-5333EE94A0B3}"/>
              </a:ext>
            </a:extLst>
          </p:cNvPr>
          <p:cNvSpPr txBox="1"/>
          <p:nvPr/>
        </p:nvSpPr>
        <p:spPr>
          <a:xfrm>
            <a:off x="486268" y="3329910"/>
            <a:ext cx="8104576" cy="1600438"/>
          </a:xfrm>
          <a:prstGeom prst="rect">
            <a:avLst/>
          </a:prstGeom>
          <a:solidFill>
            <a:schemeClr val="accent6">
              <a:lumMod val="75000"/>
              <a:alpha val="41961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Narrow" panose="020B0606020202030204" pitchFamily="34" charset="0"/>
              </a:rPr>
              <a:t>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Two active rules files </a:t>
            </a:r>
            <a:r>
              <a:rPr lang="en-IN" b="1" i="1" dirty="0">
                <a:latin typeface="Arial Narrow" panose="020B0606020202030204" pitchFamily="34" charset="0"/>
              </a:rPr>
              <a:t>ActiveRule_02.Routing Rules </a:t>
            </a:r>
            <a:r>
              <a:rPr lang="en-IN" dirty="0">
                <a:latin typeface="Arial Narrow" panose="020B0606020202030204" pitchFamily="34" charset="0"/>
              </a:rPr>
              <a:t>and </a:t>
            </a:r>
            <a:r>
              <a:rPr lang="en-IN" b="1" i="1" dirty="0">
                <a:latin typeface="Arial Narrow" panose="020B0606020202030204" pitchFamily="34" charset="0"/>
              </a:rPr>
              <a:t>ActiveRule_03. BOD Rules </a:t>
            </a:r>
            <a:r>
              <a:rPr lang="en-IN" dirty="0">
                <a:latin typeface="Arial Narrow" panose="020B0606020202030204" pitchFamily="34" charset="0"/>
              </a:rPr>
              <a:t>have some rules related to processing the input data files into intermediate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dirty="0" err="1">
                <a:latin typeface="Arial Narrow" panose="020B0606020202030204" pitchFamily="34" charset="0"/>
              </a:rPr>
              <a:t>CreateNetwork</a:t>
            </a:r>
            <a:r>
              <a:rPr lang="en-IN" dirty="0">
                <a:latin typeface="Arial Narrow" panose="020B0606020202030204" pitchFamily="34" charset="0"/>
              </a:rPr>
              <a:t> IBPL procedure file has all the logic to convert the input measures (e.g. BOM) to the final network representation required by the solver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Currently network creation logic deletes and recreates the entire network. An incremental version is planned for the next release</a:t>
            </a:r>
          </a:p>
        </p:txBody>
      </p:sp>
    </p:spTree>
    <p:extLst>
      <p:ext uri="{BB962C8B-B14F-4D97-AF65-F5344CB8AC3E}">
        <p14:creationId xmlns:p14="http://schemas.microsoft.com/office/powerpoint/2010/main" val="1910751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Forecast Netting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3030125" y="1209267"/>
            <a:ext cx="4947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Netting (Consumption) of sales orders against forecasts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47101-3B81-40C9-B9E4-E345D26DA24A}"/>
              </a:ext>
            </a:extLst>
          </p:cNvPr>
          <p:cNvSpPr txBox="1"/>
          <p:nvPr/>
        </p:nvSpPr>
        <p:spPr>
          <a:xfrm>
            <a:off x="680898" y="1209267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Primary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F3B09-C943-4D90-A16B-AAA47A7C72C9}"/>
              </a:ext>
            </a:extLst>
          </p:cNvPr>
          <p:cNvSpPr txBox="1"/>
          <p:nvPr/>
        </p:nvSpPr>
        <p:spPr>
          <a:xfrm>
            <a:off x="680898" y="1751130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Inputs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0A421-EA9E-4806-A56D-710D515319AD}"/>
              </a:ext>
            </a:extLst>
          </p:cNvPr>
          <p:cNvSpPr txBox="1"/>
          <p:nvPr/>
        </p:nvSpPr>
        <p:spPr>
          <a:xfrm>
            <a:off x="3030125" y="1751130"/>
            <a:ext cx="341471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RTF (previous commits to forecasts)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0C5454-EF8D-4DBD-A0FC-C8B0753A719E}"/>
              </a:ext>
            </a:extLst>
          </p:cNvPr>
          <p:cNvSpPr txBox="1"/>
          <p:nvPr/>
        </p:nvSpPr>
        <p:spPr>
          <a:xfrm>
            <a:off x="680898" y="2653707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Outputs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B5CAB-C06D-4E2A-AF11-B8F3ACB7AEC5}"/>
              </a:ext>
            </a:extLst>
          </p:cNvPr>
          <p:cNvSpPr txBox="1"/>
          <p:nvPr/>
        </p:nvSpPr>
        <p:spPr>
          <a:xfrm>
            <a:off x="3030125" y="2653707"/>
            <a:ext cx="2382704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Segmented demand</a:t>
            </a:r>
          </a:p>
          <a:p>
            <a:pPr marL="450850" lvl="2" indent="-269875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Netted forecasts</a:t>
            </a:r>
          </a:p>
          <a:p>
            <a:pPr marL="541338" lvl="2" indent="-269875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Committed forecasts</a:t>
            </a:r>
          </a:p>
          <a:p>
            <a:pPr marL="541338" lvl="2" indent="-269875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forecasts</a:t>
            </a:r>
          </a:p>
          <a:p>
            <a:pPr marL="450850" lvl="2" indent="-269875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Orders</a:t>
            </a:r>
          </a:p>
          <a:p>
            <a:pPr marL="541338" lvl="2" indent="-269875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Committed orders</a:t>
            </a:r>
          </a:p>
          <a:p>
            <a:pPr marL="541338" lvl="2" indent="-269875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Unforecasted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orders</a:t>
            </a:r>
          </a:p>
        </p:txBody>
      </p:sp>
    </p:spTree>
    <p:extLst>
      <p:ext uri="{BB962C8B-B14F-4D97-AF65-F5344CB8AC3E}">
        <p14:creationId xmlns:p14="http://schemas.microsoft.com/office/powerpoint/2010/main" val="44454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Forecast Netting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64051-C410-4E56-874A-7CB2B6D88747}"/>
              </a:ext>
            </a:extLst>
          </p:cNvPr>
          <p:cNvSpPr txBox="1"/>
          <p:nvPr/>
        </p:nvSpPr>
        <p:spPr>
          <a:xfrm>
            <a:off x="311700" y="1106000"/>
            <a:ext cx="8104576" cy="738664"/>
          </a:xfrm>
          <a:prstGeom prst="rect">
            <a:avLst/>
          </a:prstGeom>
          <a:solidFill>
            <a:schemeClr val="accent6">
              <a:lumMod val="75000"/>
              <a:alpha val="41961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Narrow" panose="020B0606020202030204" pitchFamily="34" charset="0"/>
              </a:rPr>
              <a:t>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There are two variants available: Netting forecasts at monthly level, netting forecasts at weekly level.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The logic is described in the figure below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ADCB5F-E8E9-4FD0-B3AF-A81EFC98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133" y="1979301"/>
            <a:ext cx="6671733" cy="263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115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Demand Prioritization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3030125" y="1209267"/>
            <a:ext cx="4538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numeric priority value for every demand ID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47101-3B81-40C9-B9E4-E345D26DA24A}"/>
              </a:ext>
            </a:extLst>
          </p:cNvPr>
          <p:cNvSpPr txBox="1"/>
          <p:nvPr/>
        </p:nvSpPr>
        <p:spPr>
          <a:xfrm>
            <a:off x="680898" y="1209267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Primary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F3B09-C943-4D90-A16B-AAA47A7C72C9}"/>
              </a:ext>
            </a:extLst>
          </p:cNvPr>
          <p:cNvSpPr txBox="1"/>
          <p:nvPr/>
        </p:nvSpPr>
        <p:spPr>
          <a:xfrm>
            <a:off x="680898" y="1626951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Inputs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0A421-EA9E-4806-A56D-710D515319AD}"/>
              </a:ext>
            </a:extLst>
          </p:cNvPr>
          <p:cNvSpPr txBox="1"/>
          <p:nvPr/>
        </p:nvSpPr>
        <p:spPr>
          <a:xfrm>
            <a:off x="3030125" y="1626951"/>
            <a:ext cx="591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 (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SCPDemandQty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grained by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SCSDemand.DemandID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SCSDemandType.DemandType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(output of Forecast Netting)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0C5454-EF8D-4DBD-A0FC-C8B0753A719E}"/>
              </a:ext>
            </a:extLst>
          </p:cNvPr>
          <p:cNvSpPr txBox="1"/>
          <p:nvPr/>
        </p:nvSpPr>
        <p:spPr>
          <a:xfrm>
            <a:off x="680898" y="2190860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Outputs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B5CAB-C06D-4E2A-AF11-B8F3ACB7AEC5}"/>
              </a:ext>
            </a:extLst>
          </p:cNvPr>
          <p:cNvSpPr txBox="1"/>
          <p:nvPr/>
        </p:nvSpPr>
        <p:spPr>
          <a:xfrm>
            <a:off x="3030125" y="2190860"/>
            <a:ext cx="53174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SCPDemandPriority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(this is an input to the solver)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05991E-DE25-40E5-909D-A929DB89E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443" y="2570103"/>
            <a:ext cx="5492795" cy="24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26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Plan 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2770478" y="1209267"/>
            <a:ext cx="3384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a constrained master plan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47101-3B81-40C9-B9E4-E345D26DA24A}"/>
              </a:ext>
            </a:extLst>
          </p:cNvPr>
          <p:cNvSpPr txBox="1"/>
          <p:nvPr/>
        </p:nvSpPr>
        <p:spPr>
          <a:xfrm>
            <a:off x="680898" y="1209267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Primary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F3B09-C943-4D90-A16B-AAA47A7C72C9}"/>
              </a:ext>
            </a:extLst>
          </p:cNvPr>
          <p:cNvSpPr txBox="1"/>
          <p:nvPr/>
        </p:nvSpPr>
        <p:spPr>
          <a:xfrm>
            <a:off x="680898" y="1751130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Inputs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0A421-EA9E-4806-A56D-710D515319AD}"/>
              </a:ext>
            </a:extLst>
          </p:cNvPr>
          <p:cNvSpPr txBox="1"/>
          <p:nvPr/>
        </p:nvSpPr>
        <p:spPr>
          <a:xfrm>
            <a:off x="2770478" y="1705974"/>
            <a:ext cx="62023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 (in the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DemandTimeGranularity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measure group)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data output of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CreateNetwork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(multiple measures)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Supply data – On Hand inventory, Purchase Orders, WIP etc… &lt;&lt;ref&gt;&gt;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parameters (multiple) &lt;&lt;ref &gt;&gt;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0C5454-EF8D-4DBD-A0FC-C8B0753A719E}"/>
              </a:ext>
            </a:extLst>
          </p:cNvPr>
          <p:cNvSpPr txBox="1"/>
          <p:nvPr/>
        </p:nvSpPr>
        <p:spPr>
          <a:xfrm>
            <a:off x="680898" y="2653707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Outputs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B5CAB-C06D-4E2A-AF11-B8F3ACB7AEC5}"/>
              </a:ext>
            </a:extLst>
          </p:cNvPr>
          <p:cNvSpPr txBox="1"/>
          <p:nvPr/>
        </p:nvSpPr>
        <p:spPr>
          <a:xfrm>
            <a:off x="2770478" y="2653707"/>
            <a:ext cx="2451312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Solver output measures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 fulfilment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Procurement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Peggings</a:t>
            </a:r>
            <a:endParaRPr lang="en-IN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 Cause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peggings</a:t>
            </a:r>
            <a:endParaRPr lang="en-IN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758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Plan Generation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AE12D-A705-4E09-892B-69DB585F7F2B}"/>
              </a:ext>
            </a:extLst>
          </p:cNvPr>
          <p:cNvSpPr txBox="1"/>
          <p:nvPr/>
        </p:nvSpPr>
        <p:spPr>
          <a:xfrm>
            <a:off x="311700" y="1106000"/>
            <a:ext cx="8104576" cy="738664"/>
          </a:xfrm>
          <a:prstGeom prst="rect">
            <a:avLst/>
          </a:prstGeom>
          <a:solidFill>
            <a:schemeClr val="accent6">
              <a:lumMod val="75000"/>
              <a:alpha val="41961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Narrow" panose="020B0606020202030204" pitchFamily="34" charset="0"/>
              </a:rPr>
              <a:t>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The solver plugin is </a:t>
            </a:r>
            <a:r>
              <a:rPr lang="en-IN" dirty="0" err="1">
                <a:latin typeface="Arial Narrow" panose="020B0606020202030204" pitchFamily="34" charset="0"/>
              </a:rPr>
              <a:t>SCPSupplyChainSolver</a:t>
            </a:r>
            <a:endParaRPr lang="en-IN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</a:rPr>
              <a:t>The logic flow for invoking a plan is shown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1C8FF-ACF1-46BA-B43C-7302449F4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7" y="1839500"/>
            <a:ext cx="7362866" cy="306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376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Plan – Supportability 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3030125" y="1209267"/>
            <a:ext cx="3775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 for supply commits to demands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47101-3B81-40C9-B9E4-E345D26DA24A}"/>
              </a:ext>
            </a:extLst>
          </p:cNvPr>
          <p:cNvSpPr txBox="1"/>
          <p:nvPr/>
        </p:nvSpPr>
        <p:spPr>
          <a:xfrm>
            <a:off x="680898" y="1209267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Primary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F3B09-C943-4D90-A16B-AAA47A7C72C9}"/>
              </a:ext>
            </a:extLst>
          </p:cNvPr>
          <p:cNvSpPr txBox="1"/>
          <p:nvPr/>
        </p:nvSpPr>
        <p:spPr>
          <a:xfrm>
            <a:off x="680898" y="1626951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Inputs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0A421-EA9E-4806-A56D-710D515319AD}"/>
              </a:ext>
            </a:extLst>
          </p:cNvPr>
          <p:cNvSpPr txBox="1"/>
          <p:nvPr/>
        </p:nvSpPr>
        <p:spPr>
          <a:xfrm>
            <a:off x="3030125" y="1626951"/>
            <a:ext cx="5910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Solver fulfilment graph output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0C5454-EF8D-4DBD-A0FC-C8B0753A719E}"/>
              </a:ext>
            </a:extLst>
          </p:cNvPr>
          <p:cNvSpPr txBox="1"/>
          <p:nvPr/>
        </p:nvSpPr>
        <p:spPr>
          <a:xfrm>
            <a:off x="680898" y="2190860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Outputs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B5CAB-C06D-4E2A-AF11-B8F3ACB7AEC5}"/>
              </a:ext>
            </a:extLst>
          </p:cNvPr>
          <p:cNvSpPr txBox="1"/>
          <p:nvPr/>
        </p:nvSpPr>
        <p:spPr>
          <a:xfrm>
            <a:off x="3030125" y="2190860"/>
            <a:ext cx="4499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 Group: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DeliveryPlan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(multiple measures)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36E45-3A39-418F-8FBB-4723364C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44" y="2614087"/>
            <a:ext cx="6177800" cy="227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57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Plan – Root Cause Reporting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3030125" y="1209267"/>
            <a:ext cx="29867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 root cause reporting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47101-3B81-40C9-B9E4-E345D26DA24A}"/>
              </a:ext>
            </a:extLst>
          </p:cNvPr>
          <p:cNvSpPr txBox="1"/>
          <p:nvPr/>
        </p:nvSpPr>
        <p:spPr>
          <a:xfrm>
            <a:off x="680898" y="1209267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Primary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F3B09-C943-4D90-A16B-AAA47A7C72C9}"/>
              </a:ext>
            </a:extLst>
          </p:cNvPr>
          <p:cNvSpPr txBox="1"/>
          <p:nvPr/>
        </p:nvSpPr>
        <p:spPr>
          <a:xfrm>
            <a:off x="680898" y="1626951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Inputs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0A421-EA9E-4806-A56D-710D515319AD}"/>
              </a:ext>
            </a:extLst>
          </p:cNvPr>
          <p:cNvSpPr txBox="1"/>
          <p:nvPr/>
        </p:nvSpPr>
        <p:spPr>
          <a:xfrm>
            <a:off x="3030125" y="1626951"/>
            <a:ext cx="5910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Solver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peggings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additive and pegging RCA graphs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0C5454-EF8D-4DBD-A0FC-C8B0753A719E}"/>
              </a:ext>
            </a:extLst>
          </p:cNvPr>
          <p:cNvSpPr txBox="1"/>
          <p:nvPr/>
        </p:nvSpPr>
        <p:spPr>
          <a:xfrm>
            <a:off x="680898" y="2190860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Outputs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B5CAB-C06D-4E2A-AF11-B8F3ACB7AEC5}"/>
              </a:ext>
            </a:extLst>
          </p:cNvPr>
          <p:cNvSpPr txBox="1"/>
          <p:nvPr/>
        </p:nvSpPr>
        <p:spPr>
          <a:xfrm>
            <a:off x="3030125" y="2190860"/>
            <a:ext cx="5925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Solver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peggings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additive and pegging RCA graphs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Reporting measures – Measure groups: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MaterialRCA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CapacityRCA</a:t>
            </a:r>
            <a:endParaRPr lang="en-IN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D18FA-8E7E-41DD-ADB6-679048AAF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662" y="2754769"/>
            <a:ext cx="5910675" cy="217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Plan – Inventory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3030125" y="1130244"/>
            <a:ext cx="2858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 plan (PSI)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 Exception reporting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47101-3B81-40C9-B9E4-E345D26DA24A}"/>
              </a:ext>
            </a:extLst>
          </p:cNvPr>
          <p:cNvSpPr txBox="1"/>
          <p:nvPr/>
        </p:nvSpPr>
        <p:spPr>
          <a:xfrm>
            <a:off x="680898" y="1209267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Primary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F3B09-C943-4D90-A16B-AAA47A7C72C9}"/>
              </a:ext>
            </a:extLst>
          </p:cNvPr>
          <p:cNvSpPr txBox="1"/>
          <p:nvPr/>
        </p:nvSpPr>
        <p:spPr>
          <a:xfrm>
            <a:off x="680898" y="1728552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Inputs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0A421-EA9E-4806-A56D-710D515319AD}"/>
              </a:ext>
            </a:extLst>
          </p:cNvPr>
          <p:cNvSpPr txBox="1"/>
          <p:nvPr/>
        </p:nvSpPr>
        <p:spPr>
          <a:xfrm>
            <a:off x="3030125" y="1649529"/>
            <a:ext cx="591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Solver inventory plans – beginning and ending on hand profiles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Solver material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peggings</a:t>
            </a:r>
            <a:endParaRPr lang="en-IN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0C5454-EF8D-4DBD-A0FC-C8B0753A719E}"/>
              </a:ext>
            </a:extLst>
          </p:cNvPr>
          <p:cNvSpPr txBox="1"/>
          <p:nvPr/>
        </p:nvSpPr>
        <p:spPr>
          <a:xfrm>
            <a:off x="680898" y="2190860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Outputs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B5CAB-C06D-4E2A-AF11-B8F3ACB7AEC5}"/>
              </a:ext>
            </a:extLst>
          </p:cNvPr>
          <p:cNvSpPr txBox="1"/>
          <p:nvPr/>
        </p:nvSpPr>
        <p:spPr>
          <a:xfrm>
            <a:off x="3030125" y="2190860"/>
            <a:ext cx="2967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 Group: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InventoryPlan</a:t>
            </a:r>
            <a:endParaRPr lang="en-IN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90CE3-91D5-43D3-98E4-8106DCDD4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155" y="2555614"/>
            <a:ext cx="6005689" cy="245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16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Plan – Capacity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FEF54-8FA3-445B-81D0-9B24B6CA9790}"/>
              </a:ext>
            </a:extLst>
          </p:cNvPr>
          <p:cNvSpPr txBox="1"/>
          <p:nvPr/>
        </p:nvSpPr>
        <p:spPr>
          <a:xfrm>
            <a:off x="3030125" y="1107666"/>
            <a:ext cx="2820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Capacity Utilization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Capacity Exception reporting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47101-3B81-40C9-B9E4-E345D26DA24A}"/>
              </a:ext>
            </a:extLst>
          </p:cNvPr>
          <p:cNvSpPr txBox="1"/>
          <p:nvPr/>
        </p:nvSpPr>
        <p:spPr>
          <a:xfrm>
            <a:off x="680898" y="1209267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Primary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F3B09-C943-4D90-A16B-AAA47A7C72C9}"/>
              </a:ext>
            </a:extLst>
          </p:cNvPr>
          <p:cNvSpPr txBox="1"/>
          <p:nvPr/>
        </p:nvSpPr>
        <p:spPr>
          <a:xfrm>
            <a:off x="680898" y="1728552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Inputs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0A421-EA9E-4806-A56D-710D515319AD}"/>
              </a:ext>
            </a:extLst>
          </p:cNvPr>
          <p:cNvSpPr txBox="1"/>
          <p:nvPr/>
        </p:nvSpPr>
        <p:spPr>
          <a:xfrm>
            <a:off x="3030125" y="1638240"/>
            <a:ext cx="591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Solver capacity plans – base and flex capacity usage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Solver capacity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peggings</a:t>
            </a:r>
            <a:endParaRPr lang="en-IN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0C5454-EF8D-4DBD-A0FC-C8B0753A719E}"/>
              </a:ext>
            </a:extLst>
          </p:cNvPr>
          <p:cNvSpPr txBox="1"/>
          <p:nvPr/>
        </p:nvSpPr>
        <p:spPr>
          <a:xfrm>
            <a:off x="680898" y="2190860"/>
            <a:ext cx="163549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</a:rPr>
              <a:t>Key Outputs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B5CAB-C06D-4E2A-AF11-B8F3ACB7AEC5}"/>
              </a:ext>
            </a:extLst>
          </p:cNvPr>
          <p:cNvSpPr txBox="1"/>
          <p:nvPr/>
        </p:nvSpPr>
        <p:spPr>
          <a:xfrm>
            <a:off x="3030125" y="2190860"/>
            <a:ext cx="3196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 Group: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CapacityReports</a:t>
            </a:r>
            <a:endParaRPr lang="en-IN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0C33A-F99A-437A-85A2-6C3687335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902" y="2558814"/>
            <a:ext cx="7054195" cy="231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84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Contents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9323A-3498-4AE5-B504-2B4AF627DB78}"/>
              </a:ext>
            </a:extLst>
          </p:cNvPr>
          <p:cNvSpPr txBox="1"/>
          <p:nvPr/>
        </p:nvSpPr>
        <p:spPr>
          <a:xfrm>
            <a:off x="440268" y="1388534"/>
            <a:ext cx="450636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Modules Overview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Basic Master Planning Module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</a:t>
            </a:r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Functional Overview</a:t>
            </a:r>
          </a:p>
          <a:p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Model: Dimensions</a:t>
            </a:r>
          </a:p>
          <a:p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Function Deep Dive</a:t>
            </a:r>
          </a:p>
          <a:p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Model: Rules Overview</a:t>
            </a:r>
          </a:p>
          <a:p>
            <a:r>
              <a:rPr lang="en-IN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	Model: Plans/</a:t>
            </a:r>
            <a:r>
              <a:rPr lang="en-IN" sz="2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MeasureGroups</a:t>
            </a:r>
            <a:endParaRPr lang="en-IN" sz="2000" dirty="0">
              <a:solidFill>
                <a:schemeClr val="bg2">
                  <a:lumMod val="60000"/>
                  <a:lumOff val="40000"/>
                </a:schemeClr>
              </a:solidFill>
              <a:latin typeface="Arial Narrow" panose="020B0606020202030204" pitchFamily="34" charset="0"/>
            </a:endParaRP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Extending/Customizing The Ref Model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Additional Master Planning Modules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Order Planning 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AEE032-093F-4AC5-8728-93F10EA02928}"/>
              </a:ext>
            </a:extLst>
          </p:cNvPr>
          <p:cNvSpPr/>
          <p:nvPr/>
        </p:nvSpPr>
        <p:spPr>
          <a:xfrm>
            <a:off x="1203522" y="3160891"/>
            <a:ext cx="151145" cy="59830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276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Rules Overview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15F172-8418-4461-8804-8D8B1C75C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210074"/>
              </p:ext>
            </p:extLst>
          </p:nvPr>
        </p:nvGraphicFramePr>
        <p:xfrm>
          <a:off x="311700" y="1115481"/>
          <a:ext cx="8403321" cy="3830320"/>
        </p:xfrm>
        <a:graphic>
          <a:graphicData uri="http://schemas.openxmlformats.org/drawingml/2006/table">
            <a:tbl>
              <a:tblPr firstRow="1" bandRow="1">
                <a:tableStyleId>{EA40EC8D-E34B-4EA3-BABA-1C79BECF740E}</a:tableStyleId>
              </a:tblPr>
              <a:tblGrid>
                <a:gridCol w="1536834">
                  <a:extLst>
                    <a:ext uri="{9D8B030D-6E8A-4147-A177-3AD203B41FA5}">
                      <a16:colId xmlns:a16="http://schemas.microsoft.com/office/drawing/2014/main" val="3037740863"/>
                    </a:ext>
                  </a:extLst>
                </a:gridCol>
                <a:gridCol w="1583288">
                  <a:extLst>
                    <a:ext uri="{9D8B030D-6E8A-4147-A177-3AD203B41FA5}">
                      <a16:colId xmlns:a16="http://schemas.microsoft.com/office/drawing/2014/main" val="1327282176"/>
                    </a:ext>
                  </a:extLst>
                </a:gridCol>
                <a:gridCol w="1478845">
                  <a:extLst>
                    <a:ext uri="{9D8B030D-6E8A-4147-A177-3AD203B41FA5}">
                      <a16:colId xmlns:a16="http://schemas.microsoft.com/office/drawing/2014/main" val="1795627"/>
                    </a:ext>
                  </a:extLst>
                </a:gridCol>
                <a:gridCol w="1761066">
                  <a:extLst>
                    <a:ext uri="{9D8B030D-6E8A-4147-A177-3AD203B41FA5}">
                      <a16:colId xmlns:a16="http://schemas.microsoft.com/office/drawing/2014/main" val="3837148740"/>
                    </a:ext>
                  </a:extLst>
                </a:gridCol>
                <a:gridCol w="2043288">
                  <a:extLst>
                    <a:ext uri="{9D8B030D-6E8A-4147-A177-3AD203B41FA5}">
                      <a16:colId xmlns:a16="http://schemas.microsoft.com/office/drawing/2014/main" val="357779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Active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Buttons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IBPL Procedures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Plugins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3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Create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ActiveRule_02.Routing Rules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ActiveRule_03. BOD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CreateNetworkProcedure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CreateNetworkPreUploadFiles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CreateNetworkPostUploadFiles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61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Forecast Netting (Monthly)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RunDemandNettingatMonth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RunDemandNettingatMonth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o9.referencesupplyplanning.DemandNettingatMonth (JavaScript)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DemandNettingatMonth</a:t>
                      </a:r>
                      <a:r>
                        <a:rPr lang="en-IN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 (R)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o9.referencesupplyplanning.DemandIDMemberCreation (</a:t>
                      </a: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Powershell</a:t>
                      </a:r>
                      <a:r>
                        <a:rPr lang="en-IN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988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1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RunDemandNettingW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RunDemandNettingW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o9.referencesupplyplanning.DemandNetting (JavaScript)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DemandNetting</a:t>
                      </a:r>
                      <a:r>
                        <a:rPr lang="en-IN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 (R)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o9.referencesupplyplanning.DemandIDMemberCreation (</a:t>
                      </a: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Powershell</a:t>
                      </a:r>
                      <a:r>
                        <a:rPr lang="en-IN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341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820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Rules Overview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15F172-8418-4461-8804-8D8B1C75C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680784"/>
              </p:ext>
            </p:extLst>
          </p:nvPr>
        </p:nvGraphicFramePr>
        <p:xfrm>
          <a:off x="311700" y="1104192"/>
          <a:ext cx="8403321" cy="3784600"/>
        </p:xfrm>
        <a:graphic>
          <a:graphicData uri="http://schemas.openxmlformats.org/drawingml/2006/table">
            <a:tbl>
              <a:tblPr firstRow="1" bandRow="1">
                <a:tableStyleId>{EA40EC8D-E34B-4EA3-BABA-1C79BECF740E}</a:tableStyleId>
              </a:tblPr>
              <a:tblGrid>
                <a:gridCol w="1536834">
                  <a:extLst>
                    <a:ext uri="{9D8B030D-6E8A-4147-A177-3AD203B41FA5}">
                      <a16:colId xmlns:a16="http://schemas.microsoft.com/office/drawing/2014/main" val="3037740863"/>
                    </a:ext>
                  </a:extLst>
                </a:gridCol>
                <a:gridCol w="1960446">
                  <a:extLst>
                    <a:ext uri="{9D8B030D-6E8A-4147-A177-3AD203B41FA5}">
                      <a16:colId xmlns:a16="http://schemas.microsoft.com/office/drawing/2014/main" val="1327282176"/>
                    </a:ext>
                  </a:extLst>
                </a:gridCol>
                <a:gridCol w="1635347">
                  <a:extLst>
                    <a:ext uri="{9D8B030D-6E8A-4147-A177-3AD203B41FA5}">
                      <a16:colId xmlns:a16="http://schemas.microsoft.com/office/drawing/2014/main" val="1795627"/>
                    </a:ext>
                  </a:extLst>
                </a:gridCol>
                <a:gridCol w="1701540">
                  <a:extLst>
                    <a:ext uri="{9D8B030D-6E8A-4147-A177-3AD203B41FA5}">
                      <a16:colId xmlns:a16="http://schemas.microsoft.com/office/drawing/2014/main" val="3837148740"/>
                    </a:ext>
                  </a:extLst>
                </a:gridCol>
                <a:gridCol w="1569154">
                  <a:extLst>
                    <a:ext uri="{9D8B030D-6E8A-4147-A177-3AD203B41FA5}">
                      <a16:colId xmlns:a16="http://schemas.microsoft.com/office/drawing/2014/main" val="357779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Active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Buttons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IBPL Procedures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Plugins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3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Demand Prioritization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RunDemandPriorityW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DemandPrioritizationTimePhased</a:t>
                      </a:r>
                      <a:r>
                        <a:rPr lang="en-IN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 (R)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57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Supply Input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ActiveRule_04. WIP and Inventory Input Rules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1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Plan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ActiveRule_05. Frozen Window Calculations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035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Plan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GlobalForwardPlanBasic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RunBasicPlan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SCPSupplyChainSolver</a:t>
                      </a:r>
                      <a:r>
                        <a:rPr lang="en-IN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 (Solver)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350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Demand Supportability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ActiveRule_06. </a:t>
                      </a:r>
                      <a:r>
                        <a:rPr lang="en-US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PostSolver</a:t>
                      </a:r>
                      <a:r>
                        <a:rPr lang="en-US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 Demand Rules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654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Root 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ActiveRule_09. </a:t>
                      </a:r>
                      <a:r>
                        <a:rPr lang="en-US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PostSolver</a:t>
                      </a:r>
                      <a:r>
                        <a:rPr lang="en-US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 Root Cause rules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8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Capacity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ActiveRule_08. </a:t>
                      </a:r>
                      <a:r>
                        <a:rPr lang="en-US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PostSolver</a:t>
                      </a:r>
                      <a:r>
                        <a:rPr lang="en-US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 Capacity Rules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353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Inventory Plans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ActiveRule_07. </a:t>
                      </a:r>
                      <a:r>
                        <a:rPr lang="en-US" sz="1100" b="0" i="0" u="none" strike="noStrike" cap="none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PostSolver</a:t>
                      </a:r>
                      <a:r>
                        <a:rPr lang="en-US" sz="1100" b="0" i="0" u="none" strike="noStrike" cap="none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 Inventory Plan Rules</a:t>
                      </a: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1100" b="0" i="0" u="none" strike="noStrike" cap="none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078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141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Contents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9323A-3498-4AE5-B504-2B4AF627DB78}"/>
              </a:ext>
            </a:extLst>
          </p:cNvPr>
          <p:cNvSpPr txBox="1"/>
          <p:nvPr/>
        </p:nvSpPr>
        <p:spPr>
          <a:xfrm>
            <a:off x="440268" y="1388534"/>
            <a:ext cx="45063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Modules Overview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Basic Master Planning Module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Extending/Customizing The Ref Model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Additional Master Planning Modules</a:t>
            </a:r>
          </a:p>
          <a:p>
            <a:r>
              <a:rPr lang="en-IN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Order Planning 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AEE032-093F-4AC5-8728-93F10EA02928}"/>
              </a:ext>
            </a:extLst>
          </p:cNvPr>
          <p:cNvSpPr/>
          <p:nvPr/>
        </p:nvSpPr>
        <p:spPr>
          <a:xfrm>
            <a:off x="311700" y="2201331"/>
            <a:ext cx="128568" cy="3160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979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Extending/Customizing The Ref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A44AB-613B-434A-94C8-32F7007B6479}"/>
              </a:ext>
            </a:extLst>
          </p:cNvPr>
          <p:cNvSpPr txBox="1"/>
          <p:nvPr/>
        </p:nvSpPr>
        <p:spPr>
          <a:xfrm>
            <a:off x="440268" y="1738491"/>
            <a:ext cx="6532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Core solver input/output should be required on rare occasions only.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1354A-753B-49B3-B7AE-ED3903D0C3AA}"/>
              </a:ext>
            </a:extLst>
          </p:cNvPr>
          <p:cNvSpPr txBox="1"/>
          <p:nvPr/>
        </p:nvSpPr>
        <p:spPr>
          <a:xfrm>
            <a:off x="440268" y="1141624"/>
            <a:ext cx="3414717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Arial Nova" panose="020B0604020202020204" pitchFamily="34" charset="0"/>
              </a:rPr>
              <a:t>General Principles/Objectives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EBFBAE-D4D0-4580-ACD0-D877493954F0}"/>
              </a:ext>
            </a:extLst>
          </p:cNvPr>
          <p:cNvSpPr txBox="1"/>
          <p:nvPr/>
        </p:nvSpPr>
        <p:spPr>
          <a:xfrm>
            <a:off x="440268" y="2123956"/>
            <a:ext cx="8076250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Upgrade processes should be easy – e.g. there’s a new version of the Ref Model that has a more performant functionality.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034559-54AA-4199-835B-5122E70C2743}"/>
              </a:ext>
            </a:extLst>
          </p:cNvPr>
          <p:cNvSpPr txBox="1"/>
          <p:nvPr/>
        </p:nvSpPr>
        <p:spPr>
          <a:xfrm>
            <a:off x="440268" y="2693925"/>
            <a:ext cx="8076250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Traceability and version control in the tenant configuration process, including customizations/extensions.</a:t>
            </a:r>
            <a:endParaRPr lang="en-IN" dirty="0">
              <a:solidFill>
                <a:schemeClr val="tx2">
                  <a:lumMod val="75000"/>
                </a:schemeClr>
              </a:solidFill>
              <a:latin typeface="Arial Nov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369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Extending/Customizing The Ref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A44AB-613B-434A-94C8-32F7007B6479}"/>
              </a:ext>
            </a:extLst>
          </p:cNvPr>
          <p:cNvSpPr txBox="1"/>
          <p:nvPr/>
        </p:nvSpPr>
        <p:spPr>
          <a:xfrm>
            <a:off x="440268" y="1546578"/>
            <a:ext cx="74174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2"/>
                </a:solidFill>
                <a:latin typeface="Arial Nova" panose="020B0604020202020204" pitchFamily="34" charset="0"/>
              </a:rPr>
              <a:t>Keep all customized/extended config elements separate from Ref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1354A-753B-49B3-B7AE-ED3903D0C3AA}"/>
              </a:ext>
            </a:extLst>
          </p:cNvPr>
          <p:cNvSpPr txBox="1"/>
          <p:nvPr/>
        </p:nvSpPr>
        <p:spPr>
          <a:xfrm>
            <a:off x="440268" y="1141624"/>
            <a:ext cx="1616148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Arial Nova" panose="020B0604020202020204" pitchFamily="34" charset="0"/>
              </a:rPr>
              <a:t>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EBFBAE-D4D0-4580-ACD0-D877493954F0}"/>
              </a:ext>
            </a:extLst>
          </p:cNvPr>
          <p:cNvSpPr txBox="1"/>
          <p:nvPr/>
        </p:nvSpPr>
        <p:spPr>
          <a:xfrm>
            <a:off x="440268" y="1932043"/>
            <a:ext cx="8076250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E.g. ‘I don’t want to use the Ref Model’s demand fulfilment analytics, I have my own rules.</a:t>
            </a:r>
          </a:p>
          <a:p>
            <a:pPr marL="450850" indent="-269875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Create a copy of the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PostSolver_Demand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 Rules active rule file – let’s call it ‘My Demand Rules File’</a:t>
            </a:r>
          </a:p>
          <a:p>
            <a:pPr marL="450850" indent="-269875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Make changes in My demand Rules File – delete the relevant Ref Model rules, add your own rules.</a:t>
            </a:r>
          </a:p>
          <a:p>
            <a:pPr marL="450850" indent="-269875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Delete the Ref Model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PostSolver_Demand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 Rules file.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034559-54AA-4199-835B-5122E70C2743}"/>
              </a:ext>
            </a:extLst>
          </p:cNvPr>
          <p:cNvSpPr txBox="1"/>
          <p:nvPr/>
        </p:nvSpPr>
        <p:spPr>
          <a:xfrm>
            <a:off x="440268" y="3653481"/>
            <a:ext cx="8076250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2"/>
                </a:solidFill>
                <a:latin typeface="Arial Nova" panose="020B0604020202020204" pitchFamily="34" charset="0"/>
              </a:rPr>
              <a:t>Maintain a ‘Diff’ log: Basically a script that should be able to reconstruct your tenant from a new Ref Model package download.</a:t>
            </a: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E.g. </a:t>
            </a:r>
          </a:p>
          <a:p>
            <a:pPr marL="450850" indent="-269875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Step 1: Delete </a:t>
            </a:r>
            <a:r>
              <a:rPr lang="en-IN" dirty="0" err="1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PostSolver_Demand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 Rules file.</a:t>
            </a:r>
          </a:p>
          <a:p>
            <a:pPr marL="450850" indent="-269875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Step 2: Add the My Demand Rules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bg2"/>
              </a:solidFill>
              <a:latin typeface="Arial Nov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008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Extending/Customizing The Ref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A44AB-613B-434A-94C8-32F7007B6479}"/>
              </a:ext>
            </a:extLst>
          </p:cNvPr>
          <p:cNvSpPr txBox="1"/>
          <p:nvPr/>
        </p:nvSpPr>
        <p:spPr>
          <a:xfrm>
            <a:off x="440268" y="1546578"/>
            <a:ext cx="8392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2"/>
                </a:solidFill>
                <a:latin typeface="Arial Nova" panose="020B0604020202020204" pitchFamily="34" charset="0"/>
              </a:rPr>
              <a:t>Utilize DDLs and similar mechanisms as much as possible. To allow programmatic creation of a tenant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1354A-753B-49B3-B7AE-ED3903D0C3AA}"/>
              </a:ext>
            </a:extLst>
          </p:cNvPr>
          <p:cNvSpPr txBox="1"/>
          <p:nvPr/>
        </p:nvSpPr>
        <p:spPr>
          <a:xfrm>
            <a:off x="440268" y="1141624"/>
            <a:ext cx="1616148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Arial Nova" panose="020B0604020202020204" pitchFamily="34" charset="0"/>
              </a:rPr>
              <a:t>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EBFBAE-D4D0-4580-ACD0-D877493954F0}"/>
              </a:ext>
            </a:extLst>
          </p:cNvPr>
          <p:cNvSpPr txBox="1"/>
          <p:nvPr/>
        </p:nvSpPr>
        <p:spPr>
          <a:xfrm>
            <a:off x="440268" y="2146534"/>
            <a:ext cx="8076250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0850" indent="-269875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Maintain a DDL file to create as many entities as possible – e.g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. All measures 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should be in a DDL file. You can then apply version control on this file.</a:t>
            </a:r>
          </a:p>
          <a:p>
            <a:pPr marL="450850" indent="-269875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Arial Nova" panose="020B0604020202020204" pitchFamily="34" charset="0"/>
              </a:rPr>
              <a:t>Use the Industry Solutions Rule Creator app for Active Rule file creation. You can then apply version control on Rules files</a:t>
            </a:r>
          </a:p>
        </p:txBody>
      </p:sp>
    </p:spTree>
    <p:extLst>
      <p:ext uri="{BB962C8B-B14F-4D97-AF65-F5344CB8AC3E}">
        <p14:creationId xmlns:p14="http://schemas.microsoft.com/office/powerpoint/2010/main" val="4293344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C6A06-FA80-44CE-8DF6-D2270A91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007490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C6A06-FA80-44CE-8DF6-D2270A91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Log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C28604-71D9-4C45-B074-4E4D3BB3B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011369"/>
              </p:ext>
            </p:extLst>
          </p:nvPr>
        </p:nvGraphicFramePr>
        <p:xfrm>
          <a:off x="824089" y="1600907"/>
          <a:ext cx="7631289" cy="1483360"/>
        </p:xfrm>
        <a:graphic>
          <a:graphicData uri="http://schemas.openxmlformats.org/drawingml/2006/table">
            <a:tbl>
              <a:tblPr firstRow="1" bandRow="1">
                <a:tableStyleId>{EA40EC8D-E34B-4EA3-BABA-1C79BECF740E}</a:tableStyleId>
              </a:tblPr>
              <a:tblGrid>
                <a:gridCol w="854043">
                  <a:extLst>
                    <a:ext uri="{9D8B030D-6E8A-4147-A177-3AD203B41FA5}">
                      <a16:colId xmlns:a16="http://schemas.microsoft.com/office/drawing/2014/main" val="3697319552"/>
                    </a:ext>
                  </a:extLst>
                </a:gridCol>
                <a:gridCol w="826494">
                  <a:extLst>
                    <a:ext uri="{9D8B030D-6E8A-4147-A177-3AD203B41FA5}">
                      <a16:colId xmlns:a16="http://schemas.microsoft.com/office/drawing/2014/main" val="1553441500"/>
                    </a:ext>
                  </a:extLst>
                </a:gridCol>
                <a:gridCol w="2101241">
                  <a:extLst>
                    <a:ext uri="{9D8B030D-6E8A-4147-A177-3AD203B41FA5}">
                      <a16:colId xmlns:a16="http://schemas.microsoft.com/office/drawing/2014/main" val="1899472105"/>
                    </a:ext>
                  </a:extLst>
                </a:gridCol>
                <a:gridCol w="3849511">
                  <a:extLst>
                    <a:ext uri="{9D8B030D-6E8A-4147-A177-3AD203B41FA5}">
                      <a16:colId xmlns:a16="http://schemas.microsoft.com/office/drawing/2014/main" val="4038311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220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Siddhartha Niyogi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First 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034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15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837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5321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F50-B9EB-4E46-A0B6-7F2F14F2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Master Planning: Plans &amp; Measure Groups Overview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94246E-EF79-4299-942F-6E97766CA5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0888" y="1284816"/>
          <a:ext cx="7789332" cy="1112520"/>
        </p:xfrm>
        <a:graphic>
          <a:graphicData uri="http://schemas.openxmlformats.org/drawingml/2006/table">
            <a:tbl>
              <a:tblPr firstRow="1" bandRow="1">
                <a:tableStyleId>{EA40EC8D-E34B-4EA3-BABA-1C79BECF740E}</a:tableStyleId>
              </a:tblPr>
              <a:tblGrid>
                <a:gridCol w="2596444">
                  <a:extLst>
                    <a:ext uri="{9D8B030D-6E8A-4147-A177-3AD203B41FA5}">
                      <a16:colId xmlns:a16="http://schemas.microsoft.com/office/drawing/2014/main" val="3037740863"/>
                    </a:ext>
                  </a:extLst>
                </a:gridCol>
                <a:gridCol w="2596444">
                  <a:extLst>
                    <a:ext uri="{9D8B030D-6E8A-4147-A177-3AD203B41FA5}">
                      <a16:colId xmlns:a16="http://schemas.microsoft.com/office/drawing/2014/main" val="1327282176"/>
                    </a:ext>
                  </a:extLst>
                </a:gridCol>
                <a:gridCol w="2596444">
                  <a:extLst>
                    <a:ext uri="{9D8B030D-6E8A-4147-A177-3AD203B41FA5}">
                      <a16:colId xmlns:a16="http://schemas.microsoft.com/office/drawing/2014/main" val="17956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Key Measure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Primary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3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SupplyPlanning</a:t>
                      </a:r>
                      <a:endParaRPr lang="en-IN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DemandTimeGranularity</a:t>
                      </a:r>
                      <a:endParaRPr lang="en-IN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61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988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957588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15048</TotalTime>
  <Words>1702</Words>
  <Application>Microsoft Office PowerPoint</Application>
  <PresentationFormat>On-screen Show (16:9)</PresentationFormat>
  <Paragraphs>405</Paragraphs>
  <Slides>35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Source Code Pro</vt:lpstr>
      <vt:lpstr>Oswald</vt:lpstr>
      <vt:lpstr>Arial Nova</vt:lpstr>
      <vt:lpstr>Work Sans</vt:lpstr>
      <vt:lpstr>Arial Narrow</vt:lpstr>
      <vt:lpstr>Modern Writer</vt:lpstr>
      <vt:lpstr>Reference Model: Supply Planning Architecture Training</vt:lpstr>
      <vt:lpstr>Contents</vt:lpstr>
      <vt:lpstr>Modules Overview</vt:lpstr>
      <vt:lpstr>Contents</vt:lpstr>
      <vt:lpstr>Basic Master Planning: Functional Overview</vt:lpstr>
      <vt:lpstr>Basic Master Planning: Dimensions Overview</vt:lpstr>
      <vt:lpstr>Basic Master Planning: Dimensions</vt:lpstr>
      <vt:lpstr>Basic Master Planning: Dimensions</vt:lpstr>
      <vt:lpstr>Basic Master Planning: Dimensions</vt:lpstr>
      <vt:lpstr>Basic Master Planning: Dimensions</vt:lpstr>
      <vt:lpstr>Basic Master Planning: Dimensions</vt:lpstr>
      <vt:lpstr>Basic Master Planning: Dimensions</vt:lpstr>
      <vt:lpstr>Basic Master Planning: Dimensions</vt:lpstr>
      <vt:lpstr>Contents</vt:lpstr>
      <vt:lpstr>Key Functions</vt:lpstr>
      <vt:lpstr>Basic Master Planning: Network Creation</vt:lpstr>
      <vt:lpstr>Basic Master Planning: Forecast Netting</vt:lpstr>
      <vt:lpstr>Basic Master Planning: Forecast Netting</vt:lpstr>
      <vt:lpstr>Basic Master Planning: Demand Prioritization</vt:lpstr>
      <vt:lpstr>Basic Master Planning: Plan Generation</vt:lpstr>
      <vt:lpstr>Basic Master Planning: Plan Generation</vt:lpstr>
      <vt:lpstr>Basic Master Planning: Plan – Supportability Analytics</vt:lpstr>
      <vt:lpstr>Basic Master Planning: Plan – Root Cause Reporting</vt:lpstr>
      <vt:lpstr>Basic Master Planning: Plan – Inventory Plan</vt:lpstr>
      <vt:lpstr>Basic Master Planning: Plan – Capacity Plan</vt:lpstr>
      <vt:lpstr>Contents</vt:lpstr>
      <vt:lpstr>Basic Master Planning: Rules Overview</vt:lpstr>
      <vt:lpstr>Basic Master Planning: Rules Overview</vt:lpstr>
      <vt:lpstr>Contents</vt:lpstr>
      <vt:lpstr>Extending/Customizing The Ref Model</vt:lpstr>
      <vt:lpstr>Extending/Customizing The Ref Model</vt:lpstr>
      <vt:lpstr>Extending/Customizing The Ref Model</vt:lpstr>
      <vt:lpstr>Appendix</vt:lpstr>
      <vt:lpstr>Version Log</vt:lpstr>
      <vt:lpstr>Basic Master Planning: Plans &amp; Measure Groups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X.Co Digital Transformation Blueprint Powering Integrated Planning, Sales &amp; Supply Chain Operations with AI Solutions</dc:title>
  <dc:creator>Sampath Raghav</dc:creator>
  <cp:lastModifiedBy>Sampath Raghav</cp:lastModifiedBy>
  <cp:revision>258</cp:revision>
  <dcterms:modified xsi:type="dcterms:W3CDTF">2019-04-29T19:47:17Z</dcterms:modified>
</cp:coreProperties>
</file>