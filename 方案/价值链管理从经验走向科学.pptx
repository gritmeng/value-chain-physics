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heme/theme5.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1.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2.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4.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5.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notesSlides/notesSlide6.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7.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notesSlides/notesSlide8.xml" ContentType="application/vnd.openxmlformats-officedocument.presentationml.notesSlide+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6" r:id="rId2"/>
    <p:sldMasterId id="2147483736" r:id="rId3"/>
    <p:sldMasterId id="2147483761" r:id="rId4"/>
  </p:sldMasterIdLst>
  <p:notesMasterIdLst>
    <p:notesMasterId r:id="rId164"/>
  </p:notesMasterIdLst>
  <p:sldIdLst>
    <p:sldId id="256" r:id="rId5"/>
    <p:sldId id="2007578917" r:id="rId6"/>
    <p:sldId id="2007578639" r:id="rId7"/>
    <p:sldId id="2007578918" r:id="rId8"/>
    <p:sldId id="2007578963" r:id="rId9"/>
    <p:sldId id="2007578913" r:id="rId10"/>
    <p:sldId id="2007578919" r:id="rId11"/>
    <p:sldId id="2007578920" r:id="rId12"/>
    <p:sldId id="2007578921" r:id="rId13"/>
    <p:sldId id="2007578922" r:id="rId14"/>
    <p:sldId id="2007578925" r:id="rId15"/>
    <p:sldId id="2007578923" r:id="rId16"/>
    <p:sldId id="2007578926" r:id="rId17"/>
    <p:sldId id="2007578927" r:id="rId18"/>
    <p:sldId id="2007578929" r:id="rId19"/>
    <p:sldId id="2007578928" r:id="rId20"/>
    <p:sldId id="2007578930" r:id="rId21"/>
    <p:sldId id="2007578933" r:id="rId22"/>
    <p:sldId id="2007578934" r:id="rId23"/>
    <p:sldId id="276" r:id="rId24"/>
    <p:sldId id="277" r:id="rId25"/>
    <p:sldId id="278" r:id="rId26"/>
    <p:sldId id="279" r:id="rId27"/>
    <p:sldId id="280" r:id="rId28"/>
    <p:sldId id="281" r:id="rId29"/>
    <p:sldId id="282" r:id="rId30"/>
    <p:sldId id="2007578961" r:id="rId31"/>
    <p:sldId id="2007578935" r:id="rId32"/>
    <p:sldId id="2007578936" r:id="rId33"/>
    <p:sldId id="2007578937" r:id="rId34"/>
    <p:sldId id="2007578938" r:id="rId35"/>
    <p:sldId id="2007578941" r:id="rId36"/>
    <p:sldId id="2007578940" r:id="rId37"/>
    <p:sldId id="2007578939" r:id="rId38"/>
    <p:sldId id="2007578942" r:id="rId39"/>
    <p:sldId id="2007578943" r:id="rId40"/>
    <p:sldId id="2007578944" r:id="rId41"/>
    <p:sldId id="2007578948" r:id="rId42"/>
    <p:sldId id="2007578946" r:id="rId43"/>
    <p:sldId id="2007578947" r:id="rId44"/>
    <p:sldId id="2007578949" r:id="rId45"/>
    <p:sldId id="2007578950" r:id="rId46"/>
    <p:sldId id="2007578945" r:id="rId47"/>
    <p:sldId id="2007578951" r:id="rId48"/>
    <p:sldId id="2007578952" r:id="rId49"/>
    <p:sldId id="2007578953" r:id="rId50"/>
    <p:sldId id="2007578954" r:id="rId51"/>
    <p:sldId id="2007578955" r:id="rId52"/>
    <p:sldId id="2007578956" r:id="rId53"/>
    <p:sldId id="2007578957" r:id="rId54"/>
    <p:sldId id="2007578958" r:id="rId55"/>
    <p:sldId id="2007578959" r:id="rId56"/>
    <p:sldId id="2007578960" r:id="rId57"/>
    <p:sldId id="2007578962" r:id="rId58"/>
    <p:sldId id="2007578814" r:id="rId59"/>
    <p:sldId id="2007578815" r:id="rId60"/>
    <p:sldId id="2007578829" r:id="rId61"/>
    <p:sldId id="2007578830" r:id="rId62"/>
    <p:sldId id="2007578831" r:id="rId63"/>
    <p:sldId id="2007578832" r:id="rId64"/>
    <p:sldId id="2007578848" r:id="rId65"/>
    <p:sldId id="2007578640" r:id="rId66"/>
    <p:sldId id="2007578638" r:id="rId67"/>
    <p:sldId id="2007578660" r:id="rId68"/>
    <p:sldId id="2007578768" r:id="rId69"/>
    <p:sldId id="2007578764" r:id="rId70"/>
    <p:sldId id="2007578858" r:id="rId71"/>
    <p:sldId id="2007578849" r:id="rId72"/>
    <p:sldId id="2007578449" r:id="rId73"/>
    <p:sldId id="2007578450" r:id="rId74"/>
    <p:sldId id="2007578451" r:id="rId75"/>
    <p:sldId id="2007578452" r:id="rId76"/>
    <p:sldId id="2007578453" r:id="rId77"/>
    <p:sldId id="2007578454" r:id="rId78"/>
    <p:sldId id="2007578856" r:id="rId79"/>
    <p:sldId id="2007578456" r:id="rId80"/>
    <p:sldId id="2007578871" r:id="rId81"/>
    <p:sldId id="2007578458" r:id="rId82"/>
    <p:sldId id="2007578459" r:id="rId83"/>
    <p:sldId id="2007578460" r:id="rId84"/>
    <p:sldId id="2007578642" r:id="rId85"/>
    <p:sldId id="2007578864" r:id="rId86"/>
    <p:sldId id="2007578912" r:id="rId87"/>
    <p:sldId id="2007578727" r:id="rId88"/>
    <p:sldId id="2007578731" r:id="rId89"/>
    <p:sldId id="2007578644" r:id="rId90"/>
    <p:sldId id="2007578732" r:id="rId91"/>
    <p:sldId id="2007578733" r:id="rId92"/>
    <p:sldId id="2007578734" r:id="rId93"/>
    <p:sldId id="2007578735" r:id="rId94"/>
    <p:sldId id="2007578692" r:id="rId95"/>
    <p:sldId id="2007578651" r:id="rId96"/>
    <p:sldId id="2007578652" r:id="rId97"/>
    <p:sldId id="2007578653" r:id="rId98"/>
    <p:sldId id="2007578654" r:id="rId99"/>
    <p:sldId id="2007578655" r:id="rId100"/>
    <p:sldId id="2007578656" r:id="rId101"/>
    <p:sldId id="2007578657" r:id="rId102"/>
    <p:sldId id="2007578705" r:id="rId103"/>
    <p:sldId id="2007578658" r:id="rId104"/>
    <p:sldId id="2007578702" r:id="rId105"/>
    <p:sldId id="2007578704" r:id="rId106"/>
    <p:sldId id="2007578641" r:id="rId107"/>
    <p:sldId id="2007578775" r:id="rId108"/>
    <p:sldId id="2007578718" r:id="rId109"/>
    <p:sldId id="2007578719" r:id="rId110"/>
    <p:sldId id="2007578720" r:id="rId111"/>
    <p:sldId id="2007578663" r:id="rId112"/>
    <p:sldId id="2007578793" r:id="rId113"/>
    <p:sldId id="2007578698" r:id="rId114"/>
    <p:sldId id="2007578664" r:id="rId115"/>
    <p:sldId id="2007578721" r:id="rId116"/>
    <p:sldId id="2007578666" r:id="rId117"/>
    <p:sldId id="2007578665" r:id="rId118"/>
    <p:sldId id="2007578899" r:id="rId119"/>
    <p:sldId id="2007578668" r:id="rId120"/>
    <p:sldId id="2007578737" r:id="rId121"/>
    <p:sldId id="2007578725" r:id="rId122"/>
    <p:sldId id="2007578728" r:id="rId123"/>
    <p:sldId id="2007578729" r:id="rId124"/>
    <p:sldId id="2007578730" r:id="rId125"/>
    <p:sldId id="2007578738" r:id="rId126"/>
    <p:sldId id="2007578726" r:id="rId127"/>
    <p:sldId id="2007578752" r:id="rId128"/>
    <p:sldId id="2007578756" r:id="rId129"/>
    <p:sldId id="2007578679" r:id="rId130"/>
    <p:sldId id="2007578743" r:id="rId131"/>
    <p:sldId id="2007578680" r:id="rId132"/>
    <p:sldId id="2007578776" r:id="rId133"/>
    <p:sldId id="2007578669" r:id="rId134"/>
    <p:sldId id="2007578687" r:id="rId135"/>
    <p:sldId id="2007578688" r:id="rId136"/>
    <p:sldId id="2007578777" r:id="rId137"/>
    <p:sldId id="2007578672" r:id="rId138"/>
    <p:sldId id="2007578710" r:id="rId139"/>
    <p:sldId id="2007578714" r:id="rId140"/>
    <p:sldId id="2007578708" r:id="rId141"/>
    <p:sldId id="2007578740" r:id="rId142"/>
    <p:sldId id="2007578709" r:id="rId143"/>
    <p:sldId id="2007578742" r:id="rId144"/>
    <p:sldId id="2007578746" r:id="rId145"/>
    <p:sldId id="2007578715" r:id="rId146"/>
    <p:sldId id="2007578716" r:id="rId147"/>
    <p:sldId id="2007578717" r:id="rId148"/>
    <p:sldId id="2007578675" r:id="rId149"/>
    <p:sldId id="2007578712" r:id="rId150"/>
    <p:sldId id="2007578676" r:id="rId151"/>
    <p:sldId id="2007578744" r:id="rId152"/>
    <p:sldId id="2007578745" r:id="rId153"/>
    <p:sldId id="2007578434" r:id="rId154"/>
    <p:sldId id="2007578747" r:id="rId155"/>
    <p:sldId id="2007578435" r:id="rId156"/>
    <p:sldId id="2007578749" r:id="rId157"/>
    <p:sldId id="2007578782" r:id="rId158"/>
    <p:sldId id="2007578778" r:id="rId159"/>
    <p:sldId id="2007578779" r:id="rId160"/>
    <p:sldId id="2007578781" r:id="rId161"/>
    <p:sldId id="2007578780" r:id="rId162"/>
    <p:sldId id="2007578753" r:id="rId1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FF"/>
    <a:srgbClr val="00E5FF"/>
    <a:srgbClr val="0F0F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32"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slide" Target="slides/slide157.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7FA2AF-A1C0-4250-BD38-6D6531508D1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CN" altLang="en-US"/>
        </a:p>
      </dgm:t>
    </dgm:pt>
    <dgm:pt modelId="{A29A769D-8543-4435-A3E1-A9AFA5599AFA}">
      <dgm:prSet custT="1"/>
      <dgm:spPr/>
      <dgm:t>
        <a:bodyPr/>
        <a:lstStyle/>
        <a:p>
          <a:r>
            <a:rPr lang="zh-CN" sz="1400" b="1" dirty="0"/>
            <a:t>二十多年来，产能扩张后，</a:t>
          </a:r>
          <a:r>
            <a:rPr lang="zh-CN" sz="1800" b="1" dirty="0">
              <a:solidFill>
                <a:srgbClr val="00D4FF"/>
              </a:solidFill>
            </a:rPr>
            <a:t>本应</a:t>
          </a:r>
          <a:r>
            <a:rPr lang="zh-CN" sz="1400" b="1" dirty="0"/>
            <a:t>采购</a:t>
          </a:r>
          <a:r>
            <a:rPr lang="zh-CN" sz="1800" b="1" dirty="0">
              <a:solidFill>
                <a:srgbClr val="00D4FF"/>
              </a:solidFill>
            </a:rPr>
            <a:t>成本降低</a:t>
          </a:r>
          <a:r>
            <a:rPr lang="zh-CN" sz="1400" b="1" dirty="0"/>
            <a:t>，运营</a:t>
          </a:r>
          <a:r>
            <a:rPr lang="zh-CN" sz="1800" b="1" dirty="0">
              <a:solidFill>
                <a:srgbClr val="00D4FF"/>
              </a:solidFill>
            </a:rPr>
            <a:t>效率</a:t>
          </a:r>
          <a:r>
            <a:rPr lang="zh-CN" sz="1400" b="1" dirty="0"/>
            <a:t>应该</a:t>
          </a:r>
          <a:r>
            <a:rPr lang="zh-CN" sz="1800" b="1" dirty="0">
              <a:solidFill>
                <a:srgbClr val="00D4FF"/>
              </a:solidFill>
            </a:rPr>
            <a:t>提升</a:t>
          </a:r>
          <a:r>
            <a:rPr lang="zh-CN" sz="1400" b="1" dirty="0"/>
            <a:t>，</a:t>
          </a:r>
          <a:r>
            <a:rPr lang="zh-CN" sz="1800" b="1" dirty="0">
              <a:solidFill>
                <a:srgbClr val="00D4FF"/>
              </a:solidFill>
            </a:rPr>
            <a:t>然而</a:t>
          </a:r>
          <a:r>
            <a:rPr lang="zh-CN" sz="1400" b="1" dirty="0"/>
            <a:t>悖论是价值链管理的</a:t>
          </a:r>
          <a:r>
            <a:rPr lang="en-US" sz="1800" b="1" dirty="0">
              <a:solidFill>
                <a:srgbClr val="00D4FF"/>
              </a:solidFill>
            </a:rPr>
            <a:t>ROIC</a:t>
          </a:r>
          <a:r>
            <a:rPr lang="zh-CN" sz="1400" b="1" dirty="0"/>
            <a:t>（客户满意度、库存周转</a:t>
          </a:r>
          <a:r>
            <a:rPr lang="en-US" sz="1400" b="1" dirty="0"/>
            <a:t>etc.</a:t>
          </a:r>
          <a:r>
            <a:rPr lang="zh-CN" sz="1400" b="1" dirty="0"/>
            <a:t>）</a:t>
          </a:r>
          <a:r>
            <a:rPr lang="zh-CN" sz="1800" b="1" dirty="0">
              <a:solidFill>
                <a:srgbClr val="00D4FF"/>
              </a:solidFill>
            </a:rPr>
            <a:t>不升反降</a:t>
          </a:r>
          <a:r>
            <a:rPr lang="zh-CN" sz="1400" b="1" dirty="0"/>
            <a:t>。</a:t>
          </a:r>
          <a:endParaRPr lang="zh-CN" sz="1400" dirty="0"/>
        </a:p>
      </dgm:t>
    </dgm:pt>
    <dgm:pt modelId="{D0ED1F48-CC17-4BCC-969A-6EF95B602538}" type="parTrans" cxnId="{F8F45985-1419-4759-958E-29ACBFB0A057}">
      <dgm:prSet/>
      <dgm:spPr/>
      <dgm:t>
        <a:bodyPr/>
        <a:lstStyle/>
        <a:p>
          <a:endParaRPr lang="zh-CN" altLang="en-US" sz="1400"/>
        </a:p>
      </dgm:t>
    </dgm:pt>
    <dgm:pt modelId="{04766216-AAC7-4535-9175-D14EAC5BF581}" type="sibTrans" cxnId="{F8F45985-1419-4759-958E-29ACBFB0A057}">
      <dgm:prSet/>
      <dgm:spPr/>
      <dgm:t>
        <a:bodyPr/>
        <a:lstStyle/>
        <a:p>
          <a:endParaRPr lang="zh-CN" altLang="en-US" sz="1400"/>
        </a:p>
      </dgm:t>
    </dgm:pt>
    <dgm:pt modelId="{3107DCB2-7985-4A83-A255-205546588BBB}">
      <dgm:prSet custT="1"/>
      <dgm:spPr/>
      <dgm:t>
        <a:bodyPr/>
        <a:lstStyle/>
        <a:p>
          <a:r>
            <a:rPr lang="zh-CN" sz="1600" b="1" dirty="0"/>
            <a:t>各部门都在为自己的</a:t>
          </a:r>
          <a:r>
            <a:rPr lang="zh-CN" altLang="en-US" sz="1800" b="1" dirty="0">
              <a:solidFill>
                <a:srgbClr val="00D4FF"/>
              </a:solidFill>
            </a:rPr>
            <a:t>局部</a:t>
          </a:r>
          <a:r>
            <a:rPr lang="en-US" sz="1800" b="1" dirty="0">
              <a:solidFill>
                <a:srgbClr val="00D4FF"/>
              </a:solidFill>
            </a:rPr>
            <a:t>KPI</a:t>
          </a:r>
          <a:r>
            <a:rPr lang="zh-CN" sz="1600" b="1" dirty="0"/>
            <a:t>拼搏形成</a:t>
          </a:r>
          <a:r>
            <a:rPr lang="zh-CN" sz="1800" b="1" dirty="0">
              <a:solidFill>
                <a:srgbClr val="00D4FF"/>
              </a:solidFill>
            </a:rPr>
            <a:t>纳什均衡</a:t>
          </a:r>
          <a:r>
            <a:rPr lang="zh-CN" sz="1600" b="1" dirty="0"/>
            <a:t>。</a:t>
          </a:r>
          <a:endParaRPr lang="zh-CN" sz="1600" dirty="0"/>
        </a:p>
      </dgm:t>
    </dgm:pt>
    <dgm:pt modelId="{E7031136-F70B-4E01-B9E9-2666C313C70E}" type="parTrans" cxnId="{C4841985-0B18-4FB4-A85C-2F4D5088504E}">
      <dgm:prSet/>
      <dgm:spPr/>
      <dgm:t>
        <a:bodyPr/>
        <a:lstStyle/>
        <a:p>
          <a:endParaRPr lang="zh-CN" altLang="en-US" sz="1400"/>
        </a:p>
      </dgm:t>
    </dgm:pt>
    <dgm:pt modelId="{F9E16B58-5637-4328-847C-3AB0A41DF89E}" type="sibTrans" cxnId="{C4841985-0B18-4FB4-A85C-2F4D5088504E}">
      <dgm:prSet/>
      <dgm:spPr/>
      <dgm:t>
        <a:bodyPr/>
        <a:lstStyle/>
        <a:p>
          <a:endParaRPr lang="zh-CN" altLang="en-US" sz="1400"/>
        </a:p>
      </dgm:t>
    </dgm:pt>
    <dgm:pt modelId="{265BD790-9D2E-4A74-A363-ADC440CBD213}">
      <dgm:prSet custT="1"/>
      <dgm:spPr/>
      <dgm:t>
        <a:bodyPr/>
        <a:lstStyle/>
        <a:p>
          <a:r>
            <a:rPr lang="zh-CN" altLang="en-US" sz="1400" b="1" dirty="0"/>
            <a:t>各团队和个人日复一日、年复一年的忙碌，然而却像</a:t>
          </a:r>
          <a:r>
            <a:rPr lang="zh-CN" altLang="en-US" sz="1800" b="1" dirty="0">
              <a:solidFill>
                <a:srgbClr val="00D4FF"/>
              </a:solidFill>
            </a:rPr>
            <a:t>布朗运动</a:t>
          </a:r>
          <a:r>
            <a:rPr lang="zh-CN" altLang="en-US" sz="1400" b="1" dirty="0"/>
            <a:t>。今天救的火是昨天救火埋下的雷</a:t>
          </a:r>
          <a:r>
            <a:rPr lang="zh-CN" altLang="en-US" sz="2000" b="1" dirty="0"/>
            <a:t>。</a:t>
          </a:r>
          <a:endParaRPr lang="zh-CN" altLang="en-US" sz="2000" dirty="0"/>
        </a:p>
      </dgm:t>
    </dgm:pt>
    <dgm:pt modelId="{9D450EA5-3C90-4C7A-9014-42472E39304B}" type="parTrans" cxnId="{2B95E367-9CFD-44FC-B617-C016F1621F8B}">
      <dgm:prSet/>
      <dgm:spPr/>
      <dgm:t>
        <a:bodyPr/>
        <a:lstStyle/>
        <a:p>
          <a:endParaRPr lang="zh-CN" altLang="en-US" sz="1400"/>
        </a:p>
      </dgm:t>
    </dgm:pt>
    <dgm:pt modelId="{759B0785-15F0-4786-8B42-B13868404EE6}" type="sibTrans" cxnId="{2B95E367-9CFD-44FC-B617-C016F1621F8B}">
      <dgm:prSet/>
      <dgm:spPr/>
      <dgm:t>
        <a:bodyPr/>
        <a:lstStyle/>
        <a:p>
          <a:endParaRPr lang="zh-CN" altLang="en-US" sz="1400"/>
        </a:p>
      </dgm:t>
    </dgm:pt>
    <dgm:pt modelId="{DD8BD55C-A0A1-4F75-B2D8-EF97BDE4B671}" type="pres">
      <dgm:prSet presAssocID="{CF7FA2AF-A1C0-4250-BD38-6D6531508D18}" presName="vert0" presStyleCnt="0">
        <dgm:presLayoutVars>
          <dgm:dir/>
          <dgm:animOne val="branch"/>
          <dgm:animLvl val="lvl"/>
        </dgm:presLayoutVars>
      </dgm:prSet>
      <dgm:spPr/>
    </dgm:pt>
    <dgm:pt modelId="{33575D0C-3963-4D98-8586-3E0B5250D23B}" type="pres">
      <dgm:prSet presAssocID="{A29A769D-8543-4435-A3E1-A9AFA5599AFA}" presName="thickLine" presStyleLbl="alignNode1" presStyleIdx="0" presStyleCnt="1"/>
      <dgm:spPr/>
    </dgm:pt>
    <dgm:pt modelId="{6CCA5F48-99B7-4383-8552-E4123A39BF14}" type="pres">
      <dgm:prSet presAssocID="{A29A769D-8543-4435-A3E1-A9AFA5599AFA}" presName="horz1" presStyleCnt="0"/>
      <dgm:spPr/>
    </dgm:pt>
    <dgm:pt modelId="{4461AB11-67AA-4182-961E-7B3D08227FA0}" type="pres">
      <dgm:prSet presAssocID="{A29A769D-8543-4435-A3E1-A9AFA5599AFA}" presName="tx1" presStyleLbl="revTx" presStyleIdx="0" presStyleCnt="3" custScaleX="162003"/>
      <dgm:spPr/>
    </dgm:pt>
    <dgm:pt modelId="{9491B6F5-3FC9-4973-8850-C0E3BB651D92}" type="pres">
      <dgm:prSet presAssocID="{A29A769D-8543-4435-A3E1-A9AFA5599AFA}" presName="vert1" presStyleCnt="0"/>
      <dgm:spPr/>
    </dgm:pt>
    <dgm:pt modelId="{99421AB0-D44F-46B4-8D56-F47F2A359A25}" type="pres">
      <dgm:prSet presAssocID="{3107DCB2-7985-4A83-A255-205546588BBB}" presName="vertSpace2a" presStyleCnt="0"/>
      <dgm:spPr/>
    </dgm:pt>
    <dgm:pt modelId="{57FB8DDC-6A50-4C2F-BD6F-9AC6AD4CB5BA}" type="pres">
      <dgm:prSet presAssocID="{3107DCB2-7985-4A83-A255-205546588BBB}" presName="horz2" presStyleCnt="0"/>
      <dgm:spPr/>
    </dgm:pt>
    <dgm:pt modelId="{7D451F47-5B2E-4DAD-AA24-357BDF5BF235}" type="pres">
      <dgm:prSet presAssocID="{3107DCB2-7985-4A83-A255-205546588BBB}" presName="horzSpace2" presStyleCnt="0"/>
      <dgm:spPr/>
    </dgm:pt>
    <dgm:pt modelId="{5DA13AF2-94AC-4547-9FFF-E5F6023092B2}" type="pres">
      <dgm:prSet presAssocID="{3107DCB2-7985-4A83-A255-205546588BBB}" presName="tx2" presStyleLbl="revTx" presStyleIdx="1" presStyleCnt="3"/>
      <dgm:spPr/>
    </dgm:pt>
    <dgm:pt modelId="{E8002EC3-D697-4502-98E8-FB9C2190301D}" type="pres">
      <dgm:prSet presAssocID="{3107DCB2-7985-4A83-A255-205546588BBB}" presName="vert2" presStyleCnt="0"/>
      <dgm:spPr/>
    </dgm:pt>
    <dgm:pt modelId="{E807F660-62B2-4987-B0E2-CD634547399D}" type="pres">
      <dgm:prSet presAssocID="{3107DCB2-7985-4A83-A255-205546588BBB}" presName="thinLine2b" presStyleLbl="callout" presStyleIdx="0" presStyleCnt="2"/>
      <dgm:spPr/>
    </dgm:pt>
    <dgm:pt modelId="{0FC2827F-C9AD-4B85-8EAF-473C0253B49C}" type="pres">
      <dgm:prSet presAssocID="{3107DCB2-7985-4A83-A255-205546588BBB}" presName="vertSpace2b" presStyleCnt="0"/>
      <dgm:spPr/>
    </dgm:pt>
    <dgm:pt modelId="{31A74A8F-C799-44F7-AF6F-3FD93673C794}" type="pres">
      <dgm:prSet presAssocID="{265BD790-9D2E-4A74-A363-ADC440CBD213}" presName="horz2" presStyleCnt="0"/>
      <dgm:spPr/>
    </dgm:pt>
    <dgm:pt modelId="{BF786335-8CD6-40F4-843C-727188B8528E}" type="pres">
      <dgm:prSet presAssocID="{265BD790-9D2E-4A74-A363-ADC440CBD213}" presName="horzSpace2" presStyleCnt="0"/>
      <dgm:spPr/>
    </dgm:pt>
    <dgm:pt modelId="{3C2925F8-3BF6-411A-AE95-0FF3E9FA43B7}" type="pres">
      <dgm:prSet presAssocID="{265BD790-9D2E-4A74-A363-ADC440CBD213}" presName="tx2" presStyleLbl="revTx" presStyleIdx="2" presStyleCnt="3"/>
      <dgm:spPr/>
    </dgm:pt>
    <dgm:pt modelId="{2987EFA5-2762-4AE9-A9C9-538677FC904F}" type="pres">
      <dgm:prSet presAssocID="{265BD790-9D2E-4A74-A363-ADC440CBD213}" presName="vert2" presStyleCnt="0"/>
      <dgm:spPr/>
    </dgm:pt>
    <dgm:pt modelId="{C300D74C-236A-426F-9662-B7F2462035C3}" type="pres">
      <dgm:prSet presAssocID="{265BD790-9D2E-4A74-A363-ADC440CBD213}" presName="thinLine2b" presStyleLbl="callout" presStyleIdx="1" presStyleCnt="2"/>
      <dgm:spPr/>
    </dgm:pt>
    <dgm:pt modelId="{ED2BA7E5-263F-4492-8E1F-CB50D1C4DB85}" type="pres">
      <dgm:prSet presAssocID="{265BD790-9D2E-4A74-A363-ADC440CBD213}" presName="vertSpace2b" presStyleCnt="0"/>
      <dgm:spPr/>
    </dgm:pt>
  </dgm:ptLst>
  <dgm:cxnLst>
    <dgm:cxn modelId="{7282A414-FA7B-42E2-9971-7F4D007B69CA}" type="presOf" srcId="{A29A769D-8543-4435-A3E1-A9AFA5599AFA}" destId="{4461AB11-67AA-4182-961E-7B3D08227FA0}" srcOrd="0" destOrd="0" presId="urn:microsoft.com/office/officeart/2008/layout/LinedList"/>
    <dgm:cxn modelId="{AE261C1E-DEB9-4340-9781-57E2975DAA43}" type="presOf" srcId="{3107DCB2-7985-4A83-A255-205546588BBB}" destId="{5DA13AF2-94AC-4547-9FFF-E5F6023092B2}" srcOrd="0" destOrd="0" presId="urn:microsoft.com/office/officeart/2008/layout/LinedList"/>
    <dgm:cxn modelId="{2B95E367-9CFD-44FC-B617-C016F1621F8B}" srcId="{A29A769D-8543-4435-A3E1-A9AFA5599AFA}" destId="{265BD790-9D2E-4A74-A363-ADC440CBD213}" srcOrd="1" destOrd="0" parTransId="{9D450EA5-3C90-4C7A-9014-42472E39304B}" sibTransId="{759B0785-15F0-4786-8B42-B13868404EE6}"/>
    <dgm:cxn modelId="{C4841985-0B18-4FB4-A85C-2F4D5088504E}" srcId="{A29A769D-8543-4435-A3E1-A9AFA5599AFA}" destId="{3107DCB2-7985-4A83-A255-205546588BBB}" srcOrd="0" destOrd="0" parTransId="{E7031136-F70B-4E01-B9E9-2666C313C70E}" sibTransId="{F9E16B58-5637-4328-847C-3AB0A41DF89E}"/>
    <dgm:cxn modelId="{F8F45985-1419-4759-958E-29ACBFB0A057}" srcId="{CF7FA2AF-A1C0-4250-BD38-6D6531508D18}" destId="{A29A769D-8543-4435-A3E1-A9AFA5599AFA}" srcOrd="0" destOrd="0" parTransId="{D0ED1F48-CC17-4BCC-969A-6EF95B602538}" sibTransId="{04766216-AAC7-4535-9175-D14EAC5BF581}"/>
    <dgm:cxn modelId="{84260FA0-1370-4993-A2D0-7BD086FFD27C}" type="presOf" srcId="{CF7FA2AF-A1C0-4250-BD38-6D6531508D18}" destId="{DD8BD55C-A0A1-4F75-B2D8-EF97BDE4B671}" srcOrd="0" destOrd="0" presId="urn:microsoft.com/office/officeart/2008/layout/LinedList"/>
    <dgm:cxn modelId="{6BCBC4CF-B65C-4A3C-91AB-5AA50E42EDDE}" type="presOf" srcId="{265BD790-9D2E-4A74-A363-ADC440CBD213}" destId="{3C2925F8-3BF6-411A-AE95-0FF3E9FA43B7}" srcOrd="0" destOrd="0" presId="urn:microsoft.com/office/officeart/2008/layout/LinedList"/>
    <dgm:cxn modelId="{B89D04FC-ECC9-46F4-B04D-8CCFAA87347F}" type="presParOf" srcId="{DD8BD55C-A0A1-4F75-B2D8-EF97BDE4B671}" destId="{33575D0C-3963-4D98-8586-3E0B5250D23B}" srcOrd="0" destOrd="0" presId="urn:microsoft.com/office/officeart/2008/layout/LinedList"/>
    <dgm:cxn modelId="{92B2D8D4-2C46-454C-A89A-5BED5AA528D2}" type="presParOf" srcId="{DD8BD55C-A0A1-4F75-B2D8-EF97BDE4B671}" destId="{6CCA5F48-99B7-4383-8552-E4123A39BF14}" srcOrd="1" destOrd="0" presId="urn:microsoft.com/office/officeart/2008/layout/LinedList"/>
    <dgm:cxn modelId="{F129A578-7D43-4743-B5E5-74B14EFE48EB}" type="presParOf" srcId="{6CCA5F48-99B7-4383-8552-E4123A39BF14}" destId="{4461AB11-67AA-4182-961E-7B3D08227FA0}" srcOrd="0" destOrd="0" presId="urn:microsoft.com/office/officeart/2008/layout/LinedList"/>
    <dgm:cxn modelId="{6EBC04AF-3886-4FF6-8702-B384B9DBC046}" type="presParOf" srcId="{6CCA5F48-99B7-4383-8552-E4123A39BF14}" destId="{9491B6F5-3FC9-4973-8850-C0E3BB651D92}" srcOrd="1" destOrd="0" presId="urn:microsoft.com/office/officeart/2008/layout/LinedList"/>
    <dgm:cxn modelId="{77145B1B-505D-499F-870F-30D289ED71D2}" type="presParOf" srcId="{9491B6F5-3FC9-4973-8850-C0E3BB651D92}" destId="{99421AB0-D44F-46B4-8D56-F47F2A359A25}" srcOrd="0" destOrd="0" presId="urn:microsoft.com/office/officeart/2008/layout/LinedList"/>
    <dgm:cxn modelId="{2EA938CA-F4B3-4DF7-8786-CDAD9E3C6F2F}" type="presParOf" srcId="{9491B6F5-3FC9-4973-8850-C0E3BB651D92}" destId="{57FB8DDC-6A50-4C2F-BD6F-9AC6AD4CB5BA}" srcOrd="1" destOrd="0" presId="urn:microsoft.com/office/officeart/2008/layout/LinedList"/>
    <dgm:cxn modelId="{8FB532E0-D9F9-41FA-B053-592E99130C3D}" type="presParOf" srcId="{57FB8DDC-6A50-4C2F-BD6F-9AC6AD4CB5BA}" destId="{7D451F47-5B2E-4DAD-AA24-357BDF5BF235}" srcOrd="0" destOrd="0" presId="urn:microsoft.com/office/officeart/2008/layout/LinedList"/>
    <dgm:cxn modelId="{02C7B60E-FDA0-45E9-A7C6-488CA38EBA50}" type="presParOf" srcId="{57FB8DDC-6A50-4C2F-BD6F-9AC6AD4CB5BA}" destId="{5DA13AF2-94AC-4547-9FFF-E5F6023092B2}" srcOrd="1" destOrd="0" presId="urn:microsoft.com/office/officeart/2008/layout/LinedList"/>
    <dgm:cxn modelId="{6C5EC78D-D214-4C00-B544-DF6B3F56AA31}" type="presParOf" srcId="{57FB8DDC-6A50-4C2F-BD6F-9AC6AD4CB5BA}" destId="{E8002EC3-D697-4502-98E8-FB9C2190301D}" srcOrd="2" destOrd="0" presId="urn:microsoft.com/office/officeart/2008/layout/LinedList"/>
    <dgm:cxn modelId="{8E83605F-B186-45D3-8167-6A990F860896}" type="presParOf" srcId="{9491B6F5-3FC9-4973-8850-C0E3BB651D92}" destId="{E807F660-62B2-4987-B0E2-CD634547399D}" srcOrd="2" destOrd="0" presId="urn:microsoft.com/office/officeart/2008/layout/LinedList"/>
    <dgm:cxn modelId="{BA507359-AB19-4730-B43D-A83D5EF798C5}" type="presParOf" srcId="{9491B6F5-3FC9-4973-8850-C0E3BB651D92}" destId="{0FC2827F-C9AD-4B85-8EAF-473C0253B49C}" srcOrd="3" destOrd="0" presId="urn:microsoft.com/office/officeart/2008/layout/LinedList"/>
    <dgm:cxn modelId="{F5935A9A-DE68-40E6-A575-BF10DAB10E9A}" type="presParOf" srcId="{9491B6F5-3FC9-4973-8850-C0E3BB651D92}" destId="{31A74A8F-C799-44F7-AF6F-3FD93673C794}" srcOrd="4" destOrd="0" presId="urn:microsoft.com/office/officeart/2008/layout/LinedList"/>
    <dgm:cxn modelId="{B2502DD2-31E9-4B7B-B78C-AB6BF28FA6B5}" type="presParOf" srcId="{31A74A8F-C799-44F7-AF6F-3FD93673C794}" destId="{BF786335-8CD6-40F4-843C-727188B8528E}" srcOrd="0" destOrd="0" presId="urn:microsoft.com/office/officeart/2008/layout/LinedList"/>
    <dgm:cxn modelId="{62B4CDEB-8424-4B3F-8F86-E6431DC22B25}" type="presParOf" srcId="{31A74A8F-C799-44F7-AF6F-3FD93673C794}" destId="{3C2925F8-3BF6-411A-AE95-0FF3E9FA43B7}" srcOrd="1" destOrd="0" presId="urn:microsoft.com/office/officeart/2008/layout/LinedList"/>
    <dgm:cxn modelId="{3C6DA449-DBA2-415B-91AD-755F6919A353}" type="presParOf" srcId="{31A74A8F-C799-44F7-AF6F-3FD93673C794}" destId="{2987EFA5-2762-4AE9-A9C9-538677FC904F}" srcOrd="2" destOrd="0" presId="urn:microsoft.com/office/officeart/2008/layout/LinedList"/>
    <dgm:cxn modelId="{CEB99E31-444A-4A86-8D6A-F0D0B45CD263}" type="presParOf" srcId="{9491B6F5-3FC9-4973-8850-C0E3BB651D92}" destId="{C300D74C-236A-426F-9662-B7F2462035C3}" srcOrd="5" destOrd="0" presId="urn:microsoft.com/office/officeart/2008/layout/LinedList"/>
    <dgm:cxn modelId="{009B2F5C-C1CF-4B12-8CC4-38353BA15067}" type="presParOf" srcId="{9491B6F5-3FC9-4973-8850-C0E3BB651D92}" destId="{ED2BA7E5-263F-4492-8E1F-CB50D1C4DB85}" srcOrd="6" destOrd="0" presId="urn:microsoft.com/office/officeart/2008/layout/LinedList"/>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AB09EC-AD5E-4C28-9740-C12A8045411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CN" altLang="en-US"/>
        </a:p>
      </dgm:t>
    </dgm:pt>
    <dgm:pt modelId="{D5491B62-77FB-4B92-AA8F-24146C95D52B}">
      <dgm:prSet custT="1"/>
      <dgm:spPr/>
      <dgm:t>
        <a:bodyPr/>
        <a:lstStyle/>
        <a:p>
          <a:r>
            <a:rPr lang="zh-CN" altLang="en-US" sz="2000" dirty="0"/>
            <a:t>联想跟业界的</a:t>
          </a:r>
          <a:r>
            <a:rPr lang="zh-CN" altLang="en-US" sz="2800" b="1" dirty="0">
              <a:solidFill>
                <a:srgbClr val="00D4FF"/>
              </a:solidFill>
            </a:rPr>
            <a:t>叙事大同小异，为何只有他？！</a:t>
          </a:r>
          <a:endParaRPr lang="zh-CN" altLang="en-US" sz="2100" dirty="0">
            <a:solidFill>
              <a:srgbClr val="00D4FF"/>
            </a:solidFill>
          </a:endParaRPr>
        </a:p>
      </dgm:t>
    </dgm:pt>
    <dgm:pt modelId="{113E3330-C418-4B0B-8B45-7BF2A79D489B}" type="parTrans" cxnId="{FEA8C5F1-F245-4713-AFDE-A65E96CCB9E4}">
      <dgm:prSet/>
      <dgm:spPr/>
      <dgm:t>
        <a:bodyPr/>
        <a:lstStyle/>
        <a:p>
          <a:endParaRPr lang="zh-CN" altLang="en-US"/>
        </a:p>
      </dgm:t>
    </dgm:pt>
    <dgm:pt modelId="{ACDE798E-9ED2-420A-B27A-C29B481E90BD}" type="sibTrans" cxnId="{FEA8C5F1-F245-4713-AFDE-A65E96CCB9E4}">
      <dgm:prSet/>
      <dgm:spPr/>
      <dgm:t>
        <a:bodyPr/>
        <a:lstStyle/>
        <a:p>
          <a:endParaRPr lang="zh-CN" altLang="en-US"/>
        </a:p>
      </dgm:t>
    </dgm:pt>
    <dgm:pt modelId="{8F4563DC-1DB7-46B0-957F-90CB49CF0069}">
      <dgm:prSet custT="1"/>
      <dgm:spPr/>
      <dgm:t>
        <a:bodyPr/>
        <a:lstStyle/>
        <a:p>
          <a:r>
            <a:rPr lang="zh-CN" altLang="en-US" sz="2000" dirty="0"/>
            <a:t>过去几十年的理论、经验、实践的</a:t>
          </a:r>
          <a:r>
            <a:rPr lang="zh-CN" altLang="en-US" sz="2800" b="1" dirty="0">
              <a:solidFill>
                <a:srgbClr val="00D4FF"/>
              </a:solidFill>
            </a:rPr>
            <a:t>边界</a:t>
          </a:r>
          <a:r>
            <a:rPr lang="zh-CN" altLang="en-US" sz="2000" dirty="0"/>
            <a:t>到底是什么？</a:t>
          </a:r>
          <a:endParaRPr lang="zh-CN" altLang="en-US" sz="2100" dirty="0"/>
        </a:p>
      </dgm:t>
    </dgm:pt>
    <dgm:pt modelId="{F3A98385-B681-4DB2-9C95-8A7B5AFA13F7}" type="parTrans" cxnId="{4564E43B-E32A-4871-981A-45428C89C317}">
      <dgm:prSet/>
      <dgm:spPr/>
      <dgm:t>
        <a:bodyPr/>
        <a:lstStyle/>
        <a:p>
          <a:endParaRPr lang="zh-CN" altLang="en-US"/>
        </a:p>
      </dgm:t>
    </dgm:pt>
    <dgm:pt modelId="{57C3A2E0-A845-4E23-AB7E-EEEC704DEC92}" type="sibTrans" cxnId="{4564E43B-E32A-4871-981A-45428C89C317}">
      <dgm:prSet/>
      <dgm:spPr/>
      <dgm:t>
        <a:bodyPr/>
        <a:lstStyle/>
        <a:p>
          <a:endParaRPr lang="zh-CN" altLang="en-US"/>
        </a:p>
      </dgm:t>
    </dgm:pt>
    <dgm:pt modelId="{269C231A-E3C4-43D5-91AA-C9CBD47B8253}">
      <dgm:prSet custT="1"/>
      <dgm:spPr/>
      <dgm:t>
        <a:bodyPr/>
        <a:lstStyle/>
        <a:p>
          <a:r>
            <a:rPr lang="zh-CN" altLang="en-US" sz="2100" dirty="0"/>
            <a:t>是时候</a:t>
          </a:r>
          <a:r>
            <a:rPr lang="zh-CN" altLang="en-US" sz="2800" b="1" dirty="0">
              <a:solidFill>
                <a:srgbClr val="00D4FF"/>
              </a:solidFill>
            </a:rPr>
            <a:t>重新思考</a:t>
          </a:r>
          <a:r>
            <a:rPr lang="zh-CN" altLang="en-US" sz="2100" dirty="0"/>
            <a:t>了！</a:t>
          </a:r>
        </a:p>
      </dgm:t>
    </dgm:pt>
    <dgm:pt modelId="{6E889D81-569A-4A22-8F15-770E39E60DB0}" type="parTrans" cxnId="{82947EAC-84EF-43CC-937B-72F391C3F557}">
      <dgm:prSet/>
      <dgm:spPr/>
      <dgm:t>
        <a:bodyPr/>
        <a:lstStyle/>
        <a:p>
          <a:endParaRPr lang="zh-CN" altLang="en-US"/>
        </a:p>
      </dgm:t>
    </dgm:pt>
    <dgm:pt modelId="{A8F94A74-10B2-4561-AC9B-175B15222D84}" type="sibTrans" cxnId="{82947EAC-84EF-43CC-937B-72F391C3F557}">
      <dgm:prSet/>
      <dgm:spPr/>
      <dgm:t>
        <a:bodyPr/>
        <a:lstStyle/>
        <a:p>
          <a:endParaRPr lang="zh-CN" altLang="en-US"/>
        </a:p>
      </dgm:t>
    </dgm:pt>
    <dgm:pt modelId="{5CC722BC-7316-4851-BB75-4A8D2D126FFF}">
      <dgm:prSet custT="1"/>
      <dgm:spPr/>
      <dgm:t>
        <a:bodyPr/>
        <a:lstStyle/>
        <a:p>
          <a:r>
            <a:rPr lang="zh-CN" altLang="en-US" sz="2000" b="0" dirty="0">
              <a:solidFill>
                <a:schemeClr val="tx1"/>
              </a:solidFill>
            </a:rPr>
            <a:t>可计算、可执行的</a:t>
          </a:r>
          <a:r>
            <a:rPr lang="zh-CN" altLang="en-US" sz="2800" b="1" dirty="0">
              <a:solidFill>
                <a:srgbClr val="00D4FF"/>
              </a:solidFill>
            </a:rPr>
            <a:t>方案</a:t>
          </a:r>
          <a:r>
            <a:rPr lang="zh-CN" altLang="en-US" sz="2000" dirty="0"/>
            <a:t>到底是什么？</a:t>
          </a:r>
          <a:endParaRPr lang="zh-CN" altLang="en-US" sz="2100" dirty="0"/>
        </a:p>
      </dgm:t>
    </dgm:pt>
    <dgm:pt modelId="{00CD0E2A-6CBE-48CE-BBDF-2E46C733AA4A}" type="parTrans" cxnId="{D09E155D-A547-41AD-AFB0-56D6A42BFFF9}">
      <dgm:prSet/>
      <dgm:spPr/>
      <dgm:t>
        <a:bodyPr/>
        <a:lstStyle/>
        <a:p>
          <a:endParaRPr lang="zh-CN" altLang="en-US"/>
        </a:p>
      </dgm:t>
    </dgm:pt>
    <dgm:pt modelId="{56140561-32E1-4E6D-936F-DCA6D12BAE82}" type="sibTrans" cxnId="{D09E155D-A547-41AD-AFB0-56D6A42BFFF9}">
      <dgm:prSet/>
      <dgm:spPr/>
      <dgm:t>
        <a:bodyPr/>
        <a:lstStyle/>
        <a:p>
          <a:endParaRPr lang="zh-CN" altLang="en-US"/>
        </a:p>
      </dgm:t>
    </dgm:pt>
    <dgm:pt modelId="{529C9393-88ED-41F2-BFF6-E7A4D2700799}" type="pres">
      <dgm:prSet presAssocID="{5DAB09EC-AD5E-4C28-9740-C12A8045411C}" presName="vert0" presStyleCnt="0">
        <dgm:presLayoutVars>
          <dgm:dir/>
          <dgm:animOne val="branch"/>
          <dgm:animLvl val="lvl"/>
        </dgm:presLayoutVars>
      </dgm:prSet>
      <dgm:spPr/>
    </dgm:pt>
    <dgm:pt modelId="{0DFDE5A1-E632-412A-82C7-3F63FE136BE6}" type="pres">
      <dgm:prSet presAssocID="{D5491B62-77FB-4B92-AA8F-24146C95D52B}" presName="thickLine" presStyleLbl="alignNode1" presStyleIdx="0" presStyleCnt="4"/>
      <dgm:spPr/>
    </dgm:pt>
    <dgm:pt modelId="{7821971E-D9FD-4741-94F6-FD602B395DD6}" type="pres">
      <dgm:prSet presAssocID="{D5491B62-77FB-4B92-AA8F-24146C95D52B}" presName="horz1" presStyleCnt="0"/>
      <dgm:spPr/>
    </dgm:pt>
    <dgm:pt modelId="{B0350AC4-3EC0-4834-9230-26AC566BE521}" type="pres">
      <dgm:prSet presAssocID="{D5491B62-77FB-4B92-AA8F-24146C95D52B}" presName="tx1" presStyleLbl="revTx" presStyleIdx="0" presStyleCnt="4"/>
      <dgm:spPr/>
    </dgm:pt>
    <dgm:pt modelId="{E52DAE2A-F0F7-478D-839E-47740746CE63}" type="pres">
      <dgm:prSet presAssocID="{D5491B62-77FB-4B92-AA8F-24146C95D52B}" presName="vert1" presStyleCnt="0"/>
      <dgm:spPr/>
    </dgm:pt>
    <dgm:pt modelId="{61583878-4506-4C29-9CCD-C4A282DD19EA}" type="pres">
      <dgm:prSet presAssocID="{8F4563DC-1DB7-46B0-957F-90CB49CF0069}" presName="thickLine" presStyleLbl="alignNode1" presStyleIdx="1" presStyleCnt="4"/>
      <dgm:spPr/>
    </dgm:pt>
    <dgm:pt modelId="{CEA55C60-6752-42BE-AFAB-E4C9199A25C7}" type="pres">
      <dgm:prSet presAssocID="{8F4563DC-1DB7-46B0-957F-90CB49CF0069}" presName="horz1" presStyleCnt="0"/>
      <dgm:spPr/>
    </dgm:pt>
    <dgm:pt modelId="{F64672BA-D8F7-474D-BDC5-46CC11937B46}" type="pres">
      <dgm:prSet presAssocID="{8F4563DC-1DB7-46B0-957F-90CB49CF0069}" presName="tx1" presStyleLbl="revTx" presStyleIdx="1" presStyleCnt="4"/>
      <dgm:spPr/>
    </dgm:pt>
    <dgm:pt modelId="{6EE60138-8E3D-4340-81CE-8C432252C9C0}" type="pres">
      <dgm:prSet presAssocID="{8F4563DC-1DB7-46B0-957F-90CB49CF0069}" presName="vert1" presStyleCnt="0"/>
      <dgm:spPr/>
    </dgm:pt>
    <dgm:pt modelId="{D33F321F-75DB-463C-ADA7-BC976918136F}" type="pres">
      <dgm:prSet presAssocID="{5CC722BC-7316-4851-BB75-4A8D2D126FFF}" presName="thickLine" presStyleLbl="alignNode1" presStyleIdx="2" presStyleCnt="4"/>
      <dgm:spPr/>
    </dgm:pt>
    <dgm:pt modelId="{521C2195-738C-45BD-878E-3182B1E553E7}" type="pres">
      <dgm:prSet presAssocID="{5CC722BC-7316-4851-BB75-4A8D2D126FFF}" presName="horz1" presStyleCnt="0"/>
      <dgm:spPr/>
    </dgm:pt>
    <dgm:pt modelId="{A87A7CE8-7D2D-4C0D-9C6A-9A58D85754BF}" type="pres">
      <dgm:prSet presAssocID="{5CC722BC-7316-4851-BB75-4A8D2D126FFF}" presName="tx1" presStyleLbl="revTx" presStyleIdx="2" presStyleCnt="4"/>
      <dgm:spPr/>
    </dgm:pt>
    <dgm:pt modelId="{E026A3B5-ACD1-4636-83E7-BD35E003D0F8}" type="pres">
      <dgm:prSet presAssocID="{5CC722BC-7316-4851-BB75-4A8D2D126FFF}" presName="vert1" presStyleCnt="0"/>
      <dgm:spPr/>
    </dgm:pt>
    <dgm:pt modelId="{465784A9-1DDB-4DAB-8F37-0FB3F3253F7E}" type="pres">
      <dgm:prSet presAssocID="{269C231A-E3C4-43D5-91AA-C9CBD47B8253}" presName="thickLine" presStyleLbl="alignNode1" presStyleIdx="3" presStyleCnt="4"/>
      <dgm:spPr/>
    </dgm:pt>
    <dgm:pt modelId="{577C1A0F-F67A-4B02-B1D4-D206ADD4BD35}" type="pres">
      <dgm:prSet presAssocID="{269C231A-E3C4-43D5-91AA-C9CBD47B8253}" presName="horz1" presStyleCnt="0"/>
      <dgm:spPr/>
    </dgm:pt>
    <dgm:pt modelId="{B6667180-9CE0-4652-BF73-511CF6D79F8E}" type="pres">
      <dgm:prSet presAssocID="{269C231A-E3C4-43D5-91AA-C9CBD47B8253}" presName="tx1" presStyleLbl="revTx" presStyleIdx="3" presStyleCnt="4"/>
      <dgm:spPr/>
    </dgm:pt>
    <dgm:pt modelId="{3E655ECC-5594-44DC-82A9-0C172201E680}" type="pres">
      <dgm:prSet presAssocID="{269C231A-E3C4-43D5-91AA-C9CBD47B8253}" presName="vert1" presStyleCnt="0"/>
      <dgm:spPr/>
    </dgm:pt>
  </dgm:ptLst>
  <dgm:cxnLst>
    <dgm:cxn modelId="{7D141B30-2BEB-4F58-B909-5B8671205322}" type="presOf" srcId="{8F4563DC-1DB7-46B0-957F-90CB49CF0069}" destId="{F64672BA-D8F7-474D-BDC5-46CC11937B46}" srcOrd="0" destOrd="0" presId="urn:microsoft.com/office/officeart/2008/layout/LinedList"/>
    <dgm:cxn modelId="{4564E43B-E32A-4871-981A-45428C89C317}" srcId="{5DAB09EC-AD5E-4C28-9740-C12A8045411C}" destId="{8F4563DC-1DB7-46B0-957F-90CB49CF0069}" srcOrd="1" destOrd="0" parTransId="{F3A98385-B681-4DB2-9C95-8A7B5AFA13F7}" sibTransId="{57C3A2E0-A845-4E23-AB7E-EEEC704DEC92}"/>
    <dgm:cxn modelId="{75CE4D3E-01B0-4EEC-99A8-D07912743198}" type="presOf" srcId="{5CC722BC-7316-4851-BB75-4A8D2D126FFF}" destId="{A87A7CE8-7D2D-4C0D-9C6A-9A58D85754BF}" srcOrd="0" destOrd="0" presId="urn:microsoft.com/office/officeart/2008/layout/LinedList"/>
    <dgm:cxn modelId="{D09E155D-A547-41AD-AFB0-56D6A42BFFF9}" srcId="{5DAB09EC-AD5E-4C28-9740-C12A8045411C}" destId="{5CC722BC-7316-4851-BB75-4A8D2D126FFF}" srcOrd="2" destOrd="0" parTransId="{00CD0E2A-6CBE-48CE-BBDF-2E46C733AA4A}" sibTransId="{56140561-32E1-4E6D-936F-DCA6D12BAE82}"/>
    <dgm:cxn modelId="{45C4E86D-207C-41B0-9BAA-7CC4C4CFB097}" type="presOf" srcId="{D5491B62-77FB-4B92-AA8F-24146C95D52B}" destId="{B0350AC4-3EC0-4834-9230-26AC566BE521}" srcOrd="0" destOrd="0" presId="urn:microsoft.com/office/officeart/2008/layout/LinedList"/>
    <dgm:cxn modelId="{70EE0076-2325-4C00-B44A-EA9A6E5C2922}" type="presOf" srcId="{5DAB09EC-AD5E-4C28-9740-C12A8045411C}" destId="{529C9393-88ED-41F2-BFF6-E7A4D2700799}" srcOrd="0" destOrd="0" presId="urn:microsoft.com/office/officeart/2008/layout/LinedList"/>
    <dgm:cxn modelId="{0BDD835A-69F1-41EB-86F4-D3E9341FFFA4}" type="presOf" srcId="{269C231A-E3C4-43D5-91AA-C9CBD47B8253}" destId="{B6667180-9CE0-4652-BF73-511CF6D79F8E}" srcOrd="0" destOrd="0" presId="urn:microsoft.com/office/officeart/2008/layout/LinedList"/>
    <dgm:cxn modelId="{82947EAC-84EF-43CC-937B-72F391C3F557}" srcId="{5DAB09EC-AD5E-4C28-9740-C12A8045411C}" destId="{269C231A-E3C4-43D5-91AA-C9CBD47B8253}" srcOrd="3" destOrd="0" parTransId="{6E889D81-569A-4A22-8F15-770E39E60DB0}" sibTransId="{A8F94A74-10B2-4561-AC9B-175B15222D84}"/>
    <dgm:cxn modelId="{FEA8C5F1-F245-4713-AFDE-A65E96CCB9E4}" srcId="{5DAB09EC-AD5E-4C28-9740-C12A8045411C}" destId="{D5491B62-77FB-4B92-AA8F-24146C95D52B}" srcOrd="0" destOrd="0" parTransId="{113E3330-C418-4B0B-8B45-7BF2A79D489B}" sibTransId="{ACDE798E-9ED2-420A-B27A-C29B481E90BD}"/>
    <dgm:cxn modelId="{70B29ADB-AFA5-4816-89A0-212405C71071}" type="presParOf" srcId="{529C9393-88ED-41F2-BFF6-E7A4D2700799}" destId="{0DFDE5A1-E632-412A-82C7-3F63FE136BE6}" srcOrd="0" destOrd="0" presId="urn:microsoft.com/office/officeart/2008/layout/LinedList"/>
    <dgm:cxn modelId="{034E4389-AA87-4A3A-B8F9-B375B4532C1D}" type="presParOf" srcId="{529C9393-88ED-41F2-BFF6-E7A4D2700799}" destId="{7821971E-D9FD-4741-94F6-FD602B395DD6}" srcOrd="1" destOrd="0" presId="urn:microsoft.com/office/officeart/2008/layout/LinedList"/>
    <dgm:cxn modelId="{67F46C6B-7859-4EAB-A25D-277360B42AAB}" type="presParOf" srcId="{7821971E-D9FD-4741-94F6-FD602B395DD6}" destId="{B0350AC4-3EC0-4834-9230-26AC566BE521}" srcOrd="0" destOrd="0" presId="urn:microsoft.com/office/officeart/2008/layout/LinedList"/>
    <dgm:cxn modelId="{97788AF0-767D-4818-8856-A9DF69092520}" type="presParOf" srcId="{7821971E-D9FD-4741-94F6-FD602B395DD6}" destId="{E52DAE2A-F0F7-478D-839E-47740746CE63}" srcOrd="1" destOrd="0" presId="urn:microsoft.com/office/officeart/2008/layout/LinedList"/>
    <dgm:cxn modelId="{7A358918-7282-45CC-AFE7-498DC681A899}" type="presParOf" srcId="{529C9393-88ED-41F2-BFF6-E7A4D2700799}" destId="{61583878-4506-4C29-9CCD-C4A282DD19EA}" srcOrd="2" destOrd="0" presId="urn:microsoft.com/office/officeart/2008/layout/LinedList"/>
    <dgm:cxn modelId="{8D261BCB-CAF7-4F9E-934D-A366F1220EFF}" type="presParOf" srcId="{529C9393-88ED-41F2-BFF6-E7A4D2700799}" destId="{CEA55C60-6752-42BE-AFAB-E4C9199A25C7}" srcOrd="3" destOrd="0" presId="urn:microsoft.com/office/officeart/2008/layout/LinedList"/>
    <dgm:cxn modelId="{CB8DAEFF-A04C-4D96-B8B6-1AF9442B79C1}" type="presParOf" srcId="{CEA55C60-6752-42BE-AFAB-E4C9199A25C7}" destId="{F64672BA-D8F7-474D-BDC5-46CC11937B46}" srcOrd="0" destOrd="0" presId="urn:microsoft.com/office/officeart/2008/layout/LinedList"/>
    <dgm:cxn modelId="{DDE892AA-03AC-4595-8FF2-8D6D0C701270}" type="presParOf" srcId="{CEA55C60-6752-42BE-AFAB-E4C9199A25C7}" destId="{6EE60138-8E3D-4340-81CE-8C432252C9C0}" srcOrd="1" destOrd="0" presId="urn:microsoft.com/office/officeart/2008/layout/LinedList"/>
    <dgm:cxn modelId="{9030ED26-7969-4487-BD95-0540BE42132C}" type="presParOf" srcId="{529C9393-88ED-41F2-BFF6-E7A4D2700799}" destId="{D33F321F-75DB-463C-ADA7-BC976918136F}" srcOrd="4" destOrd="0" presId="urn:microsoft.com/office/officeart/2008/layout/LinedList"/>
    <dgm:cxn modelId="{E8894982-B00C-4F7D-81C7-F51278FA252A}" type="presParOf" srcId="{529C9393-88ED-41F2-BFF6-E7A4D2700799}" destId="{521C2195-738C-45BD-878E-3182B1E553E7}" srcOrd="5" destOrd="0" presId="urn:microsoft.com/office/officeart/2008/layout/LinedList"/>
    <dgm:cxn modelId="{F190A2C6-FD59-4390-8453-C2AFC4D91F87}" type="presParOf" srcId="{521C2195-738C-45BD-878E-3182B1E553E7}" destId="{A87A7CE8-7D2D-4C0D-9C6A-9A58D85754BF}" srcOrd="0" destOrd="0" presId="urn:microsoft.com/office/officeart/2008/layout/LinedList"/>
    <dgm:cxn modelId="{EA30C0A9-8AE5-4B26-BEC4-F5861D72E33D}" type="presParOf" srcId="{521C2195-738C-45BD-878E-3182B1E553E7}" destId="{E026A3B5-ACD1-4636-83E7-BD35E003D0F8}" srcOrd="1" destOrd="0" presId="urn:microsoft.com/office/officeart/2008/layout/LinedList"/>
    <dgm:cxn modelId="{C140742F-C935-492D-8F1C-F378A3648596}" type="presParOf" srcId="{529C9393-88ED-41F2-BFF6-E7A4D2700799}" destId="{465784A9-1DDB-4DAB-8F37-0FB3F3253F7E}" srcOrd="6" destOrd="0" presId="urn:microsoft.com/office/officeart/2008/layout/LinedList"/>
    <dgm:cxn modelId="{7676BD0B-F0C6-4FE5-B378-021FF16B980D}" type="presParOf" srcId="{529C9393-88ED-41F2-BFF6-E7A4D2700799}" destId="{577C1A0F-F67A-4B02-B1D4-D206ADD4BD35}" srcOrd="7" destOrd="0" presId="urn:microsoft.com/office/officeart/2008/layout/LinedList"/>
    <dgm:cxn modelId="{0EBDBCED-D2A5-4A78-923F-75A0EB03CB16}" type="presParOf" srcId="{577C1A0F-F67A-4B02-B1D4-D206ADD4BD35}" destId="{B6667180-9CE0-4652-BF73-511CF6D79F8E}" srcOrd="0" destOrd="0" presId="urn:microsoft.com/office/officeart/2008/layout/LinedList"/>
    <dgm:cxn modelId="{B765A1B2-26A8-4EB3-A2DD-84AEF0251CE8}" type="presParOf" srcId="{577C1A0F-F67A-4B02-B1D4-D206ADD4BD35}" destId="{3E655ECC-5594-44DC-82A9-0C172201E6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59B2B4-555D-4F20-BD3A-26B263441B0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83CF8319-30A6-44C0-ACBE-A15AC5D5BB4A}">
      <dgm:prSet custT="1"/>
      <dgm:spPr>
        <a:noFill/>
        <a:ln>
          <a:solidFill>
            <a:schemeClr val="tx1"/>
          </a:solidFill>
        </a:ln>
      </dgm:spPr>
      <dgm:t>
        <a:bodyPr/>
        <a:lstStyle/>
        <a:p>
          <a:pPr algn="ctr"/>
          <a:r>
            <a:rPr lang="zh-CN" altLang="en-US" sz="1800" b="1" dirty="0">
              <a:solidFill>
                <a:schemeClr val="tx1"/>
              </a:solidFill>
            </a:rPr>
            <a:t>范式</a:t>
          </a:r>
          <a:r>
            <a:rPr lang="zh-CN" altLang="en-US" sz="2400" b="1" dirty="0">
              <a:solidFill>
                <a:srgbClr val="00D4FF"/>
              </a:solidFill>
            </a:rPr>
            <a:t>决定</a:t>
          </a:r>
          <a:r>
            <a:rPr lang="zh-CN" altLang="en-US" sz="1800" b="1" dirty="0">
              <a:solidFill>
                <a:schemeClr val="tx1"/>
              </a:solidFill>
            </a:rPr>
            <a:t>路径。</a:t>
          </a:r>
          <a:r>
            <a:rPr lang="zh-CN" altLang="en-US" sz="1800" dirty="0">
              <a:solidFill>
                <a:schemeClr val="tx1"/>
              </a:solidFill>
            </a:rPr>
            <a:t>定性错了，定量全是徒劳。</a:t>
          </a:r>
        </a:p>
      </dgm:t>
    </dgm:pt>
    <dgm:pt modelId="{FA7D99D4-3437-4643-BD91-15CAF8552996}" type="parTrans" cxnId="{9FF31F68-41CF-4949-828A-22CFC09F16D8}">
      <dgm:prSet/>
      <dgm:spPr/>
      <dgm:t>
        <a:bodyPr/>
        <a:lstStyle/>
        <a:p>
          <a:pPr algn="ctr"/>
          <a:endParaRPr lang="zh-CN" altLang="en-US" sz="1800">
            <a:solidFill>
              <a:schemeClr val="tx1"/>
            </a:solidFill>
          </a:endParaRPr>
        </a:p>
      </dgm:t>
    </dgm:pt>
    <dgm:pt modelId="{3995FB63-470E-49D1-B37B-A8EE582023EB}" type="sibTrans" cxnId="{9FF31F68-41CF-4949-828A-22CFC09F16D8}">
      <dgm:prSet/>
      <dgm:spPr/>
      <dgm:t>
        <a:bodyPr/>
        <a:lstStyle/>
        <a:p>
          <a:pPr algn="ctr"/>
          <a:endParaRPr lang="zh-CN" altLang="en-US" sz="1800">
            <a:solidFill>
              <a:schemeClr val="tx1"/>
            </a:solidFill>
          </a:endParaRPr>
        </a:p>
      </dgm:t>
    </dgm:pt>
    <dgm:pt modelId="{132476C0-BB2B-4D2A-AA9F-7B31974D96C8}">
      <dgm:prSet custT="1"/>
      <dgm:spPr>
        <a:noFill/>
        <a:ln>
          <a:solidFill>
            <a:schemeClr val="tx1"/>
          </a:solidFill>
        </a:ln>
      </dgm:spPr>
      <dgm:t>
        <a:bodyPr/>
        <a:lstStyle/>
        <a:p>
          <a:pPr algn="ctr"/>
          <a:r>
            <a:rPr lang="zh-CN" altLang="en-US" sz="1800" b="1" kern="1200" dirty="0">
              <a:solidFill>
                <a:srgbClr val="FFFFFF"/>
              </a:solidFill>
              <a:latin typeface="Arial"/>
              <a:ea typeface="微软雅黑"/>
              <a:cs typeface="+mn-cs"/>
            </a:rPr>
            <a:t>路径</a:t>
          </a:r>
          <a:r>
            <a:rPr lang="zh-CN" altLang="en-US" sz="2400" b="1" kern="1200" dirty="0">
              <a:solidFill>
                <a:srgbClr val="00D4FF"/>
              </a:solidFill>
            </a:rPr>
            <a:t>决定</a:t>
          </a:r>
          <a:r>
            <a:rPr lang="zh-CN" altLang="en-US" sz="1800" b="1" kern="1200" dirty="0">
              <a:solidFill>
                <a:srgbClr val="FFFFFF"/>
              </a:solidFill>
              <a:latin typeface="Arial"/>
              <a:ea typeface="微软雅黑"/>
              <a:cs typeface="+mn-cs"/>
            </a:rPr>
            <a:t>方案</a:t>
          </a:r>
          <a:r>
            <a:rPr lang="zh-CN" altLang="en-US" sz="1800" kern="1200" dirty="0">
              <a:solidFill>
                <a:schemeClr val="tx1"/>
              </a:solidFill>
            </a:rPr>
            <a:t>。知道往哪走，不等于走得过去。</a:t>
          </a:r>
        </a:p>
      </dgm:t>
    </dgm:pt>
    <dgm:pt modelId="{1CFE1783-9365-4B36-91E5-399B983D5573}" type="parTrans" cxnId="{E6D5D2DD-6636-4395-ADFD-3C5CD8643B6D}">
      <dgm:prSet/>
      <dgm:spPr/>
      <dgm:t>
        <a:bodyPr/>
        <a:lstStyle/>
        <a:p>
          <a:pPr algn="ctr"/>
          <a:endParaRPr lang="zh-CN" altLang="en-US" sz="1800">
            <a:solidFill>
              <a:schemeClr val="tx1"/>
            </a:solidFill>
          </a:endParaRPr>
        </a:p>
      </dgm:t>
    </dgm:pt>
    <dgm:pt modelId="{0BD2E300-1E0A-4DE2-A545-72847418966D}" type="sibTrans" cxnId="{E6D5D2DD-6636-4395-ADFD-3C5CD8643B6D}">
      <dgm:prSet/>
      <dgm:spPr/>
      <dgm:t>
        <a:bodyPr/>
        <a:lstStyle/>
        <a:p>
          <a:pPr algn="ctr"/>
          <a:endParaRPr lang="zh-CN" altLang="en-US" sz="1800">
            <a:solidFill>
              <a:schemeClr val="tx1"/>
            </a:solidFill>
          </a:endParaRPr>
        </a:p>
      </dgm:t>
    </dgm:pt>
    <dgm:pt modelId="{A3013847-7C74-4A50-A453-2C068430D82E}">
      <dgm:prSet custT="1"/>
      <dgm:spPr>
        <a:noFill/>
        <a:ln>
          <a:solidFill>
            <a:schemeClr val="tx1"/>
          </a:solidFill>
        </a:ln>
      </dgm:spPr>
      <dgm:t>
        <a:bodyPr/>
        <a:lstStyle/>
        <a:p>
          <a:pPr algn="ctr"/>
          <a:r>
            <a:rPr lang="zh-CN" altLang="en-US" sz="2400" b="1" i="0" dirty="0">
              <a:solidFill>
                <a:srgbClr val="00D4FF"/>
              </a:solidFill>
            </a:rPr>
            <a:t>选择</a:t>
          </a:r>
          <a:r>
            <a:rPr lang="zh-CN" altLang="en-US" sz="1800" b="1" i="0" dirty="0">
              <a:solidFill>
                <a:schemeClr val="tx1"/>
              </a:solidFill>
            </a:rPr>
            <a:t>比努力重要</a:t>
          </a:r>
          <a:r>
            <a:rPr lang="zh-CN" altLang="en-US" sz="1800" b="0" i="0" dirty="0">
              <a:solidFill>
                <a:schemeClr val="tx1"/>
              </a:solidFill>
            </a:rPr>
            <a:t>。先定范式，再谈方案。</a:t>
          </a:r>
          <a:endParaRPr lang="zh-CN" altLang="en-US" sz="1800" dirty="0">
            <a:solidFill>
              <a:schemeClr val="tx1"/>
            </a:solidFill>
          </a:endParaRPr>
        </a:p>
      </dgm:t>
    </dgm:pt>
    <dgm:pt modelId="{F91B2877-FF6B-4B88-A398-C8ECD9881780}" type="parTrans" cxnId="{022EC924-AFC1-4F39-84FE-D9A8B670DF1B}">
      <dgm:prSet/>
      <dgm:spPr/>
      <dgm:t>
        <a:bodyPr/>
        <a:lstStyle/>
        <a:p>
          <a:pPr algn="ctr"/>
          <a:endParaRPr lang="zh-CN" altLang="en-US" sz="1800">
            <a:solidFill>
              <a:schemeClr val="tx1"/>
            </a:solidFill>
          </a:endParaRPr>
        </a:p>
      </dgm:t>
    </dgm:pt>
    <dgm:pt modelId="{0CD776EF-5F33-41CD-B8D4-89E32A2F0BDA}" type="sibTrans" cxnId="{022EC924-AFC1-4F39-84FE-D9A8B670DF1B}">
      <dgm:prSet/>
      <dgm:spPr/>
      <dgm:t>
        <a:bodyPr/>
        <a:lstStyle/>
        <a:p>
          <a:pPr algn="ctr"/>
          <a:endParaRPr lang="zh-CN" altLang="en-US" sz="1800">
            <a:solidFill>
              <a:schemeClr val="tx1"/>
            </a:solidFill>
          </a:endParaRPr>
        </a:p>
      </dgm:t>
    </dgm:pt>
    <dgm:pt modelId="{E54DCA16-B86C-4EB7-B986-DD89936BB05F}" type="pres">
      <dgm:prSet presAssocID="{E359B2B4-555D-4F20-BD3A-26B263441B03}" presName="linear" presStyleCnt="0">
        <dgm:presLayoutVars>
          <dgm:animLvl val="lvl"/>
          <dgm:resizeHandles val="exact"/>
        </dgm:presLayoutVars>
      </dgm:prSet>
      <dgm:spPr/>
    </dgm:pt>
    <dgm:pt modelId="{1A0F3182-5C6A-4DBF-89B1-6F6967B448BB}" type="pres">
      <dgm:prSet presAssocID="{83CF8319-30A6-44C0-ACBE-A15AC5D5BB4A}" presName="parentText" presStyleLbl="node1" presStyleIdx="0" presStyleCnt="3" custLinFactNeighborX="5475" custLinFactNeighborY="46555">
        <dgm:presLayoutVars>
          <dgm:chMax val="0"/>
          <dgm:bulletEnabled val="1"/>
        </dgm:presLayoutVars>
      </dgm:prSet>
      <dgm:spPr/>
    </dgm:pt>
    <dgm:pt modelId="{DCDAEC68-5504-43A7-AF66-7BCED991E950}" type="pres">
      <dgm:prSet presAssocID="{3995FB63-470E-49D1-B37B-A8EE582023EB}" presName="spacer" presStyleCnt="0"/>
      <dgm:spPr/>
    </dgm:pt>
    <dgm:pt modelId="{50A34445-A801-4933-8D23-0788760BD172}" type="pres">
      <dgm:prSet presAssocID="{132476C0-BB2B-4D2A-AA9F-7B31974D96C8}" presName="parentText" presStyleLbl="node1" presStyleIdx="1" presStyleCnt="3">
        <dgm:presLayoutVars>
          <dgm:chMax val="0"/>
          <dgm:bulletEnabled val="1"/>
        </dgm:presLayoutVars>
      </dgm:prSet>
      <dgm:spPr/>
    </dgm:pt>
    <dgm:pt modelId="{A5F59EA0-EBF1-4043-94C4-028F16639563}" type="pres">
      <dgm:prSet presAssocID="{0BD2E300-1E0A-4DE2-A545-72847418966D}" presName="spacer" presStyleCnt="0"/>
      <dgm:spPr/>
    </dgm:pt>
    <dgm:pt modelId="{E77CB5B2-D6D3-4271-85DA-BCCEC744C499}" type="pres">
      <dgm:prSet presAssocID="{A3013847-7C74-4A50-A453-2C068430D82E}" presName="parentText" presStyleLbl="node1" presStyleIdx="2" presStyleCnt="3">
        <dgm:presLayoutVars>
          <dgm:chMax val="0"/>
          <dgm:bulletEnabled val="1"/>
        </dgm:presLayoutVars>
      </dgm:prSet>
      <dgm:spPr/>
    </dgm:pt>
  </dgm:ptLst>
  <dgm:cxnLst>
    <dgm:cxn modelId="{022EC924-AFC1-4F39-84FE-D9A8B670DF1B}" srcId="{E359B2B4-555D-4F20-BD3A-26B263441B03}" destId="{A3013847-7C74-4A50-A453-2C068430D82E}" srcOrd="2" destOrd="0" parTransId="{F91B2877-FF6B-4B88-A398-C8ECD9881780}" sibTransId="{0CD776EF-5F33-41CD-B8D4-89E32A2F0BDA}"/>
    <dgm:cxn modelId="{570D3E2A-9110-499B-9732-C869D34A62D5}" type="presOf" srcId="{E359B2B4-555D-4F20-BD3A-26B263441B03}" destId="{E54DCA16-B86C-4EB7-B986-DD89936BB05F}" srcOrd="0" destOrd="0" presId="urn:microsoft.com/office/officeart/2005/8/layout/vList2"/>
    <dgm:cxn modelId="{9FF31F68-41CF-4949-828A-22CFC09F16D8}" srcId="{E359B2B4-555D-4F20-BD3A-26B263441B03}" destId="{83CF8319-30A6-44C0-ACBE-A15AC5D5BB4A}" srcOrd="0" destOrd="0" parTransId="{FA7D99D4-3437-4643-BD91-15CAF8552996}" sibTransId="{3995FB63-470E-49D1-B37B-A8EE582023EB}"/>
    <dgm:cxn modelId="{B1622CB2-331E-4046-BCA2-99BED8ECD25A}" type="presOf" srcId="{A3013847-7C74-4A50-A453-2C068430D82E}" destId="{E77CB5B2-D6D3-4271-85DA-BCCEC744C499}" srcOrd="0" destOrd="0" presId="urn:microsoft.com/office/officeart/2005/8/layout/vList2"/>
    <dgm:cxn modelId="{CC6F62B7-BA4B-4D64-9880-E6073D499308}" type="presOf" srcId="{132476C0-BB2B-4D2A-AA9F-7B31974D96C8}" destId="{50A34445-A801-4933-8D23-0788760BD172}" srcOrd="0" destOrd="0" presId="urn:microsoft.com/office/officeart/2005/8/layout/vList2"/>
    <dgm:cxn modelId="{58451DCD-06D3-4C9A-9C4C-18C49057A692}" type="presOf" srcId="{83CF8319-30A6-44C0-ACBE-A15AC5D5BB4A}" destId="{1A0F3182-5C6A-4DBF-89B1-6F6967B448BB}" srcOrd="0" destOrd="0" presId="urn:microsoft.com/office/officeart/2005/8/layout/vList2"/>
    <dgm:cxn modelId="{E6D5D2DD-6636-4395-ADFD-3C5CD8643B6D}" srcId="{E359B2B4-555D-4F20-BD3A-26B263441B03}" destId="{132476C0-BB2B-4D2A-AA9F-7B31974D96C8}" srcOrd="1" destOrd="0" parTransId="{1CFE1783-9365-4B36-91E5-399B983D5573}" sibTransId="{0BD2E300-1E0A-4DE2-A545-72847418966D}"/>
    <dgm:cxn modelId="{256E81BF-8D33-416D-8CE5-BA1922F1BCC8}" type="presParOf" srcId="{E54DCA16-B86C-4EB7-B986-DD89936BB05F}" destId="{1A0F3182-5C6A-4DBF-89B1-6F6967B448BB}" srcOrd="0" destOrd="0" presId="urn:microsoft.com/office/officeart/2005/8/layout/vList2"/>
    <dgm:cxn modelId="{506BA544-9BB9-4A40-907E-902870783DCE}" type="presParOf" srcId="{E54DCA16-B86C-4EB7-B986-DD89936BB05F}" destId="{DCDAEC68-5504-43A7-AF66-7BCED991E950}" srcOrd="1" destOrd="0" presId="urn:microsoft.com/office/officeart/2005/8/layout/vList2"/>
    <dgm:cxn modelId="{660FAE97-9729-45A1-AC75-D512EA570246}" type="presParOf" srcId="{E54DCA16-B86C-4EB7-B986-DD89936BB05F}" destId="{50A34445-A801-4933-8D23-0788760BD172}" srcOrd="2" destOrd="0" presId="urn:microsoft.com/office/officeart/2005/8/layout/vList2"/>
    <dgm:cxn modelId="{D430A0C1-8E54-4E84-9C77-C28F424CA72F}" type="presParOf" srcId="{E54DCA16-B86C-4EB7-B986-DD89936BB05F}" destId="{A5F59EA0-EBF1-4043-94C4-028F16639563}" srcOrd="3" destOrd="0" presId="urn:microsoft.com/office/officeart/2005/8/layout/vList2"/>
    <dgm:cxn modelId="{607B5F59-ED01-4223-A1BA-F8FB88D54385}" type="presParOf" srcId="{E54DCA16-B86C-4EB7-B986-DD89936BB05F}" destId="{E77CB5B2-D6D3-4271-85DA-BCCEC744C4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177D4E-6EFB-4C8A-888C-D0DA7CFAD561}"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zh-CN" altLang="en-US"/>
        </a:p>
      </dgm:t>
    </dgm:pt>
    <dgm:pt modelId="{A21882FA-481E-4119-A5F5-7D5C90E7558E}">
      <dgm:prSet custT="1"/>
      <dgm:spPr/>
      <dgm:t>
        <a:bodyPr/>
        <a:lstStyle/>
        <a:p>
          <a:r>
            <a:rPr lang="zh-CN" altLang="en-US" sz="1400" b="1"/>
            <a:t>数据模型要做两件事：</a:t>
          </a:r>
        </a:p>
      </dgm:t>
    </dgm:pt>
    <dgm:pt modelId="{1C0C0C7D-583D-48BA-9F32-81A5F6110C24}" type="parTrans" cxnId="{E585654A-EAD3-4D72-B984-90C8EF5492DC}">
      <dgm:prSet/>
      <dgm:spPr/>
      <dgm:t>
        <a:bodyPr/>
        <a:lstStyle/>
        <a:p>
          <a:endParaRPr lang="zh-CN" altLang="en-US"/>
        </a:p>
      </dgm:t>
    </dgm:pt>
    <dgm:pt modelId="{8F6DA820-1948-4966-B41A-F80AB197E74A}" type="sibTrans" cxnId="{E585654A-EAD3-4D72-B984-90C8EF5492DC}">
      <dgm:prSet/>
      <dgm:spPr/>
      <dgm:t>
        <a:bodyPr/>
        <a:lstStyle/>
        <a:p>
          <a:endParaRPr lang="zh-CN" altLang="en-US"/>
        </a:p>
      </dgm:t>
    </dgm:pt>
    <dgm:pt modelId="{D7201E61-CF9D-42C4-B756-27FADB386C7E}">
      <dgm:prSet/>
      <dgm:spPr/>
      <dgm:t>
        <a:bodyPr/>
        <a:lstStyle/>
        <a:p>
          <a:r>
            <a:rPr lang="zh-CN" b="1" dirty="0"/>
            <a:t>第一，正确的结构。</a:t>
          </a:r>
        </a:p>
      </dgm:t>
    </dgm:pt>
    <dgm:pt modelId="{1A87D46F-A2B3-4389-88AA-36766ED5C6BB}" type="parTrans" cxnId="{50350A55-DA60-42B5-AFAC-8C6558B3B15D}">
      <dgm:prSet/>
      <dgm:spPr/>
      <dgm:t>
        <a:bodyPr/>
        <a:lstStyle/>
        <a:p>
          <a:endParaRPr lang="zh-CN" altLang="en-US"/>
        </a:p>
      </dgm:t>
    </dgm:pt>
    <dgm:pt modelId="{5EBBD6B6-44E7-43B4-ACA0-9FAB4DC0BE26}" type="sibTrans" cxnId="{50350A55-DA60-42B5-AFAC-8C6558B3B15D}">
      <dgm:prSet/>
      <dgm:spPr/>
      <dgm:t>
        <a:bodyPr/>
        <a:lstStyle/>
        <a:p>
          <a:endParaRPr lang="zh-CN" altLang="en-US"/>
        </a:p>
      </dgm:t>
    </dgm:pt>
    <dgm:pt modelId="{288246EF-D621-46B6-8DD4-10A000985C8C}">
      <dgm:prSet/>
      <dgm:spPr/>
      <dgm:t>
        <a:bodyPr/>
        <a:lstStyle/>
        <a:p>
          <a:r>
            <a:rPr lang="zh-CN"/>
            <a:t>节点、拓扑、约束、状态矢量、状态跃迁，五个维度同时存在、强耦合。</a:t>
          </a:r>
        </a:p>
      </dgm:t>
    </dgm:pt>
    <dgm:pt modelId="{91C1B8C2-6874-43D0-B820-DA2877AA2711}" type="parTrans" cxnId="{23B41733-0D44-424D-9D75-BEDF1A32ED12}">
      <dgm:prSet/>
      <dgm:spPr/>
      <dgm:t>
        <a:bodyPr/>
        <a:lstStyle/>
        <a:p>
          <a:endParaRPr lang="zh-CN" altLang="en-US"/>
        </a:p>
      </dgm:t>
    </dgm:pt>
    <dgm:pt modelId="{7E299498-A46A-4637-AE60-C1A4D028FB46}" type="sibTrans" cxnId="{23B41733-0D44-424D-9D75-BEDF1A32ED12}">
      <dgm:prSet/>
      <dgm:spPr/>
      <dgm:t>
        <a:bodyPr/>
        <a:lstStyle/>
        <a:p>
          <a:endParaRPr lang="zh-CN" altLang="en-US"/>
        </a:p>
      </dgm:t>
    </dgm:pt>
    <dgm:pt modelId="{1D6AAC7A-CCC0-4C2F-ACF4-E9D0BB37B0F8}">
      <dgm:prSet/>
      <dgm:spPr/>
      <dgm:t>
        <a:bodyPr/>
        <a:lstStyle/>
        <a:p>
          <a:r>
            <a:rPr lang="zh-CN" b="1" dirty="0"/>
            <a:t>第二，正确的内容。</a:t>
          </a:r>
        </a:p>
      </dgm:t>
    </dgm:pt>
    <dgm:pt modelId="{504EBA31-46C0-4619-9476-3F7AA52DF559}" type="parTrans" cxnId="{35197E0A-FA96-4001-8130-CB9B3431924D}">
      <dgm:prSet/>
      <dgm:spPr/>
      <dgm:t>
        <a:bodyPr/>
        <a:lstStyle/>
        <a:p>
          <a:endParaRPr lang="zh-CN" altLang="en-US"/>
        </a:p>
      </dgm:t>
    </dgm:pt>
    <dgm:pt modelId="{1D7B3BFC-221D-4704-8C89-F63CC1CB92BE}" type="sibTrans" cxnId="{35197E0A-FA96-4001-8130-CB9B3431924D}">
      <dgm:prSet/>
      <dgm:spPr/>
      <dgm:t>
        <a:bodyPr/>
        <a:lstStyle/>
        <a:p>
          <a:endParaRPr lang="zh-CN" altLang="en-US"/>
        </a:p>
      </dgm:t>
    </dgm:pt>
    <dgm:pt modelId="{D80BE3A8-BA14-47DD-AF85-8D7CA1242467}">
      <dgm:prSet/>
      <dgm:spPr/>
      <dgm:t>
        <a:bodyPr/>
        <a:lstStyle/>
        <a:p>
          <a:r>
            <a:rPr lang="zh-CN"/>
            <a:t>物料在哪里、机台能产多少、订单什么交期</a:t>
          </a:r>
          <a:r>
            <a:rPr lang="en-US"/>
            <a:t>——</a:t>
          </a:r>
          <a:r>
            <a:rPr lang="zh-CN"/>
            <a:t>全部变成精确的数字坐标。</a:t>
          </a:r>
        </a:p>
      </dgm:t>
    </dgm:pt>
    <dgm:pt modelId="{A1835E3A-BCCD-471B-9F5B-A37155D4E6EA}" type="parTrans" cxnId="{B1FA3E48-07CF-441B-8DCC-D2ACB1D24F93}">
      <dgm:prSet/>
      <dgm:spPr/>
      <dgm:t>
        <a:bodyPr/>
        <a:lstStyle/>
        <a:p>
          <a:endParaRPr lang="zh-CN" altLang="en-US"/>
        </a:p>
      </dgm:t>
    </dgm:pt>
    <dgm:pt modelId="{D091DDA0-674C-4D7A-B4CB-0F4BF1F29837}" type="sibTrans" cxnId="{B1FA3E48-07CF-441B-8DCC-D2ACB1D24F93}">
      <dgm:prSet/>
      <dgm:spPr/>
      <dgm:t>
        <a:bodyPr/>
        <a:lstStyle/>
        <a:p>
          <a:endParaRPr lang="zh-CN" altLang="en-US"/>
        </a:p>
      </dgm:t>
    </dgm:pt>
    <dgm:pt modelId="{B645C1D1-10F8-4006-8273-13B1891990F2}" type="pres">
      <dgm:prSet presAssocID="{50177D4E-6EFB-4C8A-888C-D0DA7CFAD561}" presName="linear" presStyleCnt="0">
        <dgm:presLayoutVars>
          <dgm:dir/>
          <dgm:animLvl val="lvl"/>
          <dgm:resizeHandles val="exact"/>
        </dgm:presLayoutVars>
      </dgm:prSet>
      <dgm:spPr/>
    </dgm:pt>
    <dgm:pt modelId="{290B7F25-56D4-4FF8-9C2B-07B182A7601B}" type="pres">
      <dgm:prSet presAssocID="{A21882FA-481E-4119-A5F5-7D5C90E7558E}" presName="parentLin" presStyleCnt="0"/>
      <dgm:spPr/>
    </dgm:pt>
    <dgm:pt modelId="{05057776-EFF9-43D7-A076-0141CA20009D}" type="pres">
      <dgm:prSet presAssocID="{A21882FA-481E-4119-A5F5-7D5C90E7558E}" presName="parentLeftMargin" presStyleLbl="node1" presStyleIdx="0" presStyleCnt="1"/>
      <dgm:spPr/>
    </dgm:pt>
    <dgm:pt modelId="{FA95093B-B72E-4D4A-AAD8-7B9BA9A2DBC0}" type="pres">
      <dgm:prSet presAssocID="{A21882FA-481E-4119-A5F5-7D5C90E7558E}" presName="parentText" presStyleLbl="node1" presStyleIdx="0" presStyleCnt="1">
        <dgm:presLayoutVars>
          <dgm:chMax val="0"/>
          <dgm:bulletEnabled val="1"/>
        </dgm:presLayoutVars>
      </dgm:prSet>
      <dgm:spPr/>
    </dgm:pt>
    <dgm:pt modelId="{6A4A86CE-27F0-4722-AB15-E7CCAD8444C4}" type="pres">
      <dgm:prSet presAssocID="{A21882FA-481E-4119-A5F5-7D5C90E7558E}" presName="negativeSpace" presStyleCnt="0"/>
      <dgm:spPr/>
    </dgm:pt>
    <dgm:pt modelId="{B77DBC4F-A275-4687-A256-F416B186EBED}" type="pres">
      <dgm:prSet presAssocID="{A21882FA-481E-4119-A5F5-7D5C90E7558E}" presName="childText" presStyleLbl="conFgAcc1" presStyleIdx="0" presStyleCnt="1">
        <dgm:presLayoutVars>
          <dgm:bulletEnabled val="1"/>
        </dgm:presLayoutVars>
      </dgm:prSet>
      <dgm:spPr/>
    </dgm:pt>
  </dgm:ptLst>
  <dgm:cxnLst>
    <dgm:cxn modelId="{35197E0A-FA96-4001-8130-CB9B3431924D}" srcId="{A21882FA-481E-4119-A5F5-7D5C90E7558E}" destId="{1D6AAC7A-CCC0-4C2F-ACF4-E9D0BB37B0F8}" srcOrd="1" destOrd="0" parTransId="{504EBA31-46C0-4619-9476-3F7AA52DF559}" sibTransId="{1D7B3BFC-221D-4704-8C89-F63CC1CB92BE}"/>
    <dgm:cxn modelId="{727F5E0F-B52E-42F0-8E53-EBB3BACD038D}" type="presOf" srcId="{50177D4E-6EFB-4C8A-888C-D0DA7CFAD561}" destId="{B645C1D1-10F8-4006-8273-13B1891990F2}" srcOrd="0" destOrd="0" presId="urn:microsoft.com/office/officeart/2005/8/layout/list1"/>
    <dgm:cxn modelId="{39BCA717-EB34-4330-8C37-390220B562AE}" type="presOf" srcId="{1D6AAC7A-CCC0-4C2F-ACF4-E9D0BB37B0F8}" destId="{B77DBC4F-A275-4687-A256-F416B186EBED}" srcOrd="0" destOrd="2" presId="urn:microsoft.com/office/officeart/2005/8/layout/list1"/>
    <dgm:cxn modelId="{23B41733-0D44-424D-9D75-BEDF1A32ED12}" srcId="{D7201E61-CF9D-42C4-B756-27FADB386C7E}" destId="{288246EF-D621-46B6-8DD4-10A000985C8C}" srcOrd="0" destOrd="0" parTransId="{91C1B8C2-6874-43D0-B820-DA2877AA2711}" sibTransId="{7E299498-A46A-4637-AE60-C1A4D028FB46}"/>
    <dgm:cxn modelId="{B1FA3E48-07CF-441B-8DCC-D2ACB1D24F93}" srcId="{1D6AAC7A-CCC0-4C2F-ACF4-E9D0BB37B0F8}" destId="{D80BE3A8-BA14-47DD-AF85-8D7CA1242467}" srcOrd="0" destOrd="0" parTransId="{A1835E3A-BCCD-471B-9F5B-A37155D4E6EA}" sibTransId="{D091DDA0-674C-4D7A-B4CB-0F4BF1F29837}"/>
    <dgm:cxn modelId="{E585654A-EAD3-4D72-B984-90C8EF5492DC}" srcId="{50177D4E-6EFB-4C8A-888C-D0DA7CFAD561}" destId="{A21882FA-481E-4119-A5F5-7D5C90E7558E}" srcOrd="0" destOrd="0" parTransId="{1C0C0C7D-583D-48BA-9F32-81A5F6110C24}" sibTransId="{8F6DA820-1948-4966-B41A-F80AB197E74A}"/>
    <dgm:cxn modelId="{F5004D6F-12D7-46D9-9346-CF56D917AB09}" type="presOf" srcId="{D7201E61-CF9D-42C4-B756-27FADB386C7E}" destId="{B77DBC4F-A275-4687-A256-F416B186EBED}" srcOrd="0" destOrd="0" presId="urn:microsoft.com/office/officeart/2005/8/layout/list1"/>
    <dgm:cxn modelId="{36C46A72-4D78-4805-8BC3-4675733CA715}" type="presOf" srcId="{A21882FA-481E-4119-A5F5-7D5C90E7558E}" destId="{FA95093B-B72E-4D4A-AAD8-7B9BA9A2DBC0}" srcOrd="1" destOrd="0" presId="urn:microsoft.com/office/officeart/2005/8/layout/list1"/>
    <dgm:cxn modelId="{50350A55-DA60-42B5-AFAC-8C6558B3B15D}" srcId="{A21882FA-481E-4119-A5F5-7D5C90E7558E}" destId="{D7201E61-CF9D-42C4-B756-27FADB386C7E}" srcOrd="0" destOrd="0" parTransId="{1A87D46F-A2B3-4389-88AA-36766ED5C6BB}" sibTransId="{5EBBD6B6-44E7-43B4-ACA0-9FAB4DC0BE26}"/>
    <dgm:cxn modelId="{68E9FD93-5654-472F-A9A2-A90B4FDB3387}" type="presOf" srcId="{D80BE3A8-BA14-47DD-AF85-8D7CA1242467}" destId="{B77DBC4F-A275-4687-A256-F416B186EBED}" srcOrd="0" destOrd="3" presId="urn:microsoft.com/office/officeart/2005/8/layout/list1"/>
    <dgm:cxn modelId="{545F06E6-3C60-4E5F-8B34-5C6A462582E7}" type="presOf" srcId="{A21882FA-481E-4119-A5F5-7D5C90E7558E}" destId="{05057776-EFF9-43D7-A076-0141CA20009D}" srcOrd="0" destOrd="0" presId="urn:microsoft.com/office/officeart/2005/8/layout/list1"/>
    <dgm:cxn modelId="{487EA5E9-34DB-4D5A-82F6-BC2748AC2E8B}" type="presOf" srcId="{288246EF-D621-46B6-8DD4-10A000985C8C}" destId="{B77DBC4F-A275-4687-A256-F416B186EBED}" srcOrd="0" destOrd="1" presId="urn:microsoft.com/office/officeart/2005/8/layout/list1"/>
    <dgm:cxn modelId="{B87021FC-24CE-40D1-8493-56089D73A071}" type="presParOf" srcId="{B645C1D1-10F8-4006-8273-13B1891990F2}" destId="{290B7F25-56D4-4FF8-9C2B-07B182A7601B}" srcOrd="0" destOrd="0" presId="urn:microsoft.com/office/officeart/2005/8/layout/list1"/>
    <dgm:cxn modelId="{AB89F7DE-748B-4A4D-A1AF-4E04FA27710E}" type="presParOf" srcId="{290B7F25-56D4-4FF8-9C2B-07B182A7601B}" destId="{05057776-EFF9-43D7-A076-0141CA20009D}" srcOrd="0" destOrd="0" presId="urn:microsoft.com/office/officeart/2005/8/layout/list1"/>
    <dgm:cxn modelId="{B9A78F4C-C192-4795-97B7-F1950FCD013C}" type="presParOf" srcId="{290B7F25-56D4-4FF8-9C2B-07B182A7601B}" destId="{FA95093B-B72E-4D4A-AAD8-7B9BA9A2DBC0}" srcOrd="1" destOrd="0" presId="urn:microsoft.com/office/officeart/2005/8/layout/list1"/>
    <dgm:cxn modelId="{0B06151E-EB61-4584-A174-1711A541D3E2}" type="presParOf" srcId="{B645C1D1-10F8-4006-8273-13B1891990F2}" destId="{6A4A86CE-27F0-4722-AB15-E7CCAD8444C4}" srcOrd="1" destOrd="0" presId="urn:microsoft.com/office/officeart/2005/8/layout/list1"/>
    <dgm:cxn modelId="{B390C32C-0660-4F16-A873-8D5098B4A2EC}" type="presParOf" srcId="{B645C1D1-10F8-4006-8273-13B1891990F2}" destId="{B77DBC4F-A275-4687-A256-F416B186EBED}"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9B9D23-B13C-476B-BD90-8B14195510C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3615C5C2-A91F-44A0-833F-30810711E8CB}">
      <dgm:prSet custT="1"/>
      <dgm:spPr/>
      <dgm:t>
        <a:bodyPr/>
        <a:lstStyle/>
        <a:p>
          <a:r>
            <a:rPr lang="zh-CN" altLang="en-US" sz="1400" b="1"/>
            <a:t>五个维度是什么：</a:t>
          </a:r>
        </a:p>
      </dgm:t>
    </dgm:pt>
    <dgm:pt modelId="{6B24EEB8-8EEA-459C-AFCB-069FE5276A85}" type="parTrans" cxnId="{B681D56F-5E65-45CD-B92D-18F989340033}">
      <dgm:prSet/>
      <dgm:spPr/>
      <dgm:t>
        <a:bodyPr/>
        <a:lstStyle/>
        <a:p>
          <a:endParaRPr lang="zh-CN" altLang="en-US" sz="1200"/>
        </a:p>
      </dgm:t>
    </dgm:pt>
    <dgm:pt modelId="{F4B6F550-7485-42D6-8EA5-6C84F53FB69B}" type="sibTrans" cxnId="{B681D56F-5E65-45CD-B92D-18F989340033}">
      <dgm:prSet/>
      <dgm:spPr/>
      <dgm:t>
        <a:bodyPr/>
        <a:lstStyle/>
        <a:p>
          <a:endParaRPr lang="zh-CN" altLang="en-US" sz="1200"/>
        </a:p>
      </dgm:t>
    </dgm:pt>
    <dgm:pt modelId="{1A3FD955-819B-484A-B6F2-56A564E76426}">
      <dgm:prSet custT="1"/>
      <dgm:spPr/>
      <dgm:t>
        <a:bodyPr/>
        <a:lstStyle/>
        <a:p>
          <a:r>
            <a:rPr lang="zh-CN" sz="1400"/>
            <a:t>节点：物料、机台、供应商、</a:t>
          </a:r>
          <a:r>
            <a:rPr lang="en-US" sz="1400"/>
            <a:t>DC</a:t>
          </a:r>
          <a:r>
            <a:rPr lang="zh-CN" sz="1400"/>
            <a:t>、客户</a:t>
          </a:r>
        </a:p>
      </dgm:t>
    </dgm:pt>
    <dgm:pt modelId="{FE93B7AC-FACA-48F5-87E6-AF94B18840AE}" type="parTrans" cxnId="{7F9EE2E3-D83F-490E-A8A7-CF675797F248}">
      <dgm:prSet/>
      <dgm:spPr/>
      <dgm:t>
        <a:bodyPr/>
        <a:lstStyle/>
        <a:p>
          <a:endParaRPr lang="zh-CN" altLang="en-US" sz="1200"/>
        </a:p>
      </dgm:t>
    </dgm:pt>
    <dgm:pt modelId="{E9E93712-8550-4C63-A820-D89F3780BADC}" type="sibTrans" cxnId="{7F9EE2E3-D83F-490E-A8A7-CF675797F248}">
      <dgm:prSet/>
      <dgm:spPr/>
      <dgm:t>
        <a:bodyPr/>
        <a:lstStyle/>
        <a:p>
          <a:endParaRPr lang="zh-CN" altLang="en-US" sz="1200"/>
        </a:p>
      </dgm:t>
    </dgm:pt>
    <dgm:pt modelId="{516C92E3-7BE2-4671-A7EE-3E92475E0D36}">
      <dgm:prSet custT="1"/>
      <dgm:spPr/>
      <dgm:t>
        <a:bodyPr/>
        <a:lstStyle/>
        <a:p>
          <a:r>
            <a:rPr lang="zh-CN" sz="1400"/>
            <a:t>拓扑：节点之间的连线</a:t>
          </a:r>
          <a:r>
            <a:rPr lang="en-US" sz="1400"/>
            <a:t>——BOM</a:t>
          </a:r>
          <a:r>
            <a:rPr lang="zh-CN" sz="1400"/>
            <a:t>、工艺路线、物流网络</a:t>
          </a:r>
        </a:p>
      </dgm:t>
    </dgm:pt>
    <dgm:pt modelId="{FE8E83EC-E806-4937-BED0-EC471EF02C8F}" type="parTrans" cxnId="{D5112397-EB04-4931-81B6-05BB650A4760}">
      <dgm:prSet/>
      <dgm:spPr/>
      <dgm:t>
        <a:bodyPr/>
        <a:lstStyle/>
        <a:p>
          <a:endParaRPr lang="zh-CN" altLang="en-US" sz="1200"/>
        </a:p>
      </dgm:t>
    </dgm:pt>
    <dgm:pt modelId="{BDFA9AA3-FAE5-4E92-8FE6-B890DD01C8DE}" type="sibTrans" cxnId="{D5112397-EB04-4931-81B6-05BB650A4760}">
      <dgm:prSet/>
      <dgm:spPr/>
      <dgm:t>
        <a:bodyPr/>
        <a:lstStyle/>
        <a:p>
          <a:endParaRPr lang="zh-CN" altLang="en-US" sz="1200"/>
        </a:p>
      </dgm:t>
    </dgm:pt>
    <dgm:pt modelId="{44202D35-25C9-4028-A667-DD0C38A79D7A}">
      <dgm:prSet custT="1"/>
      <dgm:spPr/>
      <dgm:t>
        <a:bodyPr/>
        <a:lstStyle/>
        <a:p>
          <a:r>
            <a:rPr lang="zh-CN" altLang="en-US" sz="1400"/>
            <a:t>约束：产能上限、交期死线、合规红线</a:t>
          </a:r>
        </a:p>
      </dgm:t>
    </dgm:pt>
    <dgm:pt modelId="{8E9BE26D-F3A1-4EEB-9A88-74E846C83946}" type="parTrans" cxnId="{96F84A8F-78C2-48B4-B8E5-CFCD10687866}">
      <dgm:prSet/>
      <dgm:spPr/>
      <dgm:t>
        <a:bodyPr/>
        <a:lstStyle/>
        <a:p>
          <a:endParaRPr lang="zh-CN" altLang="en-US" sz="1200"/>
        </a:p>
      </dgm:t>
    </dgm:pt>
    <dgm:pt modelId="{D9956E8C-0D94-445E-9905-A1280C73D587}" type="sibTrans" cxnId="{96F84A8F-78C2-48B4-B8E5-CFCD10687866}">
      <dgm:prSet/>
      <dgm:spPr/>
      <dgm:t>
        <a:bodyPr/>
        <a:lstStyle/>
        <a:p>
          <a:endParaRPr lang="zh-CN" altLang="en-US" sz="1200"/>
        </a:p>
      </dgm:t>
    </dgm:pt>
    <dgm:pt modelId="{1C4140D8-BA6D-477C-9A43-C3BDACFAB371}">
      <dgm:prSet custT="1"/>
      <dgm:spPr/>
      <dgm:t>
        <a:bodyPr/>
        <a:lstStyle/>
        <a:p>
          <a:r>
            <a:rPr lang="zh-CN" sz="1400"/>
            <a:t>状态矢量：单据</a:t>
          </a:r>
          <a:r>
            <a:rPr lang="en-US" sz="1400"/>
            <a:t>——</a:t>
          </a:r>
          <a:r>
            <a:rPr lang="zh-CN" sz="1400"/>
            <a:t>此刻的库存、在途、物权、财务余额</a:t>
          </a:r>
        </a:p>
      </dgm:t>
    </dgm:pt>
    <dgm:pt modelId="{BB4F3DB4-71FF-4E10-A7D0-C8DB623621AE}" type="parTrans" cxnId="{43C41484-DD35-4098-BE00-58D98FBEF294}">
      <dgm:prSet/>
      <dgm:spPr/>
      <dgm:t>
        <a:bodyPr/>
        <a:lstStyle/>
        <a:p>
          <a:endParaRPr lang="zh-CN" altLang="en-US" sz="1200"/>
        </a:p>
      </dgm:t>
    </dgm:pt>
    <dgm:pt modelId="{89E2466F-C0AB-41DA-9EBA-8A34A81930C4}" type="sibTrans" cxnId="{43C41484-DD35-4098-BE00-58D98FBEF294}">
      <dgm:prSet/>
      <dgm:spPr/>
      <dgm:t>
        <a:bodyPr/>
        <a:lstStyle/>
        <a:p>
          <a:endParaRPr lang="zh-CN" altLang="en-US" sz="1200"/>
        </a:p>
      </dgm:t>
    </dgm:pt>
    <dgm:pt modelId="{94BFCF56-C5D6-4AF7-9609-FE9CBD4605F1}">
      <dgm:prSet custT="1"/>
      <dgm:spPr/>
      <dgm:t>
        <a:bodyPr/>
        <a:lstStyle/>
        <a:p>
          <a:r>
            <a:rPr lang="zh-CN" sz="1400" dirty="0"/>
            <a:t>状态跃迁：</a:t>
          </a:r>
          <a:r>
            <a:rPr lang="zh-CN" sz="1800" b="1" dirty="0">
              <a:solidFill>
                <a:srgbClr val="00D4FF"/>
              </a:solidFill>
            </a:rPr>
            <a:t>因果</a:t>
          </a:r>
          <a:r>
            <a:rPr lang="zh-CN" sz="1400" dirty="0"/>
            <a:t>动作</a:t>
          </a:r>
          <a:r>
            <a:rPr lang="en-US" sz="1400" dirty="0"/>
            <a:t>——</a:t>
          </a:r>
          <a:r>
            <a:rPr lang="zh-CN" sz="1400" dirty="0"/>
            <a:t>下游拉动上游、</a:t>
          </a:r>
          <a:r>
            <a:rPr lang="en-US" sz="1400" dirty="0"/>
            <a:t>Pegging</a:t>
          </a:r>
          <a:r>
            <a:rPr lang="zh-CN" altLang="en-US" sz="1400" dirty="0"/>
            <a:t>、上层计划对下层的约束性指导等</a:t>
          </a:r>
          <a:r>
            <a:rPr lang="en-US" altLang="zh-CN" sz="1400" dirty="0"/>
            <a:t>.</a:t>
          </a:r>
          <a:endParaRPr lang="zh-CN" sz="1400" dirty="0"/>
        </a:p>
      </dgm:t>
    </dgm:pt>
    <dgm:pt modelId="{E89A289D-A493-49C9-A8C1-EC30062C4B2B}" type="parTrans" cxnId="{1AF1FC12-5051-4EF3-87C4-4A832FEAEA83}">
      <dgm:prSet/>
      <dgm:spPr/>
      <dgm:t>
        <a:bodyPr/>
        <a:lstStyle/>
        <a:p>
          <a:endParaRPr lang="zh-CN" altLang="en-US" sz="1200"/>
        </a:p>
      </dgm:t>
    </dgm:pt>
    <dgm:pt modelId="{598487BF-FFB9-4081-A15B-ECCC2783ADA7}" type="sibTrans" cxnId="{1AF1FC12-5051-4EF3-87C4-4A832FEAEA83}">
      <dgm:prSet/>
      <dgm:spPr/>
      <dgm:t>
        <a:bodyPr/>
        <a:lstStyle/>
        <a:p>
          <a:endParaRPr lang="zh-CN" altLang="en-US" sz="1200"/>
        </a:p>
      </dgm:t>
    </dgm:pt>
    <dgm:pt modelId="{D57F2E04-9379-417A-BE18-719B2666591E}" type="pres">
      <dgm:prSet presAssocID="{7C9B9D23-B13C-476B-BD90-8B14195510C6}" presName="linear" presStyleCnt="0">
        <dgm:presLayoutVars>
          <dgm:dir/>
          <dgm:animLvl val="lvl"/>
          <dgm:resizeHandles val="exact"/>
        </dgm:presLayoutVars>
      </dgm:prSet>
      <dgm:spPr/>
    </dgm:pt>
    <dgm:pt modelId="{FC8043EA-3D9E-49CF-B9F2-A54D293E2689}" type="pres">
      <dgm:prSet presAssocID="{3615C5C2-A91F-44A0-833F-30810711E8CB}" presName="parentLin" presStyleCnt="0"/>
      <dgm:spPr/>
    </dgm:pt>
    <dgm:pt modelId="{DCF96FF5-2B44-4352-BB31-DAB7F9CE809F}" type="pres">
      <dgm:prSet presAssocID="{3615C5C2-A91F-44A0-833F-30810711E8CB}" presName="parentLeftMargin" presStyleLbl="node1" presStyleIdx="0" presStyleCnt="1"/>
      <dgm:spPr/>
    </dgm:pt>
    <dgm:pt modelId="{A277970C-7D78-4458-AE3D-E1DD604D6FBB}" type="pres">
      <dgm:prSet presAssocID="{3615C5C2-A91F-44A0-833F-30810711E8CB}" presName="parentText" presStyleLbl="node1" presStyleIdx="0" presStyleCnt="1">
        <dgm:presLayoutVars>
          <dgm:chMax val="0"/>
          <dgm:bulletEnabled val="1"/>
        </dgm:presLayoutVars>
      </dgm:prSet>
      <dgm:spPr/>
    </dgm:pt>
    <dgm:pt modelId="{B244E256-F819-4688-B83A-98745EADC1C8}" type="pres">
      <dgm:prSet presAssocID="{3615C5C2-A91F-44A0-833F-30810711E8CB}" presName="negativeSpace" presStyleCnt="0"/>
      <dgm:spPr/>
    </dgm:pt>
    <dgm:pt modelId="{4A7F5907-9D62-471F-BF54-4CDA0587E9C5}" type="pres">
      <dgm:prSet presAssocID="{3615C5C2-A91F-44A0-833F-30810711E8CB}" presName="childText" presStyleLbl="conFgAcc1" presStyleIdx="0" presStyleCnt="1">
        <dgm:presLayoutVars>
          <dgm:bulletEnabled val="1"/>
        </dgm:presLayoutVars>
      </dgm:prSet>
      <dgm:spPr/>
    </dgm:pt>
  </dgm:ptLst>
  <dgm:cxnLst>
    <dgm:cxn modelId="{8A4E1F0D-F1A6-4844-A8CA-ADF14AA65B36}" type="presOf" srcId="{7C9B9D23-B13C-476B-BD90-8B14195510C6}" destId="{D57F2E04-9379-417A-BE18-719B2666591E}" srcOrd="0" destOrd="0" presId="urn:microsoft.com/office/officeart/2005/8/layout/list1"/>
    <dgm:cxn modelId="{1AF1FC12-5051-4EF3-87C4-4A832FEAEA83}" srcId="{3615C5C2-A91F-44A0-833F-30810711E8CB}" destId="{94BFCF56-C5D6-4AF7-9609-FE9CBD4605F1}" srcOrd="4" destOrd="0" parTransId="{E89A289D-A493-49C9-A8C1-EC30062C4B2B}" sibTransId="{598487BF-FFB9-4081-A15B-ECCC2783ADA7}"/>
    <dgm:cxn modelId="{B681D56F-5E65-45CD-B92D-18F989340033}" srcId="{7C9B9D23-B13C-476B-BD90-8B14195510C6}" destId="{3615C5C2-A91F-44A0-833F-30810711E8CB}" srcOrd="0" destOrd="0" parTransId="{6B24EEB8-8EEA-459C-AFCB-069FE5276A85}" sibTransId="{F4B6F550-7485-42D6-8EA5-6C84F53FB69B}"/>
    <dgm:cxn modelId="{62360B82-F81C-4DB4-B097-F65607F50DC2}" type="presOf" srcId="{3615C5C2-A91F-44A0-833F-30810711E8CB}" destId="{DCF96FF5-2B44-4352-BB31-DAB7F9CE809F}" srcOrd="0" destOrd="0" presId="urn:microsoft.com/office/officeart/2005/8/layout/list1"/>
    <dgm:cxn modelId="{43C41484-DD35-4098-BE00-58D98FBEF294}" srcId="{3615C5C2-A91F-44A0-833F-30810711E8CB}" destId="{1C4140D8-BA6D-477C-9A43-C3BDACFAB371}" srcOrd="3" destOrd="0" parTransId="{BB4F3DB4-71FF-4E10-A7D0-C8DB623621AE}" sibTransId="{89E2466F-C0AB-41DA-9EBA-8A34A81930C4}"/>
    <dgm:cxn modelId="{96F84A8F-78C2-48B4-B8E5-CFCD10687866}" srcId="{3615C5C2-A91F-44A0-833F-30810711E8CB}" destId="{44202D35-25C9-4028-A667-DD0C38A79D7A}" srcOrd="2" destOrd="0" parTransId="{8E9BE26D-F3A1-4EEB-9A88-74E846C83946}" sibTransId="{D9956E8C-0D94-445E-9905-A1280C73D587}"/>
    <dgm:cxn modelId="{D5112397-EB04-4931-81B6-05BB650A4760}" srcId="{3615C5C2-A91F-44A0-833F-30810711E8CB}" destId="{516C92E3-7BE2-4671-A7EE-3E92475E0D36}" srcOrd="1" destOrd="0" parTransId="{FE8E83EC-E806-4937-BED0-EC471EF02C8F}" sibTransId="{BDFA9AA3-FAE5-4E92-8FE6-B890DD01C8DE}"/>
    <dgm:cxn modelId="{EB7A58A6-A72D-4A25-AB09-A5C6E91A4297}" type="presOf" srcId="{516C92E3-7BE2-4671-A7EE-3E92475E0D36}" destId="{4A7F5907-9D62-471F-BF54-4CDA0587E9C5}" srcOrd="0" destOrd="1" presId="urn:microsoft.com/office/officeart/2005/8/layout/list1"/>
    <dgm:cxn modelId="{E53F56A7-064C-48BC-9365-105029DC762E}" type="presOf" srcId="{44202D35-25C9-4028-A667-DD0C38A79D7A}" destId="{4A7F5907-9D62-471F-BF54-4CDA0587E9C5}" srcOrd="0" destOrd="2" presId="urn:microsoft.com/office/officeart/2005/8/layout/list1"/>
    <dgm:cxn modelId="{30C956C2-626C-4370-947B-7B11576A2A5D}" type="presOf" srcId="{1C4140D8-BA6D-477C-9A43-C3BDACFAB371}" destId="{4A7F5907-9D62-471F-BF54-4CDA0587E9C5}" srcOrd="0" destOrd="3" presId="urn:microsoft.com/office/officeart/2005/8/layout/list1"/>
    <dgm:cxn modelId="{BA30EBC5-6CDC-4582-A4A9-CE432E63EBC2}" type="presOf" srcId="{3615C5C2-A91F-44A0-833F-30810711E8CB}" destId="{A277970C-7D78-4458-AE3D-E1DD604D6FBB}" srcOrd="1" destOrd="0" presId="urn:microsoft.com/office/officeart/2005/8/layout/list1"/>
    <dgm:cxn modelId="{7F9EE2E3-D83F-490E-A8A7-CF675797F248}" srcId="{3615C5C2-A91F-44A0-833F-30810711E8CB}" destId="{1A3FD955-819B-484A-B6F2-56A564E76426}" srcOrd="0" destOrd="0" parTransId="{FE93B7AC-FACA-48F5-87E6-AF94B18840AE}" sibTransId="{E9E93712-8550-4C63-A820-D89F3780BADC}"/>
    <dgm:cxn modelId="{A7AFEFE7-CF02-4A98-8737-D7FAE4881A0F}" type="presOf" srcId="{94BFCF56-C5D6-4AF7-9609-FE9CBD4605F1}" destId="{4A7F5907-9D62-471F-BF54-4CDA0587E9C5}" srcOrd="0" destOrd="4" presId="urn:microsoft.com/office/officeart/2005/8/layout/list1"/>
    <dgm:cxn modelId="{CC1AB6EB-D443-43E7-96D5-23999B25EEFE}" type="presOf" srcId="{1A3FD955-819B-484A-B6F2-56A564E76426}" destId="{4A7F5907-9D62-471F-BF54-4CDA0587E9C5}" srcOrd="0" destOrd="0" presId="urn:microsoft.com/office/officeart/2005/8/layout/list1"/>
    <dgm:cxn modelId="{F3D833FE-0A92-4F80-89D7-7038620F4843}" type="presParOf" srcId="{D57F2E04-9379-417A-BE18-719B2666591E}" destId="{FC8043EA-3D9E-49CF-B9F2-A54D293E2689}" srcOrd="0" destOrd="0" presId="urn:microsoft.com/office/officeart/2005/8/layout/list1"/>
    <dgm:cxn modelId="{8A8921B9-DFC9-450F-8B9D-34EFAEB81E55}" type="presParOf" srcId="{FC8043EA-3D9E-49CF-B9F2-A54D293E2689}" destId="{DCF96FF5-2B44-4352-BB31-DAB7F9CE809F}" srcOrd="0" destOrd="0" presId="urn:microsoft.com/office/officeart/2005/8/layout/list1"/>
    <dgm:cxn modelId="{413479F1-6940-456E-871F-89358DCB1AA3}" type="presParOf" srcId="{FC8043EA-3D9E-49CF-B9F2-A54D293E2689}" destId="{A277970C-7D78-4458-AE3D-E1DD604D6FBB}" srcOrd="1" destOrd="0" presId="urn:microsoft.com/office/officeart/2005/8/layout/list1"/>
    <dgm:cxn modelId="{A75F1325-9081-4CB8-A763-0756D2B2BD4A}" type="presParOf" srcId="{D57F2E04-9379-417A-BE18-719B2666591E}" destId="{B244E256-F819-4688-B83A-98745EADC1C8}" srcOrd="1" destOrd="0" presId="urn:microsoft.com/office/officeart/2005/8/layout/list1"/>
    <dgm:cxn modelId="{4853EB05-A2EF-4F8F-B65E-683CA73F4156}" type="presParOf" srcId="{D57F2E04-9379-417A-BE18-719B2666591E}" destId="{4A7F5907-9D62-471F-BF54-4CDA0587E9C5}"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999243-818B-4A7D-A280-D5864E879C5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CN" altLang="en-US"/>
        </a:p>
      </dgm:t>
    </dgm:pt>
    <dgm:pt modelId="{5AC274BA-94A5-4EDD-9BE8-6883C9955517}">
      <dgm:prSet custT="1"/>
      <dgm:spPr/>
      <dgm:t>
        <a:bodyPr/>
        <a:lstStyle/>
        <a:p>
          <a:r>
            <a:rPr lang="zh-CN" altLang="en-US" sz="2000" b="0" i="0" dirty="0"/>
            <a:t>业务算法驱动系统打破静止，发生</a:t>
          </a:r>
          <a:r>
            <a:rPr lang="zh-CN" altLang="en-US" sz="2000" b="1" i="0" dirty="0">
              <a:solidFill>
                <a:srgbClr val="00D4FF"/>
              </a:solidFill>
            </a:rPr>
            <a:t>状态跃迁</a:t>
          </a:r>
          <a:r>
            <a:rPr lang="zh-CN" altLang="en-US" sz="2000" b="0" i="0" dirty="0">
              <a:solidFill>
                <a:srgbClr val="00D4FF"/>
              </a:solidFill>
            </a:rPr>
            <a:t>。</a:t>
          </a:r>
          <a:r>
            <a:rPr lang="zh-CN" altLang="en-US" sz="2000" b="1" i="0" dirty="0">
              <a:solidFill>
                <a:srgbClr val="00D4FF"/>
              </a:solidFill>
            </a:rPr>
            <a:t>三层</a:t>
          </a:r>
          <a:r>
            <a:rPr lang="zh-CN" altLang="en-US" sz="2000" b="0" i="0" dirty="0"/>
            <a:t>结构：</a:t>
          </a:r>
          <a:endParaRPr lang="zh-CN" altLang="en-US" sz="2000" dirty="0"/>
        </a:p>
      </dgm:t>
    </dgm:pt>
    <dgm:pt modelId="{A42E51D0-81B4-4BDC-9C2C-8436D4252594}" type="parTrans" cxnId="{521F0678-8153-4903-8ECE-7665FFC91AA2}">
      <dgm:prSet/>
      <dgm:spPr/>
      <dgm:t>
        <a:bodyPr/>
        <a:lstStyle/>
        <a:p>
          <a:endParaRPr lang="zh-CN" altLang="en-US" sz="2000"/>
        </a:p>
      </dgm:t>
    </dgm:pt>
    <dgm:pt modelId="{B4FAE9E8-D1E6-4043-AA27-4ADB07A81D32}" type="sibTrans" cxnId="{521F0678-8153-4903-8ECE-7665FFC91AA2}">
      <dgm:prSet/>
      <dgm:spPr/>
      <dgm:t>
        <a:bodyPr/>
        <a:lstStyle/>
        <a:p>
          <a:endParaRPr lang="zh-CN" altLang="en-US" sz="2000"/>
        </a:p>
      </dgm:t>
    </dgm:pt>
    <dgm:pt modelId="{C915815B-B947-4784-A832-104D0BB25DFF}">
      <dgm:prSet custT="1"/>
      <dgm:spPr/>
      <dgm:t>
        <a:bodyPr/>
        <a:lstStyle/>
        <a:p>
          <a:r>
            <a:rPr lang="zh-CN" sz="1400" b="1" i="0" dirty="0"/>
            <a:t>微观层：元算子</a:t>
          </a:r>
          <a:br>
            <a:rPr lang="zh-CN" sz="1400" b="0" i="0" dirty="0"/>
          </a:br>
          <a:r>
            <a:rPr lang="zh-CN" sz="1400" b="0" i="0" dirty="0"/>
            <a:t>最底层的逻辑动词</a:t>
          </a:r>
          <a:r>
            <a:rPr lang="en-US" sz="1400" b="0" i="0" dirty="0"/>
            <a:t>——</a:t>
          </a:r>
          <a:r>
            <a:rPr lang="zh-CN" sz="1400" b="0" i="0" dirty="0"/>
            <a:t>优先级排序、拓扑展开</a:t>
          </a:r>
          <a:r>
            <a:rPr lang="zh-CN" altLang="en-US" sz="1400" b="0" i="0" dirty="0"/>
            <a:t>（价值链网络）</a:t>
          </a:r>
          <a:r>
            <a:rPr lang="zh-CN" sz="1400" b="0" i="0" dirty="0"/>
            <a:t>、齐套计算</a:t>
          </a:r>
          <a:r>
            <a:rPr lang="zh-CN" altLang="en-US" sz="1400" b="0" i="0" dirty="0"/>
            <a:t>等</a:t>
          </a:r>
          <a:r>
            <a:rPr lang="zh-CN" sz="1400" b="0" i="0" dirty="0"/>
            <a:t>。</a:t>
          </a:r>
          <a:endParaRPr lang="zh-CN" sz="1400" dirty="0"/>
        </a:p>
      </dgm:t>
    </dgm:pt>
    <dgm:pt modelId="{84A351CD-5514-427E-9EB4-48A6078A31CF}" type="parTrans" cxnId="{466CBC1D-43BE-4176-8FEA-827031692FF2}">
      <dgm:prSet/>
      <dgm:spPr/>
      <dgm:t>
        <a:bodyPr/>
        <a:lstStyle/>
        <a:p>
          <a:endParaRPr lang="zh-CN" altLang="en-US" sz="2000"/>
        </a:p>
      </dgm:t>
    </dgm:pt>
    <dgm:pt modelId="{3738FAA7-4586-4085-BD98-242B421969AA}" type="sibTrans" cxnId="{466CBC1D-43BE-4176-8FEA-827031692FF2}">
      <dgm:prSet/>
      <dgm:spPr/>
      <dgm:t>
        <a:bodyPr/>
        <a:lstStyle/>
        <a:p>
          <a:endParaRPr lang="zh-CN" altLang="en-US" sz="2000"/>
        </a:p>
      </dgm:t>
    </dgm:pt>
    <dgm:pt modelId="{76524AD6-5025-4B68-98D7-047A67074511}">
      <dgm:prSet custT="1"/>
      <dgm:spPr/>
      <dgm:t>
        <a:bodyPr/>
        <a:lstStyle/>
        <a:p>
          <a:r>
            <a:rPr lang="zh-CN" altLang="en-US" sz="1400" b="1" i="0" dirty="0"/>
            <a:t>中观层：编排</a:t>
          </a:r>
          <a:br>
            <a:rPr lang="zh-CN" altLang="en-US" sz="1400" b="0" i="0" dirty="0"/>
          </a:br>
          <a:r>
            <a:rPr lang="zh-CN" altLang="en-US" sz="1400" b="0" i="0" dirty="0"/>
            <a:t>定义算子的调用顺序、并发路径、约束妥协逻辑。</a:t>
          </a:r>
        </a:p>
        <a:p>
          <a:r>
            <a:rPr lang="zh-CN" altLang="en-US" sz="1400" b="0" i="0" dirty="0"/>
            <a:t>编排的本质，是“计算→判断→再计算”的有限步数循环。算完一个需求，判断它分到哪个节点；分完一个，再算下一个。每一步都在穷举约束规则和条件分支，每一步都在剪枝。</a:t>
          </a:r>
        </a:p>
        <a:p>
          <a:r>
            <a:rPr lang="zh-CN" altLang="en-US" sz="1400" b="0" i="0" dirty="0"/>
            <a:t>它不是乘法式穷举（</a:t>
          </a:r>
          <a:r>
            <a:rPr lang="en-US" altLang="en-US" sz="1400" b="0" i="0" dirty="0"/>
            <a:t>N!</a:t>
          </a:r>
          <a:r>
            <a:rPr lang="zh-CN" altLang="en-US" sz="1400" b="0" i="0" dirty="0"/>
            <a:t>），是加法式穷举（有限步数的条件判断）。所以碳基扛不住，硅基能跑。</a:t>
          </a:r>
        </a:p>
        <a:p>
          <a:r>
            <a:rPr lang="zh-CN" altLang="en-US" sz="1400" b="0" i="0" dirty="0"/>
            <a:t>所有分支跑完，所有约束筛过，解空间收敛到在给定战略意志</a:t>
          </a:r>
          <a:r>
            <a:rPr lang="en-US" altLang="en-US" sz="1400" b="0" i="0" dirty="0"/>
            <a:t>M</a:t>
          </a:r>
          <a:r>
            <a:rPr lang="zh-CN" altLang="en-US" sz="1400" b="0" i="0" dirty="0"/>
            <a:t>下的</a:t>
          </a:r>
          <a:r>
            <a:rPr lang="zh-CN" altLang="en-US" sz="1800" b="1" i="0" dirty="0">
              <a:solidFill>
                <a:srgbClr val="00D4FF"/>
              </a:solidFill>
            </a:rPr>
            <a:t>确定性最优解</a:t>
          </a:r>
          <a:r>
            <a:rPr lang="zh-CN" altLang="en-US" sz="1400" b="0" i="0" dirty="0"/>
            <a:t>。</a:t>
          </a:r>
          <a:endParaRPr lang="zh-CN" altLang="en-US" sz="1400" dirty="0"/>
        </a:p>
      </dgm:t>
    </dgm:pt>
    <dgm:pt modelId="{8A67523A-0C91-4A18-BCE4-9823D6E91DB8}" type="parTrans" cxnId="{DEF1E9C4-EF1D-4504-9CD1-15757F1F9F71}">
      <dgm:prSet/>
      <dgm:spPr/>
      <dgm:t>
        <a:bodyPr/>
        <a:lstStyle/>
        <a:p>
          <a:endParaRPr lang="zh-CN" altLang="en-US" sz="2000"/>
        </a:p>
      </dgm:t>
    </dgm:pt>
    <dgm:pt modelId="{7D717F44-B964-489F-B2AF-72F6943DE368}" type="sibTrans" cxnId="{DEF1E9C4-EF1D-4504-9CD1-15757F1F9F71}">
      <dgm:prSet/>
      <dgm:spPr/>
      <dgm:t>
        <a:bodyPr/>
        <a:lstStyle/>
        <a:p>
          <a:endParaRPr lang="zh-CN" altLang="en-US" sz="2000"/>
        </a:p>
      </dgm:t>
    </dgm:pt>
    <dgm:pt modelId="{A776690D-AAE9-406E-86E1-46617E74007C}">
      <dgm:prSet custT="1"/>
      <dgm:spPr/>
      <dgm:t>
        <a:bodyPr/>
        <a:lstStyle/>
        <a:p>
          <a:r>
            <a:rPr lang="zh-CN" sz="1400" b="1" i="0" dirty="0"/>
            <a:t>宏观层：</a:t>
          </a:r>
          <a:r>
            <a:rPr lang="zh-CN" sz="1800" b="1" i="0" dirty="0">
              <a:solidFill>
                <a:srgbClr val="00D4FF"/>
              </a:solidFill>
            </a:rPr>
            <a:t>涌现</a:t>
          </a:r>
          <a:br>
            <a:rPr lang="zh-CN" sz="1400" b="0" i="0" dirty="0"/>
          </a:br>
          <a:r>
            <a:rPr lang="zh-CN" sz="1400" b="0" i="0" dirty="0"/>
            <a:t>底层元算子</a:t>
          </a:r>
          <a:r>
            <a:rPr lang="en-US" sz="1400" b="0" i="0" dirty="0"/>
            <a:t>+</a:t>
          </a:r>
          <a:r>
            <a:rPr lang="zh-CN" sz="1400" b="0" i="0" dirty="0"/>
            <a:t>编排引擎高频运转时，自然涌现出</a:t>
          </a:r>
          <a:r>
            <a:rPr lang="en-US" sz="1400" b="0" i="0" dirty="0"/>
            <a:t>IBP(</a:t>
          </a:r>
          <a:r>
            <a:rPr lang="zh-CN" altLang="en-US" sz="1400" b="0" i="0" dirty="0"/>
            <a:t>战略层</a:t>
          </a:r>
          <a:r>
            <a:rPr lang="en-US" sz="1400" b="0" i="0" dirty="0"/>
            <a:t>)</a:t>
          </a:r>
          <a:r>
            <a:rPr lang="zh-CN" sz="1400" b="0" i="0" dirty="0"/>
            <a:t>、</a:t>
          </a:r>
          <a:r>
            <a:rPr lang="en-US" sz="1400" b="0" i="0" dirty="0"/>
            <a:t>ITP</a:t>
          </a:r>
          <a:r>
            <a:rPr lang="zh-CN" altLang="en-US" sz="1400" b="0" i="0" dirty="0"/>
            <a:t>（战术）</a:t>
          </a:r>
          <a:r>
            <a:rPr lang="zh-CN" sz="1400" b="0" i="0" dirty="0"/>
            <a:t>、</a:t>
          </a:r>
          <a:r>
            <a:rPr lang="en-US" sz="1400" b="0" i="0" dirty="0"/>
            <a:t>IOP</a:t>
          </a:r>
          <a:r>
            <a:rPr lang="zh-CN" altLang="en-US" sz="1400" b="0" i="0" dirty="0"/>
            <a:t>（运营）</a:t>
          </a:r>
          <a:r>
            <a:rPr lang="zh-CN" sz="1400" b="0" i="0" dirty="0"/>
            <a:t>、</a:t>
          </a:r>
          <a:r>
            <a:rPr lang="en-US" sz="1400" b="0" i="0" dirty="0"/>
            <a:t>Control Tower</a:t>
          </a:r>
          <a:r>
            <a:rPr lang="zh-CN" sz="1400" b="0" i="0" dirty="0"/>
            <a:t>。</a:t>
          </a:r>
          <a:endParaRPr lang="zh-CN" sz="1400" dirty="0"/>
        </a:p>
      </dgm:t>
    </dgm:pt>
    <dgm:pt modelId="{49EEA559-847E-4056-A52E-D5DA3063A358}" type="parTrans" cxnId="{4DC80BB8-128F-4E16-AC2B-5AFE3A71B1D8}">
      <dgm:prSet/>
      <dgm:spPr/>
      <dgm:t>
        <a:bodyPr/>
        <a:lstStyle/>
        <a:p>
          <a:endParaRPr lang="zh-CN" altLang="en-US" sz="2000"/>
        </a:p>
      </dgm:t>
    </dgm:pt>
    <dgm:pt modelId="{1DF8715F-E1A6-4A66-8018-AF2B04AB56FF}" type="sibTrans" cxnId="{4DC80BB8-128F-4E16-AC2B-5AFE3A71B1D8}">
      <dgm:prSet/>
      <dgm:spPr/>
      <dgm:t>
        <a:bodyPr/>
        <a:lstStyle/>
        <a:p>
          <a:endParaRPr lang="zh-CN" altLang="en-US" sz="2000"/>
        </a:p>
      </dgm:t>
    </dgm:pt>
    <dgm:pt modelId="{374A9ADB-798E-4EEF-917B-6AC35C5964A7}" type="pres">
      <dgm:prSet presAssocID="{5A999243-818B-4A7D-A280-D5864E879C5C}" presName="vert0" presStyleCnt="0">
        <dgm:presLayoutVars>
          <dgm:dir/>
          <dgm:animOne val="branch"/>
          <dgm:animLvl val="lvl"/>
        </dgm:presLayoutVars>
      </dgm:prSet>
      <dgm:spPr/>
    </dgm:pt>
    <dgm:pt modelId="{D8A72580-CABF-48E3-A917-D77494FFEFB0}" type="pres">
      <dgm:prSet presAssocID="{5AC274BA-94A5-4EDD-9BE8-6883C9955517}" presName="thickLine" presStyleLbl="alignNode1" presStyleIdx="0" presStyleCnt="1"/>
      <dgm:spPr/>
    </dgm:pt>
    <dgm:pt modelId="{EC8AF942-0DCD-45D2-B804-C1C60D3CB1B5}" type="pres">
      <dgm:prSet presAssocID="{5AC274BA-94A5-4EDD-9BE8-6883C9955517}" presName="horz1" presStyleCnt="0"/>
      <dgm:spPr/>
    </dgm:pt>
    <dgm:pt modelId="{7EB1AF81-B7B0-4E9A-9A42-CEA2CD34166B}" type="pres">
      <dgm:prSet presAssocID="{5AC274BA-94A5-4EDD-9BE8-6883C9955517}" presName="tx1" presStyleLbl="revTx" presStyleIdx="0" presStyleCnt="4"/>
      <dgm:spPr/>
    </dgm:pt>
    <dgm:pt modelId="{633AD7A9-5923-4B47-ACF4-72B878BEF707}" type="pres">
      <dgm:prSet presAssocID="{5AC274BA-94A5-4EDD-9BE8-6883C9955517}" presName="vert1" presStyleCnt="0"/>
      <dgm:spPr/>
    </dgm:pt>
    <dgm:pt modelId="{FF5C6B56-1BA6-4EBF-B842-FD6647316BEB}" type="pres">
      <dgm:prSet presAssocID="{C915815B-B947-4784-A832-104D0BB25DFF}" presName="vertSpace2a" presStyleCnt="0"/>
      <dgm:spPr/>
    </dgm:pt>
    <dgm:pt modelId="{C6FC2B38-7D66-4DD5-BCDB-BA4B59DF40C3}" type="pres">
      <dgm:prSet presAssocID="{C915815B-B947-4784-A832-104D0BB25DFF}" presName="horz2" presStyleCnt="0"/>
      <dgm:spPr/>
    </dgm:pt>
    <dgm:pt modelId="{0FB3A634-AECE-4561-AE49-69C1BE7B0EEC}" type="pres">
      <dgm:prSet presAssocID="{C915815B-B947-4784-A832-104D0BB25DFF}" presName="horzSpace2" presStyleCnt="0"/>
      <dgm:spPr/>
    </dgm:pt>
    <dgm:pt modelId="{FAF8E70A-BDA6-4C77-BC00-A9776035B681}" type="pres">
      <dgm:prSet presAssocID="{C915815B-B947-4784-A832-104D0BB25DFF}" presName="tx2" presStyleLbl="revTx" presStyleIdx="1" presStyleCnt="4"/>
      <dgm:spPr/>
    </dgm:pt>
    <dgm:pt modelId="{C7ADB844-6DB1-4CEE-9B2C-072473CDD12C}" type="pres">
      <dgm:prSet presAssocID="{C915815B-B947-4784-A832-104D0BB25DFF}" presName="vert2" presStyleCnt="0"/>
      <dgm:spPr/>
    </dgm:pt>
    <dgm:pt modelId="{6973B2FD-6000-4DA4-8DC4-7ECB6FD9DDA6}" type="pres">
      <dgm:prSet presAssocID="{C915815B-B947-4784-A832-104D0BB25DFF}" presName="thinLine2b" presStyleLbl="callout" presStyleIdx="0" presStyleCnt="3" custLinFactY="-700000" custLinFactNeighborX="934" custLinFactNeighborY="-790729"/>
      <dgm:spPr/>
    </dgm:pt>
    <dgm:pt modelId="{A922722E-38B3-4A75-B73A-D77326AF4771}" type="pres">
      <dgm:prSet presAssocID="{C915815B-B947-4784-A832-104D0BB25DFF}" presName="vertSpace2b" presStyleCnt="0"/>
      <dgm:spPr/>
    </dgm:pt>
    <dgm:pt modelId="{C02B2F30-E3DF-4CD9-B615-FEED0D73E8E3}" type="pres">
      <dgm:prSet presAssocID="{76524AD6-5025-4B68-98D7-047A67074511}" presName="horz2" presStyleCnt="0"/>
      <dgm:spPr/>
    </dgm:pt>
    <dgm:pt modelId="{D822996B-6923-4FAF-8D92-28572A85C63E}" type="pres">
      <dgm:prSet presAssocID="{76524AD6-5025-4B68-98D7-047A67074511}" presName="horzSpace2" presStyleCnt="0"/>
      <dgm:spPr/>
    </dgm:pt>
    <dgm:pt modelId="{094E1AE9-9C60-423B-9B09-FED266D48644}" type="pres">
      <dgm:prSet presAssocID="{76524AD6-5025-4B68-98D7-047A67074511}" presName="tx2" presStyleLbl="revTx" presStyleIdx="2" presStyleCnt="4" custLinFactNeighborX="-1377" custLinFactNeighborY="-45443"/>
      <dgm:spPr/>
    </dgm:pt>
    <dgm:pt modelId="{2C83CC43-A951-43A2-8AFD-9C0E8C4ABBC9}" type="pres">
      <dgm:prSet presAssocID="{76524AD6-5025-4B68-98D7-047A67074511}" presName="vert2" presStyleCnt="0"/>
      <dgm:spPr/>
    </dgm:pt>
    <dgm:pt modelId="{C9DF4D08-5429-4ABE-9D29-D78F02E4E9C9}" type="pres">
      <dgm:prSet presAssocID="{76524AD6-5025-4B68-98D7-047A67074511}" presName="thinLine2b" presStyleLbl="callout" presStyleIdx="1" presStyleCnt="3"/>
      <dgm:spPr/>
    </dgm:pt>
    <dgm:pt modelId="{3B2AEF04-7A91-436D-A2D8-AB70641E67AD}" type="pres">
      <dgm:prSet presAssocID="{76524AD6-5025-4B68-98D7-047A67074511}" presName="vertSpace2b" presStyleCnt="0"/>
      <dgm:spPr/>
    </dgm:pt>
    <dgm:pt modelId="{E657DCB1-EEE3-4155-96EB-09366C04790E}" type="pres">
      <dgm:prSet presAssocID="{A776690D-AAE9-406E-86E1-46617E74007C}" presName="horz2" presStyleCnt="0"/>
      <dgm:spPr/>
    </dgm:pt>
    <dgm:pt modelId="{F2003088-70BD-40A3-B066-16983C16F0D3}" type="pres">
      <dgm:prSet presAssocID="{A776690D-AAE9-406E-86E1-46617E74007C}" presName="horzSpace2" presStyleCnt="0"/>
      <dgm:spPr/>
    </dgm:pt>
    <dgm:pt modelId="{32534C63-C6EB-48F2-8B56-94EEB7C0390C}" type="pres">
      <dgm:prSet presAssocID="{A776690D-AAE9-406E-86E1-46617E74007C}" presName="tx2" presStyleLbl="revTx" presStyleIdx="3" presStyleCnt="4" custScaleY="51575"/>
      <dgm:spPr/>
    </dgm:pt>
    <dgm:pt modelId="{F740662B-9B99-42CE-AC05-C94C8EE8B3BB}" type="pres">
      <dgm:prSet presAssocID="{A776690D-AAE9-406E-86E1-46617E74007C}" presName="vert2" presStyleCnt="0"/>
      <dgm:spPr/>
    </dgm:pt>
    <dgm:pt modelId="{86F2620A-49C3-4944-84F2-81DD943451F8}" type="pres">
      <dgm:prSet presAssocID="{A776690D-AAE9-406E-86E1-46617E74007C}" presName="thinLine2b" presStyleLbl="callout" presStyleIdx="2" presStyleCnt="3"/>
      <dgm:spPr/>
    </dgm:pt>
    <dgm:pt modelId="{47D5F379-0F31-470B-9586-CCA81E39A57D}" type="pres">
      <dgm:prSet presAssocID="{A776690D-AAE9-406E-86E1-46617E74007C}" presName="vertSpace2b" presStyleCnt="0"/>
      <dgm:spPr/>
    </dgm:pt>
  </dgm:ptLst>
  <dgm:cxnLst>
    <dgm:cxn modelId="{466CBC1D-43BE-4176-8FEA-827031692FF2}" srcId="{5AC274BA-94A5-4EDD-9BE8-6883C9955517}" destId="{C915815B-B947-4784-A832-104D0BB25DFF}" srcOrd="0" destOrd="0" parTransId="{84A351CD-5514-427E-9EB4-48A6078A31CF}" sibTransId="{3738FAA7-4586-4085-BD98-242B421969AA}"/>
    <dgm:cxn modelId="{2EC6C364-FFAE-4151-8640-F67DFAFBCCE4}" type="presOf" srcId="{76524AD6-5025-4B68-98D7-047A67074511}" destId="{094E1AE9-9C60-423B-9B09-FED266D48644}" srcOrd="0" destOrd="0" presId="urn:microsoft.com/office/officeart/2008/layout/LinedList"/>
    <dgm:cxn modelId="{8C5EC172-D604-475B-8776-7896FF8F8128}" type="presOf" srcId="{5A999243-818B-4A7D-A280-D5864E879C5C}" destId="{374A9ADB-798E-4EEF-917B-6AC35C5964A7}" srcOrd="0" destOrd="0" presId="urn:microsoft.com/office/officeart/2008/layout/LinedList"/>
    <dgm:cxn modelId="{521F0678-8153-4903-8ECE-7665FFC91AA2}" srcId="{5A999243-818B-4A7D-A280-D5864E879C5C}" destId="{5AC274BA-94A5-4EDD-9BE8-6883C9955517}" srcOrd="0" destOrd="0" parTransId="{A42E51D0-81B4-4BDC-9C2C-8436D4252594}" sibTransId="{B4FAE9E8-D1E6-4043-AA27-4ADB07A81D32}"/>
    <dgm:cxn modelId="{C7D4AF94-CAC3-47E2-A1FB-BDBC527FE8E4}" type="presOf" srcId="{5AC274BA-94A5-4EDD-9BE8-6883C9955517}" destId="{7EB1AF81-B7B0-4E9A-9A42-CEA2CD34166B}" srcOrd="0" destOrd="0" presId="urn:microsoft.com/office/officeart/2008/layout/LinedList"/>
    <dgm:cxn modelId="{4DC80BB8-128F-4E16-AC2B-5AFE3A71B1D8}" srcId="{5AC274BA-94A5-4EDD-9BE8-6883C9955517}" destId="{A776690D-AAE9-406E-86E1-46617E74007C}" srcOrd="2" destOrd="0" parTransId="{49EEA559-847E-4056-A52E-D5DA3063A358}" sibTransId="{1DF8715F-E1A6-4A66-8018-AF2B04AB56FF}"/>
    <dgm:cxn modelId="{DEF1E9C4-EF1D-4504-9CD1-15757F1F9F71}" srcId="{5AC274BA-94A5-4EDD-9BE8-6883C9955517}" destId="{76524AD6-5025-4B68-98D7-047A67074511}" srcOrd="1" destOrd="0" parTransId="{8A67523A-0C91-4A18-BCE4-9823D6E91DB8}" sibTransId="{7D717F44-B964-489F-B2AF-72F6943DE368}"/>
    <dgm:cxn modelId="{C806BACB-57F3-4275-9437-2810B363A26F}" type="presOf" srcId="{C915815B-B947-4784-A832-104D0BB25DFF}" destId="{FAF8E70A-BDA6-4C77-BC00-A9776035B681}" srcOrd="0" destOrd="0" presId="urn:microsoft.com/office/officeart/2008/layout/LinedList"/>
    <dgm:cxn modelId="{B25F7DFB-44B4-401A-969E-6E60DF3BD9D5}" type="presOf" srcId="{A776690D-AAE9-406E-86E1-46617E74007C}" destId="{32534C63-C6EB-48F2-8B56-94EEB7C0390C}" srcOrd="0" destOrd="0" presId="urn:microsoft.com/office/officeart/2008/layout/LinedList"/>
    <dgm:cxn modelId="{C9690B84-C163-4334-8845-B8E9FFE82B5E}" type="presParOf" srcId="{374A9ADB-798E-4EEF-917B-6AC35C5964A7}" destId="{D8A72580-CABF-48E3-A917-D77494FFEFB0}" srcOrd="0" destOrd="0" presId="urn:microsoft.com/office/officeart/2008/layout/LinedList"/>
    <dgm:cxn modelId="{4F9999A3-F331-470B-918C-C98D234313BA}" type="presParOf" srcId="{374A9ADB-798E-4EEF-917B-6AC35C5964A7}" destId="{EC8AF942-0DCD-45D2-B804-C1C60D3CB1B5}" srcOrd="1" destOrd="0" presId="urn:microsoft.com/office/officeart/2008/layout/LinedList"/>
    <dgm:cxn modelId="{B784CAAD-DF5B-4398-909B-73235B78699A}" type="presParOf" srcId="{EC8AF942-0DCD-45D2-B804-C1C60D3CB1B5}" destId="{7EB1AF81-B7B0-4E9A-9A42-CEA2CD34166B}" srcOrd="0" destOrd="0" presId="urn:microsoft.com/office/officeart/2008/layout/LinedList"/>
    <dgm:cxn modelId="{A6D0BAC3-816D-4085-8178-B98F81E68558}" type="presParOf" srcId="{EC8AF942-0DCD-45D2-B804-C1C60D3CB1B5}" destId="{633AD7A9-5923-4B47-ACF4-72B878BEF707}" srcOrd="1" destOrd="0" presId="urn:microsoft.com/office/officeart/2008/layout/LinedList"/>
    <dgm:cxn modelId="{5AB68D9E-80DA-4611-8F40-3BB6649427CE}" type="presParOf" srcId="{633AD7A9-5923-4B47-ACF4-72B878BEF707}" destId="{FF5C6B56-1BA6-4EBF-B842-FD6647316BEB}" srcOrd="0" destOrd="0" presId="urn:microsoft.com/office/officeart/2008/layout/LinedList"/>
    <dgm:cxn modelId="{2A4E9B13-510B-4C29-B41F-DCF69EECFFC9}" type="presParOf" srcId="{633AD7A9-5923-4B47-ACF4-72B878BEF707}" destId="{C6FC2B38-7D66-4DD5-BCDB-BA4B59DF40C3}" srcOrd="1" destOrd="0" presId="urn:microsoft.com/office/officeart/2008/layout/LinedList"/>
    <dgm:cxn modelId="{8BE60905-D395-4036-9CE5-25630CC51313}" type="presParOf" srcId="{C6FC2B38-7D66-4DD5-BCDB-BA4B59DF40C3}" destId="{0FB3A634-AECE-4561-AE49-69C1BE7B0EEC}" srcOrd="0" destOrd="0" presId="urn:microsoft.com/office/officeart/2008/layout/LinedList"/>
    <dgm:cxn modelId="{8D40BDDB-EEA6-4D8E-9703-5DCAEAD0131F}" type="presParOf" srcId="{C6FC2B38-7D66-4DD5-BCDB-BA4B59DF40C3}" destId="{FAF8E70A-BDA6-4C77-BC00-A9776035B681}" srcOrd="1" destOrd="0" presId="urn:microsoft.com/office/officeart/2008/layout/LinedList"/>
    <dgm:cxn modelId="{9D70548E-CC69-448D-AA69-FFB86D42FF01}" type="presParOf" srcId="{C6FC2B38-7D66-4DD5-BCDB-BA4B59DF40C3}" destId="{C7ADB844-6DB1-4CEE-9B2C-072473CDD12C}" srcOrd="2" destOrd="0" presId="urn:microsoft.com/office/officeart/2008/layout/LinedList"/>
    <dgm:cxn modelId="{5B2A1BEE-E009-4F81-ADD9-A7AB5109D499}" type="presParOf" srcId="{633AD7A9-5923-4B47-ACF4-72B878BEF707}" destId="{6973B2FD-6000-4DA4-8DC4-7ECB6FD9DDA6}" srcOrd="2" destOrd="0" presId="urn:microsoft.com/office/officeart/2008/layout/LinedList"/>
    <dgm:cxn modelId="{8D8884C8-1FD9-49EB-A1DD-D90C3E8C852A}" type="presParOf" srcId="{633AD7A9-5923-4B47-ACF4-72B878BEF707}" destId="{A922722E-38B3-4A75-B73A-D77326AF4771}" srcOrd="3" destOrd="0" presId="urn:microsoft.com/office/officeart/2008/layout/LinedList"/>
    <dgm:cxn modelId="{1AFC670C-E730-4D14-870F-C90AA30A622F}" type="presParOf" srcId="{633AD7A9-5923-4B47-ACF4-72B878BEF707}" destId="{C02B2F30-E3DF-4CD9-B615-FEED0D73E8E3}" srcOrd="4" destOrd="0" presId="urn:microsoft.com/office/officeart/2008/layout/LinedList"/>
    <dgm:cxn modelId="{407CAEA9-679B-47A9-BD09-356D4D17C231}" type="presParOf" srcId="{C02B2F30-E3DF-4CD9-B615-FEED0D73E8E3}" destId="{D822996B-6923-4FAF-8D92-28572A85C63E}" srcOrd="0" destOrd="0" presId="urn:microsoft.com/office/officeart/2008/layout/LinedList"/>
    <dgm:cxn modelId="{5FBCDFC0-875E-4148-9F73-B79EC8A7CDBD}" type="presParOf" srcId="{C02B2F30-E3DF-4CD9-B615-FEED0D73E8E3}" destId="{094E1AE9-9C60-423B-9B09-FED266D48644}" srcOrd="1" destOrd="0" presId="urn:microsoft.com/office/officeart/2008/layout/LinedList"/>
    <dgm:cxn modelId="{1A4572EE-681F-4BF3-A26D-EA9DA9EE4802}" type="presParOf" srcId="{C02B2F30-E3DF-4CD9-B615-FEED0D73E8E3}" destId="{2C83CC43-A951-43A2-8AFD-9C0E8C4ABBC9}" srcOrd="2" destOrd="0" presId="urn:microsoft.com/office/officeart/2008/layout/LinedList"/>
    <dgm:cxn modelId="{2AEEB839-BC4C-441D-A880-6756D62F603F}" type="presParOf" srcId="{633AD7A9-5923-4B47-ACF4-72B878BEF707}" destId="{C9DF4D08-5429-4ABE-9D29-D78F02E4E9C9}" srcOrd="5" destOrd="0" presId="urn:microsoft.com/office/officeart/2008/layout/LinedList"/>
    <dgm:cxn modelId="{7FB27D56-88B0-480D-BF5F-63F923A124AD}" type="presParOf" srcId="{633AD7A9-5923-4B47-ACF4-72B878BEF707}" destId="{3B2AEF04-7A91-436D-A2D8-AB70641E67AD}" srcOrd="6" destOrd="0" presId="urn:microsoft.com/office/officeart/2008/layout/LinedList"/>
    <dgm:cxn modelId="{92B7C642-5395-4529-8D6E-696CB6798F12}" type="presParOf" srcId="{633AD7A9-5923-4B47-ACF4-72B878BEF707}" destId="{E657DCB1-EEE3-4155-96EB-09366C04790E}" srcOrd="7" destOrd="0" presId="urn:microsoft.com/office/officeart/2008/layout/LinedList"/>
    <dgm:cxn modelId="{E1B36777-FC2F-4C05-98AD-C00F2A1F8D7B}" type="presParOf" srcId="{E657DCB1-EEE3-4155-96EB-09366C04790E}" destId="{F2003088-70BD-40A3-B066-16983C16F0D3}" srcOrd="0" destOrd="0" presId="urn:microsoft.com/office/officeart/2008/layout/LinedList"/>
    <dgm:cxn modelId="{37840A94-3F0F-42EE-8B00-94A07C1FF5CD}" type="presParOf" srcId="{E657DCB1-EEE3-4155-96EB-09366C04790E}" destId="{32534C63-C6EB-48F2-8B56-94EEB7C0390C}" srcOrd="1" destOrd="0" presId="urn:microsoft.com/office/officeart/2008/layout/LinedList"/>
    <dgm:cxn modelId="{1E07B51C-83B0-4631-B548-9B78D5E0B29F}" type="presParOf" srcId="{E657DCB1-EEE3-4155-96EB-09366C04790E}" destId="{F740662B-9B99-42CE-AC05-C94C8EE8B3BB}" srcOrd="2" destOrd="0" presId="urn:microsoft.com/office/officeart/2008/layout/LinedList"/>
    <dgm:cxn modelId="{56761133-50B1-41B3-ABE9-277F7B04D738}" type="presParOf" srcId="{633AD7A9-5923-4B47-ACF4-72B878BEF707}" destId="{86F2620A-49C3-4944-84F2-81DD943451F8}" srcOrd="8" destOrd="0" presId="urn:microsoft.com/office/officeart/2008/layout/LinedList"/>
    <dgm:cxn modelId="{F39A93A2-6986-441C-9B81-775AD924CC11}" type="presParOf" srcId="{633AD7A9-5923-4B47-ACF4-72B878BEF707}" destId="{47D5F379-0F31-470B-9586-CCA81E39A57D}"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FBE207A-D739-41DF-A659-A0A99F88F66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zh-CN" altLang="en-US"/>
        </a:p>
      </dgm:t>
    </dgm:pt>
    <dgm:pt modelId="{69E5BC42-C3AE-4AC8-B08C-1D0979040D42}">
      <dgm:prSet custT="1"/>
      <dgm:spPr/>
      <dgm:t>
        <a:bodyPr/>
        <a:lstStyle/>
        <a:p>
          <a:r>
            <a:rPr lang="zh-CN" altLang="en-US" sz="1600" b="1"/>
            <a:t>双螺旋的设计保障决策收敛于最优的不动点以提高决策质量。</a:t>
          </a:r>
        </a:p>
      </dgm:t>
    </dgm:pt>
    <dgm:pt modelId="{EF0A2E0E-2812-40FD-96E5-0A3FE846D86B}" type="parTrans" cxnId="{0870F68D-DB59-41F6-BC70-935C810BB560}">
      <dgm:prSet/>
      <dgm:spPr/>
      <dgm:t>
        <a:bodyPr/>
        <a:lstStyle/>
        <a:p>
          <a:endParaRPr lang="zh-CN" altLang="en-US" sz="2800" b="1"/>
        </a:p>
      </dgm:t>
    </dgm:pt>
    <dgm:pt modelId="{84D985E3-38E1-4231-A8F8-BBC739236FD6}" type="sibTrans" cxnId="{0870F68D-DB59-41F6-BC70-935C810BB560}">
      <dgm:prSet/>
      <dgm:spPr/>
      <dgm:t>
        <a:bodyPr/>
        <a:lstStyle/>
        <a:p>
          <a:endParaRPr lang="zh-CN" altLang="en-US" sz="2800" b="1"/>
        </a:p>
      </dgm:t>
    </dgm:pt>
    <dgm:pt modelId="{F3423E15-255F-4F7A-9D34-6A191853CF72}">
      <dgm:prSet custT="1"/>
      <dgm:spPr/>
      <dgm:t>
        <a:bodyPr/>
        <a:lstStyle/>
        <a:p>
          <a:r>
            <a:rPr lang="zh-CN" altLang="en-US" sz="1600" b="1"/>
            <a:t>然而决策速度是另一个需要跨过去的难关。</a:t>
          </a:r>
        </a:p>
      </dgm:t>
    </dgm:pt>
    <dgm:pt modelId="{363F5BF4-6B6B-45AD-9478-70B0AE4EFDB7}" type="parTrans" cxnId="{0B364207-F446-461E-9F6E-6E35F736699A}">
      <dgm:prSet/>
      <dgm:spPr/>
      <dgm:t>
        <a:bodyPr/>
        <a:lstStyle/>
        <a:p>
          <a:endParaRPr lang="zh-CN" altLang="en-US" sz="2800" b="1"/>
        </a:p>
      </dgm:t>
    </dgm:pt>
    <dgm:pt modelId="{1B61316C-7BA0-497A-82DA-39EAF493CCC7}" type="sibTrans" cxnId="{0B364207-F446-461E-9F6E-6E35F736699A}">
      <dgm:prSet/>
      <dgm:spPr/>
      <dgm:t>
        <a:bodyPr/>
        <a:lstStyle/>
        <a:p>
          <a:endParaRPr lang="zh-CN" altLang="en-US" sz="2800" b="1"/>
        </a:p>
      </dgm:t>
    </dgm:pt>
    <dgm:pt modelId="{F492CAAC-7F6D-4E16-BCA3-9445D8331823}">
      <dgm:prSet custT="1"/>
      <dgm:spPr/>
      <dgm:t>
        <a:bodyPr/>
        <a:lstStyle/>
        <a:p>
          <a:r>
            <a:rPr lang="zh-CN" altLang="en-US" sz="1600" b="1"/>
            <a:t>优化内存计算即精细设计数据结构算法：</a:t>
          </a:r>
        </a:p>
      </dgm:t>
    </dgm:pt>
    <dgm:pt modelId="{D5935F43-0E37-4287-9AD0-17F96B848F07}" type="parTrans" cxnId="{9CB3006E-DA68-48EF-B825-BBE0163DAFD3}">
      <dgm:prSet/>
      <dgm:spPr/>
      <dgm:t>
        <a:bodyPr/>
        <a:lstStyle/>
        <a:p>
          <a:endParaRPr lang="zh-CN" altLang="en-US" sz="2800" b="1"/>
        </a:p>
      </dgm:t>
    </dgm:pt>
    <dgm:pt modelId="{F079C5B6-63D7-41AA-82BC-3D723EFBF2CA}" type="sibTrans" cxnId="{9CB3006E-DA68-48EF-B825-BBE0163DAFD3}">
      <dgm:prSet/>
      <dgm:spPr/>
      <dgm:t>
        <a:bodyPr/>
        <a:lstStyle/>
        <a:p>
          <a:endParaRPr lang="zh-CN" altLang="en-US" sz="2800" b="1"/>
        </a:p>
      </dgm:t>
    </dgm:pt>
    <dgm:pt modelId="{81FC6789-0612-49D6-A263-488BC7968BB4}">
      <dgm:prSet custT="1"/>
      <dgm:spPr/>
      <dgm:t>
        <a:bodyPr/>
        <a:lstStyle/>
        <a:p>
          <a:r>
            <a:rPr lang="zh-CN" sz="1600" b="1"/>
            <a:t>抛弃业务对象，拥抱紧凑数组：数据连续存储，</a:t>
          </a:r>
          <a:r>
            <a:rPr lang="en-US" sz="1600" b="1"/>
            <a:t>CPU</a:t>
          </a:r>
          <a:r>
            <a:rPr lang="zh-CN" sz="1600" b="1"/>
            <a:t>缓存不失效。</a:t>
          </a:r>
        </a:p>
      </dgm:t>
    </dgm:pt>
    <dgm:pt modelId="{CCDFD4D4-FA7E-4E19-8AF2-C005E3BD67BE}" type="parTrans" cxnId="{356DC478-DDC3-4FE1-9EB6-11661C537E90}">
      <dgm:prSet/>
      <dgm:spPr/>
      <dgm:t>
        <a:bodyPr/>
        <a:lstStyle/>
        <a:p>
          <a:endParaRPr lang="zh-CN" altLang="en-US" sz="2800" b="1"/>
        </a:p>
      </dgm:t>
    </dgm:pt>
    <dgm:pt modelId="{0BFF9125-1513-4FA2-B405-CBACD1461FA1}" type="sibTrans" cxnId="{356DC478-DDC3-4FE1-9EB6-11661C537E90}">
      <dgm:prSet/>
      <dgm:spPr/>
      <dgm:t>
        <a:bodyPr/>
        <a:lstStyle/>
        <a:p>
          <a:endParaRPr lang="zh-CN" altLang="en-US" sz="2800" b="1"/>
        </a:p>
      </dgm:t>
    </dgm:pt>
    <dgm:pt modelId="{1D1A41CF-D584-4710-9E13-1302DD88360E}">
      <dgm:prSet custT="1"/>
      <dgm:spPr/>
      <dgm:t>
        <a:bodyPr/>
        <a:lstStyle/>
        <a:p>
          <a:r>
            <a:rPr lang="zh-CN" sz="1600" b="1"/>
            <a:t>抛弃逻辑判断，拥抱位图向量化：用数学运算取代</a:t>
          </a:r>
          <a:r>
            <a:rPr lang="en-US" sz="1600" b="1"/>
            <a:t>IF-ELSE</a:t>
          </a:r>
          <a:r>
            <a:rPr lang="zh-CN" sz="1600" b="1"/>
            <a:t>。</a:t>
          </a:r>
        </a:p>
      </dgm:t>
    </dgm:pt>
    <dgm:pt modelId="{1C9A3B32-D0C3-45DD-A706-444C5DF472EE}" type="parTrans" cxnId="{D0C58C69-B395-40CE-B7C0-383C5D199CC4}">
      <dgm:prSet/>
      <dgm:spPr/>
      <dgm:t>
        <a:bodyPr/>
        <a:lstStyle/>
        <a:p>
          <a:endParaRPr lang="zh-CN" altLang="en-US" sz="2800" b="1"/>
        </a:p>
      </dgm:t>
    </dgm:pt>
    <dgm:pt modelId="{4FA22BF6-13BB-4F6E-8EF8-84347F3FE0CF}" type="sibTrans" cxnId="{D0C58C69-B395-40CE-B7C0-383C5D199CC4}">
      <dgm:prSet/>
      <dgm:spPr/>
      <dgm:t>
        <a:bodyPr/>
        <a:lstStyle/>
        <a:p>
          <a:endParaRPr lang="zh-CN" altLang="en-US" sz="2800" b="1"/>
        </a:p>
      </dgm:t>
    </dgm:pt>
    <dgm:pt modelId="{DB9D0FD0-F17E-4AF2-B043-0CB9D2BE8677}">
      <dgm:prSet custT="1"/>
      <dgm:spPr/>
      <dgm:t>
        <a:bodyPr/>
        <a:lstStyle/>
        <a:p>
          <a:r>
            <a:rPr lang="zh-CN" sz="1600" b="1" dirty="0"/>
            <a:t>抛弃全局锁定，拥抱双层并行：业务解耦切片，</a:t>
          </a:r>
          <a:r>
            <a:rPr lang="en-US" sz="1600" b="1" dirty="0"/>
            <a:t>CPU</a:t>
          </a:r>
          <a:r>
            <a:rPr lang="zh-CN" sz="1600" b="1" dirty="0"/>
            <a:t>无锁并发。</a:t>
          </a:r>
        </a:p>
      </dgm:t>
    </dgm:pt>
    <dgm:pt modelId="{7F98421D-8ACE-4A78-A55A-0D86D6CE0D54}" type="parTrans" cxnId="{F08F82DE-34D1-4E83-9E0A-99D2488153EE}">
      <dgm:prSet/>
      <dgm:spPr/>
      <dgm:t>
        <a:bodyPr/>
        <a:lstStyle/>
        <a:p>
          <a:endParaRPr lang="zh-CN" altLang="en-US" sz="2800" b="1"/>
        </a:p>
      </dgm:t>
    </dgm:pt>
    <dgm:pt modelId="{31FD2047-0897-498D-9C84-0C7A94FC3151}" type="sibTrans" cxnId="{F08F82DE-34D1-4E83-9E0A-99D2488153EE}">
      <dgm:prSet/>
      <dgm:spPr/>
      <dgm:t>
        <a:bodyPr/>
        <a:lstStyle/>
        <a:p>
          <a:endParaRPr lang="zh-CN" altLang="en-US" sz="2800" b="1"/>
        </a:p>
      </dgm:t>
    </dgm:pt>
    <dgm:pt modelId="{0A37030D-4114-45C7-839C-D3F2C7DCEF7B}">
      <dgm:prSet custT="1"/>
      <dgm:spPr/>
      <dgm:t>
        <a:bodyPr/>
        <a:lstStyle/>
        <a:p>
          <a:r>
            <a:rPr lang="zh-CN" altLang="en-US" sz="1600" b="1" dirty="0"/>
            <a:t>刨析串行计算，以空间换取速度：分别并行累加。</a:t>
          </a:r>
          <a:endParaRPr lang="zh-CN" sz="1600" b="1" dirty="0"/>
        </a:p>
      </dgm:t>
    </dgm:pt>
    <dgm:pt modelId="{2B4B63FE-259D-409A-A89A-31EC4FED3AE3}" type="parTrans" cxnId="{73121F05-A611-45A2-B1F6-BAE6D43310FA}">
      <dgm:prSet/>
      <dgm:spPr/>
      <dgm:t>
        <a:bodyPr/>
        <a:lstStyle/>
        <a:p>
          <a:endParaRPr lang="zh-CN" altLang="en-US"/>
        </a:p>
      </dgm:t>
    </dgm:pt>
    <dgm:pt modelId="{B9107D03-7A0C-4CF2-B3C0-DBC0418AAF8E}" type="sibTrans" cxnId="{73121F05-A611-45A2-B1F6-BAE6D43310FA}">
      <dgm:prSet/>
      <dgm:spPr/>
      <dgm:t>
        <a:bodyPr/>
        <a:lstStyle/>
        <a:p>
          <a:endParaRPr lang="zh-CN" altLang="en-US"/>
        </a:p>
      </dgm:t>
    </dgm:pt>
    <dgm:pt modelId="{08C0283C-56DD-46F1-928C-EB3D6129CDB5}" type="pres">
      <dgm:prSet presAssocID="{6FBE207A-D739-41DF-A659-A0A99F88F661}" presName="linear" presStyleCnt="0">
        <dgm:presLayoutVars>
          <dgm:dir/>
          <dgm:animLvl val="lvl"/>
          <dgm:resizeHandles val="exact"/>
        </dgm:presLayoutVars>
      </dgm:prSet>
      <dgm:spPr/>
    </dgm:pt>
    <dgm:pt modelId="{BAFB5C84-5997-4FF7-890C-1719A6ACE72A}" type="pres">
      <dgm:prSet presAssocID="{69E5BC42-C3AE-4AC8-B08C-1D0979040D42}" presName="parentLin" presStyleCnt="0"/>
      <dgm:spPr/>
    </dgm:pt>
    <dgm:pt modelId="{F64B6E5E-F722-4DB2-A58C-C85AEB972977}" type="pres">
      <dgm:prSet presAssocID="{69E5BC42-C3AE-4AC8-B08C-1D0979040D42}" presName="parentLeftMargin" presStyleLbl="node1" presStyleIdx="0" presStyleCnt="3"/>
      <dgm:spPr/>
    </dgm:pt>
    <dgm:pt modelId="{F59B7157-6105-46DF-A77C-7374FE13ABBA}" type="pres">
      <dgm:prSet presAssocID="{69E5BC42-C3AE-4AC8-B08C-1D0979040D42}" presName="parentText" presStyleLbl="node1" presStyleIdx="0" presStyleCnt="3">
        <dgm:presLayoutVars>
          <dgm:chMax val="0"/>
          <dgm:bulletEnabled val="1"/>
        </dgm:presLayoutVars>
      </dgm:prSet>
      <dgm:spPr/>
    </dgm:pt>
    <dgm:pt modelId="{FA78CD32-FA39-4379-BC5A-DECD7685AF08}" type="pres">
      <dgm:prSet presAssocID="{69E5BC42-C3AE-4AC8-B08C-1D0979040D42}" presName="negativeSpace" presStyleCnt="0"/>
      <dgm:spPr/>
    </dgm:pt>
    <dgm:pt modelId="{24D323CB-48FB-4571-B185-85523FBD9F0F}" type="pres">
      <dgm:prSet presAssocID="{69E5BC42-C3AE-4AC8-B08C-1D0979040D42}" presName="childText" presStyleLbl="conFgAcc1" presStyleIdx="0" presStyleCnt="3">
        <dgm:presLayoutVars>
          <dgm:bulletEnabled val="1"/>
        </dgm:presLayoutVars>
      </dgm:prSet>
      <dgm:spPr/>
    </dgm:pt>
    <dgm:pt modelId="{3E0E966C-ABEB-4260-9137-F6361395A814}" type="pres">
      <dgm:prSet presAssocID="{84D985E3-38E1-4231-A8F8-BBC739236FD6}" presName="spaceBetweenRectangles" presStyleCnt="0"/>
      <dgm:spPr/>
    </dgm:pt>
    <dgm:pt modelId="{92948D43-190C-4F5C-83F6-E687A49BABFB}" type="pres">
      <dgm:prSet presAssocID="{F3423E15-255F-4F7A-9D34-6A191853CF72}" presName="parentLin" presStyleCnt="0"/>
      <dgm:spPr/>
    </dgm:pt>
    <dgm:pt modelId="{003312C6-BDCE-4C1D-ADE3-D48B5F26F193}" type="pres">
      <dgm:prSet presAssocID="{F3423E15-255F-4F7A-9D34-6A191853CF72}" presName="parentLeftMargin" presStyleLbl="node1" presStyleIdx="0" presStyleCnt="3"/>
      <dgm:spPr/>
    </dgm:pt>
    <dgm:pt modelId="{D2A9D955-EC3C-4E76-A70D-E7EFDC27CA02}" type="pres">
      <dgm:prSet presAssocID="{F3423E15-255F-4F7A-9D34-6A191853CF72}" presName="parentText" presStyleLbl="node1" presStyleIdx="1" presStyleCnt="3">
        <dgm:presLayoutVars>
          <dgm:chMax val="0"/>
          <dgm:bulletEnabled val="1"/>
        </dgm:presLayoutVars>
      </dgm:prSet>
      <dgm:spPr/>
    </dgm:pt>
    <dgm:pt modelId="{241C2BFE-AB62-4BBB-8B0B-2D93D98E0119}" type="pres">
      <dgm:prSet presAssocID="{F3423E15-255F-4F7A-9D34-6A191853CF72}" presName="negativeSpace" presStyleCnt="0"/>
      <dgm:spPr/>
    </dgm:pt>
    <dgm:pt modelId="{B6F473F1-D1CB-4855-8DB0-F15AA9609347}" type="pres">
      <dgm:prSet presAssocID="{F3423E15-255F-4F7A-9D34-6A191853CF72}" presName="childText" presStyleLbl="conFgAcc1" presStyleIdx="1" presStyleCnt="3">
        <dgm:presLayoutVars>
          <dgm:bulletEnabled val="1"/>
        </dgm:presLayoutVars>
      </dgm:prSet>
      <dgm:spPr/>
    </dgm:pt>
    <dgm:pt modelId="{9190D2D4-6254-4195-ADC9-3E27B9040E71}" type="pres">
      <dgm:prSet presAssocID="{1B61316C-7BA0-497A-82DA-39EAF493CCC7}" presName="spaceBetweenRectangles" presStyleCnt="0"/>
      <dgm:spPr/>
    </dgm:pt>
    <dgm:pt modelId="{076EF4B7-4468-4511-A6CD-628A38E78237}" type="pres">
      <dgm:prSet presAssocID="{F492CAAC-7F6D-4E16-BCA3-9445D8331823}" presName="parentLin" presStyleCnt="0"/>
      <dgm:spPr/>
    </dgm:pt>
    <dgm:pt modelId="{9C1634BA-F9B0-4846-8656-EAE341A2B7DB}" type="pres">
      <dgm:prSet presAssocID="{F492CAAC-7F6D-4E16-BCA3-9445D8331823}" presName="parentLeftMargin" presStyleLbl="node1" presStyleIdx="1" presStyleCnt="3"/>
      <dgm:spPr/>
    </dgm:pt>
    <dgm:pt modelId="{66048E25-DB0B-4141-AE33-DD61D2D12DB6}" type="pres">
      <dgm:prSet presAssocID="{F492CAAC-7F6D-4E16-BCA3-9445D8331823}" presName="parentText" presStyleLbl="node1" presStyleIdx="2" presStyleCnt="3">
        <dgm:presLayoutVars>
          <dgm:chMax val="0"/>
          <dgm:bulletEnabled val="1"/>
        </dgm:presLayoutVars>
      </dgm:prSet>
      <dgm:spPr/>
    </dgm:pt>
    <dgm:pt modelId="{C46D2D95-832B-405E-9EC3-45F0FD770B02}" type="pres">
      <dgm:prSet presAssocID="{F492CAAC-7F6D-4E16-BCA3-9445D8331823}" presName="negativeSpace" presStyleCnt="0"/>
      <dgm:spPr/>
    </dgm:pt>
    <dgm:pt modelId="{2AD48EE7-9E9C-422B-AF13-C55DA2D64FE6}" type="pres">
      <dgm:prSet presAssocID="{F492CAAC-7F6D-4E16-BCA3-9445D8331823}" presName="childText" presStyleLbl="conFgAcc1" presStyleIdx="2" presStyleCnt="3">
        <dgm:presLayoutVars>
          <dgm:bulletEnabled val="1"/>
        </dgm:presLayoutVars>
      </dgm:prSet>
      <dgm:spPr/>
    </dgm:pt>
  </dgm:ptLst>
  <dgm:cxnLst>
    <dgm:cxn modelId="{73121F05-A611-45A2-B1F6-BAE6D43310FA}" srcId="{F492CAAC-7F6D-4E16-BCA3-9445D8331823}" destId="{0A37030D-4114-45C7-839C-D3F2C7DCEF7B}" srcOrd="3" destOrd="0" parTransId="{2B4B63FE-259D-409A-A89A-31EC4FED3AE3}" sibTransId="{B9107D03-7A0C-4CF2-B3C0-DBC0418AAF8E}"/>
    <dgm:cxn modelId="{0B364207-F446-461E-9F6E-6E35F736699A}" srcId="{6FBE207A-D739-41DF-A659-A0A99F88F661}" destId="{F3423E15-255F-4F7A-9D34-6A191853CF72}" srcOrd="1" destOrd="0" parTransId="{363F5BF4-6B6B-45AD-9478-70B0AE4EFDB7}" sibTransId="{1B61316C-7BA0-497A-82DA-39EAF493CCC7}"/>
    <dgm:cxn modelId="{F827320E-FC33-41FE-BB13-140CC56F5589}" type="presOf" srcId="{1D1A41CF-D584-4710-9E13-1302DD88360E}" destId="{2AD48EE7-9E9C-422B-AF13-C55DA2D64FE6}" srcOrd="0" destOrd="1" presId="urn:microsoft.com/office/officeart/2005/8/layout/list1"/>
    <dgm:cxn modelId="{93A29319-5B80-4990-9B2D-AFAAC9D35A1F}" type="presOf" srcId="{F3423E15-255F-4F7A-9D34-6A191853CF72}" destId="{003312C6-BDCE-4C1D-ADE3-D48B5F26F193}" srcOrd="0" destOrd="0" presId="urn:microsoft.com/office/officeart/2005/8/layout/list1"/>
    <dgm:cxn modelId="{C55F3032-F032-4200-AB87-311F7C022C12}" type="presOf" srcId="{81FC6789-0612-49D6-A263-488BC7968BB4}" destId="{2AD48EE7-9E9C-422B-AF13-C55DA2D64FE6}" srcOrd="0" destOrd="0" presId="urn:microsoft.com/office/officeart/2005/8/layout/list1"/>
    <dgm:cxn modelId="{BEF9C666-1F84-4AD7-9F07-BFA162A16169}" type="presOf" srcId="{69E5BC42-C3AE-4AC8-B08C-1D0979040D42}" destId="{F59B7157-6105-46DF-A77C-7374FE13ABBA}" srcOrd="1" destOrd="0" presId="urn:microsoft.com/office/officeart/2005/8/layout/list1"/>
    <dgm:cxn modelId="{D0C58C69-B395-40CE-B7C0-383C5D199CC4}" srcId="{F492CAAC-7F6D-4E16-BCA3-9445D8331823}" destId="{1D1A41CF-D584-4710-9E13-1302DD88360E}" srcOrd="1" destOrd="0" parTransId="{1C9A3B32-D0C3-45DD-A706-444C5DF472EE}" sibTransId="{4FA22BF6-13BB-4F6E-8EF8-84347F3FE0CF}"/>
    <dgm:cxn modelId="{9CB3006E-DA68-48EF-B825-BBE0163DAFD3}" srcId="{6FBE207A-D739-41DF-A659-A0A99F88F661}" destId="{F492CAAC-7F6D-4E16-BCA3-9445D8331823}" srcOrd="2" destOrd="0" parTransId="{D5935F43-0E37-4287-9AD0-17F96B848F07}" sibTransId="{F079C5B6-63D7-41AA-82BC-3D723EFBF2CA}"/>
    <dgm:cxn modelId="{56437C57-ED71-4072-8FBD-F8AD33F4306F}" type="presOf" srcId="{6FBE207A-D739-41DF-A659-A0A99F88F661}" destId="{08C0283C-56DD-46F1-928C-EB3D6129CDB5}" srcOrd="0" destOrd="0" presId="urn:microsoft.com/office/officeart/2005/8/layout/list1"/>
    <dgm:cxn modelId="{356DC478-DDC3-4FE1-9EB6-11661C537E90}" srcId="{F492CAAC-7F6D-4E16-BCA3-9445D8331823}" destId="{81FC6789-0612-49D6-A263-488BC7968BB4}" srcOrd="0" destOrd="0" parTransId="{CCDFD4D4-FA7E-4E19-8AF2-C005E3BD67BE}" sibTransId="{0BFF9125-1513-4FA2-B405-CBACD1461FA1}"/>
    <dgm:cxn modelId="{F9447985-D053-492B-B8DE-0AF6F1FD0A17}" type="presOf" srcId="{DB9D0FD0-F17E-4AF2-B043-0CB9D2BE8677}" destId="{2AD48EE7-9E9C-422B-AF13-C55DA2D64FE6}" srcOrd="0" destOrd="2" presId="urn:microsoft.com/office/officeart/2005/8/layout/list1"/>
    <dgm:cxn modelId="{B34DC685-5948-455C-9558-2D086807B3E9}" type="presOf" srcId="{69E5BC42-C3AE-4AC8-B08C-1D0979040D42}" destId="{F64B6E5E-F722-4DB2-A58C-C85AEB972977}" srcOrd="0" destOrd="0" presId="urn:microsoft.com/office/officeart/2005/8/layout/list1"/>
    <dgm:cxn modelId="{38B4108D-95FB-4AD8-8586-47192F68F8CC}" type="presOf" srcId="{0A37030D-4114-45C7-839C-D3F2C7DCEF7B}" destId="{2AD48EE7-9E9C-422B-AF13-C55DA2D64FE6}" srcOrd="0" destOrd="3" presId="urn:microsoft.com/office/officeart/2005/8/layout/list1"/>
    <dgm:cxn modelId="{0870F68D-DB59-41F6-BC70-935C810BB560}" srcId="{6FBE207A-D739-41DF-A659-A0A99F88F661}" destId="{69E5BC42-C3AE-4AC8-B08C-1D0979040D42}" srcOrd="0" destOrd="0" parTransId="{EF0A2E0E-2812-40FD-96E5-0A3FE846D86B}" sibTransId="{84D985E3-38E1-4231-A8F8-BBC739236FD6}"/>
    <dgm:cxn modelId="{584A99B8-2A01-4CAB-9E8A-800E61B6B0E3}" type="presOf" srcId="{F492CAAC-7F6D-4E16-BCA3-9445D8331823}" destId="{9C1634BA-F9B0-4846-8656-EAE341A2B7DB}" srcOrd="0" destOrd="0" presId="urn:microsoft.com/office/officeart/2005/8/layout/list1"/>
    <dgm:cxn modelId="{9DFE65C2-DDD8-4EE7-96E9-1DC9C12E56E7}" type="presOf" srcId="{F492CAAC-7F6D-4E16-BCA3-9445D8331823}" destId="{66048E25-DB0B-4141-AE33-DD61D2D12DB6}" srcOrd="1" destOrd="0" presId="urn:microsoft.com/office/officeart/2005/8/layout/list1"/>
    <dgm:cxn modelId="{38AD70DE-6981-4B0E-ACFC-A332E1664299}" type="presOf" srcId="{F3423E15-255F-4F7A-9D34-6A191853CF72}" destId="{D2A9D955-EC3C-4E76-A70D-E7EFDC27CA02}" srcOrd="1" destOrd="0" presId="urn:microsoft.com/office/officeart/2005/8/layout/list1"/>
    <dgm:cxn modelId="{F08F82DE-34D1-4E83-9E0A-99D2488153EE}" srcId="{F492CAAC-7F6D-4E16-BCA3-9445D8331823}" destId="{DB9D0FD0-F17E-4AF2-B043-0CB9D2BE8677}" srcOrd="2" destOrd="0" parTransId="{7F98421D-8ACE-4A78-A55A-0D86D6CE0D54}" sibTransId="{31FD2047-0897-498D-9C84-0C7A94FC3151}"/>
    <dgm:cxn modelId="{1ED1B07F-37DC-4D61-B29D-BD673095776F}" type="presParOf" srcId="{08C0283C-56DD-46F1-928C-EB3D6129CDB5}" destId="{BAFB5C84-5997-4FF7-890C-1719A6ACE72A}" srcOrd="0" destOrd="0" presId="urn:microsoft.com/office/officeart/2005/8/layout/list1"/>
    <dgm:cxn modelId="{CE2068C8-8E0B-4AFF-AAD8-35A2B0A22437}" type="presParOf" srcId="{BAFB5C84-5997-4FF7-890C-1719A6ACE72A}" destId="{F64B6E5E-F722-4DB2-A58C-C85AEB972977}" srcOrd="0" destOrd="0" presId="urn:microsoft.com/office/officeart/2005/8/layout/list1"/>
    <dgm:cxn modelId="{2624481A-30F2-4CE4-968C-96EC6CE26D5C}" type="presParOf" srcId="{BAFB5C84-5997-4FF7-890C-1719A6ACE72A}" destId="{F59B7157-6105-46DF-A77C-7374FE13ABBA}" srcOrd="1" destOrd="0" presId="urn:microsoft.com/office/officeart/2005/8/layout/list1"/>
    <dgm:cxn modelId="{19B8D316-E33B-4875-9D56-3889426FFEC1}" type="presParOf" srcId="{08C0283C-56DD-46F1-928C-EB3D6129CDB5}" destId="{FA78CD32-FA39-4379-BC5A-DECD7685AF08}" srcOrd="1" destOrd="0" presId="urn:microsoft.com/office/officeart/2005/8/layout/list1"/>
    <dgm:cxn modelId="{F3B94214-4EA0-428A-B06E-75F48C75F6CB}" type="presParOf" srcId="{08C0283C-56DD-46F1-928C-EB3D6129CDB5}" destId="{24D323CB-48FB-4571-B185-85523FBD9F0F}" srcOrd="2" destOrd="0" presId="urn:microsoft.com/office/officeart/2005/8/layout/list1"/>
    <dgm:cxn modelId="{F6A1E6A0-3043-4BBE-9582-FFDD7E8B0AD4}" type="presParOf" srcId="{08C0283C-56DD-46F1-928C-EB3D6129CDB5}" destId="{3E0E966C-ABEB-4260-9137-F6361395A814}" srcOrd="3" destOrd="0" presId="urn:microsoft.com/office/officeart/2005/8/layout/list1"/>
    <dgm:cxn modelId="{7276A1D0-E97A-4DFE-98BC-3345D708CE70}" type="presParOf" srcId="{08C0283C-56DD-46F1-928C-EB3D6129CDB5}" destId="{92948D43-190C-4F5C-83F6-E687A49BABFB}" srcOrd="4" destOrd="0" presId="urn:microsoft.com/office/officeart/2005/8/layout/list1"/>
    <dgm:cxn modelId="{7641DFEA-C484-42A5-B2F3-C84828A571C0}" type="presParOf" srcId="{92948D43-190C-4F5C-83F6-E687A49BABFB}" destId="{003312C6-BDCE-4C1D-ADE3-D48B5F26F193}" srcOrd="0" destOrd="0" presId="urn:microsoft.com/office/officeart/2005/8/layout/list1"/>
    <dgm:cxn modelId="{9516D972-57EF-4FB4-8A71-2A0893974501}" type="presParOf" srcId="{92948D43-190C-4F5C-83F6-E687A49BABFB}" destId="{D2A9D955-EC3C-4E76-A70D-E7EFDC27CA02}" srcOrd="1" destOrd="0" presId="urn:microsoft.com/office/officeart/2005/8/layout/list1"/>
    <dgm:cxn modelId="{FDAA4ABF-0B55-4484-AFB5-888C0D730C5E}" type="presParOf" srcId="{08C0283C-56DD-46F1-928C-EB3D6129CDB5}" destId="{241C2BFE-AB62-4BBB-8B0B-2D93D98E0119}" srcOrd="5" destOrd="0" presId="urn:microsoft.com/office/officeart/2005/8/layout/list1"/>
    <dgm:cxn modelId="{77CB6E55-4E4F-411B-9B63-C9389AD00124}" type="presParOf" srcId="{08C0283C-56DD-46F1-928C-EB3D6129CDB5}" destId="{B6F473F1-D1CB-4855-8DB0-F15AA9609347}" srcOrd="6" destOrd="0" presId="urn:microsoft.com/office/officeart/2005/8/layout/list1"/>
    <dgm:cxn modelId="{F6062FDC-73EE-4CAD-BAA8-5AE996254412}" type="presParOf" srcId="{08C0283C-56DD-46F1-928C-EB3D6129CDB5}" destId="{9190D2D4-6254-4195-ADC9-3E27B9040E71}" srcOrd="7" destOrd="0" presId="urn:microsoft.com/office/officeart/2005/8/layout/list1"/>
    <dgm:cxn modelId="{8CE13508-847E-4802-AFE9-F599E2B036E9}" type="presParOf" srcId="{08C0283C-56DD-46F1-928C-EB3D6129CDB5}" destId="{076EF4B7-4468-4511-A6CD-628A38E78237}" srcOrd="8" destOrd="0" presId="urn:microsoft.com/office/officeart/2005/8/layout/list1"/>
    <dgm:cxn modelId="{320DCB80-83F5-4AF7-B904-952CDA82D4EF}" type="presParOf" srcId="{076EF4B7-4468-4511-A6CD-628A38E78237}" destId="{9C1634BA-F9B0-4846-8656-EAE341A2B7DB}" srcOrd="0" destOrd="0" presId="urn:microsoft.com/office/officeart/2005/8/layout/list1"/>
    <dgm:cxn modelId="{13485779-F7A4-4FDA-9E13-A9C0CF30210B}" type="presParOf" srcId="{076EF4B7-4468-4511-A6CD-628A38E78237}" destId="{66048E25-DB0B-4141-AE33-DD61D2D12DB6}" srcOrd="1" destOrd="0" presId="urn:microsoft.com/office/officeart/2005/8/layout/list1"/>
    <dgm:cxn modelId="{470D6842-E740-40A0-A590-48AB255D00B5}" type="presParOf" srcId="{08C0283C-56DD-46F1-928C-EB3D6129CDB5}" destId="{C46D2D95-832B-405E-9EC3-45F0FD770B02}" srcOrd="9" destOrd="0" presId="urn:microsoft.com/office/officeart/2005/8/layout/list1"/>
    <dgm:cxn modelId="{8768A0C3-50C0-4F57-BF7E-29273DE991CF}" type="presParOf" srcId="{08C0283C-56DD-46F1-928C-EB3D6129CDB5}" destId="{2AD48EE7-9E9C-422B-AF13-C55DA2D64FE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040B55F-A010-458D-8609-CE2D75B62DE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CN" altLang="en-US"/>
        </a:p>
      </dgm:t>
    </dgm:pt>
    <dgm:pt modelId="{25E33960-4AF6-4F9E-9D56-38BDD2F3953F}">
      <dgm:prSet custT="1"/>
      <dgm:spPr/>
      <dgm:t>
        <a:bodyPr/>
        <a:lstStyle/>
        <a:p>
          <a:r>
            <a:rPr lang="zh-CN" sz="1800"/>
            <a:t>业务的本体 </a:t>
          </a:r>
          <a:r>
            <a:rPr lang="en-US" sz="1800"/>
            <a:t>= </a:t>
          </a:r>
          <a:r>
            <a:rPr lang="zh-CN" sz="1800"/>
            <a:t>数据模型 </a:t>
          </a:r>
          <a:r>
            <a:rPr lang="en-US" sz="1800"/>
            <a:t>+ </a:t>
          </a:r>
          <a:r>
            <a:rPr lang="zh-CN" sz="1800"/>
            <a:t>业务算法。</a:t>
          </a:r>
        </a:p>
      </dgm:t>
    </dgm:pt>
    <dgm:pt modelId="{3AC1C7D6-F4F2-4DEE-A6CE-21FC149F38E3}" type="parTrans" cxnId="{EA0AF452-8E5E-4EC5-8C25-B760EA1905A3}">
      <dgm:prSet/>
      <dgm:spPr/>
      <dgm:t>
        <a:bodyPr/>
        <a:lstStyle/>
        <a:p>
          <a:endParaRPr lang="zh-CN" altLang="en-US" sz="2800"/>
        </a:p>
      </dgm:t>
    </dgm:pt>
    <dgm:pt modelId="{0601B78F-BF09-46AA-8B94-872EB8B3C774}" type="sibTrans" cxnId="{EA0AF452-8E5E-4EC5-8C25-B760EA1905A3}">
      <dgm:prSet/>
      <dgm:spPr/>
      <dgm:t>
        <a:bodyPr/>
        <a:lstStyle/>
        <a:p>
          <a:endParaRPr lang="zh-CN" altLang="en-US" sz="2800"/>
        </a:p>
      </dgm:t>
    </dgm:pt>
    <dgm:pt modelId="{BE40EC32-6B1F-4A4D-AE32-0D0982059422}">
      <dgm:prSet custT="1"/>
      <dgm:spPr/>
      <dgm:t>
        <a:bodyPr/>
        <a:lstStyle/>
        <a:p>
          <a:r>
            <a:rPr lang="zh-CN" sz="1800"/>
            <a:t>节点不是独立的，是耦合的。物料</a:t>
          </a:r>
          <a:r>
            <a:rPr lang="en-US" sz="1800"/>
            <a:t>A</a:t>
          </a:r>
          <a:r>
            <a:rPr lang="zh-CN" sz="1800"/>
            <a:t>的延迟会影响订单</a:t>
          </a:r>
          <a:r>
            <a:rPr lang="en-US" sz="1800"/>
            <a:t>B</a:t>
          </a:r>
          <a:r>
            <a:rPr lang="zh-CN" sz="1800"/>
            <a:t>，订单</a:t>
          </a:r>
          <a:r>
            <a:rPr lang="en-US" sz="1800"/>
            <a:t>B</a:t>
          </a:r>
          <a:r>
            <a:rPr lang="zh-CN" sz="1800"/>
            <a:t>延期会影响客户</a:t>
          </a:r>
          <a:r>
            <a:rPr lang="en-US" sz="1800"/>
            <a:t>C</a:t>
          </a:r>
          <a:r>
            <a:rPr lang="zh-CN" sz="1800"/>
            <a:t>。</a:t>
          </a:r>
        </a:p>
      </dgm:t>
    </dgm:pt>
    <dgm:pt modelId="{F52B12C6-86FF-4B43-9BFC-CF6A3AD6B076}" type="parTrans" cxnId="{3663D021-85F6-4BE5-8071-623D6398E269}">
      <dgm:prSet/>
      <dgm:spPr/>
      <dgm:t>
        <a:bodyPr/>
        <a:lstStyle/>
        <a:p>
          <a:endParaRPr lang="zh-CN" altLang="en-US" sz="2800"/>
        </a:p>
      </dgm:t>
    </dgm:pt>
    <dgm:pt modelId="{D2E6FA9B-0D20-4CD5-AB1B-E41EC2839DBE}" type="sibTrans" cxnId="{3663D021-85F6-4BE5-8071-623D6398E269}">
      <dgm:prSet/>
      <dgm:spPr/>
      <dgm:t>
        <a:bodyPr/>
        <a:lstStyle/>
        <a:p>
          <a:endParaRPr lang="zh-CN" altLang="en-US" sz="2800"/>
        </a:p>
      </dgm:t>
    </dgm:pt>
    <dgm:pt modelId="{20BADA26-75BE-4389-B65F-6C432556E46D}">
      <dgm:prSet custT="1"/>
      <dgm:spPr/>
      <dgm:t>
        <a:bodyPr/>
        <a:lstStyle/>
        <a:p>
          <a:r>
            <a:rPr lang="zh-CN" altLang="en-US" sz="1800" dirty="0"/>
            <a:t>状态跃迁，就是派工、</a:t>
          </a:r>
          <a:r>
            <a:rPr lang="en-US" altLang="zh-CN" sz="1800" dirty="0"/>
            <a:t>Pegging</a:t>
          </a:r>
          <a:r>
            <a:rPr lang="zh-CN" altLang="en-US" sz="1800" dirty="0"/>
            <a:t>、拉动</a:t>
          </a:r>
          <a:r>
            <a:rPr lang="en-US" altLang="zh-CN" sz="1800" dirty="0"/>
            <a:t>——</a:t>
          </a:r>
          <a:r>
            <a:rPr lang="zh-CN" altLang="en-US" sz="1800" dirty="0"/>
            <a:t>它把订单、工单、物料死死扣在一起</a:t>
          </a:r>
          <a:r>
            <a:rPr lang="zh-CN" sz="1800" dirty="0"/>
            <a:t>。</a:t>
          </a:r>
        </a:p>
      </dgm:t>
    </dgm:pt>
    <dgm:pt modelId="{7DCDFCED-FC26-4E77-890C-6B6D4CBE731D}" type="parTrans" cxnId="{DDEFFEB0-FD60-405C-B7F9-36E72AA71CD8}">
      <dgm:prSet/>
      <dgm:spPr/>
      <dgm:t>
        <a:bodyPr/>
        <a:lstStyle/>
        <a:p>
          <a:endParaRPr lang="zh-CN" altLang="en-US" sz="2800"/>
        </a:p>
      </dgm:t>
    </dgm:pt>
    <dgm:pt modelId="{571C0EFD-795E-446B-BF72-CB7CDC3A644D}" type="sibTrans" cxnId="{DDEFFEB0-FD60-405C-B7F9-36E72AA71CD8}">
      <dgm:prSet/>
      <dgm:spPr/>
      <dgm:t>
        <a:bodyPr/>
        <a:lstStyle/>
        <a:p>
          <a:endParaRPr lang="zh-CN" altLang="en-US" sz="2800"/>
        </a:p>
      </dgm:t>
    </dgm:pt>
    <dgm:pt modelId="{BE2910AE-0ACD-44FD-9122-11730F0449E3}">
      <dgm:prSet custT="1"/>
      <dgm:spPr/>
      <dgm:t>
        <a:bodyPr/>
        <a:lstStyle/>
        <a:p>
          <a:r>
            <a:rPr lang="zh-CN" altLang="en-US" sz="1800" dirty="0"/>
            <a:t>既然模型本身</a:t>
          </a:r>
          <a:r>
            <a:rPr lang="zh-CN" altLang="en-US" sz="2400" b="1" dirty="0">
              <a:solidFill>
                <a:srgbClr val="00D4FF"/>
              </a:solidFill>
            </a:rPr>
            <a:t>不可分</a:t>
          </a:r>
          <a:r>
            <a:rPr lang="zh-CN" altLang="en-US" sz="1800" dirty="0"/>
            <a:t>，业务本身也不可分。</a:t>
          </a:r>
        </a:p>
      </dgm:t>
    </dgm:pt>
    <dgm:pt modelId="{29BB50D4-F75D-4F45-91FC-E334130A08F3}" type="parTrans" cxnId="{C9492A61-8EAE-4C7A-83F6-D4BD48A13EB1}">
      <dgm:prSet/>
      <dgm:spPr/>
      <dgm:t>
        <a:bodyPr/>
        <a:lstStyle/>
        <a:p>
          <a:endParaRPr lang="zh-CN" altLang="en-US" sz="2800"/>
        </a:p>
      </dgm:t>
    </dgm:pt>
    <dgm:pt modelId="{DCDE2B53-7886-4FB1-930B-1E98F1BFA70A}" type="sibTrans" cxnId="{C9492A61-8EAE-4C7A-83F6-D4BD48A13EB1}">
      <dgm:prSet/>
      <dgm:spPr/>
      <dgm:t>
        <a:bodyPr/>
        <a:lstStyle/>
        <a:p>
          <a:endParaRPr lang="zh-CN" altLang="en-US" sz="2800"/>
        </a:p>
      </dgm:t>
    </dgm:pt>
    <dgm:pt modelId="{8DA87413-4C7B-4CF5-B9BA-5E021BA78F45}" type="pres">
      <dgm:prSet presAssocID="{9040B55F-A010-458D-8609-CE2D75B62DE6}" presName="vert0" presStyleCnt="0">
        <dgm:presLayoutVars>
          <dgm:dir/>
          <dgm:animOne val="branch"/>
          <dgm:animLvl val="lvl"/>
        </dgm:presLayoutVars>
      </dgm:prSet>
      <dgm:spPr/>
    </dgm:pt>
    <dgm:pt modelId="{CD266742-6E65-43BC-9F32-8D86F04B6845}" type="pres">
      <dgm:prSet presAssocID="{25E33960-4AF6-4F9E-9D56-38BDD2F3953F}" presName="thickLine" presStyleLbl="alignNode1" presStyleIdx="0" presStyleCnt="4"/>
      <dgm:spPr/>
    </dgm:pt>
    <dgm:pt modelId="{02449247-8E0A-4C37-B6B2-597BEA86274B}" type="pres">
      <dgm:prSet presAssocID="{25E33960-4AF6-4F9E-9D56-38BDD2F3953F}" presName="horz1" presStyleCnt="0"/>
      <dgm:spPr/>
    </dgm:pt>
    <dgm:pt modelId="{14C4923F-53E7-4459-B535-F35460218A1F}" type="pres">
      <dgm:prSet presAssocID="{25E33960-4AF6-4F9E-9D56-38BDD2F3953F}" presName="tx1" presStyleLbl="revTx" presStyleIdx="0" presStyleCnt="4"/>
      <dgm:spPr/>
    </dgm:pt>
    <dgm:pt modelId="{F7FC2AC8-4014-47AA-9F87-DC81EF927F2C}" type="pres">
      <dgm:prSet presAssocID="{25E33960-4AF6-4F9E-9D56-38BDD2F3953F}" presName="vert1" presStyleCnt="0"/>
      <dgm:spPr/>
    </dgm:pt>
    <dgm:pt modelId="{9BA70B55-A4CD-4AEB-97C2-6F6FF6C457B3}" type="pres">
      <dgm:prSet presAssocID="{BE40EC32-6B1F-4A4D-AE32-0D0982059422}" presName="thickLine" presStyleLbl="alignNode1" presStyleIdx="1" presStyleCnt="4"/>
      <dgm:spPr/>
    </dgm:pt>
    <dgm:pt modelId="{69B51FEB-3D5A-4F2A-8679-30940DC52A8F}" type="pres">
      <dgm:prSet presAssocID="{BE40EC32-6B1F-4A4D-AE32-0D0982059422}" presName="horz1" presStyleCnt="0"/>
      <dgm:spPr/>
    </dgm:pt>
    <dgm:pt modelId="{C62087DF-AB7F-4F76-A4AD-1BF60B09ECB3}" type="pres">
      <dgm:prSet presAssocID="{BE40EC32-6B1F-4A4D-AE32-0D0982059422}" presName="tx1" presStyleLbl="revTx" presStyleIdx="1" presStyleCnt="4"/>
      <dgm:spPr/>
    </dgm:pt>
    <dgm:pt modelId="{3FFB1DD2-89BD-473D-9443-7EAAF2E01F54}" type="pres">
      <dgm:prSet presAssocID="{BE40EC32-6B1F-4A4D-AE32-0D0982059422}" presName="vert1" presStyleCnt="0"/>
      <dgm:spPr/>
    </dgm:pt>
    <dgm:pt modelId="{BE9A44D7-6A94-46CC-9FDB-D9EBBC6A9583}" type="pres">
      <dgm:prSet presAssocID="{20BADA26-75BE-4389-B65F-6C432556E46D}" presName="thickLine" presStyleLbl="alignNode1" presStyleIdx="2" presStyleCnt="4"/>
      <dgm:spPr/>
    </dgm:pt>
    <dgm:pt modelId="{5F726B19-B579-4C85-AECD-FCF5290F2328}" type="pres">
      <dgm:prSet presAssocID="{20BADA26-75BE-4389-B65F-6C432556E46D}" presName="horz1" presStyleCnt="0"/>
      <dgm:spPr/>
    </dgm:pt>
    <dgm:pt modelId="{F1DC2EF6-AC6F-4B57-80AD-272DA763B621}" type="pres">
      <dgm:prSet presAssocID="{20BADA26-75BE-4389-B65F-6C432556E46D}" presName="tx1" presStyleLbl="revTx" presStyleIdx="2" presStyleCnt="4"/>
      <dgm:spPr/>
    </dgm:pt>
    <dgm:pt modelId="{E2DEBE2F-FDFD-44C3-BE68-EBFEBB41B37E}" type="pres">
      <dgm:prSet presAssocID="{20BADA26-75BE-4389-B65F-6C432556E46D}" presName="vert1" presStyleCnt="0"/>
      <dgm:spPr/>
    </dgm:pt>
    <dgm:pt modelId="{9C441365-0A70-4EE4-9C39-9CA4C9FE269A}" type="pres">
      <dgm:prSet presAssocID="{BE2910AE-0ACD-44FD-9122-11730F0449E3}" presName="thickLine" presStyleLbl="alignNode1" presStyleIdx="3" presStyleCnt="4"/>
      <dgm:spPr/>
    </dgm:pt>
    <dgm:pt modelId="{3207F783-02B7-4B8E-8EAB-0AAD122E88A3}" type="pres">
      <dgm:prSet presAssocID="{BE2910AE-0ACD-44FD-9122-11730F0449E3}" presName="horz1" presStyleCnt="0"/>
      <dgm:spPr/>
    </dgm:pt>
    <dgm:pt modelId="{D253BAAD-8BC9-44BD-8F2B-1B4E08C18C99}" type="pres">
      <dgm:prSet presAssocID="{BE2910AE-0ACD-44FD-9122-11730F0449E3}" presName="tx1" presStyleLbl="revTx" presStyleIdx="3" presStyleCnt="4"/>
      <dgm:spPr/>
    </dgm:pt>
    <dgm:pt modelId="{62C374B1-9E81-418D-85B1-7477C8EDAD2E}" type="pres">
      <dgm:prSet presAssocID="{BE2910AE-0ACD-44FD-9122-11730F0449E3}" presName="vert1" presStyleCnt="0"/>
      <dgm:spPr/>
    </dgm:pt>
  </dgm:ptLst>
  <dgm:cxnLst>
    <dgm:cxn modelId="{3663D021-85F6-4BE5-8071-623D6398E269}" srcId="{9040B55F-A010-458D-8609-CE2D75B62DE6}" destId="{BE40EC32-6B1F-4A4D-AE32-0D0982059422}" srcOrd="1" destOrd="0" parTransId="{F52B12C6-86FF-4B43-9BFC-CF6A3AD6B076}" sibTransId="{D2E6FA9B-0D20-4CD5-AB1B-E41EC2839DBE}"/>
    <dgm:cxn modelId="{0726D128-C176-4272-B65C-07721E27AF1E}" type="presOf" srcId="{BE2910AE-0ACD-44FD-9122-11730F0449E3}" destId="{D253BAAD-8BC9-44BD-8F2B-1B4E08C18C99}" srcOrd="0" destOrd="0" presId="urn:microsoft.com/office/officeart/2008/layout/LinedList"/>
    <dgm:cxn modelId="{8994793D-08DE-4181-8134-425EB49453C8}" type="presOf" srcId="{20BADA26-75BE-4389-B65F-6C432556E46D}" destId="{F1DC2EF6-AC6F-4B57-80AD-272DA763B621}" srcOrd="0" destOrd="0" presId="urn:microsoft.com/office/officeart/2008/layout/LinedList"/>
    <dgm:cxn modelId="{C9492A61-8EAE-4C7A-83F6-D4BD48A13EB1}" srcId="{9040B55F-A010-458D-8609-CE2D75B62DE6}" destId="{BE2910AE-0ACD-44FD-9122-11730F0449E3}" srcOrd="3" destOrd="0" parTransId="{29BB50D4-F75D-4F45-91FC-E334130A08F3}" sibTransId="{DCDE2B53-7886-4FB1-930B-1E98F1BFA70A}"/>
    <dgm:cxn modelId="{EA0AF452-8E5E-4EC5-8C25-B760EA1905A3}" srcId="{9040B55F-A010-458D-8609-CE2D75B62DE6}" destId="{25E33960-4AF6-4F9E-9D56-38BDD2F3953F}" srcOrd="0" destOrd="0" parTransId="{3AC1C7D6-F4F2-4DEE-A6CE-21FC149F38E3}" sibTransId="{0601B78F-BF09-46AA-8B94-872EB8B3C774}"/>
    <dgm:cxn modelId="{446A0A8F-4D1F-486E-9381-D247B2898028}" type="presOf" srcId="{25E33960-4AF6-4F9E-9D56-38BDD2F3953F}" destId="{14C4923F-53E7-4459-B535-F35460218A1F}" srcOrd="0" destOrd="0" presId="urn:microsoft.com/office/officeart/2008/layout/LinedList"/>
    <dgm:cxn modelId="{84BBF3A6-B1DC-4967-AE91-BF7E1AC94E5D}" type="presOf" srcId="{9040B55F-A010-458D-8609-CE2D75B62DE6}" destId="{8DA87413-4C7B-4CF5-B9BA-5E021BA78F45}" srcOrd="0" destOrd="0" presId="urn:microsoft.com/office/officeart/2008/layout/LinedList"/>
    <dgm:cxn modelId="{DDEFFEB0-FD60-405C-B7F9-36E72AA71CD8}" srcId="{9040B55F-A010-458D-8609-CE2D75B62DE6}" destId="{20BADA26-75BE-4389-B65F-6C432556E46D}" srcOrd="2" destOrd="0" parTransId="{7DCDFCED-FC26-4E77-890C-6B6D4CBE731D}" sibTransId="{571C0EFD-795E-446B-BF72-CB7CDC3A644D}"/>
    <dgm:cxn modelId="{017A51D7-37C6-4DDD-9599-B5401E9837C9}" type="presOf" srcId="{BE40EC32-6B1F-4A4D-AE32-0D0982059422}" destId="{C62087DF-AB7F-4F76-A4AD-1BF60B09ECB3}" srcOrd="0" destOrd="0" presId="urn:microsoft.com/office/officeart/2008/layout/LinedList"/>
    <dgm:cxn modelId="{AA421815-D2B3-410D-89F2-E2C33099B53E}" type="presParOf" srcId="{8DA87413-4C7B-4CF5-B9BA-5E021BA78F45}" destId="{CD266742-6E65-43BC-9F32-8D86F04B6845}" srcOrd="0" destOrd="0" presId="urn:microsoft.com/office/officeart/2008/layout/LinedList"/>
    <dgm:cxn modelId="{AC5FE94E-26AA-4970-9C7B-B45D53C09D75}" type="presParOf" srcId="{8DA87413-4C7B-4CF5-B9BA-5E021BA78F45}" destId="{02449247-8E0A-4C37-B6B2-597BEA86274B}" srcOrd="1" destOrd="0" presId="urn:microsoft.com/office/officeart/2008/layout/LinedList"/>
    <dgm:cxn modelId="{59166326-7542-4D22-9C7E-7BE7BF23982C}" type="presParOf" srcId="{02449247-8E0A-4C37-B6B2-597BEA86274B}" destId="{14C4923F-53E7-4459-B535-F35460218A1F}" srcOrd="0" destOrd="0" presId="urn:microsoft.com/office/officeart/2008/layout/LinedList"/>
    <dgm:cxn modelId="{38199E22-7A56-4E6A-AC73-160FF2777851}" type="presParOf" srcId="{02449247-8E0A-4C37-B6B2-597BEA86274B}" destId="{F7FC2AC8-4014-47AA-9F87-DC81EF927F2C}" srcOrd="1" destOrd="0" presId="urn:microsoft.com/office/officeart/2008/layout/LinedList"/>
    <dgm:cxn modelId="{EB47C569-6D8B-44DC-B596-2E703CCFF242}" type="presParOf" srcId="{8DA87413-4C7B-4CF5-B9BA-5E021BA78F45}" destId="{9BA70B55-A4CD-4AEB-97C2-6F6FF6C457B3}" srcOrd="2" destOrd="0" presId="urn:microsoft.com/office/officeart/2008/layout/LinedList"/>
    <dgm:cxn modelId="{3E421B4E-43CF-46AF-A958-70B192755F69}" type="presParOf" srcId="{8DA87413-4C7B-4CF5-B9BA-5E021BA78F45}" destId="{69B51FEB-3D5A-4F2A-8679-30940DC52A8F}" srcOrd="3" destOrd="0" presId="urn:microsoft.com/office/officeart/2008/layout/LinedList"/>
    <dgm:cxn modelId="{2D7A9805-84CC-405B-847C-A9FE5D417E4A}" type="presParOf" srcId="{69B51FEB-3D5A-4F2A-8679-30940DC52A8F}" destId="{C62087DF-AB7F-4F76-A4AD-1BF60B09ECB3}" srcOrd="0" destOrd="0" presId="urn:microsoft.com/office/officeart/2008/layout/LinedList"/>
    <dgm:cxn modelId="{1B419BE5-1299-4DE5-8695-D381B19115C9}" type="presParOf" srcId="{69B51FEB-3D5A-4F2A-8679-30940DC52A8F}" destId="{3FFB1DD2-89BD-473D-9443-7EAAF2E01F54}" srcOrd="1" destOrd="0" presId="urn:microsoft.com/office/officeart/2008/layout/LinedList"/>
    <dgm:cxn modelId="{0110664F-9664-4C00-A7CF-8C3DFEAC4717}" type="presParOf" srcId="{8DA87413-4C7B-4CF5-B9BA-5E021BA78F45}" destId="{BE9A44D7-6A94-46CC-9FDB-D9EBBC6A9583}" srcOrd="4" destOrd="0" presId="urn:microsoft.com/office/officeart/2008/layout/LinedList"/>
    <dgm:cxn modelId="{3E17FBE1-640A-4F19-989E-C5B309E08EE1}" type="presParOf" srcId="{8DA87413-4C7B-4CF5-B9BA-5E021BA78F45}" destId="{5F726B19-B579-4C85-AECD-FCF5290F2328}" srcOrd="5" destOrd="0" presId="urn:microsoft.com/office/officeart/2008/layout/LinedList"/>
    <dgm:cxn modelId="{229948A6-4C6A-4BAB-B566-E77E841A45D0}" type="presParOf" srcId="{5F726B19-B579-4C85-AECD-FCF5290F2328}" destId="{F1DC2EF6-AC6F-4B57-80AD-272DA763B621}" srcOrd="0" destOrd="0" presId="urn:microsoft.com/office/officeart/2008/layout/LinedList"/>
    <dgm:cxn modelId="{AE700BC2-BE97-4FAF-875F-1C6702C506C1}" type="presParOf" srcId="{5F726B19-B579-4C85-AECD-FCF5290F2328}" destId="{E2DEBE2F-FDFD-44C3-BE68-EBFEBB41B37E}" srcOrd="1" destOrd="0" presId="urn:microsoft.com/office/officeart/2008/layout/LinedList"/>
    <dgm:cxn modelId="{5E4C3BA3-E9AF-4409-A916-C6F77195AE02}" type="presParOf" srcId="{8DA87413-4C7B-4CF5-B9BA-5E021BA78F45}" destId="{9C441365-0A70-4EE4-9C39-9CA4C9FE269A}" srcOrd="6" destOrd="0" presId="urn:microsoft.com/office/officeart/2008/layout/LinedList"/>
    <dgm:cxn modelId="{EE0F875F-03F8-4B14-9A34-273B35C9C453}" type="presParOf" srcId="{8DA87413-4C7B-4CF5-B9BA-5E021BA78F45}" destId="{3207F783-02B7-4B8E-8EAB-0AAD122E88A3}" srcOrd="7" destOrd="0" presId="urn:microsoft.com/office/officeart/2008/layout/LinedList"/>
    <dgm:cxn modelId="{F00D282E-B605-41E3-8E5C-02A5C964EC06}" type="presParOf" srcId="{3207F783-02B7-4B8E-8EAB-0AAD122E88A3}" destId="{D253BAAD-8BC9-44BD-8F2B-1B4E08C18C99}" srcOrd="0" destOrd="0" presId="urn:microsoft.com/office/officeart/2008/layout/LinedList"/>
    <dgm:cxn modelId="{D4943904-92F3-4A5A-926E-96CBB4829C90}" type="presParOf" srcId="{3207F783-02B7-4B8E-8EAB-0AAD122E88A3}" destId="{62C374B1-9E81-418D-85B1-7477C8EDAD2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41DF50C-3507-4D82-A693-1C141398D2F3}"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zh-CN" altLang="en-US"/>
        </a:p>
      </dgm:t>
    </dgm:pt>
    <dgm:pt modelId="{BEFF90F4-7070-4BF2-AE17-D1E9D427FDE0}">
      <dgm:prSet custT="1"/>
      <dgm:spPr/>
      <dgm:t>
        <a:bodyPr/>
        <a:lstStyle/>
        <a:p>
          <a:r>
            <a:rPr lang="zh-CN" sz="1600" b="1">
              <a:solidFill>
                <a:schemeClr val="tx1"/>
              </a:solidFill>
              <a:latin typeface="+mn-ea"/>
              <a:ea typeface="+mn-ea"/>
            </a:rPr>
            <a:t>业务包括什么？研发（</a:t>
          </a:r>
          <a:r>
            <a:rPr lang="en-US" sz="1600" b="1">
              <a:solidFill>
                <a:schemeClr val="tx1"/>
              </a:solidFill>
              <a:latin typeface="+mn-ea"/>
              <a:ea typeface="+mn-ea"/>
            </a:rPr>
            <a:t>C</a:t>
          </a:r>
          <a:r>
            <a:rPr lang="zh-CN" sz="1600" b="1">
              <a:solidFill>
                <a:schemeClr val="tx1"/>
              </a:solidFill>
              <a:latin typeface="+mn-ea"/>
              <a:ea typeface="+mn-ea"/>
            </a:rPr>
            <a:t>）、营销</a:t>
          </a:r>
          <a:r>
            <a:rPr lang="en-US" sz="1600" b="1">
              <a:solidFill>
                <a:schemeClr val="tx1"/>
              </a:solidFill>
              <a:latin typeface="+mn-ea"/>
              <a:ea typeface="+mn-ea"/>
            </a:rPr>
            <a:t>/</a:t>
          </a:r>
          <a:r>
            <a:rPr lang="zh-CN" sz="1600" b="1">
              <a:solidFill>
                <a:schemeClr val="tx1"/>
              </a:solidFill>
              <a:latin typeface="+mn-ea"/>
              <a:ea typeface="+mn-ea"/>
            </a:rPr>
            <a:t>销售（</a:t>
          </a:r>
          <a:r>
            <a:rPr lang="en-US" sz="1600" b="1">
              <a:solidFill>
                <a:schemeClr val="tx1"/>
              </a:solidFill>
              <a:latin typeface="+mn-ea"/>
              <a:ea typeface="+mn-ea"/>
            </a:rPr>
            <a:t>P</a:t>
          </a:r>
          <a:r>
            <a:rPr lang="zh-CN" sz="1600" b="1">
              <a:solidFill>
                <a:schemeClr val="tx1"/>
              </a:solidFill>
              <a:latin typeface="+mn-ea"/>
              <a:ea typeface="+mn-ea"/>
            </a:rPr>
            <a:t>）、供应链（</a:t>
          </a:r>
          <a:r>
            <a:rPr lang="en-US" sz="1600" b="1">
              <a:solidFill>
                <a:schemeClr val="tx1"/>
              </a:solidFill>
              <a:latin typeface="+mn-ea"/>
              <a:ea typeface="+mn-ea"/>
            </a:rPr>
            <a:t>D</a:t>
          </a:r>
          <a:r>
            <a:rPr lang="zh-CN" sz="1600" b="1">
              <a:solidFill>
                <a:schemeClr val="tx1"/>
              </a:solidFill>
              <a:latin typeface="+mn-ea"/>
              <a:ea typeface="+mn-ea"/>
            </a:rPr>
            <a:t>）。</a:t>
          </a:r>
        </a:p>
      </dgm:t>
    </dgm:pt>
    <dgm:pt modelId="{6F3D87BD-46A4-42EE-85BD-452C59CC182B}" type="parTrans" cxnId="{96875B3A-ADB8-4B93-8AC5-493A04FF71B1}">
      <dgm:prSet/>
      <dgm:spPr/>
      <dgm:t>
        <a:bodyPr/>
        <a:lstStyle/>
        <a:p>
          <a:endParaRPr lang="zh-CN" altLang="en-US" sz="2800" b="1">
            <a:solidFill>
              <a:schemeClr val="tx1"/>
            </a:solidFill>
            <a:latin typeface="+mn-ea"/>
            <a:ea typeface="+mn-ea"/>
          </a:endParaRPr>
        </a:p>
      </dgm:t>
    </dgm:pt>
    <dgm:pt modelId="{FCC1672E-8225-4407-AC3D-828187EA8D13}" type="sibTrans" cxnId="{96875B3A-ADB8-4B93-8AC5-493A04FF71B1}">
      <dgm:prSet/>
      <dgm:spPr/>
      <dgm:t>
        <a:bodyPr/>
        <a:lstStyle/>
        <a:p>
          <a:endParaRPr lang="zh-CN" altLang="en-US" sz="2800" b="1">
            <a:solidFill>
              <a:schemeClr val="tx1"/>
            </a:solidFill>
            <a:latin typeface="+mn-ea"/>
            <a:ea typeface="+mn-ea"/>
          </a:endParaRPr>
        </a:p>
      </dgm:t>
    </dgm:pt>
    <dgm:pt modelId="{BC548644-7985-4F0F-8368-47BB0FE26C12}">
      <dgm:prSet custT="1"/>
      <dgm:spPr/>
      <dgm:t>
        <a:bodyPr/>
        <a:lstStyle/>
        <a:p>
          <a:r>
            <a:rPr lang="zh-CN" altLang="en-US" sz="1600" b="1">
              <a:solidFill>
                <a:schemeClr val="tx1"/>
              </a:solidFill>
              <a:latin typeface="+mn-ea"/>
              <a:ea typeface="+mn-ea"/>
            </a:rPr>
            <a:t>但真正的能力，不是分别懂这三块。而是要懂它们之间的强耦合：</a:t>
          </a:r>
        </a:p>
      </dgm:t>
    </dgm:pt>
    <dgm:pt modelId="{BBB27021-A384-469E-8048-B4315C0FAF08}" type="parTrans" cxnId="{89876262-E2F6-4D78-92A3-55A3D85BC37E}">
      <dgm:prSet/>
      <dgm:spPr/>
      <dgm:t>
        <a:bodyPr/>
        <a:lstStyle/>
        <a:p>
          <a:endParaRPr lang="zh-CN" altLang="en-US" sz="2800" b="1">
            <a:solidFill>
              <a:schemeClr val="tx1"/>
            </a:solidFill>
            <a:latin typeface="+mn-ea"/>
            <a:ea typeface="+mn-ea"/>
          </a:endParaRPr>
        </a:p>
      </dgm:t>
    </dgm:pt>
    <dgm:pt modelId="{EA19DD2D-F1B0-4779-B4B2-2F63E4AB8F82}" type="sibTrans" cxnId="{89876262-E2F6-4D78-92A3-55A3D85BC37E}">
      <dgm:prSet/>
      <dgm:spPr/>
      <dgm:t>
        <a:bodyPr/>
        <a:lstStyle/>
        <a:p>
          <a:endParaRPr lang="zh-CN" altLang="en-US" sz="2800" b="1">
            <a:solidFill>
              <a:schemeClr val="tx1"/>
            </a:solidFill>
            <a:latin typeface="+mn-ea"/>
            <a:ea typeface="+mn-ea"/>
          </a:endParaRPr>
        </a:p>
      </dgm:t>
    </dgm:pt>
    <dgm:pt modelId="{2F06C785-B40C-4DE6-912B-024F69BE7AB0}">
      <dgm:prSet custT="1"/>
      <dgm:spPr/>
      <dgm:t>
        <a:bodyPr/>
        <a:lstStyle/>
        <a:p>
          <a:r>
            <a:rPr lang="zh-CN" altLang="en-US" sz="1600" b="1">
              <a:solidFill>
                <a:schemeClr val="tx1"/>
              </a:solidFill>
              <a:latin typeface="+mn-ea"/>
              <a:ea typeface="+mn-ea"/>
            </a:rPr>
            <a:t>研发改一个零件，采购前置期变了，产线可能停线。</a:t>
          </a:r>
        </a:p>
      </dgm:t>
    </dgm:pt>
    <dgm:pt modelId="{DB3BBCED-5F72-4581-8EE2-60D688DAFE0D}" type="parTrans" cxnId="{8E63E5AE-F53E-4D57-AB86-A5FCB22011A1}">
      <dgm:prSet/>
      <dgm:spPr/>
      <dgm:t>
        <a:bodyPr/>
        <a:lstStyle/>
        <a:p>
          <a:endParaRPr lang="zh-CN" altLang="en-US" sz="2800" b="1">
            <a:solidFill>
              <a:schemeClr val="tx1"/>
            </a:solidFill>
            <a:latin typeface="+mn-ea"/>
            <a:ea typeface="+mn-ea"/>
          </a:endParaRPr>
        </a:p>
      </dgm:t>
    </dgm:pt>
    <dgm:pt modelId="{ECCD13D9-7F89-4DB0-B8F4-3B1330E41EEB}" type="sibTrans" cxnId="{8E63E5AE-F53E-4D57-AB86-A5FCB22011A1}">
      <dgm:prSet/>
      <dgm:spPr/>
      <dgm:t>
        <a:bodyPr/>
        <a:lstStyle/>
        <a:p>
          <a:endParaRPr lang="zh-CN" altLang="en-US" sz="2800" b="1">
            <a:solidFill>
              <a:schemeClr val="tx1"/>
            </a:solidFill>
            <a:latin typeface="+mn-ea"/>
            <a:ea typeface="+mn-ea"/>
          </a:endParaRPr>
        </a:p>
      </dgm:t>
    </dgm:pt>
    <dgm:pt modelId="{2B9879EF-ED3A-4374-B1E3-FFCA0FAF74A6}">
      <dgm:prSet custT="1"/>
      <dgm:spPr/>
      <dgm:t>
        <a:bodyPr/>
        <a:lstStyle/>
        <a:p>
          <a:r>
            <a:rPr lang="zh-CN" altLang="en-US" sz="1600" b="1">
              <a:solidFill>
                <a:schemeClr val="tx1"/>
              </a:solidFill>
              <a:latin typeface="+mn-ea"/>
              <a:ea typeface="+mn-ea"/>
            </a:rPr>
            <a:t>销售拍胸脯承诺交期，后端产能接不住，交期违约赔款。</a:t>
          </a:r>
        </a:p>
      </dgm:t>
    </dgm:pt>
    <dgm:pt modelId="{D678912E-9F29-4C02-90D4-BDA47A7FF9CB}" type="parTrans" cxnId="{18128D62-9CF4-4407-AA2B-68E8CF034FBE}">
      <dgm:prSet/>
      <dgm:spPr/>
      <dgm:t>
        <a:bodyPr/>
        <a:lstStyle/>
        <a:p>
          <a:endParaRPr lang="zh-CN" altLang="en-US" sz="2800" b="1">
            <a:solidFill>
              <a:schemeClr val="tx1"/>
            </a:solidFill>
            <a:latin typeface="+mn-ea"/>
            <a:ea typeface="+mn-ea"/>
          </a:endParaRPr>
        </a:p>
      </dgm:t>
    </dgm:pt>
    <dgm:pt modelId="{69E6DF0D-0B74-4274-AE68-6B7D698BBD64}" type="sibTrans" cxnId="{18128D62-9CF4-4407-AA2B-68E8CF034FBE}">
      <dgm:prSet/>
      <dgm:spPr/>
      <dgm:t>
        <a:bodyPr/>
        <a:lstStyle/>
        <a:p>
          <a:endParaRPr lang="zh-CN" altLang="en-US" sz="2800" b="1">
            <a:solidFill>
              <a:schemeClr val="tx1"/>
            </a:solidFill>
            <a:latin typeface="+mn-ea"/>
            <a:ea typeface="+mn-ea"/>
          </a:endParaRPr>
        </a:p>
      </dgm:t>
    </dgm:pt>
    <dgm:pt modelId="{84CA6B2A-90F8-4E94-8321-9AED4386CB7C}">
      <dgm:prSet custT="1"/>
      <dgm:spPr/>
      <dgm:t>
        <a:bodyPr/>
        <a:lstStyle/>
        <a:p>
          <a:r>
            <a:rPr lang="zh-CN" sz="1600" b="1">
              <a:solidFill>
                <a:schemeClr val="tx1"/>
              </a:solidFill>
              <a:latin typeface="+mn-ea"/>
              <a:ea typeface="+mn-ea"/>
            </a:rPr>
            <a:t>交付端为保单日</a:t>
          </a:r>
          <a:r>
            <a:rPr lang="en-US" sz="1600" b="1">
              <a:solidFill>
                <a:schemeClr val="tx1"/>
              </a:solidFill>
              <a:latin typeface="+mn-ea"/>
              <a:ea typeface="+mn-ea"/>
            </a:rPr>
            <a:t>OEE</a:t>
          </a:r>
          <a:r>
            <a:rPr lang="zh-CN" sz="1600" b="1">
              <a:solidFill>
                <a:schemeClr val="tx1"/>
              </a:solidFill>
              <a:latin typeface="+mn-ea"/>
              <a:ea typeface="+mn-ea"/>
            </a:rPr>
            <a:t>，偷偷挪料，大客户承诺落空。</a:t>
          </a:r>
        </a:p>
      </dgm:t>
    </dgm:pt>
    <dgm:pt modelId="{BEB6FCDC-5642-4FE3-A5B2-B9C76EC0A814}" type="parTrans" cxnId="{EF097216-2C4E-4B34-A94F-D5B27706855F}">
      <dgm:prSet/>
      <dgm:spPr/>
      <dgm:t>
        <a:bodyPr/>
        <a:lstStyle/>
        <a:p>
          <a:endParaRPr lang="zh-CN" altLang="en-US" sz="2800" b="1">
            <a:solidFill>
              <a:schemeClr val="tx1"/>
            </a:solidFill>
            <a:latin typeface="+mn-ea"/>
            <a:ea typeface="+mn-ea"/>
          </a:endParaRPr>
        </a:p>
      </dgm:t>
    </dgm:pt>
    <dgm:pt modelId="{1742F299-B1F6-4375-8DE3-AC11A0DF3270}" type="sibTrans" cxnId="{EF097216-2C4E-4B34-A94F-D5B27706855F}">
      <dgm:prSet/>
      <dgm:spPr/>
      <dgm:t>
        <a:bodyPr/>
        <a:lstStyle/>
        <a:p>
          <a:endParaRPr lang="zh-CN" altLang="en-US" sz="2800" b="1">
            <a:solidFill>
              <a:schemeClr val="tx1"/>
            </a:solidFill>
            <a:latin typeface="+mn-ea"/>
            <a:ea typeface="+mn-ea"/>
          </a:endParaRPr>
        </a:p>
      </dgm:t>
    </dgm:pt>
    <dgm:pt modelId="{05BBDADA-7F65-4223-AAF1-5687E575E515}">
      <dgm:prSet custT="1"/>
      <dgm:spPr/>
      <dgm:t>
        <a:bodyPr/>
        <a:lstStyle/>
        <a:p>
          <a:r>
            <a:rPr lang="en-US" sz="1600" b="1">
              <a:solidFill>
                <a:schemeClr val="tx1"/>
              </a:solidFill>
              <a:latin typeface="+mn-ea"/>
              <a:ea typeface="+mn-ea"/>
            </a:rPr>
            <a:t>C</a:t>
          </a:r>
          <a:r>
            <a:rPr lang="zh-CN" sz="1600" b="1">
              <a:solidFill>
                <a:schemeClr val="tx1"/>
              </a:solidFill>
              <a:latin typeface="+mn-ea"/>
              <a:ea typeface="+mn-ea"/>
            </a:rPr>
            <a:t>动一下，</a:t>
          </a:r>
          <a:r>
            <a:rPr lang="en-US" sz="1600" b="1">
              <a:solidFill>
                <a:schemeClr val="tx1"/>
              </a:solidFill>
              <a:latin typeface="+mn-ea"/>
              <a:ea typeface="+mn-ea"/>
            </a:rPr>
            <a:t>P</a:t>
          </a:r>
          <a:r>
            <a:rPr lang="zh-CN" sz="1600" b="1">
              <a:solidFill>
                <a:schemeClr val="tx1"/>
              </a:solidFill>
              <a:latin typeface="+mn-ea"/>
              <a:ea typeface="+mn-ea"/>
            </a:rPr>
            <a:t>和</a:t>
          </a:r>
          <a:r>
            <a:rPr lang="en-US" sz="1600" b="1">
              <a:solidFill>
                <a:schemeClr val="tx1"/>
              </a:solidFill>
              <a:latin typeface="+mn-ea"/>
              <a:ea typeface="+mn-ea"/>
            </a:rPr>
            <a:t>D</a:t>
          </a:r>
          <a:r>
            <a:rPr lang="zh-CN" sz="1600" b="1">
              <a:solidFill>
                <a:schemeClr val="tx1"/>
              </a:solidFill>
              <a:latin typeface="+mn-ea"/>
              <a:ea typeface="+mn-ea"/>
            </a:rPr>
            <a:t>跟着震。</a:t>
          </a:r>
          <a:r>
            <a:rPr lang="en-US" sz="1600" b="1">
              <a:solidFill>
                <a:schemeClr val="tx1"/>
              </a:solidFill>
              <a:latin typeface="+mn-ea"/>
              <a:ea typeface="+mn-ea"/>
            </a:rPr>
            <a:t>P</a:t>
          </a:r>
          <a:r>
            <a:rPr lang="zh-CN" sz="1600" b="1">
              <a:solidFill>
                <a:schemeClr val="tx1"/>
              </a:solidFill>
              <a:latin typeface="+mn-ea"/>
              <a:ea typeface="+mn-ea"/>
            </a:rPr>
            <a:t>动一下，</a:t>
          </a:r>
          <a:r>
            <a:rPr lang="en-US" sz="1600" b="1">
              <a:solidFill>
                <a:schemeClr val="tx1"/>
              </a:solidFill>
              <a:latin typeface="+mn-ea"/>
              <a:ea typeface="+mn-ea"/>
            </a:rPr>
            <a:t>C</a:t>
          </a:r>
          <a:r>
            <a:rPr lang="zh-CN" sz="1600" b="1">
              <a:solidFill>
                <a:schemeClr val="tx1"/>
              </a:solidFill>
              <a:latin typeface="+mn-ea"/>
              <a:ea typeface="+mn-ea"/>
            </a:rPr>
            <a:t>和</a:t>
          </a:r>
          <a:r>
            <a:rPr lang="en-US" sz="1600" b="1">
              <a:solidFill>
                <a:schemeClr val="tx1"/>
              </a:solidFill>
              <a:latin typeface="+mn-ea"/>
              <a:ea typeface="+mn-ea"/>
            </a:rPr>
            <a:t>D</a:t>
          </a:r>
          <a:r>
            <a:rPr lang="zh-CN" sz="1600" b="1">
              <a:solidFill>
                <a:schemeClr val="tx1"/>
              </a:solidFill>
              <a:latin typeface="+mn-ea"/>
              <a:ea typeface="+mn-ea"/>
            </a:rPr>
            <a:t>跟着抖。</a:t>
          </a:r>
          <a:r>
            <a:rPr lang="en-US" sz="1600" b="1">
              <a:solidFill>
                <a:schemeClr val="tx1"/>
              </a:solidFill>
              <a:latin typeface="+mn-ea"/>
              <a:ea typeface="+mn-ea"/>
            </a:rPr>
            <a:t>D</a:t>
          </a:r>
          <a:r>
            <a:rPr lang="zh-CN" sz="1600" b="1">
              <a:solidFill>
                <a:schemeClr val="tx1"/>
              </a:solidFill>
              <a:latin typeface="+mn-ea"/>
              <a:ea typeface="+mn-ea"/>
            </a:rPr>
            <a:t>动一下，整个因果网重新排列。</a:t>
          </a:r>
        </a:p>
      </dgm:t>
    </dgm:pt>
    <dgm:pt modelId="{CF4F9657-179F-4DE3-9699-AB295A88F210}" type="parTrans" cxnId="{CAE53C64-45F9-424B-B5BB-BCB7962D75F6}">
      <dgm:prSet/>
      <dgm:spPr/>
      <dgm:t>
        <a:bodyPr/>
        <a:lstStyle/>
        <a:p>
          <a:endParaRPr lang="zh-CN" altLang="en-US" sz="2800" b="1">
            <a:solidFill>
              <a:schemeClr val="tx1"/>
            </a:solidFill>
            <a:latin typeface="+mn-ea"/>
            <a:ea typeface="+mn-ea"/>
          </a:endParaRPr>
        </a:p>
      </dgm:t>
    </dgm:pt>
    <dgm:pt modelId="{E8C9921A-89B1-447E-A69B-AE390A2803DF}" type="sibTrans" cxnId="{CAE53C64-45F9-424B-B5BB-BCB7962D75F6}">
      <dgm:prSet/>
      <dgm:spPr/>
      <dgm:t>
        <a:bodyPr/>
        <a:lstStyle/>
        <a:p>
          <a:endParaRPr lang="zh-CN" altLang="en-US" sz="2800" b="1">
            <a:solidFill>
              <a:schemeClr val="tx1"/>
            </a:solidFill>
            <a:latin typeface="+mn-ea"/>
            <a:ea typeface="+mn-ea"/>
          </a:endParaRPr>
        </a:p>
      </dgm:t>
    </dgm:pt>
    <dgm:pt modelId="{B7D58BD7-B75C-4EA4-9201-0D0177C7DA4A}">
      <dgm:prSet custT="1"/>
      <dgm:spPr/>
      <dgm:t>
        <a:bodyPr/>
        <a:lstStyle/>
        <a:p>
          <a:r>
            <a:rPr lang="zh-CN" sz="1600" b="1" dirty="0">
              <a:solidFill>
                <a:schemeClr val="tx1"/>
              </a:solidFill>
              <a:latin typeface="+mn-ea"/>
              <a:ea typeface="+mn-ea"/>
            </a:rPr>
            <a:t>而且不是泛泛地懂，是懂到模型层面</a:t>
          </a:r>
          <a:r>
            <a:rPr lang="en-US" sz="1600" b="1" dirty="0">
              <a:solidFill>
                <a:schemeClr val="tx1"/>
              </a:solidFill>
              <a:latin typeface="+mn-ea"/>
              <a:ea typeface="+mn-ea"/>
            </a:rPr>
            <a:t>——</a:t>
          </a:r>
          <a:r>
            <a:rPr lang="zh-CN" sz="1600" b="1" dirty="0">
              <a:solidFill>
                <a:schemeClr val="tx1"/>
              </a:solidFill>
              <a:latin typeface="+mn-ea"/>
              <a:ea typeface="+mn-ea"/>
            </a:rPr>
            <a:t>物料怎么齐套、产能怎么约束、交期怎么传导、替换料怎么切换。</a:t>
          </a:r>
        </a:p>
      </dgm:t>
    </dgm:pt>
    <dgm:pt modelId="{795EC5C8-F991-452F-BF99-32AE3A1A9122}" type="parTrans" cxnId="{858B2739-4108-46B7-92A3-27B9524E76D4}">
      <dgm:prSet/>
      <dgm:spPr/>
      <dgm:t>
        <a:bodyPr/>
        <a:lstStyle/>
        <a:p>
          <a:endParaRPr lang="zh-CN" altLang="en-US" sz="2800" b="1">
            <a:solidFill>
              <a:schemeClr val="tx1"/>
            </a:solidFill>
            <a:latin typeface="+mn-ea"/>
            <a:ea typeface="+mn-ea"/>
          </a:endParaRPr>
        </a:p>
      </dgm:t>
    </dgm:pt>
    <dgm:pt modelId="{69265571-D420-453E-AFF7-26E32B51EC2D}" type="sibTrans" cxnId="{858B2739-4108-46B7-92A3-27B9524E76D4}">
      <dgm:prSet/>
      <dgm:spPr/>
      <dgm:t>
        <a:bodyPr/>
        <a:lstStyle/>
        <a:p>
          <a:endParaRPr lang="zh-CN" altLang="en-US" sz="2800" b="1">
            <a:solidFill>
              <a:schemeClr val="tx1"/>
            </a:solidFill>
            <a:latin typeface="+mn-ea"/>
            <a:ea typeface="+mn-ea"/>
          </a:endParaRPr>
        </a:p>
      </dgm:t>
    </dgm:pt>
    <dgm:pt modelId="{1C5A6B94-1217-42B6-8D80-42C807D756C1}" type="pres">
      <dgm:prSet presAssocID="{141DF50C-3507-4D82-A693-1C141398D2F3}" presName="linear" presStyleCnt="0">
        <dgm:presLayoutVars>
          <dgm:dir/>
          <dgm:animLvl val="lvl"/>
          <dgm:resizeHandles val="exact"/>
        </dgm:presLayoutVars>
      </dgm:prSet>
      <dgm:spPr/>
    </dgm:pt>
    <dgm:pt modelId="{53AF135B-BE52-494C-8530-5261D5F86D3A}" type="pres">
      <dgm:prSet presAssocID="{BEFF90F4-7070-4BF2-AE17-D1E9D427FDE0}" presName="parentLin" presStyleCnt="0"/>
      <dgm:spPr/>
    </dgm:pt>
    <dgm:pt modelId="{FE2A22BD-25D4-4F7A-B9F1-903F70BC49FE}" type="pres">
      <dgm:prSet presAssocID="{BEFF90F4-7070-4BF2-AE17-D1E9D427FDE0}" presName="parentLeftMargin" presStyleLbl="node1" presStyleIdx="0" presStyleCnt="4"/>
      <dgm:spPr/>
    </dgm:pt>
    <dgm:pt modelId="{59B5C966-8246-47B5-B539-2AA9FF224882}" type="pres">
      <dgm:prSet presAssocID="{BEFF90F4-7070-4BF2-AE17-D1E9D427FDE0}" presName="parentText" presStyleLbl="node1" presStyleIdx="0" presStyleCnt="4">
        <dgm:presLayoutVars>
          <dgm:chMax val="0"/>
          <dgm:bulletEnabled val="1"/>
        </dgm:presLayoutVars>
      </dgm:prSet>
      <dgm:spPr/>
    </dgm:pt>
    <dgm:pt modelId="{76F60610-EEB6-4857-A794-D32995A71067}" type="pres">
      <dgm:prSet presAssocID="{BEFF90F4-7070-4BF2-AE17-D1E9D427FDE0}" presName="negativeSpace" presStyleCnt="0"/>
      <dgm:spPr/>
    </dgm:pt>
    <dgm:pt modelId="{9957AED5-2596-4482-AFBC-1588808F3110}" type="pres">
      <dgm:prSet presAssocID="{BEFF90F4-7070-4BF2-AE17-D1E9D427FDE0}" presName="childText" presStyleLbl="conFgAcc1" presStyleIdx="0" presStyleCnt="4">
        <dgm:presLayoutVars>
          <dgm:bulletEnabled val="1"/>
        </dgm:presLayoutVars>
      </dgm:prSet>
      <dgm:spPr/>
    </dgm:pt>
    <dgm:pt modelId="{AB4E8BC0-4812-4E66-97DE-CBA757F72D5F}" type="pres">
      <dgm:prSet presAssocID="{FCC1672E-8225-4407-AC3D-828187EA8D13}" presName="spaceBetweenRectangles" presStyleCnt="0"/>
      <dgm:spPr/>
    </dgm:pt>
    <dgm:pt modelId="{BC8CC27C-93E2-4562-AD6C-7D51857D5F4C}" type="pres">
      <dgm:prSet presAssocID="{BC548644-7985-4F0F-8368-47BB0FE26C12}" presName="parentLin" presStyleCnt="0"/>
      <dgm:spPr/>
    </dgm:pt>
    <dgm:pt modelId="{0EB643EE-91C4-4270-BF05-5F693AA879CD}" type="pres">
      <dgm:prSet presAssocID="{BC548644-7985-4F0F-8368-47BB0FE26C12}" presName="parentLeftMargin" presStyleLbl="node1" presStyleIdx="0" presStyleCnt="4"/>
      <dgm:spPr/>
    </dgm:pt>
    <dgm:pt modelId="{84920056-7C96-4149-B678-F7A3336FF6F6}" type="pres">
      <dgm:prSet presAssocID="{BC548644-7985-4F0F-8368-47BB0FE26C12}" presName="parentText" presStyleLbl="node1" presStyleIdx="1" presStyleCnt="4">
        <dgm:presLayoutVars>
          <dgm:chMax val="0"/>
          <dgm:bulletEnabled val="1"/>
        </dgm:presLayoutVars>
      </dgm:prSet>
      <dgm:spPr/>
    </dgm:pt>
    <dgm:pt modelId="{10BE8092-25ED-4CFC-A1AF-1621AFED205C}" type="pres">
      <dgm:prSet presAssocID="{BC548644-7985-4F0F-8368-47BB0FE26C12}" presName="negativeSpace" presStyleCnt="0"/>
      <dgm:spPr/>
    </dgm:pt>
    <dgm:pt modelId="{8227C405-FE0B-44A7-92E5-BC918CD7CA88}" type="pres">
      <dgm:prSet presAssocID="{BC548644-7985-4F0F-8368-47BB0FE26C12}" presName="childText" presStyleLbl="conFgAcc1" presStyleIdx="1" presStyleCnt="4">
        <dgm:presLayoutVars>
          <dgm:bulletEnabled val="1"/>
        </dgm:presLayoutVars>
      </dgm:prSet>
      <dgm:spPr/>
    </dgm:pt>
    <dgm:pt modelId="{B2B70FB5-4FC2-4B07-91C4-5F2B2D3430E7}" type="pres">
      <dgm:prSet presAssocID="{EA19DD2D-F1B0-4779-B4B2-2F63E4AB8F82}" presName="spaceBetweenRectangles" presStyleCnt="0"/>
      <dgm:spPr/>
    </dgm:pt>
    <dgm:pt modelId="{D5397096-CD8E-42DD-BA7B-3003C3B14AAC}" type="pres">
      <dgm:prSet presAssocID="{05BBDADA-7F65-4223-AAF1-5687E575E515}" presName="parentLin" presStyleCnt="0"/>
      <dgm:spPr/>
    </dgm:pt>
    <dgm:pt modelId="{B2A6BB19-3A08-4950-8E3C-D3C7C21DECC3}" type="pres">
      <dgm:prSet presAssocID="{05BBDADA-7F65-4223-AAF1-5687E575E515}" presName="parentLeftMargin" presStyleLbl="node1" presStyleIdx="1" presStyleCnt="4"/>
      <dgm:spPr/>
    </dgm:pt>
    <dgm:pt modelId="{DA339AF2-B31D-4579-B7FD-21416FA4B5B7}" type="pres">
      <dgm:prSet presAssocID="{05BBDADA-7F65-4223-AAF1-5687E575E515}" presName="parentText" presStyleLbl="node1" presStyleIdx="2" presStyleCnt="4">
        <dgm:presLayoutVars>
          <dgm:chMax val="0"/>
          <dgm:bulletEnabled val="1"/>
        </dgm:presLayoutVars>
      </dgm:prSet>
      <dgm:spPr/>
    </dgm:pt>
    <dgm:pt modelId="{8BF57147-80BB-430A-9717-D60FDE584B69}" type="pres">
      <dgm:prSet presAssocID="{05BBDADA-7F65-4223-AAF1-5687E575E515}" presName="negativeSpace" presStyleCnt="0"/>
      <dgm:spPr/>
    </dgm:pt>
    <dgm:pt modelId="{4343B7D1-1E8D-40F4-9E36-BD6D4FD92394}" type="pres">
      <dgm:prSet presAssocID="{05BBDADA-7F65-4223-AAF1-5687E575E515}" presName="childText" presStyleLbl="conFgAcc1" presStyleIdx="2" presStyleCnt="4">
        <dgm:presLayoutVars>
          <dgm:bulletEnabled val="1"/>
        </dgm:presLayoutVars>
      </dgm:prSet>
      <dgm:spPr/>
    </dgm:pt>
    <dgm:pt modelId="{42F9936B-470D-4E37-A3A9-BE30DCAC2625}" type="pres">
      <dgm:prSet presAssocID="{E8C9921A-89B1-447E-A69B-AE390A2803DF}" presName="spaceBetweenRectangles" presStyleCnt="0"/>
      <dgm:spPr/>
    </dgm:pt>
    <dgm:pt modelId="{D2DFEBE6-6823-49FF-BF49-F88E22061472}" type="pres">
      <dgm:prSet presAssocID="{B7D58BD7-B75C-4EA4-9201-0D0177C7DA4A}" presName="parentLin" presStyleCnt="0"/>
      <dgm:spPr/>
    </dgm:pt>
    <dgm:pt modelId="{65D0E6F5-4FE8-4777-A586-32BCC07A0D3B}" type="pres">
      <dgm:prSet presAssocID="{B7D58BD7-B75C-4EA4-9201-0D0177C7DA4A}" presName="parentLeftMargin" presStyleLbl="node1" presStyleIdx="2" presStyleCnt="4"/>
      <dgm:spPr/>
    </dgm:pt>
    <dgm:pt modelId="{8E4414AA-2F64-4CB0-AB89-506B7CF8DE4F}" type="pres">
      <dgm:prSet presAssocID="{B7D58BD7-B75C-4EA4-9201-0D0177C7DA4A}" presName="parentText" presStyleLbl="node1" presStyleIdx="3" presStyleCnt="4">
        <dgm:presLayoutVars>
          <dgm:chMax val="0"/>
          <dgm:bulletEnabled val="1"/>
        </dgm:presLayoutVars>
      </dgm:prSet>
      <dgm:spPr/>
    </dgm:pt>
    <dgm:pt modelId="{F838482C-16F4-4FAE-8D4C-B975D1E9AD50}" type="pres">
      <dgm:prSet presAssocID="{B7D58BD7-B75C-4EA4-9201-0D0177C7DA4A}" presName="negativeSpace" presStyleCnt="0"/>
      <dgm:spPr/>
    </dgm:pt>
    <dgm:pt modelId="{97225EAC-AE2B-429C-8720-B379F7EE11E9}" type="pres">
      <dgm:prSet presAssocID="{B7D58BD7-B75C-4EA4-9201-0D0177C7DA4A}" presName="childText" presStyleLbl="conFgAcc1" presStyleIdx="3" presStyleCnt="4">
        <dgm:presLayoutVars>
          <dgm:bulletEnabled val="1"/>
        </dgm:presLayoutVars>
      </dgm:prSet>
      <dgm:spPr/>
    </dgm:pt>
  </dgm:ptLst>
  <dgm:cxnLst>
    <dgm:cxn modelId="{36241714-6CBE-46A4-99BB-A1DFCC9DD685}" type="presOf" srcId="{2B9879EF-ED3A-4374-B1E3-FFCA0FAF74A6}" destId="{8227C405-FE0B-44A7-92E5-BC918CD7CA88}" srcOrd="0" destOrd="1" presId="urn:microsoft.com/office/officeart/2005/8/layout/list1"/>
    <dgm:cxn modelId="{EF097216-2C4E-4B34-A94F-D5B27706855F}" srcId="{BC548644-7985-4F0F-8368-47BB0FE26C12}" destId="{84CA6B2A-90F8-4E94-8321-9AED4386CB7C}" srcOrd="2" destOrd="0" parTransId="{BEB6FCDC-5642-4FE3-A5B2-B9C76EC0A814}" sibTransId="{1742F299-B1F6-4375-8DE3-AC11A0DF3270}"/>
    <dgm:cxn modelId="{09E1072A-A52F-48A9-A551-7F37D39AB53A}" type="presOf" srcId="{B7D58BD7-B75C-4EA4-9201-0D0177C7DA4A}" destId="{8E4414AA-2F64-4CB0-AB89-506B7CF8DE4F}" srcOrd="1" destOrd="0" presId="urn:microsoft.com/office/officeart/2005/8/layout/list1"/>
    <dgm:cxn modelId="{FB97FC2C-E6CC-4B52-A64C-1CB6C4CF6700}" type="presOf" srcId="{141DF50C-3507-4D82-A693-1C141398D2F3}" destId="{1C5A6B94-1217-42B6-8D80-42C807D756C1}" srcOrd="0" destOrd="0" presId="urn:microsoft.com/office/officeart/2005/8/layout/list1"/>
    <dgm:cxn modelId="{858B2739-4108-46B7-92A3-27B9524E76D4}" srcId="{141DF50C-3507-4D82-A693-1C141398D2F3}" destId="{B7D58BD7-B75C-4EA4-9201-0D0177C7DA4A}" srcOrd="3" destOrd="0" parTransId="{795EC5C8-F991-452F-BF99-32AE3A1A9122}" sibTransId="{69265571-D420-453E-AFF7-26E32B51EC2D}"/>
    <dgm:cxn modelId="{96875B3A-ADB8-4B93-8AC5-493A04FF71B1}" srcId="{141DF50C-3507-4D82-A693-1C141398D2F3}" destId="{BEFF90F4-7070-4BF2-AE17-D1E9D427FDE0}" srcOrd="0" destOrd="0" parTransId="{6F3D87BD-46A4-42EE-85BD-452C59CC182B}" sibTransId="{FCC1672E-8225-4407-AC3D-828187EA8D13}"/>
    <dgm:cxn modelId="{89876262-E2F6-4D78-92A3-55A3D85BC37E}" srcId="{141DF50C-3507-4D82-A693-1C141398D2F3}" destId="{BC548644-7985-4F0F-8368-47BB0FE26C12}" srcOrd="1" destOrd="0" parTransId="{BBB27021-A384-469E-8048-B4315C0FAF08}" sibTransId="{EA19DD2D-F1B0-4779-B4B2-2F63E4AB8F82}"/>
    <dgm:cxn modelId="{18128D62-9CF4-4407-AA2B-68E8CF034FBE}" srcId="{BC548644-7985-4F0F-8368-47BB0FE26C12}" destId="{2B9879EF-ED3A-4374-B1E3-FFCA0FAF74A6}" srcOrd="1" destOrd="0" parTransId="{D678912E-9F29-4C02-90D4-BDA47A7FF9CB}" sibTransId="{69E6DF0D-0B74-4274-AE68-6B7D698BBD64}"/>
    <dgm:cxn modelId="{CAE53C64-45F9-424B-B5BB-BCB7962D75F6}" srcId="{141DF50C-3507-4D82-A693-1C141398D2F3}" destId="{05BBDADA-7F65-4223-AAF1-5687E575E515}" srcOrd="2" destOrd="0" parTransId="{CF4F9657-179F-4DE3-9699-AB295A88F210}" sibTransId="{E8C9921A-89B1-447E-A69B-AE390A2803DF}"/>
    <dgm:cxn modelId="{15586A6D-A82A-4BD9-B3F1-E446468A341E}" type="presOf" srcId="{BEFF90F4-7070-4BF2-AE17-D1E9D427FDE0}" destId="{FE2A22BD-25D4-4F7A-B9F1-903F70BC49FE}" srcOrd="0" destOrd="0" presId="urn:microsoft.com/office/officeart/2005/8/layout/list1"/>
    <dgm:cxn modelId="{6C89688B-7377-4386-BE7C-75850D75012C}" type="presOf" srcId="{05BBDADA-7F65-4223-AAF1-5687E575E515}" destId="{DA339AF2-B31D-4579-B7FD-21416FA4B5B7}" srcOrd="1" destOrd="0" presId="urn:microsoft.com/office/officeart/2005/8/layout/list1"/>
    <dgm:cxn modelId="{066A0191-75DD-4739-AC68-AE09645EC44C}" type="presOf" srcId="{BC548644-7985-4F0F-8368-47BB0FE26C12}" destId="{84920056-7C96-4149-B678-F7A3336FF6F6}" srcOrd="1" destOrd="0" presId="urn:microsoft.com/office/officeart/2005/8/layout/list1"/>
    <dgm:cxn modelId="{7333FC93-3BB0-4906-8DA0-95361E8232EC}" type="presOf" srcId="{05BBDADA-7F65-4223-AAF1-5687E575E515}" destId="{B2A6BB19-3A08-4950-8E3C-D3C7C21DECC3}" srcOrd="0" destOrd="0" presId="urn:microsoft.com/office/officeart/2005/8/layout/list1"/>
    <dgm:cxn modelId="{DAF7E994-6450-457A-AC02-C765404E18B6}" type="presOf" srcId="{BC548644-7985-4F0F-8368-47BB0FE26C12}" destId="{0EB643EE-91C4-4270-BF05-5F693AA879CD}" srcOrd="0" destOrd="0" presId="urn:microsoft.com/office/officeart/2005/8/layout/list1"/>
    <dgm:cxn modelId="{AEAE26AC-D26C-489E-B90B-E214A2D9F962}" type="presOf" srcId="{84CA6B2A-90F8-4E94-8321-9AED4386CB7C}" destId="{8227C405-FE0B-44A7-92E5-BC918CD7CA88}" srcOrd="0" destOrd="2" presId="urn:microsoft.com/office/officeart/2005/8/layout/list1"/>
    <dgm:cxn modelId="{8E63E5AE-F53E-4D57-AB86-A5FCB22011A1}" srcId="{BC548644-7985-4F0F-8368-47BB0FE26C12}" destId="{2F06C785-B40C-4DE6-912B-024F69BE7AB0}" srcOrd="0" destOrd="0" parTransId="{DB3BBCED-5F72-4581-8EE2-60D688DAFE0D}" sibTransId="{ECCD13D9-7F89-4DB0-B8F4-3B1330E41EEB}"/>
    <dgm:cxn modelId="{55CB9DBF-56DD-4382-9A0F-7EF9145F00E6}" type="presOf" srcId="{2F06C785-B40C-4DE6-912B-024F69BE7AB0}" destId="{8227C405-FE0B-44A7-92E5-BC918CD7CA88}" srcOrd="0" destOrd="0" presId="urn:microsoft.com/office/officeart/2005/8/layout/list1"/>
    <dgm:cxn modelId="{B0AD44EB-5D2B-4B35-820C-8B9129C1803B}" type="presOf" srcId="{B7D58BD7-B75C-4EA4-9201-0D0177C7DA4A}" destId="{65D0E6F5-4FE8-4777-A586-32BCC07A0D3B}" srcOrd="0" destOrd="0" presId="urn:microsoft.com/office/officeart/2005/8/layout/list1"/>
    <dgm:cxn modelId="{56BF3BFC-1E9D-49FB-AD16-5F4E5007ED34}" type="presOf" srcId="{BEFF90F4-7070-4BF2-AE17-D1E9D427FDE0}" destId="{59B5C966-8246-47B5-B539-2AA9FF224882}" srcOrd="1" destOrd="0" presId="urn:microsoft.com/office/officeart/2005/8/layout/list1"/>
    <dgm:cxn modelId="{4C479274-23F2-445E-B126-A891BD1A4371}" type="presParOf" srcId="{1C5A6B94-1217-42B6-8D80-42C807D756C1}" destId="{53AF135B-BE52-494C-8530-5261D5F86D3A}" srcOrd="0" destOrd="0" presId="urn:microsoft.com/office/officeart/2005/8/layout/list1"/>
    <dgm:cxn modelId="{D1B3785B-C1F3-4DC2-8FBE-06D3800D6011}" type="presParOf" srcId="{53AF135B-BE52-494C-8530-5261D5F86D3A}" destId="{FE2A22BD-25D4-4F7A-B9F1-903F70BC49FE}" srcOrd="0" destOrd="0" presId="urn:microsoft.com/office/officeart/2005/8/layout/list1"/>
    <dgm:cxn modelId="{CC475DEE-FE16-4AFD-9105-F70E44392549}" type="presParOf" srcId="{53AF135B-BE52-494C-8530-5261D5F86D3A}" destId="{59B5C966-8246-47B5-B539-2AA9FF224882}" srcOrd="1" destOrd="0" presId="urn:microsoft.com/office/officeart/2005/8/layout/list1"/>
    <dgm:cxn modelId="{9617AF07-C9D6-4BA2-AF95-76511128894D}" type="presParOf" srcId="{1C5A6B94-1217-42B6-8D80-42C807D756C1}" destId="{76F60610-EEB6-4857-A794-D32995A71067}" srcOrd="1" destOrd="0" presId="urn:microsoft.com/office/officeart/2005/8/layout/list1"/>
    <dgm:cxn modelId="{6376DD26-A3CC-4034-B110-A26CB9B8DF88}" type="presParOf" srcId="{1C5A6B94-1217-42B6-8D80-42C807D756C1}" destId="{9957AED5-2596-4482-AFBC-1588808F3110}" srcOrd="2" destOrd="0" presId="urn:microsoft.com/office/officeart/2005/8/layout/list1"/>
    <dgm:cxn modelId="{6140801E-DD06-4DF8-8AA7-59D33C4DA01A}" type="presParOf" srcId="{1C5A6B94-1217-42B6-8D80-42C807D756C1}" destId="{AB4E8BC0-4812-4E66-97DE-CBA757F72D5F}" srcOrd="3" destOrd="0" presId="urn:microsoft.com/office/officeart/2005/8/layout/list1"/>
    <dgm:cxn modelId="{0C02C0B7-C97E-4F2D-A689-57D5A1A59CC5}" type="presParOf" srcId="{1C5A6B94-1217-42B6-8D80-42C807D756C1}" destId="{BC8CC27C-93E2-4562-AD6C-7D51857D5F4C}" srcOrd="4" destOrd="0" presId="urn:microsoft.com/office/officeart/2005/8/layout/list1"/>
    <dgm:cxn modelId="{C57FFB9B-EC9F-4E4B-A96B-D5B7FDF48425}" type="presParOf" srcId="{BC8CC27C-93E2-4562-AD6C-7D51857D5F4C}" destId="{0EB643EE-91C4-4270-BF05-5F693AA879CD}" srcOrd="0" destOrd="0" presId="urn:microsoft.com/office/officeart/2005/8/layout/list1"/>
    <dgm:cxn modelId="{5749F72D-7AEC-4FBC-B55E-7BD9ADD89C46}" type="presParOf" srcId="{BC8CC27C-93E2-4562-AD6C-7D51857D5F4C}" destId="{84920056-7C96-4149-B678-F7A3336FF6F6}" srcOrd="1" destOrd="0" presId="urn:microsoft.com/office/officeart/2005/8/layout/list1"/>
    <dgm:cxn modelId="{FEF4CC9C-552D-4CBE-BFC1-EF6F4E4446E5}" type="presParOf" srcId="{1C5A6B94-1217-42B6-8D80-42C807D756C1}" destId="{10BE8092-25ED-4CFC-A1AF-1621AFED205C}" srcOrd="5" destOrd="0" presId="urn:microsoft.com/office/officeart/2005/8/layout/list1"/>
    <dgm:cxn modelId="{6A845A00-7A9C-417C-AD03-9F82E50A7E3F}" type="presParOf" srcId="{1C5A6B94-1217-42B6-8D80-42C807D756C1}" destId="{8227C405-FE0B-44A7-92E5-BC918CD7CA88}" srcOrd="6" destOrd="0" presId="urn:microsoft.com/office/officeart/2005/8/layout/list1"/>
    <dgm:cxn modelId="{743B9D4C-107F-4796-AB2C-FC70FFA84492}" type="presParOf" srcId="{1C5A6B94-1217-42B6-8D80-42C807D756C1}" destId="{B2B70FB5-4FC2-4B07-91C4-5F2B2D3430E7}" srcOrd="7" destOrd="0" presId="urn:microsoft.com/office/officeart/2005/8/layout/list1"/>
    <dgm:cxn modelId="{84CB1E17-56E9-4AFC-87A5-D4FBD2ACFD23}" type="presParOf" srcId="{1C5A6B94-1217-42B6-8D80-42C807D756C1}" destId="{D5397096-CD8E-42DD-BA7B-3003C3B14AAC}" srcOrd="8" destOrd="0" presId="urn:microsoft.com/office/officeart/2005/8/layout/list1"/>
    <dgm:cxn modelId="{B6F1FA0A-E6E4-409E-BB6D-BD0A2CBBD828}" type="presParOf" srcId="{D5397096-CD8E-42DD-BA7B-3003C3B14AAC}" destId="{B2A6BB19-3A08-4950-8E3C-D3C7C21DECC3}" srcOrd="0" destOrd="0" presId="urn:microsoft.com/office/officeart/2005/8/layout/list1"/>
    <dgm:cxn modelId="{E32B4BA1-B18D-4847-B4D7-9915B312F899}" type="presParOf" srcId="{D5397096-CD8E-42DD-BA7B-3003C3B14AAC}" destId="{DA339AF2-B31D-4579-B7FD-21416FA4B5B7}" srcOrd="1" destOrd="0" presId="urn:microsoft.com/office/officeart/2005/8/layout/list1"/>
    <dgm:cxn modelId="{CF1FC10A-5256-4391-966F-E4B420C33D2C}" type="presParOf" srcId="{1C5A6B94-1217-42B6-8D80-42C807D756C1}" destId="{8BF57147-80BB-430A-9717-D60FDE584B69}" srcOrd="9" destOrd="0" presId="urn:microsoft.com/office/officeart/2005/8/layout/list1"/>
    <dgm:cxn modelId="{50B6DADB-82DA-4E13-9072-011A67332902}" type="presParOf" srcId="{1C5A6B94-1217-42B6-8D80-42C807D756C1}" destId="{4343B7D1-1E8D-40F4-9E36-BD6D4FD92394}" srcOrd="10" destOrd="0" presId="urn:microsoft.com/office/officeart/2005/8/layout/list1"/>
    <dgm:cxn modelId="{6D35C0B7-8277-4A5D-A492-2EE998D5DA60}" type="presParOf" srcId="{1C5A6B94-1217-42B6-8D80-42C807D756C1}" destId="{42F9936B-470D-4E37-A3A9-BE30DCAC2625}" srcOrd="11" destOrd="0" presId="urn:microsoft.com/office/officeart/2005/8/layout/list1"/>
    <dgm:cxn modelId="{D3EA121F-2A18-4CAF-A5C7-E31B99186E76}" type="presParOf" srcId="{1C5A6B94-1217-42B6-8D80-42C807D756C1}" destId="{D2DFEBE6-6823-49FF-BF49-F88E22061472}" srcOrd="12" destOrd="0" presId="urn:microsoft.com/office/officeart/2005/8/layout/list1"/>
    <dgm:cxn modelId="{76F1E839-7804-44CD-83E2-60D41E01E346}" type="presParOf" srcId="{D2DFEBE6-6823-49FF-BF49-F88E22061472}" destId="{65D0E6F5-4FE8-4777-A586-32BCC07A0D3B}" srcOrd="0" destOrd="0" presId="urn:microsoft.com/office/officeart/2005/8/layout/list1"/>
    <dgm:cxn modelId="{C03FFB1D-AF32-477F-A630-DDD39A6B0343}" type="presParOf" srcId="{D2DFEBE6-6823-49FF-BF49-F88E22061472}" destId="{8E4414AA-2F64-4CB0-AB89-506B7CF8DE4F}" srcOrd="1" destOrd="0" presId="urn:microsoft.com/office/officeart/2005/8/layout/list1"/>
    <dgm:cxn modelId="{E0C53A9D-8362-43D8-9900-B7E158171DFD}" type="presParOf" srcId="{1C5A6B94-1217-42B6-8D80-42C807D756C1}" destId="{F838482C-16F4-4FAE-8D4C-B975D1E9AD50}" srcOrd="13" destOrd="0" presId="urn:microsoft.com/office/officeart/2005/8/layout/list1"/>
    <dgm:cxn modelId="{25EDC584-4B52-4803-9FD5-9EA63C873462}" type="presParOf" srcId="{1C5A6B94-1217-42B6-8D80-42C807D756C1}" destId="{97225EAC-AE2B-429C-8720-B379F7EE11E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E3BA941-F19A-46A6-92BF-E04113A5D768}" type="doc">
      <dgm:prSet loTypeId="urn:microsoft.com/office/officeart/2005/8/layout/hList1" loCatId="list" qsTypeId="urn:microsoft.com/office/officeart/2005/8/quickstyle/simple1" qsCatId="simple" csTypeId="urn:microsoft.com/office/officeart/2005/8/colors/accent2_4" csCatId="accent2" phldr="1"/>
      <dgm:spPr/>
      <dgm:t>
        <a:bodyPr/>
        <a:lstStyle/>
        <a:p>
          <a:endParaRPr lang="zh-CN" altLang="en-US"/>
        </a:p>
      </dgm:t>
    </dgm:pt>
    <dgm:pt modelId="{20469DC1-1B3F-4743-99D9-C5FAF078E491}">
      <dgm:prSet custT="1"/>
      <dgm:spPr/>
      <dgm:t>
        <a:bodyPr/>
        <a:lstStyle/>
        <a:p>
          <a:r>
            <a:rPr lang="zh-CN" sz="1900" dirty="0"/>
            <a:t>业务懂了，还得把它变成可计算的模型。而且不是分别建三套模型，是</a:t>
          </a:r>
          <a:r>
            <a:rPr lang="zh-CN" sz="2400" b="1" dirty="0">
              <a:solidFill>
                <a:schemeClr val="tx1"/>
              </a:solidFill>
              <a:latin typeface="+mj-ea"/>
              <a:ea typeface="+mj-ea"/>
            </a:rPr>
            <a:t>跨</a:t>
          </a:r>
          <a:r>
            <a:rPr lang="en-US" sz="2400" b="1" dirty="0">
              <a:solidFill>
                <a:schemeClr val="tx1"/>
              </a:solidFill>
              <a:latin typeface="+mj-ea"/>
              <a:ea typeface="+mj-ea"/>
            </a:rPr>
            <a:t>C/P/D</a:t>
          </a:r>
          <a:r>
            <a:rPr lang="zh-CN" sz="1900" dirty="0"/>
            <a:t>建一套统一的五维模型。</a:t>
          </a:r>
        </a:p>
      </dgm:t>
    </dgm:pt>
    <dgm:pt modelId="{5BDF52F9-7119-4517-8DFB-6396D2F51BFF}" type="parTrans" cxnId="{4BB05FD8-04B3-436F-8FD9-6C7888C5600B}">
      <dgm:prSet/>
      <dgm:spPr/>
      <dgm:t>
        <a:bodyPr/>
        <a:lstStyle/>
        <a:p>
          <a:endParaRPr lang="zh-CN" altLang="en-US"/>
        </a:p>
      </dgm:t>
    </dgm:pt>
    <dgm:pt modelId="{E1E35A80-70BF-468F-A73C-4D022FA55E03}" type="sibTrans" cxnId="{4BB05FD8-04B3-436F-8FD9-6C7888C5600B}">
      <dgm:prSet/>
      <dgm:spPr/>
      <dgm:t>
        <a:bodyPr/>
        <a:lstStyle/>
        <a:p>
          <a:endParaRPr lang="zh-CN" altLang="en-US"/>
        </a:p>
      </dgm:t>
    </dgm:pt>
    <dgm:pt modelId="{86A3A2B2-9B8A-4093-A9F7-0F22889CF40B}">
      <dgm:prSet/>
      <dgm:spPr>
        <a:noFill/>
      </dgm:spPr>
      <dgm:t>
        <a:bodyPr/>
        <a:lstStyle/>
        <a:p>
          <a:r>
            <a:rPr lang="zh-CN" dirty="0"/>
            <a:t>节点：不只是供应链的物料和机台，还要包括研发的</a:t>
          </a:r>
          <a:r>
            <a:rPr lang="en-US" dirty="0"/>
            <a:t>BOM</a:t>
          </a:r>
          <a:r>
            <a:rPr lang="zh-CN" dirty="0"/>
            <a:t>节点、销售的订单节点。</a:t>
          </a:r>
        </a:p>
      </dgm:t>
    </dgm:pt>
    <dgm:pt modelId="{76749576-7C0C-44B4-A383-F0B3FD23F5E1}" type="parTrans" cxnId="{10E3D1CB-2B66-487B-9B24-E1143C2BF3E4}">
      <dgm:prSet/>
      <dgm:spPr/>
      <dgm:t>
        <a:bodyPr/>
        <a:lstStyle/>
        <a:p>
          <a:endParaRPr lang="zh-CN" altLang="en-US"/>
        </a:p>
      </dgm:t>
    </dgm:pt>
    <dgm:pt modelId="{582ECADC-C73D-421D-BE84-755C27114623}" type="sibTrans" cxnId="{10E3D1CB-2B66-487B-9B24-E1143C2BF3E4}">
      <dgm:prSet/>
      <dgm:spPr/>
      <dgm:t>
        <a:bodyPr/>
        <a:lstStyle/>
        <a:p>
          <a:endParaRPr lang="zh-CN" altLang="en-US"/>
        </a:p>
      </dgm:t>
    </dgm:pt>
    <dgm:pt modelId="{3AFE18D8-1F04-4A85-91CA-6BAC50F9AFD6}">
      <dgm:prSet/>
      <dgm:spPr>
        <a:noFill/>
      </dgm:spPr>
      <dgm:t>
        <a:bodyPr/>
        <a:lstStyle/>
        <a:p>
          <a:r>
            <a:rPr lang="zh-CN" dirty="0"/>
            <a:t>拓扑：不只是</a:t>
          </a:r>
          <a:r>
            <a:rPr lang="en-US" dirty="0"/>
            <a:t>BOM</a:t>
          </a:r>
          <a:r>
            <a:rPr lang="zh-CN" dirty="0"/>
            <a:t>和工艺路线，还要包括销售预测到主计划的传导链路、研发变更到采购和生产的因果链。</a:t>
          </a:r>
        </a:p>
      </dgm:t>
    </dgm:pt>
    <dgm:pt modelId="{F54230BE-4AC7-45C9-8671-7A090FD8FDC7}" type="parTrans" cxnId="{6DDFA0BB-D71A-4002-84CC-648189190DCB}">
      <dgm:prSet/>
      <dgm:spPr/>
      <dgm:t>
        <a:bodyPr/>
        <a:lstStyle/>
        <a:p>
          <a:endParaRPr lang="zh-CN" altLang="en-US"/>
        </a:p>
      </dgm:t>
    </dgm:pt>
    <dgm:pt modelId="{5F16B4BB-3D42-48C8-A550-DA3495F1D662}" type="sibTrans" cxnId="{6DDFA0BB-D71A-4002-84CC-648189190DCB}">
      <dgm:prSet/>
      <dgm:spPr/>
      <dgm:t>
        <a:bodyPr/>
        <a:lstStyle/>
        <a:p>
          <a:endParaRPr lang="zh-CN" altLang="en-US"/>
        </a:p>
      </dgm:t>
    </dgm:pt>
    <dgm:pt modelId="{A09B738D-F8DD-4804-86F3-AEC9271D9239}">
      <dgm:prSet/>
      <dgm:spPr>
        <a:noFill/>
      </dgm:spPr>
      <dgm:t>
        <a:bodyPr/>
        <a:lstStyle/>
        <a:p>
          <a:r>
            <a:rPr lang="zh-CN" dirty="0"/>
            <a:t>约束：不只是产能和交期，还要包括研发的</a:t>
          </a:r>
          <a:r>
            <a:rPr lang="en-US" dirty="0"/>
            <a:t>ECN</a:t>
          </a:r>
          <a:r>
            <a:rPr lang="zh-CN" dirty="0"/>
            <a:t>变更窗口、销售的交期承诺。</a:t>
          </a:r>
        </a:p>
      </dgm:t>
    </dgm:pt>
    <dgm:pt modelId="{6FD72DAA-E56E-4E3B-B176-40F530BC83B3}" type="parTrans" cxnId="{32B75B98-568B-4E9B-BB9C-832A438EB92A}">
      <dgm:prSet/>
      <dgm:spPr/>
      <dgm:t>
        <a:bodyPr/>
        <a:lstStyle/>
        <a:p>
          <a:endParaRPr lang="zh-CN" altLang="en-US"/>
        </a:p>
      </dgm:t>
    </dgm:pt>
    <dgm:pt modelId="{295F0BA3-FFFC-46A7-B8A9-BF43A4B54833}" type="sibTrans" cxnId="{32B75B98-568B-4E9B-BB9C-832A438EB92A}">
      <dgm:prSet/>
      <dgm:spPr/>
      <dgm:t>
        <a:bodyPr/>
        <a:lstStyle/>
        <a:p>
          <a:endParaRPr lang="zh-CN" altLang="en-US"/>
        </a:p>
      </dgm:t>
    </dgm:pt>
    <dgm:pt modelId="{11D209C3-D59D-4910-B675-F2E348DCFB24}">
      <dgm:prSet/>
      <dgm:spPr>
        <a:noFill/>
      </dgm:spPr>
      <dgm:t>
        <a:bodyPr/>
        <a:lstStyle/>
        <a:p>
          <a:r>
            <a:rPr lang="zh-CN" dirty="0"/>
            <a:t>状态矢量：不只是库存和物权，还要包括销售的承诺状态、研发的变更状态。</a:t>
          </a:r>
        </a:p>
      </dgm:t>
    </dgm:pt>
    <dgm:pt modelId="{B4EA5021-65A4-4F35-9DCE-405D4D27A3C1}" type="parTrans" cxnId="{ED6B063B-DA3B-46B6-AF4D-9B1961835DC5}">
      <dgm:prSet/>
      <dgm:spPr/>
      <dgm:t>
        <a:bodyPr/>
        <a:lstStyle/>
        <a:p>
          <a:endParaRPr lang="zh-CN" altLang="en-US"/>
        </a:p>
      </dgm:t>
    </dgm:pt>
    <dgm:pt modelId="{C63723F1-DE02-47EF-84A8-910EB260A7C7}" type="sibTrans" cxnId="{ED6B063B-DA3B-46B6-AF4D-9B1961835DC5}">
      <dgm:prSet/>
      <dgm:spPr/>
      <dgm:t>
        <a:bodyPr/>
        <a:lstStyle/>
        <a:p>
          <a:endParaRPr lang="zh-CN" altLang="en-US"/>
        </a:p>
      </dgm:t>
    </dgm:pt>
    <dgm:pt modelId="{F826EE70-07C8-48C2-B14C-56F416EC1889}">
      <dgm:prSet/>
      <dgm:spPr>
        <a:noFill/>
      </dgm:spPr>
      <dgm:t>
        <a:bodyPr/>
        <a:lstStyle/>
        <a:p>
          <a:r>
            <a:rPr lang="zh-CN" dirty="0"/>
            <a:t>状态跃迁：不只是派工和</a:t>
          </a:r>
          <a:r>
            <a:rPr lang="en-US" dirty="0"/>
            <a:t>Pegging</a:t>
          </a:r>
          <a:r>
            <a:rPr lang="zh-CN" dirty="0"/>
            <a:t>，还要包括研发变更拉动采购重算、销售插单拉动产线重排。</a:t>
          </a:r>
        </a:p>
      </dgm:t>
    </dgm:pt>
    <dgm:pt modelId="{6820BCCD-1E2A-4F30-9323-2AF86E496543}" type="parTrans" cxnId="{2F73819C-5D31-448E-97B1-5F5F9FB4C7D0}">
      <dgm:prSet/>
      <dgm:spPr/>
      <dgm:t>
        <a:bodyPr/>
        <a:lstStyle/>
        <a:p>
          <a:endParaRPr lang="zh-CN" altLang="en-US"/>
        </a:p>
      </dgm:t>
    </dgm:pt>
    <dgm:pt modelId="{723FE64D-8638-42FC-A215-82D8AAAAED43}" type="sibTrans" cxnId="{2F73819C-5D31-448E-97B1-5F5F9FB4C7D0}">
      <dgm:prSet/>
      <dgm:spPr/>
      <dgm:t>
        <a:bodyPr/>
        <a:lstStyle/>
        <a:p>
          <a:endParaRPr lang="zh-CN" altLang="en-US"/>
        </a:p>
      </dgm:t>
    </dgm:pt>
    <dgm:pt modelId="{B18989AD-06BB-4314-B7E1-69C538B15659}" type="pres">
      <dgm:prSet presAssocID="{AE3BA941-F19A-46A6-92BF-E04113A5D768}" presName="Name0" presStyleCnt="0">
        <dgm:presLayoutVars>
          <dgm:dir/>
          <dgm:animLvl val="lvl"/>
          <dgm:resizeHandles val="exact"/>
        </dgm:presLayoutVars>
      </dgm:prSet>
      <dgm:spPr/>
    </dgm:pt>
    <dgm:pt modelId="{6CDAA339-8F6E-4502-87AC-6E1B2BDB6D16}" type="pres">
      <dgm:prSet presAssocID="{20469DC1-1B3F-4743-99D9-C5FAF078E491}" presName="composite" presStyleCnt="0"/>
      <dgm:spPr/>
    </dgm:pt>
    <dgm:pt modelId="{4C74B098-7B1B-4849-B273-DA7ED9D90965}" type="pres">
      <dgm:prSet presAssocID="{20469DC1-1B3F-4743-99D9-C5FAF078E491}" presName="parTx" presStyleLbl="alignNode1" presStyleIdx="0" presStyleCnt="1">
        <dgm:presLayoutVars>
          <dgm:chMax val="0"/>
          <dgm:chPref val="0"/>
          <dgm:bulletEnabled val="1"/>
        </dgm:presLayoutVars>
      </dgm:prSet>
      <dgm:spPr/>
    </dgm:pt>
    <dgm:pt modelId="{99C481E3-02A5-4768-ACF9-0840D60F240C}" type="pres">
      <dgm:prSet presAssocID="{20469DC1-1B3F-4743-99D9-C5FAF078E491}" presName="desTx" presStyleLbl="alignAccFollowNode1" presStyleIdx="0" presStyleCnt="1">
        <dgm:presLayoutVars>
          <dgm:bulletEnabled val="1"/>
        </dgm:presLayoutVars>
      </dgm:prSet>
      <dgm:spPr/>
    </dgm:pt>
  </dgm:ptLst>
  <dgm:cxnLst>
    <dgm:cxn modelId="{11AECD1B-163D-4FA3-9704-CE7516890FFF}" type="presOf" srcId="{A09B738D-F8DD-4804-86F3-AEC9271D9239}" destId="{99C481E3-02A5-4768-ACF9-0840D60F240C}" srcOrd="0" destOrd="2" presId="urn:microsoft.com/office/officeart/2005/8/layout/hList1"/>
    <dgm:cxn modelId="{8B348B36-93C7-459F-A62E-48BB82DA896B}" type="presOf" srcId="{F826EE70-07C8-48C2-B14C-56F416EC1889}" destId="{99C481E3-02A5-4768-ACF9-0840D60F240C}" srcOrd="0" destOrd="4" presId="urn:microsoft.com/office/officeart/2005/8/layout/hList1"/>
    <dgm:cxn modelId="{ED6B063B-DA3B-46B6-AF4D-9B1961835DC5}" srcId="{20469DC1-1B3F-4743-99D9-C5FAF078E491}" destId="{11D209C3-D59D-4910-B675-F2E348DCFB24}" srcOrd="3" destOrd="0" parTransId="{B4EA5021-65A4-4F35-9DCE-405D4D27A3C1}" sibTransId="{C63723F1-DE02-47EF-84A8-910EB260A7C7}"/>
    <dgm:cxn modelId="{14FA5E65-0EEC-4DB0-95B6-EC763BF39E3E}" type="presOf" srcId="{20469DC1-1B3F-4743-99D9-C5FAF078E491}" destId="{4C74B098-7B1B-4849-B273-DA7ED9D90965}" srcOrd="0" destOrd="0" presId="urn:microsoft.com/office/officeart/2005/8/layout/hList1"/>
    <dgm:cxn modelId="{C060C14B-459C-428E-AC74-94D05EC36BDF}" type="presOf" srcId="{AE3BA941-F19A-46A6-92BF-E04113A5D768}" destId="{B18989AD-06BB-4314-B7E1-69C538B15659}" srcOrd="0" destOrd="0" presId="urn:microsoft.com/office/officeart/2005/8/layout/hList1"/>
    <dgm:cxn modelId="{E7632774-E87C-4B53-B768-591270117EC4}" type="presOf" srcId="{86A3A2B2-9B8A-4093-A9F7-0F22889CF40B}" destId="{99C481E3-02A5-4768-ACF9-0840D60F240C}" srcOrd="0" destOrd="0" presId="urn:microsoft.com/office/officeart/2005/8/layout/hList1"/>
    <dgm:cxn modelId="{32B75B98-568B-4E9B-BB9C-832A438EB92A}" srcId="{20469DC1-1B3F-4743-99D9-C5FAF078E491}" destId="{A09B738D-F8DD-4804-86F3-AEC9271D9239}" srcOrd="2" destOrd="0" parTransId="{6FD72DAA-E56E-4E3B-B176-40F530BC83B3}" sibTransId="{295F0BA3-FFFC-46A7-B8A9-BF43A4B54833}"/>
    <dgm:cxn modelId="{2F73819C-5D31-448E-97B1-5F5F9FB4C7D0}" srcId="{20469DC1-1B3F-4743-99D9-C5FAF078E491}" destId="{F826EE70-07C8-48C2-B14C-56F416EC1889}" srcOrd="4" destOrd="0" parTransId="{6820BCCD-1E2A-4F30-9323-2AF86E496543}" sibTransId="{723FE64D-8638-42FC-A215-82D8AAAAED43}"/>
    <dgm:cxn modelId="{CE08D4A0-571D-4018-A45D-7AB41E03A77A}" type="presOf" srcId="{3AFE18D8-1F04-4A85-91CA-6BAC50F9AFD6}" destId="{99C481E3-02A5-4768-ACF9-0840D60F240C}" srcOrd="0" destOrd="1" presId="urn:microsoft.com/office/officeart/2005/8/layout/hList1"/>
    <dgm:cxn modelId="{6DDFA0BB-D71A-4002-84CC-648189190DCB}" srcId="{20469DC1-1B3F-4743-99D9-C5FAF078E491}" destId="{3AFE18D8-1F04-4A85-91CA-6BAC50F9AFD6}" srcOrd="1" destOrd="0" parTransId="{F54230BE-4AC7-45C9-8671-7A090FD8FDC7}" sibTransId="{5F16B4BB-3D42-48C8-A550-DA3495F1D662}"/>
    <dgm:cxn modelId="{10E3D1CB-2B66-487B-9B24-E1143C2BF3E4}" srcId="{20469DC1-1B3F-4743-99D9-C5FAF078E491}" destId="{86A3A2B2-9B8A-4093-A9F7-0F22889CF40B}" srcOrd="0" destOrd="0" parTransId="{76749576-7C0C-44B4-A383-F0B3FD23F5E1}" sibTransId="{582ECADC-C73D-421D-BE84-755C27114623}"/>
    <dgm:cxn modelId="{9CE6CDD4-4E8A-47D1-91B2-65890FB2C44B}" type="presOf" srcId="{11D209C3-D59D-4910-B675-F2E348DCFB24}" destId="{99C481E3-02A5-4768-ACF9-0840D60F240C}" srcOrd="0" destOrd="3" presId="urn:microsoft.com/office/officeart/2005/8/layout/hList1"/>
    <dgm:cxn modelId="{4BB05FD8-04B3-436F-8FD9-6C7888C5600B}" srcId="{AE3BA941-F19A-46A6-92BF-E04113A5D768}" destId="{20469DC1-1B3F-4743-99D9-C5FAF078E491}" srcOrd="0" destOrd="0" parTransId="{5BDF52F9-7119-4517-8DFB-6396D2F51BFF}" sibTransId="{E1E35A80-70BF-468F-A73C-4D022FA55E03}"/>
    <dgm:cxn modelId="{162A0FDC-3AAE-4712-9B9A-281926F05EFF}" type="presParOf" srcId="{B18989AD-06BB-4314-B7E1-69C538B15659}" destId="{6CDAA339-8F6E-4502-87AC-6E1B2BDB6D16}" srcOrd="0" destOrd="0" presId="urn:microsoft.com/office/officeart/2005/8/layout/hList1"/>
    <dgm:cxn modelId="{22AAFD77-2CB2-4041-9ADB-76B44D8FCCB1}" type="presParOf" srcId="{6CDAA339-8F6E-4502-87AC-6E1B2BDB6D16}" destId="{4C74B098-7B1B-4849-B273-DA7ED9D90965}" srcOrd="0" destOrd="0" presId="urn:microsoft.com/office/officeart/2005/8/layout/hList1"/>
    <dgm:cxn modelId="{B00A72CA-ECA7-49F0-8894-7584FA96C77C}" type="presParOf" srcId="{6CDAA339-8F6E-4502-87AC-6E1B2BDB6D16}" destId="{99C481E3-02A5-4768-ACF9-0840D60F240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3672159-D16A-4329-88C8-13CAF049E66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B29CFB67-5DB9-41DC-A5C1-2325F9F93FCF}">
      <dgm:prSet custT="1"/>
      <dgm:spPr/>
      <dgm:t>
        <a:bodyPr/>
        <a:lstStyle/>
        <a:p>
          <a:r>
            <a:rPr lang="zh-CN" altLang="en-US" sz="1600" b="1" dirty="0">
              <a:solidFill>
                <a:schemeClr val="tx1"/>
              </a:solidFill>
            </a:rPr>
            <a:t>能力论已经证明：业务不可分，能力不可分，必须单脑奇点（总设计师）。</a:t>
          </a:r>
        </a:p>
      </dgm:t>
    </dgm:pt>
    <dgm:pt modelId="{DE6A2EBC-5A7F-4A39-AEF7-2E78E953A4EF}" type="parTrans" cxnId="{5A608643-0F78-413E-B6E3-F4A01A34E9D4}">
      <dgm:prSet/>
      <dgm:spPr/>
      <dgm:t>
        <a:bodyPr/>
        <a:lstStyle/>
        <a:p>
          <a:endParaRPr lang="zh-CN" altLang="en-US" sz="1600" b="1">
            <a:solidFill>
              <a:schemeClr val="tx1"/>
            </a:solidFill>
          </a:endParaRPr>
        </a:p>
      </dgm:t>
    </dgm:pt>
    <dgm:pt modelId="{4AB7A869-3D08-4F7C-B2A4-7D76A5014F7C}" type="sibTrans" cxnId="{5A608643-0F78-413E-B6E3-F4A01A34E9D4}">
      <dgm:prSet/>
      <dgm:spPr/>
      <dgm:t>
        <a:bodyPr/>
        <a:lstStyle/>
        <a:p>
          <a:endParaRPr lang="zh-CN" altLang="en-US" sz="1600" b="1">
            <a:solidFill>
              <a:schemeClr val="tx1"/>
            </a:solidFill>
          </a:endParaRPr>
        </a:p>
      </dgm:t>
    </dgm:pt>
    <dgm:pt modelId="{CA6D4F14-0D96-4F77-B320-11380075F174}">
      <dgm:prSet custT="1"/>
      <dgm:spPr/>
      <dgm:t>
        <a:bodyPr/>
        <a:lstStyle/>
        <a:p>
          <a:r>
            <a:rPr lang="zh-CN" altLang="en-US" sz="1600" b="0" dirty="0">
              <a:solidFill>
                <a:schemeClr val="tx1"/>
              </a:solidFill>
            </a:rPr>
            <a:t>设计权一旦集中单脑，运行机制就</a:t>
          </a:r>
          <a:r>
            <a:rPr lang="zh-CN" altLang="en-US" sz="1800" b="1" dirty="0">
              <a:solidFill>
                <a:schemeClr val="tx1"/>
              </a:solidFill>
            </a:rPr>
            <a:t>绝不可能是委员会民主表决</a:t>
          </a:r>
          <a:r>
            <a:rPr lang="zh-CN" altLang="en-US" sz="1600" b="0" dirty="0">
              <a:solidFill>
                <a:schemeClr val="tx1"/>
              </a:solidFill>
            </a:rPr>
            <a:t>。若让委员会投票决定算法规则和确权方案，等于把已经集中的设计权又强行拆散，这在物理逻辑上直接矛盾。</a:t>
          </a:r>
        </a:p>
      </dgm:t>
    </dgm:pt>
    <dgm:pt modelId="{BB809705-D858-495B-B076-DD2D53C53853}" type="parTrans" cxnId="{A860BA40-C9C7-44F1-819B-58A830D6A3D6}">
      <dgm:prSet/>
      <dgm:spPr/>
      <dgm:t>
        <a:bodyPr/>
        <a:lstStyle/>
        <a:p>
          <a:endParaRPr lang="zh-CN" altLang="en-US" sz="1600" b="1">
            <a:solidFill>
              <a:schemeClr val="tx1"/>
            </a:solidFill>
          </a:endParaRPr>
        </a:p>
      </dgm:t>
    </dgm:pt>
    <dgm:pt modelId="{A79F6BEB-CFF0-445C-B50F-64B86473B3CC}" type="sibTrans" cxnId="{A860BA40-C9C7-44F1-819B-58A830D6A3D6}">
      <dgm:prSet/>
      <dgm:spPr/>
      <dgm:t>
        <a:bodyPr/>
        <a:lstStyle/>
        <a:p>
          <a:endParaRPr lang="zh-CN" altLang="en-US" sz="1600" b="1">
            <a:solidFill>
              <a:schemeClr val="tx1"/>
            </a:solidFill>
          </a:endParaRPr>
        </a:p>
      </dgm:t>
    </dgm:pt>
    <dgm:pt modelId="{6183E592-C903-4186-891B-40A6092CBA2B}">
      <dgm:prSet custT="1"/>
      <dgm:spPr/>
      <dgm:t>
        <a:bodyPr/>
        <a:lstStyle/>
        <a:p>
          <a:r>
            <a:rPr lang="zh-CN" altLang="en-US" sz="1600" b="1" dirty="0">
              <a:solidFill>
                <a:schemeClr val="tx1"/>
              </a:solidFill>
            </a:rPr>
            <a:t>阿罗不可能定理的物理表现：</a:t>
          </a:r>
          <a:r>
            <a:rPr lang="zh-CN" altLang="en-US" sz="1600" b="0" dirty="0">
              <a:solidFill>
                <a:schemeClr val="tx1"/>
              </a:solidFill>
            </a:rPr>
            <a:t>多目标冲突下，民主表决无法产生全局最优解。</a:t>
          </a:r>
        </a:p>
      </dgm:t>
    </dgm:pt>
    <dgm:pt modelId="{68939ABE-1C69-4C5A-9373-BBE9BA7213BB}" type="parTrans" cxnId="{22838AF9-052E-4BC9-87CD-A4BB5D0F4418}">
      <dgm:prSet/>
      <dgm:spPr/>
      <dgm:t>
        <a:bodyPr/>
        <a:lstStyle/>
        <a:p>
          <a:endParaRPr lang="zh-CN" altLang="en-US" sz="1600" b="1">
            <a:solidFill>
              <a:schemeClr val="tx1"/>
            </a:solidFill>
          </a:endParaRPr>
        </a:p>
      </dgm:t>
    </dgm:pt>
    <dgm:pt modelId="{DA946425-34DB-4486-B571-58BB98616CEB}" type="sibTrans" cxnId="{22838AF9-052E-4BC9-87CD-A4BB5D0F4418}">
      <dgm:prSet/>
      <dgm:spPr/>
      <dgm:t>
        <a:bodyPr/>
        <a:lstStyle/>
        <a:p>
          <a:endParaRPr lang="zh-CN" altLang="en-US" sz="1600" b="1">
            <a:solidFill>
              <a:schemeClr val="tx1"/>
            </a:solidFill>
          </a:endParaRPr>
        </a:p>
      </dgm:t>
    </dgm:pt>
    <dgm:pt modelId="{A1BDFCE1-2EA1-4F1E-AC26-0760B8E9A76D}" type="pres">
      <dgm:prSet presAssocID="{43672159-D16A-4329-88C8-13CAF049E660}" presName="linear" presStyleCnt="0">
        <dgm:presLayoutVars>
          <dgm:dir/>
          <dgm:animLvl val="lvl"/>
          <dgm:resizeHandles val="exact"/>
        </dgm:presLayoutVars>
      </dgm:prSet>
      <dgm:spPr/>
    </dgm:pt>
    <dgm:pt modelId="{9764AD6C-4F51-4C4F-BF14-B7FCAD405617}" type="pres">
      <dgm:prSet presAssocID="{B29CFB67-5DB9-41DC-A5C1-2325F9F93FCF}" presName="parentLin" presStyleCnt="0"/>
      <dgm:spPr/>
    </dgm:pt>
    <dgm:pt modelId="{50EAC750-A225-4DE5-A0AB-B143E8086854}" type="pres">
      <dgm:prSet presAssocID="{B29CFB67-5DB9-41DC-A5C1-2325F9F93FCF}" presName="parentLeftMargin" presStyleLbl="node1" presStyleIdx="0" presStyleCnt="3"/>
      <dgm:spPr/>
    </dgm:pt>
    <dgm:pt modelId="{A450BE09-D0D3-4BA7-B7B8-1785819A654C}" type="pres">
      <dgm:prSet presAssocID="{B29CFB67-5DB9-41DC-A5C1-2325F9F93FCF}" presName="parentText" presStyleLbl="node1" presStyleIdx="0" presStyleCnt="3" custScaleX="118215">
        <dgm:presLayoutVars>
          <dgm:chMax val="0"/>
          <dgm:bulletEnabled val="1"/>
        </dgm:presLayoutVars>
      </dgm:prSet>
      <dgm:spPr/>
    </dgm:pt>
    <dgm:pt modelId="{CF74AC33-DF70-406A-BEFA-A9C577D14150}" type="pres">
      <dgm:prSet presAssocID="{B29CFB67-5DB9-41DC-A5C1-2325F9F93FCF}" presName="negativeSpace" presStyleCnt="0"/>
      <dgm:spPr/>
    </dgm:pt>
    <dgm:pt modelId="{9479DA58-C300-4A12-A5CB-513211401E01}" type="pres">
      <dgm:prSet presAssocID="{B29CFB67-5DB9-41DC-A5C1-2325F9F93FCF}" presName="childText" presStyleLbl="conFgAcc1" presStyleIdx="0" presStyleCnt="3">
        <dgm:presLayoutVars>
          <dgm:bulletEnabled val="1"/>
        </dgm:presLayoutVars>
      </dgm:prSet>
      <dgm:spPr/>
    </dgm:pt>
    <dgm:pt modelId="{7E157A2B-C179-414E-B756-8E823F9DEAF6}" type="pres">
      <dgm:prSet presAssocID="{4AB7A869-3D08-4F7C-B2A4-7D76A5014F7C}" presName="spaceBetweenRectangles" presStyleCnt="0"/>
      <dgm:spPr/>
    </dgm:pt>
    <dgm:pt modelId="{07BE7E08-3726-4233-A92A-3E2424B5E4DA}" type="pres">
      <dgm:prSet presAssocID="{CA6D4F14-0D96-4F77-B320-11380075F174}" presName="parentLin" presStyleCnt="0"/>
      <dgm:spPr/>
    </dgm:pt>
    <dgm:pt modelId="{2576ABBA-D6D7-46E9-B8DD-C24C71C896C7}" type="pres">
      <dgm:prSet presAssocID="{CA6D4F14-0D96-4F77-B320-11380075F174}" presName="parentLeftMargin" presStyleLbl="node1" presStyleIdx="0" presStyleCnt="3"/>
      <dgm:spPr/>
    </dgm:pt>
    <dgm:pt modelId="{6530F403-AAD9-4BF6-8A8D-D6094C4B081E}" type="pres">
      <dgm:prSet presAssocID="{CA6D4F14-0D96-4F77-B320-11380075F174}" presName="parentText" presStyleLbl="node1" presStyleIdx="1" presStyleCnt="3" custScaleX="118215" custScaleY="210094">
        <dgm:presLayoutVars>
          <dgm:chMax val="0"/>
          <dgm:bulletEnabled val="1"/>
        </dgm:presLayoutVars>
      </dgm:prSet>
      <dgm:spPr/>
    </dgm:pt>
    <dgm:pt modelId="{91720DB0-B344-4104-B6E7-26AF7030F986}" type="pres">
      <dgm:prSet presAssocID="{CA6D4F14-0D96-4F77-B320-11380075F174}" presName="negativeSpace" presStyleCnt="0"/>
      <dgm:spPr/>
    </dgm:pt>
    <dgm:pt modelId="{20A07064-BB37-4674-9A28-6A1441FEE53A}" type="pres">
      <dgm:prSet presAssocID="{CA6D4F14-0D96-4F77-B320-11380075F174}" presName="childText" presStyleLbl="conFgAcc1" presStyleIdx="1" presStyleCnt="3">
        <dgm:presLayoutVars>
          <dgm:bulletEnabled val="1"/>
        </dgm:presLayoutVars>
      </dgm:prSet>
      <dgm:spPr/>
    </dgm:pt>
    <dgm:pt modelId="{E7B969BE-30A9-4137-892A-D93501023706}" type="pres">
      <dgm:prSet presAssocID="{A79F6BEB-CFF0-445C-B50F-64B86473B3CC}" presName="spaceBetweenRectangles" presStyleCnt="0"/>
      <dgm:spPr/>
    </dgm:pt>
    <dgm:pt modelId="{AE58E70F-061F-4698-AFF0-4F68B7B5F9D5}" type="pres">
      <dgm:prSet presAssocID="{6183E592-C903-4186-891B-40A6092CBA2B}" presName="parentLin" presStyleCnt="0"/>
      <dgm:spPr/>
    </dgm:pt>
    <dgm:pt modelId="{8ECCAC34-ABBB-4490-8732-8F02D4F169FA}" type="pres">
      <dgm:prSet presAssocID="{6183E592-C903-4186-891B-40A6092CBA2B}" presName="parentLeftMargin" presStyleLbl="node1" presStyleIdx="1" presStyleCnt="3"/>
      <dgm:spPr/>
    </dgm:pt>
    <dgm:pt modelId="{7943B8CF-BC9C-4577-8527-7D00F27E78FC}" type="pres">
      <dgm:prSet presAssocID="{6183E592-C903-4186-891B-40A6092CBA2B}" presName="parentText" presStyleLbl="node1" presStyleIdx="2" presStyleCnt="3" custScaleX="118215">
        <dgm:presLayoutVars>
          <dgm:chMax val="0"/>
          <dgm:bulletEnabled val="1"/>
        </dgm:presLayoutVars>
      </dgm:prSet>
      <dgm:spPr/>
    </dgm:pt>
    <dgm:pt modelId="{97E589E5-03A4-4A5B-BCFE-C3167198655D}" type="pres">
      <dgm:prSet presAssocID="{6183E592-C903-4186-891B-40A6092CBA2B}" presName="negativeSpace" presStyleCnt="0"/>
      <dgm:spPr/>
    </dgm:pt>
    <dgm:pt modelId="{0C82D689-AD37-4EBE-B9D4-342FA80C4A5C}" type="pres">
      <dgm:prSet presAssocID="{6183E592-C903-4186-891B-40A6092CBA2B}" presName="childText" presStyleLbl="conFgAcc1" presStyleIdx="2" presStyleCnt="3">
        <dgm:presLayoutVars>
          <dgm:bulletEnabled val="1"/>
        </dgm:presLayoutVars>
      </dgm:prSet>
      <dgm:spPr/>
    </dgm:pt>
  </dgm:ptLst>
  <dgm:cxnLst>
    <dgm:cxn modelId="{1DDC6203-259B-4F52-81BE-CC6878BFC900}" type="presOf" srcId="{6183E592-C903-4186-891B-40A6092CBA2B}" destId="{8ECCAC34-ABBB-4490-8732-8F02D4F169FA}" srcOrd="0" destOrd="0" presId="urn:microsoft.com/office/officeart/2005/8/layout/list1"/>
    <dgm:cxn modelId="{41E5E228-44C7-4FAF-A497-44CB9697878F}" type="presOf" srcId="{6183E592-C903-4186-891B-40A6092CBA2B}" destId="{7943B8CF-BC9C-4577-8527-7D00F27E78FC}" srcOrd="1" destOrd="0" presId="urn:microsoft.com/office/officeart/2005/8/layout/list1"/>
    <dgm:cxn modelId="{A860BA40-C9C7-44F1-819B-58A830D6A3D6}" srcId="{43672159-D16A-4329-88C8-13CAF049E660}" destId="{CA6D4F14-0D96-4F77-B320-11380075F174}" srcOrd="1" destOrd="0" parTransId="{BB809705-D858-495B-B076-DD2D53C53853}" sibTransId="{A79F6BEB-CFF0-445C-B50F-64B86473B3CC}"/>
    <dgm:cxn modelId="{5A608643-0F78-413E-B6E3-F4A01A34E9D4}" srcId="{43672159-D16A-4329-88C8-13CAF049E660}" destId="{B29CFB67-5DB9-41DC-A5C1-2325F9F93FCF}" srcOrd="0" destOrd="0" parTransId="{DE6A2EBC-5A7F-4A39-AEF7-2E78E953A4EF}" sibTransId="{4AB7A869-3D08-4F7C-B2A4-7D76A5014F7C}"/>
    <dgm:cxn modelId="{ED9BEBA3-1E56-4DB5-8885-DC284EB24488}" type="presOf" srcId="{CA6D4F14-0D96-4F77-B320-11380075F174}" destId="{2576ABBA-D6D7-46E9-B8DD-C24C71C896C7}" srcOrd="0" destOrd="0" presId="urn:microsoft.com/office/officeart/2005/8/layout/list1"/>
    <dgm:cxn modelId="{E06BB1A7-B7BE-4562-BA39-FBAC5B6E51A6}" type="presOf" srcId="{B29CFB67-5DB9-41DC-A5C1-2325F9F93FCF}" destId="{50EAC750-A225-4DE5-A0AB-B143E8086854}" srcOrd="0" destOrd="0" presId="urn:microsoft.com/office/officeart/2005/8/layout/list1"/>
    <dgm:cxn modelId="{F56B7FB9-6C34-4783-84AB-8E347E2FABB7}" type="presOf" srcId="{B29CFB67-5DB9-41DC-A5C1-2325F9F93FCF}" destId="{A450BE09-D0D3-4BA7-B7B8-1785819A654C}" srcOrd="1" destOrd="0" presId="urn:microsoft.com/office/officeart/2005/8/layout/list1"/>
    <dgm:cxn modelId="{E5B609D8-9885-4077-82C7-57DB08896343}" type="presOf" srcId="{CA6D4F14-0D96-4F77-B320-11380075F174}" destId="{6530F403-AAD9-4BF6-8A8D-D6094C4B081E}" srcOrd="1" destOrd="0" presId="urn:microsoft.com/office/officeart/2005/8/layout/list1"/>
    <dgm:cxn modelId="{1FA51CD8-144B-4A12-988B-F209496078C4}" type="presOf" srcId="{43672159-D16A-4329-88C8-13CAF049E660}" destId="{A1BDFCE1-2EA1-4F1E-AC26-0760B8E9A76D}" srcOrd="0" destOrd="0" presId="urn:microsoft.com/office/officeart/2005/8/layout/list1"/>
    <dgm:cxn modelId="{22838AF9-052E-4BC9-87CD-A4BB5D0F4418}" srcId="{43672159-D16A-4329-88C8-13CAF049E660}" destId="{6183E592-C903-4186-891B-40A6092CBA2B}" srcOrd="2" destOrd="0" parTransId="{68939ABE-1C69-4C5A-9373-BBE9BA7213BB}" sibTransId="{DA946425-34DB-4486-B571-58BB98616CEB}"/>
    <dgm:cxn modelId="{12101EED-59A9-417C-9A2C-84C5217662E1}" type="presParOf" srcId="{A1BDFCE1-2EA1-4F1E-AC26-0760B8E9A76D}" destId="{9764AD6C-4F51-4C4F-BF14-B7FCAD405617}" srcOrd="0" destOrd="0" presId="urn:microsoft.com/office/officeart/2005/8/layout/list1"/>
    <dgm:cxn modelId="{247F67C0-B83C-444A-973E-7417661A784B}" type="presParOf" srcId="{9764AD6C-4F51-4C4F-BF14-B7FCAD405617}" destId="{50EAC750-A225-4DE5-A0AB-B143E8086854}" srcOrd="0" destOrd="0" presId="urn:microsoft.com/office/officeart/2005/8/layout/list1"/>
    <dgm:cxn modelId="{771FA21E-4814-415E-9502-3558FFD681F6}" type="presParOf" srcId="{9764AD6C-4F51-4C4F-BF14-B7FCAD405617}" destId="{A450BE09-D0D3-4BA7-B7B8-1785819A654C}" srcOrd="1" destOrd="0" presId="urn:microsoft.com/office/officeart/2005/8/layout/list1"/>
    <dgm:cxn modelId="{57E5C99F-5AD4-46BB-BB66-BA0B7B4C2846}" type="presParOf" srcId="{A1BDFCE1-2EA1-4F1E-AC26-0760B8E9A76D}" destId="{CF74AC33-DF70-406A-BEFA-A9C577D14150}" srcOrd="1" destOrd="0" presId="urn:microsoft.com/office/officeart/2005/8/layout/list1"/>
    <dgm:cxn modelId="{50BCB290-E3F0-4719-87E8-D73EFE2E5D00}" type="presParOf" srcId="{A1BDFCE1-2EA1-4F1E-AC26-0760B8E9A76D}" destId="{9479DA58-C300-4A12-A5CB-513211401E01}" srcOrd="2" destOrd="0" presId="urn:microsoft.com/office/officeart/2005/8/layout/list1"/>
    <dgm:cxn modelId="{36A05BBB-6042-4F9A-A774-DF4D912727B2}" type="presParOf" srcId="{A1BDFCE1-2EA1-4F1E-AC26-0760B8E9A76D}" destId="{7E157A2B-C179-414E-B756-8E823F9DEAF6}" srcOrd="3" destOrd="0" presId="urn:microsoft.com/office/officeart/2005/8/layout/list1"/>
    <dgm:cxn modelId="{6B2CDC9D-61E7-4BCB-9B38-A3C43653605A}" type="presParOf" srcId="{A1BDFCE1-2EA1-4F1E-AC26-0760B8E9A76D}" destId="{07BE7E08-3726-4233-A92A-3E2424B5E4DA}" srcOrd="4" destOrd="0" presId="urn:microsoft.com/office/officeart/2005/8/layout/list1"/>
    <dgm:cxn modelId="{3E2DE911-3C8A-45DB-B1E9-938A2177E605}" type="presParOf" srcId="{07BE7E08-3726-4233-A92A-3E2424B5E4DA}" destId="{2576ABBA-D6D7-46E9-B8DD-C24C71C896C7}" srcOrd="0" destOrd="0" presId="urn:microsoft.com/office/officeart/2005/8/layout/list1"/>
    <dgm:cxn modelId="{E21F5B73-24B4-432D-99E0-ACFA8250ED6C}" type="presParOf" srcId="{07BE7E08-3726-4233-A92A-3E2424B5E4DA}" destId="{6530F403-AAD9-4BF6-8A8D-D6094C4B081E}" srcOrd="1" destOrd="0" presId="urn:microsoft.com/office/officeart/2005/8/layout/list1"/>
    <dgm:cxn modelId="{B179C037-938E-4FFA-A18C-BEE89209BCEF}" type="presParOf" srcId="{A1BDFCE1-2EA1-4F1E-AC26-0760B8E9A76D}" destId="{91720DB0-B344-4104-B6E7-26AF7030F986}" srcOrd="5" destOrd="0" presId="urn:microsoft.com/office/officeart/2005/8/layout/list1"/>
    <dgm:cxn modelId="{47CADF3D-7007-4648-AA53-2AA37725C0ED}" type="presParOf" srcId="{A1BDFCE1-2EA1-4F1E-AC26-0760B8E9A76D}" destId="{20A07064-BB37-4674-9A28-6A1441FEE53A}" srcOrd="6" destOrd="0" presId="urn:microsoft.com/office/officeart/2005/8/layout/list1"/>
    <dgm:cxn modelId="{5850E1C0-EB80-4443-A029-5641BA88DEAF}" type="presParOf" srcId="{A1BDFCE1-2EA1-4F1E-AC26-0760B8E9A76D}" destId="{E7B969BE-30A9-4137-892A-D93501023706}" srcOrd="7" destOrd="0" presId="urn:microsoft.com/office/officeart/2005/8/layout/list1"/>
    <dgm:cxn modelId="{EBEC2107-977D-4ED1-8BAF-681BBC9E75E6}" type="presParOf" srcId="{A1BDFCE1-2EA1-4F1E-AC26-0760B8E9A76D}" destId="{AE58E70F-061F-4698-AFF0-4F68B7B5F9D5}" srcOrd="8" destOrd="0" presId="urn:microsoft.com/office/officeart/2005/8/layout/list1"/>
    <dgm:cxn modelId="{CEFB9146-50F7-49AB-8297-DB075A42CC10}" type="presParOf" srcId="{AE58E70F-061F-4698-AFF0-4F68B7B5F9D5}" destId="{8ECCAC34-ABBB-4490-8732-8F02D4F169FA}" srcOrd="0" destOrd="0" presId="urn:microsoft.com/office/officeart/2005/8/layout/list1"/>
    <dgm:cxn modelId="{045DBF56-0462-40F1-A8A2-EDAE60F564B0}" type="presParOf" srcId="{AE58E70F-061F-4698-AFF0-4F68B7B5F9D5}" destId="{7943B8CF-BC9C-4577-8527-7D00F27E78FC}" srcOrd="1" destOrd="0" presId="urn:microsoft.com/office/officeart/2005/8/layout/list1"/>
    <dgm:cxn modelId="{3C4AD914-ECAC-4833-A288-AD80D5E788C4}" type="presParOf" srcId="{A1BDFCE1-2EA1-4F1E-AC26-0760B8E9A76D}" destId="{97E589E5-03A4-4A5B-BCFE-C3167198655D}" srcOrd="9" destOrd="0" presId="urn:microsoft.com/office/officeart/2005/8/layout/list1"/>
    <dgm:cxn modelId="{516B06A0-5C54-4A2B-8317-562FCBEA0EDA}" type="presParOf" srcId="{A1BDFCE1-2EA1-4F1E-AC26-0760B8E9A76D}" destId="{0C82D689-AD37-4EBE-B9D4-342FA80C4A5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5371CFD-C9B4-469E-A9F1-21F0B78428E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CBBAEED3-8117-4F0A-8DBA-E6C56128274E}">
      <dgm:prSet/>
      <dgm:spPr/>
      <dgm:t>
        <a:bodyPr/>
        <a:lstStyle/>
        <a:p>
          <a:r>
            <a:rPr lang="zh-CN" b="1">
              <a:latin typeface="+mj-ea"/>
              <a:ea typeface="+mj-ea"/>
            </a:rPr>
            <a:t>自由输入：</a:t>
          </a:r>
        </a:p>
      </dgm:t>
    </dgm:pt>
    <dgm:pt modelId="{152C38EF-2178-45D2-93DC-A2CC71D5B19F}" type="parTrans" cxnId="{196691B8-FCF0-4379-A7CD-C2838A69D1F5}">
      <dgm:prSet/>
      <dgm:spPr/>
      <dgm:t>
        <a:bodyPr/>
        <a:lstStyle/>
        <a:p>
          <a:endParaRPr lang="zh-CN" altLang="en-US" b="1">
            <a:latin typeface="+mj-ea"/>
            <a:ea typeface="+mj-ea"/>
          </a:endParaRPr>
        </a:p>
      </dgm:t>
    </dgm:pt>
    <dgm:pt modelId="{111C3528-F7C4-47C1-8CD3-EA1E9A434324}" type="sibTrans" cxnId="{196691B8-FCF0-4379-A7CD-C2838A69D1F5}">
      <dgm:prSet/>
      <dgm:spPr/>
      <dgm:t>
        <a:bodyPr/>
        <a:lstStyle/>
        <a:p>
          <a:endParaRPr lang="zh-CN" altLang="en-US" b="1">
            <a:latin typeface="+mj-ea"/>
            <a:ea typeface="+mj-ea"/>
          </a:endParaRPr>
        </a:p>
      </dgm:t>
    </dgm:pt>
    <dgm:pt modelId="{8A99CCC0-709B-414D-B68D-766A42EA09BF}">
      <dgm:prSet custT="1"/>
      <dgm:spPr>
        <a:noFill/>
      </dgm:spPr>
      <dgm:t>
        <a:bodyPr/>
        <a:lstStyle/>
        <a:p>
          <a:r>
            <a:rPr lang="zh-CN" altLang="en-US" sz="1600" b="0" i="0" dirty="0">
              <a:latin typeface="+mn-ea"/>
              <a:ea typeface="+mn-ea"/>
            </a:rPr>
            <a:t>各部门表达诉求，黑天鹅事件自由涌入</a:t>
          </a:r>
          <a:r>
            <a:rPr lang="zh-CN" altLang="en-US" sz="1600" b="1" dirty="0">
              <a:latin typeface="+mn-ea"/>
              <a:ea typeface="+mn-ea"/>
            </a:rPr>
            <a:t>。</a:t>
          </a:r>
        </a:p>
      </dgm:t>
    </dgm:pt>
    <dgm:pt modelId="{C3B85A5A-F70A-45D6-A14D-A502BFA15A8B}" type="parTrans" cxnId="{589D506E-B9B9-4F76-99A8-E750E9BE6932}">
      <dgm:prSet/>
      <dgm:spPr/>
      <dgm:t>
        <a:bodyPr/>
        <a:lstStyle/>
        <a:p>
          <a:endParaRPr lang="zh-CN" altLang="en-US" b="1">
            <a:latin typeface="+mj-ea"/>
            <a:ea typeface="+mj-ea"/>
          </a:endParaRPr>
        </a:p>
      </dgm:t>
    </dgm:pt>
    <dgm:pt modelId="{DD165169-E767-4AC6-A9E5-735F0240146C}" type="sibTrans" cxnId="{589D506E-B9B9-4F76-99A8-E750E9BE6932}">
      <dgm:prSet/>
      <dgm:spPr/>
      <dgm:t>
        <a:bodyPr/>
        <a:lstStyle/>
        <a:p>
          <a:endParaRPr lang="zh-CN" altLang="en-US" b="1">
            <a:latin typeface="+mj-ea"/>
            <a:ea typeface="+mj-ea"/>
          </a:endParaRPr>
        </a:p>
      </dgm:t>
    </dgm:pt>
    <dgm:pt modelId="{7A6FDCA8-FCF2-41B5-B6EE-0856CD282334}">
      <dgm:prSet/>
      <dgm:spPr/>
      <dgm:t>
        <a:bodyPr/>
        <a:lstStyle/>
        <a:p>
          <a:r>
            <a:rPr lang="zh-CN" b="1">
              <a:latin typeface="+mj-ea"/>
              <a:ea typeface="+mj-ea"/>
            </a:rPr>
            <a:t>逻辑坍缩：</a:t>
          </a:r>
        </a:p>
      </dgm:t>
    </dgm:pt>
    <dgm:pt modelId="{4FA2BE72-2262-41C1-BA88-AB680A55A223}" type="parTrans" cxnId="{7A2B96DD-6956-4727-B20E-D32C501DF4B6}">
      <dgm:prSet/>
      <dgm:spPr/>
      <dgm:t>
        <a:bodyPr/>
        <a:lstStyle/>
        <a:p>
          <a:endParaRPr lang="zh-CN" altLang="en-US" b="1">
            <a:latin typeface="+mj-ea"/>
            <a:ea typeface="+mj-ea"/>
          </a:endParaRPr>
        </a:p>
      </dgm:t>
    </dgm:pt>
    <dgm:pt modelId="{30E18C80-4DE0-482A-AA5A-7C7B0778EABF}" type="sibTrans" cxnId="{7A2B96DD-6956-4727-B20E-D32C501DF4B6}">
      <dgm:prSet/>
      <dgm:spPr/>
      <dgm:t>
        <a:bodyPr/>
        <a:lstStyle/>
        <a:p>
          <a:endParaRPr lang="zh-CN" altLang="en-US" b="1">
            <a:latin typeface="+mj-ea"/>
            <a:ea typeface="+mj-ea"/>
          </a:endParaRPr>
        </a:p>
      </dgm:t>
    </dgm:pt>
    <dgm:pt modelId="{3F4263A7-B515-436E-8B72-AC1B5BE8D643}">
      <dgm:prSet custT="1"/>
      <dgm:spPr>
        <a:noFill/>
      </dgm:spPr>
      <dgm:t>
        <a:bodyPr/>
        <a:lstStyle/>
        <a:p>
          <a:r>
            <a:rPr lang="zh-CN" altLang="en-US" sz="1600" b="0" i="0" dirty="0">
              <a:latin typeface="+mn-ea"/>
              <a:ea typeface="+mn-ea"/>
            </a:rPr>
            <a:t>总设计师</a:t>
          </a:r>
          <a:r>
            <a:rPr lang="en-US" altLang="zh-CN" sz="1600" b="0" i="0" dirty="0">
              <a:latin typeface="+mn-ea"/>
              <a:ea typeface="+mn-ea"/>
            </a:rPr>
            <a:t>/</a:t>
          </a:r>
          <a:r>
            <a:rPr lang="zh-CN" altLang="en-US" sz="1600" b="0" i="0" dirty="0">
              <a:latin typeface="+mn-ea"/>
              <a:ea typeface="+mn-ea"/>
            </a:rPr>
            <a:t>硅基引擎，把混沌收敛成确定性指令</a:t>
          </a:r>
          <a:r>
            <a:rPr lang="zh-CN" sz="1600" b="1" dirty="0">
              <a:latin typeface="+mn-ea"/>
              <a:ea typeface="+mn-ea"/>
            </a:rPr>
            <a:t>。</a:t>
          </a:r>
        </a:p>
      </dgm:t>
    </dgm:pt>
    <dgm:pt modelId="{1B984A77-D657-450E-859C-A70FDC02BF0F}" type="parTrans" cxnId="{0A1CC6BC-2FD2-4D11-BFCF-72045E9D5868}">
      <dgm:prSet/>
      <dgm:spPr/>
      <dgm:t>
        <a:bodyPr/>
        <a:lstStyle/>
        <a:p>
          <a:endParaRPr lang="zh-CN" altLang="en-US" b="1">
            <a:latin typeface="+mj-ea"/>
            <a:ea typeface="+mj-ea"/>
          </a:endParaRPr>
        </a:p>
      </dgm:t>
    </dgm:pt>
    <dgm:pt modelId="{8AF006AA-3B4C-4624-B71C-16506D885EFC}" type="sibTrans" cxnId="{0A1CC6BC-2FD2-4D11-BFCF-72045E9D5868}">
      <dgm:prSet/>
      <dgm:spPr/>
      <dgm:t>
        <a:bodyPr/>
        <a:lstStyle/>
        <a:p>
          <a:endParaRPr lang="zh-CN" altLang="en-US" b="1">
            <a:latin typeface="+mj-ea"/>
            <a:ea typeface="+mj-ea"/>
          </a:endParaRPr>
        </a:p>
      </dgm:t>
    </dgm:pt>
    <dgm:pt modelId="{D82DE36A-F357-4780-848C-137CFFB2F7CE}">
      <dgm:prSet/>
      <dgm:spPr/>
      <dgm:t>
        <a:bodyPr/>
        <a:lstStyle/>
        <a:p>
          <a:r>
            <a:rPr lang="zh-CN" b="1">
              <a:latin typeface="+mj-ea"/>
              <a:ea typeface="+mj-ea"/>
            </a:rPr>
            <a:t>协同协奏：</a:t>
          </a:r>
        </a:p>
      </dgm:t>
    </dgm:pt>
    <dgm:pt modelId="{CDC1F824-48B5-41F0-A14F-55DB38AD237E}" type="parTrans" cxnId="{69632E9A-D491-4A88-9A16-6116E7327279}">
      <dgm:prSet/>
      <dgm:spPr/>
      <dgm:t>
        <a:bodyPr/>
        <a:lstStyle/>
        <a:p>
          <a:endParaRPr lang="zh-CN" altLang="en-US" b="1">
            <a:latin typeface="+mj-ea"/>
            <a:ea typeface="+mj-ea"/>
          </a:endParaRPr>
        </a:p>
      </dgm:t>
    </dgm:pt>
    <dgm:pt modelId="{24463EF2-6794-41FB-957A-8EE553BB7400}" type="sibTrans" cxnId="{69632E9A-D491-4A88-9A16-6116E7327279}">
      <dgm:prSet/>
      <dgm:spPr/>
      <dgm:t>
        <a:bodyPr/>
        <a:lstStyle/>
        <a:p>
          <a:endParaRPr lang="zh-CN" altLang="en-US" b="1">
            <a:latin typeface="+mj-ea"/>
            <a:ea typeface="+mj-ea"/>
          </a:endParaRPr>
        </a:p>
      </dgm:t>
    </dgm:pt>
    <dgm:pt modelId="{B4B243A0-0140-4F4F-8211-D6FF16BAB58B}">
      <dgm:prSet custT="1"/>
      <dgm:spPr>
        <a:noFill/>
      </dgm:spPr>
      <dgm:t>
        <a:bodyPr/>
        <a:lstStyle/>
        <a:p>
          <a:r>
            <a:rPr lang="en-US" sz="1600" b="0" dirty="0">
              <a:latin typeface="+mj-ea"/>
              <a:ea typeface="+mj-ea"/>
            </a:rPr>
            <a:t>One Plan</a:t>
          </a:r>
          <a:r>
            <a:rPr lang="zh-CN" sz="1600" b="0" dirty="0">
              <a:latin typeface="+mj-ea"/>
              <a:ea typeface="+mj-ea"/>
            </a:rPr>
            <a:t>穿透部门墙，机台像齿轮一样服从。</a:t>
          </a:r>
        </a:p>
      </dgm:t>
    </dgm:pt>
    <dgm:pt modelId="{A98083D2-6E6C-4F01-A302-4B5B1365863E}" type="parTrans" cxnId="{88E61C6D-4296-4A31-A454-1D15294018C2}">
      <dgm:prSet/>
      <dgm:spPr/>
      <dgm:t>
        <a:bodyPr/>
        <a:lstStyle/>
        <a:p>
          <a:endParaRPr lang="zh-CN" altLang="en-US" b="1">
            <a:latin typeface="+mj-ea"/>
            <a:ea typeface="+mj-ea"/>
          </a:endParaRPr>
        </a:p>
      </dgm:t>
    </dgm:pt>
    <dgm:pt modelId="{3DDDDCCA-4B30-44D6-A3E1-6C763952891F}" type="sibTrans" cxnId="{88E61C6D-4296-4A31-A454-1D15294018C2}">
      <dgm:prSet/>
      <dgm:spPr/>
      <dgm:t>
        <a:bodyPr/>
        <a:lstStyle/>
        <a:p>
          <a:endParaRPr lang="zh-CN" altLang="en-US" b="1">
            <a:latin typeface="+mj-ea"/>
            <a:ea typeface="+mj-ea"/>
          </a:endParaRPr>
        </a:p>
      </dgm:t>
    </dgm:pt>
    <dgm:pt modelId="{FFF23CEC-D99F-4E1B-B730-70F4111BD3EA}">
      <dgm:prSet/>
      <dgm:spPr/>
      <dgm:t>
        <a:bodyPr/>
        <a:lstStyle/>
        <a:p>
          <a:r>
            <a:rPr lang="zh-CN" b="1">
              <a:latin typeface="+mj-ea"/>
              <a:ea typeface="+mj-ea"/>
            </a:rPr>
            <a:t>闭环反馈：</a:t>
          </a:r>
        </a:p>
      </dgm:t>
    </dgm:pt>
    <dgm:pt modelId="{C0A493DF-A0AB-4B42-8DB4-54A704EA41E4}" type="parTrans" cxnId="{AA27BF7D-7471-49E0-82EC-FC81EBA5F20C}">
      <dgm:prSet/>
      <dgm:spPr/>
      <dgm:t>
        <a:bodyPr/>
        <a:lstStyle/>
        <a:p>
          <a:endParaRPr lang="zh-CN" altLang="en-US" b="1">
            <a:latin typeface="+mj-ea"/>
            <a:ea typeface="+mj-ea"/>
          </a:endParaRPr>
        </a:p>
      </dgm:t>
    </dgm:pt>
    <dgm:pt modelId="{A54EDE8D-52A2-428C-B788-987B3D77D82F}" type="sibTrans" cxnId="{AA27BF7D-7471-49E0-82EC-FC81EBA5F20C}">
      <dgm:prSet/>
      <dgm:spPr/>
      <dgm:t>
        <a:bodyPr/>
        <a:lstStyle/>
        <a:p>
          <a:endParaRPr lang="zh-CN" altLang="en-US" b="1">
            <a:latin typeface="+mj-ea"/>
            <a:ea typeface="+mj-ea"/>
          </a:endParaRPr>
        </a:p>
      </dgm:t>
    </dgm:pt>
    <dgm:pt modelId="{F54365B8-B49E-4779-A46E-BFE616FB964A}">
      <dgm:prSet custT="1"/>
      <dgm:spPr>
        <a:noFill/>
      </dgm:spPr>
      <dgm:t>
        <a:bodyPr/>
        <a:lstStyle/>
        <a:p>
          <a:r>
            <a:rPr lang="zh-CN" altLang="en-US" sz="1600" b="0" dirty="0">
              <a:latin typeface="+mj-ea"/>
              <a:ea typeface="+mj-ea"/>
            </a:rPr>
            <a:t>执行偏差重新流回输入端，触发下一轮演化。</a:t>
          </a:r>
        </a:p>
      </dgm:t>
    </dgm:pt>
    <dgm:pt modelId="{9B826D21-7E54-4E56-86E9-36F1C10B9274}" type="parTrans" cxnId="{DC92952B-FCD4-49AC-9C61-54604A2F0DA4}">
      <dgm:prSet/>
      <dgm:spPr/>
      <dgm:t>
        <a:bodyPr/>
        <a:lstStyle/>
        <a:p>
          <a:endParaRPr lang="zh-CN" altLang="en-US" b="1">
            <a:latin typeface="+mj-ea"/>
            <a:ea typeface="+mj-ea"/>
          </a:endParaRPr>
        </a:p>
      </dgm:t>
    </dgm:pt>
    <dgm:pt modelId="{F5168878-472A-4AB5-9339-6119E8C404F0}" type="sibTrans" cxnId="{DC92952B-FCD4-49AC-9C61-54604A2F0DA4}">
      <dgm:prSet/>
      <dgm:spPr/>
      <dgm:t>
        <a:bodyPr/>
        <a:lstStyle/>
        <a:p>
          <a:endParaRPr lang="zh-CN" altLang="en-US" b="1">
            <a:latin typeface="+mj-ea"/>
            <a:ea typeface="+mj-ea"/>
          </a:endParaRPr>
        </a:p>
      </dgm:t>
    </dgm:pt>
    <dgm:pt modelId="{28BF4626-47AF-4962-9924-60ABF87DE357}" type="pres">
      <dgm:prSet presAssocID="{45371CFD-C9B4-469E-A9F1-21F0B78428E9}" presName="Name0" presStyleCnt="0">
        <dgm:presLayoutVars>
          <dgm:dir/>
          <dgm:animLvl val="lvl"/>
          <dgm:resizeHandles val="exact"/>
        </dgm:presLayoutVars>
      </dgm:prSet>
      <dgm:spPr/>
    </dgm:pt>
    <dgm:pt modelId="{FDDCB31D-278C-4095-8F53-C9DA6586FE17}" type="pres">
      <dgm:prSet presAssocID="{CBBAEED3-8117-4F0A-8DBA-E6C56128274E}" presName="composite" presStyleCnt="0"/>
      <dgm:spPr/>
    </dgm:pt>
    <dgm:pt modelId="{AA064FA3-F3B0-4A26-BF3C-91498BF058FA}" type="pres">
      <dgm:prSet presAssocID="{CBBAEED3-8117-4F0A-8DBA-E6C56128274E}" presName="parTx" presStyleLbl="alignNode1" presStyleIdx="0" presStyleCnt="4">
        <dgm:presLayoutVars>
          <dgm:chMax val="0"/>
          <dgm:chPref val="0"/>
          <dgm:bulletEnabled val="1"/>
        </dgm:presLayoutVars>
      </dgm:prSet>
      <dgm:spPr/>
    </dgm:pt>
    <dgm:pt modelId="{42AFC100-1911-4CE6-97B5-B522910D5B18}" type="pres">
      <dgm:prSet presAssocID="{CBBAEED3-8117-4F0A-8DBA-E6C56128274E}" presName="desTx" presStyleLbl="alignAccFollowNode1" presStyleIdx="0" presStyleCnt="4">
        <dgm:presLayoutVars>
          <dgm:bulletEnabled val="1"/>
        </dgm:presLayoutVars>
      </dgm:prSet>
      <dgm:spPr/>
    </dgm:pt>
    <dgm:pt modelId="{0C95164D-6C94-4543-B10E-8A2475E9D02B}" type="pres">
      <dgm:prSet presAssocID="{111C3528-F7C4-47C1-8CD3-EA1E9A434324}" presName="space" presStyleCnt="0"/>
      <dgm:spPr/>
    </dgm:pt>
    <dgm:pt modelId="{1D245325-D852-412F-BE55-8FF745048C5C}" type="pres">
      <dgm:prSet presAssocID="{7A6FDCA8-FCF2-41B5-B6EE-0856CD282334}" presName="composite" presStyleCnt="0"/>
      <dgm:spPr/>
    </dgm:pt>
    <dgm:pt modelId="{D42E7F19-F0FC-49A2-91D6-5B089AD49FEC}" type="pres">
      <dgm:prSet presAssocID="{7A6FDCA8-FCF2-41B5-B6EE-0856CD282334}" presName="parTx" presStyleLbl="alignNode1" presStyleIdx="1" presStyleCnt="4">
        <dgm:presLayoutVars>
          <dgm:chMax val="0"/>
          <dgm:chPref val="0"/>
          <dgm:bulletEnabled val="1"/>
        </dgm:presLayoutVars>
      </dgm:prSet>
      <dgm:spPr/>
    </dgm:pt>
    <dgm:pt modelId="{77F2E406-6D85-407B-8A70-B2E6B5A0E0CC}" type="pres">
      <dgm:prSet presAssocID="{7A6FDCA8-FCF2-41B5-B6EE-0856CD282334}" presName="desTx" presStyleLbl="alignAccFollowNode1" presStyleIdx="1" presStyleCnt="4">
        <dgm:presLayoutVars>
          <dgm:bulletEnabled val="1"/>
        </dgm:presLayoutVars>
      </dgm:prSet>
      <dgm:spPr/>
    </dgm:pt>
    <dgm:pt modelId="{E897F127-2EAF-40AE-8F91-217ABB199215}" type="pres">
      <dgm:prSet presAssocID="{30E18C80-4DE0-482A-AA5A-7C7B0778EABF}" presName="space" presStyleCnt="0"/>
      <dgm:spPr/>
    </dgm:pt>
    <dgm:pt modelId="{F160FDA2-AE90-423B-8F4B-233C248A7EBD}" type="pres">
      <dgm:prSet presAssocID="{D82DE36A-F357-4780-848C-137CFFB2F7CE}" presName="composite" presStyleCnt="0"/>
      <dgm:spPr/>
    </dgm:pt>
    <dgm:pt modelId="{F81EBA57-92B5-42FA-B3E4-D0EC3CA9465E}" type="pres">
      <dgm:prSet presAssocID="{D82DE36A-F357-4780-848C-137CFFB2F7CE}" presName="parTx" presStyleLbl="alignNode1" presStyleIdx="2" presStyleCnt="4">
        <dgm:presLayoutVars>
          <dgm:chMax val="0"/>
          <dgm:chPref val="0"/>
          <dgm:bulletEnabled val="1"/>
        </dgm:presLayoutVars>
      </dgm:prSet>
      <dgm:spPr/>
    </dgm:pt>
    <dgm:pt modelId="{0482A8B4-8957-4186-81EA-B31A36DDA59A}" type="pres">
      <dgm:prSet presAssocID="{D82DE36A-F357-4780-848C-137CFFB2F7CE}" presName="desTx" presStyleLbl="alignAccFollowNode1" presStyleIdx="2" presStyleCnt="4">
        <dgm:presLayoutVars>
          <dgm:bulletEnabled val="1"/>
        </dgm:presLayoutVars>
      </dgm:prSet>
      <dgm:spPr/>
    </dgm:pt>
    <dgm:pt modelId="{F1564436-3D94-41AD-97F5-91F49629A8BD}" type="pres">
      <dgm:prSet presAssocID="{24463EF2-6794-41FB-957A-8EE553BB7400}" presName="space" presStyleCnt="0"/>
      <dgm:spPr/>
    </dgm:pt>
    <dgm:pt modelId="{1FA1380B-2EC3-4C8F-B90A-AB5E1D72B332}" type="pres">
      <dgm:prSet presAssocID="{FFF23CEC-D99F-4E1B-B730-70F4111BD3EA}" presName="composite" presStyleCnt="0"/>
      <dgm:spPr/>
    </dgm:pt>
    <dgm:pt modelId="{BEE3C44C-B63D-4BD7-8093-83E7F5D9E37C}" type="pres">
      <dgm:prSet presAssocID="{FFF23CEC-D99F-4E1B-B730-70F4111BD3EA}" presName="parTx" presStyleLbl="alignNode1" presStyleIdx="3" presStyleCnt="4">
        <dgm:presLayoutVars>
          <dgm:chMax val="0"/>
          <dgm:chPref val="0"/>
          <dgm:bulletEnabled val="1"/>
        </dgm:presLayoutVars>
      </dgm:prSet>
      <dgm:spPr/>
    </dgm:pt>
    <dgm:pt modelId="{33C8CE28-9F9D-4E26-AC66-F9D2E34A4E4A}" type="pres">
      <dgm:prSet presAssocID="{FFF23CEC-D99F-4E1B-B730-70F4111BD3EA}" presName="desTx" presStyleLbl="alignAccFollowNode1" presStyleIdx="3" presStyleCnt="4">
        <dgm:presLayoutVars>
          <dgm:bulletEnabled val="1"/>
        </dgm:presLayoutVars>
      </dgm:prSet>
      <dgm:spPr/>
    </dgm:pt>
  </dgm:ptLst>
  <dgm:cxnLst>
    <dgm:cxn modelId="{47EB281D-687F-47D6-A87A-4313DE1420A8}" type="presOf" srcId="{D82DE36A-F357-4780-848C-137CFFB2F7CE}" destId="{F81EBA57-92B5-42FA-B3E4-D0EC3CA9465E}" srcOrd="0" destOrd="0" presId="urn:microsoft.com/office/officeart/2005/8/layout/hList1"/>
    <dgm:cxn modelId="{DC92952B-FCD4-49AC-9C61-54604A2F0DA4}" srcId="{FFF23CEC-D99F-4E1B-B730-70F4111BD3EA}" destId="{F54365B8-B49E-4779-A46E-BFE616FB964A}" srcOrd="0" destOrd="0" parTransId="{9B826D21-7E54-4E56-86E9-36F1C10B9274}" sibTransId="{F5168878-472A-4AB5-9339-6119E8C404F0}"/>
    <dgm:cxn modelId="{68A44E5B-266A-4463-A8D6-5162FEB38C79}" type="presOf" srcId="{FFF23CEC-D99F-4E1B-B730-70F4111BD3EA}" destId="{BEE3C44C-B63D-4BD7-8093-83E7F5D9E37C}" srcOrd="0" destOrd="0" presId="urn:microsoft.com/office/officeart/2005/8/layout/hList1"/>
    <dgm:cxn modelId="{4CC3085E-8C31-4265-A719-01D8F27FCB1F}" type="presOf" srcId="{45371CFD-C9B4-469E-A9F1-21F0B78428E9}" destId="{28BF4626-47AF-4962-9924-60ABF87DE357}" srcOrd="0" destOrd="0" presId="urn:microsoft.com/office/officeart/2005/8/layout/hList1"/>
    <dgm:cxn modelId="{88E61C6D-4296-4A31-A454-1D15294018C2}" srcId="{D82DE36A-F357-4780-848C-137CFFB2F7CE}" destId="{B4B243A0-0140-4F4F-8211-D6FF16BAB58B}" srcOrd="0" destOrd="0" parTransId="{A98083D2-6E6C-4F01-A302-4B5B1365863E}" sibTransId="{3DDDDCCA-4B30-44D6-A3E1-6C763952891F}"/>
    <dgm:cxn modelId="{589D506E-B9B9-4F76-99A8-E750E9BE6932}" srcId="{CBBAEED3-8117-4F0A-8DBA-E6C56128274E}" destId="{8A99CCC0-709B-414D-B68D-766A42EA09BF}" srcOrd="0" destOrd="0" parTransId="{C3B85A5A-F70A-45D6-A14D-A502BFA15A8B}" sibTransId="{DD165169-E767-4AC6-A9E5-735F0240146C}"/>
    <dgm:cxn modelId="{99D6E459-D692-4AFF-91AF-3848B1331DBC}" type="presOf" srcId="{3F4263A7-B515-436E-8B72-AC1B5BE8D643}" destId="{77F2E406-6D85-407B-8A70-B2E6B5A0E0CC}" srcOrd="0" destOrd="0" presId="urn:microsoft.com/office/officeart/2005/8/layout/hList1"/>
    <dgm:cxn modelId="{AA27BF7D-7471-49E0-82EC-FC81EBA5F20C}" srcId="{45371CFD-C9B4-469E-A9F1-21F0B78428E9}" destId="{FFF23CEC-D99F-4E1B-B730-70F4111BD3EA}" srcOrd="3" destOrd="0" parTransId="{C0A493DF-A0AB-4B42-8DB4-54A704EA41E4}" sibTransId="{A54EDE8D-52A2-428C-B788-987B3D77D82F}"/>
    <dgm:cxn modelId="{35CB0187-823F-47AB-A0D1-D62C6E9AF4A5}" type="presOf" srcId="{F54365B8-B49E-4779-A46E-BFE616FB964A}" destId="{33C8CE28-9F9D-4E26-AC66-F9D2E34A4E4A}" srcOrd="0" destOrd="0" presId="urn:microsoft.com/office/officeart/2005/8/layout/hList1"/>
    <dgm:cxn modelId="{CC4D6D88-0437-4FFB-BC4A-F2C5B4626421}" type="presOf" srcId="{CBBAEED3-8117-4F0A-8DBA-E6C56128274E}" destId="{AA064FA3-F3B0-4A26-BF3C-91498BF058FA}" srcOrd="0" destOrd="0" presId="urn:microsoft.com/office/officeart/2005/8/layout/hList1"/>
    <dgm:cxn modelId="{69632E9A-D491-4A88-9A16-6116E7327279}" srcId="{45371CFD-C9B4-469E-A9F1-21F0B78428E9}" destId="{D82DE36A-F357-4780-848C-137CFFB2F7CE}" srcOrd="2" destOrd="0" parTransId="{CDC1F824-48B5-41F0-A14F-55DB38AD237E}" sibTransId="{24463EF2-6794-41FB-957A-8EE553BB7400}"/>
    <dgm:cxn modelId="{BA3A0FB3-C902-4895-A5FA-5A140DCD8A37}" type="presOf" srcId="{7A6FDCA8-FCF2-41B5-B6EE-0856CD282334}" destId="{D42E7F19-F0FC-49A2-91D6-5B089AD49FEC}" srcOrd="0" destOrd="0" presId="urn:microsoft.com/office/officeart/2005/8/layout/hList1"/>
    <dgm:cxn modelId="{196691B8-FCF0-4379-A7CD-C2838A69D1F5}" srcId="{45371CFD-C9B4-469E-A9F1-21F0B78428E9}" destId="{CBBAEED3-8117-4F0A-8DBA-E6C56128274E}" srcOrd="0" destOrd="0" parTransId="{152C38EF-2178-45D2-93DC-A2CC71D5B19F}" sibTransId="{111C3528-F7C4-47C1-8CD3-EA1E9A434324}"/>
    <dgm:cxn modelId="{0A1CC6BC-2FD2-4D11-BFCF-72045E9D5868}" srcId="{7A6FDCA8-FCF2-41B5-B6EE-0856CD282334}" destId="{3F4263A7-B515-436E-8B72-AC1B5BE8D643}" srcOrd="0" destOrd="0" parTransId="{1B984A77-D657-450E-859C-A70FDC02BF0F}" sibTransId="{8AF006AA-3B4C-4624-B71C-16506D885EFC}"/>
    <dgm:cxn modelId="{7A2B96DD-6956-4727-B20E-D32C501DF4B6}" srcId="{45371CFD-C9B4-469E-A9F1-21F0B78428E9}" destId="{7A6FDCA8-FCF2-41B5-B6EE-0856CD282334}" srcOrd="1" destOrd="0" parTransId="{4FA2BE72-2262-41C1-BA88-AB680A55A223}" sibTransId="{30E18C80-4DE0-482A-AA5A-7C7B0778EABF}"/>
    <dgm:cxn modelId="{1B0B25E4-EF5F-4322-AE74-C39C02AD3931}" type="presOf" srcId="{B4B243A0-0140-4F4F-8211-D6FF16BAB58B}" destId="{0482A8B4-8957-4186-81EA-B31A36DDA59A}" srcOrd="0" destOrd="0" presId="urn:microsoft.com/office/officeart/2005/8/layout/hList1"/>
    <dgm:cxn modelId="{DCF85EEE-F4CB-410F-A059-CA8BB75E9AFA}" type="presOf" srcId="{8A99CCC0-709B-414D-B68D-766A42EA09BF}" destId="{42AFC100-1911-4CE6-97B5-B522910D5B18}" srcOrd="0" destOrd="0" presId="urn:microsoft.com/office/officeart/2005/8/layout/hList1"/>
    <dgm:cxn modelId="{8CAA9B4A-10EC-42FD-A0FB-F912344B9263}" type="presParOf" srcId="{28BF4626-47AF-4962-9924-60ABF87DE357}" destId="{FDDCB31D-278C-4095-8F53-C9DA6586FE17}" srcOrd="0" destOrd="0" presId="urn:microsoft.com/office/officeart/2005/8/layout/hList1"/>
    <dgm:cxn modelId="{E932FC70-EE27-4F74-BA71-7F257F82F12E}" type="presParOf" srcId="{FDDCB31D-278C-4095-8F53-C9DA6586FE17}" destId="{AA064FA3-F3B0-4A26-BF3C-91498BF058FA}" srcOrd="0" destOrd="0" presId="urn:microsoft.com/office/officeart/2005/8/layout/hList1"/>
    <dgm:cxn modelId="{2D1734D4-186D-469F-874C-F09DA3BD6772}" type="presParOf" srcId="{FDDCB31D-278C-4095-8F53-C9DA6586FE17}" destId="{42AFC100-1911-4CE6-97B5-B522910D5B18}" srcOrd="1" destOrd="0" presId="urn:microsoft.com/office/officeart/2005/8/layout/hList1"/>
    <dgm:cxn modelId="{2F00D627-80F1-462F-9139-E3483AAFF0CB}" type="presParOf" srcId="{28BF4626-47AF-4962-9924-60ABF87DE357}" destId="{0C95164D-6C94-4543-B10E-8A2475E9D02B}" srcOrd="1" destOrd="0" presId="urn:microsoft.com/office/officeart/2005/8/layout/hList1"/>
    <dgm:cxn modelId="{1D449090-731C-4FD6-BC73-F7EA0F88EF44}" type="presParOf" srcId="{28BF4626-47AF-4962-9924-60ABF87DE357}" destId="{1D245325-D852-412F-BE55-8FF745048C5C}" srcOrd="2" destOrd="0" presId="urn:microsoft.com/office/officeart/2005/8/layout/hList1"/>
    <dgm:cxn modelId="{EB1F1E3E-E66B-4BBA-BED8-3FE6225C0FCB}" type="presParOf" srcId="{1D245325-D852-412F-BE55-8FF745048C5C}" destId="{D42E7F19-F0FC-49A2-91D6-5B089AD49FEC}" srcOrd="0" destOrd="0" presId="urn:microsoft.com/office/officeart/2005/8/layout/hList1"/>
    <dgm:cxn modelId="{08247CE2-A234-42B8-8D22-3342FA89DFD6}" type="presParOf" srcId="{1D245325-D852-412F-BE55-8FF745048C5C}" destId="{77F2E406-6D85-407B-8A70-B2E6B5A0E0CC}" srcOrd="1" destOrd="0" presId="urn:microsoft.com/office/officeart/2005/8/layout/hList1"/>
    <dgm:cxn modelId="{492A1078-4CC3-4D2C-9425-2FAE3987BEEB}" type="presParOf" srcId="{28BF4626-47AF-4962-9924-60ABF87DE357}" destId="{E897F127-2EAF-40AE-8F91-217ABB199215}" srcOrd="3" destOrd="0" presId="urn:microsoft.com/office/officeart/2005/8/layout/hList1"/>
    <dgm:cxn modelId="{A40C55DD-5A0B-47E1-99F8-E4C3E3E26CD5}" type="presParOf" srcId="{28BF4626-47AF-4962-9924-60ABF87DE357}" destId="{F160FDA2-AE90-423B-8F4B-233C248A7EBD}" srcOrd="4" destOrd="0" presId="urn:microsoft.com/office/officeart/2005/8/layout/hList1"/>
    <dgm:cxn modelId="{139A8C18-1A95-456D-8568-2E6272945D76}" type="presParOf" srcId="{F160FDA2-AE90-423B-8F4B-233C248A7EBD}" destId="{F81EBA57-92B5-42FA-B3E4-D0EC3CA9465E}" srcOrd="0" destOrd="0" presId="urn:microsoft.com/office/officeart/2005/8/layout/hList1"/>
    <dgm:cxn modelId="{AF794B29-762A-4E0D-8716-F5E65F65BC92}" type="presParOf" srcId="{F160FDA2-AE90-423B-8F4B-233C248A7EBD}" destId="{0482A8B4-8957-4186-81EA-B31A36DDA59A}" srcOrd="1" destOrd="0" presId="urn:microsoft.com/office/officeart/2005/8/layout/hList1"/>
    <dgm:cxn modelId="{A4F50F30-9F87-4CFA-BC42-D2F4C8F122C9}" type="presParOf" srcId="{28BF4626-47AF-4962-9924-60ABF87DE357}" destId="{F1564436-3D94-41AD-97F5-91F49629A8BD}" srcOrd="5" destOrd="0" presId="urn:microsoft.com/office/officeart/2005/8/layout/hList1"/>
    <dgm:cxn modelId="{9A3FB641-8B70-4239-9CBB-3440B226856E}" type="presParOf" srcId="{28BF4626-47AF-4962-9924-60ABF87DE357}" destId="{1FA1380B-2EC3-4C8F-B90A-AB5E1D72B332}" srcOrd="6" destOrd="0" presId="urn:microsoft.com/office/officeart/2005/8/layout/hList1"/>
    <dgm:cxn modelId="{C71D3900-BA9E-4D08-97DE-DE46826C7E85}" type="presParOf" srcId="{1FA1380B-2EC3-4C8F-B90A-AB5E1D72B332}" destId="{BEE3C44C-B63D-4BD7-8093-83E7F5D9E37C}" srcOrd="0" destOrd="0" presId="urn:microsoft.com/office/officeart/2005/8/layout/hList1"/>
    <dgm:cxn modelId="{820AB823-346E-49EC-9567-5530D79D1E32}" type="presParOf" srcId="{1FA1380B-2EC3-4C8F-B90A-AB5E1D72B332}" destId="{33C8CE28-9F9D-4E26-AC66-F9D2E34A4E4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FD164E2-7380-4FC9-81BF-8F1A31EFE46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zh-CN" altLang="en-US"/>
        </a:p>
      </dgm:t>
    </dgm:pt>
    <dgm:pt modelId="{397B9414-2EC6-4934-8E38-3A4560B7303D}">
      <dgm:prSet custT="1"/>
      <dgm:spPr/>
      <dgm:t>
        <a:bodyPr/>
        <a:lstStyle/>
        <a:p>
          <a:r>
            <a:rPr lang="zh-CN" altLang="en-US" sz="1600"/>
            <a:t>路径论已经推出：自下而上建系统，先修执行层，再托举主计划。</a:t>
          </a:r>
        </a:p>
      </dgm:t>
    </dgm:pt>
    <dgm:pt modelId="{16BE0AF7-DAE0-4C4D-8F8D-FD18CD270E73}" type="parTrans" cxnId="{6671CBBE-54E8-42AB-A250-0954D2A59FA2}">
      <dgm:prSet/>
      <dgm:spPr/>
      <dgm:t>
        <a:bodyPr/>
        <a:lstStyle/>
        <a:p>
          <a:endParaRPr lang="zh-CN" altLang="en-US" sz="1600"/>
        </a:p>
      </dgm:t>
    </dgm:pt>
    <dgm:pt modelId="{6559365E-3579-4507-BAD5-9657F75784C6}" type="sibTrans" cxnId="{6671CBBE-54E8-42AB-A250-0954D2A59FA2}">
      <dgm:prSet/>
      <dgm:spPr/>
      <dgm:t>
        <a:bodyPr/>
        <a:lstStyle/>
        <a:p>
          <a:endParaRPr lang="zh-CN" altLang="en-US" sz="1600"/>
        </a:p>
      </dgm:t>
    </dgm:pt>
    <dgm:pt modelId="{19403672-5956-43C2-9B5E-AE649E8AE475}">
      <dgm:prSet custT="1"/>
      <dgm:spPr/>
      <dgm:t>
        <a:bodyPr/>
        <a:lstStyle/>
        <a:p>
          <a:r>
            <a:rPr lang="zh-CN" altLang="en-US" sz="1600" dirty="0"/>
            <a:t>体系设计得再好，落地一定遇到</a:t>
          </a:r>
          <a:r>
            <a:rPr lang="zh-CN" altLang="en-US" sz="2000" b="1" dirty="0">
              <a:solidFill>
                <a:srgbClr val="00D4FF"/>
              </a:solidFill>
            </a:rPr>
            <a:t>巨大阻力</a:t>
          </a:r>
          <a:r>
            <a:rPr lang="zh-CN" altLang="en-US" sz="1600" dirty="0"/>
            <a:t>。这些阻力不只是技术问题，更是</a:t>
          </a:r>
          <a:r>
            <a:rPr lang="zh-CN" altLang="en-US" sz="2000" b="1" dirty="0">
              <a:solidFill>
                <a:srgbClr val="00D4FF"/>
              </a:solidFill>
            </a:rPr>
            <a:t>权力问题</a:t>
          </a:r>
          <a:r>
            <a:rPr lang="zh-CN" altLang="en-US" sz="1600" dirty="0"/>
            <a:t>。</a:t>
          </a:r>
        </a:p>
      </dgm:t>
    </dgm:pt>
    <dgm:pt modelId="{07E9A269-17B5-428C-9C0D-CF0842907A07}" type="parTrans" cxnId="{75AD58DF-1757-4E26-9199-FA6FAB1778D7}">
      <dgm:prSet/>
      <dgm:spPr/>
      <dgm:t>
        <a:bodyPr/>
        <a:lstStyle/>
        <a:p>
          <a:endParaRPr lang="zh-CN" altLang="en-US" sz="1600"/>
        </a:p>
      </dgm:t>
    </dgm:pt>
    <dgm:pt modelId="{3770AF76-D7C9-46BC-983C-D6A801B160CB}" type="sibTrans" cxnId="{75AD58DF-1757-4E26-9199-FA6FAB1778D7}">
      <dgm:prSet/>
      <dgm:spPr/>
      <dgm:t>
        <a:bodyPr/>
        <a:lstStyle/>
        <a:p>
          <a:endParaRPr lang="zh-CN" altLang="en-US" sz="1600"/>
        </a:p>
      </dgm:t>
    </dgm:pt>
    <dgm:pt modelId="{01968090-472C-4B90-8210-9CF0EEBA1F9E}">
      <dgm:prSet custT="1"/>
      <dgm:spPr/>
      <dgm:t>
        <a:bodyPr/>
        <a:lstStyle/>
        <a:p>
          <a:r>
            <a:rPr lang="zh-CN" altLang="en-US" sz="1600" dirty="0"/>
            <a:t>前面从目的论到机制论，绝大多数定性问题已经捋顺。到最后，就剩这一关：权力与总设计师之间的</a:t>
          </a:r>
          <a:r>
            <a:rPr lang="zh-CN" altLang="en-US" sz="2000" b="1" dirty="0">
              <a:solidFill>
                <a:srgbClr val="00D4FF"/>
              </a:solidFill>
            </a:rPr>
            <a:t>夹角。</a:t>
          </a:r>
          <a:endParaRPr lang="zh-CN" altLang="en-US" sz="1600" b="1" dirty="0">
            <a:solidFill>
              <a:srgbClr val="00D4FF"/>
            </a:solidFill>
          </a:endParaRPr>
        </a:p>
      </dgm:t>
    </dgm:pt>
    <dgm:pt modelId="{A2CBC2F5-4E1C-44FD-B227-D781FD4901D1}" type="parTrans" cxnId="{FB9D6CD5-5563-42AF-9F67-96C16342B999}">
      <dgm:prSet/>
      <dgm:spPr/>
      <dgm:t>
        <a:bodyPr/>
        <a:lstStyle/>
        <a:p>
          <a:endParaRPr lang="zh-CN" altLang="en-US" sz="1600"/>
        </a:p>
      </dgm:t>
    </dgm:pt>
    <dgm:pt modelId="{28622038-3A28-4F46-B708-22BC4BBF0C67}" type="sibTrans" cxnId="{FB9D6CD5-5563-42AF-9F67-96C16342B999}">
      <dgm:prSet/>
      <dgm:spPr/>
      <dgm:t>
        <a:bodyPr/>
        <a:lstStyle/>
        <a:p>
          <a:endParaRPr lang="zh-CN" altLang="en-US" sz="1600"/>
        </a:p>
      </dgm:t>
    </dgm:pt>
    <dgm:pt modelId="{EC0C87C0-B307-4715-8957-4D65BA99E060}" type="pres">
      <dgm:prSet presAssocID="{DFD164E2-7380-4FC9-81BF-8F1A31EFE46E}" presName="vert0" presStyleCnt="0">
        <dgm:presLayoutVars>
          <dgm:dir/>
          <dgm:animOne val="branch"/>
          <dgm:animLvl val="lvl"/>
        </dgm:presLayoutVars>
      </dgm:prSet>
      <dgm:spPr/>
    </dgm:pt>
    <dgm:pt modelId="{15B70D22-D916-4324-ABFA-8305B6726999}" type="pres">
      <dgm:prSet presAssocID="{397B9414-2EC6-4934-8E38-3A4560B7303D}" presName="thickLine" presStyleLbl="alignNode1" presStyleIdx="0" presStyleCnt="3"/>
      <dgm:spPr/>
    </dgm:pt>
    <dgm:pt modelId="{1BE0AFC1-5F65-4416-A19F-5278121CE563}" type="pres">
      <dgm:prSet presAssocID="{397B9414-2EC6-4934-8E38-3A4560B7303D}" presName="horz1" presStyleCnt="0"/>
      <dgm:spPr/>
    </dgm:pt>
    <dgm:pt modelId="{31BF5A7A-4C9A-42C3-B213-5C6BC1F78A00}" type="pres">
      <dgm:prSet presAssocID="{397B9414-2EC6-4934-8E38-3A4560B7303D}" presName="tx1" presStyleLbl="revTx" presStyleIdx="0" presStyleCnt="3"/>
      <dgm:spPr/>
    </dgm:pt>
    <dgm:pt modelId="{01782F1F-A250-453B-89FB-AF4E3E27DC26}" type="pres">
      <dgm:prSet presAssocID="{397B9414-2EC6-4934-8E38-3A4560B7303D}" presName="vert1" presStyleCnt="0"/>
      <dgm:spPr/>
    </dgm:pt>
    <dgm:pt modelId="{EF80F920-FD47-467F-84C2-3CFDC7BB90BB}" type="pres">
      <dgm:prSet presAssocID="{19403672-5956-43C2-9B5E-AE649E8AE475}" presName="thickLine" presStyleLbl="alignNode1" presStyleIdx="1" presStyleCnt="3"/>
      <dgm:spPr/>
    </dgm:pt>
    <dgm:pt modelId="{DD385701-9C74-4945-A6E4-2F6AC620FA93}" type="pres">
      <dgm:prSet presAssocID="{19403672-5956-43C2-9B5E-AE649E8AE475}" presName="horz1" presStyleCnt="0"/>
      <dgm:spPr/>
    </dgm:pt>
    <dgm:pt modelId="{080C296E-03F2-4CB3-87FD-778635E55988}" type="pres">
      <dgm:prSet presAssocID="{19403672-5956-43C2-9B5E-AE649E8AE475}" presName="tx1" presStyleLbl="revTx" presStyleIdx="1" presStyleCnt="3"/>
      <dgm:spPr/>
    </dgm:pt>
    <dgm:pt modelId="{54CDF487-0707-4122-A97B-B421B03FFF0B}" type="pres">
      <dgm:prSet presAssocID="{19403672-5956-43C2-9B5E-AE649E8AE475}" presName="vert1" presStyleCnt="0"/>
      <dgm:spPr/>
    </dgm:pt>
    <dgm:pt modelId="{56ABE8E2-468B-44BA-B4E7-2C30A3B3FF06}" type="pres">
      <dgm:prSet presAssocID="{01968090-472C-4B90-8210-9CF0EEBA1F9E}" presName="thickLine" presStyleLbl="alignNode1" presStyleIdx="2" presStyleCnt="3"/>
      <dgm:spPr/>
    </dgm:pt>
    <dgm:pt modelId="{B31A18DF-35BB-4AFD-AC88-CB030BF0FE80}" type="pres">
      <dgm:prSet presAssocID="{01968090-472C-4B90-8210-9CF0EEBA1F9E}" presName="horz1" presStyleCnt="0"/>
      <dgm:spPr/>
    </dgm:pt>
    <dgm:pt modelId="{FA7D336F-7835-4D05-B3B9-2950692F4A87}" type="pres">
      <dgm:prSet presAssocID="{01968090-472C-4B90-8210-9CF0EEBA1F9E}" presName="tx1" presStyleLbl="revTx" presStyleIdx="2" presStyleCnt="3"/>
      <dgm:spPr/>
    </dgm:pt>
    <dgm:pt modelId="{DF673012-59BD-4062-A890-8B6DAB8BD0A5}" type="pres">
      <dgm:prSet presAssocID="{01968090-472C-4B90-8210-9CF0EEBA1F9E}" presName="vert1" presStyleCnt="0"/>
      <dgm:spPr/>
    </dgm:pt>
  </dgm:ptLst>
  <dgm:cxnLst>
    <dgm:cxn modelId="{19CE7246-5328-4FBA-8D0A-46B80BB35075}" type="presOf" srcId="{19403672-5956-43C2-9B5E-AE649E8AE475}" destId="{080C296E-03F2-4CB3-87FD-778635E55988}" srcOrd="0" destOrd="0" presId="urn:microsoft.com/office/officeart/2008/layout/LinedList"/>
    <dgm:cxn modelId="{4C7DAA46-792E-4DAB-A269-4ED6609788FB}" type="presOf" srcId="{01968090-472C-4B90-8210-9CF0EEBA1F9E}" destId="{FA7D336F-7835-4D05-B3B9-2950692F4A87}" srcOrd="0" destOrd="0" presId="urn:microsoft.com/office/officeart/2008/layout/LinedList"/>
    <dgm:cxn modelId="{4B014668-E604-4D21-BB61-FDF76D4F8FCE}" type="presOf" srcId="{DFD164E2-7380-4FC9-81BF-8F1A31EFE46E}" destId="{EC0C87C0-B307-4715-8957-4D65BA99E060}" srcOrd="0" destOrd="0" presId="urn:microsoft.com/office/officeart/2008/layout/LinedList"/>
    <dgm:cxn modelId="{C34AACAB-11D1-4E45-856D-5BF6DEE5F3C6}" type="presOf" srcId="{397B9414-2EC6-4934-8E38-3A4560B7303D}" destId="{31BF5A7A-4C9A-42C3-B213-5C6BC1F78A00}" srcOrd="0" destOrd="0" presId="urn:microsoft.com/office/officeart/2008/layout/LinedList"/>
    <dgm:cxn modelId="{6671CBBE-54E8-42AB-A250-0954D2A59FA2}" srcId="{DFD164E2-7380-4FC9-81BF-8F1A31EFE46E}" destId="{397B9414-2EC6-4934-8E38-3A4560B7303D}" srcOrd="0" destOrd="0" parTransId="{16BE0AF7-DAE0-4C4D-8F8D-FD18CD270E73}" sibTransId="{6559365E-3579-4507-BAD5-9657F75784C6}"/>
    <dgm:cxn modelId="{FB9D6CD5-5563-42AF-9F67-96C16342B999}" srcId="{DFD164E2-7380-4FC9-81BF-8F1A31EFE46E}" destId="{01968090-472C-4B90-8210-9CF0EEBA1F9E}" srcOrd="2" destOrd="0" parTransId="{A2CBC2F5-4E1C-44FD-B227-D781FD4901D1}" sibTransId="{28622038-3A28-4F46-B708-22BC4BBF0C67}"/>
    <dgm:cxn modelId="{75AD58DF-1757-4E26-9199-FA6FAB1778D7}" srcId="{DFD164E2-7380-4FC9-81BF-8F1A31EFE46E}" destId="{19403672-5956-43C2-9B5E-AE649E8AE475}" srcOrd="1" destOrd="0" parTransId="{07E9A269-17B5-428C-9C0D-CF0842907A07}" sibTransId="{3770AF76-D7C9-46BC-983C-D6A801B160CB}"/>
    <dgm:cxn modelId="{51007B29-F8B1-4419-A4C4-261DD832210D}" type="presParOf" srcId="{EC0C87C0-B307-4715-8957-4D65BA99E060}" destId="{15B70D22-D916-4324-ABFA-8305B6726999}" srcOrd="0" destOrd="0" presId="urn:microsoft.com/office/officeart/2008/layout/LinedList"/>
    <dgm:cxn modelId="{0A4C0DEB-0ABE-4F49-B84A-B47BC00ED345}" type="presParOf" srcId="{EC0C87C0-B307-4715-8957-4D65BA99E060}" destId="{1BE0AFC1-5F65-4416-A19F-5278121CE563}" srcOrd="1" destOrd="0" presId="urn:microsoft.com/office/officeart/2008/layout/LinedList"/>
    <dgm:cxn modelId="{F6C4BBD8-4BA1-4E8B-8FF2-98D57F9B03EB}" type="presParOf" srcId="{1BE0AFC1-5F65-4416-A19F-5278121CE563}" destId="{31BF5A7A-4C9A-42C3-B213-5C6BC1F78A00}" srcOrd="0" destOrd="0" presId="urn:microsoft.com/office/officeart/2008/layout/LinedList"/>
    <dgm:cxn modelId="{4EF577F0-6978-494D-8320-94CEA77862B8}" type="presParOf" srcId="{1BE0AFC1-5F65-4416-A19F-5278121CE563}" destId="{01782F1F-A250-453B-89FB-AF4E3E27DC26}" srcOrd="1" destOrd="0" presId="urn:microsoft.com/office/officeart/2008/layout/LinedList"/>
    <dgm:cxn modelId="{DB9402C9-3C45-45E6-B75D-7FAFDAE08CAB}" type="presParOf" srcId="{EC0C87C0-B307-4715-8957-4D65BA99E060}" destId="{EF80F920-FD47-467F-84C2-3CFDC7BB90BB}" srcOrd="2" destOrd="0" presId="urn:microsoft.com/office/officeart/2008/layout/LinedList"/>
    <dgm:cxn modelId="{0A5F346F-329B-4EA8-BFAE-432886C9F148}" type="presParOf" srcId="{EC0C87C0-B307-4715-8957-4D65BA99E060}" destId="{DD385701-9C74-4945-A6E4-2F6AC620FA93}" srcOrd="3" destOrd="0" presId="urn:microsoft.com/office/officeart/2008/layout/LinedList"/>
    <dgm:cxn modelId="{74962696-5C34-499C-A080-43C5C2BD9C6B}" type="presParOf" srcId="{DD385701-9C74-4945-A6E4-2F6AC620FA93}" destId="{080C296E-03F2-4CB3-87FD-778635E55988}" srcOrd="0" destOrd="0" presId="urn:microsoft.com/office/officeart/2008/layout/LinedList"/>
    <dgm:cxn modelId="{465F48A4-CB2B-49BC-B154-A4133FED19F2}" type="presParOf" srcId="{DD385701-9C74-4945-A6E4-2F6AC620FA93}" destId="{54CDF487-0707-4122-A97B-B421B03FFF0B}" srcOrd="1" destOrd="0" presId="urn:microsoft.com/office/officeart/2008/layout/LinedList"/>
    <dgm:cxn modelId="{EADB0C1D-29DC-4AF9-B1B6-3157AEA94CA0}" type="presParOf" srcId="{EC0C87C0-B307-4715-8957-4D65BA99E060}" destId="{56ABE8E2-468B-44BA-B4E7-2C30A3B3FF06}" srcOrd="4" destOrd="0" presId="urn:microsoft.com/office/officeart/2008/layout/LinedList"/>
    <dgm:cxn modelId="{AA1339A3-3ED8-4D06-BD8A-F6FFE3EE40C9}" type="presParOf" srcId="{EC0C87C0-B307-4715-8957-4D65BA99E060}" destId="{B31A18DF-35BB-4AFD-AC88-CB030BF0FE80}" srcOrd="5" destOrd="0" presId="urn:microsoft.com/office/officeart/2008/layout/LinedList"/>
    <dgm:cxn modelId="{5FDA70AA-5C9D-4347-A2D0-D0BC30EDCE6E}" type="presParOf" srcId="{B31A18DF-35BB-4AFD-AC88-CB030BF0FE80}" destId="{FA7D336F-7835-4D05-B3B9-2950692F4A87}" srcOrd="0" destOrd="0" presId="urn:microsoft.com/office/officeart/2008/layout/LinedList"/>
    <dgm:cxn modelId="{4A621F78-E25F-41BB-96E9-FBEF8025F315}" type="presParOf" srcId="{B31A18DF-35BB-4AFD-AC88-CB030BF0FE80}" destId="{DF673012-59BD-4062-A890-8B6DAB8BD0A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EEF0E14-B22D-48BC-9D29-2DD4F72C960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zh-CN" altLang="en-US"/>
        </a:p>
      </dgm:t>
    </dgm:pt>
    <dgm:pt modelId="{63F60549-0518-45BE-B2C8-A282E572FA3E}">
      <dgm:prSet custT="1"/>
      <dgm:spPr>
        <a:noFill/>
        <a:ln>
          <a:solidFill>
            <a:srgbClr val="00D4FF"/>
          </a:solidFill>
        </a:ln>
      </dgm:spPr>
      <dgm:t>
        <a:bodyPr/>
        <a:lstStyle/>
        <a:p>
          <a:r>
            <a:rPr lang="zh-CN" sz="1600" dirty="0">
              <a:solidFill>
                <a:schemeClr val="tx1"/>
              </a:solidFill>
              <a:latin typeface="+mn-ea"/>
              <a:ea typeface="+mn-ea"/>
            </a:rPr>
            <a:t>变革启动时，</a:t>
          </a:r>
          <a:r>
            <a:rPr lang="en-US" sz="1600" dirty="0">
              <a:solidFill>
                <a:schemeClr val="tx1"/>
              </a:solidFill>
              <a:latin typeface="+mn-ea"/>
              <a:ea typeface="+mn-ea"/>
            </a:rPr>
            <a:t>Sponsor</a:t>
          </a:r>
          <a:r>
            <a:rPr lang="zh-CN" sz="1600" dirty="0">
              <a:solidFill>
                <a:schemeClr val="tx1"/>
              </a:solidFill>
              <a:latin typeface="+mn-ea"/>
              <a:ea typeface="+mn-ea"/>
            </a:rPr>
            <a:t>（变革发起人）</a:t>
          </a:r>
          <a:r>
            <a:rPr lang="zh-CN" sz="2000" b="1" dirty="0">
              <a:solidFill>
                <a:srgbClr val="00D4FF"/>
              </a:solidFill>
              <a:latin typeface="+mn-ea"/>
              <a:ea typeface="+mn-ea"/>
            </a:rPr>
            <a:t>先举手</a:t>
          </a:r>
          <a:r>
            <a:rPr lang="zh-CN" sz="1600" dirty="0">
              <a:solidFill>
                <a:schemeClr val="tx1"/>
              </a:solidFill>
              <a:latin typeface="+mn-ea"/>
              <a:ea typeface="+mn-ea"/>
            </a:rPr>
            <a:t>：“我们要搞数字化转型。”</a:t>
          </a:r>
        </a:p>
      </dgm:t>
    </dgm:pt>
    <dgm:pt modelId="{1B138638-033C-47EC-8BC4-A1242BD7516F}" type="parTrans" cxnId="{8B83F90E-3F2B-41DA-BD14-651C2E1715B8}">
      <dgm:prSet/>
      <dgm:spPr/>
      <dgm:t>
        <a:bodyPr/>
        <a:lstStyle/>
        <a:p>
          <a:endParaRPr lang="zh-CN" altLang="en-US" sz="2800">
            <a:solidFill>
              <a:schemeClr val="tx1"/>
            </a:solidFill>
            <a:latin typeface="+mn-ea"/>
            <a:ea typeface="+mn-ea"/>
          </a:endParaRPr>
        </a:p>
      </dgm:t>
    </dgm:pt>
    <dgm:pt modelId="{2C9D8897-861E-4C4F-9CB9-3DC2DC570A5D}" type="sibTrans" cxnId="{8B83F90E-3F2B-41DA-BD14-651C2E1715B8}">
      <dgm:prSet/>
      <dgm:spPr/>
      <dgm:t>
        <a:bodyPr/>
        <a:lstStyle/>
        <a:p>
          <a:endParaRPr lang="zh-CN" altLang="en-US" sz="2800">
            <a:solidFill>
              <a:schemeClr val="tx1"/>
            </a:solidFill>
            <a:latin typeface="+mn-ea"/>
            <a:ea typeface="+mn-ea"/>
          </a:endParaRPr>
        </a:p>
      </dgm:t>
    </dgm:pt>
    <dgm:pt modelId="{0521432A-FB12-42A1-8527-7F5D95860083}">
      <dgm:prSet custT="1"/>
      <dgm:spPr>
        <a:noFill/>
        <a:ln>
          <a:solidFill>
            <a:srgbClr val="00D4FF"/>
          </a:solidFill>
        </a:ln>
      </dgm:spPr>
      <dgm:t>
        <a:bodyPr/>
        <a:lstStyle/>
        <a:p>
          <a:r>
            <a:rPr lang="zh-CN" altLang="en-US" sz="2000" b="1" dirty="0">
              <a:solidFill>
                <a:srgbClr val="00D4FF"/>
              </a:solidFill>
              <a:latin typeface="+mn-ea"/>
              <a:ea typeface="+mn-ea"/>
            </a:rPr>
            <a:t>方向</a:t>
          </a:r>
          <a:r>
            <a:rPr lang="zh-CN" altLang="en-US" sz="1600" dirty="0">
              <a:solidFill>
                <a:schemeClr val="tx1"/>
              </a:solidFill>
              <a:latin typeface="+mn-ea"/>
              <a:ea typeface="+mn-ea"/>
            </a:rPr>
            <a:t>不是拍脑袋，是经过与总设计师</a:t>
          </a:r>
          <a:r>
            <a:rPr lang="zh-CN" altLang="en-US" sz="2000" b="1" dirty="0">
              <a:solidFill>
                <a:srgbClr val="00D4FF"/>
              </a:solidFill>
              <a:latin typeface="+mn-ea"/>
              <a:ea typeface="+mn-ea"/>
            </a:rPr>
            <a:t>共同论证</a:t>
          </a:r>
          <a:r>
            <a:rPr lang="zh-CN" altLang="en-US" sz="1600" dirty="0">
              <a:solidFill>
                <a:schemeClr val="tx1"/>
              </a:solidFill>
              <a:latin typeface="+mn-ea"/>
              <a:ea typeface="+mn-ea"/>
            </a:rPr>
            <a:t>确认的。</a:t>
          </a:r>
        </a:p>
      </dgm:t>
    </dgm:pt>
    <dgm:pt modelId="{09656A07-313E-464B-A46A-D17036F582AF}" type="parTrans" cxnId="{131C0968-5E8D-4D43-847E-62EB46B9EE2B}">
      <dgm:prSet/>
      <dgm:spPr/>
      <dgm:t>
        <a:bodyPr/>
        <a:lstStyle/>
        <a:p>
          <a:endParaRPr lang="zh-CN" altLang="en-US" sz="2800">
            <a:solidFill>
              <a:schemeClr val="tx1"/>
            </a:solidFill>
            <a:latin typeface="+mn-ea"/>
            <a:ea typeface="+mn-ea"/>
          </a:endParaRPr>
        </a:p>
      </dgm:t>
    </dgm:pt>
    <dgm:pt modelId="{B7265D96-C2BC-4223-B78A-81DB539E76EB}" type="sibTrans" cxnId="{131C0968-5E8D-4D43-847E-62EB46B9EE2B}">
      <dgm:prSet/>
      <dgm:spPr/>
      <dgm:t>
        <a:bodyPr/>
        <a:lstStyle/>
        <a:p>
          <a:endParaRPr lang="zh-CN" altLang="en-US" sz="2800">
            <a:solidFill>
              <a:schemeClr val="tx1"/>
            </a:solidFill>
            <a:latin typeface="+mn-ea"/>
            <a:ea typeface="+mn-ea"/>
          </a:endParaRPr>
        </a:p>
      </dgm:t>
    </dgm:pt>
    <dgm:pt modelId="{9148A6EB-7D55-4C5F-AED9-B5729CDE4343}">
      <dgm:prSet custT="1"/>
      <dgm:spPr>
        <a:noFill/>
        <a:ln>
          <a:solidFill>
            <a:srgbClr val="00D4FF"/>
          </a:solidFill>
        </a:ln>
      </dgm:spPr>
      <dgm:t>
        <a:bodyPr/>
        <a:lstStyle/>
        <a:p>
          <a:r>
            <a:rPr lang="zh-CN" sz="1600" dirty="0">
              <a:solidFill>
                <a:schemeClr val="tx1"/>
              </a:solidFill>
              <a:latin typeface="+mn-ea"/>
              <a:ea typeface="+mn-ea"/>
            </a:rPr>
            <a:t>这个动作本身，就形成了一个</a:t>
          </a:r>
          <a:r>
            <a:rPr lang="zh-CN" sz="2000" b="1" dirty="0">
              <a:solidFill>
                <a:srgbClr val="00D4FF"/>
              </a:solidFill>
              <a:latin typeface="+mn-ea"/>
              <a:ea typeface="+mn-ea"/>
            </a:rPr>
            <a:t>引力场</a:t>
          </a:r>
          <a:r>
            <a:rPr lang="zh-CN" sz="1600" dirty="0">
              <a:solidFill>
                <a:schemeClr val="tx1"/>
              </a:solidFill>
              <a:latin typeface="+mn-ea"/>
              <a:ea typeface="+mn-ea"/>
            </a:rPr>
            <a:t>。各部门立刻感受到压力</a:t>
          </a:r>
          <a:r>
            <a:rPr lang="en-US" sz="1600" dirty="0">
              <a:solidFill>
                <a:schemeClr val="tx1"/>
              </a:solidFill>
              <a:latin typeface="+mn-ea"/>
              <a:ea typeface="+mn-ea"/>
            </a:rPr>
            <a:t>——</a:t>
          </a:r>
          <a:r>
            <a:rPr lang="zh-CN" sz="1600" dirty="0">
              <a:solidFill>
                <a:schemeClr val="tx1"/>
              </a:solidFill>
              <a:latin typeface="+mn-ea"/>
              <a:ea typeface="+mn-ea"/>
            </a:rPr>
            <a:t>不管真懂假懂，真同意假同意，从趋利避害的角度，</a:t>
          </a:r>
          <a:r>
            <a:rPr lang="zh-CN" sz="2000" b="1" dirty="0">
              <a:solidFill>
                <a:srgbClr val="00D4FF"/>
              </a:solidFill>
              <a:latin typeface="+mn-ea"/>
              <a:ea typeface="+mn-ea"/>
            </a:rPr>
            <a:t>都会表态、响应</a:t>
          </a:r>
          <a:r>
            <a:rPr lang="zh-CN" sz="1600" dirty="0">
              <a:solidFill>
                <a:schemeClr val="tx1"/>
              </a:solidFill>
              <a:latin typeface="+mn-ea"/>
              <a:ea typeface="+mn-ea"/>
            </a:rPr>
            <a:t>。</a:t>
          </a:r>
        </a:p>
      </dgm:t>
    </dgm:pt>
    <dgm:pt modelId="{33DFA60D-EEE8-4551-9584-BA9B823FB224}" type="parTrans" cxnId="{2DE90AB1-DB7A-4FC8-96E4-391933A50C65}">
      <dgm:prSet/>
      <dgm:spPr/>
      <dgm:t>
        <a:bodyPr/>
        <a:lstStyle/>
        <a:p>
          <a:endParaRPr lang="zh-CN" altLang="en-US" sz="2800">
            <a:solidFill>
              <a:schemeClr val="tx1"/>
            </a:solidFill>
            <a:latin typeface="+mn-ea"/>
            <a:ea typeface="+mn-ea"/>
          </a:endParaRPr>
        </a:p>
      </dgm:t>
    </dgm:pt>
    <dgm:pt modelId="{069327B2-93AF-4620-BC11-4555CAC52045}" type="sibTrans" cxnId="{2DE90AB1-DB7A-4FC8-96E4-391933A50C65}">
      <dgm:prSet/>
      <dgm:spPr/>
      <dgm:t>
        <a:bodyPr/>
        <a:lstStyle/>
        <a:p>
          <a:endParaRPr lang="zh-CN" altLang="en-US" sz="2800">
            <a:solidFill>
              <a:schemeClr val="tx1"/>
            </a:solidFill>
            <a:latin typeface="+mn-ea"/>
            <a:ea typeface="+mn-ea"/>
          </a:endParaRPr>
        </a:p>
      </dgm:t>
    </dgm:pt>
    <dgm:pt modelId="{AC482278-ED6F-40E1-BF93-775744D6D76C}">
      <dgm:prSet custT="1"/>
      <dgm:spPr>
        <a:noFill/>
        <a:ln>
          <a:solidFill>
            <a:srgbClr val="00D4FF"/>
          </a:solidFill>
        </a:ln>
      </dgm:spPr>
      <dgm:t>
        <a:bodyPr/>
        <a:lstStyle/>
        <a:p>
          <a:r>
            <a:rPr lang="zh-CN" sz="1600" dirty="0">
              <a:solidFill>
                <a:schemeClr val="tx1"/>
              </a:solidFill>
              <a:latin typeface="+mn-ea"/>
              <a:ea typeface="+mn-ea"/>
            </a:rPr>
            <a:t>但</a:t>
          </a:r>
          <a:r>
            <a:rPr lang="en-US" sz="1600" dirty="0">
              <a:solidFill>
                <a:schemeClr val="tx1"/>
              </a:solidFill>
              <a:latin typeface="+mn-ea"/>
              <a:ea typeface="+mn-ea"/>
            </a:rPr>
            <a:t>Sponsor</a:t>
          </a:r>
          <a:r>
            <a:rPr lang="zh-CN" sz="1600" dirty="0">
              <a:solidFill>
                <a:schemeClr val="tx1"/>
              </a:solidFill>
              <a:latin typeface="+mn-ea"/>
              <a:ea typeface="+mn-ea"/>
            </a:rPr>
            <a:t>也是人。他</a:t>
          </a:r>
          <a:r>
            <a:rPr lang="zh-CN" sz="2000" b="1" dirty="0">
              <a:solidFill>
                <a:srgbClr val="00D4FF"/>
              </a:solidFill>
              <a:latin typeface="+mn-ea"/>
              <a:ea typeface="+mn-ea"/>
            </a:rPr>
            <a:t>可能越界</a:t>
          </a:r>
          <a:r>
            <a:rPr lang="zh-CN" sz="1600" dirty="0">
              <a:solidFill>
                <a:schemeClr val="tx1"/>
              </a:solidFill>
              <a:latin typeface="+mn-ea"/>
              <a:ea typeface="+mn-ea"/>
            </a:rPr>
            <a:t>，但他并不知道自己不懂；他也可能被短期利益带偏，</a:t>
          </a:r>
          <a:r>
            <a:rPr lang="zh-CN" sz="2000" b="1" dirty="0">
              <a:solidFill>
                <a:srgbClr val="00D4FF"/>
              </a:solidFill>
              <a:latin typeface="+mn-ea"/>
              <a:ea typeface="+mn-ea"/>
            </a:rPr>
            <a:t>偏离</a:t>
          </a:r>
          <a:r>
            <a:rPr lang="zh-CN" sz="1600" dirty="0">
              <a:solidFill>
                <a:schemeClr val="tx1"/>
              </a:solidFill>
              <a:latin typeface="+mn-ea"/>
              <a:ea typeface="+mn-ea"/>
            </a:rPr>
            <a:t>与总设计师共同确认的</a:t>
          </a:r>
          <a:r>
            <a:rPr lang="zh-CN" sz="2000" b="1" dirty="0">
              <a:solidFill>
                <a:srgbClr val="00D4FF"/>
              </a:solidFill>
              <a:latin typeface="+mn-ea"/>
              <a:ea typeface="+mn-ea"/>
            </a:rPr>
            <a:t>方向</a:t>
          </a:r>
          <a:r>
            <a:rPr lang="zh-CN" sz="1600" dirty="0">
              <a:solidFill>
                <a:schemeClr val="tx1"/>
              </a:solidFill>
              <a:latin typeface="+mn-ea"/>
              <a:ea typeface="+mn-ea"/>
            </a:rPr>
            <a:t>。</a:t>
          </a:r>
        </a:p>
      </dgm:t>
    </dgm:pt>
    <dgm:pt modelId="{C3715EC0-95D4-41B9-9F0D-FBF71EAAE890}" type="parTrans" cxnId="{2FDB8B38-6DFB-40A8-84F0-B8CA647CBA38}">
      <dgm:prSet/>
      <dgm:spPr/>
      <dgm:t>
        <a:bodyPr/>
        <a:lstStyle/>
        <a:p>
          <a:endParaRPr lang="zh-CN" altLang="en-US" sz="2800">
            <a:solidFill>
              <a:schemeClr val="tx1"/>
            </a:solidFill>
            <a:latin typeface="+mn-ea"/>
            <a:ea typeface="+mn-ea"/>
          </a:endParaRPr>
        </a:p>
      </dgm:t>
    </dgm:pt>
    <dgm:pt modelId="{7B9C87B2-F9EA-49A4-A124-E0FFDDAAEB75}" type="sibTrans" cxnId="{2FDB8B38-6DFB-40A8-84F0-B8CA647CBA38}">
      <dgm:prSet/>
      <dgm:spPr/>
      <dgm:t>
        <a:bodyPr/>
        <a:lstStyle/>
        <a:p>
          <a:endParaRPr lang="zh-CN" altLang="en-US" sz="2800">
            <a:solidFill>
              <a:schemeClr val="tx1"/>
            </a:solidFill>
            <a:latin typeface="+mn-ea"/>
            <a:ea typeface="+mn-ea"/>
          </a:endParaRPr>
        </a:p>
      </dgm:t>
    </dgm:pt>
    <dgm:pt modelId="{ABE926FB-8517-4965-8003-2B1BB720B157}">
      <dgm:prSet custT="1"/>
      <dgm:spPr>
        <a:noFill/>
        <a:ln>
          <a:solidFill>
            <a:srgbClr val="00D4FF"/>
          </a:solidFill>
        </a:ln>
      </dgm:spPr>
      <dgm:t>
        <a:bodyPr/>
        <a:lstStyle/>
        <a:p>
          <a:r>
            <a:rPr lang="zh-CN" altLang="en-US" sz="1600" dirty="0">
              <a:solidFill>
                <a:schemeClr val="tx1"/>
              </a:solidFill>
              <a:latin typeface="+mn-ea"/>
              <a:ea typeface="+mn-ea"/>
            </a:rPr>
            <a:t>这就是为什么必须有“</a:t>
          </a:r>
          <a:r>
            <a:rPr lang="zh-CN" altLang="en-US" sz="2000" b="1" dirty="0">
              <a:solidFill>
                <a:srgbClr val="00D4FF"/>
              </a:solidFill>
              <a:latin typeface="+mn-ea"/>
              <a:ea typeface="+mn-ea"/>
            </a:rPr>
            <a:t>双长制”</a:t>
          </a:r>
          <a:r>
            <a:rPr lang="zh-CN" altLang="en-US" sz="1600" dirty="0">
              <a:solidFill>
                <a:schemeClr val="tx1"/>
              </a:solidFill>
              <a:latin typeface="+mn-ea"/>
              <a:ea typeface="+mn-ea"/>
            </a:rPr>
            <a:t>。</a:t>
          </a:r>
        </a:p>
      </dgm:t>
    </dgm:pt>
    <dgm:pt modelId="{5D8D0AA2-8AA7-494C-9D97-1AB7D8CFB028}" type="parTrans" cxnId="{2D6AC9B5-7245-4308-9685-44B422287540}">
      <dgm:prSet/>
      <dgm:spPr/>
      <dgm:t>
        <a:bodyPr/>
        <a:lstStyle/>
        <a:p>
          <a:endParaRPr lang="zh-CN" altLang="en-US" sz="2800">
            <a:solidFill>
              <a:schemeClr val="tx1"/>
            </a:solidFill>
            <a:latin typeface="+mn-ea"/>
            <a:ea typeface="+mn-ea"/>
          </a:endParaRPr>
        </a:p>
      </dgm:t>
    </dgm:pt>
    <dgm:pt modelId="{8C381513-8FAE-4C76-9570-B85D548B116E}" type="sibTrans" cxnId="{2D6AC9B5-7245-4308-9685-44B422287540}">
      <dgm:prSet/>
      <dgm:spPr/>
      <dgm:t>
        <a:bodyPr/>
        <a:lstStyle/>
        <a:p>
          <a:endParaRPr lang="zh-CN" altLang="en-US" sz="2800">
            <a:solidFill>
              <a:schemeClr val="tx1"/>
            </a:solidFill>
            <a:latin typeface="+mn-ea"/>
            <a:ea typeface="+mn-ea"/>
          </a:endParaRPr>
        </a:p>
      </dgm:t>
    </dgm:pt>
    <dgm:pt modelId="{74F79B40-7EEE-472C-B4AF-493774DDF4EB}" type="pres">
      <dgm:prSet presAssocID="{0EEF0E14-B22D-48BC-9D29-2DD4F72C9608}" presName="linear" presStyleCnt="0">
        <dgm:presLayoutVars>
          <dgm:animLvl val="lvl"/>
          <dgm:resizeHandles val="exact"/>
        </dgm:presLayoutVars>
      </dgm:prSet>
      <dgm:spPr/>
    </dgm:pt>
    <dgm:pt modelId="{F82640BD-441B-46B9-993F-FB3BA10296DB}" type="pres">
      <dgm:prSet presAssocID="{63F60549-0518-45BE-B2C8-A282E572FA3E}" presName="parentText" presStyleLbl="node1" presStyleIdx="0" presStyleCnt="5">
        <dgm:presLayoutVars>
          <dgm:chMax val="0"/>
          <dgm:bulletEnabled val="1"/>
        </dgm:presLayoutVars>
      </dgm:prSet>
      <dgm:spPr/>
    </dgm:pt>
    <dgm:pt modelId="{4E547B97-1744-42A3-8E83-D995A8508721}" type="pres">
      <dgm:prSet presAssocID="{2C9D8897-861E-4C4F-9CB9-3DC2DC570A5D}" presName="spacer" presStyleCnt="0"/>
      <dgm:spPr/>
    </dgm:pt>
    <dgm:pt modelId="{07FE2DD5-5033-4BD6-B3EB-6A0B90067E68}" type="pres">
      <dgm:prSet presAssocID="{0521432A-FB12-42A1-8527-7F5D95860083}" presName="parentText" presStyleLbl="node1" presStyleIdx="1" presStyleCnt="5">
        <dgm:presLayoutVars>
          <dgm:chMax val="0"/>
          <dgm:bulletEnabled val="1"/>
        </dgm:presLayoutVars>
      </dgm:prSet>
      <dgm:spPr/>
    </dgm:pt>
    <dgm:pt modelId="{C70E5908-5507-4A91-B259-73656929B1C3}" type="pres">
      <dgm:prSet presAssocID="{B7265D96-C2BC-4223-B78A-81DB539E76EB}" presName="spacer" presStyleCnt="0"/>
      <dgm:spPr/>
    </dgm:pt>
    <dgm:pt modelId="{0BDBBFB5-7F81-481F-AA85-9B35A3C9EC94}" type="pres">
      <dgm:prSet presAssocID="{9148A6EB-7D55-4C5F-AED9-B5729CDE4343}" presName="parentText" presStyleLbl="node1" presStyleIdx="2" presStyleCnt="5">
        <dgm:presLayoutVars>
          <dgm:chMax val="0"/>
          <dgm:bulletEnabled val="1"/>
        </dgm:presLayoutVars>
      </dgm:prSet>
      <dgm:spPr/>
    </dgm:pt>
    <dgm:pt modelId="{0FF254D1-5505-44F4-BE22-94AFA49FCCB8}" type="pres">
      <dgm:prSet presAssocID="{069327B2-93AF-4620-BC11-4555CAC52045}" presName="spacer" presStyleCnt="0"/>
      <dgm:spPr/>
    </dgm:pt>
    <dgm:pt modelId="{54646919-4F3D-4726-85D7-611425297CD3}" type="pres">
      <dgm:prSet presAssocID="{AC482278-ED6F-40E1-BF93-775744D6D76C}" presName="parentText" presStyleLbl="node1" presStyleIdx="3" presStyleCnt="5">
        <dgm:presLayoutVars>
          <dgm:chMax val="0"/>
          <dgm:bulletEnabled val="1"/>
        </dgm:presLayoutVars>
      </dgm:prSet>
      <dgm:spPr/>
    </dgm:pt>
    <dgm:pt modelId="{5FAC16A7-FCBE-46F9-9C58-50D8AFBE5373}" type="pres">
      <dgm:prSet presAssocID="{7B9C87B2-F9EA-49A4-A124-E0FFDDAAEB75}" presName="spacer" presStyleCnt="0"/>
      <dgm:spPr/>
    </dgm:pt>
    <dgm:pt modelId="{790D5D9E-3767-46D7-B8C5-78C52CF38D51}" type="pres">
      <dgm:prSet presAssocID="{ABE926FB-8517-4965-8003-2B1BB720B157}" presName="parentText" presStyleLbl="node1" presStyleIdx="4" presStyleCnt="5">
        <dgm:presLayoutVars>
          <dgm:chMax val="0"/>
          <dgm:bulletEnabled val="1"/>
        </dgm:presLayoutVars>
      </dgm:prSet>
      <dgm:spPr/>
    </dgm:pt>
  </dgm:ptLst>
  <dgm:cxnLst>
    <dgm:cxn modelId="{72A13409-94BD-4B8F-A9D5-ACB8FF9DB246}" type="presOf" srcId="{ABE926FB-8517-4965-8003-2B1BB720B157}" destId="{790D5D9E-3767-46D7-B8C5-78C52CF38D51}" srcOrd="0" destOrd="0" presId="urn:microsoft.com/office/officeart/2005/8/layout/vList2"/>
    <dgm:cxn modelId="{1984AB0A-20C3-444B-9101-F3C9360D1DD0}" type="presOf" srcId="{0521432A-FB12-42A1-8527-7F5D95860083}" destId="{07FE2DD5-5033-4BD6-B3EB-6A0B90067E68}" srcOrd="0" destOrd="0" presId="urn:microsoft.com/office/officeart/2005/8/layout/vList2"/>
    <dgm:cxn modelId="{8B83F90E-3F2B-41DA-BD14-651C2E1715B8}" srcId="{0EEF0E14-B22D-48BC-9D29-2DD4F72C9608}" destId="{63F60549-0518-45BE-B2C8-A282E572FA3E}" srcOrd="0" destOrd="0" parTransId="{1B138638-033C-47EC-8BC4-A1242BD7516F}" sibTransId="{2C9D8897-861E-4C4F-9CB9-3DC2DC570A5D}"/>
    <dgm:cxn modelId="{B8A85118-BA08-4C9A-830B-51AA223730B9}" type="presOf" srcId="{AC482278-ED6F-40E1-BF93-775744D6D76C}" destId="{54646919-4F3D-4726-85D7-611425297CD3}" srcOrd="0" destOrd="0" presId="urn:microsoft.com/office/officeart/2005/8/layout/vList2"/>
    <dgm:cxn modelId="{2FDB8B38-6DFB-40A8-84F0-B8CA647CBA38}" srcId="{0EEF0E14-B22D-48BC-9D29-2DD4F72C9608}" destId="{AC482278-ED6F-40E1-BF93-775744D6D76C}" srcOrd="3" destOrd="0" parTransId="{C3715EC0-95D4-41B9-9F0D-FBF71EAAE890}" sibTransId="{7B9C87B2-F9EA-49A4-A124-E0FFDDAAEB75}"/>
    <dgm:cxn modelId="{131C0968-5E8D-4D43-847E-62EB46B9EE2B}" srcId="{0EEF0E14-B22D-48BC-9D29-2DD4F72C9608}" destId="{0521432A-FB12-42A1-8527-7F5D95860083}" srcOrd="1" destOrd="0" parTransId="{09656A07-313E-464B-A46A-D17036F582AF}" sibTransId="{B7265D96-C2BC-4223-B78A-81DB539E76EB}"/>
    <dgm:cxn modelId="{F0CF454D-BAA0-4F84-8869-F70987283614}" type="presOf" srcId="{0EEF0E14-B22D-48BC-9D29-2DD4F72C9608}" destId="{74F79B40-7EEE-472C-B4AF-493774DDF4EB}" srcOrd="0" destOrd="0" presId="urn:microsoft.com/office/officeart/2005/8/layout/vList2"/>
    <dgm:cxn modelId="{6C427B8B-8834-4594-9F71-5A657179D82C}" type="presOf" srcId="{63F60549-0518-45BE-B2C8-A282E572FA3E}" destId="{F82640BD-441B-46B9-993F-FB3BA10296DB}" srcOrd="0" destOrd="0" presId="urn:microsoft.com/office/officeart/2005/8/layout/vList2"/>
    <dgm:cxn modelId="{2DE90AB1-DB7A-4FC8-96E4-391933A50C65}" srcId="{0EEF0E14-B22D-48BC-9D29-2DD4F72C9608}" destId="{9148A6EB-7D55-4C5F-AED9-B5729CDE4343}" srcOrd="2" destOrd="0" parTransId="{33DFA60D-EEE8-4551-9584-BA9B823FB224}" sibTransId="{069327B2-93AF-4620-BC11-4555CAC52045}"/>
    <dgm:cxn modelId="{2D6AC9B5-7245-4308-9685-44B422287540}" srcId="{0EEF0E14-B22D-48BC-9D29-2DD4F72C9608}" destId="{ABE926FB-8517-4965-8003-2B1BB720B157}" srcOrd="4" destOrd="0" parTransId="{5D8D0AA2-8AA7-494C-9D97-1AB7D8CFB028}" sibTransId="{8C381513-8FAE-4C76-9570-B85D548B116E}"/>
    <dgm:cxn modelId="{4B9EF7B5-D656-4B0C-B290-40C8C2C9F755}" type="presOf" srcId="{9148A6EB-7D55-4C5F-AED9-B5729CDE4343}" destId="{0BDBBFB5-7F81-481F-AA85-9B35A3C9EC94}" srcOrd="0" destOrd="0" presId="urn:microsoft.com/office/officeart/2005/8/layout/vList2"/>
    <dgm:cxn modelId="{F32CF3F5-EF68-4197-AAFE-9AB1517B73E6}" type="presParOf" srcId="{74F79B40-7EEE-472C-B4AF-493774DDF4EB}" destId="{F82640BD-441B-46B9-993F-FB3BA10296DB}" srcOrd="0" destOrd="0" presId="urn:microsoft.com/office/officeart/2005/8/layout/vList2"/>
    <dgm:cxn modelId="{B83CBC7F-3792-4315-85F4-641F07BD8337}" type="presParOf" srcId="{74F79B40-7EEE-472C-B4AF-493774DDF4EB}" destId="{4E547B97-1744-42A3-8E83-D995A8508721}" srcOrd="1" destOrd="0" presId="urn:microsoft.com/office/officeart/2005/8/layout/vList2"/>
    <dgm:cxn modelId="{E5A7E4DD-59E2-46D2-A531-DF3C579ED1F2}" type="presParOf" srcId="{74F79B40-7EEE-472C-B4AF-493774DDF4EB}" destId="{07FE2DD5-5033-4BD6-B3EB-6A0B90067E68}" srcOrd="2" destOrd="0" presId="urn:microsoft.com/office/officeart/2005/8/layout/vList2"/>
    <dgm:cxn modelId="{F35E8C02-CE94-4F94-8905-80CF73EE404E}" type="presParOf" srcId="{74F79B40-7EEE-472C-B4AF-493774DDF4EB}" destId="{C70E5908-5507-4A91-B259-73656929B1C3}" srcOrd="3" destOrd="0" presId="urn:microsoft.com/office/officeart/2005/8/layout/vList2"/>
    <dgm:cxn modelId="{4630F687-3BA2-48EB-8417-29D85DCA02D8}" type="presParOf" srcId="{74F79B40-7EEE-472C-B4AF-493774DDF4EB}" destId="{0BDBBFB5-7F81-481F-AA85-9B35A3C9EC94}" srcOrd="4" destOrd="0" presId="urn:microsoft.com/office/officeart/2005/8/layout/vList2"/>
    <dgm:cxn modelId="{F8452FAD-9028-4B32-9D51-732DC69D0D05}" type="presParOf" srcId="{74F79B40-7EEE-472C-B4AF-493774DDF4EB}" destId="{0FF254D1-5505-44F4-BE22-94AFA49FCCB8}" srcOrd="5" destOrd="0" presId="urn:microsoft.com/office/officeart/2005/8/layout/vList2"/>
    <dgm:cxn modelId="{989C8AEE-8B58-41D5-B21D-D22876C16D1D}" type="presParOf" srcId="{74F79B40-7EEE-472C-B4AF-493774DDF4EB}" destId="{54646919-4F3D-4726-85D7-611425297CD3}" srcOrd="6" destOrd="0" presId="urn:microsoft.com/office/officeart/2005/8/layout/vList2"/>
    <dgm:cxn modelId="{54AB2CE6-13BA-4844-99EF-2FC3C0252C26}" type="presParOf" srcId="{74F79B40-7EEE-472C-B4AF-493774DDF4EB}" destId="{5FAC16A7-FCBE-46F9-9C58-50D8AFBE5373}" srcOrd="7" destOrd="0" presId="urn:microsoft.com/office/officeart/2005/8/layout/vList2"/>
    <dgm:cxn modelId="{B901DAA9-6FE3-4D61-BF00-C6CDB2F5A22E}" type="presParOf" srcId="{74F79B40-7EEE-472C-B4AF-493774DDF4EB}" destId="{790D5D9E-3767-46D7-B8C5-78C52CF38D51}" srcOrd="8" destOrd="0" presId="urn:microsoft.com/office/officeart/2005/8/layout/vList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09456BC-B588-460A-87C5-2C014435CC9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151CA21B-F8FA-4A9C-821D-E7E58C1975D2}">
      <dgm:prSet/>
      <dgm:spPr/>
      <dgm:t>
        <a:bodyPr/>
        <a:lstStyle/>
        <a:p>
          <a:r>
            <a:rPr lang="zh-CN" b="1">
              <a:latin typeface="+mn-ea"/>
              <a:ea typeface="+mn-ea"/>
            </a:rPr>
            <a:t>组织动力学方程：</a:t>
          </a:r>
          <a:r>
            <a:rPr lang="en-US" b="1">
              <a:latin typeface="+mn-ea"/>
              <a:ea typeface="+mn-ea"/>
            </a:rPr>
            <a:t>m × a = F_M + F_Π − f</a:t>
          </a:r>
          <a:endParaRPr lang="zh-CN" b="1">
            <a:latin typeface="+mn-ea"/>
            <a:ea typeface="+mn-ea"/>
          </a:endParaRPr>
        </a:p>
      </dgm:t>
    </dgm:pt>
    <dgm:pt modelId="{1B885D82-6FEC-4007-8D72-FF87B45AC629}" type="parTrans" cxnId="{C7BAD1A4-0322-4441-9382-0282E0B269C9}">
      <dgm:prSet/>
      <dgm:spPr/>
      <dgm:t>
        <a:bodyPr/>
        <a:lstStyle/>
        <a:p>
          <a:endParaRPr lang="zh-CN" altLang="en-US"/>
        </a:p>
      </dgm:t>
    </dgm:pt>
    <dgm:pt modelId="{75D992EB-D403-40A0-92B5-B697AB77243C}" type="sibTrans" cxnId="{C7BAD1A4-0322-4441-9382-0282E0B269C9}">
      <dgm:prSet/>
      <dgm:spPr/>
      <dgm:t>
        <a:bodyPr/>
        <a:lstStyle/>
        <a:p>
          <a:endParaRPr lang="zh-CN" altLang="en-US"/>
        </a:p>
      </dgm:t>
    </dgm:pt>
    <dgm:pt modelId="{2351BC15-3942-4275-B59A-C7B1E99BC624}">
      <dgm:prSet/>
      <dgm:spPr/>
      <dgm:t>
        <a:bodyPr/>
        <a:lstStyle/>
        <a:p>
          <a:r>
            <a:rPr lang="en-US"/>
            <a:t>m</a:t>
          </a:r>
          <a:r>
            <a:rPr lang="zh-CN"/>
            <a:t>：组织的惯性质量</a:t>
          </a:r>
        </a:p>
      </dgm:t>
    </dgm:pt>
    <dgm:pt modelId="{B5DB01DE-EE2F-4609-A6DA-84AD3DC71BAE}" type="parTrans" cxnId="{BDD5B912-EDAE-4479-9C42-C31F11E34596}">
      <dgm:prSet/>
      <dgm:spPr/>
      <dgm:t>
        <a:bodyPr/>
        <a:lstStyle/>
        <a:p>
          <a:endParaRPr lang="zh-CN" altLang="en-US"/>
        </a:p>
      </dgm:t>
    </dgm:pt>
    <dgm:pt modelId="{5D558A05-1291-4DB1-BBF7-9968D0BD0422}" type="sibTrans" cxnId="{BDD5B912-EDAE-4479-9C42-C31F11E34596}">
      <dgm:prSet/>
      <dgm:spPr/>
      <dgm:t>
        <a:bodyPr/>
        <a:lstStyle/>
        <a:p>
          <a:endParaRPr lang="zh-CN" altLang="en-US"/>
        </a:p>
      </dgm:t>
    </dgm:pt>
    <dgm:pt modelId="{AE5789A4-10C5-4A5C-B45C-3CC6FF2DC12C}">
      <dgm:prSet/>
      <dgm:spPr/>
      <dgm:t>
        <a:bodyPr/>
        <a:lstStyle/>
        <a:p>
          <a:r>
            <a:rPr lang="en-US"/>
            <a:t>a</a:t>
          </a:r>
          <a:r>
            <a:rPr lang="zh-CN"/>
            <a:t>：系统推行的加速度</a:t>
          </a:r>
        </a:p>
      </dgm:t>
    </dgm:pt>
    <dgm:pt modelId="{2F34960F-E31E-4B52-8E31-B6C12D1EBC56}" type="parTrans" cxnId="{61A61E80-45D1-4634-89B7-B31E2C675CA4}">
      <dgm:prSet/>
      <dgm:spPr/>
      <dgm:t>
        <a:bodyPr/>
        <a:lstStyle/>
        <a:p>
          <a:endParaRPr lang="zh-CN" altLang="en-US"/>
        </a:p>
      </dgm:t>
    </dgm:pt>
    <dgm:pt modelId="{55C7CA8F-8CFC-442B-B65E-16FAB9D351D8}" type="sibTrans" cxnId="{61A61E80-45D1-4634-89B7-B31E2C675CA4}">
      <dgm:prSet/>
      <dgm:spPr/>
      <dgm:t>
        <a:bodyPr/>
        <a:lstStyle/>
        <a:p>
          <a:endParaRPr lang="zh-CN" altLang="en-US"/>
        </a:p>
      </dgm:t>
    </dgm:pt>
    <dgm:pt modelId="{ABD3320C-69D4-4598-976B-0EE6DFA97284}">
      <dgm:prSet/>
      <dgm:spPr/>
      <dgm:t>
        <a:bodyPr/>
        <a:lstStyle/>
        <a:p>
          <a:r>
            <a:rPr lang="en-US"/>
            <a:t>F_M</a:t>
          </a:r>
          <a:r>
            <a:rPr lang="zh-CN"/>
            <a:t>：行政推力（</a:t>
          </a:r>
          <a:r>
            <a:rPr lang="en-US"/>
            <a:t>Sponsor</a:t>
          </a:r>
          <a:r>
            <a:rPr lang="zh-CN"/>
            <a:t>划界、给资源、顶压力）</a:t>
          </a:r>
        </a:p>
      </dgm:t>
    </dgm:pt>
    <dgm:pt modelId="{3A670818-AEF0-40A4-ADCA-A7EE694CE4BD}" type="parTrans" cxnId="{7C9E781C-3B8A-4833-9652-5456CCD4301C}">
      <dgm:prSet/>
      <dgm:spPr/>
      <dgm:t>
        <a:bodyPr/>
        <a:lstStyle/>
        <a:p>
          <a:endParaRPr lang="zh-CN" altLang="en-US"/>
        </a:p>
      </dgm:t>
    </dgm:pt>
    <dgm:pt modelId="{82261C6A-2C58-4CC7-8919-A0E9B04BDBDE}" type="sibTrans" cxnId="{7C9E781C-3B8A-4833-9652-5456CCD4301C}">
      <dgm:prSet/>
      <dgm:spPr/>
      <dgm:t>
        <a:bodyPr/>
        <a:lstStyle/>
        <a:p>
          <a:endParaRPr lang="zh-CN" altLang="en-US"/>
        </a:p>
      </dgm:t>
    </dgm:pt>
    <dgm:pt modelId="{769C88DD-D3D5-4034-908D-78C829715728}">
      <dgm:prSet/>
      <dgm:spPr/>
      <dgm:t>
        <a:bodyPr/>
        <a:lstStyle/>
        <a:p>
          <a:r>
            <a:rPr lang="en-US"/>
            <a:t>F_Π</a:t>
          </a:r>
          <a:r>
            <a:rPr lang="zh-CN"/>
            <a:t>：逻辑引力（总设计师的武器：统一数据、统一规则、统一逻辑、统一算法）</a:t>
          </a:r>
        </a:p>
      </dgm:t>
    </dgm:pt>
    <dgm:pt modelId="{44C5F156-FA26-4A0B-986D-DF2ECB21542C}" type="parTrans" cxnId="{0522475C-C9A3-4D9F-B9B5-3790DE405481}">
      <dgm:prSet/>
      <dgm:spPr/>
      <dgm:t>
        <a:bodyPr/>
        <a:lstStyle/>
        <a:p>
          <a:endParaRPr lang="zh-CN" altLang="en-US"/>
        </a:p>
      </dgm:t>
    </dgm:pt>
    <dgm:pt modelId="{479CBEF0-EB76-42A0-B81C-89748CCF7D11}" type="sibTrans" cxnId="{0522475C-C9A3-4D9F-B9B5-3790DE405481}">
      <dgm:prSet/>
      <dgm:spPr/>
      <dgm:t>
        <a:bodyPr/>
        <a:lstStyle/>
        <a:p>
          <a:endParaRPr lang="zh-CN" altLang="en-US"/>
        </a:p>
      </dgm:t>
    </dgm:pt>
    <dgm:pt modelId="{143E52F2-3B6E-45C5-ADDE-88D053EB636E}">
      <dgm:prSet/>
      <dgm:spPr/>
      <dgm:t>
        <a:bodyPr/>
        <a:lstStyle/>
        <a:p>
          <a:r>
            <a:rPr lang="en-US" dirty="0"/>
            <a:t>f</a:t>
          </a:r>
          <a:r>
            <a:rPr lang="zh-CN" dirty="0"/>
            <a:t>：物理摩擦力（寻租、不认可、阳奉阴违</a:t>
          </a:r>
          <a:r>
            <a:rPr lang="zh-CN" altLang="en-US" dirty="0"/>
            <a:t>等</a:t>
          </a:r>
          <a:r>
            <a:rPr lang="zh-CN" dirty="0"/>
            <a:t>的防御阻力）</a:t>
          </a:r>
        </a:p>
      </dgm:t>
    </dgm:pt>
    <dgm:pt modelId="{31EDC25C-9E83-4874-AA09-642F4A1826BC}" type="parTrans" cxnId="{5B0AA5B7-E946-4C7D-BC13-6EDC103ECE30}">
      <dgm:prSet/>
      <dgm:spPr/>
      <dgm:t>
        <a:bodyPr/>
        <a:lstStyle/>
        <a:p>
          <a:endParaRPr lang="zh-CN" altLang="en-US"/>
        </a:p>
      </dgm:t>
    </dgm:pt>
    <dgm:pt modelId="{DC0F830D-F69C-4FB4-8FEB-35099658297C}" type="sibTrans" cxnId="{5B0AA5B7-E946-4C7D-BC13-6EDC103ECE30}">
      <dgm:prSet/>
      <dgm:spPr/>
      <dgm:t>
        <a:bodyPr/>
        <a:lstStyle/>
        <a:p>
          <a:endParaRPr lang="zh-CN" altLang="en-US"/>
        </a:p>
      </dgm:t>
    </dgm:pt>
    <dgm:pt modelId="{07BA1C61-59B7-454B-B17C-8F9292427ED7}" type="pres">
      <dgm:prSet presAssocID="{B09456BC-B588-460A-87C5-2C014435CC96}" presName="linear" presStyleCnt="0">
        <dgm:presLayoutVars>
          <dgm:dir/>
          <dgm:animLvl val="lvl"/>
          <dgm:resizeHandles val="exact"/>
        </dgm:presLayoutVars>
      </dgm:prSet>
      <dgm:spPr/>
    </dgm:pt>
    <dgm:pt modelId="{A1DF0336-2A19-45BB-BFDE-EAFF077F168D}" type="pres">
      <dgm:prSet presAssocID="{151CA21B-F8FA-4A9C-821D-E7E58C1975D2}" presName="parentLin" presStyleCnt="0"/>
      <dgm:spPr/>
    </dgm:pt>
    <dgm:pt modelId="{B641863B-87EC-41E3-A177-A5528F413D65}" type="pres">
      <dgm:prSet presAssocID="{151CA21B-F8FA-4A9C-821D-E7E58C1975D2}" presName="parentLeftMargin" presStyleLbl="node1" presStyleIdx="0" presStyleCnt="1"/>
      <dgm:spPr/>
    </dgm:pt>
    <dgm:pt modelId="{08851EA7-3B40-4EA3-8317-BA509173362F}" type="pres">
      <dgm:prSet presAssocID="{151CA21B-F8FA-4A9C-821D-E7E58C1975D2}" presName="parentText" presStyleLbl="node1" presStyleIdx="0" presStyleCnt="1">
        <dgm:presLayoutVars>
          <dgm:chMax val="0"/>
          <dgm:bulletEnabled val="1"/>
        </dgm:presLayoutVars>
      </dgm:prSet>
      <dgm:spPr/>
    </dgm:pt>
    <dgm:pt modelId="{D274D301-1703-476B-8C23-F5E41D759ED5}" type="pres">
      <dgm:prSet presAssocID="{151CA21B-F8FA-4A9C-821D-E7E58C1975D2}" presName="negativeSpace" presStyleCnt="0"/>
      <dgm:spPr/>
    </dgm:pt>
    <dgm:pt modelId="{738F0233-A2E1-4D88-AFEE-60B204B558A6}" type="pres">
      <dgm:prSet presAssocID="{151CA21B-F8FA-4A9C-821D-E7E58C1975D2}" presName="childText" presStyleLbl="conFgAcc1" presStyleIdx="0" presStyleCnt="1">
        <dgm:presLayoutVars>
          <dgm:bulletEnabled val="1"/>
        </dgm:presLayoutVars>
      </dgm:prSet>
      <dgm:spPr/>
    </dgm:pt>
  </dgm:ptLst>
  <dgm:cxnLst>
    <dgm:cxn modelId="{BDD5B912-EDAE-4479-9C42-C31F11E34596}" srcId="{151CA21B-F8FA-4A9C-821D-E7E58C1975D2}" destId="{2351BC15-3942-4275-B59A-C7B1E99BC624}" srcOrd="0" destOrd="0" parTransId="{B5DB01DE-EE2F-4609-A6DA-84AD3DC71BAE}" sibTransId="{5D558A05-1291-4DB1-BBF7-9968D0BD0422}"/>
    <dgm:cxn modelId="{7C9E781C-3B8A-4833-9652-5456CCD4301C}" srcId="{151CA21B-F8FA-4A9C-821D-E7E58C1975D2}" destId="{ABD3320C-69D4-4598-976B-0EE6DFA97284}" srcOrd="2" destOrd="0" parTransId="{3A670818-AEF0-40A4-ADCA-A7EE694CE4BD}" sibTransId="{82261C6A-2C58-4CC7-8919-A0E9B04BDBDE}"/>
    <dgm:cxn modelId="{C3906523-4E53-471D-A5DF-CBEEFECC9B4E}" type="presOf" srcId="{2351BC15-3942-4275-B59A-C7B1E99BC624}" destId="{738F0233-A2E1-4D88-AFEE-60B204B558A6}" srcOrd="0" destOrd="0" presId="urn:microsoft.com/office/officeart/2005/8/layout/list1"/>
    <dgm:cxn modelId="{97931727-3A30-422A-8D3A-542FA1DF7CB0}" type="presOf" srcId="{ABD3320C-69D4-4598-976B-0EE6DFA97284}" destId="{738F0233-A2E1-4D88-AFEE-60B204B558A6}" srcOrd="0" destOrd="2" presId="urn:microsoft.com/office/officeart/2005/8/layout/list1"/>
    <dgm:cxn modelId="{88D88D37-1550-4E66-B191-7CD9CB5AA6EA}" type="presOf" srcId="{AE5789A4-10C5-4A5C-B45C-3CC6FF2DC12C}" destId="{738F0233-A2E1-4D88-AFEE-60B204B558A6}" srcOrd="0" destOrd="1" presId="urn:microsoft.com/office/officeart/2005/8/layout/list1"/>
    <dgm:cxn modelId="{0522475C-C9A3-4D9F-B9B5-3790DE405481}" srcId="{151CA21B-F8FA-4A9C-821D-E7E58C1975D2}" destId="{769C88DD-D3D5-4034-908D-78C829715728}" srcOrd="3" destOrd="0" parTransId="{44C5F156-FA26-4A0B-986D-DF2ECB21542C}" sibTransId="{479CBEF0-EB76-42A0-B81C-89748CCF7D11}"/>
    <dgm:cxn modelId="{40CA6851-4B90-4BFF-B596-DB6F5792660B}" type="presOf" srcId="{151CA21B-F8FA-4A9C-821D-E7E58C1975D2}" destId="{B641863B-87EC-41E3-A177-A5528F413D65}" srcOrd="0" destOrd="0" presId="urn:microsoft.com/office/officeart/2005/8/layout/list1"/>
    <dgm:cxn modelId="{61A61E80-45D1-4634-89B7-B31E2C675CA4}" srcId="{151CA21B-F8FA-4A9C-821D-E7E58C1975D2}" destId="{AE5789A4-10C5-4A5C-B45C-3CC6FF2DC12C}" srcOrd="1" destOrd="0" parTransId="{2F34960F-E31E-4B52-8E31-B6C12D1EBC56}" sibTransId="{55C7CA8F-8CFC-442B-B65E-16FAB9D351D8}"/>
    <dgm:cxn modelId="{961C1B8F-B895-403A-8C25-9AED3D6AA2BD}" type="presOf" srcId="{143E52F2-3B6E-45C5-ADDE-88D053EB636E}" destId="{738F0233-A2E1-4D88-AFEE-60B204B558A6}" srcOrd="0" destOrd="4" presId="urn:microsoft.com/office/officeart/2005/8/layout/list1"/>
    <dgm:cxn modelId="{033455A3-E860-4E47-B923-DA1035DA1613}" type="presOf" srcId="{769C88DD-D3D5-4034-908D-78C829715728}" destId="{738F0233-A2E1-4D88-AFEE-60B204B558A6}" srcOrd="0" destOrd="3" presId="urn:microsoft.com/office/officeart/2005/8/layout/list1"/>
    <dgm:cxn modelId="{C7BAD1A4-0322-4441-9382-0282E0B269C9}" srcId="{B09456BC-B588-460A-87C5-2C014435CC96}" destId="{151CA21B-F8FA-4A9C-821D-E7E58C1975D2}" srcOrd="0" destOrd="0" parTransId="{1B885D82-6FEC-4007-8D72-FF87B45AC629}" sibTransId="{75D992EB-D403-40A0-92B5-B697AB77243C}"/>
    <dgm:cxn modelId="{4C8A74A8-3448-4D65-AA7D-AFBB4560278B}" type="presOf" srcId="{B09456BC-B588-460A-87C5-2C014435CC96}" destId="{07BA1C61-59B7-454B-B17C-8F9292427ED7}" srcOrd="0" destOrd="0" presId="urn:microsoft.com/office/officeart/2005/8/layout/list1"/>
    <dgm:cxn modelId="{5B0AA5B7-E946-4C7D-BC13-6EDC103ECE30}" srcId="{151CA21B-F8FA-4A9C-821D-E7E58C1975D2}" destId="{143E52F2-3B6E-45C5-ADDE-88D053EB636E}" srcOrd="4" destOrd="0" parTransId="{31EDC25C-9E83-4874-AA09-642F4A1826BC}" sibTransId="{DC0F830D-F69C-4FB4-8FEB-35099658297C}"/>
    <dgm:cxn modelId="{3CB4D8DD-E246-4F4A-B400-4DD97389D799}" type="presOf" srcId="{151CA21B-F8FA-4A9C-821D-E7E58C1975D2}" destId="{08851EA7-3B40-4EA3-8317-BA509173362F}" srcOrd="1" destOrd="0" presId="urn:microsoft.com/office/officeart/2005/8/layout/list1"/>
    <dgm:cxn modelId="{7BD93019-1549-48FC-89EB-D4005A5C7F4E}" type="presParOf" srcId="{07BA1C61-59B7-454B-B17C-8F9292427ED7}" destId="{A1DF0336-2A19-45BB-BFDE-EAFF077F168D}" srcOrd="0" destOrd="0" presId="urn:microsoft.com/office/officeart/2005/8/layout/list1"/>
    <dgm:cxn modelId="{292787D1-92D1-4780-A635-14DE654690C5}" type="presParOf" srcId="{A1DF0336-2A19-45BB-BFDE-EAFF077F168D}" destId="{B641863B-87EC-41E3-A177-A5528F413D65}" srcOrd="0" destOrd="0" presId="urn:microsoft.com/office/officeart/2005/8/layout/list1"/>
    <dgm:cxn modelId="{90346186-8CBC-4796-8800-21EC8746ED37}" type="presParOf" srcId="{A1DF0336-2A19-45BB-BFDE-EAFF077F168D}" destId="{08851EA7-3B40-4EA3-8317-BA509173362F}" srcOrd="1" destOrd="0" presId="urn:microsoft.com/office/officeart/2005/8/layout/list1"/>
    <dgm:cxn modelId="{16CF1D92-F859-4C80-B68E-4B4A3BD625A8}" type="presParOf" srcId="{07BA1C61-59B7-454B-B17C-8F9292427ED7}" destId="{D274D301-1703-476B-8C23-F5E41D759ED5}" srcOrd="1" destOrd="0" presId="urn:microsoft.com/office/officeart/2005/8/layout/list1"/>
    <dgm:cxn modelId="{E5B91EE4-55A1-409D-A3BF-47DE6B96D071}" type="presParOf" srcId="{07BA1C61-59B7-454B-B17C-8F9292427ED7}" destId="{738F0233-A2E1-4D88-AFEE-60B204B558A6}"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1E8CE5A-AB00-42E9-948B-0DE8F03A5174}"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DF7BAC89-CCD2-4D2D-B2D5-917E1A067CE1}">
      <dgm:prSet/>
      <dgm:spPr/>
      <dgm:t>
        <a:bodyPr/>
        <a:lstStyle/>
        <a:p>
          <a:r>
            <a:rPr lang="en-US" b="1" dirty="0"/>
            <a:t>F_Π </a:t>
          </a:r>
          <a:r>
            <a:rPr lang="zh-CN" b="1" dirty="0"/>
            <a:t>不是抽象概念。它的具体形态就是：</a:t>
          </a:r>
        </a:p>
      </dgm:t>
    </dgm:pt>
    <dgm:pt modelId="{E43B3BB3-9CEE-4CE2-BFE8-797A8B7DA4AD}" type="parTrans" cxnId="{EAFA56CC-8FF7-4E84-A105-5B00F4461630}">
      <dgm:prSet/>
      <dgm:spPr/>
      <dgm:t>
        <a:bodyPr/>
        <a:lstStyle/>
        <a:p>
          <a:endParaRPr lang="zh-CN" altLang="en-US"/>
        </a:p>
      </dgm:t>
    </dgm:pt>
    <dgm:pt modelId="{6509DE0E-A32A-49EB-908E-DAF93219A70D}" type="sibTrans" cxnId="{EAFA56CC-8FF7-4E84-A105-5B00F4461630}">
      <dgm:prSet/>
      <dgm:spPr/>
      <dgm:t>
        <a:bodyPr/>
        <a:lstStyle/>
        <a:p>
          <a:endParaRPr lang="zh-CN" altLang="en-US"/>
        </a:p>
      </dgm:t>
    </dgm:pt>
    <dgm:pt modelId="{49547C92-538D-4419-8F4B-6DEA23E666FF}">
      <dgm:prSet/>
      <dgm:spPr/>
      <dgm:t>
        <a:bodyPr/>
        <a:lstStyle/>
        <a:p>
          <a:r>
            <a:rPr lang="zh-CN"/>
            <a:t>统一数据：没有两套账，没有私藏缓冲。</a:t>
          </a:r>
        </a:p>
      </dgm:t>
    </dgm:pt>
    <dgm:pt modelId="{E001A048-D8DC-47D9-8E72-1ABA7001FBFD}" type="parTrans" cxnId="{7788AED0-C348-4712-A29D-EE3856A9EA0A}">
      <dgm:prSet/>
      <dgm:spPr/>
      <dgm:t>
        <a:bodyPr/>
        <a:lstStyle/>
        <a:p>
          <a:endParaRPr lang="zh-CN" altLang="en-US"/>
        </a:p>
      </dgm:t>
    </dgm:pt>
    <dgm:pt modelId="{893D0699-FBB9-4894-9EC1-5D1EA8FA51D8}" type="sibTrans" cxnId="{7788AED0-C348-4712-A29D-EE3856A9EA0A}">
      <dgm:prSet/>
      <dgm:spPr/>
      <dgm:t>
        <a:bodyPr/>
        <a:lstStyle/>
        <a:p>
          <a:endParaRPr lang="zh-CN" altLang="en-US"/>
        </a:p>
      </dgm:t>
    </dgm:pt>
    <dgm:pt modelId="{F8B4D8DA-3C1C-4FE9-B425-6F4D2A5347A7}">
      <dgm:prSet/>
      <dgm:spPr/>
      <dgm:t>
        <a:bodyPr/>
        <a:lstStyle/>
        <a:p>
          <a:r>
            <a:rPr lang="zh-CN"/>
            <a:t>统一规则：优先级、配额、约束，全部刚性。</a:t>
          </a:r>
        </a:p>
      </dgm:t>
    </dgm:pt>
    <dgm:pt modelId="{08179081-31B2-4D51-B5A4-5174F97DE1F2}" type="parTrans" cxnId="{5A3A50F4-F775-4DD9-B250-8F044FD5A45E}">
      <dgm:prSet/>
      <dgm:spPr/>
      <dgm:t>
        <a:bodyPr/>
        <a:lstStyle/>
        <a:p>
          <a:endParaRPr lang="zh-CN" altLang="en-US"/>
        </a:p>
      </dgm:t>
    </dgm:pt>
    <dgm:pt modelId="{A4DB243B-FA69-45A8-9980-7BDAC0B7EE25}" type="sibTrans" cxnId="{5A3A50F4-F775-4DD9-B250-8F044FD5A45E}">
      <dgm:prSet/>
      <dgm:spPr/>
      <dgm:t>
        <a:bodyPr/>
        <a:lstStyle/>
        <a:p>
          <a:endParaRPr lang="zh-CN" altLang="en-US"/>
        </a:p>
      </dgm:t>
    </dgm:pt>
    <dgm:pt modelId="{0D168311-99C6-4027-A82A-C1128CAB3B5B}">
      <dgm:prSet/>
      <dgm:spPr/>
      <dgm:t>
        <a:bodyPr/>
        <a:lstStyle/>
        <a:p>
          <a:r>
            <a:rPr lang="zh-CN"/>
            <a:t>统一逻辑：结果可追溯、可复现。</a:t>
          </a:r>
        </a:p>
      </dgm:t>
    </dgm:pt>
    <dgm:pt modelId="{A3C5255D-E9DA-4F07-9CFF-391449B155FC}" type="parTrans" cxnId="{DA3CA256-81C5-4C3F-9893-210557144A55}">
      <dgm:prSet/>
      <dgm:spPr/>
      <dgm:t>
        <a:bodyPr/>
        <a:lstStyle/>
        <a:p>
          <a:endParaRPr lang="zh-CN" altLang="en-US"/>
        </a:p>
      </dgm:t>
    </dgm:pt>
    <dgm:pt modelId="{F5E6D27F-D408-43DF-9628-450D62C377DC}" type="sibTrans" cxnId="{DA3CA256-81C5-4C3F-9893-210557144A55}">
      <dgm:prSet/>
      <dgm:spPr/>
      <dgm:t>
        <a:bodyPr/>
        <a:lstStyle/>
        <a:p>
          <a:endParaRPr lang="zh-CN" altLang="en-US"/>
        </a:p>
      </dgm:t>
    </dgm:pt>
    <dgm:pt modelId="{CDA314EA-A01A-4437-B489-474FF81BFC4E}">
      <dgm:prSet/>
      <dgm:spPr/>
      <dgm:t>
        <a:bodyPr/>
        <a:lstStyle/>
        <a:p>
          <a:r>
            <a:rPr lang="zh-CN"/>
            <a:t>统一算法：谁真做、谁假做，算一遍全暴露。</a:t>
          </a:r>
        </a:p>
      </dgm:t>
    </dgm:pt>
    <dgm:pt modelId="{85C6CA4E-8642-4603-9672-6948443A9703}" type="parTrans" cxnId="{7365F43D-8904-4ABE-8783-645B1BF62104}">
      <dgm:prSet/>
      <dgm:spPr/>
      <dgm:t>
        <a:bodyPr/>
        <a:lstStyle/>
        <a:p>
          <a:endParaRPr lang="zh-CN" altLang="en-US"/>
        </a:p>
      </dgm:t>
    </dgm:pt>
    <dgm:pt modelId="{ADB9339B-D068-4D53-A372-6DC955C5F351}" type="sibTrans" cxnId="{7365F43D-8904-4ABE-8783-645B1BF62104}">
      <dgm:prSet/>
      <dgm:spPr/>
      <dgm:t>
        <a:bodyPr/>
        <a:lstStyle/>
        <a:p>
          <a:endParaRPr lang="zh-CN" altLang="en-US"/>
        </a:p>
      </dgm:t>
    </dgm:pt>
    <dgm:pt modelId="{F8A58DB1-0167-4739-8FE8-A1738700E637}" type="pres">
      <dgm:prSet presAssocID="{01E8CE5A-AB00-42E9-948B-0DE8F03A5174}" presName="linear" presStyleCnt="0">
        <dgm:presLayoutVars>
          <dgm:dir/>
          <dgm:animLvl val="lvl"/>
          <dgm:resizeHandles val="exact"/>
        </dgm:presLayoutVars>
      </dgm:prSet>
      <dgm:spPr/>
    </dgm:pt>
    <dgm:pt modelId="{7E6BA694-860E-4FD4-929D-E8826AA793C7}" type="pres">
      <dgm:prSet presAssocID="{DF7BAC89-CCD2-4D2D-B2D5-917E1A067CE1}" presName="parentLin" presStyleCnt="0"/>
      <dgm:spPr/>
    </dgm:pt>
    <dgm:pt modelId="{E13F73F0-1EB9-4499-93BF-28918E39988E}" type="pres">
      <dgm:prSet presAssocID="{DF7BAC89-CCD2-4D2D-B2D5-917E1A067CE1}" presName="parentLeftMargin" presStyleLbl="node1" presStyleIdx="0" presStyleCnt="1"/>
      <dgm:spPr/>
    </dgm:pt>
    <dgm:pt modelId="{7CB7B36D-0E5B-4A29-9357-4DFE1569A670}" type="pres">
      <dgm:prSet presAssocID="{DF7BAC89-CCD2-4D2D-B2D5-917E1A067CE1}" presName="parentText" presStyleLbl="node1" presStyleIdx="0" presStyleCnt="1">
        <dgm:presLayoutVars>
          <dgm:chMax val="0"/>
          <dgm:bulletEnabled val="1"/>
        </dgm:presLayoutVars>
      </dgm:prSet>
      <dgm:spPr/>
    </dgm:pt>
    <dgm:pt modelId="{A883E3F8-6DDF-4592-86FE-081D27AE0945}" type="pres">
      <dgm:prSet presAssocID="{DF7BAC89-CCD2-4D2D-B2D5-917E1A067CE1}" presName="negativeSpace" presStyleCnt="0"/>
      <dgm:spPr/>
    </dgm:pt>
    <dgm:pt modelId="{52907E58-64E6-4F5F-8E3A-D27FE47A8D86}" type="pres">
      <dgm:prSet presAssocID="{DF7BAC89-CCD2-4D2D-B2D5-917E1A067CE1}" presName="childText" presStyleLbl="conFgAcc1" presStyleIdx="0" presStyleCnt="1">
        <dgm:presLayoutVars>
          <dgm:bulletEnabled val="1"/>
        </dgm:presLayoutVars>
      </dgm:prSet>
      <dgm:spPr/>
    </dgm:pt>
  </dgm:ptLst>
  <dgm:cxnLst>
    <dgm:cxn modelId="{1FE7EF0A-E7D8-4281-A109-87C45D233675}" type="presOf" srcId="{DF7BAC89-CCD2-4D2D-B2D5-917E1A067CE1}" destId="{7CB7B36D-0E5B-4A29-9357-4DFE1569A670}" srcOrd="1" destOrd="0" presId="urn:microsoft.com/office/officeart/2005/8/layout/list1"/>
    <dgm:cxn modelId="{4C072328-FE13-47C9-84F4-05DD8D7A4D52}" type="presOf" srcId="{F8B4D8DA-3C1C-4FE9-B425-6F4D2A5347A7}" destId="{52907E58-64E6-4F5F-8E3A-D27FE47A8D86}" srcOrd="0" destOrd="1" presId="urn:microsoft.com/office/officeart/2005/8/layout/list1"/>
    <dgm:cxn modelId="{7365F43D-8904-4ABE-8783-645B1BF62104}" srcId="{DF7BAC89-CCD2-4D2D-B2D5-917E1A067CE1}" destId="{CDA314EA-A01A-4437-B489-474FF81BFC4E}" srcOrd="3" destOrd="0" parTransId="{85C6CA4E-8642-4603-9672-6948443A9703}" sibTransId="{ADB9339B-D068-4D53-A372-6DC955C5F351}"/>
    <dgm:cxn modelId="{739D1B3F-0D95-4B59-BF7F-513C6CE911EC}" type="presOf" srcId="{0D168311-99C6-4027-A82A-C1128CAB3B5B}" destId="{52907E58-64E6-4F5F-8E3A-D27FE47A8D86}" srcOrd="0" destOrd="2" presId="urn:microsoft.com/office/officeart/2005/8/layout/list1"/>
    <dgm:cxn modelId="{1562C040-8D58-4F5E-B406-4B2D5416070E}" type="presOf" srcId="{49547C92-538D-4419-8F4B-6DEA23E666FF}" destId="{52907E58-64E6-4F5F-8E3A-D27FE47A8D86}" srcOrd="0" destOrd="0" presId="urn:microsoft.com/office/officeart/2005/8/layout/list1"/>
    <dgm:cxn modelId="{8AB17572-ED24-40B1-BA5A-92D0B7D08D3E}" type="presOf" srcId="{CDA314EA-A01A-4437-B489-474FF81BFC4E}" destId="{52907E58-64E6-4F5F-8E3A-D27FE47A8D86}" srcOrd="0" destOrd="3" presId="urn:microsoft.com/office/officeart/2005/8/layout/list1"/>
    <dgm:cxn modelId="{DA3CA256-81C5-4C3F-9893-210557144A55}" srcId="{DF7BAC89-CCD2-4D2D-B2D5-917E1A067CE1}" destId="{0D168311-99C6-4027-A82A-C1128CAB3B5B}" srcOrd="2" destOrd="0" parTransId="{A3C5255D-E9DA-4F07-9CFF-391449B155FC}" sibTransId="{F5E6D27F-D408-43DF-9628-450D62C377DC}"/>
    <dgm:cxn modelId="{7E5C78BD-A9B7-42C5-AA18-4F95E93E548A}" type="presOf" srcId="{01E8CE5A-AB00-42E9-948B-0DE8F03A5174}" destId="{F8A58DB1-0167-4739-8FE8-A1738700E637}" srcOrd="0" destOrd="0" presId="urn:microsoft.com/office/officeart/2005/8/layout/list1"/>
    <dgm:cxn modelId="{552C4FC5-BA2D-4274-AE83-1EF631BE0D4F}" type="presOf" srcId="{DF7BAC89-CCD2-4D2D-B2D5-917E1A067CE1}" destId="{E13F73F0-1EB9-4499-93BF-28918E39988E}" srcOrd="0" destOrd="0" presId="urn:microsoft.com/office/officeart/2005/8/layout/list1"/>
    <dgm:cxn modelId="{EAFA56CC-8FF7-4E84-A105-5B00F4461630}" srcId="{01E8CE5A-AB00-42E9-948B-0DE8F03A5174}" destId="{DF7BAC89-CCD2-4D2D-B2D5-917E1A067CE1}" srcOrd="0" destOrd="0" parTransId="{E43B3BB3-9CEE-4CE2-BFE8-797A8B7DA4AD}" sibTransId="{6509DE0E-A32A-49EB-908E-DAF93219A70D}"/>
    <dgm:cxn modelId="{7788AED0-C348-4712-A29D-EE3856A9EA0A}" srcId="{DF7BAC89-CCD2-4D2D-B2D5-917E1A067CE1}" destId="{49547C92-538D-4419-8F4B-6DEA23E666FF}" srcOrd="0" destOrd="0" parTransId="{E001A048-D8DC-47D9-8E72-1ABA7001FBFD}" sibTransId="{893D0699-FBB9-4894-9EC1-5D1EA8FA51D8}"/>
    <dgm:cxn modelId="{5A3A50F4-F775-4DD9-B250-8F044FD5A45E}" srcId="{DF7BAC89-CCD2-4D2D-B2D5-917E1A067CE1}" destId="{F8B4D8DA-3C1C-4FE9-B425-6F4D2A5347A7}" srcOrd="1" destOrd="0" parTransId="{08179081-31B2-4D51-B5A4-5174F97DE1F2}" sibTransId="{A4DB243B-FA69-45A8-9980-7BDAC0B7EE25}"/>
    <dgm:cxn modelId="{80FB5A9E-F834-4E02-A2ED-FAFEA78CD004}" type="presParOf" srcId="{F8A58DB1-0167-4739-8FE8-A1738700E637}" destId="{7E6BA694-860E-4FD4-929D-E8826AA793C7}" srcOrd="0" destOrd="0" presId="urn:microsoft.com/office/officeart/2005/8/layout/list1"/>
    <dgm:cxn modelId="{4B86490D-DF9F-446D-8CCF-CDDB125BB1B8}" type="presParOf" srcId="{7E6BA694-860E-4FD4-929D-E8826AA793C7}" destId="{E13F73F0-1EB9-4499-93BF-28918E39988E}" srcOrd="0" destOrd="0" presId="urn:microsoft.com/office/officeart/2005/8/layout/list1"/>
    <dgm:cxn modelId="{285DEC41-B39E-45AD-987A-111DA4D11B5F}" type="presParOf" srcId="{7E6BA694-860E-4FD4-929D-E8826AA793C7}" destId="{7CB7B36D-0E5B-4A29-9357-4DFE1569A670}" srcOrd="1" destOrd="0" presId="urn:microsoft.com/office/officeart/2005/8/layout/list1"/>
    <dgm:cxn modelId="{ACCD94E0-0F8A-4DF5-9BEE-2E06A83B42B1}" type="presParOf" srcId="{F8A58DB1-0167-4739-8FE8-A1738700E637}" destId="{A883E3F8-6DDF-4592-86FE-081D27AE0945}" srcOrd="1" destOrd="0" presId="urn:microsoft.com/office/officeart/2005/8/layout/list1"/>
    <dgm:cxn modelId="{ADE1E7B1-1D8C-4B6F-B196-60538FA751D4}" type="presParOf" srcId="{F8A58DB1-0167-4739-8FE8-A1738700E637}" destId="{52907E58-64E6-4F5F-8E3A-D27FE47A8D86}"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3B426D1-2349-48A6-AE00-E92797E76AC7}"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zh-CN" altLang="en-US"/>
        </a:p>
      </dgm:t>
    </dgm:pt>
    <dgm:pt modelId="{606C6A24-D9A8-4453-9640-02B753DB9FA5}">
      <dgm:prSet custT="1"/>
      <dgm:spPr/>
      <dgm:t>
        <a:bodyPr/>
        <a:lstStyle/>
        <a:p>
          <a:r>
            <a:rPr lang="zh-CN" altLang="en-US" sz="1400" b="1"/>
            <a:t>两种相态：</a:t>
          </a:r>
        </a:p>
      </dgm:t>
    </dgm:pt>
    <dgm:pt modelId="{48C974D8-8EE8-4569-9C13-6BC14E97F30B}" type="parTrans" cxnId="{5EB25F0A-6AFF-456C-8AF4-C2A52E659C96}">
      <dgm:prSet/>
      <dgm:spPr/>
      <dgm:t>
        <a:bodyPr/>
        <a:lstStyle/>
        <a:p>
          <a:endParaRPr lang="zh-CN" altLang="en-US"/>
        </a:p>
      </dgm:t>
    </dgm:pt>
    <dgm:pt modelId="{5A650832-D572-4B16-981E-CBCA4878C66D}" type="sibTrans" cxnId="{5EB25F0A-6AFF-456C-8AF4-C2A52E659C96}">
      <dgm:prSet/>
      <dgm:spPr/>
      <dgm:t>
        <a:bodyPr/>
        <a:lstStyle/>
        <a:p>
          <a:endParaRPr lang="zh-CN" altLang="en-US"/>
        </a:p>
      </dgm:t>
    </dgm:pt>
    <dgm:pt modelId="{B818F8B9-B259-4EA8-BC42-302966289080}">
      <dgm:prSet/>
      <dgm:spPr/>
      <dgm:t>
        <a:bodyPr/>
        <a:lstStyle/>
        <a:p>
          <a:r>
            <a:rPr lang="zh-CN" dirty="0"/>
            <a:t>启动期：</a:t>
          </a:r>
          <a:r>
            <a:rPr lang="en-US" dirty="0"/>
            <a:t>F_M &gt; f</a:t>
          </a:r>
          <a:r>
            <a:rPr lang="zh-CN" dirty="0"/>
            <a:t>，</a:t>
          </a:r>
          <a:r>
            <a:rPr lang="en-US" dirty="0"/>
            <a:t>Sponsor</a:t>
          </a:r>
          <a:r>
            <a:rPr lang="zh-CN" dirty="0"/>
            <a:t>顶住压力，权力破冰。</a:t>
          </a:r>
        </a:p>
      </dgm:t>
    </dgm:pt>
    <dgm:pt modelId="{E2C8B51C-4CFE-4863-8490-0AC842DA2D62}" type="parTrans" cxnId="{BE5B775E-8419-42CE-A681-CD59ED3FAC95}">
      <dgm:prSet/>
      <dgm:spPr/>
      <dgm:t>
        <a:bodyPr/>
        <a:lstStyle/>
        <a:p>
          <a:endParaRPr lang="zh-CN" altLang="en-US"/>
        </a:p>
      </dgm:t>
    </dgm:pt>
    <dgm:pt modelId="{ACCC093B-9A59-425B-A959-560E95498765}" type="sibTrans" cxnId="{BE5B775E-8419-42CE-A681-CD59ED3FAC95}">
      <dgm:prSet/>
      <dgm:spPr/>
      <dgm:t>
        <a:bodyPr/>
        <a:lstStyle/>
        <a:p>
          <a:endParaRPr lang="zh-CN" altLang="en-US"/>
        </a:p>
      </dgm:t>
    </dgm:pt>
    <dgm:pt modelId="{5F3442F4-1496-44E9-8541-1F719EF6769F}">
      <dgm:prSet/>
      <dgm:spPr/>
      <dgm:t>
        <a:bodyPr/>
        <a:lstStyle/>
        <a:p>
          <a:r>
            <a:rPr lang="zh-CN"/>
            <a:t>运行期：</a:t>
          </a:r>
          <a:r>
            <a:rPr lang="en-US"/>
            <a:t>F_Π ≥ f</a:t>
          </a:r>
          <a:r>
            <a:rPr lang="zh-CN"/>
            <a:t>，总设计师用统一数据和规则，让 </a:t>
          </a:r>
          <a:r>
            <a:rPr lang="en-US"/>
            <a:t>f </a:t>
          </a:r>
          <a:r>
            <a:rPr lang="zh-CN"/>
            <a:t>失去博弈空间。</a:t>
          </a:r>
        </a:p>
      </dgm:t>
    </dgm:pt>
    <dgm:pt modelId="{A48CAD2B-59F4-4DA8-89DD-27700BC59985}" type="parTrans" cxnId="{00A4ABEF-9510-4723-9010-F5287D45C78E}">
      <dgm:prSet/>
      <dgm:spPr/>
      <dgm:t>
        <a:bodyPr/>
        <a:lstStyle/>
        <a:p>
          <a:endParaRPr lang="zh-CN" altLang="en-US"/>
        </a:p>
      </dgm:t>
    </dgm:pt>
    <dgm:pt modelId="{0C6118BE-23AA-4D8F-A0BC-BD54E176F6C2}" type="sibTrans" cxnId="{00A4ABEF-9510-4723-9010-F5287D45C78E}">
      <dgm:prSet/>
      <dgm:spPr/>
      <dgm:t>
        <a:bodyPr/>
        <a:lstStyle/>
        <a:p>
          <a:endParaRPr lang="zh-CN" altLang="en-US"/>
        </a:p>
      </dgm:t>
    </dgm:pt>
    <dgm:pt modelId="{A56A512E-9A77-4A7E-AFA6-17BB3CA2199B}" type="pres">
      <dgm:prSet presAssocID="{33B426D1-2349-48A6-AE00-E92797E76AC7}" presName="linear" presStyleCnt="0">
        <dgm:presLayoutVars>
          <dgm:dir/>
          <dgm:animLvl val="lvl"/>
          <dgm:resizeHandles val="exact"/>
        </dgm:presLayoutVars>
      </dgm:prSet>
      <dgm:spPr/>
    </dgm:pt>
    <dgm:pt modelId="{29667FE9-6318-48EB-B3B7-03E6D90DC9D5}" type="pres">
      <dgm:prSet presAssocID="{606C6A24-D9A8-4453-9640-02B753DB9FA5}" presName="parentLin" presStyleCnt="0"/>
      <dgm:spPr/>
    </dgm:pt>
    <dgm:pt modelId="{359AA38A-AA4A-4A03-9306-42581688A62A}" type="pres">
      <dgm:prSet presAssocID="{606C6A24-D9A8-4453-9640-02B753DB9FA5}" presName="parentLeftMargin" presStyleLbl="node1" presStyleIdx="0" presStyleCnt="1"/>
      <dgm:spPr/>
    </dgm:pt>
    <dgm:pt modelId="{5B7A3642-5895-4666-9EFC-22E2BA22E012}" type="pres">
      <dgm:prSet presAssocID="{606C6A24-D9A8-4453-9640-02B753DB9FA5}" presName="parentText" presStyleLbl="node1" presStyleIdx="0" presStyleCnt="1">
        <dgm:presLayoutVars>
          <dgm:chMax val="0"/>
          <dgm:bulletEnabled val="1"/>
        </dgm:presLayoutVars>
      </dgm:prSet>
      <dgm:spPr/>
    </dgm:pt>
    <dgm:pt modelId="{223E141F-0AF9-467D-9442-1E07A83CE370}" type="pres">
      <dgm:prSet presAssocID="{606C6A24-D9A8-4453-9640-02B753DB9FA5}" presName="negativeSpace" presStyleCnt="0"/>
      <dgm:spPr/>
    </dgm:pt>
    <dgm:pt modelId="{ACD334D9-8F84-4240-AF20-922EAA8374DF}" type="pres">
      <dgm:prSet presAssocID="{606C6A24-D9A8-4453-9640-02B753DB9FA5}" presName="childText" presStyleLbl="conFgAcc1" presStyleIdx="0" presStyleCnt="1">
        <dgm:presLayoutVars>
          <dgm:bulletEnabled val="1"/>
        </dgm:presLayoutVars>
      </dgm:prSet>
      <dgm:spPr/>
    </dgm:pt>
  </dgm:ptLst>
  <dgm:cxnLst>
    <dgm:cxn modelId="{5EB25F0A-6AFF-456C-8AF4-C2A52E659C96}" srcId="{33B426D1-2349-48A6-AE00-E92797E76AC7}" destId="{606C6A24-D9A8-4453-9640-02B753DB9FA5}" srcOrd="0" destOrd="0" parTransId="{48C974D8-8EE8-4569-9C13-6BC14E97F30B}" sibTransId="{5A650832-D572-4B16-981E-CBCA4878C66D}"/>
    <dgm:cxn modelId="{F7C0225E-D405-40A7-8845-71285D876742}" type="presOf" srcId="{5F3442F4-1496-44E9-8541-1F719EF6769F}" destId="{ACD334D9-8F84-4240-AF20-922EAA8374DF}" srcOrd="0" destOrd="1" presId="urn:microsoft.com/office/officeart/2005/8/layout/list1"/>
    <dgm:cxn modelId="{BE5B775E-8419-42CE-A681-CD59ED3FAC95}" srcId="{606C6A24-D9A8-4453-9640-02B753DB9FA5}" destId="{B818F8B9-B259-4EA8-BC42-302966289080}" srcOrd="0" destOrd="0" parTransId="{E2C8B51C-4CFE-4863-8490-0AC842DA2D62}" sibTransId="{ACCC093B-9A59-425B-A959-560E95498765}"/>
    <dgm:cxn modelId="{AD54F477-4930-435A-8AFF-6D8C9BC2DBC7}" type="presOf" srcId="{B818F8B9-B259-4EA8-BC42-302966289080}" destId="{ACD334D9-8F84-4240-AF20-922EAA8374DF}" srcOrd="0" destOrd="0" presId="urn:microsoft.com/office/officeart/2005/8/layout/list1"/>
    <dgm:cxn modelId="{4B5FD892-C81D-445F-8EBF-A126FAC3F5F5}" type="presOf" srcId="{606C6A24-D9A8-4453-9640-02B753DB9FA5}" destId="{359AA38A-AA4A-4A03-9306-42581688A62A}" srcOrd="0" destOrd="0" presId="urn:microsoft.com/office/officeart/2005/8/layout/list1"/>
    <dgm:cxn modelId="{2BDD1CA3-8E7E-4792-BC59-B43EF87411D7}" type="presOf" srcId="{33B426D1-2349-48A6-AE00-E92797E76AC7}" destId="{A56A512E-9A77-4A7E-AFA6-17BB3CA2199B}" srcOrd="0" destOrd="0" presId="urn:microsoft.com/office/officeart/2005/8/layout/list1"/>
    <dgm:cxn modelId="{8853CEBA-55BF-4817-A9AC-1A0778C99658}" type="presOf" srcId="{606C6A24-D9A8-4453-9640-02B753DB9FA5}" destId="{5B7A3642-5895-4666-9EFC-22E2BA22E012}" srcOrd="1" destOrd="0" presId="urn:microsoft.com/office/officeart/2005/8/layout/list1"/>
    <dgm:cxn modelId="{00A4ABEF-9510-4723-9010-F5287D45C78E}" srcId="{606C6A24-D9A8-4453-9640-02B753DB9FA5}" destId="{5F3442F4-1496-44E9-8541-1F719EF6769F}" srcOrd="1" destOrd="0" parTransId="{A48CAD2B-59F4-4DA8-89DD-27700BC59985}" sibTransId="{0C6118BE-23AA-4D8F-A0BC-BD54E176F6C2}"/>
    <dgm:cxn modelId="{84D46560-B952-422A-AB63-E334F47AB529}" type="presParOf" srcId="{A56A512E-9A77-4A7E-AFA6-17BB3CA2199B}" destId="{29667FE9-6318-48EB-B3B7-03E6D90DC9D5}" srcOrd="0" destOrd="0" presId="urn:microsoft.com/office/officeart/2005/8/layout/list1"/>
    <dgm:cxn modelId="{FD309492-050B-4B09-BB5A-B3D10A70D4F7}" type="presParOf" srcId="{29667FE9-6318-48EB-B3B7-03E6D90DC9D5}" destId="{359AA38A-AA4A-4A03-9306-42581688A62A}" srcOrd="0" destOrd="0" presId="urn:microsoft.com/office/officeart/2005/8/layout/list1"/>
    <dgm:cxn modelId="{A91ACB9A-CA24-4593-B820-371A0102352A}" type="presParOf" srcId="{29667FE9-6318-48EB-B3B7-03E6D90DC9D5}" destId="{5B7A3642-5895-4666-9EFC-22E2BA22E012}" srcOrd="1" destOrd="0" presId="urn:microsoft.com/office/officeart/2005/8/layout/list1"/>
    <dgm:cxn modelId="{029FCCB3-8CD4-49B2-97E3-F749D4F88B39}" type="presParOf" srcId="{A56A512E-9A77-4A7E-AFA6-17BB3CA2199B}" destId="{223E141F-0AF9-467D-9442-1E07A83CE370}" srcOrd="1" destOrd="0" presId="urn:microsoft.com/office/officeart/2005/8/layout/list1"/>
    <dgm:cxn modelId="{675AA30C-3C8C-429D-89A4-BD76829C2565}" type="presParOf" srcId="{A56A512E-9A77-4A7E-AFA6-17BB3CA2199B}" destId="{ACD334D9-8F84-4240-AF20-922EAA8374DF}" srcOrd="2"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9F1DD78-03C1-4B44-AC21-7B13DB59B38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zh-CN" altLang="en-US"/>
        </a:p>
      </dgm:t>
    </dgm:pt>
    <dgm:pt modelId="{4F78D6A1-5088-4B77-BFF4-D9901F7C0C92}">
      <dgm:prSet/>
      <dgm:spPr/>
      <dgm:t>
        <a:bodyPr/>
        <a:lstStyle/>
        <a:p>
          <a:r>
            <a:rPr lang="zh-CN" b="1"/>
            <a:t>钱学森提出“双长制”</a:t>
          </a:r>
          <a:r>
            <a:rPr lang="en-US" b="1"/>
            <a:t>——</a:t>
          </a:r>
          <a:r>
            <a:rPr lang="zh-CN" b="1"/>
            <a:t>行政总指挥线 </a:t>
          </a:r>
          <a:r>
            <a:rPr lang="en-US" b="1"/>
            <a:t>+ </a:t>
          </a:r>
          <a:r>
            <a:rPr lang="zh-CN" b="1"/>
            <a:t>总设计师线。</a:t>
          </a:r>
        </a:p>
      </dgm:t>
    </dgm:pt>
    <dgm:pt modelId="{700560C1-0CA3-4A6B-AD04-AE83AA971ADA}" type="parTrans" cxnId="{1ACB853D-85EC-46A3-9C6F-7EC7B7FA3554}">
      <dgm:prSet/>
      <dgm:spPr/>
      <dgm:t>
        <a:bodyPr/>
        <a:lstStyle/>
        <a:p>
          <a:endParaRPr lang="zh-CN" altLang="en-US"/>
        </a:p>
      </dgm:t>
    </dgm:pt>
    <dgm:pt modelId="{E7669F7B-5AAA-4C8C-A669-F7A84FE788C1}" type="sibTrans" cxnId="{1ACB853D-85EC-46A3-9C6F-7EC7B7FA3554}">
      <dgm:prSet/>
      <dgm:spPr/>
      <dgm:t>
        <a:bodyPr/>
        <a:lstStyle/>
        <a:p>
          <a:endParaRPr lang="zh-CN" altLang="en-US"/>
        </a:p>
      </dgm:t>
    </dgm:pt>
    <dgm:pt modelId="{73FB8AC9-23DF-4C0C-9333-863AFC6C54EC}">
      <dgm:prSet/>
      <dgm:spPr/>
      <dgm:t>
        <a:bodyPr/>
        <a:lstStyle/>
        <a:p>
          <a:r>
            <a:rPr lang="en-US"/>
            <a:t>F_M</a:t>
          </a:r>
          <a:r>
            <a:rPr lang="zh-CN"/>
            <a:t>：行政总指挥线（</a:t>
          </a:r>
          <a:r>
            <a:rPr lang="en-US"/>
            <a:t>Sponsor</a:t>
          </a:r>
          <a:r>
            <a:rPr lang="zh-CN"/>
            <a:t>），划界定方向、给资源、顶压力。</a:t>
          </a:r>
        </a:p>
      </dgm:t>
    </dgm:pt>
    <dgm:pt modelId="{B2DBD9B0-1F68-4822-B8D7-ECA911B2B83C}" type="parTrans" cxnId="{95EBEDF9-180F-449D-AE31-DB1378180C21}">
      <dgm:prSet/>
      <dgm:spPr/>
      <dgm:t>
        <a:bodyPr/>
        <a:lstStyle/>
        <a:p>
          <a:endParaRPr lang="zh-CN" altLang="en-US"/>
        </a:p>
      </dgm:t>
    </dgm:pt>
    <dgm:pt modelId="{0BAEE0BB-32CB-452E-96F1-B9E5C3D5C89A}" type="sibTrans" cxnId="{95EBEDF9-180F-449D-AE31-DB1378180C21}">
      <dgm:prSet/>
      <dgm:spPr/>
      <dgm:t>
        <a:bodyPr/>
        <a:lstStyle/>
        <a:p>
          <a:endParaRPr lang="zh-CN" altLang="en-US"/>
        </a:p>
      </dgm:t>
    </dgm:pt>
    <dgm:pt modelId="{248916A6-026D-4CED-A5D7-1B31DE577525}">
      <dgm:prSet/>
      <dgm:spPr/>
      <dgm:t>
        <a:bodyPr/>
        <a:lstStyle/>
        <a:p>
          <a:r>
            <a:rPr lang="en-US"/>
            <a:t>F_Π</a:t>
          </a:r>
          <a:r>
            <a:rPr lang="zh-CN"/>
            <a:t>：总设计师线，建逻辑、跑闭环、建立缓冲决定怎么干。</a:t>
          </a:r>
        </a:p>
      </dgm:t>
    </dgm:pt>
    <dgm:pt modelId="{992E23E9-8918-4149-8F70-20C363E4EEB7}" type="parTrans" cxnId="{9CD3FB8B-0A57-4080-81D5-28AEB16EEB6F}">
      <dgm:prSet/>
      <dgm:spPr/>
      <dgm:t>
        <a:bodyPr/>
        <a:lstStyle/>
        <a:p>
          <a:endParaRPr lang="zh-CN" altLang="en-US"/>
        </a:p>
      </dgm:t>
    </dgm:pt>
    <dgm:pt modelId="{2BFC7EAC-4140-4F61-8C7A-4F464B31B550}" type="sibTrans" cxnId="{9CD3FB8B-0A57-4080-81D5-28AEB16EEB6F}">
      <dgm:prSet/>
      <dgm:spPr/>
      <dgm:t>
        <a:bodyPr/>
        <a:lstStyle/>
        <a:p>
          <a:endParaRPr lang="zh-CN" altLang="en-US"/>
        </a:p>
      </dgm:t>
    </dgm:pt>
    <dgm:pt modelId="{7214B884-5EC4-4790-8A1F-E5BEFA28747D}" type="pres">
      <dgm:prSet presAssocID="{69F1DD78-03C1-4B44-AC21-7B13DB59B384}" presName="linear" presStyleCnt="0">
        <dgm:presLayoutVars>
          <dgm:dir/>
          <dgm:animLvl val="lvl"/>
          <dgm:resizeHandles val="exact"/>
        </dgm:presLayoutVars>
      </dgm:prSet>
      <dgm:spPr/>
    </dgm:pt>
    <dgm:pt modelId="{203E44D8-F122-47FD-882F-D47C3115E48A}" type="pres">
      <dgm:prSet presAssocID="{4F78D6A1-5088-4B77-BFF4-D9901F7C0C92}" presName="parentLin" presStyleCnt="0"/>
      <dgm:spPr/>
    </dgm:pt>
    <dgm:pt modelId="{D13569F0-D2C5-4EBF-8BDF-9861094FDB34}" type="pres">
      <dgm:prSet presAssocID="{4F78D6A1-5088-4B77-BFF4-D9901F7C0C92}" presName="parentLeftMargin" presStyleLbl="node1" presStyleIdx="0" presStyleCnt="1"/>
      <dgm:spPr/>
    </dgm:pt>
    <dgm:pt modelId="{47F1E352-E754-46C5-BEA1-644DA8EA903C}" type="pres">
      <dgm:prSet presAssocID="{4F78D6A1-5088-4B77-BFF4-D9901F7C0C92}" presName="parentText" presStyleLbl="node1" presStyleIdx="0" presStyleCnt="1">
        <dgm:presLayoutVars>
          <dgm:chMax val="0"/>
          <dgm:bulletEnabled val="1"/>
        </dgm:presLayoutVars>
      </dgm:prSet>
      <dgm:spPr/>
    </dgm:pt>
    <dgm:pt modelId="{229DE29B-9E5A-4EFC-962B-70943547BFCC}" type="pres">
      <dgm:prSet presAssocID="{4F78D6A1-5088-4B77-BFF4-D9901F7C0C92}" presName="negativeSpace" presStyleCnt="0"/>
      <dgm:spPr/>
    </dgm:pt>
    <dgm:pt modelId="{DF28C632-4765-44C3-8682-930E4264D0F5}" type="pres">
      <dgm:prSet presAssocID="{4F78D6A1-5088-4B77-BFF4-D9901F7C0C92}" presName="childText" presStyleLbl="conFgAcc1" presStyleIdx="0" presStyleCnt="1">
        <dgm:presLayoutVars>
          <dgm:bulletEnabled val="1"/>
        </dgm:presLayoutVars>
      </dgm:prSet>
      <dgm:spPr/>
    </dgm:pt>
  </dgm:ptLst>
  <dgm:cxnLst>
    <dgm:cxn modelId="{1ACB853D-85EC-46A3-9C6F-7EC7B7FA3554}" srcId="{69F1DD78-03C1-4B44-AC21-7B13DB59B384}" destId="{4F78D6A1-5088-4B77-BFF4-D9901F7C0C92}" srcOrd="0" destOrd="0" parTransId="{700560C1-0CA3-4A6B-AD04-AE83AA971ADA}" sibTransId="{E7669F7B-5AAA-4C8C-A669-F7A84FE788C1}"/>
    <dgm:cxn modelId="{A1923151-4FED-45B6-BB7E-902DCF89D950}" type="presOf" srcId="{69F1DD78-03C1-4B44-AC21-7B13DB59B384}" destId="{7214B884-5EC4-4790-8A1F-E5BEFA28747D}" srcOrd="0" destOrd="0" presId="urn:microsoft.com/office/officeart/2005/8/layout/list1"/>
    <dgm:cxn modelId="{9CD3FB8B-0A57-4080-81D5-28AEB16EEB6F}" srcId="{4F78D6A1-5088-4B77-BFF4-D9901F7C0C92}" destId="{248916A6-026D-4CED-A5D7-1B31DE577525}" srcOrd="1" destOrd="0" parTransId="{992E23E9-8918-4149-8F70-20C363E4EEB7}" sibTransId="{2BFC7EAC-4140-4F61-8C7A-4F464B31B550}"/>
    <dgm:cxn modelId="{0E8EA99E-D568-4559-B7D6-80DD0026D2F6}" type="presOf" srcId="{4F78D6A1-5088-4B77-BFF4-D9901F7C0C92}" destId="{47F1E352-E754-46C5-BEA1-644DA8EA903C}" srcOrd="1" destOrd="0" presId="urn:microsoft.com/office/officeart/2005/8/layout/list1"/>
    <dgm:cxn modelId="{91FC25AD-F3E5-4D19-B443-42C70F23B769}" type="presOf" srcId="{4F78D6A1-5088-4B77-BFF4-D9901F7C0C92}" destId="{D13569F0-D2C5-4EBF-8BDF-9861094FDB34}" srcOrd="0" destOrd="0" presId="urn:microsoft.com/office/officeart/2005/8/layout/list1"/>
    <dgm:cxn modelId="{34B754CD-6701-4AFF-89B2-99E69F49AB7D}" type="presOf" srcId="{248916A6-026D-4CED-A5D7-1B31DE577525}" destId="{DF28C632-4765-44C3-8682-930E4264D0F5}" srcOrd="0" destOrd="1" presId="urn:microsoft.com/office/officeart/2005/8/layout/list1"/>
    <dgm:cxn modelId="{E3C872F0-FE21-49E5-A62E-A5D5B22D39FC}" type="presOf" srcId="{73FB8AC9-23DF-4C0C-9333-863AFC6C54EC}" destId="{DF28C632-4765-44C3-8682-930E4264D0F5}" srcOrd="0" destOrd="0" presId="urn:microsoft.com/office/officeart/2005/8/layout/list1"/>
    <dgm:cxn modelId="{95EBEDF9-180F-449D-AE31-DB1378180C21}" srcId="{4F78D6A1-5088-4B77-BFF4-D9901F7C0C92}" destId="{73FB8AC9-23DF-4C0C-9333-863AFC6C54EC}" srcOrd="0" destOrd="0" parTransId="{B2DBD9B0-1F68-4822-B8D7-ECA911B2B83C}" sibTransId="{0BAEE0BB-32CB-452E-96F1-B9E5C3D5C89A}"/>
    <dgm:cxn modelId="{415F9389-348C-40E7-980A-F4E92C5EE1D2}" type="presParOf" srcId="{7214B884-5EC4-4790-8A1F-E5BEFA28747D}" destId="{203E44D8-F122-47FD-882F-D47C3115E48A}" srcOrd="0" destOrd="0" presId="urn:microsoft.com/office/officeart/2005/8/layout/list1"/>
    <dgm:cxn modelId="{17A61C51-3651-452D-842C-B457467C91E5}" type="presParOf" srcId="{203E44D8-F122-47FD-882F-D47C3115E48A}" destId="{D13569F0-D2C5-4EBF-8BDF-9861094FDB34}" srcOrd="0" destOrd="0" presId="urn:microsoft.com/office/officeart/2005/8/layout/list1"/>
    <dgm:cxn modelId="{91B4B6BC-594E-4DB6-99A0-936928A45FF3}" type="presParOf" srcId="{203E44D8-F122-47FD-882F-D47C3115E48A}" destId="{47F1E352-E754-46C5-BEA1-644DA8EA903C}" srcOrd="1" destOrd="0" presId="urn:microsoft.com/office/officeart/2005/8/layout/list1"/>
    <dgm:cxn modelId="{DDA0A525-CBC3-496C-9285-C6C8E58824E2}" type="presParOf" srcId="{7214B884-5EC4-4790-8A1F-E5BEFA28747D}" destId="{229DE29B-9E5A-4EFC-962B-70943547BFCC}" srcOrd="1" destOrd="0" presId="urn:microsoft.com/office/officeart/2005/8/layout/list1"/>
    <dgm:cxn modelId="{3195F325-E075-4807-9109-01C868118FE2}" type="presParOf" srcId="{7214B884-5EC4-4790-8A1F-E5BEFA28747D}" destId="{DF28C632-4765-44C3-8682-930E4264D0F5}" srcOrd="2" destOrd="0" presId="urn:microsoft.com/office/officeart/2005/8/layout/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779FB3E-FE45-4727-9946-CEA63C124E8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CD5043F6-2537-4186-BB6B-29F19C332AC5}">
      <dgm:prSet custT="1"/>
      <dgm:spPr>
        <a:noFill/>
        <a:ln>
          <a:solidFill>
            <a:srgbClr val="00B050"/>
          </a:solidFill>
        </a:ln>
      </dgm:spPr>
      <dgm:t>
        <a:bodyPr/>
        <a:lstStyle/>
        <a:p>
          <a:r>
            <a:rPr lang="zh-CN" altLang="en-US" sz="1600" b="1">
              <a:solidFill>
                <a:schemeClr val="tx1"/>
              </a:solidFill>
            </a:rPr>
            <a:t>系统上线了。剪彩、庆功、香槟。</a:t>
          </a:r>
        </a:p>
      </dgm:t>
    </dgm:pt>
    <dgm:pt modelId="{CCC3FEB9-7609-4882-B4FA-6FAFC81499B1}" type="parTrans" cxnId="{9A05AF9B-D15A-4993-A1B5-C86BC122B984}">
      <dgm:prSet/>
      <dgm:spPr/>
      <dgm:t>
        <a:bodyPr/>
        <a:lstStyle/>
        <a:p>
          <a:endParaRPr lang="zh-CN" altLang="en-US" sz="1600" b="1">
            <a:solidFill>
              <a:schemeClr val="tx1"/>
            </a:solidFill>
          </a:endParaRPr>
        </a:p>
      </dgm:t>
    </dgm:pt>
    <dgm:pt modelId="{72D93790-69FD-43B0-BA0D-E57D5D254BC8}" type="sibTrans" cxnId="{9A05AF9B-D15A-4993-A1B5-C86BC122B984}">
      <dgm:prSet/>
      <dgm:spPr/>
      <dgm:t>
        <a:bodyPr/>
        <a:lstStyle/>
        <a:p>
          <a:endParaRPr lang="zh-CN" altLang="en-US" sz="1600" b="1">
            <a:solidFill>
              <a:schemeClr val="tx1"/>
            </a:solidFill>
          </a:endParaRPr>
        </a:p>
      </dgm:t>
    </dgm:pt>
    <dgm:pt modelId="{5720DE1A-AAC9-485F-828D-F782FD1ECE49}">
      <dgm:prSet custT="1"/>
      <dgm:spPr>
        <a:noFill/>
        <a:ln>
          <a:solidFill>
            <a:srgbClr val="FFFF00"/>
          </a:solidFill>
        </a:ln>
      </dgm:spPr>
      <dgm:t>
        <a:bodyPr/>
        <a:lstStyle/>
        <a:p>
          <a:r>
            <a:rPr lang="zh-CN" altLang="en-US" sz="1600" b="1">
              <a:solidFill>
                <a:schemeClr val="tx1"/>
              </a:solidFill>
            </a:rPr>
            <a:t>但热力学第二定律告诉我们：任何孤立系统，熵增不可逆。</a:t>
          </a:r>
        </a:p>
      </dgm:t>
    </dgm:pt>
    <dgm:pt modelId="{05A71720-A69C-4CEC-A91C-0559AEF330C3}" type="parTrans" cxnId="{E97C3F7E-FDC1-4566-B685-F59CF755E620}">
      <dgm:prSet/>
      <dgm:spPr/>
      <dgm:t>
        <a:bodyPr/>
        <a:lstStyle/>
        <a:p>
          <a:endParaRPr lang="zh-CN" altLang="en-US" sz="1600" b="1">
            <a:solidFill>
              <a:schemeClr val="tx1"/>
            </a:solidFill>
          </a:endParaRPr>
        </a:p>
      </dgm:t>
    </dgm:pt>
    <dgm:pt modelId="{781C1A66-CB6A-4C60-983B-395510BEDD06}" type="sibTrans" cxnId="{E97C3F7E-FDC1-4566-B685-F59CF755E620}">
      <dgm:prSet/>
      <dgm:spPr/>
      <dgm:t>
        <a:bodyPr/>
        <a:lstStyle/>
        <a:p>
          <a:endParaRPr lang="zh-CN" altLang="en-US" sz="1600" b="1">
            <a:solidFill>
              <a:schemeClr val="tx1"/>
            </a:solidFill>
          </a:endParaRPr>
        </a:p>
      </dgm:t>
    </dgm:pt>
    <dgm:pt modelId="{876C3E57-634F-482E-803E-A0A6C304AB07}">
      <dgm:prSet custT="1"/>
      <dgm:spPr>
        <a:noFill/>
        <a:ln>
          <a:solidFill>
            <a:srgbClr val="C00000"/>
          </a:solidFill>
        </a:ln>
      </dgm:spPr>
      <dgm:t>
        <a:bodyPr/>
        <a:lstStyle/>
        <a:p>
          <a:r>
            <a:rPr lang="zh-CN" altLang="en-US" sz="1600" b="1" dirty="0">
              <a:solidFill>
                <a:schemeClr val="tx1"/>
              </a:solidFill>
            </a:rPr>
            <a:t>系统一旦切断持续维护，就变成了一个孤立系统。外部业务在变，规则在变，数据在变。系统会在几个月内逐渐偏离物理现实，退化成一个精致的“平行宇宙”。</a:t>
          </a:r>
        </a:p>
      </dgm:t>
    </dgm:pt>
    <dgm:pt modelId="{28C3AF53-D512-4517-9A7C-885662F338F0}" type="parTrans" cxnId="{6C1BBC39-B823-45CF-9745-5668F1DDAED4}">
      <dgm:prSet/>
      <dgm:spPr/>
      <dgm:t>
        <a:bodyPr/>
        <a:lstStyle/>
        <a:p>
          <a:endParaRPr lang="zh-CN" altLang="en-US" sz="1600" b="1">
            <a:solidFill>
              <a:schemeClr val="tx1"/>
            </a:solidFill>
          </a:endParaRPr>
        </a:p>
      </dgm:t>
    </dgm:pt>
    <dgm:pt modelId="{A1AD7E60-0B31-450F-A819-B7FF2961EE18}" type="sibTrans" cxnId="{6C1BBC39-B823-45CF-9745-5668F1DDAED4}">
      <dgm:prSet/>
      <dgm:spPr/>
      <dgm:t>
        <a:bodyPr/>
        <a:lstStyle/>
        <a:p>
          <a:endParaRPr lang="zh-CN" altLang="en-US" sz="1600" b="1">
            <a:solidFill>
              <a:schemeClr val="tx1"/>
            </a:solidFill>
          </a:endParaRPr>
        </a:p>
      </dgm:t>
    </dgm:pt>
    <dgm:pt modelId="{F8E85C3E-CE54-4761-A6C3-8028438642B1}" type="pres">
      <dgm:prSet presAssocID="{B779FB3E-FE45-4727-9946-CEA63C124E82}" presName="linear" presStyleCnt="0">
        <dgm:presLayoutVars>
          <dgm:animLvl val="lvl"/>
          <dgm:resizeHandles val="exact"/>
        </dgm:presLayoutVars>
      </dgm:prSet>
      <dgm:spPr/>
    </dgm:pt>
    <dgm:pt modelId="{0FCAB1ED-ED23-4FC8-8056-89F2D9DD6A14}" type="pres">
      <dgm:prSet presAssocID="{CD5043F6-2537-4186-BB6B-29F19C332AC5}" presName="parentText" presStyleLbl="node1" presStyleIdx="0" presStyleCnt="3">
        <dgm:presLayoutVars>
          <dgm:chMax val="0"/>
          <dgm:bulletEnabled val="1"/>
        </dgm:presLayoutVars>
      </dgm:prSet>
      <dgm:spPr/>
    </dgm:pt>
    <dgm:pt modelId="{7CE82361-A19B-4D55-AA48-05BFC35CB67C}" type="pres">
      <dgm:prSet presAssocID="{72D93790-69FD-43B0-BA0D-E57D5D254BC8}" presName="spacer" presStyleCnt="0"/>
      <dgm:spPr/>
    </dgm:pt>
    <dgm:pt modelId="{4C3236E9-F8F0-4169-9D5D-8320B3BAC7CF}" type="pres">
      <dgm:prSet presAssocID="{5720DE1A-AAC9-485F-828D-F782FD1ECE49}" presName="parentText" presStyleLbl="node1" presStyleIdx="1" presStyleCnt="3">
        <dgm:presLayoutVars>
          <dgm:chMax val="0"/>
          <dgm:bulletEnabled val="1"/>
        </dgm:presLayoutVars>
      </dgm:prSet>
      <dgm:spPr/>
    </dgm:pt>
    <dgm:pt modelId="{B65BB076-6917-4574-ACC6-98B2C270C0C2}" type="pres">
      <dgm:prSet presAssocID="{781C1A66-CB6A-4C60-983B-395510BEDD06}" presName="spacer" presStyleCnt="0"/>
      <dgm:spPr/>
    </dgm:pt>
    <dgm:pt modelId="{0EC9C254-7805-4743-8CEE-79BC1259B522}" type="pres">
      <dgm:prSet presAssocID="{876C3E57-634F-482E-803E-A0A6C304AB07}" presName="parentText" presStyleLbl="node1" presStyleIdx="2" presStyleCnt="3">
        <dgm:presLayoutVars>
          <dgm:chMax val="0"/>
          <dgm:bulletEnabled val="1"/>
        </dgm:presLayoutVars>
      </dgm:prSet>
      <dgm:spPr/>
    </dgm:pt>
  </dgm:ptLst>
  <dgm:cxnLst>
    <dgm:cxn modelId="{6C1BBC39-B823-45CF-9745-5668F1DDAED4}" srcId="{B779FB3E-FE45-4727-9946-CEA63C124E82}" destId="{876C3E57-634F-482E-803E-A0A6C304AB07}" srcOrd="2" destOrd="0" parTransId="{28C3AF53-D512-4517-9A7C-885662F338F0}" sibTransId="{A1AD7E60-0B31-450F-A819-B7FF2961EE18}"/>
    <dgm:cxn modelId="{ABE02E74-2BE0-4FA1-9577-6B24AEE8E752}" type="presOf" srcId="{5720DE1A-AAC9-485F-828D-F782FD1ECE49}" destId="{4C3236E9-F8F0-4169-9D5D-8320B3BAC7CF}" srcOrd="0" destOrd="0" presId="urn:microsoft.com/office/officeart/2005/8/layout/vList2"/>
    <dgm:cxn modelId="{E97C3F7E-FDC1-4566-B685-F59CF755E620}" srcId="{B779FB3E-FE45-4727-9946-CEA63C124E82}" destId="{5720DE1A-AAC9-485F-828D-F782FD1ECE49}" srcOrd="1" destOrd="0" parTransId="{05A71720-A69C-4CEC-A91C-0559AEF330C3}" sibTransId="{781C1A66-CB6A-4C60-983B-395510BEDD06}"/>
    <dgm:cxn modelId="{9BE83C97-841F-4909-9D40-53EEB39F09A2}" type="presOf" srcId="{876C3E57-634F-482E-803E-A0A6C304AB07}" destId="{0EC9C254-7805-4743-8CEE-79BC1259B522}" srcOrd="0" destOrd="0" presId="urn:microsoft.com/office/officeart/2005/8/layout/vList2"/>
    <dgm:cxn modelId="{9A05AF9B-D15A-4993-A1B5-C86BC122B984}" srcId="{B779FB3E-FE45-4727-9946-CEA63C124E82}" destId="{CD5043F6-2537-4186-BB6B-29F19C332AC5}" srcOrd="0" destOrd="0" parTransId="{CCC3FEB9-7609-4882-B4FA-6FAFC81499B1}" sibTransId="{72D93790-69FD-43B0-BA0D-E57D5D254BC8}"/>
    <dgm:cxn modelId="{6F91C3CF-D48C-43DD-8EDE-E60571B1001F}" type="presOf" srcId="{B779FB3E-FE45-4727-9946-CEA63C124E82}" destId="{F8E85C3E-CE54-4761-A6C3-8028438642B1}" srcOrd="0" destOrd="0" presId="urn:microsoft.com/office/officeart/2005/8/layout/vList2"/>
    <dgm:cxn modelId="{443918F4-277C-4F94-99A9-E9B1A114FA8E}" type="presOf" srcId="{CD5043F6-2537-4186-BB6B-29F19C332AC5}" destId="{0FCAB1ED-ED23-4FC8-8056-89F2D9DD6A14}" srcOrd="0" destOrd="0" presId="urn:microsoft.com/office/officeart/2005/8/layout/vList2"/>
    <dgm:cxn modelId="{6CD34087-A37F-4A1A-9104-76D0DB98CDF1}" type="presParOf" srcId="{F8E85C3E-CE54-4761-A6C3-8028438642B1}" destId="{0FCAB1ED-ED23-4FC8-8056-89F2D9DD6A14}" srcOrd="0" destOrd="0" presId="urn:microsoft.com/office/officeart/2005/8/layout/vList2"/>
    <dgm:cxn modelId="{0C55B3A4-A74D-4E37-A228-3F0AEBD4EB48}" type="presParOf" srcId="{F8E85C3E-CE54-4761-A6C3-8028438642B1}" destId="{7CE82361-A19B-4D55-AA48-05BFC35CB67C}" srcOrd="1" destOrd="0" presId="urn:microsoft.com/office/officeart/2005/8/layout/vList2"/>
    <dgm:cxn modelId="{4FC2FD90-7081-461A-975F-C5E2050293C1}" type="presParOf" srcId="{F8E85C3E-CE54-4761-A6C3-8028438642B1}" destId="{4C3236E9-F8F0-4169-9D5D-8320B3BAC7CF}" srcOrd="2" destOrd="0" presId="urn:microsoft.com/office/officeart/2005/8/layout/vList2"/>
    <dgm:cxn modelId="{34B44EE5-D773-439F-AA49-C694FE0016C0}" type="presParOf" srcId="{F8E85C3E-CE54-4761-A6C3-8028438642B1}" destId="{B65BB076-6917-4574-ACC6-98B2C270C0C2}" srcOrd="3" destOrd="0" presId="urn:microsoft.com/office/officeart/2005/8/layout/vList2"/>
    <dgm:cxn modelId="{50B2AB9F-7C01-4589-89ED-C1EDCD0C4CBD}" type="presParOf" srcId="{F8E85C3E-CE54-4761-A6C3-8028438642B1}" destId="{0EC9C254-7805-4743-8CEE-79BC1259B52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4117E0A-F44B-4411-90A7-940F22381B2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8E7BFE60-D6F9-4580-A35C-2FAF86D0B68A}">
      <dgm:prSet custT="1"/>
      <dgm:spPr>
        <a:noFill/>
        <a:ln>
          <a:solidFill>
            <a:schemeClr val="tx1">
              <a:lumMod val="50000"/>
            </a:schemeClr>
          </a:solidFill>
        </a:ln>
      </dgm:spPr>
      <dgm:t>
        <a:bodyPr/>
        <a:lstStyle/>
        <a:p>
          <a:r>
            <a:rPr lang="zh-CN" altLang="en-US" sz="1600" dirty="0">
              <a:solidFill>
                <a:schemeClr val="tx1"/>
              </a:solidFill>
              <a:latin typeface="+mn-ea"/>
              <a:ea typeface="+mn-ea"/>
            </a:rPr>
            <a:t>哥德尔不完备定理证明：任何足够复杂的逻辑系统，</a:t>
          </a:r>
          <a:r>
            <a:rPr lang="zh-CN" altLang="en-US" sz="2000" b="1" dirty="0">
              <a:solidFill>
                <a:srgbClr val="00D4FF"/>
              </a:solidFill>
              <a:latin typeface="+mn-ea"/>
              <a:ea typeface="+mn-ea"/>
            </a:rPr>
            <a:t>不可能</a:t>
          </a:r>
          <a:r>
            <a:rPr lang="zh-CN" altLang="en-US" sz="1600" dirty="0">
              <a:solidFill>
                <a:schemeClr val="tx1"/>
              </a:solidFill>
              <a:latin typeface="+mn-ea"/>
              <a:ea typeface="+mn-ea"/>
            </a:rPr>
            <a:t>同时满足“一致性（自洽）”与“</a:t>
          </a:r>
          <a:r>
            <a:rPr lang="zh-CN" altLang="en-US" sz="2000" b="1" dirty="0">
              <a:solidFill>
                <a:srgbClr val="00D4FF"/>
              </a:solidFill>
              <a:latin typeface="+mn-ea"/>
              <a:ea typeface="+mn-ea"/>
            </a:rPr>
            <a:t>完备性</a:t>
          </a:r>
          <a:r>
            <a:rPr lang="zh-CN" altLang="en-US" sz="1600" dirty="0">
              <a:solidFill>
                <a:schemeClr val="tx1"/>
              </a:solidFill>
              <a:latin typeface="+mn-ea"/>
              <a:ea typeface="+mn-ea"/>
            </a:rPr>
            <a:t>”。</a:t>
          </a:r>
        </a:p>
      </dgm:t>
    </dgm:pt>
    <dgm:pt modelId="{C007A2B0-396A-4105-BCDE-4C7A42C9D1AC}" type="parTrans" cxnId="{F12ED669-A62C-4B57-98C9-9FFE21526038}">
      <dgm:prSet/>
      <dgm:spPr/>
      <dgm:t>
        <a:bodyPr/>
        <a:lstStyle/>
        <a:p>
          <a:endParaRPr lang="zh-CN" altLang="en-US" sz="2000">
            <a:solidFill>
              <a:schemeClr val="tx1"/>
            </a:solidFill>
            <a:latin typeface="+mn-ea"/>
            <a:ea typeface="+mn-ea"/>
          </a:endParaRPr>
        </a:p>
      </dgm:t>
    </dgm:pt>
    <dgm:pt modelId="{940675FA-A30F-412A-A720-7E521D3EA2D0}" type="sibTrans" cxnId="{F12ED669-A62C-4B57-98C9-9FFE21526038}">
      <dgm:prSet/>
      <dgm:spPr/>
      <dgm:t>
        <a:bodyPr/>
        <a:lstStyle/>
        <a:p>
          <a:endParaRPr lang="zh-CN" altLang="en-US" sz="2000">
            <a:solidFill>
              <a:schemeClr val="tx1"/>
            </a:solidFill>
            <a:latin typeface="+mn-ea"/>
            <a:ea typeface="+mn-ea"/>
          </a:endParaRPr>
        </a:p>
      </dgm:t>
    </dgm:pt>
    <dgm:pt modelId="{36C0F93C-6C03-4D32-8E10-FA18309F5B6E}">
      <dgm:prSet custT="1"/>
      <dgm:spPr>
        <a:noFill/>
        <a:ln>
          <a:solidFill>
            <a:schemeClr val="tx1">
              <a:lumMod val="50000"/>
            </a:schemeClr>
          </a:solidFill>
        </a:ln>
      </dgm:spPr>
      <dgm:t>
        <a:bodyPr/>
        <a:lstStyle/>
        <a:p>
          <a:r>
            <a:rPr lang="zh-CN" altLang="en-US" sz="1800">
              <a:solidFill>
                <a:schemeClr val="tx1"/>
              </a:solidFill>
              <a:latin typeface="+mn-ea"/>
              <a:ea typeface="+mn-ea"/>
            </a:rPr>
            <a:t>这意味着：系统做到了自洽，就注定无法涵盖未来物理世界中所有的新变异。</a:t>
          </a:r>
        </a:p>
      </dgm:t>
    </dgm:pt>
    <dgm:pt modelId="{EEEA0232-DD27-4740-B61C-B32A4EC3D731}" type="parTrans" cxnId="{6373ED79-3142-49E8-B4F2-288A1097D2E4}">
      <dgm:prSet/>
      <dgm:spPr/>
      <dgm:t>
        <a:bodyPr/>
        <a:lstStyle/>
        <a:p>
          <a:endParaRPr lang="zh-CN" altLang="en-US" sz="2000">
            <a:solidFill>
              <a:schemeClr val="tx1"/>
            </a:solidFill>
            <a:latin typeface="+mn-ea"/>
            <a:ea typeface="+mn-ea"/>
          </a:endParaRPr>
        </a:p>
      </dgm:t>
    </dgm:pt>
    <dgm:pt modelId="{EA900AF5-9E89-4BB4-AA62-D64903B8BC90}" type="sibTrans" cxnId="{6373ED79-3142-49E8-B4F2-288A1097D2E4}">
      <dgm:prSet/>
      <dgm:spPr/>
      <dgm:t>
        <a:bodyPr/>
        <a:lstStyle/>
        <a:p>
          <a:endParaRPr lang="zh-CN" altLang="en-US" sz="2000">
            <a:solidFill>
              <a:schemeClr val="tx1"/>
            </a:solidFill>
            <a:latin typeface="+mn-ea"/>
            <a:ea typeface="+mn-ea"/>
          </a:endParaRPr>
        </a:p>
      </dgm:t>
    </dgm:pt>
    <dgm:pt modelId="{A557B655-73CB-48AF-86A2-2E608179878B}">
      <dgm:prSet custT="1"/>
      <dgm:spPr>
        <a:noFill/>
        <a:ln>
          <a:solidFill>
            <a:schemeClr val="tx1">
              <a:lumMod val="50000"/>
            </a:schemeClr>
          </a:solidFill>
        </a:ln>
      </dgm:spPr>
      <dgm:t>
        <a:bodyPr/>
        <a:lstStyle/>
        <a:p>
          <a:r>
            <a:rPr lang="zh-CN" sz="1600" dirty="0">
              <a:solidFill>
                <a:schemeClr val="tx1"/>
              </a:solidFill>
              <a:latin typeface="+mn-ea"/>
              <a:ea typeface="+mn-ea"/>
            </a:rPr>
            <a:t>贸易战、地缘断供、颠覆性的新业务模式</a:t>
          </a:r>
          <a:r>
            <a:rPr lang="en-US" sz="1600" dirty="0">
              <a:solidFill>
                <a:schemeClr val="tx1"/>
              </a:solidFill>
              <a:latin typeface="+mn-ea"/>
              <a:ea typeface="+mn-ea"/>
            </a:rPr>
            <a:t>——</a:t>
          </a:r>
          <a:r>
            <a:rPr lang="zh-CN" sz="1600" dirty="0">
              <a:solidFill>
                <a:schemeClr val="tx1"/>
              </a:solidFill>
              <a:latin typeface="+mn-ea"/>
              <a:ea typeface="+mn-ea"/>
            </a:rPr>
            <a:t>这些前所未有的</a:t>
          </a:r>
          <a:r>
            <a:rPr lang="zh-CN" sz="2000" b="1" dirty="0">
              <a:solidFill>
                <a:srgbClr val="00D4FF"/>
              </a:solidFill>
              <a:latin typeface="+mn-ea"/>
              <a:ea typeface="+mn-ea"/>
            </a:rPr>
            <a:t>黑天鹅</a:t>
          </a:r>
          <a:r>
            <a:rPr lang="zh-CN" sz="1600" dirty="0">
              <a:solidFill>
                <a:schemeClr val="tx1"/>
              </a:solidFill>
              <a:latin typeface="+mn-ea"/>
              <a:ea typeface="+mn-ea"/>
            </a:rPr>
            <a:t>，就是现实世界对硅基系统的“</a:t>
          </a:r>
          <a:r>
            <a:rPr lang="zh-CN" sz="2000" b="1" dirty="0">
              <a:solidFill>
                <a:srgbClr val="00D4FF"/>
              </a:solidFill>
              <a:latin typeface="+mn-ea"/>
              <a:ea typeface="+mn-ea"/>
            </a:rPr>
            <a:t>哥德尔撞击</a:t>
          </a:r>
          <a:r>
            <a:rPr lang="zh-CN" sz="1600" dirty="0">
              <a:solidFill>
                <a:schemeClr val="tx1"/>
              </a:solidFill>
              <a:latin typeface="+mn-ea"/>
              <a:ea typeface="+mn-ea"/>
            </a:rPr>
            <a:t>”。</a:t>
          </a:r>
        </a:p>
      </dgm:t>
    </dgm:pt>
    <dgm:pt modelId="{14E1DA94-8DB7-46A6-BA5B-08FBAAD3B2AC}" type="parTrans" cxnId="{39441740-606C-4F71-AE4F-9E6625A1C2E1}">
      <dgm:prSet/>
      <dgm:spPr/>
      <dgm:t>
        <a:bodyPr/>
        <a:lstStyle/>
        <a:p>
          <a:endParaRPr lang="zh-CN" altLang="en-US" sz="2000">
            <a:solidFill>
              <a:schemeClr val="tx1"/>
            </a:solidFill>
            <a:latin typeface="+mn-ea"/>
            <a:ea typeface="+mn-ea"/>
          </a:endParaRPr>
        </a:p>
      </dgm:t>
    </dgm:pt>
    <dgm:pt modelId="{6EB757E4-82D9-4670-9EAB-D96533E58481}" type="sibTrans" cxnId="{39441740-606C-4F71-AE4F-9E6625A1C2E1}">
      <dgm:prSet/>
      <dgm:spPr/>
      <dgm:t>
        <a:bodyPr/>
        <a:lstStyle/>
        <a:p>
          <a:endParaRPr lang="zh-CN" altLang="en-US" sz="2000">
            <a:solidFill>
              <a:schemeClr val="tx1"/>
            </a:solidFill>
            <a:latin typeface="+mn-ea"/>
            <a:ea typeface="+mn-ea"/>
          </a:endParaRPr>
        </a:p>
      </dgm:t>
    </dgm:pt>
    <dgm:pt modelId="{8F0473AF-1106-41A8-BE07-A32E64B45A62}" type="pres">
      <dgm:prSet presAssocID="{64117E0A-F44B-4411-90A7-940F22381B24}" presName="linear" presStyleCnt="0">
        <dgm:presLayoutVars>
          <dgm:animLvl val="lvl"/>
          <dgm:resizeHandles val="exact"/>
        </dgm:presLayoutVars>
      </dgm:prSet>
      <dgm:spPr/>
    </dgm:pt>
    <dgm:pt modelId="{DA528331-FF05-4E31-A8A0-6248556CD108}" type="pres">
      <dgm:prSet presAssocID="{8E7BFE60-D6F9-4580-A35C-2FAF86D0B68A}" presName="parentText" presStyleLbl="node1" presStyleIdx="0" presStyleCnt="3">
        <dgm:presLayoutVars>
          <dgm:chMax val="0"/>
          <dgm:bulletEnabled val="1"/>
        </dgm:presLayoutVars>
      </dgm:prSet>
      <dgm:spPr/>
    </dgm:pt>
    <dgm:pt modelId="{3185618E-15F8-4919-9416-452D06F39BC9}" type="pres">
      <dgm:prSet presAssocID="{940675FA-A30F-412A-A720-7E521D3EA2D0}" presName="spacer" presStyleCnt="0"/>
      <dgm:spPr/>
    </dgm:pt>
    <dgm:pt modelId="{3511512C-C14E-4487-9DBD-43F64ACFFC7B}" type="pres">
      <dgm:prSet presAssocID="{36C0F93C-6C03-4D32-8E10-FA18309F5B6E}" presName="parentText" presStyleLbl="node1" presStyleIdx="1" presStyleCnt="3" custLinFactNeighborX="219">
        <dgm:presLayoutVars>
          <dgm:chMax val="0"/>
          <dgm:bulletEnabled val="1"/>
        </dgm:presLayoutVars>
      </dgm:prSet>
      <dgm:spPr/>
    </dgm:pt>
    <dgm:pt modelId="{253BB8B3-0D9A-4A8A-93EB-8C02196D32FC}" type="pres">
      <dgm:prSet presAssocID="{EA900AF5-9E89-4BB4-AA62-D64903B8BC90}" presName="spacer" presStyleCnt="0"/>
      <dgm:spPr/>
    </dgm:pt>
    <dgm:pt modelId="{19D10826-6AA7-43FB-AC8C-FC151AC52966}" type="pres">
      <dgm:prSet presAssocID="{A557B655-73CB-48AF-86A2-2E608179878B}" presName="parentText" presStyleLbl="node1" presStyleIdx="2" presStyleCnt="3">
        <dgm:presLayoutVars>
          <dgm:chMax val="0"/>
          <dgm:bulletEnabled val="1"/>
        </dgm:presLayoutVars>
      </dgm:prSet>
      <dgm:spPr/>
    </dgm:pt>
  </dgm:ptLst>
  <dgm:cxnLst>
    <dgm:cxn modelId="{49C0D038-DECD-4F82-939F-D43BA3B13AFE}" type="presOf" srcId="{36C0F93C-6C03-4D32-8E10-FA18309F5B6E}" destId="{3511512C-C14E-4487-9DBD-43F64ACFFC7B}" srcOrd="0" destOrd="0" presId="urn:microsoft.com/office/officeart/2005/8/layout/vList2"/>
    <dgm:cxn modelId="{39441740-606C-4F71-AE4F-9E6625A1C2E1}" srcId="{64117E0A-F44B-4411-90A7-940F22381B24}" destId="{A557B655-73CB-48AF-86A2-2E608179878B}" srcOrd="2" destOrd="0" parTransId="{14E1DA94-8DB7-46A6-BA5B-08FBAAD3B2AC}" sibTransId="{6EB757E4-82D9-4670-9EAB-D96533E58481}"/>
    <dgm:cxn modelId="{B4BA3860-0682-449C-95D5-1426DD59B18A}" type="presOf" srcId="{A557B655-73CB-48AF-86A2-2E608179878B}" destId="{19D10826-6AA7-43FB-AC8C-FC151AC52966}" srcOrd="0" destOrd="0" presId="urn:microsoft.com/office/officeart/2005/8/layout/vList2"/>
    <dgm:cxn modelId="{F12ED669-A62C-4B57-98C9-9FFE21526038}" srcId="{64117E0A-F44B-4411-90A7-940F22381B24}" destId="{8E7BFE60-D6F9-4580-A35C-2FAF86D0B68A}" srcOrd="0" destOrd="0" parTransId="{C007A2B0-396A-4105-BCDE-4C7A42C9D1AC}" sibTransId="{940675FA-A30F-412A-A720-7E521D3EA2D0}"/>
    <dgm:cxn modelId="{0E0B6674-E6EF-4F73-89A6-DE70477F07EE}" type="presOf" srcId="{8E7BFE60-D6F9-4580-A35C-2FAF86D0B68A}" destId="{DA528331-FF05-4E31-A8A0-6248556CD108}" srcOrd="0" destOrd="0" presId="urn:microsoft.com/office/officeart/2005/8/layout/vList2"/>
    <dgm:cxn modelId="{6373ED79-3142-49E8-B4F2-288A1097D2E4}" srcId="{64117E0A-F44B-4411-90A7-940F22381B24}" destId="{36C0F93C-6C03-4D32-8E10-FA18309F5B6E}" srcOrd="1" destOrd="0" parTransId="{EEEA0232-DD27-4740-B61C-B32A4EC3D731}" sibTransId="{EA900AF5-9E89-4BB4-AA62-D64903B8BC90}"/>
    <dgm:cxn modelId="{AEE562DD-9711-4B5B-9A04-1A275A9A6FD9}" type="presOf" srcId="{64117E0A-F44B-4411-90A7-940F22381B24}" destId="{8F0473AF-1106-41A8-BE07-A32E64B45A62}" srcOrd="0" destOrd="0" presId="urn:microsoft.com/office/officeart/2005/8/layout/vList2"/>
    <dgm:cxn modelId="{25A233FC-DA03-40C5-957A-4B868AFDE476}" type="presParOf" srcId="{8F0473AF-1106-41A8-BE07-A32E64B45A62}" destId="{DA528331-FF05-4E31-A8A0-6248556CD108}" srcOrd="0" destOrd="0" presId="urn:microsoft.com/office/officeart/2005/8/layout/vList2"/>
    <dgm:cxn modelId="{98C62A05-A7EA-46F7-931A-A57F8C09059C}" type="presParOf" srcId="{8F0473AF-1106-41A8-BE07-A32E64B45A62}" destId="{3185618E-15F8-4919-9416-452D06F39BC9}" srcOrd="1" destOrd="0" presId="urn:microsoft.com/office/officeart/2005/8/layout/vList2"/>
    <dgm:cxn modelId="{5EB3C9E3-376D-468E-8453-E554E5AE79FE}" type="presParOf" srcId="{8F0473AF-1106-41A8-BE07-A32E64B45A62}" destId="{3511512C-C14E-4487-9DBD-43F64ACFFC7B}" srcOrd="2" destOrd="0" presId="urn:microsoft.com/office/officeart/2005/8/layout/vList2"/>
    <dgm:cxn modelId="{59A65C40-43CA-4BDA-8ADF-7121B652BDB9}" type="presParOf" srcId="{8F0473AF-1106-41A8-BE07-A32E64B45A62}" destId="{253BB8B3-0D9A-4A8A-93EB-8C02196D32FC}" srcOrd="3" destOrd="0" presId="urn:microsoft.com/office/officeart/2005/8/layout/vList2"/>
    <dgm:cxn modelId="{7A8C0B96-EF4A-42A9-B345-90531D003AC1}" type="presParOf" srcId="{8F0473AF-1106-41A8-BE07-A32E64B45A62}" destId="{19D10826-6AA7-43FB-AC8C-FC151AC52966}" srcOrd="4" destOrd="0" presId="urn:microsoft.com/office/officeart/2005/8/layout/vList2"/>
  </dgm:cxnLst>
  <dgm:bg/>
  <dgm:whole>
    <a:ln>
      <a:solidFill>
        <a:schemeClr val="tx1">
          <a:lumMod val="5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E6BA102-B6D4-4DE0-B67E-8C0361A46173}"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zh-CN" altLang="en-US"/>
        </a:p>
      </dgm:t>
    </dgm:pt>
    <dgm:pt modelId="{CA19F764-D234-46F1-B7BA-A961784D30B6}">
      <dgm:prSet custT="1"/>
      <dgm:spPr/>
      <dgm:t>
        <a:bodyPr/>
        <a:lstStyle/>
        <a:p>
          <a:r>
            <a:rPr lang="zh-CN" altLang="en-US" sz="1800" dirty="0"/>
            <a:t>面对哥德尔撞击，不能坐等系统崩溃。</a:t>
          </a:r>
          <a:endParaRPr lang="en-US" altLang="zh-CN" sz="1800" dirty="0"/>
        </a:p>
        <a:p>
          <a:r>
            <a:rPr lang="zh-CN" altLang="en-US" sz="1800" dirty="0"/>
            <a:t>必须建立</a:t>
          </a:r>
          <a:r>
            <a:rPr lang="zh-CN" altLang="en-US" sz="2400" b="1" dirty="0">
              <a:solidFill>
                <a:srgbClr val="00D4FF"/>
              </a:solidFill>
            </a:rPr>
            <a:t>主动运营体系</a:t>
          </a:r>
          <a:r>
            <a:rPr lang="zh-CN" altLang="en-US" sz="2000" dirty="0"/>
            <a:t>：</a:t>
          </a:r>
        </a:p>
      </dgm:t>
    </dgm:pt>
    <dgm:pt modelId="{AE92CD73-D082-4D87-BB93-CCFAD32DD461}" type="parTrans" cxnId="{BDDFF42E-C8EF-45D8-B873-73DCD84A21C8}">
      <dgm:prSet/>
      <dgm:spPr/>
      <dgm:t>
        <a:bodyPr/>
        <a:lstStyle/>
        <a:p>
          <a:endParaRPr lang="zh-CN" altLang="en-US"/>
        </a:p>
      </dgm:t>
    </dgm:pt>
    <dgm:pt modelId="{BB5EE12D-9347-441D-B1D9-FDEB7A815E20}" type="sibTrans" cxnId="{BDDFF42E-C8EF-45D8-B873-73DCD84A21C8}">
      <dgm:prSet/>
      <dgm:spPr/>
      <dgm:t>
        <a:bodyPr/>
        <a:lstStyle/>
        <a:p>
          <a:endParaRPr lang="zh-CN" altLang="en-US"/>
        </a:p>
      </dgm:t>
    </dgm:pt>
    <dgm:pt modelId="{5B097BA0-C477-46DB-AC9B-84112B56FAED}">
      <dgm:prSet/>
      <dgm:spPr/>
      <dgm:t>
        <a:bodyPr/>
        <a:lstStyle/>
        <a:p>
          <a:r>
            <a:rPr lang="zh-CN"/>
            <a:t>第一步：</a:t>
          </a:r>
          <a:r>
            <a:rPr lang="en-US"/>
            <a:t>Workaround</a:t>
          </a:r>
          <a:r>
            <a:rPr lang="zh-CN"/>
            <a:t>止血。</a:t>
          </a:r>
        </a:p>
      </dgm:t>
    </dgm:pt>
    <dgm:pt modelId="{CDEFCB1E-6FAE-446A-A8C7-3DE9B0AD3B55}" type="parTrans" cxnId="{BDBF2EBE-0D44-4F67-B451-DD8EA16BDD45}">
      <dgm:prSet/>
      <dgm:spPr/>
      <dgm:t>
        <a:bodyPr/>
        <a:lstStyle/>
        <a:p>
          <a:endParaRPr lang="zh-CN" altLang="en-US"/>
        </a:p>
      </dgm:t>
    </dgm:pt>
    <dgm:pt modelId="{B99DEA6C-7890-4164-97B3-3423CDD90327}" type="sibTrans" cxnId="{BDBF2EBE-0D44-4F67-B451-DD8EA16BDD45}">
      <dgm:prSet/>
      <dgm:spPr/>
      <dgm:t>
        <a:bodyPr/>
        <a:lstStyle/>
        <a:p>
          <a:endParaRPr lang="zh-CN" altLang="en-US"/>
        </a:p>
      </dgm:t>
    </dgm:pt>
    <dgm:pt modelId="{28413649-8EC6-4614-B822-F6FAC5B231F8}">
      <dgm:prSet/>
      <dgm:spPr/>
      <dgm:t>
        <a:bodyPr/>
        <a:lstStyle/>
        <a:p>
          <a:r>
            <a:rPr lang="zh-CN" dirty="0"/>
            <a:t>突发问题，不等代码重构，先用变通方案恢复物理连续性。</a:t>
          </a:r>
        </a:p>
      </dgm:t>
    </dgm:pt>
    <dgm:pt modelId="{A49431CA-39C9-43B1-A8D1-DBA8EF0B3721}" type="parTrans" cxnId="{8C40C8BE-97C2-4303-B096-D2295D4D9997}">
      <dgm:prSet/>
      <dgm:spPr/>
      <dgm:t>
        <a:bodyPr/>
        <a:lstStyle/>
        <a:p>
          <a:endParaRPr lang="zh-CN" altLang="en-US"/>
        </a:p>
      </dgm:t>
    </dgm:pt>
    <dgm:pt modelId="{A8EDB27F-FDE2-4BEF-BB8D-8756EDB5B700}" type="sibTrans" cxnId="{8C40C8BE-97C2-4303-B096-D2295D4D9997}">
      <dgm:prSet/>
      <dgm:spPr/>
      <dgm:t>
        <a:bodyPr/>
        <a:lstStyle/>
        <a:p>
          <a:endParaRPr lang="zh-CN" altLang="en-US"/>
        </a:p>
      </dgm:t>
    </dgm:pt>
    <dgm:pt modelId="{C70CEDBC-8B3F-41F9-9FD8-1D4A9A3BAB7F}">
      <dgm:prSet/>
      <dgm:spPr/>
      <dgm:t>
        <a:bodyPr/>
        <a:lstStyle/>
        <a:p>
          <a:r>
            <a:rPr lang="zh-CN" dirty="0"/>
            <a:t>第二步：寻根。</a:t>
          </a:r>
        </a:p>
      </dgm:t>
    </dgm:pt>
    <dgm:pt modelId="{57384B3A-6F5D-4A68-8F28-46095CD0A34B}" type="parTrans" cxnId="{03A735B6-9470-43A9-A2F0-415878AE5A62}">
      <dgm:prSet/>
      <dgm:spPr/>
      <dgm:t>
        <a:bodyPr/>
        <a:lstStyle/>
        <a:p>
          <a:endParaRPr lang="zh-CN" altLang="en-US"/>
        </a:p>
      </dgm:t>
    </dgm:pt>
    <dgm:pt modelId="{5EFE331D-F7E2-415F-9815-EA1D93E65C5C}" type="sibTrans" cxnId="{03A735B6-9470-43A9-A2F0-415878AE5A62}">
      <dgm:prSet/>
      <dgm:spPr/>
      <dgm:t>
        <a:bodyPr/>
        <a:lstStyle/>
        <a:p>
          <a:endParaRPr lang="zh-CN" altLang="en-US"/>
        </a:p>
      </dgm:t>
    </dgm:pt>
    <dgm:pt modelId="{EF9ACAF0-AED5-41AB-ADC2-A6DEF71EE482}">
      <dgm:prSet/>
      <dgm:spPr/>
      <dgm:t>
        <a:bodyPr/>
        <a:lstStyle/>
        <a:p>
          <a:r>
            <a:rPr lang="zh-CN" dirty="0"/>
            <a:t>危机缓解后，下潜到双螺旋结构。是业务规则变了？还是数据模型有盲区？</a:t>
          </a:r>
        </a:p>
      </dgm:t>
    </dgm:pt>
    <dgm:pt modelId="{852E5C76-1EE6-4238-B47E-F5F1938CF4D6}" type="parTrans" cxnId="{EC886CE9-842B-4CA6-9C20-6CEB38862988}">
      <dgm:prSet/>
      <dgm:spPr/>
      <dgm:t>
        <a:bodyPr/>
        <a:lstStyle/>
        <a:p>
          <a:endParaRPr lang="zh-CN" altLang="en-US"/>
        </a:p>
      </dgm:t>
    </dgm:pt>
    <dgm:pt modelId="{765010D7-D412-4B23-9696-8590D9D63B94}" type="sibTrans" cxnId="{EC886CE9-842B-4CA6-9C20-6CEB38862988}">
      <dgm:prSet/>
      <dgm:spPr/>
      <dgm:t>
        <a:bodyPr/>
        <a:lstStyle/>
        <a:p>
          <a:endParaRPr lang="zh-CN" altLang="en-US"/>
        </a:p>
      </dgm:t>
    </dgm:pt>
    <dgm:pt modelId="{4F3F281C-DDC1-4F34-9516-D0A1E536D29A}">
      <dgm:prSet/>
      <dgm:spPr/>
      <dgm:t>
        <a:bodyPr/>
        <a:lstStyle/>
        <a:p>
          <a:r>
            <a:rPr lang="zh-CN"/>
            <a:t>第三步：系统性重构。</a:t>
          </a:r>
        </a:p>
      </dgm:t>
    </dgm:pt>
    <dgm:pt modelId="{CCFC5155-A818-4532-B67B-A66754535B3D}" type="parTrans" cxnId="{FDEE6DCD-6C96-4E9A-9F19-999DEC0697E8}">
      <dgm:prSet/>
      <dgm:spPr/>
      <dgm:t>
        <a:bodyPr/>
        <a:lstStyle/>
        <a:p>
          <a:endParaRPr lang="zh-CN" altLang="en-US"/>
        </a:p>
      </dgm:t>
    </dgm:pt>
    <dgm:pt modelId="{F32B6CB1-3D20-4C23-94EB-0A1731E267D8}" type="sibTrans" cxnId="{FDEE6DCD-6C96-4E9A-9F19-999DEC0697E8}">
      <dgm:prSet/>
      <dgm:spPr/>
      <dgm:t>
        <a:bodyPr/>
        <a:lstStyle/>
        <a:p>
          <a:endParaRPr lang="zh-CN" altLang="en-US"/>
        </a:p>
      </dgm:t>
    </dgm:pt>
    <dgm:pt modelId="{B67016F6-830B-4EE9-9D19-2F97A88A77F3}">
      <dgm:prSet/>
      <dgm:spPr/>
      <dgm:t>
        <a:bodyPr/>
        <a:lstStyle/>
        <a:p>
          <a:r>
            <a:rPr lang="zh-CN"/>
            <a:t>把偏差转化为底层优化项目，让免疫基因永久写入。不让</a:t>
          </a:r>
          <a:r>
            <a:rPr lang="en-US"/>
            <a:t>Workaround</a:t>
          </a:r>
          <a:r>
            <a:rPr lang="zh-CN"/>
            <a:t>固化为技术债。</a:t>
          </a:r>
        </a:p>
      </dgm:t>
    </dgm:pt>
    <dgm:pt modelId="{B3948DE8-7F24-4E72-B9C9-5D6245EC1E23}" type="parTrans" cxnId="{58063DCB-1068-4551-83E5-CCCC4A86F9C8}">
      <dgm:prSet/>
      <dgm:spPr/>
      <dgm:t>
        <a:bodyPr/>
        <a:lstStyle/>
        <a:p>
          <a:endParaRPr lang="zh-CN" altLang="en-US"/>
        </a:p>
      </dgm:t>
    </dgm:pt>
    <dgm:pt modelId="{9F21271E-47BF-4BB6-BFBF-980408CC31E4}" type="sibTrans" cxnId="{58063DCB-1068-4551-83E5-CCCC4A86F9C8}">
      <dgm:prSet/>
      <dgm:spPr/>
      <dgm:t>
        <a:bodyPr/>
        <a:lstStyle/>
        <a:p>
          <a:endParaRPr lang="zh-CN" altLang="en-US"/>
        </a:p>
      </dgm:t>
    </dgm:pt>
    <dgm:pt modelId="{4F17A774-79BA-4BD5-9EB5-625891616161}" type="pres">
      <dgm:prSet presAssocID="{CE6BA102-B6D4-4DE0-B67E-8C0361A46173}" presName="Name0" presStyleCnt="0">
        <dgm:presLayoutVars>
          <dgm:chMax val="7"/>
          <dgm:dir/>
          <dgm:animLvl val="lvl"/>
          <dgm:resizeHandles val="exact"/>
        </dgm:presLayoutVars>
      </dgm:prSet>
      <dgm:spPr/>
    </dgm:pt>
    <dgm:pt modelId="{B734ED47-64EF-4537-ACC5-91028ABB3DE0}" type="pres">
      <dgm:prSet presAssocID="{CA19F764-D234-46F1-B7BA-A961784D30B6}" presName="circle1" presStyleLbl="node1" presStyleIdx="0" presStyleCnt="1"/>
      <dgm:spPr/>
    </dgm:pt>
    <dgm:pt modelId="{88B351E0-15FD-4A4B-856E-0B4B260B75C1}" type="pres">
      <dgm:prSet presAssocID="{CA19F764-D234-46F1-B7BA-A961784D30B6}" presName="space" presStyleCnt="0"/>
      <dgm:spPr/>
    </dgm:pt>
    <dgm:pt modelId="{C2776143-0322-4F4F-9B7A-A989D5A0733F}" type="pres">
      <dgm:prSet presAssocID="{CA19F764-D234-46F1-B7BA-A961784D30B6}" presName="rect1" presStyleLbl="alignAcc1" presStyleIdx="0" presStyleCnt="1"/>
      <dgm:spPr/>
    </dgm:pt>
    <dgm:pt modelId="{0954DB57-E2D3-46B4-A8EA-EC294050BC76}" type="pres">
      <dgm:prSet presAssocID="{CA19F764-D234-46F1-B7BA-A961784D30B6}" presName="rect1ParTx" presStyleLbl="alignAcc1" presStyleIdx="0" presStyleCnt="1">
        <dgm:presLayoutVars>
          <dgm:chMax val="1"/>
          <dgm:bulletEnabled val="1"/>
        </dgm:presLayoutVars>
      </dgm:prSet>
      <dgm:spPr/>
    </dgm:pt>
    <dgm:pt modelId="{665C0DD3-1DB1-413E-8FAC-01E5A5598D53}" type="pres">
      <dgm:prSet presAssocID="{CA19F764-D234-46F1-B7BA-A961784D30B6}" presName="rect1ChTx" presStyleLbl="alignAcc1" presStyleIdx="0" presStyleCnt="1">
        <dgm:presLayoutVars>
          <dgm:bulletEnabled val="1"/>
        </dgm:presLayoutVars>
      </dgm:prSet>
      <dgm:spPr/>
    </dgm:pt>
  </dgm:ptLst>
  <dgm:cxnLst>
    <dgm:cxn modelId="{BDDFF42E-C8EF-45D8-B873-73DCD84A21C8}" srcId="{CE6BA102-B6D4-4DE0-B67E-8C0361A46173}" destId="{CA19F764-D234-46F1-B7BA-A961784D30B6}" srcOrd="0" destOrd="0" parTransId="{AE92CD73-D082-4D87-BB93-CCFAD32DD461}" sibTransId="{BB5EE12D-9347-441D-B1D9-FDEB7A815E20}"/>
    <dgm:cxn modelId="{5AB4EA34-720A-4DEE-B39B-099C11018A31}" type="presOf" srcId="{4F3F281C-DDC1-4F34-9516-D0A1E536D29A}" destId="{665C0DD3-1DB1-413E-8FAC-01E5A5598D53}" srcOrd="0" destOrd="4" presId="urn:microsoft.com/office/officeart/2005/8/layout/target3"/>
    <dgm:cxn modelId="{BAB91F37-1F8E-4B18-823F-7F8B98393750}" type="presOf" srcId="{5B097BA0-C477-46DB-AC9B-84112B56FAED}" destId="{665C0DD3-1DB1-413E-8FAC-01E5A5598D53}" srcOrd="0" destOrd="0" presId="urn:microsoft.com/office/officeart/2005/8/layout/target3"/>
    <dgm:cxn modelId="{B5A1176E-0D14-4647-8473-5EDC8DCAFA27}" type="presOf" srcId="{EF9ACAF0-AED5-41AB-ADC2-A6DEF71EE482}" destId="{665C0DD3-1DB1-413E-8FAC-01E5A5598D53}" srcOrd="0" destOrd="3" presId="urn:microsoft.com/office/officeart/2005/8/layout/target3"/>
    <dgm:cxn modelId="{69EDB582-6405-4793-9054-CB95A980940B}" type="presOf" srcId="{B67016F6-830B-4EE9-9D19-2F97A88A77F3}" destId="{665C0DD3-1DB1-413E-8FAC-01E5A5598D53}" srcOrd="0" destOrd="5" presId="urn:microsoft.com/office/officeart/2005/8/layout/target3"/>
    <dgm:cxn modelId="{9380DC8E-11BB-41C3-BFEF-44C93B9A97F8}" type="presOf" srcId="{CA19F764-D234-46F1-B7BA-A961784D30B6}" destId="{0954DB57-E2D3-46B4-A8EA-EC294050BC76}" srcOrd="1" destOrd="0" presId="urn:microsoft.com/office/officeart/2005/8/layout/target3"/>
    <dgm:cxn modelId="{03A735B6-9470-43A9-A2F0-415878AE5A62}" srcId="{CA19F764-D234-46F1-B7BA-A961784D30B6}" destId="{C70CEDBC-8B3F-41F9-9FD8-1D4A9A3BAB7F}" srcOrd="1" destOrd="0" parTransId="{57384B3A-6F5D-4A68-8F28-46095CD0A34B}" sibTransId="{5EFE331D-F7E2-415F-9815-EA1D93E65C5C}"/>
    <dgm:cxn modelId="{9685AAB7-F337-4B99-8616-ABBAB02F5EB5}" type="presOf" srcId="{C70CEDBC-8B3F-41F9-9FD8-1D4A9A3BAB7F}" destId="{665C0DD3-1DB1-413E-8FAC-01E5A5598D53}" srcOrd="0" destOrd="2" presId="urn:microsoft.com/office/officeart/2005/8/layout/target3"/>
    <dgm:cxn modelId="{BDBF2EBE-0D44-4F67-B451-DD8EA16BDD45}" srcId="{CA19F764-D234-46F1-B7BA-A961784D30B6}" destId="{5B097BA0-C477-46DB-AC9B-84112B56FAED}" srcOrd="0" destOrd="0" parTransId="{CDEFCB1E-6FAE-446A-A8C7-3DE9B0AD3B55}" sibTransId="{B99DEA6C-7890-4164-97B3-3423CDD90327}"/>
    <dgm:cxn modelId="{8C40C8BE-97C2-4303-B096-D2295D4D9997}" srcId="{5B097BA0-C477-46DB-AC9B-84112B56FAED}" destId="{28413649-8EC6-4614-B822-F6FAC5B231F8}" srcOrd="0" destOrd="0" parTransId="{A49431CA-39C9-43B1-A8D1-DBA8EF0B3721}" sibTransId="{A8EDB27F-FDE2-4BEF-BB8D-8756EDB5B700}"/>
    <dgm:cxn modelId="{E96419CB-9F4D-4D73-8C17-FA4E4E0B59A2}" type="presOf" srcId="{CA19F764-D234-46F1-B7BA-A961784D30B6}" destId="{C2776143-0322-4F4F-9B7A-A989D5A0733F}" srcOrd="0" destOrd="0" presId="urn:microsoft.com/office/officeart/2005/8/layout/target3"/>
    <dgm:cxn modelId="{58063DCB-1068-4551-83E5-CCCC4A86F9C8}" srcId="{4F3F281C-DDC1-4F34-9516-D0A1E536D29A}" destId="{B67016F6-830B-4EE9-9D19-2F97A88A77F3}" srcOrd="0" destOrd="0" parTransId="{B3948DE8-7F24-4E72-B9C9-5D6245EC1E23}" sibTransId="{9F21271E-47BF-4BB6-BFBF-980408CC31E4}"/>
    <dgm:cxn modelId="{FDEE6DCD-6C96-4E9A-9F19-999DEC0697E8}" srcId="{CA19F764-D234-46F1-B7BA-A961784D30B6}" destId="{4F3F281C-DDC1-4F34-9516-D0A1E536D29A}" srcOrd="2" destOrd="0" parTransId="{CCFC5155-A818-4532-B67B-A66754535B3D}" sibTransId="{F32B6CB1-3D20-4C23-94EB-0A1731E267D8}"/>
    <dgm:cxn modelId="{EC886CE9-842B-4CA6-9C20-6CEB38862988}" srcId="{C70CEDBC-8B3F-41F9-9FD8-1D4A9A3BAB7F}" destId="{EF9ACAF0-AED5-41AB-ADC2-A6DEF71EE482}" srcOrd="0" destOrd="0" parTransId="{852E5C76-1EE6-4238-B47E-F5F1938CF4D6}" sibTransId="{765010D7-D412-4B23-9696-8590D9D63B94}"/>
    <dgm:cxn modelId="{AACF6FFA-0325-4279-8EA4-7DB7ACB79DAC}" type="presOf" srcId="{CE6BA102-B6D4-4DE0-B67E-8C0361A46173}" destId="{4F17A774-79BA-4BD5-9EB5-625891616161}" srcOrd="0" destOrd="0" presId="urn:microsoft.com/office/officeart/2005/8/layout/target3"/>
    <dgm:cxn modelId="{7ED8E2FC-B7A9-4CD4-8FF2-88B017EEB42A}" type="presOf" srcId="{28413649-8EC6-4614-B822-F6FAC5B231F8}" destId="{665C0DD3-1DB1-413E-8FAC-01E5A5598D53}" srcOrd="0" destOrd="1" presId="urn:microsoft.com/office/officeart/2005/8/layout/target3"/>
    <dgm:cxn modelId="{C9D849F6-9C64-4E76-AFFD-2D2E496EC7F7}" type="presParOf" srcId="{4F17A774-79BA-4BD5-9EB5-625891616161}" destId="{B734ED47-64EF-4537-ACC5-91028ABB3DE0}" srcOrd="0" destOrd="0" presId="urn:microsoft.com/office/officeart/2005/8/layout/target3"/>
    <dgm:cxn modelId="{522FAD41-6A89-473F-9EB2-B2D7EA64DC80}" type="presParOf" srcId="{4F17A774-79BA-4BD5-9EB5-625891616161}" destId="{88B351E0-15FD-4A4B-856E-0B4B260B75C1}" srcOrd="1" destOrd="0" presId="urn:microsoft.com/office/officeart/2005/8/layout/target3"/>
    <dgm:cxn modelId="{4D254054-7507-4642-96A8-A8F5485C455C}" type="presParOf" srcId="{4F17A774-79BA-4BD5-9EB5-625891616161}" destId="{C2776143-0322-4F4F-9B7A-A989D5A0733F}" srcOrd="2" destOrd="0" presId="urn:microsoft.com/office/officeart/2005/8/layout/target3"/>
    <dgm:cxn modelId="{80B37594-7EB1-43C9-B58C-ECB0D94B285C}" type="presParOf" srcId="{4F17A774-79BA-4BD5-9EB5-625891616161}" destId="{0954DB57-E2D3-46B4-A8EA-EC294050BC76}" srcOrd="3" destOrd="0" presId="urn:microsoft.com/office/officeart/2005/8/layout/target3"/>
    <dgm:cxn modelId="{2CDE0F25-1706-4AD4-994E-47FB458D27C4}" type="presParOf" srcId="{4F17A774-79BA-4BD5-9EB5-625891616161}" destId="{665C0DD3-1DB1-413E-8FAC-01E5A5598D53}" srcOrd="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2198F98-ED8E-4DBB-90C1-4C7AD7B39D6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67541E00-8DD4-4110-A1CD-E47CFD4FBC2D}">
      <dgm:prSet custT="1"/>
      <dgm:spPr/>
      <dgm:t>
        <a:bodyPr/>
        <a:lstStyle/>
        <a:p>
          <a:r>
            <a:rPr lang="en-US" sz="1600" b="1">
              <a:latin typeface="+mj-ea"/>
              <a:ea typeface="+mj-ea"/>
            </a:rPr>
            <a:t>One Plan</a:t>
          </a:r>
          <a:r>
            <a:rPr lang="zh-CN" sz="1600" b="1">
              <a:latin typeface="+mj-ea"/>
              <a:ea typeface="+mj-ea"/>
            </a:rPr>
            <a:t>：构建了横纵协同的神经中枢</a:t>
          </a:r>
          <a:endParaRPr lang="zh-CN" sz="1600">
            <a:latin typeface="+mj-ea"/>
            <a:ea typeface="+mj-ea"/>
          </a:endParaRPr>
        </a:p>
      </dgm:t>
    </dgm:pt>
    <dgm:pt modelId="{6A787668-4C6B-4B06-841F-6CBE7B558A8C}" type="parTrans" cxnId="{F0B705B8-BDCE-431D-99E3-250596285EA6}">
      <dgm:prSet/>
      <dgm:spPr/>
      <dgm:t>
        <a:bodyPr/>
        <a:lstStyle/>
        <a:p>
          <a:endParaRPr lang="zh-CN" altLang="en-US"/>
        </a:p>
      </dgm:t>
    </dgm:pt>
    <dgm:pt modelId="{0E68DB6C-5C73-4F2A-B75C-E873093006C2}" type="sibTrans" cxnId="{F0B705B8-BDCE-431D-99E3-250596285EA6}">
      <dgm:prSet/>
      <dgm:spPr/>
      <dgm:t>
        <a:bodyPr/>
        <a:lstStyle/>
        <a:p>
          <a:endParaRPr lang="zh-CN" altLang="en-US"/>
        </a:p>
      </dgm:t>
    </dgm:pt>
    <dgm:pt modelId="{FBAB2A16-CB95-4AD5-826F-53CC1CFF9C38}">
      <dgm:prSet/>
      <dgm:spPr/>
      <dgm:t>
        <a:bodyPr/>
        <a:lstStyle/>
        <a:p>
          <a:r>
            <a:rPr lang="en-US" b="0" dirty="0">
              <a:latin typeface="+mj-ea"/>
              <a:ea typeface="+mj-ea"/>
            </a:rPr>
            <a:t>One Plan</a:t>
          </a:r>
          <a:r>
            <a:rPr lang="zh-CN" b="0" dirty="0">
              <a:latin typeface="+mj-ea"/>
              <a:ea typeface="+mj-ea"/>
            </a:rPr>
            <a:t>通过建立从战略到执行、从供应商到客户的数字孪生与因果链，赋予了企业核心的智能决策能力。这意味着企业不再依赖经验猜测，而是能够：</a:t>
          </a:r>
          <a:endParaRPr lang="zh-CN" dirty="0">
            <a:latin typeface="+mj-ea"/>
            <a:ea typeface="+mj-ea"/>
          </a:endParaRPr>
        </a:p>
      </dgm:t>
    </dgm:pt>
    <dgm:pt modelId="{75EF8626-2E9B-4F17-9E68-25074252DCFC}" type="parTrans" cxnId="{BFCB8510-DD66-4D3E-8E08-16A7FEB09D6F}">
      <dgm:prSet/>
      <dgm:spPr/>
      <dgm:t>
        <a:bodyPr/>
        <a:lstStyle/>
        <a:p>
          <a:endParaRPr lang="zh-CN" altLang="en-US"/>
        </a:p>
      </dgm:t>
    </dgm:pt>
    <dgm:pt modelId="{416F9145-7E09-42C8-8646-7D3C4DF2A093}" type="sibTrans" cxnId="{BFCB8510-DD66-4D3E-8E08-16A7FEB09D6F}">
      <dgm:prSet/>
      <dgm:spPr/>
      <dgm:t>
        <a:bodyPr/>
        <a:lstStyle/>
        <a:p>
          <a:endParaRPr lang="zh-CN" altLang="en-US"/>
        </a:p>
      </dgm:t>
    </dgm:pt>
    <dgm:pt modelId="{F15B2547-8890-4DCB-A73B-BF571D63F1BA}">
      <dgm:prSet/>
      <dgm:spPr/>
      <dgm:t>
        <a:bodyPr/>
        <a:lstStyle/>
        <a:p>
          <a:r>
            <a:rPr lang="zh-CN" b="0" i="0" dirty="0">
              <a:latin typeface="+mj-ea"/>
              <a:ea typeface="+mj-ea"/>
            </a:rPr>
            <a:t>​</a:t>
          </a:r>
          <a:r>
            <a:rPr lang="zh-CN" b="1" i="0" dirty="0">
              <a:latin typeface="+mj-ea"/>
              <a:ea typeface="+mj-ea"/>
            </a:rPr>
            <a:t>进行预测（</a:t>
          </a:r>
          <a:r>
            <a:rPr lang="en-US" b="1" i="0" dirty="0">
              <a:latin typeface="+mj-ea"/>
              <a:ea typeface="+mj-ea"/>
            </a:rPr>
            <a:t>Predict</a:t>
          </a:r>
          <a:r>
            <a:rPr lang="zh-CN" b="1" i="0" dirty="0">
              <a:latin typeface="+mj-ea"/>
              <a:ea typeface="+mj-ea"/>
            </a:rPr>
            <a:t>）​</a:t>
          </a:r>
          <a:r>
            <a:rPr lang="zh-CN" b="0" i="0" dirty="0">
              <a:latin typeface="+mj-ea"/>
              <a:ea typeface="+mj-ea"/>
            </a:rPr>
            <a:t>​：基于数据模型前瞻性地制定计划。</a:t>
          </a:r>
          <a:endParaRPr lang="zh-CN" dirty="0">
            <a:latin typeface="+mj-ea"/>
            <a:ea typeface="+mj-ea"/>
          </a:endParaRPr>
        </a:p>
      </dgm:t>
    </dgm:pt>
    <dgm:pt modelId="{44BB9B65-27C0-47C6-85BD-50CEC002830D}" type="parTrans" cxnId="{B692082C-EC08-4075-B4CE-04C8F66E7F62}">
      <dgm:prSet/>
      <dgm:spPr/>
      <dgm:t>
        <a:bodyPr/>
        <a:lstStyle/>
        <a:p>
          <a:endParaRPr lang="zh-CN" altLang="en-US"/>
        </a:p>
      </dgm:t>
    </dgm:pt>
    <dgm:pt modelId="{17CC9815-EDB8-4716-942A-4CB98C9B8350}" type="sibTrans" cxnId="{B692082C-EC08-4075-B4CE-04C8F66E7F62}">
      <dgm:prSet/>
      <dgm:spPr/>
      <dgm:t>
        <a:bodyPr/>
        <a:lstStyle/>
        <a:p>
          <a:endParaRPr lang="zh-CN" altLang="en-US"/>
        </a:p>
      </dgm:t>
    </dgm:pt>
    <dgm:pt modelId="{18688DA1-0BAB-403A-8303-57C39FFE513A}">
      <dgm:prSet/>
      <dgm:spPr/>
      <dgm:t>
        <a:bodyPr/>
        <a:lstStyle/>
        <a:p>
          <a:r>
            <a:rPr lang="zh-CN" b="0" i="0" dirty="0">
              <a:latin typeface="+mj-ea"/>
              <a:ea typeface="+mj-ea"/>
            </a:rPr>
            <a:t>​</a:t>
          </a:r>
          <a:r>
            <a:rPr lang="zh-CN" b="1" i="0" dirty="0">
              <a:latin typeface="+mj-ea"/>
              <a:ea typeface="+mj-ea"/>
            </a:rPr>
            <a:t>追溯根因（</a:t>
          </a:r>
          <a:r>
            <a:rPr lang="en-US" b="1" i="0" dirty="0">
              <a:latin typeface="+mj-ea"/>
              <a:ea typeface="+mj-ea"/>
            </a:rPr>
            <a:t>Root Cause Analysis</a:t>
          </a:r>
          <a:r>
            <a:rPr lang="zh-CN" b="1" i="0" dirty="0">
              <a:latin typeface="+mj-ea"/>
              <a:ea typeface="+mj-ea"/>
            </a:rPr>
            <a:t>）​</a:t>
          </a:r>
          <a:r>
            <a:rPr lang="zh-CN" b="0" i="0" dirty="0">
              <a:latin typeface="+mj-ea"/>
              <a:ea typeface="+mj-ea"/>
            </a:rPr>
            <a:t>​：快速定位问题的本质。</a:t>
          </a:r>
          <a:endParaRPr lang="zh-CN" dirty="0">
            <a:latin typeface="+mj-ea"/>
            <a:ea typeface="+mj-ea"/>
          </a:endParaRPr>
        </a:p>
      </dgm:t>
    </dgm:pt>
    <dgm:pt modelId="{67BE79E2-B433-4550-BF20-3EA68F4ADD1C}" type="parTrans" cxnId="{6AF5FFD9-BCF0-4F34-9A67-D01B70D5BC3C}">
      <dgm:prSet/>
      <dgm:spPr/>
      <dgm:t>
        <a:bodyPr/>
        <a:lstStyle/>
        <a:p>
          <a:endParaRPr lang="zh-CN" altLang="en-US"/>
        </a:p>
      </dgm:t>
    </dgm:pt>
    <dgm:pt modelId="{02A099E0-C7FE-4C87-92CB-1501C8F23E84}" type="sibTrans" cxnId="{6AF5FFD9-BCF0-4F34-9A67-D01B70D5BC3C}">
      <dgm:prSet/>
      <dgm:spPr/>
      <dgm:t>
        <a:bodyPr/>
        <a:lstStyle/>
        <a:p>
          <a:endParaRPr lang="zh-CN" altLang="en-US"/>
        </a:p>
      </dgm:t>
    </dgm:pt>
    <dgm:pt modelId="{02B0525B-A19F-4FDC-92EB-A5E0D4E99EE9}">
      <dgm:prSet/>
      <dgm:spPr/>
      <dgm:t>
        <a:bodyPr/>
        <a:lstStyle/>
        <a:p>
          <a:r>
            <a:rPr lang="zh-CN" b="0" i="0" dirty="0">
              <a:latin typeface="+mj-ea"/>
              <a:ea typeface="+mj-ea"/>
            </a:rPr>
            <a:t>​</a:t>
          </a:r>
          <a:r>
            <a:rPr lang="zh-CN" b="1" i="0" dirty="0">
              <a:latin typeface="+mj-ea"/>
              <a:ea typeface="+mj-ea"/>
            </a:rPr>
            <a:t>权衡优化（</a:t>
          </a:r>
          <a:r>
            <a:rPr lang="en-US" b="1" i="0" dirty="0">
              <a:latin typeface="+mj-ea"/>
              <a:ea typeface="+mj-ea"/>
            </a:rPr>
            <a:t>Trade-off</a:t>
          </a:r>
          <a:r>
            <a:rPr lang="zh-CN" b="1" i="0" dirty="0">
              <a:latin typeface="+mj-ea"/>
              <a:ea typeface="+mj-ea"/>
            </a:rPr>
            <a:t>）​</a:t>
          </a:r>
          <a:r>
            <a:rPr lang="zh-CN" b="0" i="0" dirty="0">
              <a:latin typeface="+mj-ea"/>
              <a:ea typeface="+mj-ea"/>
            </a:rPr>
            <a:t>​：在多目标冲突中找到全局最优解。</a:t>
          </a:r>
          <a:endParaRPr lang="zh-CN" dirty="0">
            <a:latin typeface="+mj-ea"/>
            <a:ea typeface="+mj-ea"/>
          </a:endParaRPr>
        </a:p>
      </dgm:t>
    </dgm:pt>
    <dgm:pt modelId="{4B2C2AD5-7B2A-4233-8259-8BB185E078C3}" type="parTrans" cxnId="{EE1C987D-BAD3-4E63-8BF4-07B6E9558442}">
      <dgm:prSet/>
      <dgm:spPr/>
      <dgm:t>
        <a:bodyPr/>
        <a:lstStyle/>
        <a:p>
          <a:endParaRPr lang="zh-CN" altLang="en-US"/>
        </a:p>
      </dgm:t>
    </dgm:pt>
    <dgm:pt modelId="{2D48E5B2-6E66-4C23-9137-53A649A62ADF}" type="sibTrans" cxnId="{EE1C987D-BAD3-4E63-8BF4-07B6E9558442}">
      <dgm:prSet/>
      <dgm:spPr/>
      <dgm:t>
        <a:bodyPr/>
        <a:lstStyle/>
        <a:p>
          <a:endParaRPr lang="zh-CN" altLang="en-US"/>
        </a:p>
      </dgm:t>
    </dgm:pt>
    <dgm:pt modelId="{B1FAF863-F666-461B-8C6A-1B58F3BF6578}">
      <dgm:prSet/>
      <dgm:spPr/>
      <dgm:t>
        <a:bodyPr/>
        <a:lstStyle/>
        <a:p>
          <a:r>
            <a:rPr lang="zh-CN" b="0" i="0" dirty="0">
              <a:latin typeface="+mj-ea"/>
              <a:ea typeface="+mj-ea"/>
            </a:rPr>
            <a:t>​</a:t>
          </a:r>
          <a:r>
            <a:rPr lang="zh-CN" b="1" i="0" dirty="0">
              <a:latin typeface="+mj-ea"/>
              <a:ea typeface="+mj-ea"/>
            </a:rPr>
            <a:t>动态学习改进</a:t>
          </a:r>
          <a:r>
            <a:rPr lang="zh-CN" b="0" i="0" dirty="0">
              <a:latin typeface="+mj-ea"/>
              <a:ea typeface="+mj-ea"/>
            </a:rPr>
            <a:t>​：持续优化运营。</a:t>
          </a:r>
          <a:endParaRPr lang="zh-CN" dirty="0">
            <a:latin typeface="+mj-ea"/>
            <a:ea typeface="+mj-ea"/>
          </a:endParaRPr>
        </a:p>
      </dgm:t>
    </dgm:pt>
    <dgm:pt modelId="{58AB1C04-1521-416B-AD98-C7E58670622B}" type="parTrans" cxnId="{3B0815FB-F07E-4A2A-BBF3-F03F2672849F}">
      <dgm:prSet/>
      <dgm:spPr/>
      <dgm:t>
        <a:bodyPr/>
        <a:lstStyle/>
        <a:p>
          <a:endParaRPr lang="zh-CN" altLang="en-US"/>
        </a:p>
      </dgm:t>
    </dgm:pt>
    <dgm:pt modelId="{D6C2F72F-BFCE-4B35-801A-962F5F3C0284}" type="sibTrans" cxnId="{3B0815FB-F07E-4A2A-BBF3-F03F2672849F}">
      <dgm:prSet/>
      <dgm:spPr/>
      <dgm:t>
        <a:bodyPr/>
        <a:lstStyle/>
        <a:p>
          <a:endParaRPr lang="zh-CN" altLang="en-US"/>
        </a:p>
      </dgm:t>
    </dgm:pt>
    <dgm:pt modelId="{FEAC1322-3F54-43D2-A5CF-E1FA874A0476}">
      <dgm:prSet/>
      <dgm:spPr/>
      <dgm:t>
        <a:bodyPr/>
        <a:lstStyle/>
        <a:p>
          <a:r>
            <a:rPr lang="zh-CN" b="1" dirty="0">
              <a:latin typeface="+mj-ea"/>
              <a:ea typeface="+mj-ea"/>
            </a:rPr>
            <a:t>（此时，</a:t>
          </a:r>
          <a:r>
            <a:rPr lang="en-US" b="1" dirty="0">
              <a:latin typeface="+mj-ea"/>
              <a:ea typeface="+mj-ea"/>
            </a:rPr>
            <a:t>One Plan</a:t>
          </a:r>
          <a:r>
            <a:rPr lang="zh-CN" b="1" dirty="0">
              <a:latin typeface="+mj-ea"/>
              <a:ea typeface="+mj-ea"/>
            </a:rPr>
            <a:t>是强大的，但其价值仍隐藏在复杂的算法和数据模型中。）​</a:t>
          </a:r>
          <a:r>
            <a:rPr lang="zh-CN" b="0" dirty="0">
              <a:latin typeface="+mj-ea"/>
              <a:ea typeface="+mj-ea"/>
            </a:rPr>
            <a:t>​</a:t>
          </a:r>
          <a:endParaRPr lang="zh-CN" dirty="0">
            <a:latin typeface="+mj-ea"/>
            <a:ea typeface="+mj-ea"/>
          </a:endParaRPr>
        </a:p>
      </dgm:t>
    </dgm:pt>
    <dgm:pt modelId="{1EDC50D7-F348-42FA-AC2F-07A1B6A1817F}" type="parTrans" cxnId="{63F863F2-4FBE-4A12-BF06-ACCBBAECE3F3}">
      <dgm:prSet/>
      <dgm:spPr/>
      <dgm:t>
        <a:bodyPr/>
        <a:lstStyle/>
        <a:p>
          <a:endParaRPr lang="zh-CN" altLang="en-US"/>
        </a:p>
      </dgm:t>
    </dgm:pt>
    <dgm:pt modelId="{08AA39DD-780D-4438-BC57-C3EA6B0027F2}" type="sibTrans" cxnId="{63F863F2-4FBE-4A12-BF06-ACCBBAECE3F3}">
      <dgm:prSet/>
      <dgm:spPr/>
      <dgm:t>
        <a:bodyPr/>
        <a:lstStyle/>
        <a:p>
          <a:endParaRPr lang="zh-CN" altLang="en-US"/>
        </a:p>
      </dgm:t>
    </dgm:pt>
    <dgm:pt modelId="{1333513F-FAC9-446F-A941-D4C2ABC93224}">
      <dgm:prSet custT="1"/>
      <dgm:spPr/>
      <dgm:t>
        <a:bodyPr/>
        <a:lstStyle/>
        <a:p>
          <a:r>
            <a:rPr lang="zh-CN" sz="1400" b="0" dirty="0">
              <a:latin typeface="+mj-ea"/>
              <a:ea typeface="+mj-ea"/>
            </a:rPr>
            <a:t>​</a:t>
          </a:r>
          <a:r>
            <a:rPr lang="en-US" sz="1400" b="1" dirty="0">
              <a:latin typeface="+mj-ea"/>
              <a:ea typeface="+mj-ea"/>
            </a:rPr>
            <a:t>Control Tower</a:t>
          </a:r>
          <a:r>
            <a:rPr lang="zh-CN" sz="1400" b="1" dirty="0">
              <a:latin typeface="+mj-ea"/>
              <a:ea typeface="+mj-ea"/>
            </a:rPr>
            <a:t>：不可或缺的“全局指挥中心”​</a:t>
          </a:r>
          <a:r>
            <a:rPr lang="zh-CN" sz="1400" b="0" dirty="0">
              <a:latin typeface="+mj-ea"/>
              <a:ea typeface="+mj-ea"/>
            </a:rPr>
            <a:t>​</a:t>
          </a:r>
          <a:endParaRPr lang="zh-CN" sz="1400" dirty="0">
            <a:latin typeface="+mj-ea"/>
            <a:ea typeface="+mj-ea"/>
          </a:endParaRPr>
        </a:p>
      </dgm:t>
    </dgm:pt>
    <dgm:pt modelId="{24BC4F85-0F6E-4E76-B700-59C0256B0298}" type="parTrans" cxnId="{5608C40F-E121-4272-92F5-90210B9D8E36}">
      <dgm:prSet/>
      <dgm:spPr/>
      <dgm:t>
        <a:bodyPr/>
        <a:lstStyle/>
        <a:p>
          <a:endParaRPr lang="zh-CN" altLang="en-US"/>
        </a:p>
      </dgm:t>
    </dgm:pt>
    <dgm:pt modelId="{4D960EF4-44D6-4B53-8FA6-B1FA30832C5A}" type="sibTrans" cxnId="{5608C40F-E121-4272-92F5-90210B9D8E36}">
      <dgm:prSet/>
      <dgm:spPr/>
      <dgm:t>
        <a:bodyPr/>
        <a:lstStyle/>
        <a:p>
          <a:endParaRPr lang="zh-CN" altLang="en-US"/>
        </a:p>
      </dgm:t>
    </dgm:pt>
    <dgm:pt modelId="{6D35C5E7-554A-4081-9EDE-DDBE6EA0BA61}">
      <dgm:prSet/>
      <dgm:spPr/>
      <dgm:t>
        <a:bodyPr/>
        <a:lstStyle/>
        <a:p>
          <a:r>
            <a:rPr lang="zh-CN" b="0" dirty="0">
              <a:latin typeface="+mj-ea"/>
              <a:ea typeface="+mj-ea"/>
            </a:rPr>
            <a:t>然而，一个再强大的“大脑”也需要与“躯干”和“四肢”高效协同。</a:t>
          </a:r>
          <a:r>
            <a:rPr lang="en-US" b="0" dirty="0">
              <a:latin typeface="+mj-ea"/>
              <a:ea typeface="+mj-ea"/>
            </a:rPr>
            <a:t>Control Tower</a:t>
          </a:r>
          <a:r>
            <a:rPr lang="zh-CN" b="0" dirty="0">
              <a:latin typeface="+mj-ea"/>
              <a:ea typeface="+mj-ea"/>
            </a:rPr>
            <a:t>正是将这个“智能大脑”的输出，转化为整个组织可理解、可执行的统一语言和指挥指令。它的关键价值在于：</a:t>
          </a:r>
          <a:endParaRPr lang="zh-CN" dirty="0">
            <a:latin typeface="+mj-ea"/>
            <a:ea typeface="+mj-ea"/>
          </a:endParaRPr>
        </a:p>
      </dgm:t>
    </dgm:pt>
    <dgm:pt modelId="{33331E02-AD6E-48C9-8329-C1DA7D8C8DCB}" type="parTrans" cxnId="{818C6DB7-C16E-4BF1-800D-7B8FF2116BDD}">
      <dgm:prSet/>
      <dgm:spPr/>
      <dgm:t>
        <a:bodyPr/>
        <a:lstStyle/>
        <a:p>
          <a:endParaRPr lang="zh-CN" altLang="en-US"/>
        </a:p>
      </dgm:t>
    </dgm:pt>
    <dgm:pt modelId="{463CF65D-24ED-49A7-9512-B6C27C3BEE1D}" type="sibTrans" cxnId="{818C6DB7-C16E-4BF1-800D-7B8FF2116BDD}">
      <dgm:prSet/>
      <dgm:spPr/>
      <dgm:t>
        <a:bodyPr/>
        <a:lstStyle/>
        <a:p>
          <a:endParaRPr lang="zh-CN" altLang="en-US"/>
        </a:p>
      </dgm:t>
    </dgm:pt>
    <dgm:pt modelId="{81415B03-02E3-4041-A0DB-1732E83FD359}">
      <dgm:prSet/>
      <dgm:spPr/>
      <dgm:t>
        <a:bodyPr/>
        <a:lstStyle/>
        <a:p>
          <a:r>
            <a:rPr lang="zh-CN" b="0" i="0" dirty="0">
              <a:latin typeface="+mj-ea"/>
              <a:ea typeface="+mj-ea"/>
            </a:rPr>
            <a:t>​</a:t>
          </a:r>
          <a:r>
            <a:rPr lang="zh-CN" b="1" i="0" dirty="0">
              <a:latin typeface="+mj-ea"/>
              <a:ea typeface="+mj-ea"/>
            </a:rPr>
            <a:t>​</a:t>
          </a:r>
          <a:r>
            <a:rPr lang="en-US" b="1" i="0" dirty="0">
              <a:latin typeface="+mj-ea"/>
              <a:ea typeface="+mj-ea"/>
            </a:rPr>
            <a:t>【</a:t>
          </a:r>
          <a:r>
            <a:rPr lang="zh-CN" b="1" i="0" dirty="0">
              <a:latin typeface="+mj-ea"/>
              <a:ea typeface="+mj-ea"/>
            </a:rPr>
            <a:t>简化复杂</a:t>
          </a:r>
          <a:r>
            <a:rPr lang="en-US" b="1" i="0" dirty="0">
              <a:latin typeface="+mj-ea"/>
              <a:ea typeface="+mj-ea"/>
            </a:rPr>
            <a:t>】​</a:t>
          </a:r>
          <a:r>
            <a:rPr lang="zh-CN" b="0" i="0" dirty="0">
              <a:latin typeface="+mj-ea"/>
              <a:ea typeface="+mj-ea"/>
            </a:rPr>
            <a:t>​：将</a:t>
          </a:r>
          <a:r>
            <a:rPr lang="en-US" b="0" i="0" dirty="0">
              <a:latin typeface="+mj-ea"/>
              <a:ea typeface="+mj-ea"/>
            </a:rPr>
            <a:t>One Plan</a:t>
          </a:r>
          <a:r>
            <a:rPr lang="zh-CN" b="0" i="0" dirty="0">
              <a:latin typeface="+mj-ea"/>
              <a:ea typeface="+mj-ea"/>
            </a:rPr>
            <a:t>产生的复杂算法结果，转化为直观的仪表盘和可视化报告，让每位决策者都能在</a:t>
          </a:r>
          <a:r>
            <a:rPr lang="en-US" b="0" i="0" dirty="0">
              <a:latin typeface="+mj-ea"/>
              <a:ea typeface="+mj-ea"/>
            </a:rPr>
            <a:t>5</a:t>
          </a:r>
          <a:r>
            <a:rPr lang="zh-CN" b="0" i="0" dirty="0">
              <a:latin typeface="+mj-ea"/>
              <a:ea typeface="+mj-ea"/>
            </a:rPr>
            <a:t>秒内掌握全局态势，从而</a:t>
          </a:r>
          <a:r>
            <a:rPr lang="zh-CN" b="1" i="0" dirty="0">
              <a:latin typeface="+mj-ea"/>
              <a:ea typeface="+mj-ea"/>
            </a:rPr>
            <a:t>将智能</a:t>
          </a:r>
          <a:r>
            <a:rPr lang="en-US" b="1" i="0" dirty="0">
              <a:latin typeface="+mj-ea"/>
              <a:ea typeface="+mj-ea"/>
            </a:rPr>
            <a:t>BI</a:t>
          </a:r>
          <a:r>
            <a:rPr lang="zh-CN" b="1" i="0" dirty="0">
              <a:latin typeface="+mj-ea"/>
              <a:ea typeface="+mj-ea"/>
            </a:rPr>
            <a:t>分析的价值真正释放给业务人员</a:t>
          </a:r>
          <a:r>
            <a:rPr lang="zh-CN" b="0" i="0" dirty="0">
              <a:latin typeface="+mj-ea"/>
              <a:ea typeface="+mj-ea"/>
            </a:rPr>
            <a:t>。</a:t>
          </a:r>
          <a:endParaRPr lang="zh-CN" dirty="0">
            <a:latin typeface="+mj-ea"/>
            <a:ea typeface="+mj-ea"/>
          </a:endParaRPr>
        </a:p>
      </dgm:t>
    </dgm:pt>
    <dgm:pt modelId="{9C1A84C5-D9FD-40B9-B412-87894EFC5B3F}" type="parTrans" cxnId="{72A85760-4D3A-4F45-8943-43ADFE432440}">
      <dgm:prSet/>
      <dgm:spPr/>
      <dgm:t>
        <a:bodyPr/>
        <a:lstStyle/>
        <a:p>
          <a:endParaRPr lang="zh-CN" altLang="en-US"/>
        </a:p>
      </dgm:t>
    </dgm:pt>
    <dgm:pt modelId="{83EBD0D5-4AD0-450B-B50C-F4063048B045}" type="sibTrans" cxnId="{72A85760-4D3A-4F45-8943-43ADFE432440}">
      <dgm:prSet/>
      <dgm:spPr/>
      <dgm:t>
        <a:bodyPr/>
        <a:lstStyle/>
        <a:p>
          <a:endParaRPr lang="zh-CN" altLang="en-US"/>
        </a:p>
      </dgm:t>
    </dgm:pt>
    <dgm:pt modelId="{C4746959-5A53-4B81-B6FA-9A52324DE52E}">
      <dgm:prSet/>
      <dgm:spPr/>
      <dgm:t>
        <a:bodyPr/>
        <a:lstStyle/>
        <a:p>
          <a:r>
            <a:rPr lang="zh-CN" b="0" i="0" dirty="0">
              <a:latin typeface="+mj-ea"/>
              <a:ea typeface="+mj-ea"/>
            </a:rPr>
            <a:t>​</a:t>
          </a:r>
          <a:r>
            <a:rPr lang="zh-CN" b="1" i="0" dirty="0">
              <a:latin typeface="+mj-ea"/>
              <a:ea typeface="+mj-ea"/>
            </a:rPr>
            <a:t>​</a:t>
          </a:r>
          <a:r>
            <a:rPr lang="en-US" b="1" i="0" dirty="0">
              <a:latin typeface="+mj-ea"/>
              <a:ea typeface="+mj-ea"/>
            </a:rPr>
            <a:t>【</a:t>
          </a:r>
          <a:r>
            <a:rPr lang="zh-CN" b="1" i="0" dirty="0">
              <a:latin typeface="+mj-ea"/>
              <a:ea typeface="+mj-ea"/>
            </a:rPr>
            <a:t>实时监控与预警</a:t>
          </a:r>
          <a:r>
            <a:rPr lang="en-US" b="1" i="0" dirty="0">
              <a:latin typeface="+mj-ea"/>
              <a:ea typeface="+mj-ea"/>
            </a:rPr>
            <a:t>】​</a:t>
          </a:r>
          <a:r>
            <a:rPr lang="zh-CN" b="0" i="0" dirty="0">
              <a:latin typeface="+mj-ea"/>
              <a:ea typeface="+mj-ea"/>
            </a:rPr>
            <a:t>​：充当组织的“神经中枢”，</a:t>
          </a:r>
          <a:r>
            <a:rPr lang="en-US" b="0" i="0" dirty="0">
              <a:latin typeface="+mj-ea"/>
              <a:ea typeface="+mj-ea"/>
            </a:rPr>
            <a:t>7x24</a:t>
          </a:r>
          <a:r>
            <a:rPr lang="zh-CN" b="0" i="0" dirty="0">
              <a:latin typeface="+mj-ea"/>
              <a:ea typeface="+mj-ea"/>
            </a:rPr>
            <a:t>小时监控运营状态，在偏差发生的瞬间发出预警，确保</a:t>
          </a:r>
          <a:r>
            <a:rPr lang="en-US" b="0" i="0" dirty="0">
              <a:latin typeface="+mj-ea"/>
              <a:ea typeface="+mj-ea"/>
            </a:rPr>
            <a:t>One Plan</a:t>
          </a:r>
          <a:r>
            <a:rPr lang="zh-CN" b="0" i="0" dirty="0">
              <a:latin typeface="+mj-ea"/>
              <a:ea typeface="+mj-ea"/>
            </a:rPr>
            <a:t>的规划不会在执行中失控。</a:t>
          </a:r>
          <a:endParaRPr lang="zh-CN" dirty="0">
            <a:latin typeface="+mj-ea"/>
            <a:ea typeface="+mj-ea"/>
          </a:endParaRPr>
        </a:p>
      </dgm:t>
    </dgm:pt>
    <dgm:pt modelId="{00D5A28C-3CA6-4BC7-8F9A-F1CC6139C486}" type="parTrans" cxnId="{A0D4C993-63CC-4CE4-9006-FF08C3CD286D}">
      <dgm:prSet/>
      <dgm:spPr/>
      <dgm:t>
        <a:bodyPr/>
        <a:lstStyle/>
        <a:p>
          <a:endParaRPr lang="zh-CN" altLang="en-US"/>
        </a:p>
      </dgm:t>
    </dgm:pt>
    <dgm:pt modelId="{802309CB-2236-468C-AB10-1A5A4CA90521}" type="sibTrans" cxnId="{A0D4C993-63CC-4CE4-9006-FF08C3CD286D}">
      <dgm:prSet/>
      <dgm:spPr/>
      <dgm:t>
        <a:bodyPr/>
        <a:lstStyle/>
        <a:p>
          <a:endParaRPr lang="zh-CN" altLang="en-US"/>
        </a:p>
      </dgm:t>
    </dgm:pt>
    <dgm:pt modelId="{E33A397B-1638-4151-AC88-B5F12FADF134}">
      <dgm:prSet/>
      <dgm:spPr/>
      <dgm:t>
        <a:bodyPr/>
        <a:lstStyle/>
        <a:p>
          <a:r>
            <a:rPr lang="zh-CN" b="0" i="0" dirty="0">
              <a:latin typeface="+mj-ea"/>
              <a:ea typeface="+mj-ea"/>
            </a:rPr>
            <a:t>​</a:t>
          </a:r>
          <a:r>
            <a:rPr lang="zh-CN" b="1" i="0" dirty="0">
              <a:latin typeface="+mj-ea"/>
              <a:ea typeface="+mj-ea"/>
            </a:rPr>
            <a:t>​</a:t>
          </a:r>
          <a:r>
            <a:rPr lang="en-US" b="1" i="0" dirty="0">
              <a:latin typeface="+mj-ea"/>
              <a:ea typeface="+mj-ea"/>
            </a:rPr>
            <a:t>【</a:t>
          </a:r>
          <a:r>
            <a:rPr lang="zh-CN" b="1" i="0" dirty="0">
              <a:latin typeface="+mj-ea"/>
              <a:ea typeface="+mj-ea"/>
            </a:rPr>
            <a:t>支持模拟决策</a:t>
          </a:r>
          <a:r>
            <a:rPr lang="en-US" b="1" i="0" dirty="0">
              <a:latin typeface="+mj-ea"/>
              <a:ea typeface="+mj-ea"/>
            </a:rPr>
            <a:t>】​</a:t>
          </a:r>
          <a:r>
            <a:rPr lang="zh-CN" b="0" i="0" dirty="0">
              <a:latin typeface="+mj-ea"/>
              <a:ea typeface="+mj-ea"/>
            </a:rPr>
            <a:t>​：提供“</a:t>
          </a:r>
          <a:r>
            <a:rPr lang="en-US" b="0" i="0" dirty="0">
              <a:latin typeface="+mj-ea"/>
              <a:ea typeface="+mj-ea"/>
            </a:rPr>
            <a:t>What-if”</a:t>
          </a:r>
          <a:r>
            <a:rPr lang="zh-CN" b="0" i="0" dirty="0">
              <a:latin typeface="+mj-ea"/>
              <a:ea typeface="+mj-ea"/>
            </a:rPr>
            <a:t>沙盘推演界面，让管理者能够直观地测试不同决策方案的结果，​</a:t>
          </a:r>
          <a:r>
            <a:rPr lang="zh-CN" b="1" i="0" dirty="0">
              <a:latin typeface="+mj-ea"/>
              <a:ea typeface="+mj-ea"/>
            </a:rPr>
            <a:t>将</a:t>
          </a:r>
          <a:r>
            <a:rPr lang="en-US" b="1" i="0" dirty="0">
              <a:latin typeface="+mj-ea"/>
              <a:ea typeface="+mj-ea"/>
            </a:rPr>
            <a:t>One Plan</a:t>
          </a:r>
          <a:r>
            <a:rPr lang="zh-CN" b="1" i="0" dirty="0">
              <a:latin typeface="+mj-ea"/>
              <a:ea typeface="+mj-ea"/>
            </a:rPr>
            <a:t>的权衡分析能力（</a:t>
          </a:r>
          <a:r>
            <a:rPr lang="en-US" b="1" i="0" dirty="0">
              <a:latin typeface="+mj-ea"/>
              <a:ea typeface="+mj-ea"/>
            </a:rPr>
            <a:t>Trade-off</a:t>
          </a:r>
          <a:r>
            <a:rPr lang="zh-CN" b="1" i="0" dirty="0">
              <a:latin typeface="+mj-ea"/>
              <a:ea typeface="+mj-ea"/>
            </a:rPr>
            <a:t>）转化为具象的、可信的业务对话</a:t>
          </a:r>
          <a:r>
            <a:rPr lang="zh-CN" b="0" i="0" dirty="0">
              <a:latin typeface="+mj-ea"/>
              <a:ea typeface="+mj-ea"/>
            </a:rPr>
            <a:t>。</a:t>
          </a:r>
          <a:endParaRPr lang="zh-CN" dirty="0">
            <a:latin typeface="+mj-ea"/>
            <a:ea typeface="+mj-ea"/>
          </a:endParaRPr>
        </a:p>
      </dgm:t>
    </dgm:pt>
    <dgm:pt modelId="{BA49EBBC-FFDD-46B5-AAE1-9582D564D348}" type="parTrans" cxnId="{1138A739-0997-4CA9-B4F0-FD07AA9392EA}">
      <dgm:prSet/>
      <dgm:spPr/>
      <dgm:t>
        <a:bodyPr/>
        <a:lstStyle/>
        <a:p>
          <a:endParaRPr lang="zh-CN" altLang="en-US"/>
        </a:p>
      </dgm:t>
    </dgm:pt>
    <dgm:pt modelId="{C9E0E6BD-5D9F-4009-A831-BF0D99FA2FD1}" type="sibTrans" cxnId="{1138A739-0997-4CA9-B4F0-FD07AA9392EA}">
      <dgm:prSet/>
      <dgm:spPr/>
      <dgm:t>
        <a:bodyPr/>
        <a:lstStyle/>
        <a:p>
          <a:endParaRPr lang="zh-CN" altLang="en-US"/>
        </a:p>
      </dgm:t>
    </dgm:pt>
    <dgm:pt modelId="{D5D9CB2C-C974-49AE-A099-1532502785DF}">
      <dgm:prSet/>
      <dgm:spPr/>
      <dgm:t>
        <a:bodyPr/>
        <a:lstStyle/>
        <a:p>
          <a:r>
            <a:rPr lang="zh-CN" b="0" i="0" dirty="0">
              <a:latin typeface="+mj-ea"/>
              <a:ea typeface="+mj-ea"/>
            </a:rPr>
            <a:t>​</a:t>
          </a:r>
          <a:r>
            <a:rPr lang="zh-CN" b="1" i="0" dirty="0">
              <a:latin typeface="+mj-ea"/>
              <a:ea typeface="+mj-ea"/>
            </a:rPr>
            <a:t>​</a:t>
          </a:r>
          <a:r>
            <a:rPr lang="en-US" b="1" i="0" dirty="0">
              <a:latin typeface="+mj-ea"/>
              <a:ea typeface="+mj-ea"/>
            </a:rPr>
            <a:t>【</a:t>
          </a:r>
          <a:r>
            <a:rPr lang="zh-CN" b="1" i="0" dirty="0">
              <a:latin typeface="+mj-ea"/>
              <a:ea typeface="+mj-ea"/>
            </a:rPr>
            <a:t>促进跨职能协同</a:t>
          </a:r>
          <a:r>
            <a:rPr lang="en-US" b="1" i="0" dirty="0">
              <a:latin typeface="+mj-ea"/>
              <a:ea typeface="+mj-ea"/>
            </a:rPr>
            <a:t>】​</a:t>
          </a:r>
          <a:r>
            <a:rPr lang="zh-CN" b="0" i="0" dirty="0">
              <a:latin typeface="+mj-ea"/>
              <a:ea typeface="+mj-ea"/>
            </a:rPr>
            <a:t>​：作为“单一事实来源”，为销售、生产、采购、财务等所有部门提供同一套数据和视图，​</a:t>
          </a:r>
          <a:r>
            <a:rPr lang="zh-CN" b="1" i="0" dirty="0">
              <a:latin typeface="+mj-ea"/>
              <a:ea typeface="+mj-ea"/>
            </a:rPr>
            <a:t>彻底打破竖井，让协同建立在事实而非争论之上</a:t>
          </a:r>
          <a:r>
            <a:rPr lang="zh-CN" b="0" i="0" dirty="0">
              <a:latin typeface="+mj-ea"/>
              <a:ea typeface="+mj-ea"/>
            </a:rPr>
            <a:t>。</a:t>
          </a:r>
          <a:endParaRPr lang="zh-CN" dirty="0">
            <a:latin typeface="+mj-ea"/>
            <a:ea typeface="+mj-ea"/>
          </a:endParaRPr>
        </a:p>
      </dgm:t>
    </dgm:pt>
    <dgm:pt modelId="{1A1AADA8-87C3-40B5-B5C0-FC482124FDF3}" type="parTrans" cxnId="{2AE73C50-6158-4D88-8A5C-5EBF0A86E07B}">
      <dgm:prSet/>
      <dgm:spPr/>
      <dgm:t>
        <a:bodyPr/>
        <a:lstStyle/>
        <a:p>
          <a:endParaRPr lang="zh-CN" altLang="en-US"/>
        </a:p>
      </dgm:t>
    </dgm:pt>
    <dgm:pt modelId="{C1644AA8-30F6-4684-99EA-94B489511224}" type="sibTrans" cxnId="{2AE73C50-6158-4D88-8A5C-5EBF0A86E07B}">
      <dgm:prSet/>
      <dgm:spPr/>
      <dgm:t>
        <a:bodyPr/>
        <a:lstStyle/>
        <a:p>
          <a:endParaRPr lang="zh-CN" altLang="en-US"/>
        </a:p>
      </dgm:t>
    </dgm:pt>
    <dgm:pt modelId="{F1322A1E-93C5-43A2-B319-C2C6565ADB17}" type="pres">
      <dgm:prSet presAssocID="{82198F98-ED8E-4DBB-90C1-4C7AD7B39D6D}" presName="Name0" presStyleCnt="0">
        <dgm:presLayoutVars>
          <dgm:dir/>
          <dgm:animLvl val="lvl"/>
          <dgm:resizeHandles val="exact"/>
        </dgm:presLayoutVars>
      </dgm:prSet>
      <dgm:spPr/>
    </dgm:pt>
    <dgm:pt modelId="{F1A41643-23BC-4B0C-B7CB-E3A7CF618FDE}" type="pres">
      <dgm:prSet presAssocID="{67541E00-8DD4-4110-A1CD-E47CFD4FBC2D}" presName="composite" presStyleCnt="0"/>
      <dgm:spPr/>
    </dgm:pt>
    <dgm:pt modelId="{E0A75D45-B29A-43E6-A5A9-0EA68FE017DF}" type="pres">
      <dgm:prSet presAssocID="{67541E00-8DD4-4110-A1CD-E47CFD4FBC2D}" presName="parTx" presStyleLbl="alignNode1" presStyleIdx="0" presStyleCnt="2">
        <dgm:presLayoutVars>
          <dgm:chMax val="0"/>
          <dgm:chPref val="0"/>
          <dgm:bulletEnabled val="1"/>
        </dgm:presLayoutVars>
      </dgm:prSet>
      <dgm:spPr/>
    </dgm:pt>
    <dgm:pt modelId="{2E7C871B-0DF9-4CF1-9DDB-0361200040F7}" type="pres">
      <dgm:prSet presAssocID="{67541E00-8DD4-4110-A1CD-E47CFD4FBC2D}" presName="desTx" presStyleLbl="alignAccFollowNode1" presStyleIdx="0" presStyleCnt="2">
        <dgm:presLayoutVars>
          <dgm:bulletEnabled val="1"/>
        </dgm:presLayoutVars>
      </dgm:prSet>
      <dgm:spPr/>
    </dgm:pt>
    <dgm:pt modelId="{26A5E49B-077F-4E4C-A47E-D85883753C68}" type="pres">
      <dgm:prSet presAssocID="{0E68DB6C-5C73-4F2A-B75C-E873093006C2}" presName="space" presStyleCnt="0"/>
      <dgm:spPr/>
    </dgm:pt>
    <dgm:pt modelId="{15EA545A-1CCC-4426-BD2A-C84F9E7E4DBE}" type="pres">
      <dgm:prSet presAssocID="{1333513F-FAC9-446F-A941-D4C2ABC93224}" presName="composite" presStyleCnt="0"/>
      <dgm:spPr/>
    </dgm:pt>
    <dgm:pt modelId="{B18CC9F5-43CA-42C3-BB72-8C6F94CDBEB1}" type="pres">
      <dgm:prSet presAssocID="{1333513F-FAC9-446F-A941-D4C2ABC93224}" presName="parTx" presStyleLbl="alignNode1" presStyleIdx="1" presStyleCnt="2">
        <dgm:presLayoutVars>
          <dgm:chMax val="0"/>
          <dgm:chPref val="0"/>
          <dgm:bulletEnabled val="1"/>
        </dgm:presLayoutVars>
      </dgm:prSet>
      <dgm:spPr/>
    </dgm:pt>
    <dgm:pt modelId="{DA19CCDA-25CA-4FB5-AA04-86AB58B06865}" type="pres">
      <dgm:prSet presAssocID="{1333513F-FAC9-446F-A941-D4C2ABC93224}" presName="desTx" presStyleLbl="alignAccFollowNode1" presStyleIdx="1" presStyleCnt="2">
        <dgm:presLayoutVars>
          <dgm:bulletEnabled val="1"/>
        </dgm:presLayoutVars>
      </dgm:prSet>
      <dgm:spPr/>
    </dgm:pt>
  </dgm:ptLst>
  <dgm:cxnLst>
    <dgm:cxn modelId="{68144B0D-7172-4AE6-9BDD-CF15E21EBA9D}" type="presOf" srcId="{E33A397B-1638-4151-AC88-B5F12FADF134}" destId="{DA19CCDA-25CA-4FB5-AA04-86AB58B06865}" srcOrd="0" destOrd="3" presId="urn:microsoft.com/office/officeart/2005/8/layout/hList1"/>
    <dgm:cxn modelId="{5608C40F-E121-4272-92F5-90210B9D8E36}" srcId="{82198F98-ED8E-4DBB-90C1-4C7AD7B39D6D}" destId="{1333513F-FAC9-446F-A941-D4C2ABC93224}" srcOrd="1" destOrd="0" parTransId="{24BC4F85-0F6E-4E76-B700-59C0256B0298}" sibTransId="{4D960EF4-44D6-4B53-8FA6-B1FA30832C5A}"/>
    <dgm:cxn modelId="{BFCB8510-DD66-4D3E-8E08-16A7FEB09D6F}" srcId="{67541E00-8DD4-4110-A1CD-E47CFD4FBC2D}" destId="{FBAB2A16-CB95-4AD5-826F-53CC1CFF9C38}" srcOrd="0" destOrd="0" parTransId="{75EF8626-2E9B-4F17-9E68-25074252DCFC}" sibTransId="{416F9145-7E09-42C8-8646-7D3C4DF2A093}"/>
    <dgm:cxn modelId="{AB4DF016-76A2-45E3-B541-2B79D017A835}" type="presOf" srcId="{D5D9CB2C-C974-49AE-A099-1532502785DF}" destId="{DA19CCDA-25CA-4FB5-AA04-86AB58B06865}" srcOrd="0" destOrd="4" presId="urn:microsoft.com/office/officeart/2005/8/layout/hList1"/>
    <dgm:cxn modelId="{201B2B17-7D53-4E62-969B-88361C0761D8}" type="presOf" srcId="{18688DA1-0BAB-403A-8303-57C39FFE513A}" destId="{2E7C871B-0DF9-4CF1-9DDB-0361200040F7}" srcOrd="0" destOrd="2" presId="urn:microsoft.com/office/officeart/2005/8/layout/hList1"/>
    <dgm:cxn modelId="{30C07318-522B-4211-A09C-B9B86948268E}" type="presOf" srcId="{6D35C5E7-554A-4081-9EDE-DDBE6EA0BA61}" destId="{DA19CCDA-25CA-4FB5-AA04-86AB58B06865}" srcOrd="0" destOrd="0" presId="urn:microsoft.com/office/officeart/2005/8/layout/hList1"/>
    <dgm:cxn modelId="{72E9FD18-E52C-4822-9AEB-59537AC7171A}" type="presOf" srcId="{1333513F-FAC9-446F-A941-D4C2ABC93224}" destId="{B18CC9F5-43CA-42C3-BB72-8C6F94CDBEB1}" srcOrd="0" destOrd="0" presId="urn:microsoft.com/office/officeart/2005/8/layout/hList1"/>
    <dgm:cxn modelId="{1E43B91B-0E47-4723-9AB3-6D76EC9F800F}" type="presOf" srcId="{FBAB2A16-CB95-4AD5-826F-53CC1CFF9C38}" destId="{2E7C871B-0DF9-4CF1-9DDB-0361200040F7}" srcOrd="0" destOrd="0" presId="urn:microsoft.com/office/officeart/2005/8/layout/hList1"/>
    <dgm:cxn modelId="{B692082C-EC08-4075-B4CE-04C8F66E7F62}" srcId="{FBAB2A16-CB95-4AD5-826F-53CC1CFF9C38}" destId="{F15B2547-8890-4DCB-A73B-BF571D63F1BA}" srcOrd="0" destOrd="0" parTransId="{44BB9B65-27C0-47C6-85BD-50CEC002830D}" sibTransId="{17CC9815-EDB8-4716-942A-4CB98C9B8350}"/>
    <dgm:cxn modelId="{1138A739-0997-4CA9-B4F0-FD07AA9392EA}" srcId="{6D35C5E7-554A-4081-9EDE-DDBE6EA0BA61}" destId="{E33A397B-1638-4151-AC88-B5F12FADF134}" srcOrd="2" destOrd="0" parTransId="{BA49EBBC-FFDD-46B5-AAE1-9582D564D348}" sibTransId="{C9E0E6BD-5D9F-4009-A831-BF0D99FA2FD1}"/>
    <dgm:cxn modelId="{72A85760-4D3A-4F45-8943-43ADFE432440}" srcId="{6D35C5E7-554A-4081-9EDE-DDBE6EA0BA61}" destId="{81415B03-02E3-4041-A0DB-1732E83FD359}" srcOrd="0" destOrd="0" parTransId="{9C1A84C5-D9FD-40B9-B412-87894EFC5B3F}" sibTransId="{83EBD0D5-4AD0-450B-B50C-F4063048B045}"/>
    <dgm:cxn modelId="{2AE73C50-6158-4D88-8A5C-5EBF0A86E07B}" srcId="{6D35C5E7-554A-4081-9EDE-DDBE6EA0BA61}" destId="{D5D9CB2C-C974-49AE-A099-1532502785DF}" srcOrd="3" destOrd="0" parTransId="{1A1AADA8-87C3-40B5-B5C0-FC482124FDF3}" sibTransId="{C1644AA8-30F6-4684-99EA-94B489511224}"/>
    <dgm:cxn modelId="{EE1C987D-BAD3-4E63-8BF4-07B6E9558442}" srcId="{FBAB2A16-CB95-4AD5-826F-53CC1CFF9C38}" destId="{02B0525B-A19F-4FDC-92EB-A5E0D4E99EE9}" srcOrd="2" destOrd="0" parTransId="{4B2C2AD5-7B2A-4233-8259-8BB185E078C3}" sibTransId="{2D48E5B2-6E66-4C23-9137-53A649A62ADF}"/>
    <dgm:cxn modelId="{1B549293-8143-486F-B0F8-BF2C15343469}" type="presOf" srcId="{82198F98-ED8E-4DBB-90C1-4C7AD7B39D6D}" destId="{F1322A1E-93C5-43A2-B319-C2C6565ADB17}" srcOrd="0" destOrd="0" presId="urn:microsoft.com/office/officeart/2005/8/layout/hList1"/>
    <dgm:cxn modelId="{A0D4C993-63CC-4CE4-9006-FF08C3CD286D}" srcId="{6D35C5E7-554A-4081-9EDE-DDBE6EA0BA61}" destId="{C4746959-5A53-4B81-B6FA-9A52324DE52E}" srcOrd="1" destOrd="0" parTransId="{00D5A28C-3CA6-4BC7-8F9A-F1CC6139C486}" sibTransId="{802309CB-2236-468C-AB10-1A5A4CA90521}"/>
    <dgm:cxn modelId="{38D0A7A2-90F2-43EE-B49B-1FBFF111F5E8}" type="presOf" srcId="{81415B03-02E3-4041-A0DB-1732E83FD359}" destId="{DA19CCDA-25CA-4FB5-AA04-86AB58B06865}" srcOrd="0" destOrd="1" presId="urn:microsoft.com/office/officeart/2005/8/layout/hList1"/>
    <dgm:cxn modelId="{289E06A3-C978-4354-956C-80AD66E6ED13}" type="presOf" srcId="{FEAC1322-3F54-43D2-A5CF-E1FA874A0476}" destId="{2E7C871B-0DF9-4CF1-9DDB-0361200040F7}" srcOrd="0" destOrd="5" presId="urn:microsoft.com/office/officeart/2005/8/layout/hList1"/>
    <dgm:cxn modelId="{DA4D90AA-BE4B-4DA1-A635-1BE5031FCDE1}" type="presOf" srcId="{67541E00-8DD4-4110-A1CD-E47CFD4FBC2D}" destId="{E0A75D45-B29A-43E6-A5A9-0EA68FE017DF}" srcOrd="0" destOrd="0" presId="urn:microsoft.com/office/officeart/2005/8/layout/hList1"/>
    <dgm:cxn modelId="{B4BD78B5-C160-475D-AED0-3D2B10504ABA}" type="presOf" srcId="{C4746959-5A53-4B81-B6FA-9A52324DE52E}" destId="{DA19CCDA-25CA-4FB5-AA04-86AB58B06865}" srcOrd="0" destOrd="2" presId="urn:microsoft.com/office/officeart/2005/8/layout/hList1"/>
    <dgm:cxn modelId="{818C6DB7-C16E-4BF1-800D-7B8FF2116BDD}" srcId="{1333513F-FAC9-446F-A941-D4C2ABC93224}" destId="{6D35C5E7-554A-4081-9EDE-DDBE6EA0BA61}" srcOrd="0" destOrd="0" parTransId="{33331E02-AD6E-48C9-8329-C1DA7D8C8DCB}" sibTransId="{463CF65D-24ED-49A7-9512-B6C27C3BEE1D}"/>
    <dgm:cxn modelId="{F0B705B8-BDCE-431D-99E3-250596285EA6}" srcId="{82198F98-ED8E-4DBB-90C1-4C7AD7B39D6D}" destId="{67541E00-8DD4-4110-A1CD-E47CFD4FBC2D}" srcOrd="0" destOrd="0" parTransId="{6A787668-4C6B-4B06-841F-6CBE7B558A8C}" sibTransId="{0E68DB6C-5C73-4F2A-B75C-E873093006C2}"/>
    <dgm:cxn modelId="{ABAEDDB8-0993-4284-9F43-E39BDC728FC5}" type="presOf" srcId="{B1FAF863-F666-461B-8C6A-1B58F3BF6578}" destId="{2E7C871B-0DF9-4CF1-9DDB-0361200040F7}" srcOrd="0" destOrd="4" presId="urn:microsoft.com/office/officeart/2005/8/layout/hList1"/>
    <dgm:cxn modelId="{6AF5FFD9-BCF0-4F34-9A67-D01B70D5BC3C}" srcId="{FBAB2A16-CB95-4AD5-826F-53CC1CFF9C38}" destId="{18688DA1-0BAB-403A-8303-57C39FFE513A}" srcOrd="1" destOrd="0" parTransId="{67BE79E2-B433-4550-BF20-3EA68F4ADD1C}" sibTransId="{02A099E0-C7FE-4C87-92CB-1501C8F23E84}"/>
    <dgm:cxn modelId="{E44391EA-D6E2-43D1-952A-3A253FFD9451}" type="presOf" srcId="{02B0525B-A19F-4FDC-92EB-A5E0D4E99EE9}" destId="{2E7C871B-0DF9-4CF1-9DDB-0361200040F7}" srcOrd="0" destOrd="3" presId="urn:microsoft.com/office/officeart/2005/8/layout/hList1"/>
    <dgm:cxn modelId="{7BE23FEE-E9F8-41CE-B43C-B6629584C833}" type="presOf" srcId="{F15B2547-8890-4DCB-A73B-BF571D63F1BA}" destId="{2E7C871B-0DF9-4CF1-9DDB-0361200040F7}" srcOrd="0" destOrd="1" presId="urn:microsoft.com/office/officeart/2005/8/layout/hList1"/>
    <dgm:cxn modelId="{63F863F2-4FBE-4A12-BF06-ACCBBAECE3F3}" srcId="{67541E00-8DD4-4110-A1CD-E47CFD4FBC2D}" destId="{FEAC1322-3F54-43D2-A5CF-E1FA874A0476}" srcOrd="1" destOrd="0" parTransId="{1EDC50D7-F348-42FA-AC2F-07A1B6A1817F}" sibTransId="{08AA39DD-780D-4438-BC57-C3EA6B0027F2}"/>
    <dgm:cxn modelId="{3B0815FB-F07E-4A2A-BBF3-F03F2672849F}" srcId="{FBAB2A16-CB95-4AD5-826F-53CC1CFF9C38}" destId="{B1FAF863-F666-461B-8C6A-1B58F3BF6578}" srcOrd="3" destOrd="0" parTransId="{58AB1C04-1521-416B-AD98-C7E58670622B}" sibTransId="{D6C2F72F-BFCE-4B35-801A-962F5F3C0284}"/>
    <dgm:cxn modelId="{6F350063-D492-4CAF-9479-AECE88A43BFD}" type="presParOf" srcId="{F1322A1E-93C5-43A2-B319-C2C6565ADB17}" destId="{F1A41643-23BC-4B0C-B7CB-E3A7CF618FDE}" srcOrd="0" destOrd="0" presId="urn:microsoft.com/office/officeart/2005/8/layout/hList1"/>
    <dgm:cxn modelId="{B90DF030-7F8E-495E-8E19-514D1F8854F7}" type="presParOf" srcId="{F1A41643-23BC-4B0C-B7CB-E3A7CF618FDE}" destId="{E0A75D45-B29A-43E6-A5A9-0EA68FE017DF}" srcOrd="0" destOrd="0" presId="urn:microsoft.com/office/officeart/2005/8/layout/hList1"/>
    <dgm:cxn modelId="{83038437-178C-4AB0-A00A-CFA4D192C03D}" type="presParOf" srcId="{F1A41643-23BC-4B0C-B7CB-E3A7CF618FDE}" destId="{2E7C871B-0DF9-4CF1-9DDB-0361200040F7}" srcOrd="1" destOrd="0" presId="urn:microsoft.com/office/officeart/2005/8/layout/hList1"/>
    <dgm:cxn modelId="{215AFA63-3877-4D1D-A852-5815C136F186}" type="presParOf" srcId="{F1322A1E-93C5-43A2-B319-C2C6565ADB17}" destId="{26A5E49B-077F-4E4C-A47E-D85883753C68}" srcOrd="1" destOrd="0" presId="urn:microsoft.com/office/officeart/2005/8/layout/hList1"/>
    <dgm:cxn modelId="{602AC8B1-0DFC-4B1D-98A9-160E5AE42200}" type="presParOf" srcId="{F1322A1E-93C5-43A2-B319-C2C6565ADB17}" destId="{15EA545A-1CCC-4426-BD2A-C84F9E7E4DBE}" srcOrd="2" destOrd="0" presId="urn:microsoft.com/office/officeart/2005/8/layout/hList1"/>
    <dgm:cxn modelId="{3811964E-22B2-498F-A074-0AD48A2D8B6E}" type="presParOf" srcId="{15EA545A-1CCC-4426-BD2A-C84F9E7E4DBE}" destId="{B18CC9F5-43CA-42C3-BB72-8C6F94CDBEB1}" srcOrd="0" destOrd="0" presId="urn:microsoft.com/office/officeart/2005/8/layout/hList1"/>
    <dgm:cxn modelId="{4E675749-A5B6-45A7-B069-91697574173C}" type="presParOf" srcId="{15EA545A-1CCC-4426-BD2A-C84F9E7E4DBE}" destId="{DA19CCDA-25CA-4FB5-AA04-86AB58B0686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201D97B-539B-44EB-B92C-D8C0765020EC}" type="doc">
      <dgm:prSet loTypeId="urn:microsoft.com/office/officeart/2005/8/layout/list1" loCatId="list" qsTypeId="urn:microsoft.com/office/officeart/2005/8/quickstyle/simple1" qsCatId="simple" csTypeId="urn:microsoft.com/office/officeart/2005/8/colors/accent1_3" csCatId="accent1" phldr="1"/>
      <dgm:spPr/>
      <dgm:t>
        <a:bodyPr/>
        <a:lstStyle/>
        <a:p>
          <a:endParaRPr lang="zh-CN" altLang="en-US"/>
        </a:p>
      </dgm:t>
    </dgm:pt>
    <dgm:pt modelId="{51356AC0-1C58-408E-9D17-EECEF225B011}">
      <dgm:prSet custT="1"/>
      <dgm:spPr>
        <a:xfrm>
          <a:off x="548460" y="3748596"/>
          <a:ext cx="7678440" cy="354240"/>
        </a:xfrm>
        <a:prstGeom prst="roundRect">
          <a:avLst/>
        </a:prstGeom>
      </dgm:spPr>
      <dgm:t>
        <a:bodyPr spcFirstLastPara="0" vert="horz" wrap="square" lIns="270527" tIns="0" rIns="270527" bIns="0" numCol="1" spcCol="1270" anchor="ctr" anchorCtr="0"/>
        <a:lstStyle/>
        <a:p>
          <a:pPr marL="0" lvl="0" indent="0" algn="l" defTabSz="533400">
            <a:lnSpc>
              <a:spcPct val="90000"/>
            </a:lnSpc>
            <a:spcBef>
              <a:spcPct val="0"/>
            </a:spcBef>
            <a:spcAft>
              <a:spcPct val="35000"/>
            </a:spcAft>
            <a:buNone/>
          </a:pPr>
          <a:r>
            <a:rPr lang="zh-CN" altLang="en-US" sz="1400" b="1" kern="1200">
              <a:solidFill>
                <a:schemeClr val="bg1"/>
              </a:solidFill>
              <a:latin typeface="+mj-ea"/>
              <a:ea typeface="+mj-ea"/>
              <a:cs typeface="+mn-cs"/>
            </a:rPr>
            <a:t>替换料： </a:t>
          </a:r>
          <a:endParaRPr lang="zh-CN" altLang="en-US" sz="1400" b="1" kern="1200" dirty="0">
            <a:solidFill>
              <a:schemeClr val="bg1"/>
            </a:solidFill>
            <a:latin typeface="+mj-ea"/>
            <a:ea typeface="+mj-ea"/>
            <a:cs typeface="+mn-cs"/>
          </a:endParaRPr>
        </a:p>
      </dgm:t>
    </dgm:pt>
    <dgm:pt modelId="{8D641BA6-E587-45A5-BD6E-60C0AC92C642}" type="parTrans" cxnId="{3322B363-E25D-4FA2-B4B1-223F3A02D28B}">
      <dgm:prSet/>
      <dgm:spPr/>
      <dgm:t>
        <a:bodyPr/>
        <a:lstStyle/>
        <a:p>
          <a:endParaRPr lang="zh-CN" altLang="en-US" b="1">
            <a:solidFill>
              <a:schemeClr val="bg1"/>
            </a:solidFill>
            <a:latin typeface="+mj-ea"/>
            <a:ea typeface="+mj-ea"/>
          </a:endParaRPr>
        </a:p>
      </dgm:t>
    </dgm:pt>
    <dgm:pt modelId="{8C45A899-FA69-4074-8E00-44FE98CD698B}" type="sibTrans" cxnId="{3322B363-E25D-4FA2-B4B1-223F3A02D28B}">
      <dgm:prSet/>
      <dgm:spPr/>
      <dgm:t>
        <a:bodyPr/>
        <a:lstStyle/>
        <a:p>
          <a:endParaRPr lang="zh-CN" altLang="en-US" b="1">
            <a:solidFill>
              <a:schemeClr val="bg1"/>
            </a:solidFill>
            <a:latin typeface="+mj-ea"/>
            <a:ea typeface="+mj-ea"/>
          </a:endParaRPr>
        </a:p>
      </dgm:t>
    </dgm:pt>
    <dgm:pt modelId="{07E199D5-3C1A-476E-A544-BA034990E8F2}">
      <dgm:prSet custT="1"/>
      <dgm:spPr>
        <a:xfrm>
          <a:off x="0" y="3925716"/>
          <a:ext cx="10969200" cy="585900"/>
        </a:xfrm>
        <a:prstGeom prst="rect">
          <a:avLst/>
        </a:prstGeom>
      </dgm:spPr>
      <dgm:t>
        <a:bodyPr/>
        <a:lstStyle/>
        <a:p>
          <a:pPr>
            <a:buChar char="•"/>
          </a:pPr>
          <a:r>
            <a:rPr lang="zh-CN" altLang="en-US" sz="1000" b="1">
              <a:solidFill>
                <a:schemeClr val="bg1"/>
              </a:solidFill>
              <a:latin typeface="+mj-ea"/>
              <a:ea typeface="+mj-ea"/>
              <a:cs typeface="+mn-cs"/>
            </a:rPr>
            <a:t>不完全替代，组替代，冲突依赖这些复杂的替换场景导致采购 买不对，</a:t>
          </a:r>
          <a:r>
            <a:rPr lang="en-US" sz="1000" b="1">
              <a:solidFill>
                <a:schemeClr val="bg1"/>
              </a:solidFill>
              <a:latin typeface="+mj-ea"/>
              <a:ea typeface="+mj-ea"/>
              <a:cs typeface="+mn-cs"/>
            </a:rPr>
            <a:t>MP/CTP/ATP</a:t>
          </a:r>
          <a:r>
            <a:rPr lang="zh-CN" altLang="en-US" sz="1000" b="1">
              <a:solidFill>
                <a:schemeClr val="bg1"/>
              </a:solidFill>
              <a:latin typeface="+mj-ea"/>
              <a:ea typeface="+mj-ea"/>
              <a:cs typeface="+mn-cs"/>
            </a:rPr>
            <a:t>用不对造成呆滞和短缺。</a:t>
          </a:r>
          <a:endParaRPr lang="zh-CN" altLang="en-US" sz="1000" b="1" dirty="0">
            <a:solidFill>
              <a:schemeClr val="bg1"/>
            </a:solidFill>
            <a:latin typeface="+mj-ea"/>
            <a:ea typeface="+mj-ea"/>
            <a:cs typeface="+mn-cs"/>
          </a:endParaRPr>
        </a:p>
      </dgm:t>
    </dgm:pt>
    <dgm:pt modelId="{5B269AEA-FB7F-4D37-8687-89B2B06BD1F3}" type="parTrans" cxnId="{2EEFA4F6-7F87-4A51-833E-455161360E46}">
      <dgm:prSet/>
      <dgm:spPr/>
      <dgm:t>
        <a:bodyPr/>
        <a:lstStyle/>
        <a:p>
          <a:endParaRPr lang="zh-CN" altLang="en-US" b="1">
            <a:solidFill>
              <a:schemeClr val="bg1"/>
            </a:solidFill>
            <a:latin typeface="+mj-ea"/>
            <a:ea typeface="+mj-ea"/>
          </a:endParaRPr>
        </a:p>
      </dgm:t>
    </dgm:pt>
    <dgm:pt modelId="{640B2A71-A989-4F09-9004-636715524112}" type="sibTrans" cxnId="{2EEFA4F6-7F87-4A51-833E-455161360E46}">
      <dgm:prSet/>
      <dgm:spPr/>
      <dgm:t>
        <a:bodyPr/>
        <a:lstStyle/>
        <a:p>
          <a:endParaRPr lang="zh-CN" altLang="en-US" b="1">
            <a:solidFill>
              <a:schemeClr val="bg1"/>
            </a:solidFill>
            <a:latin typeface="+mj-ea"/>
            <a:ea typeface="+mj-ea"/>
          </a:endParaRPr>
        </a:p>
      </dgm:t>
    </dgm:pt>
    <dgm:pt modelId="{986E9A5B-6028-4CEE-A87A-00012E784FA5}">
      <dgm:prSet custT="1"/>
      <dgm:spPr>
        <a:xfrm>
          <a:off x="548460" y="2769576"/>
          <a:ext cx="7678440" cy="354240"/>
        </a:xfrm>
        <a:prstGeom prst="roundRect">
          <a:avLst/>
        </a:prstGeom>
      </dgm:spPr>
      <dgm:t>
        <a:bodyPr/>
        <a:lstStyle/>
        <a:p>
          <a:pPr>
            <a:buNone/>
          </a:pPr>
          <a:r>
            <a:rPr lang="zh-CN" altLang="en-US" sz="1400" b="1">
              <a:solidFill>
                <a:schemeClr val="bg1"/>
              </a:solidFill>
              <a:latin typeface="+mj-ea"/>
              <a:ea typeface="+mj-ea"/>
              <a:cs typeface="+mn-cs"/>
            </a:rPr>
            <a:t>高性能实现‘</a:t>
          </a:r>
          <a:r>
            <a:rPr lang="en-US" altLang="zh-CN" sz="1400" b="1">
              <a:solidFill>
                <a:schemeClr val="bg1"/>
              </a:solidFill>
              <a:latin typeface="+mj-ea"/>
              <a:ea typeface="+mj-ea"/>
              <a:cs typeface="+mn-cs"/>
            </a:rPr>
            <a:t>Concurrent Planning </a:t>
          </a:r>
          <a:r>
            <a:rPr lang="zh-CN" altLang="en-US" sz="1400" b="1">
              <a:solidFill>
                <a:schemeClr val="bg1"/>
              </a:solidFill>
              <a:latin typeface="+mj-ea"/>
              <a:ea typeface="+mj-ea"/>
              <a:cs typeface="+mn-cs"/>
            </a:rPr>
            <a:t>’：</a:t>
          </a:r>
          <a:endParaRPr lang="zh-CN" altLang="en-US" sz="1400" b="1" dirty="0">
            <a:solidFill>
              <a:schemeClr val="bg1"/>
            </a:solidFill>
            <a:latin typeface="+mj-ea"/>
            <a:ea typeface="+mj-ea"/>
            <a:cs typeface="+mn-cs"/>
          </a:endParaRPr>
        </a:p>
      </dgm:t>
    </dgm:pt>
    <dgm:pt modelId="{AD6C4B5A-E704-4085-875C-29DEC7501E61}" type="parTrans" cxnId="{69781412-828A-4946-BEFD-55084DC2F530}">
      <dgm:prSet/>
      <dgm:spPr/>
      <dgm:t>
        <a:bodyPr/>
        <a:lstStyle/>
        <a:p>
          <a:endParaRPr lang="zh-CN" altLang="en-US" b="1">
            <a:solidFill>
              <a:schemeClr val="bg1"/>
            </a:solidFill>
            <a:latin typeface="+mj-ea"/>
            <a:ea typeface="+mj-ea"/>
          </a:endParaRPr>
        </a:p>
      </dgm:t>
    </dgm:pt>
    <dgm:pt modelId="{9ED1E4F6-8A9D-4E62-9377-91022014D58C}" type="sibTrans" cxnId="{69781412-828A-4946-BEFD-55084DC2F530}">
      <dgm:prSet/>
      <dgm:spPr/>
      <dgm:t>
        <a:bodyPr/>
        <a:lstStyle/>
        <a:p>
          <a:endParaRPr lang="zh-CN" altLang="en-US" b="1">
            <a:solidFill>
              <a:schemeClr val="bg1"/>
            </a:solidFill>
            <a:latin typeface="+mj-ea"/>
            <a:ea typeface="+mj-ea"/>
          </a:endParaRPr>
        </a:p>
      </dgm:t>
    </dgm:pt>
    <dgm:pt modelId="{0FEB0835-E213-45E2-B30D-734199CEAC38}">
      <dgm:prSet custT="1"/>
      <dgm:spPr>
        <a:xfrm>
          <a:off x="548460" y="1941756"/>
          <a:ext cx="7678440" cy="354240"/>
        </a:xfrm>
        <a:prstGeom prst="roundRect">
          <a:avLst/>
        </a:prstGeom>
      </dgm:spPr>
      <dgm:t>
        <a:bodyPr/>
        <a:lstStyle/>
        <a:p>
          <a:pPr>
            <a:buNone/>
          </a:pPr>
          <a:r>
            <a:rPr lang="zh-CN" altLang="en-US" sz="1400" b="1" dirty="0">
              <a:solidFill>
                <a:schemeClr val="bg1"/>
              </a:solidFill>
              <a:latin typeface="+mj-ea"/>
              <a:ea typeface="+mj-ea"/>
              <a:cs typeface="+mn-cs"/>
            </a:rPr>
            <a:t>维度规划： </a:t>
          </a:r>
        </a:p>
      </dgm:t>
    </dgm:pt>
    <dgm:pt modelId="{3C222096-72BC-4BC1-AF3B-92995F6A222F}" type="parTrans" cxnId="{DD4CD622-A4CE-4A76-A5A8-46416E890955}">
      <dgm:prSet/>
      <dgm:spPr/>
      <dgm:t>
        <a:bodyPr/>
        <a:lstStyle/>
        <a:p>
          <a:endParaRPr lang="zh-CN" altLang="en-US" b="1">
            <a:solidFill>
              <a:schemeClr val="bg1"/>
            </a:solidFill>
            <a:latin typeface="+mj-ea"/>
            <a:ea typeface="+mj-ea"/>
          </a:endParaRPr>
        </a:p>
      </dgm:t>
    </dgm:pt>
    <dgm:pt modelId="{CC0DAD77-8536-44E1-A148-2117C9C271EB}" type="sibTrans" cxnId="{DD4CD622-A4CE-4A76-A5A8-46416E890955}">
      <dgm:prSet/>
      <dgm:spPr/>
      <dgm:t>
        <a:bodyPr/>
        <a:lstStyle/>
        <a:p>
          <a:endParaRPr lang="zh-CN" altLang="en-US" b="1">
            <a:solidFill>
              <a:schemeClr val="bg1"/>
            </a:solidFill>
            <a:latin typeface="+mj-ea"/>
            <a:ea typeface="+mj-ea"/>
          </a:endParaRPr>
        </a:p>
      </dgm:t>
    </dgm:pt>
    <dgm:pt modelId="{B111A9FC-58E6-40EF-939B-61684086BEB8}">
      <dgm:prSet custT="1"/>
      <dgm:spPr>
        <a:xfrm>
          <a:off x="0" y="2118876"/>
          <a:ext cx="10969200" cy="585900"/>
        </a:xfrm>
        <a:prstGeom prst="rect">
          <a:avLst/>
        </a:prstGeom>
      </dgm:spPr>
      <dgm:t>
        <a:bodyPr/>
        <a:lstStyle/>
        <a:p>
          <a:pPr>
            <a:buChar char="•"/>
          </a:pPr>
          <a:r>
            <a:rPr lang="zh-CN" altLang="en-US" sz="1000" b="1" dirty="0">
              <a:solidFill>
                <a:schemeClr val="bg1"/>
              </a:solidFill>
              <a:latin typeface="+mj-ea"/>
              <a:ea typeface="+mj-ea"/>
              <a:cs typeface="+mn-cs"/>
            </a:rPr>
            <a:t>对产品结构、供应、资源、配置、配方、地域、产品层级、客户层级的个性化需求</a:t>
          </a:r>
        </a:p>
      </dgm:t>
    </dgm:pt>
    <dgm:pt modelId="{3AAEED1E-D786-44A1-A193-8A0FB619155E}" type="parTrans" cxnId="{1A8DB115-C9BF-4B3E-9FC9-A90DFA968D35}">
      <dgm:prSet/>
      <dgm:spPr/>
      <dgm:t>
        <a:bodyPr/>
        <a:lstStyle/>
        <a:p>
          <a:endParaRPr lang="zh-CN" altLang="en-US" b="1">
            <a:solidFill>
              <a:schemeClr val="bg1"/>
            </a:solidFill>
            <a:latin typeface="+mj-ea"/>
            <a:ea typeface="+mj-ea"/>
          </a:endParaRPr>
        </a:p>
      </dgm:t>
    </dgm:pt>
    <dgm:pt modelId="{6EB58809-CA51-4CC9-919A-B8659EE6FB4F}" type="sibTrans" cxnId="{1A8DB115-C9BF-4B3E-9FC9-A90DFA968D35}">
      <dgm:prSet/>
      <dgm:spPr/>
      <dgm:t>
        <a:bodyPr/>
        <a:lstStyle/>
        <a:p>
          <a:endParaRPr lang="zh-CN" altLang="en-US" b="1">
            <a:solidFill>
              <a:schemeClr val="bg1"/>
            </a:solidFill>
            <a:latin typeface="+mj-ea"/>
            <a:ea typeface="+mj-ea"/>
          </a:endParaRPr>
        </a:p>
      </dgm:t>
    </dgm:pt>
    <dgm:pt modelId="{871C8880-5C9F-447D-A5F6-79AA9BE825E8}">
      <dgm:prSet custT="1"/>
      <dgm:spPr>
        <a:xfrm>
          <a:off x="0" y="2946696"/>
          <a:ext cx="10969200" cy="737100"/>
        </a:xfrm>
        <a:prstGeom prst="rect">
          <a:avLst/>
        </a:prstGeom>
      </dgm:spPr>
      <dgm:t>
        <a:bodyPr/>
        <a:lstStyle/>
        <a:p>
          <a:pPr>
            <a:buChar char="•"/>
          </a:pPr>
          <a:r>
            <a:rPr lang="zh-CN" altLang="en-US" sz="1000" b="1" i="0" dirty="0">
              <a:solidFill>
                <a:schemeClr val="bg1"/>
              </a:solidFill>
              <a:latin typeface="+mj-ea"/>
              <a:ea typeface="+mj-ea"/>
              <a:cs typeface="+mn-cs"/>
            </a:rPr>
            <a:t>以颠覆的模型算法智能决策，快速响应市场和供应侧变化。多层</a:t>
          </a:r>
          <a:r>
            <a:rPr lang="en-US" sz="1000" b="1" i="0" dirty="0">
              <a:solidFill>
                <a:schemeClr val="bg1"/>
              </a:solidFill>
              <a:latin typeface="+mj-ea"/>
              <a:ea typeface="+mj-ea"/>
              <a:cs typeface="+mn-cs"/>
            </a:rPr>
            <a:t>BOM, </a:t>
          </a:r>
          <a:r>
            <a:rPr lang="zh-CN" altLang="en-US" sz="1000" b="1" i="0" dirty="0">
              <a:solidFill>
                <a:schemeClr val="bg1"/>
              </a:solidFill>
              <a:latin typeface="+mj-ea"/>
              <a:ea typeface="+mj-ea"/>
              <a:cs typeface="+mn-cs"/>
            </a:rPr>
            <a:t>跨工厂寻源，多供应链网络节点和层级，众多规则，约束等复杂场景导致计划决策长达数小时甚至十几个小时才能抛出结果。</a:t>
          </a:r>
        </a:p>
      </dgm:t>
    </dgm:pt>
    <dgm:pt modelId="{FD0FE411-F823-40CB-8CD5-31B1D3E93652}" type="parTrans" cxnId="{7C3C57B4-6537-4A78-B20C-8573D95772EB}">
      <dgm:prSet/>
      <dgm:spPr/>
      <dgm:t>
        <a:bodyPr/>
        <a:lstStyle/>
        <a:p>
          <a:endParaRPr lang="zh-CN" altLang="en-US" b="1">
            <a:solidFill>
              <a:schemeClr val="bg1"/>
            </a:solidFill>
            <a:latin typeface="+mj-ea"/>
            <a:ea typeface="+mj-ea"/>
          </a:endParaRPr>
        </a:p>
      </dgm:t>
    </dgm:pt>
    <dgm:pt modelId="{98AD9CD3-97BB-4A29-B30B-EE6ADC5E398F}" type="sibTrans" cxnId="{7C3C57B4-6537-4A78-B20C-8573D95772EB}">
      <dgm:prSet/>
      <dgm:spPr/>
      <dgm:t>
        <a:bodyPr/>
        <a:lstStyle/>
        <a:p>
          <a:endParaRPr lang="zh-CN" altLang="en-US" b="1">
            <a:solidFill>
              <a:schemeClr val="bg1"/>
            </a:solidFill>
            <a:latin typeface="+mj-ea"/>
            <a:ea typeface="+mj-ea"/>
          </a:endParaRPr>
        </a:p>
      </dgm:t>
    </dgm:pt>
    <dgm:pt modelId="{19D3E36B-AB86-4D8F-B408-AFCE18B2F968}">
      <dgm:prSet custT="1"/>
      <dgm:spPr>
        <a:xfrm>
          <a:off x="548460" y="286116"/>
          <a:ext cx="7678440" cy="354240"/>
        </a:xfrm>
        <a:prstGeom prst="roundRect">
          <a:avLst/>
        </a:prstGeom>
      </dgm:spPr>
      <dgm:t>
        <a:bodyPr spcFirstLastPara="0" vert="horz" wrap="square" lIns="270527" tIns="0" rIns="270527" bIns="0" numCol="1" spcCol="1270" anchor="ctr" anchorCtr="0"/>
        <a:lstStyle/>
        <a:p>
          <a:pPr marL="0" lvl="0" indent="0" algn="l" defTabSz="533400">
            <a:lnSpc>
              <a:spcPct val="90000"/>
            </a:lnSpc>
            <a:spcBef>
              <a:spcPct val="0"/>
            </a:spcBef>
            <a:spcAft>
              <a:spcPct val="35000"/>
            </a:spcAft>
            <a:buNone/>
          </a:pPr>
          <a:r>
            <a:rPr lang="zh-CN" altLang="en-US" sz="1400" b="1" kern="1200" dirty="0">
              <a:solidFill>
                <a:schemeClr val="bg1"/>
              </a:solidFill>
              <a:latin typeface="+mj-ea"/>
              <a:ea typeface="+mj-ea"/>
              <a:cs typeface="+mn-cs"/>
            </a:rPr>
            <a:t>智能计划与排程</a:t>
          </a:r>
          <a:r>
            <a:rPr lang="en-US" altLang="zh-CN" sz="1400" b="1" kern="1200" dirty="0">
              <a:solidFill>
                <a:schemeClr val="bg1"/>
              </a:solidFill>
              <a:latin typeface="+mj-ea"/>
              <a:ea typeface="+mj-ea"/>
              <a:cs typeface="+mn-cs"/>
            </a:rPr>
            <a:t>IPS</a:t>
          </a:r>
          <a:r>
            <a:rPr lang="zh-CN" altLang="en-US" sz="1400" b="1" kern="1200" dirty="0">
              <a:solidFill>
                <a:schemeClr val="bg1"/>
              </a:solidFill>
              <a:latin typeface="+mj-ea"/>
              <a:ea typeface="+mj-ea"/>
              <a:cs typeface="+mn-cs"/>
            </a:rPr>
            <a:t>（</a:t>
          </a:r>
          <a:r>
            <a:rPr lang="en-US" altLang="zh-CN" sz="1400" b="1" kern="1200" dirty="0">
              <a:solidFill>
                <a:schemeClr val="bg1"/>
              </a:solidFill>
              <a:latin typeface="+mj-ea"/>
              <a:ea typeface="+mj-ea"/>
              <a:cs typeface="+mn-cs"/>
            </a:rPr>
            <a:t>Intelligent Planning &amp; Scheduling</a:t>
          </a:r>
          <a:r>
            <a:rPr lang="zh-CN" altLang="en-US" sz="1400" b="1" kern="1200" dirty="0">
              <a:solidFill>
                <a:schemeClr val="bg1"/>
              </a:solidFill>
              <a:latin typeface="+mj-ea"/>
              <a:ea typeface="+mj-ea"/>
              <a:cs typeface="+mn-cs"/>
            </a:rPr>
            <a:t>）</a:t>
          </a:r>
        </a:p>
      </dgm:t>
    </dgm:pt>
    <dgm:pt modelId="{6E20D4CF-83C3-4DAD-8809-32C44B227CB7}" type="sibTrans" cxnId="{0A003E60-D2DD-4BA6-AD45-059019741C8E}">
      <dgm:prSet/>
      <dgm:spPr/>
      <dgm:t>
        <a:bodyPr/>
        <a:lstStyle/>
        <a:p>
          <a:endParaRPr lang="zh-CN" altLang="en-US" b="1">
            <a:solidFill>
              <a:schemeClr val="bg1"/>
            </a:solidFill>
            <a:latin typeface="+mj-ea"/>
            <a:ea typeface="+mj-ea"/>
          </a:endParaRPr>
        </a:p>
      </dgm:t>
    </dgm:pt>
    <dgm:pt modelId="{519A0E9B-97F1-4A05-BD7C-96C078019197}" type="parTrans" cxnId="{0A003E60-D2DD-4BA6-AD45-059019741C8E}">
      <dgm:prSet/>
      <dgm:spPr/>
      <dgm:t>
        <a:bodyPr/>
        <a:lstStyle/>
        <a:p>
          <a:endParaRPr lang="zh-CN" altLang="en-US" b="1">
            <a:solidFill>
              <a:schemeClr val="bg1"/>
            </a:solidFill>
            <a:latin typeface="+mj-ea"/>
            <a:ea typeface="+mj-ea"/>
          </a:endParaRPr>
        </a:p>
      </dgm:t>
    </dgm:pt>
    <dgm:pt modelId="{64ECB345-AF22-4AD0-86BA-85D2395C7D19}">
      <dgm:prSet custT="1"/>
      <dgm:spPr>
        <a:xfrm>
          <a:off x="0" y="463236"/>
          <a:ext cx="10969200" cy="585900"/>
        </a:xfrm>
        <a:prstGeom prst="rect">
          <a:avLst/>
        </a:prstGeom>
      </dgm:spPr>
      <dgm:t>
        <a:bodyPr/>
        <a:lstStyle/>
        <a:p>
          <a:pPr>
            <a:buChar char="•"/>
          </a:pPr>
          <a:r>
            <a:rPr lang="zh-CN" altLang="en-US" sz="1000" b="1" dirty="0">
              <a:solidFill>
                <a:schemeClr val="bg1"/>
              </a:solidFill>
              <a:latin typeface="+mj-ea"/>
              <a:ea typeface="+mj-ea"/>
              <a:cs typeface="+mn-cs"/>
            </a:rPr>
            <a:t>主计划，欠料，发货通知，生产计划，交期承诺，工单，排程，拉料一体化智能协奏让工厂运作丝滑进行。</a:t>
          </a:r>
        </a:p>
      </dgm:t>
    </dgm:pt>
    <dgm:pt modelId="{53EEA7F2-B2BE-467C-9030-3DE9CF49A7E6}" type="parTrans" cxnId="{8A65A604-E5E4-4539-A857-DB66421C35AA}">
      <dgm:prSet/>
      <dgm:spPr/>
      <dgm:t>
        <a:bodyPr/>
        <a:lstStyle/>
        <a:p>
          <a:endParaRPr lang="zh-CN" altLang="en-US" b="1">
            <a:solidFill>
              <a:schemeClr val="bg1"/>
            </a:solidFill>
            <a:latin typeface="+mj-ea"/>
            <a:ea typeface="+mj-ea"/>
          </a:endParaRPr>
        </a:p>
      </dgm:t>
    </dgm:pt>
    <dgm:pt modelId="{83285572-7513-423E-8D1A-A10EB28B1AA5}" type="sibTrans" cxnId="{8A65A604-E5E4-4539-A857-DB66421C35AA}">
      <dgm:prSet/>
      <dgm:spPr/>
      <dgm:t>
        <a:bodyPr/>
        <a:lstStyle/>
        <a:p>
          <a:endParaRPr lang="zh-CN" altLang="en-US" b="1">
            <a:solidFill>
              <a:schemeClr val="bg1"/>
            </a:solidFill>
            <a:latin typeface="+mj-ea"/>
            <a:ea typeface="+mj-ea"/>
          </a:endParaRPr>
        </a:p>
      </dgm:t>
    </dgm:pt>
    <dgm:pt modelId="{A0900D4E-F7C3-47E3-B618-0170FF445315}">
      <dgm:prSet custT="1"/>
      <dgm:spPr>
        <a:xfrm>
          <a:off x="548460" y="4576416"/>
          <a:ext cx="7678440" cy="354240"/>
        </a:xfrm>
        <a:prstGeom prst="roundRect">
          <a:avLst/>
        </a:prstGeom>
      </dgm:spPr>
      <dgm:t>
        <a:bodyPr/>
        <a:lstStyle/>
        <a:p>
          <a:pPr>
            <a:buNone/>
          </a:pPr>
          <a:r>
            <a:rPr lang="zh-CN" altLang="en-US" sz="1400" b="1">
              <a:solidFill>
                <a:schemeClr val="bg1"/>
              </a:solidFill>
              <a:latin typeface="+mj-ea"/>
              <a:ea typeface="+mj-ea"/>
              <a:cs typeface="+mn-cs"/>
            </a:rPr>
            <a:t>供应商深度协同</a:t>
          </a:r>
          <a:endParaRPr lang="zh-CN" altLang="en-US" sz="1400" b="1" dirty="0">
            <a:solidFill>
              <a:schemeClr val="bg1"/>
            </a:solidFill>
            <a:latin typeface="+mj-ea"/>
            <a:ea typeface="+mj-ea"/>
            <a:cs typeface="+mn-cs"/>
          </a:endParaRPr>
        </a:p>
      </dgm:t>
    </dgm:pt>
    <dgm:pt modelId="{246A0D4D-2A56-42CD-AB9D-B60CAB0F04D9}" type="parTrans" cxnId="{58133D2E-2EEA-43DB-B62C-0BF391D53F4A}">
      <dgm:prSet/>
      <dgm:spPr/>
      <dgm:t>
        <a:bodyPr/>
        <a:lstStyle/>
        <a:p>
          <a:endParaRPr lang="zh-CN" altLang="en-US" b="1">
            <a:solidFill>
              <a:schemeClr val="bg1"/>
            </a:solidFill>
            <a:latin typeface="+mj-ea"/>
            <a:ea typeface="+mj-ea"/>
          </a:endParaRPr>
        </a:p>
      </dgm:t>
    </dgm:pt>
    <dgm:pt modelId="{251B4F85-6E48-4F95-B759-D8D83F1B2D21}" type="sibTrans" cxnId="{58133D2E-2EEA-43DB-B62C-0BF391D53F4A}">
      <dgm:prSet/>
      <dgm:spPr/>
      <dgm:t>
        <a:bodyPr/>
        <a:lstStyle/>
        <a:p>
          <a:endParaRPr lang="zh-CN" altLang="en-US" b="1">
            <a:solidFill>
              <a:schemeClr val="bg1"/>
            </a:solidFill>
            <a:latin typeface="+mj-ea"/>
            <a:ea typeface="+mj-ea"/>
          </a:endParaRPr>
        </a:p>
      </dgm:t>
    </dgm:pt>
    <dgm:pt modelId="{83FA59C7-4FD6-42B6-8AB2-769656C2C85A}">
      <dgm:prSet custT="1"/>
      <dgm:spPr>
        <a:xfrm>
          <a:off x="0" y="4753536"/>
          <a:ext cx="10969200" cy="585900"/>
        </a:xfrm>
        <a:prstGeom prst="rect">
          <a:avLst/>
        </a:prstGeom>
      </dgm:spPr>
      <dgm:t>
        <a:bodyPr/>
        <a:lstStyle/>
        <a:p>
          <a:pPr>
            <a:buChar char="•"/>
          </a:pPr>
          <a:r>
            <a:rPr lang="en-US" altLang="zh-CN" sz="1000" b="1">
              <a:solidFill>
                <a:schemeClr val="bg1"/>
              </a:solidFill>
              <a:latin typeface="+mj-ea"/>
              <a:ea typeface="+mj-ea"/>
              <a:cs typeface="+mn-cs"/>
            </a:rPr>
            <a:t>Parts forecast</a:t>
          </a:r>
          <a:r>
            <a:rPr lang="zh-CN" altLang="en-US" sz="1000" b="1">
              <a:solidFill>
                <a:schemeClr val="bg1"/>
              </a:solidFill>
              <a:latin typeface="+mj-ea"/>
              <a:ea typeface="+mj-ea"/>
              <a:cs typeface="+mn-cs"/>
            </a:rPr>
            <a:t>，</a:t>
          </a:r>
          <a:r>
            <a:rPr lang="en-US" altLang="zh-CN" sz="1000" b="1">
              <a:solidFill>
                <a:schemeClr val="bg1"/>
              </a:solidFill>
              <a:latin typeface="+mj-ea"/>
              <a:ea typeface="+mj-ea"/>
              <a:cs typeface="+mn-cs"/>
            </a:rPr>
            <a:t>Commit, ETA, ASN</a:t>
          </a:r>
          <a:r>
            <a:rPr lang="zh-CN" altLang="en-US" sz="1000" b="1">
              <a:solidFill>
                <a:schemeClr val="bg1"/>
              </a:solidFill>
              <a:latin typeface="+mj-ea"/>
              <a:ea typeface="+mj-ea"/>
              <a:cs typeface="+mn-cs"/>
            </a:rPr>
            <a:t>和</a:t>
          </a:r>
          <a:r>
            <a:rPr lang="en-US" altLang="zh-CN" sz="1000" b="1">
              <a:solidFill>
                <a:schemeClr val="bg1"/>
              </a:solidFill>
              <a:latin typeface="+mj-ea"/>
              <a:ea typeface="+mj-ea"/>
              <a:cs typeface="+mn-cs"/>
            </a:rPr>
            <a:t>GR</a:t>
          </a:r>
          <a:r>
            <a:rPr lang="zh-CN" altLang="en-US" sz="1000" b="1">
              <a:solidFill>
                <a:schemeClr val="bg1"/>
              </a:solidFill>
              <a:latin typeface="+mj-ea"/>
              <a:ea typeface="+mj-ea"/>
              <a:cs typeface="+mn-cs"/>
            </a:rPr>
            <a:t>之间没有</a:t>
          </a:r>
          <a:r>
            <a:rPr lang="en-US" altLang="zh-CN" sz="1000" b="1">
              <a:solidFill>
                <a:schemeClr val="bg1"/>
              </a:solidFill>
              <a:latin typeface="+mj-ea"/>
              <a:ea typeface="+mj-ea"/>
              <a:cs typeface="+mn-cs"/>
            </a:rPr>
            <a:t>pegging. </a:t>
          </a:r>
          <a:r>
            <a:rPr lang="zh-CN" altLang="en-US" sz="1000" b="1">
              <a:solidFill>
                <a:schemeClr val="bg1"/>
              </a:solidFill>
              <a:latin typeface="+mj-ea"/>
              <a:ea typeface="+mj-ea"/>
              <a:cs typeface="+mn-cs"/>
            </a:rPr>
            <a:t>导致双方</a:t>
          </a:r>
          <a:r>
            <a:rPr lang="en-US" altLang="zh-CN" sz="1000" b="1">
              <a:solidFill>
                <a:schemeClr val="bg1"/>
              </a:solidFill>
              <a:latin typeface="+mj-ea"/>
              <a:ea typeface="+mj-ea"/>
              <a:cs typeface="+mn-cs"/>
            </a:rPr>
            <a:t>workload</a:t>
          </a:r>
          <a:r>
            <a:rPr lang="zh-CN" altLang="en-US" sz="1000" b="1">
              <a:solidFill>
                <a:schemeClr val="bg1"/>
              </a:solidFill>
              <a:latin typeface="+mj-ea"/>
              <a:ea typeface="+mj-ea"/>
              <a:cs typeface="+mn-cs"/>
            </a:rPr>
            <a:t>都很大，而且数据错误频发，供应商</a:t>
          </a:r>
          <a:r>
            <a:rPr lang="en-US" altLang="zh-CN" sz="1000" b="1">
              <a:solidFill>
                <a:schemeClr val="bg1"/>
              </a:solidFill>
              <a:latin typeface="+mj-ea"/>
              <a:ea typeface="+mj-ea"/>
              <a:cs typeface="+mn-cs"/>
            </a:rPr>
            <a:t>OTD</a:t>
          </a:r>
          <a:r>
            <a:rPr lang="zh-CN" altLang="en-US" sz="1000" b="1">
              <a:solidFill>
                <a:schemeClr val="bg1"/>
              </a:solidFill>
              <a:latin typeface="+mj-ea"/>
              <a:ea typeface="+mj-ea"/>
              <a:cs typeface="+mn-cs"/>
            </a:rPr>
            <a:t>很难提高</a:t>
          </a:r>
          <a:endParaRPr lang="zh-CN" altLang="en-US" sz="1000" b="1" dirty="0">
            <a:solidFill>
              <a:schemeClr val="bg1"/>
            </a:solidFill>
            <a:latin typeface="+mj-ea"/>
            <a:ea typeface="+mj-ea"/>
            <a:cs typeface="+mn-cs"/>
          </a:endParaRPr>
        </a:p>
      </dgm:t>
    </dgm:pt>
    <dgm:pt modelId="{8806727A-183F-4609-ABA9-09D1774F22F6}" type="parTrans" cxnId="{8E264784-0580-4C7E-A293-BF5D534ED5C3}">
      <dgm:prSet/>
      <dgm:spPr/>
      <dgm:t>
        <a:bodyPr/>
        <a:lstStyle/>
        <a:p>
          <a:endParaRPr lang="zh-CN" altLang="en-US" b="1">
            <a:solidFill>
              <a:schemeClr val="bg1"/>
            </a:solidFill>
            <a:latin typeface="+mj-ea"/>
            <a:ea typeface="+mj-ea"/>
          </a:endParaRPr>
        </a:p>
      </dgm:t>
    </dgm:pt>
    <dgm:pt modelId="{E6FBBD19-0EBD-45D7-9191-A4544D69F0A6}" type="sibTrans" cxnId="{8E264784-0580-4C7E-A293-BF5D534ED5C3}">
      <dgm:prSet/>
      <dgm:spPr/>
      <dgm:t>
        <a:bodyPr/>
        <a:lstStyle/>
        <a:p>
          <a:endParaRPr lang="zh-CN" altLang="en-US" b="1">
            <a:solidFill>
              <a:schemeClr val="bg1"/>
            </a:solidFill>
            <a:latin typeface="+mj-ea"/>
            <a:ea typeface="+mj-ea"/>
          </a:endParaRPr>
        </a:p>
      </dgm:t>
    </dgm:pt>
    <dgm:pt modelId="{CB87BD8A-86C2-4E22-A013-9432EF0434AB}">
      <dgm:prSet custT="1"/>
      <dgm:spPr/>
      <dgm:t>
        <a:bodyPr spcFirstLastPara="0" vert="horz" wrap="square" lIns="290227" tIns="0" rIns="290227" bIns="0" numCol="1" spcCol="1270" anchor="ctr" anchorCtr="0"/>
        <a:lstStyle/>
        <a:p>
          <a:pPr marL="0" lvl="0" indent="0" algn="l" defTabSz="488950">
            <a:lnSpc>
              <a:spcPct val="90000"/>
            </a:lnSpc>
            <a:spcBef>
              <a:spcPct val="0"/>
            </a:spcBef>
            <a:spcAft>
              <a:spcPct val="35000"/>
            </a:spcAft>
            <a:buNone/>
          </a:pPr>
          <a:r>
            <a:rPr lang="en-US" altLang="zh-CN" sz="1400" b="1" kern="1200">
              <a:solidFill>
                <a:schemeClr val="bg1"/>
              </a:solidFill>
              <a:latin typeface="+mj-ea"/>
              <a:ea typeface="+mj-ea"/>
              <a:cs typeface="+mn-cs"/>
            </a:rPr>
            <a:t>Control Tower &amp; What-if</a:t>
          </a:r>
          <a:endParaRPr lang="zh-CN" altLang="en-US" sz="1400" b="1" kern="1200" dirty="0">
            <a:solidFill>
              <a:schemeClr val="bg1"/>
            </a:solidFill>
            <a:latin typeface="+mj-ea"/>
            <a:ea typeface="+mj-ea"/>
            <a:cs typeface="+mn-cs"/>
          </a:endParaRPr>
        </a:p>
      </dgm:t>
    </dgm:pt>
    <dgm:pt modelId="{52641F3E-F9CB-4841-AEEB-62C413F9C877}" type="parTrans" cxnId="{C1124887-9BDF-4E5B-9F8D-16D7F96294C0}">
      <dgm:prSet/>
      <dgm:spPr/>
      <dgm:t>
        <a:bodyPr/>
        <a:lstStyle/>
        <a:p>
          <a:endParaRPr lang="zh-CN" altLang="en-US" b="1">
            <a:solidFill>
              <a:schemeClr val="bg1"/>
            </a:solidFill>
            <a:latin typeface="+mj-ea"/>
            <a:ea typeface="+mj-ea"/>
          </a:endParaRPr>
        </a:p>
      </dgm:t>
    </dgm:pt>
    <dgm:pt modelId="{573D417A-EDAF-4DF9-81AC-6BA5B0E12ACD}" type="sibTrans" cxnId="{C1124887-9BDF-4E5B-9F8D-16D7F96294C0}">
      <dgm:prSet/>
      <dgm:spPr/>
      <dgm:t>
        <a:bodyPr/>
        <a:lstStyle/>
        <a:p>
          <a:endParaRPr lang="zh-CN" altLang="en-US" b="1">
            <a:solidFill>
              <a:schemeClr val="bg1"/>
            </a:solidFill>
            <a:latin typeface="+mj-ea"/>
            <a:ea typeface="+mj-ea"/>
          </a:endParaRPr>
        </a:p>
      </dgm:t>
    </dgm:pt>
    <dgm:pt modelId="{FCAA03AB-19E3-4970-A112-7E49AFB534B1}">
      <dgm:prSet custT="1"/>
      <dgm:spPr>
        <a:xfrm>
          <a:off x="0" y="4753536"/>
          <a:ext cx="10969200" cy="585900"/>
        </a:xfrm>
      </dgm:spPr>
      <dgm:t>
        <a:bodyPr/>
        <a:lstStyle/>
        <a:p>
          <a:pPr>
            <a:buChar char="•"/>
          </a:pPr>
          <a:r>
            <a:rPr lang="zh-CN" altLang="en-US" sz="1000" b="1">
              <a:solidFill>
                <a:schemeClr val="bg1"/>
              </a:solidFill>
              <a:latin typeface="+mj-ea"/>
              <a:ea typeface="+mj-ea"/>
              <a:cs typeface="+mn-cs"/>
            </a:rPr>
            <a:t>国际领导厂商的</a:t>
          </a:r>
          <a:r>
            <a:rPr lang="en-US" altLang="zh-CN" sz="1000" b="1">
              <a:solidFill>
                <a:schemeClr val="bg1"/>
              </a:solidFill>
              <a:latin typeface="+mj-ea"/>
              <a:ea typeface="+mj-ea"/>
              <a:cs typeface="+mn-cs"/>
            </a:rPr>
            <a:t>Package</a:t>
          </a:r>
          <a:r>
            <a:rPr lang="zh-CN" altLang="en-US" sz="1000" b="1">
              <a:solidFill>
                <a:schemeClr val="bg1"/>
              </a:solidFill>
              <a:latin typeface="+mj-ea"/>
              <a:ea typeface="+mj-ea"/>
              <a:cs typeface="+mn-cs"/>
            </a:rPr>
            <a:t>软件由于架构以及二开问题造成性能以及数据问题导致</a:t>
          </a:r>
          <a:r>
            <a:rPr lang="en-US" altLang="zh-CN" sz="1000" b="1">
              <a:solidFill>
                <a:schemeClr val="bg1"/>
              </a:solidFill>
              <a:latin typeface="+mj-ea"/>
              <a:ea typeface="+mj-ea"/>
              <a:cs typeface="+mn-cs"/>
            </a:rPr>
            <a:t>Control Tower &amp; What-if</a:t>
          </a:r>
          <a:r>
            <a:rPr lang="zh-CN" altLang="en-US" sz="1000" b="1">
              <a:solidFill>
                <a:schemeClr val="bg1"/>
              </a:solidFill>
              <a:latin typeface="+mj-ea"/>
              <a:ea typeface="+mj-ea"/>
              <a:cs typeface="+mn-cs"/>
            </a:rPr>
            <a:t>成为摆设</a:t>
          </a:r>
          <a:endParaRPr lang="zh-CN" altLang="en-US" sz="1000" b="1" dirty="0">
            <a:solidFill>
              <a:schemeClr val="bg1"/>
            </a:solidFill>
            <a:latin typeface="+mj-ea"/>
            <a:ea typeface="+mj-ea"/>
            <a:cs typeface="+mn-cs"/>
          </a:endParaRPr>
        </a:p>
      </dgm:t>
    </dgm:pt>
    <dgm:pt modelId="{29095B94-E8C8-4862-89BA-7C3072A259FD}" type="parTrans" cxnId="{5299B76E-BEBD-4304-B1F2-76BE6A2C45C6}">
      <dgm:prSet/>
      <dgm:spPr/>
      <dgm:t>
        <a:bodyPr/>
        <a:lstStyle/>
        <a:p>
          <a:endParaRPr lang="zh-CN" altLang="en-US" b="1">
            <a:solidFill>
              <a:schemeClr val="bg1"/>
            </a:solidFill>
            <a:latin typeface="+mj-ea"/>
            <a:ea typeface="+mj-ea"/>
          </a:endParaRPr>
        </a:p>
      </dgm:t>
    </dgm:pt>
    <dgm:pt modelId="{98A06525-2221-456B-9398-127530FF9A08}" type="sibTrans" cxnId="{5299B76E-BEBD-4304-B1F2-76BE6A2C45C6}">
      <dgm:prSet/>
      <dgm:spPr/>
      <dgm:t>
        <a:bodyPr/>
        <a:lstStyle/>
        <a:p>
          <a:endParaRPr lang="zh-CN" altLang="en-US" b="1">
            <a:solidFill>
              <a:schemeClr val="bg1"/>
            </a:solidFill>
            <a:latin typeface="+mj-ea"/>
            <a:ea typeface="+mj-ea"/>
          </a:endParaRPr>
        </a:p>
      </dgm:t>
    </dgm:pt>
    <dgm:pt modelId="{FD55F7F7-2C83-453A-9072-6CFAEAAB00F2}">
      <dgm:prSet custT="1"/>
      <dgm:spPr/>
      <dgm:t>
        <a:bodyPr spcFirstLastPara="0" vert="horz" wrap="square" lIns="290227" tIns="0" rIns="290227" bIns="0" numCol="1" spcCol="1270" anchor="ctr" anchorCtr="0"/>
        <a:lstStyle/>
        <a:p>
          <a:pPr marL="0" lvl="0" indent="0" algn="l" defTabSz="533400">
            <a:lnSpc>
              <a:spcPct val="90000"/>
            </a:lnSpc>
            <a:spcBef>
              <a:spcPct val="0"/>
            </a:spcBef>
            <a:spcAft>
              <a:spcPct val="35000"/>
            </a:spcAft>
            <a:buNone/>
          </a:pPr>
          <a:r>
            <a:rPr lang="en-US" altLang="zh-CN" sz="1400" b="1" kern="1200">
              <a:solidFill>
                <a:schemeClr val="bg1"/>
              </a:solidFill>
              <a:latin typeface="+mj-ea"/>
              <a:ea typeface="+mj-ea"/>
              <a:cs typeface="+mn-cs"/>
            </a:rPr>
            <a:t>E2E </a:t>
          </a:r>
          <a:r>
            <a:rPr lang="zh-CN" altLang="en-US" sz="1400" b="1" kern="1200">
              <a:solidFill>
                <a:schemeClr val="bg1"/>
              </a:solidFill>
              <a:latin typeface="+mj-ea"/>
              <a:ea typeface="+mj-ea"/>
              <a:cs typeface="+mn-cs"/>
            </a:rPr>
            <a:t>优先级管理</a:t>
          </a:r>
          <a:endParaRPr lang="zh-CN" altLang="en-US" sz="1400" b="1" kern="1200" dirty="0">
            <a:solidFill>
              <a:schemeClr val="bg1"/>
            </a:solidFill>
            <a:latin typeface="+mj-ea"/>
            <a:ea typeface="+mj-ea"/>
            <a:cs typeface="+mn-cs"/>
          </a:endParaRPr>
        </a:p>
      </dgm:t>
    </dgm:pt>
    <dgm:pt modelId="{1F3782C1-03E4-46B3-8453-D18E6EE09D1D}" type="parTrans" cxnId="{4A23C011-778D-4D4B-A9CF-7856105C4403}">
      <dgm:prSet/>
      <dgm:spPr/>
      <dgm:t>
        <a:bodyPr/>
        <a:lstStyle/>
        <a:p>
          <a:endParaRPr lang="zh-CN" altLang="en-US" b="1">
            <a:solidFill>
              <a:schemeClr val="bg1"/>
            </a:solidFill>
            <a:latin typeface="+mj-ea"/>
            <a:ea typeface="+mj-ea"/>
          </a:endParaRPr>
        </a:p>
      </dgm:t>
    </dgm:pt>
    <dgm:pt modelId="{0B7A0C85-C65D-421F-869D-5E7584D7F91D}" type="sibTrans" cxnId="{4A23C011-778D-4D4B-A9CF-7856105C4403}">
      <dgm:prSet/>
      <dgm:spPr/>
      <dgm:t>
        <a:bodyPr/>
        <a:lstStyle/>
        <a:p>
          <a:endParaRPr lang="zh-CN" altLang="en-US" b="1">
            <a:solidFill>
              <a:schemeClr val="bg1"/>
            </a:solidFill>
            <a:latin typeface="+mj-ea"/>
            <a:ea typeface="+mj-ea"/>
          </a:endParaRPr>
        </a:p>
      </dgm:t>
    </dgm:pt>
    <dgm:pt modelId="{3701B573-09FA-4031-9E04-7407B7AC6546}">
      <dgm:prSet custT="1"/>
      <dgm:spPr/>
      <dgm:t>
        <a:bodyPr spcFirstLastPara="0" vert="horz" wrap="square" lIns="851332" tIns="187452" rIns="851332" bIns="64008" numCol="1" spcCol="1270" anchor="t" anchorCtr="0"/>
        <a:lstStyle/>
        <a:p>
          <a:pPr marL="57150" lvl="1" indent="-57150" algn="l" defTabSz="400050">
            <a:lnSpc>
              <a:spcPct val="90000"/>
            </a:lnSpc>
            <a:spcBef>
              <a:spcPct val="0"/>
            </a:spcBef>
            <a:spcAft>
              <a:spcPct val="15000"/>
            </a:spcAft>
            <a:buChar char="•"/>
          </a:pPr>
          <a:r>
            <a:rPr lang="zh-CN" altLang="en-US" sz="1000" b="1" kern="1200">
              <a:solidFill>
                <a:schemeClr val="bg1"/>
              </a:solidFill>
              <a:latin typeface="+mj-ea"/>
              <a:ea typeface="+mj-ea"/>
              <a:cs typeface="+mn-cs"/>
            </a:rPr>
            <a:t>优先级管理需要从战略到执行的管理。重要客户，区域，产品组的订单优先级高也不能保障其可得性。我们需要在预测中考量，并在主计划中做资源分配相当于预留（刚柔并进）。</a:t>
          </a:r>
          <a:endParaRPr lang="zh-CN" altLang="en-US" sz="1000" b="1" kern="1200" dirty="0">
            <a:solidFill>
              <a:schemeClr val="bg1"/>
            </a:solidFill>
            <a:latin typeface="+mj-ea"/>
            <a:ea typeface="+mj-ea"/>
            <a:cs typeface="+mn-cs"/>
          </a:endParaRPr>
        </a:p>
      </dgm:t>
    </dgm:pt>
    <dgm:pt modelId="{136DAE8B-EAEC-4A41-82C2-0DECF26F3287}" type="parTrans" cxnId="{1C7DC103-F19A-41FC-9CFC-5A1B996ECDDB}">
      <dgm:prSet/>
      <dgm:spPr/>
      <dgm:t>
        <a:bodyPr/>
        <a:lstStyle/>
        <a:p>
          <a:endParaRPr lang="zh-CN" altLang="en-US" b="1">
            <a:solidFill>
              <a:schemeClr val="bg1"/>
            </a:solidFill>
            <a:latin typeface="+mj-ea"/>
            <a:ea typeface="+mj-ea"/>
          </a:endParaRPr>
        </a:p>
      </dgm:t>
    </dgm:pt>
    <dgm:pt modelId="{8D396A3D-00C9-47AC-BF4A-B80E52A4D906}" type="sibTrans" cxnId="{1C7DC103-F19A-41FC-9CFC-5A1B996ECDDB}">
      <dgm:prSet/>
      <dgm:spPr/>
      <dgm:t>
        <a:bodyPr/>
        <a:lstStyle/>
        <a:p>
          <a:endParaRPr lang="zh-CN" altLang="en-US" b="1">
            <a:solidFill>
              <a:schemeClr val="bg1"/>
            </a:solidFill>
            <a:latin typeface="+mj-ea"/>
            <a:ea typeface="+mj-ea"/>
          </a:endParaRPr>
        </a:p>
      </dgm:t>
    </dgm:pt>
    <dgm:pt modelId="{6AF08070-6440-4439-96C1-830F5DB869E8}">
      <dgm:prSet custT="1"/>
      <dgm:spPr/>
      <dgm:t>
        <a:bodyPr spcFirstLastPara="0" vert="horz" wrap="square" lIns="851332" tIns="187452" rIns="851332" bIns="64008" numCol="1" spcCol="1270" anchor="t" anchorCtr="0"/>
        <a:lstStyle/>
        <a:p>
          <a:pPr marL="57150" lvl="1" indent="-57150" algn="l" defTabSz="400050">
            <a:lnSpc>
              <a:spcPct val="90000"/>
            </a:lnSpc>
            <a:spcBef>
              <a:spcPct val="0"/>
            </a:spcBef>
            <a:spcAft>
              <a:spcPct val="15000"/>
            </a:spcAft>
            <a:buChar char="•"/>
          </a:pPr>
          <a:r>
            <a:rPr lang="zh-CN" altLang="en-US" sz="1000" b="1" kern="1200">
              <a:solidFill>
                <a:schemeClr val="bg1"/>
              </a:solidFill>
              <a:latin typeface="+mj-ea"/>
              <a:ea typeface="+mj-ea"/>
              <a:cs typeface="+mn-cs"/>
            </a:rPr>
            <a:t>在执行过程中即要交付又准又快有要符合战术的约束指导</a:t>
          </a:r>
          <a:endParaRPr lang="zh-CN" altLang="en-US" sz="1000" b="1" kern="1200" dirty="0">
            <a:solidFill>
              <a:schemeClr val="bg1"/>
            </a:solidFill>
            <a:latin typeface="+mj-ea"/>
            <a:ea typeface="+mj-ea"/>
            <a:cs typeface="+mn-cs"/>
          </a:endParaRPr>
        </a:p>
      </dgm:t>
    </dgm:pt>
    <dgm:pt modelId="{336F5488-70BA-42E7-9AD7-21D494846C5E}" type="parTrans" cxnId="{223C983A-5B48-47AA-9389-7893BD6E2731}">
      <dgm:prSet/>
      <dgm:spPr/>
      <dgm:t>
        <a:bodyPr/>
        <a:lstStyle/>
        <a:p>
          <a:endParaRPr lang="zh-CN" altLang="en-US" b="1">
            <a:solidFill>
              <a:schemeClr val="bg1"/>
            </a:solidFill>
            <a:latin typeface="+mj-ea"/>
            <a:ea typeface="+mj-ea"/>
          </a:endParaRPr>
        </a:p>
      </dgm:t>
    </dgm:pt>
    <dgm:pt modelId="{7C9D71EC-578F-4DA6-9DD7-9AA5F2E4CEE4}" type="sibTrans" cxnId="{223C983A-5B48-47AA-9389-7893BD6E2731}">
      <dgm:prSet/>
      <dgm:spPr/>
      <dgm:t>
        <a:bodyPr/>
        <a:lstStyle/>
        <a:p>
          <a:endParaRPr lang="zh-CN" altLang="en-US" b="1">
            <a:solidFill>
              <a:schemeClr val="bg1"/>
            </a:solidFill>
            <a:latin typeface="+mj-ea"/>
            <a:ea typeface="+mj-ea"/>
          </a:endParaRPr>
        </a:p>
      </dgm:t>
    </dgm:pt>
    <dgm:pt modelId="{C445ADB6-476D-4B6F-B22C-617F8BA3AF2D}">
      <dgm:prSet custT="1"/>
      <dgm:spPr>
        <a:xfrm>
          <a:off x="548460" y="1113936"/>
          <a:ext cx="7678440" cy="354240"/>
        </a:xfrm>
      </dgm:spPr>
      <dgm:t>
        <a:bodyPr/>
        <a:lstStyle/>
        <a:p>
          <a:pPr marL="0" lvl="0" indent="0" algn="l" defTabSz="533400">
            <a:lnSpc>
              <a:spcPct val="90000"/>
            </a:lnSpc>
            <a:spcBef>
              <a:spcPct val="0"/>
            </a:spcBef>
            <a:spcAft>
              <a:spcPct val="35000"/>
            </a:spcAft>
            <a:buNone/>
          </a:pPr>
          <a:r>
            <a:rPr lang="zh-CN" altLang="en-US" sz="1400" b="1" kern="1200" dirty="0">
              <a:solidFill>
                <a:schemeClr val="bg1"/>
              </a:solidFill>
              <a:latin typeface="+mj-ea"/>
              <a:ea typeface="+mj-ea"/>
              <a:cs typeface="+mn-cs"/>
            </a:rPr>
            <a:t>计划的准确性</a:t>
          </a:r>
          <a:r>
            <a:rPr lang="en-US" altLang="zh-CN" sz="1400" b="1" kern="1200" dirty="0">
              <a:solidFill>
                <a:schemeClr val="bg1"/>
              </a:solidFill>
              <a:latin typeface="+mj-ea"/>
              <a:ea typeface="+mj-ea"/>
              <a:cs typeface="+mn-cs"/>
            </a:rPr>
            <a:t>-</a:t>
          </a:r>
          <a:r>
            <a:rPr lang="zh-CN" altLang="en-US" sz="1400" b="1" kern="1200" dirty="0">
              <a:solidFill>
                <a:schemeClr val="bg1"/>
              </a:solidFill>
              <a:latin typeface="+mj-ea"/>
              <a:ea typeface="+mj-ea"/>
              <a:cs typeface="+mn-cs"/>
            </a:rPr>
            <a:t>交付又准又快：</a:t>
          </a:r>
        </a:p>
      </dgm:t>
    </dgm:pt>
    <dgm:pt modelId="{BBF3D41A-D2F2-4796-89B5-3C2FEE257FAA}" type="parTrans" cxnId="{DAF8849F-DED2-4262-BC9F-224BC448267C}">
      <dgm:prSet/>
      <dgm:spPr/>
      <dgm:t>
        <a:bodyPr/>
        <a:lstStyle/>
        <a:p>
          <a:endParaRPr lang="zh-CN" altLang="en-US"/>
        </a:p>
      </dgm:t>
    </dgm:pt>
    <dgm:pt modelId="{76122A85-6A34-4220-B02E-2A51828648BB}" type="sibTrans" cxnId="{DAF8849F-DED2-4262-BC9F-224BC448267C}">
      <dgm:prSet/>
      <dgm:spPr/>
      <dgm:t>
        <a:bodyPr/>
        <a:lstStyle/>
        <a:p>
          <a:endParaRPr lang="zh-CN" altLang="en-US"/>
        </a:p>
      </dgm:t>
    </dgm:pt>
    <dgm:pt modelId="{11AE0C15-FDE0-4E2E-9F4A-B1FBDE2684D8}">
      <dgm:prSet/>
      <dgm:spPr>
        <a:xfrm>
          <a:off x="0" y="1291056"/>
          <a:ext cx="10969200" cy="585900"/>
        </a:xfrm>
      </dgm:spPr>
      <dgm:t>
        <a:bodyPr/>
        <a:lstStyle/>
        <a:p>
          <a:pPr>
            <a:buChar char="•"/>
          </a:pPr>
          <a:r>
            <a:rPr lang="zh-CN" altLang="en-US" b="1" dirty="0">
              <a:solidFill>
                <a:schemeClr val="bg1"/>
              </a:solidFill>
              <a:latin typeface="+mj-ea"/>
              <a:ea typeface="+mj-ea"/>
              <a:cs typeface="+mn-cs"/>
            </a:rPr>
            <a:t>在保障交期的前提下让资源最大化利用的</a:t>
          </a:r>
          <a:r>
            <a:rPr lang="en-US" altLang="zh-CN" b="1" dirty="0">
              <a:solidFill>
                <a:schemeClr val="bg1"/>
              </a:solidFill>
              <a:latin typeface="+mj-ea"/>
              <a:ea typeface="+mj-ea"/>
              <a:cs typeface="+mn-cs"/>
            </a:rPr>
            <a:t>One Plan</a:t>
          </a:r>
          <a:r>
            <a:rPr lang="zh-CN" altLang="en-US" b="1" dirty="0">
              <a:solidFill>
                <a:schemeClr val="bg1"/>
              </a:solidFill>
              <a:latin typeface="+mj-ea"/>
              <a:ea typeface="+mj-ea"/>
              <a:cs typeface="+mn-cs"/>
            </a:rPr>
            <a:t>。专，共线问题，连续生产问题等。</a:t>
          </a:r>
        </a:p>
      </dgm:t>
    </dgm:pt>
    <dgm:pt modelId="{E4D5A864-7464-4848-A5EA-7DB367A40210}" type="parTrans" cxnId="{FD8FE1C5-2416-458C-9444-7E97AD067FD2}">
      <dgm:prSet/>
      <dgm:spPr/>
      <dgm:t>
        <a:bodyPr/>
        <a:lstStyle/>
        <a:p>
          <a:endParaRPr lang="zh-CN" altLang="en-US"/>
        </a:p>
      </dgm:t>
    </dgm:pt>
    <dgm:pt modelId="{9B5E54AB-D2B4-4107-8E3A-8EF7BAC7F688}" type="sibTrans" cxnId="{FD8FE1C5-2416-458C-9444-7E97AD067FD2}">
      <dgm:prSet/>
      <dgm:spPr/>
      <dgm:t>
        <a:bodyPr/>
        <a:lstStyle/>
        <a:p>
          <a:endParaRPr lang="zh-CN" altLang="en-US"/>
        </a:p>
      </dgm:t>
    </dgm:pt>
    <dgm:pt modelId="{4A3A17A6-FCE5-426F-A517-9A3882826947}" type="pres">
      <dgm:prSet presAssocID="{0201D97B-539B-44EB-B92C-D8C0765020EC}" presName="linear" presStyleCnt="0">
        <dgm:presLayoutVars>
          <dgm:dir/>
          <dgm:animLvl val="lvl"/>
          <dgm:resizeHandles val="exact"/>
        </dgm:presLayoutVars>
      </dgm:prSet>
      <dgm:spPr/>
    </dgm:pt>
    <dgm:pt modelId="{59D4757E-6531-4EA6-A97E-D1507B780B7F}" type="pres">
      <dgm:prSet presAssocID="{C445ADB6-476D-4B6F-B22C-617F8BA3AF2D}" presName="parentLin" presStyleCnt="0"/>
      <dgm:spPr/>
    </dgm:pt>
    <dgm:pt modelId="{7F8884AA-25FE-414F-A976-11A1DD5858A9}" type="pres">
      <dgm:prSet presAssocID="{C445ADB6-476D-4B6F-B22C-617F8BA3AF2D}" presName="parentLeftMargin" presStyleLbl="node1" presStyleIdx="0" presStyleCnt="8"/>
      <dgm:spPr>
        <a:prstGeom prst="roundRect">
          <a:avLst/>
        </a:prstGeom>
      </dgm:spPr>
    </dgm:pt>
    <dgm:pt modelId="{FD4A96DA-E5EE-4DBB-A84F-D37C509E48B5}" type="pres">
      <dgm:prSet presAssocID="{C445ADB6-476D-4B6F-B22C-617F8BA3AF2D}" presName="parentText" presStyleLbl="node1" presStyleIdx="0" presStyleCnt="8">
        <dgm:presLayoutVars>
          <dgm:chMax val="0"/>
          <dgm:bulletEnabled val="1"/>
        </dgm:presLayoutVars>
      </dgm:prSet>
      <dgm:spPr>
        <a:prstGeom prst="roundRect">
          <a:avLst/>
        </a:prstGeom>
      </dgm:spPr>
    </dgm:pt>
    <dgm:pt modelId="{6498E26B-69F0-4560-B255-60E3D9E03982}" type="pres">
      <dgm:prSet presAssocID="{C445ADB6-476D-4B6F-B22C-617F8BA3AF2D}" presName="negativeSpace" presStyleCnt="0"/>
      <dgm:spPr/>
    </dgm:pt>
    <dgm:pt modelId="{72BCFBB7-DAA7-4DBB-BCE4-18785795A9F2}" type="pres">
      <dgm:prSet presAssocID="{C445ADB6-476D-4B6F-B22C-617F8BA3AF2D}" presName="childText" presStyleLbl="conFgAcc1" presStyleIdx="0" presStyleCnt="8">
        <dgm:presLayoutVars>
          <dgm:bulletEnabled val="1"/>
        </dgm:presLayoutVars>
      </dgm:prSet>
      <dgm:spPr>
        <a:prstGeom prst="rect">
          <a:avLst/>
        </a:prstGeom>
      </dgm:spPr>
    </dgm:pt>
    <dgm:pt modelId="{C3114C9B-62DF-46C6-8632-4D45A33E040A}" type="pres">
      <dgm:prSet presAssocID="{76122A85-6A34-4220-B02E-2A51828648BB}" presName="spaceBetweenRectangles" presStyleCnt="0"/>
      <dgm:spPr/>
    </dgm:pt>
    <dgm:pt modelId="{8E506A34-5876-4EE8-AAFE-02FBBA4280FB}" type="pres">
      <dgm:prSet presAssocID="{19D3E36B-AB86-4D8F-B408-AFCE18B2F968}" presName="parentLin" presStyleCnt="0"/>
      <dgm:spPr/>
    </dgm:pt>
    <dgm:pt modelId="{829EAAFE-AE5B-4819-96B9-F9EA0D6518A3}" type="pres">
      <dgm:prSet presAssocID="{19D3E36B-AB86-4D8F-B408-AFCE18B2F968}" presName="parentLeftMargin" presStyleLbl="node1" presStyleIdx="0" presStyleCnt="8"/>
      <dgm:spPr/>
    </dgm:pt>
    <dgm:pt modelId="{DB270920-EFCA-4C63-B7F7-9DFDA007D9C9}" type="pres">
      <dgm:prSet presAssocID="{19D3E36B-AB86-4D8F-B408-AFCE18B2F968}" presName="parentText" presStyleLbl="node1" presStyleIdx="1" presStyleCnt="8">
        <dgm:presLayoutVars>
          <dgm:chMax val="0"/>
          <dgm:bulletEnabled val="1"/>
        </dgm:presLayoutVars>
      </dgm:prSet>
      <dgm:spPr/>
    </dgm:pt>
    <dgm:pt modelId="{7161EFFB-DB0A-461A-9B85-02953D152DE2}" type="pres">
      <dgm:prSet presAssocID="{19D3E36B-AB86-4D8F-B408-AFCE18B2F968}" presName="negativeSpace" presStyleCnt="0"/>
      <dgm:spPr/>
    </dgm:pt>
    <dgm:pt modelId="{16539D17-2819-4CB5-B082-85AB37D5B4D8}" type="pres">
      <dgm:prSet presAssocID="{19D3E36B-AB86-4D8F-B408-AFCE18B2F968}" presName="childText" presStyleLbl="conFgAcc1" presStyleIdx="1" presStyleCnt="8">
        <dgm:presLayoutVars>
          <dgm:bulletEnabled val="1"/>
        </dgm:presLayoutVars>
      </dgm:prSet>
      <dgm:spPr/>
    </dgm:pt>
    <dgm:pt modelId="{4B46B386-3D2B-4C30-BE05-57643FEA6087}" type="pres">
      <dgm:prSet presAssocID="{6E20D4CF-83C3-4DAD-8809-32C44B227CB7}" presName="spaceBetweenRectangles" presStyleCnt="0"/>
      <dgm:spPr/>
    </dgm:pt>
    <dgm:pt modelId="{52FF6A7C-2E7B-458A-B488-5808DAD7B191}" type="pres">
      <dgm:prSet presAssocID="{FD55F7F7-2C83-453A-9072-6CFAEAAB00F2}" presName="parentLin" presStyleCnt="0"/>
      <dgm:spPr/>
    </dgm:pt>
    <dgm:pt modelId="{29E63D2C-B877-4014-A38D-FC0095DA02C8}" type="pres">
      <dgm:prSet presAssocID="{FD55F7F7-2C83-453A-9072-6CFAEAAB00F2}" presName="parentLeftMargin" presStyleLbl="node1" presStyleIdx="1" presStyleCnt="8"/>
      <dgm:spPr/>
    </dgm:pt>
    <dgm:pt modelId="{77CF62F0-0F67-40DC-8542-461263097C38}" type="pres">
      <dgm:prSet presAssocID="{FD55F7F7-2C83-453A-9072-6CFAEAAB00F2}" presName="parentText" presStyleLbl="node1" presStyleIdx="2" presStyleCnt="8">
        <dgm:presLayoutVars>
          <dgm:chMax val="0"/>
          <dgm:bulletEnabled val="1"/>
        </dgm:presLayoutVars>
      </dgm:prSet>
      <dgm:spPr>
        <a:xfrm>
          <a:off x="548460" y="1375633"/>
          <a:ext cx="7678440" cy="265680"/>
        </a:xfrm>
        <a:prstGeom prst="roundRect">
          <a:avLst/>
        </a:prstGeom>
      </dgm:spPr>
    </dgm:pt>
    <dgm:pt modelId="{49F37595-5DAC-4BE7-A14F-5B96A5FED25E}" type="pres">
      <dgm:prSet presAssocID="{FD55F7F7-2C83-453A-9072-6CFAEAAB00F2}" presName="negativeSpace" presStyleCnt="0"/>
      <dgm:spPr/>
    </dgm:pt>
    <dgm:pt modelId="{896089C3-56E3-48B7-9CB7-BE11962F3131}" type="pres">
      <dgm:prSet presAssocID="{FD55F7F7-2C83-453A-9072-6CFAEAAB00F2}" presName="childText" presStyleLbl="conFgAcc1" presStyleIdx="2" presStyleCnt="8">
        <dgm:presLayoutVars>
          <dgm:bulletEnabled val="1"/>
        </dgm:presLayoutVars>
      </dgm:prSet>
      <dgm:spPr>
        <a:xfrm>
          <a:off x="0" y="1508473"/>
          <a:ext cx="10969200" cy="652050"/>
        </a:xfrm>
        <a:prstGeom prst="rect">
          <a:avLst/>
        </a:prstGeom>
      </dgm:spPr>
    </dgm:pt>
    <dgm:pt modelId="{622FCAF0-0B18-43F8-A72D-D9853F063490}" type="pres">
      <dgm:prSet presAssocID="{0B7A0C85-C65D-421F-869D-5E7584D7F91D}" presName="spaceBetweenRectangles" presStyleCnt="0"/>
      <dgm:spPr/>
    </dgm:pt>
    <dgm:pt modelId="{27DF0DAC-CBD2-43D4-A471-FDCC36AF870B}" type="pres">
      <dgm:prSet presAssocID="{0FEB0835-E213-45E2-B30D-734199CEAC38}" presName="parentLin" presStyleCnt="0"/>
      <dgm:spPr/>
    </dgm:pt>
    <dgm:pt modelId="{320DDBDB-403F-48CF-B7E5-B08670E2B32F}" type="pres">
      <dgm:prSet presAssocID="{0FEB0835-E213-45E2-B30D-734199CEAC38}" presName="parentLeftMargin" presStyleLbl="node1" presStyleIdx="2" presStyleCnt="8"/>
      <dgm:spPr/>
    </dgm:pt>
    <dgm:pt modelId="{8B737F45-C7AA-4B15-BF57-C3BDDF01C565}" type="pres">
      <dgm:prSet presAssocID="{0FEB0835-E213-45E2-B30D-734199CEAC38}" presName="parentText" presStyleLbl="node1" presStyleIdx="3" presStyleCnt="8">
        <dgm:presLayoutVars>
          <dgm:chMax val="0"/>
          <dgm:bulletEnabled val="1"/>
        </dgm:presLayoutVars>
      </dgm:prSet>
      <dgm:spPr/>
    </dgm:pt>
    <dgm:pt modelId="{837BFE58-6FC4-4174-A502-DC7E1585A9EE}" type="pres">
      <dgm:prSet presAssocID="{0FEB0835-E213-45E2-B30D-734199CEAC38}" presName="negativeSpace" presStyleCnt="0"/>
      <dgm:spPr/>
    </dgm:pt>
    <dgm:pt modelId="{1080CE5F-0C34-40B1-B1BF-1963AF1DBE91}" type="pres">
      <dgm:prSet presAssocID="{0FEB0835-E213-45E2-B30D-734199CEAC38}" presName="childText" presStyleLbl="conFgAcc1" presStyleIdx="3" presStyleCnt="8">
        <dgm:presLayoutVars>
          <dgm:bulletEnabled val="1"/>
        </dgm:presLayoutVars>
      </dgm:prSet>
      <dgm:spPr/>
    </dgm:pt>
    <dgm:pt modelId="{E26A3660-A7B5-4115-A5DB-9C68DADE2CAB}" type="pres">
      <dgm:prSet presAssocID="{CC0DAD77-8536-44E1-A148-2117C9C271EB}" presName="spaceBetweenRectangles" presStyleCnt="0"/>
      <dgm:spPr/>
    </dgm:pt>
    <dgm:pt modelId="{6AF99173-E160-45CF-B575-2C04170966C6}" type="pres">
      <dgm:prSet presAssocID="{986E9A5B-6028-4CEE-A87A-00012E784FA5}" presName="parentLin" presStyleCnt="0"/>
      <dgm:spPr/>
    </dgm:pt>
    <dgm:pt modelId="{E489D11D-47C3-4C13-AB70-A45803A32CA4}" type="pres">
      <dgm:prSet presAssocID="{986E9A5B-6028-4CEE-A87A-00012E784FA5}" presName="parentLeftMargin" presStyleLbl="node1" presStyleIdx="3" presStyleCnt="8"/>
      <dgm:spPr/>
    </dgm:pt>
    <dgm:pt modelId="{7B371590-38D0-4EA2-A0EF-7AEAFA73CFD4}" type="pres">
      <dgm:prSet presAssocID="{986E9A5B-6028-4CEE-A87A-00012E784FA5}" presName="parentText" presStyleLbl="node1" presStyleIdx="4" presStyleCnt="8">
        <dgm:presLayoutVars>
          <dgm:chMax val="0"/>
          <dgm:bulletEnabled val="1"/>
        </dgm:presLayoutVars>
      </dgm:prSet>
      <dgm:spPr/>
    </dgm:pt>
    <dgm:pt modelId="{1DA23BE0-03B6-4902-9DDA-CBF785DF3748}" type="pres">
      <dgm:prSet presAssocID="{986E9A5B-6028-4CEE-A87A-00012E784FA5}" presName="negativeSpace" presStyleCnt="0"/>
      <dgm:spPr/>
    </dgm:pt>
    <dgm:pt modelId="{52416394-0E07-4B5C-8E03-7A7A47BAF4A6}" type="pres">
      <dgm:prSet presAssocID="{986E9A5B-6028-4CEE-A87A-00012E784FA5}" presName="childText" presStyleLbl="conFgAcc1" presStyleIdx="4" presStyleCnt="8">
        <dgm:presLayoutVars>
          <dgm:bulletEnabled val="1"/>
        </dgm:presLayoutVars>
      </dgm:prSet>
      <dgm:spPr/>
    </dgm:pt>
    <dgm:pt modelId="{C9207604-196C-45F4-AA35-62A91FFA00E9}" type="pres">
      <dgm:prSet presAssocID="{9ED1E4F6-8A9D-4E62-9377-91022014D58C}" presName="spaceBetweenRectangles" presStyleCnt="0"/>
      <dgm:spPr/>
    </dgm:pt>
    <dgm:pt modelId="{6FF555E5-9F0F-4725-B302-B145DDF695B7}" type="pres">
      <dgm:prSet presAssocID="{51356AC0-1C58-408E-9D17-EECEF225B011}" presName="parentLin" presStyleCnt="0"/>
      <dgm:spPr/>
    </dgm:pt>
    <dgm:pt modelId="{EA480AA7-CD55-4031-B899-735E84A9BDF4}" type="pres">
      <dgm:prSet presAssocID="{51356AC0-1C58-408E-9D17-EECEF225B011}" presName="parentLeftMargin" presStyleLbl="node1" presStyleIdx="4" presStyleCnt="8"/>
      <dgm:spPr/>
    </dgm:pt>
    <dgm:pt modelId="{DB4A4D0C-6E9E-46D9-826C-775DDF92A306}" type="pres">
      <dgm:prSet presAssocID="{51356AC0-1C58-408E-9D17-EECEF225B011}" presName="parentText" presStyleLbl="node1" presStyleIdx="5" presStyleCnt="8">
        <dgm:presLayoutVars>
          <dgm:chMax val="0"/>
          <dgm:bulletEnabled val="1"/>
        </dgm:presLayoutVars>
      </dgm:prSet>
      <dgm:spPr/>
    </dgm:pt>
    <dgm:pt modelId="{47E48F03-7207-4D53-BAE0-B560EAA1E6D2}" type="pres">
      <dgm:prSet presAssocID="{51356AC0-1C58-408E-9D17-EECEF225B011}" presName="negativeSpace" presStyleCnt="0"/>
      <dgm:spPr/>
    </dgm:pt>
    <dgm:pt modelId="{9494A0A1-E57B-4B55-927A-7FD06E3FEA49}" type="pres">
      <dgm:prSet presAssocID="{51356AC0-1C58-408E-9D17-EECEF225B011}" presName="childText" presStyleLbl="conFgAcc1" presStyleIdx="5" presStyleCnt="8">
        <dgm:presLayoutVars>
          <dgm:bulletEnabled val="1"/>
        </dgm:presLayoutVars>
      </dgm:prSet>
      <dgm:spPr/>
    </dgm:pt>
    <dgm:pt modelId="{596E1E4B-30BC-443A-8C15-D7AC955A5ED8}" type="pres">
      <dgm:prSet presAssocID="{8C45A899-FA69-4074-8E00-44FE98CD698B}" presName="spaceBetweenRectangles" presStyleCnt="0"/>
      <dgm:spPr/>
    </dgm:pt>
    <dgm:pt modelId="{F338E5A6-D9A4-4FBB-925C-5E70E05B882A}" type="pres">
      <dgm:prSet presAssocID="{A0900D4E-F7C3-47E3-B618-0170FF445315}" presName="parentLin" presStyleCnt="0"/>
      <dgm:spPr/>
    </dgm:pt>
    <dgm:pt modelId="{62E797A4-2A47-461C-9567-2A0B329F61BD}" type="pres">
      <dgm:prSet presAssocID="{A0900D4E-F7C3-47E3-B618-0170FF445315}" presName="parentLeftMargin" presStyleLbl="node1" presStyleIdx="5" presStyleCnt="8"/>
      <dgm:spPr/>
    </dgm:pt>
    <dgm:pt modelId="{4CC365B4-FBAC-4FD2-834D-F2E925EE6E43}" type="pres">
      <dgm:prSet presAssocID="{A0900D4E-F7C3-47E3-B618-0170FF445315}" presName="parentText" presStyleLbl="node1" presStyleIdx="6" presStyleCnt="8">
        <dgm:presLayoutVars>
          <dgm:chMax val="0"/>
          <dgm:bulletEnabled val="1"/>
        </dgm:presLayoutVars>
      </dgm:prSet>
      <dgm:spPr/>
    </dgm:pt>
    <dgm:pt modelId="{3C4088BE-1C33-4179-8D64-436B408AC8D6}" type="pres">
      <dgm:prSet presAssocID="{A0900D4E-F7C3-47E3-B618-0170FF445315}" presName="negativeSpace" presStyleCnt="0"/>
      <dgm:spPr/>
    </dgm:pt>
    <dgm:pt modelId="{40C8B5E6-32BC-4949-BCCB-FE92E9EAC757}" type="pres">
      <dgm:prSet presAssocID="{A0900D4E-F7C3-47E3-B618-0170FF445315}" presName="childText" presStyleLbl="conFgAcc1" presStyleIdx="6" presStyleCnt="8">
        <dgm:presLayoutVars>
          <dgm:bulletEnabled val="1"/>
        </dgm:presLayoutVars>
      </dgm:prSet>
      <dgm:spPr>
        <a:prstGeom prst="rect">
          <a:avLst/>
        </a:prstGeom>
      </dgm:spPr>
    </dgm:pt>
    <dgm:pt modelId="{5376C23D-8EAD-46A3-9E98-21A97CEEC546}" type="pres">
      <dgm:prSet presAssocID="{251B4F85-6E48-4F95-B759-D8D83F1B2D21}" presName="spaceBetweenRectangles" presStyleCnt="0"/>
      <dgm:spPr/>
    </dgm:pt>
    <dgm:pt modelId="{6D5BF531-CABB-4187-AE60-2C3A3B8D1BEF}" type="pres">
      <dgm:prSet presAssocID="{CB87BD8A-86C2-4E22-A013-9432EF0434AB}" presName="parentLin" presStyleCnt="0"/>
      <dgm:spPr/>
    </dgm:pt>
    <dgm:pt modelId="{F57F7D1B-0689-40D1-B2AE-3929F3651644}" type="pres">
      <dgm:prSet presAssocID="{CB87BD8A-86C2-4E22-A013-9432EF0434AB}" presName="parentLeftMargin" presStyleLbl="node1" presStyleIdx="6" presStyleCnt="8"/>
      <dgm:spPr/>
    </dgm:pt>
    <dgm:pt modelId="{1DF51D1D-9D11-422C-B2ED-4397770A2EA6}" type="pres">
      <dgm:prSet presAssocID="{CB87BD8A-86C2-4E22-A013-9432EF0434AB}" presName="parentText" presStyleLbl="node1" presStyleIdx="7" presStyleCnt="8">
        <dgm:presLayoutVars>
          <dgm:chMax val="0"/>
          <dgm:bulletEnabled val="1"/>
        </dgm:presLayoutVars>
      </dgm:prSet>
      <dgm:spPr>
        <a:xfrm>
          <a:off x="548460" y="4826188"/>
          <a:ext cx="7678440" cy="324720"/>
        </a:xfrm>
        <a:prstGeom prst="roundRect">
          <a:avLst/>
        </a:prstGeom>
      </dgm:spPr>
    </dgm:pt>
    <dgm:pt modelId="{31B2326A-F313-4400-BC9C-A770DB5DA315}" type="pres">
      <dgm:prSet presAssocID="{CB87BD8A-86C2-4E22-A013-9432EF0434AB}" presName="negativeSpace" presStyleCnt="0"/>
      <dgm:spPr/>
    </dgm:pt>
    <dgm:pt modelId="{4D359B5E-47CB-4066-ABAE-EFC0897B592D}" type="pres">
      <dgm:prSet presAssocID="{CB87BD8A-86C2-4E22-A013-9432EF0434AB}" presName="childText" presStyleLbl="conFgAcc1" presStyleIdx="7" presStyleCnt="8">
        <dgm:presLayoutVars>
          <dgm:bulletEnabled val="1"/>
        </dgm:presLayoutVars>
      </dgm:prSet>
      <dgm:spPr/>
    </dgm:pt>
  </dgm:ptLst>
  <dgm:cxnLst>
    <dgm:cxn modelId="{7C53E401-FAD8-4D6B-AEBC-D7B5F474C6C1}" type="presOf" srcId="{986E9A5B-6028-4CEE-A87A-00012E784FA5}" destId="{E489D11D-47C3-4C13-AB70-A45803A32CA4}" srcOrd="0" destOrd="0" presId="urn:microsoft.com/office/officeart/2005/8/layout/list1"/>
    <dgm:cxn modelId="{1C7DC103-F19A-41FC-9CFC-5A1B996ECDDB}" srcId="{FD55F7F7-2C83-453A-9072-6CFAEAAB00F2}" destId="{3701B573-09FA-4031-9E04-7407B7AC6546}" srcOrd="0" destOrd="0" parTransId="{136DAE8B-EAEC-4A41-82C2-0DECF26F3287}" sibTransId="{8D396A3D-00C9-47AC-BF4A-B80E52A4D906}"/>
    <dgm:cxn modelId="{8A65A604-E5E4-4539-A857-DB66421C35AA}" srcId="{19D3E36B-AB86-4D8F-B408-AFCE18B2F968}" destId="{64ECB345-AF22-4AD0-86BA-85D2395C7D19}" srcOrd="0" destOrd="0" parTransId="{53EEA7F2-B2BE-467C-9030-3DE9CF49A7E6}" sibTransId="{83285572-7513-423E-8D1A-A10EB28B1AA5}"/>
    <dgm:cxn modelId="{9FDC6D05-1400-44D8-A6E3-DE30C49D29C1}" type="presOf" srcId="{0FEB0835-E213-45E2-B30D-734199CEAC38}" destId="{320DDBDB-403F-48CF-B7E5-B08670E2B32F}" srcOrd="0" destOrd="0" presId="urn:microsoft.com/office/officeart/2005/8/layout/list1"/>
    <dgm:cxn modelId="{17B24D07-EFDD-4A0A-8CF6-A8BFB28985DF}" type="presOf" srcId="{19D3E36B-AB86-4D8F-B408-AFCE18B2F968}" destId="{DB270920-EFCA-4C63-B7F7-9DFDA007D9C9}" srcOrd="1" destOrd="0" presId="urn:microsoft.com/office/officeart/2005/8/layout/list1"/>
    <dgm:cxn modelId="{4A23C011-778D-4D4B-A9CF-7856105C4403}" srcId="{0201D97B-539B-44EB-B92C-D8C0765020EC}" destId="{FD55F7F7-2C83-453A-9072-6CFAEAAB00F2}" srcOrd="2" destOrd="0" parTransId="{1F3782C1-03E4-46B3-8453-D18E6EE09D1D}" sibTransId="{0B7A0C85-C65D-421F-869D-5E7584D7F91D}"/>
    <dgm:cxn modelId="{69781412-828A-4946-BEFD-55084DC2F530}" srcId="{0201D97B-539B-44EB-B92C-D8C0765020EC}" destId="{986E9A5B-6028-4CEE-A87A-00012E784FA5}" srcOrd="4" destOrd="0" parTransId="{AD6C4B5A-E704-4085-875C-29DEC7501E61}" sibTransId="{9ED1E4F6-8A9D-4E62-9377-91022014D58C}"/>
    <dgm:cxn modelId="{7C928412-7B69-4875-8F11-A7463D8B002F}" type="presOf" srcId="{C445ADB6-476D-4B6F-B22C-617F8BA3AF2D}" destId="{FD4A96DA-E5EE-4DBB-A84F-D37C509E48B5}" srcOrd="1" destOrd="0" presId="urn:microsoft.com/office/officeart/2005/8/layout/list1"/>
    <dgm:cxn modelId="{1A8DB115-C9BF-4B3E-9FC9-A90DFA968D35}" srcId="{0FEB0835-E213-45E2-B30D-734199CEAC38}" destId="{B111A9FC-58E6-40EF-939B-61684086BEB8}" srcOrd="0" destOrd="0" parTransId="{3AAEED1E-D786-44A1-A193-8A0FB619155E}" sibTransId="{6EB58809-CA51-4CC9-919A-B8659EE6FB4F}"/>
    <dgm:cxn modelId="{930F861A-9AE8-4C00-B26C-33E39F1AB7CC}" type="presOf" srcId="{11AE0C15-FDE0-4E2E-9F4A-B1FBDE2684D8}" destId="{72BCFBB7-DAA7-4DBB-BCE4-18785795A9F2}" srcOrd="0" destOrd="0" presId="urn:microsoft.com/office/officeart/2005/8/layout/list1"/>
    <dgm:cxn modelId="{DD4CD622-A4CE-4A76-A5A8-46416E890955}" srcId="{0201D97B-539B-44EB-B92C-D8C0765020EC}" destId="{0FEB0835-E213-45E2-B30D-734199CEAC38}" srcOrd="3" destOrd="0" parTransId="{3C222096-72BC-4BC1-AF3B-92995F6A222F}" sibTransId="{CC0DAD77-8536-44E1-A148-2117C9C271EB}"/>
    <dgm:cxn modelId="{4DE6F322-FA98-45C1-9B98-CDD2DF34F653}" type="presOf" srcId="{B111A9FC-58E6-40EF-939B-61684086BEB8}" destId="{1080CE5F-0C34-40B1-B1BF-1963AF1DBE91}" srcOrd="0" destOrd="0" presId="urn:microsoft.com/office/officeart/2005/8/layout/list1"/>
    <dgm:cxn modelId="{889D3523-CE1B-4F87-809D-5748ECE671DE}" type="presOf" srcId="{FD55F7F7-2C83-453A-9072-6CFAEAAB00F2}" destId="{29E63D2C-B877-4014-A38D-FC0095DA02C8}" srcOrd="0" destOrd="0" presId="urn:microsoft.com/office/officeart/2005/8/layout/list1"/>
    <dgm:cxn modelId="{0DA8B228-CB9E-4BCA-BF22-73E2E281361A}" type="presOf" srcId="{6AF08070-6440-4439-96C1-830F5DB869E8}" destId="{896089C3-56E3-48B7-9CB7-BE11962F3131}" srcOrd="0" destOrd="1" presId="urn:microsoft.com/office/officeart/2005/8/layout/list1"/>
    <dgm:cxn modelId="{58133D2E-2EEA-43DB-B62C-0BF391D53F4A}" srcId="{0201D97B-539B-44EB-B92C-D8C0765020EC}" destId="{A0900D4E-F7C3-47E3-B618-0170FF445315}" srcOrd="6" destOrd="0" parTransId="{246A0D4D-2A56-42CD-AB9D-B60CAB0F04D9}" sibTransId="{251B4F85-6E48-4F95-B759-D8D83F1B2D21}"/>
    <dgm:cxn modelId="{223C983A-5B48-47AA-9389-7893BD6E2731}" srcId="{FD55F7F7-2C83-453A-9072-6CFAEAAB00F2}" destId="{6AF08070-6440-4439-96C1-830F5DB869E8}" srcOrd="1" destOrd="0" parTransId="{336F5488-70BA-42E7-9AD7-21D494846C5E}" sibTransId="{7C9D71EC-578F-4DA6-9DD7-9AA5F2E4CEE4}"/>
    <dgm:cxn modelId="{CD41613C-8D7F-443C-AEA6-D709C8B2BC2C}" type="presOf" srcId="{C445ADB6-476D-4B6F-B22C-617F8BA3AF2D}" destId="{7F8884AA-25FE-414F-A976-11A1DD5858A9}" srcOrd="0" destOrd="0" presId="urn:microsoft.com/office/officeart/2005/8/layout/list1"/>
    <dgm:cxn modelId="{0A003E60-D2DD-4BA6-AD45-059019741C8E}" srcId="{0201D97B-539B-44EB-B92C-D8C0765020EC}" destId="{19D3E36B-AB86-4D8F-B408-AFCE18B2F968}" srcOrd="1" destOrd="0" parTransId="{519A0E9B-97F1-4A05-BD7C-96C078019197}" sibTransId="{6E20D4CF-83C3-4DAD-8809-32C44B227CB7}"/>
    <dgm:cxn modelId="{782E5862-E834-432C-A7F3-0A209B715790}" type="presOf" srcId="{19D3E36B-AB86-4D8F-B408-AFCE18B2F968}" destId="{829EAAFE-AE5B-4819-96B9-F9EA0D6518A3}" srcOrd="0" destOrd="0" presId="urn:microsoft.com/office/officeart/2005/8/layout/list1"/>
    <dgm:cxn modelId="{3322B363-E25D-4FA2-B4B1-223F3A02D28B}" srcId="{0201D97B-539B-44EB-B92C-D8C0765020EC}" destId="{51356AC0-1C58-408E-9D17-EECEF225B011}" srcOrd="5" destOrd="0" parTransId="{8D641BA6-E587-45A5-BD6E-60C0AC92C642}" sibTransId="{8C45A899-FA69-4074-8E00-44FE98CD698B}"/>
    <dgm:cxn modelId="{12C3E143-5424-4741-9F16-AC4DB74D3B45}" type="presOf" srcId="{0FEB0835-E213-45E2-B30D-734199CEAC38}" destId="{8B737F45-C7AA-4B15-BF57-C3BDDF01C565}" srcOrd="1" destOrd="0" presId="urn:microsoft.com/office/officeart/2005/8/layout/list1"/>
    <dgm:cxn modelId="{09C5D749-3E0F-4EB6-8EFE-2D5C80991FC3}" type="presOf" srcId="{986E9A5B-6028-4CEE-A87A-00012E784FA5}" destId="{7B371590-38D0-4EA2-A0EF-7AEAFA73CFD4}" srcOrd="1" destOrd="0" presId="urn:microsoft.com/office/officeart/2005/8/layout/list1"/>
    <dgm:cxn modelId="{5299B76E-BEBD-4304-B1F2-76BE6A2C45C6}" srcId="{CB87BD8A-86C2-4E22-A013-9432EF0434AB}" destId="{FCAA03AB-19E3-4970-A112-7E49AFB534B1}" srcOrd="0" destOrd="0" parTransId="{29095B94-E8C8-4862-89BA-7C3072A259FD}" sibTransId="{98A06525-2221-456B-9398-127530FF9A08}"/>
    <dgm:cxn modelId="{8E264784-0580-4C7E-A293-BF5D534ED5C3}" srcId="{A0900D4E-F7C3-47E3-B618-0170FF445315}" destId="{83FA59C7-4FD6-42B6-8AB2-769656C2C85A}" srcOrd="0" destOrd="0" parTransId="{8806727A-183F-4609-ABA9-09D1774F22F6}" sibTransId="{E6FBBD19-0EBD-45D7-9191-A4544D69F0A6}"/>
    <dgm:cxn modelId="{C1124887-9BDF-4E5B-9F8D-16D7F96294C0}" srcId="{0201D97B-539B-44EB-B92C-D8C0765020EC}" destId="{CB87BD8A-86C2-4E22-A013-9432EF0434AB}" srcOrd="7" destOrd="0" parTransId="{52641F3E-F9CB-4841-AEEB-62C413F9C877}" sibTransId="{573D417A-EDAF-4DF9-81AC-6BA5B0E12ACD}"/>
    <dgm:cxn modelId="{1A127A9B-88DD-4CA0-A29A-FAD69C6A0A19}" type="presOf" srcId="{51356AC0-1C58-408E-9D17-EECEF225B011}" destId="{EA480AA7-CD55-4031-B899-735E84A9BDF4}" srcOrd="0" destOrd="0" presId="urn:microsoft.com/office/officeart/2005/8/layout/list1"/>
    <dgm:cxn modelId="{DAF8849F-DED2-4262-BC9F-224BC448267C}" srcId="{0201D97B-539B-44EB-B92C-D8C0765020EC}" destId="{C445ADB6-476D-4B6F-B22C-617F8BA3AF2D}" srcOrd="0" destOrd="0" parTransId="{BBF3D41A-D2F2-4796-89B5-3C2FEE257FAA}" sibTransId="{76122A85-6A34-4220-B02E-2A51828648BB}"/>
    <dgm:cxn modelId="{BE7161A9-294F-43AB-B9CC-D8543D5FCA2B}" type="presOf" srcId="{07E199D5-3C1A-476E-A544-BA034990E8F2}" destId="{9494A0A1-E57B-4B55-927A-7FD06E3FEA49}" srcOrd="0" destOrd="0" presId="urn:microsoft.com/office/officeart/2005/8/layout/list1"/>
    <dgm:cxn modelId="{2D4E38AC-FD9C-4066-9513-E361C05012CE}" type="presOf" srcId="{A0900D4E-F7C3-47E3-B618-0170FF445315}" destId="{62E797A4-2A47-461C-9567-2A0B329F61BD}" srcOrd="0" destOrd="0" presId="urn:microsoft.com/office/officeart/2005/8/layout/list1"/>
    <dgm:cxn modelId="{7C3C57B4-6537-4A78-B20C-8573D95772EB}" srcId="{986E9A5B-6028-4CEE-A87A-00012E784FA5}" destId="{871C8880-5C9F-447D-A5F6-79AA9BE825E8}" srcOrd="0" destOrd="0" parTransId="{FD0FE411-F823-40CB-8CD5-31B1D3E93652}" sibTransId="{98AD9CD3-97BB-4A29-B30B-EE6ADC5E398F}"/>
    <dgm:cxn modelId="{A889EEB4-E009-4CA6-A4DD-F6DF7A102727}" type="presOf" srcId="{CB87BD8A-86C2-4E22-A013-9432EF0434AB}" destId="{1DF51D1D-9D11-422C-B2ED-4397770A2EA6}" srcOrd="1" destOrd="0" presId="urn:microsoft.com/office/officeart/2005/8/layout/list1"/>
    <dgm:cxn modelId="{E1076FBB-D52C-4BA0-8F6D-DBD4F3987768}" type="presOf" srcId="{3701B573-09FA-4031-9E04-7407B7AC6546}" destId="{896089C3-56E3-48B7-9CB7-BE11962F3131}" srcOrd="0" destOrd="0" presId="urn:microsoft.com/office/officeart/2005/8/layout/list1"/>
    <dgm:cxn modelId="{3D78F1C0-D15B-4CF2-AC71-4ACA47511821}" type="presOf" srcId="{FCAA03AB-19E3-4970-A112-7E49AFB534B1}" destId="{4D359B5E-47CB-4066-ABAE-EFC0897B592D}" srcOrd="0" destOrd="0" presId="urn:microsoft.com/office/officeart/2005/8/layout/list1"/>
    <dgm:cxn modelId="{FD8FE1C5-2416-458C-9444-7E97AD067FD2}" srcId="{C445ADB6-476D-4B6F-B22C-617F8BA3AF2D}" destId="{11AE0C15-FDE0-4E2E-9F4A-B1FBDE2684D8}" srcOrd="0" destOrd="0" parTransId="{E4D5A864-7464-4848-A5EA-7DB367A40210}" sibTransId="{9B5E54AB-D2B4-4107-8E3A-8EF7BAC7F688}"/>
    <dgm:cxn modelId="{2310DAC8-5C97-46A6-890F-84F51F019950}" type="presOf" srcId="{51356AC0-1C58-408E-9D17-EECEF225B011}" destId="{DB4A4D0C-6E9E-46D9-826C-775DDF92A306}" srcOrd="1" destOrd="0" presId="urn:microsoft.com/office/officeart/2005/8/layout/list1"/>
    <dgm:cxn modelId="{BF5066D3-A19F-42B7-93F4-6E9BCFA1E2C8}" type="presOf" srcId="{CB87BD8A-86C2-4E22-A013-9432EF0434AB}" destId="{F57F7D1B-0689-40D1-B2AE-3929F3651644}" srcOrd="0" destOrd="0" presId="urn:microsoft.com/office/officeart/2005/8/layout/list1"/>
    <dgm:cxn modelId="{6886CEE0-8337-46E2-8568-35790DAC7A63}" type="presOf" srcId="{83FA59C7-4FD6-42B6-8AB2-769656C2C85A}" destId="{40C8B5E6-32BC-4949-BCCB-FE92E9EAC757}" srcOrd="0" destOrd="0" presId="urn:microsoft.com/office/officeart/2005/8/layout/list1"/>
    <dgm:cxn modelId="{760049E1-83E7-4DEE-87B5-A1E70AA7DB49}" type="presOf" srcId="{FD55F7F7-2C83-453A-9072-6CFAEAAB00F2}" destId="{77CF62F0-0F67-40DC-8542-461263097C38}" srcOrd="1" destOrd="0" presId="urn:microsoft.com/office/officeart/2005/8/layout/list1"/>
    <dgm:cxn modelId="{CF9AEEE2-23A7-47C4-BF06-E8EF5F6B22F0}" type="presOf" srcId="{0201D97B-539B-44EB-B92C-D8C0765020EC}" destId="{4A3A17A6-FCE5-426F-A517-9A3882826947}" srcOrd="0" destOrd="0" presId="urn:microsoft.com/office/officeart/2005/8/layout/list1"/>
    <dgm:cxn modelId="{7D9997EA-0B36-47B6-804E-D5728190EF70}" type="presOf" srcId="{64ECB345-AF22-4AD0-86BA-85D2395C7D19}" destId="{16539D17-2819-4CB5-B082-85AB37D5B4D8}" srcOrd="0" destOrd="0" presId="urn:microsoft.com/office/officeart/2005/8/layout/list1"/>
    <dgm:cxn modelId="{0E4B0FF5-7497-459B-BC39-569A5FF9C82B}" type="presOf" srcId="{871C8880-5C9F-447D-A5F6-79AA9BE825E8}" destId="{52416394-0E07-4B5C-8E03-7A7A47BAF4A6}" srcOrd="0" destOrd="0" presId="urn:microsoft.com/office/officeart/2005/8/layout/list1"/>
    <dgm:cxn modelId="{803E85F6-2729-4B64-A4BE-DE351071B2FC}" type="presOf" srcId="{A0900D4E-F7C3-47E3-B618-0170FF445315}" destId="{4CC365B4-FBAC-4FD2-834D-F2E925EE6E43}" srcOrd="1" destOrd="0" presId="urn:microsoft.com/office/officeart/2005/8/layout/list1"/>
    <dgm:cxn modelId="{2EEFA4F6-7F87-4A51-833E-455161360E46}" srcId="{51356AC0-1C58-408E-9D17-EECEF225B011}" destId="{07E199D5-3C1A-476E-A544-BA034990E8F2}" srcOrd="0" destOrd="0" parTransId="{5B269AEA-FB7F-4D37-8687-89B2B06BD1F3}" sibTransId="{640B2A71-A989-4F09-9004-636715524112}"/>
    <dgm:cxn modelId="{1559A2F2-6EFD-4747-89E8-D9C9A85F7B38}" type="presParOf" srcId="{4A3A17A6-FCE5-426F-A517-9A3882826947}" destId="{59D4757E-6531-4EA6-A97E-D1507B780B7F}" srcOrd="0" destOrd="0" presId="urn:microsoft.com/office/officeart/2005/8/layout/list1"/>
    <dgm:cxn modelId="{F882489D-3E1D-4C97-B84E-0356890C048E}" type="presParOf" srcId="{59D4757E-6531-4EA6-A97E-D1507B780B7F}" destId="{7F8884AA-25FE-414F-A976-11A1DD5858A9}" srcOrd="0" destOrd="0" presId="urn:microsoft.com/office/officeart/2005/8/layout/list1"/>
    <dgm:cxn modelId="{17930684-71C2-490B-B60E-C56365E2DCC4}" type="presParOf" srcId="{59D4757E-6531-4EA6-A97E-D1507B780B7F}" destId="{FD4A96DA-E5EE-4DBB-A84F-D37C509E48B5}" srcOrd="1" destOrd="0" presId="urn:microsoft.com/office/officeart/2005/8/layout/list1"/>
    <dgm:cxn modelId="{95EEDF99-DF5C-4FD0-9C04-9BF732B6CEC7}" type="presParOf" srcId="{4A3A17A6-FCE5-426F-A517-9A3882826947}" destId="{6498E26B-69F0-4560-B255-60E3D9E03982}" srcOrd="1" destOrd="0" presId="urn:microsoft.com/office/officeart/2005/8/layout/list1"/>
    <dgm:cxn modelId="{B39681D9-0C4F-4FCD-9E75-A7CED4E0D79D}" type="presParOf" srcId="{4A3A17A6-FCE5-426F-A517-9A3882826947}" destId="{72BCFBB7-DAA7-4DBB-BCE4-18785795A9F2}" srcOrd="2" destOrd="0" presId="urn:microsoft.com/office/officeart/2005/8/layout/list1"/>
    <dgm:cxn modelId="{E415F9B6-8E3C-4B61-B92B-124293A5CC66}" type="presParOf" srcId="{4A3A17A6-FCE5-426F-A517-9A3882826947}" destId="{C3114C9B-62DF-46C6-8632-4D45A33E040A}" srcOrd="3" destOrd="0" presId="urn:microsoft.com/office/officeart/2005/8/layout/list1"/>
    <dgm:cxn modelId="{E73DC0AA-51EC-4E70-A409-C4DC6A06E6C4}" type="presParOf" srcId="{4A3A17A6-FCE5-426F-A517-9A3882826947}" destId="{8E506A34-5876-4EE8-AAFE-02FBBA4280FB}" srcOrd="4" destOrd="0" presId="urn:microsoft.com/office/officeart/2005/8/layout/list1"/>
    <dgm:cxn modelId="{55E8B8E1-99B9-4B9B-8B11-37FD322D2571}" type="presParOf" srcId="{8E506A34-5876-4EE8-AAFE-02FBBA4280FB}" destId="{829EAAFE-AE5B-4819-96B9-F9EA0D6518A3}" srcOrd="0" destOrd="0" presId="urn:microsoft.com/office/officeart/2005/8/layout/list1"/>
    <dgm:cxn modelId="{97B79DE3-9C55-4A41-891A-7938671F0923}" type="presParOf" srcId="{8E506A34-5876-4EE8-AAFE-02FBBA4280FB}" destId="{DB270920-EFCA-4C63-B7F7-9DFDA007D9C9}" srcOrd="1" destOrd="0" presId="urn:microsoft.com/office/officeart/2005/8/layout/list1"/>
    <dgm:cxn modelId="{169FFF0A-8176-4E70-86F4-951497F38154}" type="presParOf" srcId="{4A3A17A6-FCE5-426F-A517-9A3882826947}" destId="{7161EFFB-DB0A-461A-9B85-02953D152DE2}" srcOrd="5" destOrd="0" presId="urn:microsoft.com/office/officeart/2005/8/layout/list1"/>
    <dgm:cxn modelId="{C1AADF37-F760-4403-A142-BB717AD8E742}" type="presParOf" srcId="{4A3A17A6-FCE5-426F-A517-9A3882826947}" destId="{16539D17-2819-4CB5-B082-85AB37D5B4D8}" srcOrd="6" destOrd="0" presId="urn:microsoft.com/office/officeart/2005/8/layout/list1"/>
    <dgm:cxn modelId="{C5D2E75C-CF80-4D36-991E-6ABA5A14C5DC}" type="presParOf" srcId="{4A3A17A6-FCE5-426F-A517-9A3882826947}" destId="{4B46B386-3D2B-4C30-BE05-57643FEA6087}" srcOrd="7" destOrd="0" presId="urn:microsoft.com/office/officeart/2005/8/layout/list1"/>
    <dgm:cxn modelId="{6245AE7A-39A6-492F-8C6A-E4A2D08B89C7}" type="presParOf" srcId="{4A3A17A6-FCE5-426F-A517-9A3882826947}" destId="{52FF6A7C-2E7B-458A-B488-5808DAD7B191}" srcOrd="8" destOrd="0" presId="urn:microsoft.com/office/officeart/2005/8/layout/list1"/>
    <dgm:cxn modelId="{9503FA08-A88A-48C7-8DF3-934BA4D19163}" type="presParOf" srcId="{52FF6A7C-2E7B-458A-B488-5808DAD7B191}" destId="{29E63D2C-B877-4014-A38D-FC0095DA02C8}" srcOrd="0" destOrd="0" presId="urn:microsoft.com/office/officeart/2005/8/layout/list1"/>
    <dgm:cxn modelId="{625509C2-92A0-4EAC-94A5-5E69D4C5F5C1}" type="presParOf" srcId="{52FF6A7C-2E7B-458A-B488-5808DAD7B191}" destId="{77CF62F0-0F67-40DC-8542-461263097C38}" srcOrd="1" destOrd="0" presId="urn:microsoft.com/office/officeart/2005/8/layout/list1"/>
    <dgm:cxn modelId="{8EDC090B-794C-4728-9B43-162B8997FFEB}" type="presParOf" srcId="{4A3A17A6-FCE5-426F-A517-9A3882826947}" destId="{49F37595-5DAC-4BE7-A14F-5B96A5FED25E}" srcOrd="9" destOrd="0" presId="urn:microsoft.com/office/officeart/2005/8/layout/list1"/>
    <dgm:cxn modelId="{636066A6-605A-4E8A-B6B0-DC3F496F2340}" type="presParOf" srcId="{4A3A17A6-FCE5-426F-A517-9A3882826947}" destId="{896089C3-56E3-48B7-9CB7-BE11962F3131}" srcOrd="10" destOrd="0" presId="urn:microsoft.com/office/officeart/2005/8/layout/list1"/>
    <dgm:cxn modelId="{7E53DB8D-B187-41FA-8B18-56DC9F10DD71}" type="presParOf" srcId="{4A3A17A6-FCE5-426F-A517-9A3882826947}" destId="{622FCAF0-0B18-43F8-A72D-D9853F063490}" srcOrd="11" destOrd="0" presId="urn:microsoft.com/office/officeart/2005/8/layout/list1"/>
    <dgm:cxn modelId="{ECDA64AE-EA4C-4960-9306-12A5E59E4D51}" type="presParOf" srcId="{4A3A17A6-FCE5-426F-A517-9A3882826947}" destId="{27DF0DAC-CBD2-43D4-A471-FDCC36AF870B}" srcOrd="12" destOrd="0" presId="urn:microsoft.com/office/officeart/2005/8/layout/list1"/>
    <dgm:cxn modelId="{A8C276AD-3A3A-45E8-A7F1-171736E1D414}" type="presParOf" srcId="{27DF0DAC-CBD2-43D4-A471-FDCC36AF870B}" destId="{320DDBDB-403F-48CF-B7E5-B08670E2B32F}" srcOrd="0" destOrd="0" presId="urn:microsoft.com/office/officeart/2005/8/layout/list1"/>
    <dgm:cxn modelId="{401D6650-0A8F-438C-835D-A124E7D25872}" type="presParOf" srcId="{27DF0DAC-CBD2-43D4-A471-FDCC36AF870B}" destId="{8B737F45-C7AA-4B15-BF57-C3BDDF01C565}" srcOrd="1" destOrd="0" presId="urn:microsoft.com/office/officeart/2005/8/layout/list1"/>
    <dgm:cxn modelId="{1DECF6F1-BA21-49DA-8B57-4DA4FEBC8ECB}" type="presParOf" srcId="{4A3A17A6-FCE5-426F-A517-9A3882826947}" destId="{837BFE58-6FC4-4174-A502-DC7E1585A9EE}" srcOrd="13" destOrd="0" presId="urn:microsoft.com/office/officeart/2005/8/layout/list1"/>
    <dgm:cxn modelId="{14224D4D-ED0E-4866-ACFF-8EB7C1246E30}" type="presParOf" srcId="{4A3A17A6-FCE5-426F-A517-9A3882826947}" destId="{1080CE5F-0C34-40B1-B1BF-1963AF1DBE91}" srcOrd="14" destOrd="0" presId="urn:microsoft.com/office/officeart/2005/8/layout/list1"/>
    <dgm:cxn modelId="{705E6262-A321-4A25-814F-014A325E657F}" type="presParOf" srcId="{4A3A17A6-FCE5-426F-A517-9A3882826947}" destId="{E26A3660-A7B5-4115-A5DB-9C68DADE2CAB}" srcOrd="15" destOrd="0" presId="urn:microsoft.com/office/officeart/2005/8/layout/list1"/>
    <dgm:cxn modelId="{35BB7334-8F64-42ED-85AD-207A3048E1AB}" type="presParOf" srcId="{4A3A17A6-FCE5-426F-A517-9A3882826947}" destId="{6AF99173-E160-45CF-B575-2C04170966C6}" srcOrd="16" destOrd="0" presId="urn:microsoft.com/office/officeart/2005/8/layout/list1"/>
    <dgm:cxn modelId="{498E5521-ED0B-4BB5-8A73-2CEF18D073E1}" type="presParOf" srcId="{6AF99173-E160-45CF-B575-2C04170966C6}" destId="{E489D11D-47C3-4C13-AB70-A45803A32CA4}" srcOrd="0" destOrd="0" presId="urn:microsoft.com/office/officeart/2005/8/layout/list1"/>
    <dgm:cxn modelId="{25494790-276D-464B-AA55-2AD16E9273B4}" type="presParOf" srcId="{6AF99173-E160-45CF-B575-2C04170966C6}" destId="{7B371590-38D0-4EA2-A0EF-7AEAFA73CFD4}" srcOrd="1" destOrd="0" presId="urn:microsoft.com/office/officeart/2005/8/layout/list1"/>
    <dgm:cxn modelId="{93C0B4C2-A370-4433-A4F7-99CD0A1181AF}" type="presParOf" srcId="{4A3A17A6-FCE5-426F-A517-9A3882826947}" destId="{1DA23BE0-03B6-4902-9DDA-CBF785DF3748}" srcOrd="17" destOrd="0" presId="urn:microsoft.com/office/officeart/2005/8/layout/list1"/>
    <dgm:cxn modelId="{2F184494-5598-4A88-9DAB-3A32D6F29DA7}" type="presParOf" srcId="{4A3A17A6-FCE5-426F-A517-9A3882826947}" destId="{52416394-0E07-4B5C-8E03-7A7A47BAF4A6}" srcOrd="18" destOrd="0" presId="urn:microsoft.com/office/officeart/2005/8/layout/list1"/>
    <dgm:cxn modelId="{8D8A2C16-C53C-4F1B-8EC3-07CFB888BB46}" type="presParOf" srcId="{4A3A17A6-FCE5-426F-A517-9A3882826947}" destId="{C9207604-196C-45F4-AA35-62A91FFA00E9}" srcOrd="19" destOrd="0" presId="urn:microsoft.com/office/officeart/2005/8/layout/list1"/>
    <dgm:cxn modelId="{73491772-83B5-40CE-8E2F-5A48E9D68DBE}" type="presParOf" srcId="{4A3A17A6-FCE5-426F-A517-9A3882826947}" destId="{6FF555E5-9F0F-4725-B302-B145DDF695B7}" srcOrd="20" destOrd="0" presId="urn:microsoft.com/office/officeart/2005/8/layout/list1"/>
    <dgm:cxn modelId="{1B855388-63C4-446D-884F-951F40E77BAA}" type="presParOf" srcId="{6FF555E5-9F0F-4725-B302-B145DDF695B7}" destId="{EA480AA7-CD55-4031-B899-735E84A9BDF4}" srcOrd="0" destOrd="0" presId="urn:microsoft.com/office/officeart/2005/8/layout/list1"/>
    <dgm:cxn modelId="{CA03F1D2-1B0D-4EEA-9676-12D4A0EF616A}" type="presParOf" srcId="{6FF555E5-9F0F-4725-B302-B145DDF695B7}" destId="{DB4A4D0C-6E9E-46D9-826C-775DDF92A306}" srcOrd="1" destOrd="0" presId="urn:microsoft.com/office/officeart/2005/8/layout/list1"/>
    <dgm:cxn modelId="{A90D9F58-179D-493C-A534-49840FE94660}" type="presParOf" srcId="{4A3A17A6-FCE5-426F-A517-9A3882826947}" destId="{47E48F03-7207-4D53-BAE0-B560EAA1E6D2}" srcOrd="21" destOrd="0" presId="urn:microsoft.com/office/officeart/2005/8/layout/list1"/>
    <dgm:cxn modelId="{F0CB799F-A99F-43B2-8265-3EA5A1B0AD44}" type="presParOf" srcId="{4A3A17A6-FCE5-426F-A517-9A3882826947}" destId="{9494A0A1-E57B-4B55-927A-7FD06E3FEA49}" srcOrd="22" destOrd="0" presId="urn:microsoft.com/office/officeart/2005/8/layout/list1"/>
    <dgm:cxn modelId="{0531F46F-5942-480B-BAB7-56DF1F9E4AD6}" type="presParOf" srcId="{4A3A17A6-FCE5-426F-A517-9A3882826947}" destId="{596E1E4B-30BC-443A-8C15-D7AC955A5ED8}" srcOrd="23" destOrd="0" presId="urn:microsoft.com/office/officeart/2005/8/layout/list1"/>
    <dgm:cxn modelId="{C3CABA0A-03CA-4C28-ACCE-2A7FF8C348F9}" type="presParOf" srcId="{4A3A17A6-FCE5-426F-A517-9A3882826947}" destId="{F338E5A6-D9A4-4FBB-925C-5E70E05B882A}" srcOrd="24" destOrd="0" presId="urn:microsoft.com/office/officeart/2005/8/layout/list1"/>
    <dgm:cxn modelId="{50406D8C-0E9C-44F2-A996-A0D219DF05F6}" type="presParOf" srcId="{F338E5A6-D9A4-4FBB-925C-5E70E05B882A}" destId="{62E797A4-2A47-461C-9567-2A0B329F61BD}" srcOrd="0" destOrd="0" presId="urn:microsoft.com/office/officeart/2005/8/layout/list1"/>
    <dgm:cxn modelId="{7DB3AE52-E23B-49B3-A611-C51ED2E6F606}" type="presParOf" srcId="{F338E5A6-D9A4-4FBB-925C-5E70E05B882A}" destId="{4CC365B4-FBAC-4FD2-834D-F2E925EE6E43}" srcOrd="1" destOrd="0" presId="urn:microsoft.com/office/officeart/2005/8/layout/list1"/>
    <dgm:cxn modelId="{3E2AABF5-82DD-4442-A362-901E9762EB66}" type="presParOf" srcId="{4A3A17A6-FCE5-426F-A517-9A3882826947}" destId="{3C4088BE-1C33-4179-8D64-436B408AC8D6}" srcOrd="25" destOrd="0" presId="urn:microsoft.com/office/officeart/2005/8/layout/list1"/>
    <dgm:cxn modelId="{ED53430E-CFBA-4FB3-83A3-65FD3378B5E3}" type="presParOf" srcId="{4A3A17A6-FCE5-426F-A517-9A3882826947}" destId="{40C8B5E6-32BC-4949-BCCB-FE92E9EAC757}" srcOrd="26" destOrd="0" presId="urn:microsoft.com/office/officeart/2005/8/layout/list1"/>
    <dgm:cxn modelId="{A723B32A-4221-4FE0-9F75-F464790753B7}" type="presParOf" srcId="{4A3A17A6-FCE5-426F-A517-9A3882826947}" destId="{5376C23D-8EAD-46A3-9E98-21A97CEEC546}" srcOrd="27" destOrd="0" presId="urn:microsoft.com/office/officeart/2005/8/layout/list1"/>
    <dgm:cxn modelId="{111F7293-5260-4D02-A75E-AEFD10DA0DD6}" type="presParOf" srcId="{4A3A17A6-FCE5-426F-A517-9A3882826947}" destId="{6D5BF531-CABB-4187-AE60-2C3A3B8D1BEF}" srcOrd="28" destOrd="0" presId="urn:microsoft.com/office/officeart/2005/8/layout/list1"/>
    <dgm:cxn modelId="{38C93AEB-F4BD-4B92-B22C-A1DC3BC9CE3C}" type="presParOf" srcId="{6D5BF531-CABB-4187-AE60-2C3A3B8D1BEF}" destId="{F57F7D1B-0689-40D1-B2AE-3929F3651644}" srcOrd="0" destOrd="0" presId="urn:microsoft.com/office/officeart/2005/8/layout/list1"/>
    <dgm:cxn modelId="{C795421E-0331-43C6-BC46-5D3AEECD77EF}" type="presParOf" srcId="{6D5BF531-CABB-4187-AE60-2C3A3B8D1BEF}" destId="{1DF51D1D-9D11-422C-B2ED-4397770A2EA6}" srcOrd="1" destOrd="0" presId="urn:microsoft.com/office/officeart/2005/8/layout/list1"/>
    <dgm:cxn modelId="{E7A8578A-CD64-4718-8653-E361FEE48D79}" type="presParOf" srcId="{4A3A17A6-FCE5-426F-A517-9A3882826947}" destId="{31B2326A-F313-4400-BC9C-A770DB5DA315}" srcOrd="29" destOrd="0" presId="urn:microsoft.com/office/officeart/2005/8/layout/list1"/>
    <dgm:cxn modelId="{66486581-064D-49B9-A2ED-D4A0D878D10C}" type="presParOf" srcId="{4A3A17A6-FCE5-426F-A517-9A3882826947}" destId="{4D359B5E-47CB-4066-ABAE-EFC0897B592D}"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4.xml><?xml version="1.0" encoding="utf-8"?>
<dgm:dataModel xmlns:dgm="http://schemas.openxmlformats.org/drawingml/2006/diagram" xmlns:a="http://schemas.openxmlformats.org/drawingml/2006/main">
  <dgm:ptLst>
    <dgm:pt modelId="{7C9E4850-C804-4E1B-BE0F-8BD573389C4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zh-CN" altLang="en-US"/>
        </a:p>
      </dgm:t>
    </dgm:pt>
    <dgm:pt modelId="{1152A2C3-18AE-4414-A52A-153EDE7AE700}">
      <dgm:prSet custT="1"/>
      <dgm:spPr/>
      <dgm:t>
        <a:bodyPr/>
        <a:lstStyle/>
        <a:p>
          <a:r>
            <a:rPr lang="zh-CN" altLang="en-US" sz="1400" b="1"/>
            <a:t>齐套计算</a:t>
          </a:r>
        </a:p>
      </dgm:t>
    </dgm:pt>
    <dgm:pt modelId="{15E12AD2-84AD-4FA2-B1DA-159212928B39}" type="parTrans" cxnId="{6559D1CA-B6FE-4D5C-B12A-7506E906984B}">
      <dgm:prSet/>
      <dgm:spPr/>
      <dgm:t>
        <a:bodyPr/>
        <a:lstStyle/>
        <a:p>
          <a:endParaRPr lang="zh-CN" altLang="en-US" sz="1400" b="1"/>
        </a:p>
      </dgm:t>
    </dgm:pt>
    <dgm:pt modelId="{DB62DA30-6B09-42A2-A538-D35E0D30449A}" type="sibTrans" cxnId="{6559D1CA-B6FE-4D5C-B12A-7506E906984B}">
      <dgm:prSet/>
      <dgm:spPr/>
      <dgm:t>
        <a:bodyPr/>
        <a:lstStyle/>
        <a:p>
          <a:endParaRPr lang="zh-CN" altLang="en-US" sz="1400" b="1"/>
        </a:p>
      </dgm:t>
    </dgm:pt>
    <dgm:pt modelId="{72E87AF2-3723-441E-AE5F-544405812B5F}">
      <dgm:prSet custT="1"/>
      <dgm:spPr/>
      <dgm:t>
        <a:bodyPr/>
        <a:lstStyle/>
        <a:p>
          <a:r>
            <a:rPr lang="zh-CN" altLang="en-US" sz="1400" b="1" dirty="0"/>
            <a:t>工单用到的供应是什么？产生拉动计划。</a:t>
          </a:r>
        </a:p>
      </dgm:t>
    </dgm:pt>
    <dgm:pt modelId="{266513C6-C56A-41C2-93F8-6B29C269C6A6}" type="parTrans" cxnId="{25375B72-5AA8-4CE7-BD5F-3E3280003AA0}">
      <dgm:prSet/>
      <dgm:spPr/>
      <dgm:t>
        <a:bodyPr/>
        <a:lstStyle/>
        <a:p>
          <a:endParaRPr lang="zh-CN" altLang="en-US" sz="1400" b="1"/>
        </a:p>
      </dgm:t>
    </dgm:pt>
    <dgm:pt modelId="{E455A315-8A1B-4AFF-A92C-4F958D2FBAEE}" type="sibTrans" cxnId="{25375B72-5AA8-4CE7-BD5F-3E3280003AA0}">
      <dgm:prSet/>
      <dgm:spPr/>
      <dgm:t>
        <a:bodyPr/>
        <a:lstStyle/>
        <a:p>
          <a:endParaRPr lang="zh-CN" altLang="en-US" sz="1400" b="1"/>
        </a:p>
      </dgm:t>
    </dgm:pt>
    <dgm:pt modelId="{7DDC4EF3-EDC7-4BC2-AFC9-C8DC56CD3EA3}">
      <dgm:prSet custT="1"/>
      <dgm:spPr/>
      <dgm:t>
        <a:bodyPr/>
        <a:lstStyle/>
        <a:p>
          <a:r>
            <a:rPr lang="zh-CN" sz="1400" b="1"/>
            <a:t>交期发生变化，比对</a:t>
          </a:r>
          <a:r>
            <a:rPr lang="en-US" sz="1400" b="1"/>
            <a:t>Pegging</a:t>
          </a:r>
          <a:r>
            <a:rPr lang="zh-CN" sz="1400" b="1"/>
            <a:t>找到具体供应变化。</a:t>
          </a:r>
        </a:p>
      </dgm:t>
    </dgm:pt>
    <dgm:pt modelId="{4F910F48-669C-4409-9476-A86E54CC199C}" type="parTrans" cxnId="{45B0532E-4345-4A5F-BFCD-B958868F2FD4}">
      <dgm:prSet/>
      <dgm:spPr/>
      <dgm:t>
        <a:bodyPr/>
        <a:lstStyle/>
        <a:p>
          <a:endParaRPr lang="zh-CN" altLang="en-US" sz="1400" b="1"/>
        </a:p>
      </dgm:t>
    </dgm:pt>
    <dgm:pt modelId="{58D55136-B99A-4030-AFB3-051987906BE4}" type="sibTrans" cxnId="{45B0532E-4345-4A5F-BFCD-B958868F2FD4}">
      <dgm:prSet/>
      <dgm:spPr/>
      <dgm:t>
        <a:bodyPr/>
        <a:lstStyle/>
        <a:p>
          <a:endParaRPr lang="zh-CN" altLang="en-US" sz="1400" b="1"/>
        </a:p>
      </dgm:t>
    </dgm:pt>
    <dgm:pt modelId="{A02F96CA-589E-4F83-8120-74D0346AA624}">
      <dgm:prSet custT="1"/>
      <dgm:spPr/>
      <dgm:t>
        <a:bodyPr/>
        <a:lstStyle/>
        <a:p>
          <a:r>
            <a:rPr lang="zh-CN" altLang="en-US" sz="1400" b="1"/>
            <a:t>反之，供应发生变化时，可能影响到的需求是哪些？</a:t>
          </a:r>
        </a:p>
      </dgm:t>
    </dgm:pt>
    <dgm:pt modelId="{16B69F76-340A-4611-B0BB-45E95E6DB303}" type="parTrans" cxnId="{6CACDD99-7C97-471D-BB87-DB8511BDC994}">
      <dgm:prSet/>
      <dgm:spPr/>
      <dgm:t>
        <a:bodyPr/>
        <a:lstStyle/>
        <a:p>
          <a:endParaRPr lang="zh-CN" altLang="en-US" sz="1400" b="1"/>
        </a:p>
      </dgm:t>
    </dgm:pt>
    <dgm:pt modelId="{7F269F46-D17E-4DA9-A8A2-D893EA6F3252}" type="sibTrans" cxnId="{6CACDD99-7C97-471D-BB87-DB8511BDC994}">
      <dgm:prSet/>
      <dgm:spPr/>
      <dgm:t>
        <a:bodyPr/>
        <a:lstStyle/>
        <a:p>
          <a:endParaRPr lang="zh-CN" altLang="en-US" sz="1400" b="1"/>
        </a:p>
      </dgm:t>
    </dgm:pt>
    <dgm:pt modelId="{2028F4C0-263D-406D-97B5-9E3358FAD771}">
      <dgm:prSet custT="1"/>
      <dgm:spPr/>
      <dgm:t>
        <a:bodyPr/>
        <a:lstStyle/>
        <a:p>
          <a:r>
            <a:rPr lang="zh-CN" altLang="en-US" sz="1400" b="1"/>
            <a:t>预分配的供应谁可以用？</a:t>
          </a:r>
        </a:p>
      </dgm:t>
    </dgm:pt>
    <dgm:pt modelId="{F98F7776-785E-4A1D-A300-3A5D94A0FFFE}" type="parTrans" cxnId="{FC96A24C-C454-4ECC-8751-C35436E0B878}">
      <dgm:prSet/>
      <dgm:spPr/>
      <dgm:t>
        <a:bodyPr/>
        <a:lstStyle/>
        <a:p>
          <a:endParaRPr lang="zh-CN" altLang="en-US" sz="1400" b="1"/>
        </a:p>
      </dgm:t>
    </dgm:pt>
    <dgm:pt modelId="{666AFA2E-3205-40E6-96E6-3FEF6F119659}" type="sibTrans" cxnId="{FC96A24C-C454-4ECC-8751-C35436E0B878}">
      <dgm:prSet/>
      <dgm:spPr/>
      <dgm:t>
        <a:bodyPr/>
        <a:lstStyle/>
        <a:p>
          <a:endParaRPr lang="zh-CN" altLang="en-US" sz="1400" b="1"/>
        </a:p>
      </dgm:t>
    </dgm:pt>
    <dgm:pt modelId="{920E0451-C3E5-4937-B5A6-EA901D50D024}">
      <dgm:prSet custT="1"/>
      <dgm:spPr/>
      <dgm:t>
        <a:bodyPr/>
        <a:lstStyle/>
        <a:p>
          <a:r>
            <a:rPr lang="en-US" sz="1400" b="1"/>
            <a:t>………..</a:t>
          </a:r>
          <a:endParaRPr lang="zh-CN" sz="1400" b="1"/>
        </a:p>
      </dgm:t>
    </dgm:pt>
    <dgm:pt modelId="{59855EDC-0CA4-4974-BF85-C040732D3AE9}" type="parTrans" cxnId="{DF9CB719-C347-42A5-89E2-1979A4563A59}">
      <dgm:prSet/>
      <dgm:spPr/>
      <dgm:t>
        <a:bodyPr/>
        <a:lstStyle/>
        <a:p>
          <a:endParaRPr lang="zh-CN" altLang="en-US" sz="1400" b="1"/>
        </a:p>
      </dgm:t>
    </dgm:pt>
    <dgm:pt modelId="{C8A8C05B-9B95-4DAA-9905-D147EC211ED1}" type="sibTrans" cxnId="{DF9CB719-C347-42A5-89E2-1979A4563A59}">
      <dgm:prSet/>
      <dgm:spPr/>
      <dgm:t>
        <a:bodyPr/>
        <a:lstStyle/>
        <a:p>
          <a:endParaRPr lang="zh-CN" altLang="en-US" sz="1400" b="1"/>
        </a:p>
      </dgm:t>
    </dgm:pt>
    <dgm:pt modelId="{1BFBCE7E-5E54-40B9-AC97-1F1EA53606E9}" type="pres">
      <dgm:prSet presAssocID="{7C9E4850-C804-4E1B-BE0F-8BD573389C4F}" presName="linear" presStyleCnt="0">
        <dgm:presLayoutVars>
          <dgm:animLvl val="lvl"/>
          <dgm:resizeHandles val="exact"/>
        </dgm:presLayoutVars>
      </dgm:prSet>
      <dgm:spPr/>
    </dgm:pt>
    <dgm:pt modelId="{8D006FB5-A283-4556-8F1B-9FFF64CE4AF3}" type="pres">
      <dgm:prSet presAssocID="{1152A2C3-18AE-4414-A52A-153EDE7AE700}" presName="parentText" presStyleLbl="node1" presStyleIdx="0" presStyleCnt="6">
        <dgm:presLayoutVars>
          <dgm:chMax val="0"/>
          <dgm:bulletEnabled val="1"/>
        </dgm:presLayoutVars>
      </dgm:prSet>
      <dgm:spPr/>
    </dgm:pt>
    <dgm:pt modelId="{129E8C83-1580-4A52-A4F0-D01DE4D56DA4}" type="pres">
      <dgm:prSet presAssocID="{DB62DA30-6B09-42A2-A538-D35E0D30449A}" presName="spacer" presStyleCnt="0"/>
      <dgm:spPr/>
    </dgm:pt>
    <dgm:pt modelId="{3FDD1272-7235-47EA-B7FD-880BFA7A13EF}" type="pres">
      <dgm:prSet presAssocID="{72E87AF2-3723-441E-AE5F-544405812B5F}" presName="parentText" presStyleLbl="node1" presStyleIdx="1" presStyleCnt="6">
        <dgm:presLayoutVars>
          <dgm:chMax val="0"/>
          <dgm:bulletEnabled val="1"/>
        </dgm:presLayoutVars>
      </dgm:prSet>
      <dgm:spPr/>
    </dgm:pt>
    <dgm:pt modelId="{F0CFAB51-3C16-4DFB-ACE5-6DE8DF0AD006}" type="pres">
      <dgm:prSet presAssocID="{E455A315-8A1B-4AFF-A92C-4F958D2FBAEE}" presName="spacer" presStyleCnt="0"/>
      <dgm:spPr/>
    </dgm:pt>
    <dgm:pt modelId="{F7653806-2045-471C-9DAC-163A4F759D61}" type="pres">
      <dgm:prSet presAssocID="{7DDC4EF3-EDC7-4BC2-AFC9-C8DC56CD3EA3}" presName="parentText" presStyleLbl="node1" presStyleIdx="2" presStyleCnt="6">
        <dgm:presLayoutVars>
          <dgm:chMax val="0"/>
          <dgm:bulletEnabled val="1"/>
        </dgm:presLayoutVars>
      </dgm:prSet>
      <dgm:spPr/>
    </dgm:pt>
    <dgm:pt modelId="{B72A54A5-F2C9-410E-836D-9F3858F6876E}" type="pres">
      <dgm:prSet presAssocID="{58D55136-B99A-4030-AFB3-051987906BE4}" presName="spacer" presStyleCnt="0"/>
      <dgm:spPr/>
    </dgm:pt>
    <dgm:pt modelId="{7B3ACCA2-A27D-4C41-BD70-F09A13156137}" type="pres">
      <dgm:prSet presAssocID="{A02F96CA-589E-4F83-8120-74D0346AA624}" presName="parentText" presStyleLbl="node1" presStyleIdx="3" presStyleCnt="6">
        <dgm:presLayoutVars>
          <dgm:chMax val="0"/>
          <dgm:bulletEnabled val="1"/>
        </dgm:presLayoutVars>
      </dgm:prSet>
      <dgm:spPr/>
    </dgm:pt>
    <dgm:pt modelId="{3FAEABF3-3BBA-435E-8F41-4019DB2FFB04}" type="pres">
      <dgm:prSet presAssocID="{7F269F46-D17E-4DA9-A8A2-D893EA6F3252}" presName="spacer" presStyleCnt="0"/>
      <dgm:spPr/>
    </dgm:pt>
    <dgm:pt modelId="{1C29FB8A-4715-442A-800A-F267493B6E08}" type="pres">
      <dgm:prSet presAssocID="{2028F4C0-263D-406D-97B5-9E3358FAD771}" presName="parentText" presStyleLbl="node1" presStyleIdx="4" presStyleCnt="6">
        <dgm:presLayoutVars>
          <dgm:chMax val="0"/>
          <dgm:bulletEnabled val="1"/>
        </dgm:presLayoutVars>
      </dgm:prSet>
      <dgm:spPr/>
    </dgm:pt>
    <dgm:pt modelId="{74422C09-DCB4-4D29-81F8-D85FE67F619E}" type="pres">
      <dgm:prSet presAssocID="{666AFA2E-3205-40E6-96E6-3FEF6F119659}" presName="spacer" presStyleCnt="0"/>
      <dgm:spPr/>
    </dgm:pt>
    <dgm:pt modelId="{4BC0DCC1-0098-42F7-BED6-8807A22CE793}" type="pres">
      <dgm:prSet presAssocID="{920E0451-C3E5-4937-B5A6-EA901D50D024}" presName="parentText" presStyleLbl="node1" presStyleIdx="5" presStyleCnt="6">
        <dgm:presLayoutVars>
          <dgm:chMax val="0"/>
          <dgm:bulletEnabled val="1"/>
        </dgm:presLayoutVars>
      </dgm:prSet>
      <dgm:spPr/>
    </dgm:pt>
  </dgm:ptLst>
  <dgm:cxnLst>
    <dgm:cxn modelId="{DF9CB719-C347-42A5-89E2-1979A4563A59}" srcId="{7C9E4850-C804-4E1B-BE0F-8BD573389C4F}" destId="{920E0451-C3E5-4937-B5A6-EA901D50D024}" srcOrd="5" destOrd="0" parTransId="{59855EDC-0CA4-4974-BF85-C040732D3AE9}" sibTransId="{C8A8C05B-9B95-4DAA-9905-D147EC211ED1}"/>
    <dgm:cxn modelId="{1607E123-D086-4A46-BA18-CF01E97396E0}" type="presOf" srcId="{920E0451-C3E5-4937-B5A6-EA901D50D024}" destId="{4BC0DCC1-0098-42F7-BED6-8807A22CE793}" srcOrd="0" destOrd="0" presId="urn:microsoft.com/office/officeart/2005/8/layout/vList2"/>
    <dgm:cxn modelId="{45B0532E-4345-4A5F-BFCD-B958868F2FD4}" srcId="{7C9E4850-C804-4E1B-BE0F-8BD573389C4F}" destId="{7DDC4EF3-EDC7-4BC2-AFC9-C8DC56CD3EA3}" srcOrd="2" destOrd="0" parTransId="{4F910F48-669C-4409-9476-A86E54CC199C}" sibTransId="{58D55136-B99A-4030-AFB3-051987906BE4}"/>
    <dgm:cxn modelId="{26291440-FA9A-43C9-A9FA-87B0A5697C93}" type="presOf" srcId="{2028F4C0-263D-406D-97B5-9E3358FAD771}" destId="{1C29FB8A-4715-442A-800A-F267493B6E08}" srcOrd="0" destOrd="0" presId="urn:microsoft.com/office/officeart/2005/8/layout/vList2"/>
    <dgm:cxn modelId="{FC96A24C-C454-4ECC-8751-C35436E0B878}" srcId="{7C9E4850-C804-4E1B-BE0F-8BD573389C4F}" destId="{2028F4C0-263D-406D-97B5-9E3358FAD771}" srcOrd="4" destOrd="0" parTransId="{F98F7776-785E-4A1D-A300-3A5D94A0FFFE}" sibTransId="{666AFA2E-3205-40E6-96E6-3FEF6F119659}"/>
    <dgm:cxn modelId="{4685364D-F8E4-457F-B303-E1E1345B88EE}" type="presOf" srcId="{7DDC4EF3-EDC7-4BC2-AFC9-C8DC56CD3EA3}" destId="{F7653806-2045-471C-9DAC-163A4F759D61}" srcOrd="0" destOrd="0" presId="urn:microsoft.com/office/officeart/2005/8/layout/vList2"/>
    <dgm:cxn modelId="{25375B72-5AA8-4CE7-BD5F-3E3280003AA0}" srcId="{7C9E4850-C804-4E1B-BE0F-8BD573389C4F}" destId="{72E87AF2-3723-441E-AE5F-544405812B5F}" srcOrd="1" destOrd="0" parTransId="{266513C6-C56A-41C2-93F8-6B29C269C6A6}" sibTransId="{E455A315-8A1B-4AFF-A92C-4F958D2FBAEE}"/>
    <dgm:cxn modelId="{ACE49978-8569-4202-8DEB-15AF29571928}" type="presOf" srcId="{7C9E4850-C804-4E1B-BE0F-8BD573389C4F}" destId="{1BFBCE7E-5E54-40B9-AC97-1F1EA53606E9}" srcOrd="0" destOrd="0" presId="urn:microsoft.com/office/officeart/2005/8/layout/vList2"/>
    <dgm:cxn modelId="{A64B4E86-2CE9-447B-A5BA-B8C76D1E2FED}" type="presOf" srcId="{72E87AF2-3723-441E-AE5F-544405812B5F}" destId="{3FDD1272-7235-47EA-B7FD-880BFA7A13EF}" srcOrd="0" destOrd="0" presId="urn:microsoft.com/office/officeart/2005/8/layout/vList2"/>
    <dgm:cxn modelId="{6CACDD99-7C97-471D-BB87-DB8511BDC994}" srcId="{7C9E4850-C804-4E1B-BE0F-8BD573389C4F}" destId="{A02F96CA-589E-4F83-8120-74D0346AA624}" srcOrd="3" destOrd="0" parTransId="{16B69F76-340A-4611-B0BB-45E95E6DB303}" sibTransId="{7F269F46-D17E-4DA9-A8A2-D893EA6F3252}"/>
    <dgm:cxn modelId="{6D5EF19F-C4FC-4951-B772-FD09A348F65C}" type="presOf" srcId="{1152A2C3-18AE-4414-A52A-153EDE7AE700}" destId="{8D006FB5-A283-4556-8F1B-9FFF64CE4AF3}" srcOrd="0" destOrd="0" presId="urn:microsoft.com/office/officeart/2005/8/layout/vList2"/>
    <dgm:cxn modelId="{FC9DD6AE-3713-4277-BD64-5ECB49F6E042}" type="presOf" srcId="{A02F96CA-589E-4F83-8120-74D0346AA624}" destId="{7B3ACCA2-A27D-4C41-BD70-F09A13156137}" srcOrd="0" destOrd="0" presId="urn:microsoft.com/office/officeart/2005/8/layout/vList2"/>
    <dgm:cxn modelId="{6559D1CA-B6FE-4D5C-B12A-7506E906984B}" srcId="{7C9E4850-C804-4E1B-BE0F-8BD573389C4F}" destId="{1152A2C3-18AE-4414-A52A-153EDE7AE700}" srcOrd="0" destOrd="0" parTransId="{15E12AD2-84AD-4FA2-B1DA-159212928B39}" sibTransId="{DB62DA30-6B09-42A2-A538-D35E0D30449A}"/>
    <dgm:cxn modelId="{0AB78530-2B8A-423A-B57A-00D9FB2EBA85}" type="presParOf" srcId="{1BFBCE7E-5E54-40B9-AC97-1F1EA53606E9}" destId="{8D006FB5-A283-4556-8F1B-9FFF64CE4AF3}" srcOrd="0" destOrd="0" presId="urn:microsoft.com/office/officeart/2005/8/layout/vList2"/>
    <dgm:cxn modelId="{9DC2FFF7-C0AA-475B-B083-AEDF5FE62327}" type="presParOf" srcId="{1BFBCE7E-5E54-40B9-AC97-1F1EA53606E9}" destId="{129E8C83-1580-4A52-A4F0-D01DE4D56DA4}" srcOrd="1" destOrd="0" presId="urn:microsoft.com/office/officeart/2005/8/layout/vList2"/>
    <dgm:cxn modelId="{DDB86483-19D0-41B4-9082-B62A4113B5AE}" type="presParOf" srcId="{1BFBCE7E-5E54-40B9-AC97-1F1EA53606E9}" destId="{3FDD1272-7235-47EA-B7FD-880BFA7A13EF}" srcOrd="2" destOrd="0" presId="urn:microsoft.com/office/officeart/2005/8/layout/vList2"/>
    <dgm:cxn modelId="{4747EC0B-6F8B-49B9-8499-2C7990C9B8BF}" type="presParOf" srcId="{1BFBCE7E-5E54-40B9-AC97-1F1EA53606E9}" destId="{F0CFAB51-3C16-4DFB-ACE5-6DE8DF0AD006}" srcOrd="3" destOrd="0" presId="urn:microsoft.com/office/officeart/2005/8/layout/vList2"/>
    <dgm:cxn modelId="{8F891AA6-C61E-4CAF-8E20-EA2744983142}" type="presParOf" srcId="{1BFBCE7E-5E54-40B9-AC97-1F1EA53606E9}" destId="{F7653806-2045-471C-9DAC-163A4F759D61}" srcOrd="4" destOrd="0" presId="urn:microsoft.com/office/officeart/2005/8/layout/vList2"/>
    <dgm:cxn modelId="{5598EDBC-5FF2-40CB-8CE2-9B71A2F3D9CB}" type="presParOf" srcId="{1BFBCE7E-5E54-40B9-AC97-1F1EA53606E9}" destId="{B72A54A5-F2C9-410E-836D-9F3858F6876E}" srcOrd="5" destOrd="0" presId="urn:microsoft.com/office/officeart/2005/8/layout/vList2"/>
    <dgm:cxn modelId="{3843ECB6-5A8B-4035-B4A1-CE6A17D29499}" type="presParOf" srcId="{1BFBCE7E-5E54-40B9-AC97-1F1EA53606E9}" destId="{7B3ACCA2-A27D-4C41-BD70-F09A13156137}" srcOrd="6" destOrd="0" presId="urn:microsoft.com/office/officeart/2005/8/layout/vList2"/>
    <dgm:cxn modelId="{60307013-9753-4DE1-B958-3B4478AF9431}" type="presParOf" srcId="{1BFBCE7E-5E54-40B9-AC97-1F1EA53606E9}" destId="{3FAEABF3-3BBA-435E-8F41-4019DB2FFB04}" srcOrd="7" destOrd="0" presId="urn:microsoft.com/office/officeart/2005/8/layout/vList2"/>
    <dgm:cxn modelId="{A04FBCDD-75B0-4FF2-ABE5-C53152644D27}" type="presParOf" srcId="{1BFBCE7E-5E54-40B9-AC97-1F1EA53606E9}" destId="{1C29FB8A-4715-442A-800A-F267493B6E08}" srcOrd="8" destOrd="0" presId="urn:microsoft.com/office/officeart/2005/8/layout/vList2"/>
    <dgm:cxn modelId="{13E7E7AE-6D38-4C8C-BFD7-63BA4D5286AD}" type="presParOf" srcId="{1BFBCE7E-5E54-40B9-AC97-1F1EA53606E9}" destId="{74422C09-DCB4-4D29-81F8-D85FE67F619E}" srcOrd="9" destOrd="0" presId="urn:microsoft.com/office/officeart/2005/8/layout/vList2"/>
    <dgm:cxn modelId="{A1315493-593E-487C-B4AF-A958E40E49C2}" type="presParOf" srcId="{1BFBCE7E-5E54-40B9-AC97-1F1EA53606E9}" destId="{4BC0DCC1-0098-42F7-BED6-8807A22CE793}"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134259E-89DB-494A-85BE-63AC9F38BE5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zh-CN" altLang="en-US"/>
        </a:p>
      </dgm:t>
    </dgm:pt>
    <dgm:pt modelId="{38ED8CBA-21A2-4348-832E-247160617FD2}">
      <dgm:prSet/>
      <dgm:spPr>
        <a:xfrm>
          <a:off x="0" y="422"/>
          <a:ext cx="4082611" cy="288247"/>
        </a:xfrm>
        <a:prstGeom prst="rect">
          <a:avLst/>
        </a:prstGeom>
      </dgm:spPr>
      <dgm:t>
        <a:bodyPr/>
        <a:lstStyle/>
        <a:p>
          <a:pPr>
            <a:buNone/>
          </a:pPr>
          <a:r>
            <a:rPr lang="en-US" altLang="zh-CN">
              <a:latin typeface="Arial"/>
              <a:ea typeface="微软雅黑"/>
              <a:cs typeface="+mn-cs"/>
            </a:rPr>
            <a:t>FG11</a:t>
          </a:r>
          <a:r>
            <a:rPr lang="en-US" altLang="zh-CN" dirty="0">
              <a:latin typeface="Arial"/>
              <a:ea typeface="微软雅黑"/>
              <a:cs typeface="+mn-cs"/>
            </a:rPr>
            <a:t>….n</a:t>
          </a:r>
          <a:r>
            <a:rPr lang="zh-CN" altLang="en-US" dirty="0">
              <a:latin typeface="Arial"/>
              <a:ea typeface="微软雅黑"/>
              <a:cs typeface="+mn-cs"/>
            </a:rPr>
            <a:t>即可以在</a:t>
          </a:r>
          <a:r>
            <a:rPr lang="en-US" altLang="zh-CN" dirty="0">
              <a:latin typeface="Arial"/>
              <a:ea typeface="微软雅黑"/>
              <a:cs typeface="+mn-cs"/>
            </a:rPr>
            <a:t>Line1, </a:t>
          </a:r>
          <a:r>
            <a:rPr lang="zh-CN" altLang="en-US" dirty="0">
              <a:latin typeface="Arial"/>
              <a:ea typeface="微软雅黑"/>
              <a:cs typeface="+mn-cs"/>
            </a:rPr>
            <a:t>也可以在</a:t>
          </a:r>
          <a:r>
            <a:rPr lang="en-US" altLang="zh-CN" dirty="0">
              <a:latin typeface="Arial"/>
              <a:ea typeface="微软雅黑"/>
              <a:cs typeface="+mn-cs"/>
            </a:rPr>
            <a:t>Line2</a:t>
          </a:r>
          <a:r>
            <a:rPr lang="zh-CN" altLang="en-US" dirty="0">
              <a:latin typeface="Arial"/>
              <a:ea typeface="微软雅黑"/>
              <a:cs typeface="+mn-cs"/>
            </a:rPr>
            <a:t>，还可以在</a:t>
          </a:r>
          <a:r>
            <a:rPr lang="en-US" altLang="zh-CN" dirty="0">
              <a:latin typeface="Arial"/>
              <a:ea typeface="微软雅黑"/>
              <a:cs typeface="+mn-cs"/>
            </a:rPr>
            <a:t>Line3</a:t>
          </a:r>
          <a:r>
            <a:rPr lang="zh-CN" altLang="en-US" dirty="0">
              <a:latin typeface="Arial"/>
              <a:ea typeface="微软雅黑"/>
              <a:cs typeface="+mn-cs"/>
            </a:rPr>
            <a:t>生产</a:t>
          </a:r>
        </a:p>
      </dgm:t>
    </dgm:pt>
    <dgm:pt modelId="{62EC1465-3A73-4E76-BDE5-B65078885D58}" type="parTrans" cxnId="{3DB0F017-AFFB-4F6E-9C5B-9193C134A3DD}">
      <dgm:prSet/>
      <dgm:spPr/>
      <dgm:t>
        <a:bodyPr/>
        <a:lstStyle/>
        <a:p>
          <a:endParaRPr lang="zh-CN" altLang="en-US">
            <a:solidFill>
              <a:schemeClr val="tx1"/>
            </a:solidFill>
          </a:endParaRPr>
        </a:p>
      </dgm:t>
    </dgm:pt>
    <dgm:pt modelId="{42C622E4-7007-44B3-9EF7-7835CCD7BAE1}" type="sibTrans" cxnId="{3DB0F017-AFFB-4F6E-9C5B-9193C134A3DD}">
      <dgm:prSet/>
      <dgm:spPr/>
      <dgm:t>
        <a:bodyPr/>
        <a:lstStyle/>
        <a:p>
          <a:endParaRPr lang="zh-CN" altLang="en-US">
            <a:solidFill>
              <a:schemeClr val="tx1"/>
            </a:solidFill>
          </a:endParaRPr>
        </a:p>
      </dgm:t>
    </dgm:pt>
    <dgm:pt modelId="{471356A9-A82A-4C3B-9EE0-ADA113BB05A0}">
      <dgm:prSet/>
      <dgm:spPr>
        <a:xfrm>
          <a:off x="0" y="288669"/>
          <a:ext cx="4082611" cy="288247"/>
        </a:xfrm>
        <a:prstGeom prst="rect">
          <a:avLst/>
        </a:prstGeom>
      </dgm:spPr>
      <dgm:t>
        <a:bodyPr/>
        <a:lstStyle/>
        <a:p>
          <a:pPr>
            <a:buNone/>
          </a:pPr>
          <a:r>
            <a:rPr lang="en-US" altLang="zh-CN">
              <a:latin typeface="Arial"/>
              <a:ea typeface="微软雅黑"/>
              <a:cs typeface="+mn-cs"/>
            </a:rPr>
            <a:t>FG21….m</a:t>
          </a:r>
          <a:r>
            <a:rPr lang="zh-CN" altLang="en-US">
              <a:latin typeface="Arial"/>
              <a:ea typeface="微软雅黑"/>
              <a:cs typeface="+mn-cs"/>
            </a:rPr>
            <a:t>找只能在</a:t>
          </a:r>
          <a:r>
            <a:rPr lang="en-US" altLang="zh-CN">
              <a:latin typeface="Arial"/>
              <a:ea typeface="微软雅黑"/>
              <a:cs typeface="+mn-cs"/>
            </a:rPr>
            <a:t>Line1</a:t>
          </a:r>
          <a:r>
            <a:rPr lang="zh-CN" altLang="en-US">
              <a:latin typeface="Arial"/>
              <a:ea typeface="微软雅黑"/>
              <a:cs typeface="+mn-cs"/>
            </a:rPr>
            <a:t>生产</a:t>
          </a:r>
          <a:endParaRPr lang="zh-CN" altLang="en-US" dirty="0">
            <a:latin typeface="Arial"/>
            <a:ea typeface="微软雅黑"/>
            <a:cs typeface="+mn-cs"/>
          </a:endParaRPr>
        </a:p>
      </dgm:t>
    </dgm:pt>
    <dgm:pt modelId="{1F2241CE-6B08-42AF-A125-0C75EF83F5CD}" type="parTrans" cxnId="{7F249374-8216-4248-A896-559AC0D3B6C5}">
      <dgm:prSet/>
      <dgm:spPr/>
      <dgm:t>
        <a:bodyPr/>
        <a:lstStyle/>
        <a:p>
          <a:endParaRPr lang="zh-CN" altLang="en-US">
            <a:solidFill>
              <a:schemeClr val="tx1"/>
            </a:solidFill>
          </a:endParaRPr>
        </a:p>
      </dgm:t>
    </dgm:pt>
    <dgm:pt modelId="{A0DBCEF5-A267-4BD0-ADBC-58C4548AFB61}" type="sibTrans" cxnId="{7F249374-8216-4248-A896-559AC0D3B6C5}">
      <dgm:prSet/>
      <dgm:spPr/>
      <dgm:t>
        <a:bodyPr/>
        <a:lstStyle/>
        <a:p>
          <a:endParaRPr lang="zh-CN" altLang="en-US">
            <a:solidFill>
              <a:schemeClr val="tx1"/>
            </a:solidFill>
          </a:endParaRPr>
        </a:p>
      </dgm:t>
    </dgm:pt>
    <dgm:pt modelId="{B8BC41BE-E4AA-4B6B-A407-CBE1C4270251}">
      <dgm:prSet/>
      <dgm:spPr>
        <a:xfrm>
          <a:off x="0" y="576917"/>
          <a:ext cx="4082611" cy="288247"/>
        </a:xfrm>
        <a:prstGeom prst="rect">
          <a:avLst/>
        </a:prstGeom>
      </dgm:spPr>
      <dgm:t>
        <a:bodyPr/>
        <a:lstStyle/>
        <a:p>
          <a:pPr>
            <a:buNone/>
          </a:pPr>
          <a:r>
            <a:rPr lang="zh-CN" altLang="en-US">
              <a:latin typeface="Arial"/>
              <a:ea typeface="微软雅黑"/>
              <a:cs typeface="+mn-cs"/>
            </a:rPr>
            <a:t>意味着</a:t>
          </a:r>
          <a:r>
            <a:rPr lang="en-US" altLang="zh-CN">
              <a:latin typeface="Arial"/>
              <a:ea typeface="微软雅黑"/>
              <a:cs typeface="+mn-cs"/>
            </a:rPr>
            <a:t>Line1</a:t>
          </a:r>
          <a:r>
            <a:rPr lang="zh-CN" altLang="en-US">
              <a:latin typeface="Arial"/>
              <a:ea typeface="微软雅黑"/>
              <a:cs typeface="+mn-cs"/>
            </a:rPr>
            <a:t>为</a:t>
          </a:r>
          <a:r>
            <a:rPr lang="en-US" altLang="zh-CN">
              <a:latin typeface="Arial"/>
              <a:ea typeface="微软雅黑"/>
              <a:cs typeface="+mn-cs"/>
            </a:rPr>
            <a:t>FG21…..m</a:t>
          </a:r>
          <a:r>
            <a:rPr lang="zh-CN" altLang="en-US">
              <a:latin typeface="Arial"/>
              <a:ea typeface="微软雅黑"/>
              <a:cs typeface="+mn-cs"/>
            </a:rPr>
            <a:t>的主产线</a:t>
          </a:r>
          <a:endParaRPr lang="zh-CN" altLang="en-US" dirty="0">
            <a:latin typeface="Arial"/>
            <a:ea typeface="微软雅黑"/>
            <a:cs typeface="+mn-cs"/>
          </a:endParaRPr>
        </a:p>
      </dgm:t>
    </dgm:pt>
    <dgm:pt modelId="{BC8473F8-0773-4446-A185-2FE1367DA45B}" type="parTrans" cxnId="{BAC0C39F-96A8-4021-970F-E4053263A03C}">
      <dgm:prSet/>
      <dgm:spPr/>
      <dgm:t>
        <a:bodyPr/>
        <a:lstStyle/>
        <a:p>
          <a:endParaRPr lang="zh-CN" altLang="en-US">
            <a:solidFill>
              <a:schemeClr val="tx1"/>
            </a:solidFill>
          </a:endParaRPr>
        </a:p>
      </dgm:t>
    </dgm:pt>
    <dgm:pt modelId="{2D713531-D438-429B-91F9-6821A39F17F2}" type="sibTrans" cxnId="{BAC0C39F-96A8-4021-970F-E4053263A03C}">
      <dgm:prSet/>
      <dgm:spPr/>
      <dgm:t>
        <a:bodyPr/>
        <a:lstStyle/>
        <a:p>
          <a:endParaRPr lang="zh-CN" altLang="en-US">
            <a:solidFill>
              <a:schemeClr val="tx1"/>
            </a:solidFill>
          </a:endParaRPr>
        </a:p>
      </dgm:t>
    </dgm:pt>
    <dgm:pt modelId="{A98D92AE-A481-4F04-BB15-A2FB1AB87E03}">
      <dgm:prSet/>
      <dgm:spPr>
        <a:xfrm>
          <a:off x="0" y="576917"/>
          <a:ext cx="4082611" cy="288247"/>
        </a:xfrm>
      </dgm:spPr>
      <dgm:t>
        <a:bodyPr/>
        <a:lstStyle/>
        <a:p>
          <a:pPr>
            <a:buNone/>
          </a:pPr>
          <a:r>
            <a:rPr lang="en-US" altLang="zh-CN">
              <a:latin typeface="Arial"/>
              <a:ea typeface="微软雅黑"/>
              <a:cs typeface="+mn-cs"/>
            </a:rPr>
            <a:t>Pn</a:t>
          </a:r>
          <a:r>
            <a:rPr lang="zh-CN" altLang="en-US">
              <a:latin typeface="Arial"/>
              <a:ea typeface="微软雅黑"/>
              <a:cs typeface="+mn-cs"/>
            </a:rPr>
            <a:t>代表优先顺序，数字越小，优先级越高</a:t>
          </a:r>
          <a:endParaRPr lang="zh-CN" altLang="en-US" dirty="0">
            <a:latin typeface="Arial"/>
            <a:ea typeface="微软雅黑"/>
            <a:cs typeface="+mn-cs"/>
          </a:endParaRPr>
        </a:p>
      </dgm:t>
    </dgm:pt>
    <dgm:pt modelId="{0C887A9A-3801-4857-AFB4-6CBC709019A5}" type="parTrans" cxnId="{9747AFB0-3C68-40BE-8656-1A9C73E01B11}">
      <dgm:prSet/>
      <dgm:spPr/>
      <dgm:t>
        <a:bodyPr/>
        <a:lstStyle/>
        <a:p>
          <a:endParaRPr lang="zh-CN" altLang="en-US"/>
        </a:p>
      </dgm:t>
    </dgm:pt>
    <dgm:pt modelId="{C6CF18B7-F9B0-42C6-AB89-1CF1FDC5185D}" type="sibTrans" cxnId="{9747AFB0-3C68-40BE-8656-1A9C73E01B11}">
      <dgm:prSet/>
      <dgm:spPr/>
      <dgm:t>
        <a:bodyPr/>
        <a:lstStyle/>
        <a:p>
          <a:endParaRPr lang="zh-CN" altLang="en-US"/>
        </a:p>
      </dgm:t>
    </dgm:pt>
    <dgm:pt modelId="{78782E71-7D90-4B3D-9297-C9DB88D340BE}" type="pres">
      <dgm:prSet presAssocID="{4134259E-89DB-494A-85BE-63AC9F38BE5D}" presName="vert0" presStyleCnt="0">
        <dgm:presLayoutVars>
          <dgm:dir/>
          <dgm:animOne val="branch"/>
          <dgm:animLvl val="lvl"/>
        </dgm:presLayoutVars>
      </dgm:prSet>
      <dgm:spPr/>
    </dgm:pt>
    <dgm:pt modelId="{A3D9363C-27C5-4F06-9926-95BB477A85A7}" type="pres">
      <dgm:prSet presAssocID="{38ED8CBA-21A2-4348-832E-247160617FD2}" presName="thickLine" presStyleLbl="alignNode1" presStyleIdx="0" presStyleCnt="4"/>
      <dgm:spPr>
        <a:xfrm>
          <a:off x="0" y="422"/>
          <a:ext cx="4082611" cy="0"/>
        </a:xfrm>
        <a:prstGeom prst="line">
          <a:avLst/>
        </a:prstGeom>
      </dgm:spPr>
    </dgm:pt>
    <dgm:pt modelId="{2559B995-AD3C-4BF2-9D21-012A362703E4}" type="pres">
      <dgm:prSet presAssocID="{38ED8CBA-21A2-4348-832E-247160617FD2}" presName="horz1" presStyleCnt="0"/>
      <dgm:spPr/>
    </dgm:pt>
    <dgm:pt modelId="{3B7C9910-F238-4A5B-8037-91E02C36563F}" type="pres">
      <dgm:prSet presAssocID="{38ED8CBA-21A2-4348-832E-247160617FD2}" presName="tx1" presStyleLbl="revTx" presStyleIdx="0" presStyleCnt="4"/>
      <dgm:spPr/>
    </dgm:pt>
    <dgm:pt modelId="{FC77A93E-DC4B-4287-8400-E17E1D8A0B9F}" type="pres">
      <dgm:prSet presAssocID="{38ED8CBA-21A2-4348-832E-247160617FD2}" presName="vert1" presStyleCnt="0"/>
      <dgm:spPr/>
    </dgm:pt>
    <dgm:pt modelId="{57125BE3-8BFD-4150-8807-F439B2B52AA0}" type="pres">
      <dgm:prSet presAssocID="{471356A9-A82A-4C3B-9EE0-ADA113BB05A0}" presName="thickLine" presStyleLbl="alignNode1" presStyleIdx="1" presStyleCnt="4"/>
      <dgm:spPr>
        <a:xfrm>
          <a:off x="0" y="288669"/>
          <a:ext cx="4082611" cy="0"/>
        </a:xfrm>
        <a:prstGeom prst="line">
          <a:avLst/>
        </a:prstGeom>
      </dgm:spPr>
    </dgm:pt>
    <dgm:pt modelId="{A1B8848A-5F05-404A-A5CA-D6A7A61BA988}" type="pres">
      <dgm:prSet presAssocID="{471356A9-A82A-4C3B-9EE0-ADA113BB05A0}" presName="horz1" presStyleCnt="0"/>
      <dgm:spPr/>
    </dgm:pt>
    <dgm:pt modelId="{0FD9CB95-E1CF-4A68-887B-4BB10D1B42AA}" type="pres">
      <dgm:prSet presAssocID="{471356A9-A82A-4C3B-9EE0-ADA113BB05A0}" presName="tx1" presStyleLbl="revTx" presStyleIdx="1" presStyleCnt="4"/>
      <dgm:spPr/>
    </dgm:pt>
    <dgm:pt modelId="{B6CA7586-B569-4346-83C5-ADCA17FD9394}" type="pres">
      <dgm:prSet presAssocID="{471356A9-A82A-4C3B-9EE0-ADA113BB05A0}" presName="vert1" presStyleCnt="0"/>
      <dgm:spPr/>
    </dgm:pt>
    <dgm:pt modelId="{0D2A5AC6-AE33-41B5-9422-275B7FF4D67A}" type="pres">
      <dgm:prSet presAssocID="{B8BC41BE-E4AA-4B6B-A407-CBE1C4270251}" presName="thickLine" presStyleLbl="alignNode1" presStyleIdx="2" presStyleCnt="4"/>
      <dgm:spPr>
        <a:xfrm>
          <a:off x="0" y="576917"/>
          <a:ext cx="4082611" cy="0"/>
        </a:xfrm>
        <a:prstGeom prst="line">
          <a:avLst/>
        </a:prstGeom>
      </dgm:spPr>
    </dgm:pt>
    <dgm:pt modelId="{F621571C-2A9E-4C50-8313-835BF74AAC07}" type="pres">
      <dgm:prSet presAssocID="{B8BC41BE-E4AA-4B6B-A407-CBE1C4270251}" presName="horz1" presStyleCnt="0"/>
      <dgm:spPr/>
    </dgm:pt>
    <dgm:pt modelId="{3C4592BE-28FA-4A71-A9C0-EA0D68F45276}" type="pres">
      <dgm:prSet presAssocID="{B8BC41BE-E4AA-4B6B-A407-CBE1C4270251}" presName="tx1" presStyleLbl="revTx" presStyleIdx="2" presStyleCnt="4"/>
      <dgm:spPr/>
    </dgm:pt>
    <dgm:pt modelId="{B5137BE6-2ED5-4192-8F47-4498B5AC2D0E}" type="pres">
      <dgm:prSet presAssocID="{B8BC41BE-E4AA-4B6B-A407-CBE1C4270251}" presName="vert1" presStyleCnt="0"/>
      <dgm:spPr/>
    </dgm:pt>
    <dgm:pt modelId="{97B3A9C3-C62D-40D3-9006-03163B81249A}" type="pres">
      <dgm:prSet presAssocID="{A98D92AE-A481-4F04-BB15-A2FB1AB87E03}" presName="thickLine" presStyleLbl="alignNode1" presStyleIdx="3" presStyleCnt="4"/>
      <dgm:spPr/>
    </dgm:pt>
    <dgm:pt modelId="{BF00183A-2F11-48C8-BF40-6E99352C5205}" type="pres">
      <dgm:prSet presAssocID="{A98D92AE-A481-4F04-BB15-A2FB1AB87E03}" presName="horz1" presStyleCnt="0"/>
      <dgm:spPr/>
    </dgm:pt>
    <dgm:pt modelId="{59BEA5E4-7068-45C9-AE1D-49DCE127E788}" type="pres">
      <dgm:prSet presAssocID="{A98D92AE-A481-4F04-BB15-A2FB1AB87E03}" presName="tx1" presStyleLbl="revTx" presStyleIdx="3" presStyleCnt="4"/>
      <dgm:spPr>
        <a:prstGeom prst="rect">
          <a:avLst/>
        </a:prstGeom>
      </dgm:spPr>
    </dgm:pt>
    <dgm:pt modelId="{D793F158-CDF4-4CF0-8112-8FF234A3BC4E}" type="pres">
      <dgm:prSet presAssocID="{A98D92AE-A481-4F04-BB15-A2FB1AB87E03}" presName="vert1" presStyleCnt="0"/>
      <dgm:spPr/>
    </dgm:pt>
  </dgm:ptLst>
  <dgm:cxnLst>
    <dgm:cxn modelId="{CFE4D70C-E584-4072-B91B-379BE01CEFB7}" type="presOf" srcId="{4134259E-89DB-494A-85BE-63AC9F38BE5D}" destId="{78782E71-7D90-4B3D-9297-C9DB88D340BE}" srcOrd="0" destOrd="0" presId="urn:microsoft.com/office/officeart/2008/layout/LinedList"/>
    <dgm:cxn modelId="{BEAFFC15-4D83-4759-937C-9678253F2241}" type="presOf" srcId="{471356A9-A82A-4C3B-9EE0-ADA113BB05A0}" destId="{0FD9CB95-E1CF-4A68-887B-4BB10D1B42AA}" srcOrd="0" destOrd="0" presId="urn:microsoft.com/office/officeart/2008/layout/LinedList"/>
    <dgm:cxn modelId="{3DB0F017-AFFB-4F6E-9C5B-9193C134A3DD}" srcId="{4134259E-89DB-494A-85BE-63AC9F38BE5D}" destId="{38ED8CBA-21A2-4348-832E-247160617FD2}" srcOrd="0" destOrd="0" parTransId="{62EC1465-3A73-4E76-BDE5-B65078885D58}" sibTransId="{42C622E4-7007-44B3-9EF7-7835CCD7BAE1}"/>
    <dgm:cxn modelId="{8E30E45E-686A-4E6A-B66E-767B62039838}" type="presOf" srcId="{B8BC41BE-E4AA-4B6B-A407-CBE1C4270251}" destId="{3C4592BE-28FA-4A71-A9C0-EA0D68F45276}" srcOrd="0" destOrd="0" presId="urn:microsoft.com/office/officeart/2008/layout/LinedList"/>
    <dgm:cxn modelId="{1C83EF6A-C675-4927-98B0-CC98674AB630}" type="presOf" srcId="{A98D92AE-A481-4F04-BB15-A2FB1AB87E03}" destId="{59BEA5E4-7068-45C9-AE1D-49DCE127E788}" srcOrd="0" destOrd="0" presId="urn:microsoft.com/office/officeart/2008/layout/LinedList"/>
    <dgm:cxn modelId="{7F249374-8216-4248-A896-559AC0D3B6C5}" srcId="{4134259E-89DB-494A-85BE-63AC9F38BE5D}" destId="{471356A9-A82A-4C3B-9EE0-ADA113BB05A0}" srcOrd="1" destOrd="0" parTransId="{1F2241CE-6B08-42AF-A125-0C75EF83F5CD}" sibTransId="{A0DBCEF5-A267-4BD0-ADBC-58C4548AFB61}"/>
    <dgm:cxn modelId="{4C1D978A-E2F1-4338-9D8E-9E656CD54188}" type="presOf" srcId="{38ED8CBA-21A2-4348-832E-247160617FD2}" destId="{3B7C9910-F238-4A5B-8037-91E02C36563F}" srcOrd="0" destOrd="0" presId="urn:microsoft.com/office/officeart/2008/layout/LinedList"/>
    <dgm:cxn modelId="{BAC0C39F-96A8-4021-970F-E4053263A03C}" srcId="{4134259E-89DB-494A-85BE-63AC9F38BE5D}" destId="{B8BC41BE-E4AA-4B6B-A407-CBE1C4270251}" srcOrd="2" destOrd="0" parTransId="{BC8473F8-0773-4446-A185-2FE1367DA45B}" sibTransId="{2D713531-D438-429B-91F9-6821A39F17F2}"/>
    <dgm:cxn modelId="{9747AFB0-3C68-40BE-8656-1A9C73E01B11}" srcId="{4134259E-89DB-494A-85BE-63AC9F38BE5D}" destId="{A98D92AE-A481-4F04-BB15-A2FB1AB87E03}" srcOrd="3" destOrd="0" parTransId="{0C887A9A-3801-4857-AFB4-6CBC709019A5}" sibTransId="{C6CF18B7-F9B0-42C6-AB89-1CF1FDC5185D}"/>
    <dgm:cxn modelId="{202D3F35-B713-4689-AE1D-5C1653DB77C2}" type="presParOf" srcId="{78782E71-7D90-4B3D-9297-C9DB88D340BE}" destId="{A3D9363C-27C5-4F06-9926-95BB477A85A7}" srcOrd="0" destOrd="0" presId="urn:microsoft.com/office/officeart/2008/layout/LinedList"/>
    <dgm:cxn modelId="{83CFB3FB-3067-4888-9EB7-E11E5C20838E}" type="presParOf" srcId="{78782E71-7D90-4B3D-9297-C9DB88D340BE}" destId="{2559B995-AD3C-4BF2-9D21-012A362703E4}" srcOrd="1" destOrd="0" presId="urn:microsoft.com/office/officeart/2008/layout/LinedList"/>
    <dgm:cxn modelId="{0FDE528F-E812-47CA-B8D9-780767FDF776}" type="presParOf" srcId="{2559B995-AD3C-4BF2-9D21-012A362703E4}" destId="{3B7C9910-F238-4A5B-8037-91E02C36563F}" srcOrd="0" destOrd="0" presId="urn:microsoft.com/office/officeart/2008/layout/LinedList"/>
    <dgm:cxn modelId="{BF91CB22-AAE0-486E-AB9F-BB30CFD85E87}" type="presParOf" srcId="{2559B995-AD3C-4BF2-9D21-012A362703E4}" destId="{FC77A93E-DC4B-4287-8400-E17E1D8A0B9F}" srcOrd="1" destOrd="0" presId="urn:microsoft.com/office/officeart/2008/layout/LinedList"/>
    <dgm:cxn modelId="{4EE5C293-84DF-4059-BF17-46BA7BF923CA}" type="presParOf" srcId="{78782E71-7D90-4B3D-9297-C9DB88D340BE}" destId="{57125BE3-8BFD-4150-8807-F439B2B52AA0}" srcOrd="2" destOrd="0" presId="urn:microsoft.com/office/officeart/2008/layout/LinedList"/>
    <dgm:cxn modelId="{FD498EE5-8E5C-4D69-B1CE-6D408C87640E}" type="presParOf" srcId="{78782E71-7D90-4B3D-9297-C9DB88D340BE}" destId="{A1B8848A-5F05-404A-A5CA-D6A7A61BA988}" srcOrd="3" destOrd="0" presId="urn:microsoft.com/office/officeart/2008/layout/LinedList"/>
    <dgm:cxn modelId="{FBF907D6-2AE6-46EA-BA4A-20A5E09F87C0}" type="presParOf" srcId="{A1B8848A-5F05-404A-A5CA-D6A7A61BA988}" destId="{0FD9CB95-E1CF-4A68-887B-4BB10D1B42AA}" srcOrd="0" destOrd="0" presId="urn:microsoft.com/office/officeart/2008/layout/LinedList"/>
    <dgm:cxn modelId="{811C8A20-D041-44F2-86D2-998CD6F0DA90}" type="presParOf" srcId="{A1B8848A-5F05-404A-A5CA-D6A7A61BA988}" destId="{B6CA7586-B569-4346-83C5-ADCA17FD9394}" srcOrd="1" destOrd="0" presId="urn:microsoft.com/office/officeart/2008/layout/LinedList"/>
    <dgm:cxn modelId="{64AD0155-F019-40A2-95F5-ED593BE195FE}" type="presParOf" srcId="{78782E71-7D90-4B3D-9297-C9DB88D340BE}" destId="{0D2A5AC6-AE33-41B5-9422-275B7FF4D67A}" srcOrd="4" destOrd="0" presId="urn:microsoft.com/office/officeart/2008/layout/LinedList"/>
    <dgm:cxn modelId="{88F307C1-EB47-42AA-83FF-E747F1F97B48}" type="presParOf" srcId="{78782E71-7D90-4B3D-9297-C9DB88D340BE}" destId="{F621571C-2A9E-4C50-8313-835BF74AAC07}" srcOrd="5" destOrd="0" presId="urn:microsoft.com/office/officeart/2008/layout/LinedList"/>
    <dgm:cxn modelId="{709EA9D2-D8E3-46A6-AA4D-CB8FFA2D16AB}" type="presParOf" srcId="{F621571C-2A9E-4C50-8313-835BF74AAC07}" destId="{3C4592BE-28FA-4A71-A9C0-EA0D68F45276}" srcOrd="0" destOrd="0" presId="urn:microsoft.com/office/officeart/2008/layout/LinedList"/>
    <dgm:cxn modelId="{8F9DBBA3-4AFB-4730-BD60-854227CADDE0}" type="presParOf" srcId="{F621571C-2A9E-4C50-8313-835BF74AAC07}" destId="{B5137BE6-2ED5-4192-8F47-4498B5AC2D0E}" srcOrd="1" destOrd="0" presId="urn:microsoft.com/office/officeart/2008/layout/LinedList"/>
    <dgm:cxn modelId="{B2BB21B9-1C54-4515-A043-E7CC18A1B432}" type="presParOf" srcId="{78782E71-7D90-4B3D-9297-C9DB88D340BE}" destId="{97B3A9C3-C62D-40D3-9006-03163B81249A}" srcOrd="6" destOrd="0" presId="urn:microsoft.com/office/officeart/2008/layout/LinedList"/>
    <dgm:cxn modelId="{5E56096D-1A96-4951-B7A3-B34527F94A5C}" type="presParOf" srcId="{78782E71-7D90-4B3D-9297-C9DB88D340BE}" destId="{BF00183A-2F11-48C8-BF40-6E99352C5205}" srcOrd="7" destOrd="0" presId="urn:microsoft.com/office/officeart/2008/layout/LinedList"/>
    <dgm:cxn modelId="{3A70D9F5-DFAB-4736-8C17-0CB5184AD8ED}" type="presParOf" srcId="{BF00183A-2F11-48C8-BF40-6E99352C5205}" destId="{59BEA5E4-7068-45C9-AE1D-49DCE127E788}" srcOrd="0" destOrd="0" presId="urn:microsoft.com/office/officeart/2008/layout/LinedList"/>
    <dgm:cxn modelId="{7158C08A-3F9D-4733-8C0D-4509D3D0C413}" type="presParOf" srcId="{BF00183A-2F11-48C8-BF40-6E99352C5205}" destId="{D793F158-CDF4-4CF0-8112-8FF234A3BC4E}" srcOrd="1" destOrd="0" presId="urn:microsoft.com/office/officeart/2008/layout/LinedList"/>
  </dgm:cxnLst>
  <dgm:bg>
    <a:noFill/>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B16D91D-5A9D-47E4-9449-F24C3DCCAC36}"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CN" altLang="en-US"/>
        </a:p>
      </dgm:t>
    </dgm:pt>
    <dgm:pt modelId="{4D49098C-7B46-4301-BB16-EBBB73599719}">
      <dgm:prSet phldrT="[文本]" custT="1"/>
      <dgm:spPr>
        <a:solidFill>
          <a:srgbClr val="92D050"/>
        </a:solidFill>
      </dgm:spPr>
      <dgm:t>
        <a:bodyPr/>
        <a:lstStyle/>
        <a:p>
          <a:r>
            <a:rPr lang="en-US" altLang="zh-CN" sz="1400" b="1" dirty="0"/>
            <a:t>B</a:t>
          </a:r>
        </a:p>
        <a:p>
          <a:r>
            <a:rPr lang="en-US" altLang="zh-CN" sz="1400" dirty="0"/>
            <a:t>1700</a:t>
          </a:r>
        </a:p>
        <a:p>
          <a:endParaRPr lang="zh-CN" altLang="en-US" sz="1400" dirty="0"/>
        </a:p>
      </dgm:t>
    </dgm:pt>
    <dgm:pt modelId="{7035CB60-DCAC-4111-BA86-E1F54251BA10}" type="parTrans" cxnId="{DF63EFF4-4E3B-4ED8-AEC5-1516DDF30020}">
      <dgm:prSet/>
      <dgm:spPr/>
      <dgm:t>
        <a:bodyPr/>
        <a:lstStyle/>
        <a:p>
          <a:endParaRPr lang="zh-CN" altLang="en-US" sz="1400"/>
        </a:p>
      </dgm:t>
    </dgm:pt>
    <dgm:pt modelId="{6A727051-8213-4E12-9D0F-CDBBC551DD0E}" type="sibTrans" cxnId="{DF63EFF4-4E3B-4ED8-AEC5-1516DDF30020}">
      <dgm:prSet/>
      <dgm:spPr/>
      <dgm:t>
        <a:bodyPr/>
        <a:lstStyle/>
        <a:p>
          <a:endParaRPr lang="zh-CN" altLang="en-US" sz="1400"/>
        </a:p>
      </dgm:t>
    </dgm:pt>
    <dgm:pt modelId="{573D957E-C723-4C6E-B386-41163B3D9312}">
      <dgm:prSet phldrT="[文本]" custT="1"/>
      <dgm:spPr>
        <a:solidFill>
          <a:srgbClr val="4D88C3"/>
        </a:solidFill>
      </dgm:spPr>
      <dgm:t>
        <a:bodyPr/>
        <a:lstStyle/>
        <a:p>
          <a:endParaRPr lang="en-US" altLang="zh-CN" sz="900" dirty="0"/>
        </a:p>
      </dgm:t>
    </dgm:pt>
    <dgm:pt modelId="{13749AE1-1668-422E-BC4E-20B71367AC33}" type="parTrans" cxnId="{22DD0244-9C53-4FF7-9062-80DDCB974E5A}">
      <dgm:prSet/>
      <dgm:spPr/>
      <dgm:t>
        <a:bodyPr/>
        <a:lstStyle/>
        <a:p>
          <a:endParaRPr lang="zh-CN" altLang="en-US" sz="1400"/>
        </a:p>
      </dgm:t>
    </dgm:pt>
    <dgm:pt modelId="{34CEC364-2822-41C5-B09C-94E8E743A4B9}" type="sibTrans" cxnId="{22DD0244-9C53-4FF7-9062-80DDCB974E5A}">
      <dgm:prSet/>
      <dgm:spPr/>
      <dgm:t>
        <a:bodyPr/>
        <a:lstStyle/>
        <a:p>
          <a:endParaRPr lang="zh-CN" altLang="en-US" sz="1400"/>
        </a:p>
      </dgm:t>
    </dgm:pt>
    <dgm:pt modelId="{A758EEB3-AED6-4A06-AC6F-8B6BCFD898D8}">
      <dgm:prSet phldrT="[文本]" custT="1"/>
      <dgm:spPr>
        <a:solidFill>
          <a:srgbClr val="4D88C3"/>
        </a:solidFill>
      </dgm:spPr>
      <dgm:t>
        <a:bodyPr/>
        <a:lstStyle/>
        <a:p>
          <a:endParaRPr lang="en-US" altLang="zh-CN" sz="1200" dirty="0"/>
        </a:p>
      </dgm:t>
    </dgm:pt>
    <dgm:pt modelId="{85E643FE-3FF6-4463-A7E0-D8C61C493F3D}" type="parTrans" cxnId="{E3A8905B-370E-4FF9-89FB-C989E1F6022C}">
      <dgm:prSet/>
      <dgm:spPr/>
      <dgm:t>
        <a:bodyPr/>
        <a:lstStyle/>
        <a:p>
          <a:endParaRPr lang="zh-CN" altLang="en-US" sz="1400"/>
        </a:p>
      </dgm:t>
    </dgm:pt>
    <dgm:pt modelId="{9F2E7E66-7ED3-41BB-A54B-4F4CDE2D19C6}" type="sibTrans" cxnId="{E3A8905B-370E-4FF9-89FB-C989E1F6022C}">
      <dgm:prSet/>
      <dgm:spPr/>
      <dgm:t>
        <a:bodyPr/>
        <a:lstStyle/>
        <a:p>
          <a:endParaRPr lang="zh-CN" altLang="en-US" sz="1400"/>
        </a:p>
      </dgm:t>
    </dgm:pt>
    <dgm:pt modelId="{9C4F4D01-18DB-4A87-AD5C-DB3A79FEE13B}">
      <dgm:prSet phldrT="[文本]" custT="1"/>
      <dgm:spPr>
        <a:solidFill>
          <a:srgbClr val="4D88C3"/>
        </a:solidFill>
      </dgm:spPr>
      <dgm:t>
        <a:bodyPr/>
        <a:lstStyle/>
        <a:p>
          <a:endParaRPr lang="zh-CN" altLang="en-US" sz="1200" dirty="0"/>
        </a:p>
      </dgm:t>
    </dgm:pt>
    <dgm:pt modelId="{06ABAA81-00E4-4969-9DE1-BA696BE77F37}" type="parTrans" cxnId="{A71AFFCC-21EB-423F-A20D-672810BBFFB3}">
      <dgm:prSet/>
      <dgm:spPr/>
      <dgm:t>
        <a:bodyPr/>
        <a:lstStyle/>
        <a:p>
          <a:endParaRPr lang="zh-CN" altLang="en-US" sz="1400"/>
        </a:p>
      </dgm:t>
    </dgm:pt>
    <dgm:pt modelId="{09EB02A9-4E24-471E-ABEE-D9D3E5F9E52A}" type="sibTrans" cxnId="{A71AFFCC-21EB-423F-A20D-672810BBFFB3}">
      <dgm:prSet/>
      <dgm:spPr/>
      <dgm:t>
        <a:bodyPr/>
        <a:lstStyle/>
        <a:p>
          <a:endParaRPr lang="zh-CN" altLang="en-US" sz="1400"/>
        </a:p>
      </dgm:t>
    </dgm:pt>
    <dgm:pt modelId="{478E851B-478E-4FBB-A237-B5C0D1096157}">
      <dgm:prSet phldrT="[文本]" custT="1"/>
      <dgm:spPr>
        <a:solidFill>
          <a:srgbClr val="92D050">
            <a:alpha val="40000"/>
          </a:srgbClr>
        </a:solidFill>
        <a:ln>
          <a:solidFill>
            <a:schemeClr val="tx1"/>
          </a:solidFill>
        </a:ln>
      </dgm:spPr>
      <dgm:t>
        <a:bodyPr/>
        <a:lstStyle/>
        <a:p>
          <a:r>
            <a:rPr lang="en-US" altLang="zh-CN" sz="1400" dirty="0">
              <a:solidFill>
                <a:schemeClr val="tx1"/>
              </a:solidFill>
            </a:rPr>
            <a:t>Supply</a:t>
          </a:r>
          <a:r>
            <a:rPr lang="en-US" altLang="zh-CN" sz="1400" dirty="0"/>
            <a:t> </a:t>
          </a:r>
          <a:endParaRPr lang="zh-CN" altLang="en-US" sz="1400" dirty="0"/>
        </a:p>
      </dgm:t>
    </dgm:pt>
    <dgm:pt modelId="{D374E2D6-091C-4515-961D-BB528F6681B5}" type="parTrans" cxnId="{FFEC3ECF-D400-415B-9289-503AFD85EEB5}">
      <dgm:prSet/>
      <dgm:spPr/>
      <dgm:t>
        <a:bodyPr/>
        <a:lstStyle/>
        <a:p>
          <a:endParaRPr lang="zh-CN" altLang="en-US" sz="1400"/>
        </a:p>
      </dgm:t>
    </dgm:pt>
    <dgm:pt modelId="{B28F1CF7-DEBC-4F78-8D42-A90229089F79}" type="sibTrans" cxnId="{FFEC3ECF-D400-415B-9289-503AFD85EEB5}">
      <dgm:prSet/>
      <dgm:spPr/>
      <dgm:t>
        <a:bodyPr/>
        <a:lstStyle/>
        <a:p>
          <a:endParaRPr lang="zh-CN" altLang="en-US" sz="1400"/>
        </a:p>
      </dgm:t>
    </dgm:pt>
    <dgm:pt modelId="{AF6DA357-B7FF-440F-8D3B-047E402F8AAC}">
      <dgm:prSet phldrT="[文本]" custT="1"/>
      <dgm:spPr>
        <a:solidFill>
          <a:srgbClr val="66CCFF">
            <a:alpha val="47000"/>
          </a:srgbClr>
        </a:solidFill>
        <a:ln>
          <a:solidFill>
            <a:schemeClr val="tx1"/>
          </a:solidFill>
        </a:ln>
      </dgm:spPr>
      <dgm:t>
        <a:bodyPr/>
        <a:lstStyle/>
        <a:p>
          <a:r>
            <a:rPr lang="en-US" altLang="zh-CN" sz="1400" dirty="0">
              <a:solidFill>
                <a:schemeClr val="tx1"/>
              </a:solidFill>
            </a:rPr>
            <a:t>GEO</a:t>
          </a:r>
          <a:endParaRPr lang="zh-CN" altLang="en-US" sz="1400" dirty="0">
            <a:solidFill>
              <a:schemeClr val="tx1"/>
            </a:solidFill>
          </a:endParaRPr>
        </a:p>
      </dgm:t>
    </dgm:pt>
    <dgm:pt modelId="{5059AB50-4624-4092-BEFA-21DA1C5EE4BA}" type="parTrans" cxnId="{17F3704F-7D65-42A2-A1DF-23DB207BBC13}">
      <dgm:prSet/>
      <dgm:spPr/>
      <dgm:t>
        <a:bodyPr/>
        <a:lstStyle/>
        <a:p>
          <a:endParaRPr lang="zh-CN" altLang="en-US" sz="1400"/>
        </a:p>
      </dgm:t>
    </dgm:pt>
    <dgm:pt modelId="{7339A591-363F-4499-BB2F-C69B33E8CDDF}" type="sibTrans" cxnId="{17F3704F-7D65-42A2-A1DF-23DB207BBC13}">
      <dgm:prSet/>
      <dgm:spPr/>
      <dgm:t>
        <a:bodyPr/>
        <a:lstStyle/>
        <a:p>
          <a:endParaRPr lang="zh-CN" altLang="en-US" sz="1400"/>
        </a:p>
      </dgm:t>
    </dgm:pt>
    <dgm:pt modelId="{84C75553-4E46-4E01-9254-B2C4E8C0E36A}">
      <dgm:prSet phldrT="[文本]" custT="1"/>
      <dgm:spPr>
        <a:solidFill>
          <a:srgbClr val="66CCFF">
            <a:alpha val="36000"/>
          </a:srgbClr>
        </a:solidFill>
        <a:ln>
          <a:solidFill>
            <a:srgbClr val="66CCFF"/>
          </a:solidFill>
        </a:ln>
      </dgm:spPr>
      <dgm:t>
        <a:bodyPr/>
        <a:lstStyle/>
        <a:p>
          <a:r>
            <a:rPr lang="en-US" altLang="zh-CN" sz="1400" dirty="0">
              <a:solidFill>
                <a:schemeClr val="tx1"/>
              </a:solidFill>
            </a:rPr>
            <a:t>Sub Geo</a:t>
          </a:r>
          <a:endParaRPr lang="zh-CN" altLang="en-US" sz="1400" dirty="0">
            <a:solidFill>
              <a:schemeClr val="tx1"/>
            </a:solidFill>
          </a:endParaRPr>
        </a:p>
      </dgm:t>
    </dgm:pt>
    <dgm:pt modelId="{88613FEA-315B-430D-A8FD-2E09A66E0E8E}" type="parTrans" cxnId="{5789A398-74B2-4B17-96A8-B69FF7D0B9DD}">
      <dgm:prSet/>
      <dgm:spPr/>
      <dgm:t>
        <a:bodyPr/>
        <a:lstStyle/>
        <a:p>
          <a:endParaRPr lang="zh-CN" altLang="en-US" sz="1400"/>
        </a:p>
      </dgm:t>
    </dgm:pt>
    <dgm:pt modelId="{E5551F7A-40B0-47CA-902C-33223FFFC7F8}" type="sibTrans" cxnId="{5789A398-74B2-4B17-96A8-B69FF7D0B9DD}">
      <dgm:prSet/>
      <dgm:spPr/>
      <dgm:t>
        <a:bodyPr/>
        <a:lstStyle/>
        <a:p>
          <a:endParaRPr lang="zh-CN" altLang="en-US" sz="1400"/>
        </a:p>
      </dgm:t>
    </dgm:pt>
    <dgm:pt modelId="{61ADB6B1-300E-476A-8937-1FC1206B9AE5}">
      <dgm:prSet phldrT="[文本]" custT="1"/>
      <dgm:spPr>
        <a:solidFill>
          <a:srgbClr val="4D88C3"/>
        </a:solidFill>
      </dgm:spPr>
      <dgm:t>
        <a:bodyPr/>
        <a:lstStyle/>
        <a:p>
          <a:endParaRPr lang="zh-CN" altLang="en-US" sz="1200" dirty="0"/>
        </a:p>
      </dgm:t>
    </dgm:pt>
    <dgm:pt modelId="{704BAA58-A68D-4B40-A80E-526CCCFA00CA}" type="parTrans" cxnId="{F5391508-690D-4E4D-86F0-0672A3ADAD20}">
      <dgm:prSet/>
      <dgm:spPr/>
      <dgm:t>
        <a:bodyPr/>
        <a:lstStyle/>
        <a:p>
          <a:endParaRPr lang="zh-CN" altLang="en-US" sz="1400"/>
        </a:p>
      </dgm:t>
    </dgm:pt>
    <dgm:pt modelId="{FDCDBEE0-1145-48AD-BC49-D72271829B96}" type="sibTrans" cxnId="{F5391508-690D-4E4D-86F0-0672A3ADAD20}">
      <dgm:prSet/>
      <dgm:spPr/>
      <dgm:t>
        <a:bodyPr/>
        <a:lstStyle/>
        <a:p>
          <a:endParaRPr lang="zh-CN" altLang="en-US" sz="1400"/>
        </a:p>
      </dgm:t>
    </dgm:pt>
    <dgm:pt modelId="{BDD5F1F2-580F-4FEE-86C0-7547E8E64DB6}">
      <dgm:prSet phldrT="[文本]" custT="1"/>
      <dgm:spPr>
        <a:solidFill>
          <a:srgbClr val="4D88C3"/>
        </a:solidFill>
      </dgm:spPr>
      <dgm:t>
        <a:bodyPr/>
        <a:lstStyle/>
        <a:p>
          <a:endParaRPr lang="zh-CN" altLang="en-US" sz="1200" dirty="0"/>
        </a:p>
      </dgm:t>
    </dgm:pt>
    <dgm:pt modelId="{13EE0A20-44BD-4095-AE19-E4CB91971F1B}" type="parTrans" cxnId="{003D8983-D075-4619-8CFF-C2A801C1C13C}">
      <dgm:prSet/>
      <dgm:spPr/>
      <dgm:t>
        <a:bodyPr/>
        <a:lstStyle/>
        <a:p>
          <a:endParaRPr lang="zh-CN" altLang="en-US" sz="1400"/>
        </a:p>
      </dgm:t>
    </dgm:pt>
    <dgm:pt modelId="{6257C491-2767-4DAA-9853-038621CAF249}" type="sibTrans" cxnId="{003D8983-D075-4619-8CFF-C2A801C1C13C}">
      <dgm:prSet/>
      <dgm:spPr/>
      <dgm:t>
        <a:bodyPr/>
        <a:lstStyle/>
        <a:p>
          <a:endParaRPr lang="zh-CN" altLang="en-US" sz="1400"/>
        </a:p>
      </dgm:t>
    </dgm:pt>
    <dgm:pt modelId="{67202CA5-C46D-4F31-B6CE-4C9BA18CB32C}">
      <dgm:prSet phldrT="[文本]" custT="1"/>
      <dgm:spPr>
        <a:solidFill>
          <a:srgbClr val="4D88C3"/>
        </a:solidFill>
      </dgm:spPr>
      <dgm:t>
        <a:bodyPr/>
        <a:lstStyle/>
        <a:p>
          <a:endParaRPr lang="zh-CN" altLang="en-US" sz="1200" dirty="0"/>
        </a:p>
      </dgm:t>
    </dgm:pt>
    <dgm:pt modelId="{F35961D9-9E5C-42ED-87E3-E1E42B97AE13}" type="parTrans" cxnId="{88E51110-FEC4-4108-AE67-977D495AFA20}">
      <dgm:prSet/>
      <dgm:spPr/>
      <dgm:t>
        <a:bodyPr/>
        <a:lstStyle/>
        <a:p>
          <a:endParaRPr lang="zh-CN" altLang="en-US" sz="1400"/>
        </a:p>
      </dgm:t>
    </dgm:pt>
    <dgm:pt modelId="{67BBD8A3-4B27-49EB-B403-CBF8016C3CBB}" type="sibTrans" cxnId="{88E51110-FEC4-4108-AE67-977D495AFA20}">
      <dgm:prSet/>
      <dgm:spPr/>
      <dgm:t>
        <a:bodyPr/>
        <a:lstStyle/>
        <a:p>
          <a:endParaRPr lang="zh-CN" altLang="en-US" sz="1400"/>
        </a:p>
      </dgm:t>
    </dgm:pt>
    <dgm:pt modelId="{8B35E2BA-4E78-4B04-BC05-3A17AF832001}">
      <dgm:prSet phldrT="[文本]" custT="1"/>
      <dgm:spPr>
        <a:solidFill>
          <a:srgbClr val="66CCFF">
            <a:alpha val="49000"/>
          </a:srgbClr>
        </a:solidFill>
        <a:ln>
          <a:solidFill>
            <a:srgbClr val="66CCFF"/>
          </a:solidFill>
        </a:ln>
      </dgm:spPr>
      <dgm:t>
        <a:bodyPr/>
        <a:lstStyle/>
        <a:p>
          <a:r>
            <a:rPr lang="en-US" altLang="zh-CN" sz="1400" dirty="0">
              <a:solidFill>
                <a:schemeClr val="tx1"/>
              </a:solidFill>
            </a:rPr>
            <a:t>Country</a:t>
          </a:r>
          <a:endParaRPr lang="zh-CN" altLang="en-US" sz="1400" dirty="0">
            <a:solidFill>
              <a:schemeClr val="tx1"/>
            </a:solidFill>
          </a:endParaRPr>
        </a:p>
      </dgm:t>
    </dgm:pt>
    <dgm:pt modelId="{D89D64FE-A1F2-4D17-AB18-1B571FACC225}" type="parTrans" cxnId="{010E088F-99C0-4CAF-8112-37D44F557231}">
      <dgm:prSet/>
      <dgm:spPr/>
      <dgm:t>
        <a:bodyPr/>
        <a:lstStyle/>
        <a:p>
          <a:endParaRPr lang="zh-CN" altLang="en-US"/>
        </a:p>
      </dgm:t>
    </dgm:pt>
    <dgm:pt modelId="{DE97FBE3-80D3-4511-8265-1847BB9A7BA0}" type="sibTrans" cxnId="{010E088F-99C0-4CAF-8112-37D44F557231}">
      <dgm:prSet/>
      <dgm:spPr/>
      <dgm:t>
        <a:bodyPr/>
        <a:lstStyle/>
        <a:p>
          <a:endParaRPr lang="zh-CN" altLang="en-US"/>
        </a:p>
      </dgm:t>
    </dgm:pt>
    <dgm:pt modelId="{92B9DE64-6AE9-4D63-9475-485B9ED897F3}" type="pres">
      <dgm:prSet presAssocID="{6B16D91D-5A9D-47E4-9449-F24C3DCCAC36}" presName="mainComposite" presStyleCnt="0">
        <dgm:presLayoutVars>
          <dgm:chPref val="1"/>
          <dgm:dir/>
          <dgm:animOne val="branch"/>
          <dgm:animLvl val="lvl"/>
          <dgm:resizeHandles val="exact"/>
        </dgm:presLayoutVars>
      </dgm:prSet>
      <dgm:spPr/>
    </dgm:pt>
    <dgm:pt modelId="{1B4F655A-1111-4022-AFE3-C5BDD0CDD5D6}" type="pres">
      <dgm:prSet presAssocID="{6B16D91D-5A9D-47E4-9449-F24C3DCCAC36}" presName="hierFlow" presStyleCnt="0"/>
      <dgm:spPr/>
    </dgm:pt>
    <dgm:pt modelId="{6A080825-C4E8-47F1-BA2D-2BEC81C52EBB}" type="pres">
      <dgm:prSet presAssocID="{6B16D91D-5A9D-47E4-9449-F24C3DCCAC36}" presName="firstBuf" presStyleCnt="0"/>
      <dgm:spPr/>
    </dgm:pt>
    <dgm:pt modelId="{72490C63-95DA-47DC-B4DD-708CE859FD1E}" type="pres">
      <dgm:prSet presAssocID="{6B16D91D-5A9D-47E4-9449-F24C3DCCAC36}" presName="hierChild1" presStyleCnt="0">
        <dgm:presLayoutVars>
          <dgm:chPref val="1"/>
          <dgm:animOne val="branch"/>
          <dgm:animLvl val="lvl"/>
        </dgm:presLayoutVars>
      </dgm:prSet>
      <dgm:spPr/>
    </dgm:pt>
    <dgm:pt modelId="{371B4341-C79E-4216-A4DA-BDA94F363F62}" type="pres">
      <dgm:prSet presAssocID="{4D49098C-7B46-4301-BB16-EBBB73599719}" presName="Name14" presStyleCnt="0"/>
      <dgm:spPr/>
    </dgm:pt>
    <dgm:pt modelId="{C6491B2D-18D5-4987-AC42-F1A925C67CEF}" type="pres">
      <dgm:prSet presAssocID="{4D49098C-7B46-4301-BB16-EBBB73599719}" presName="level1Shape" presStyleLbl="node0" presStyleIdx="0" presStyleCnt="1">
        <dgm:presLayoutVars>
          <dgm:chPref val="3"/>
        </dgm:presLayoutVars>
      </dgm:prSet>
      <dgm:spPr/>
    </dgm:pt>
    <dgm:pt modelId="{45D42365-2F58-41CF-A833-46D58A09D199}" type="pres">
      <dgm:prSet presAssocID="{4D49098C-7B46-4301-BB16-EBBB73599719}" presName="hierChild2" presStyleCnt="0"/>
      <dgm:spPr/>
    </dgm:pt>
    <dgm:pt modelId="{785074C2-7E9E-4DDC-BC73-57D9F69DD483}" type="pres">
      <dgm:prSet presAssocID="{13749AE1-1668-422E-BC4E-20B71367AC33}" presName="Name19" presStyleLbl="parChTrans1D2" presStyleIdx="0" presStyleCnt="2"/>
      <dgm:spPr/>
    </dgm:pt>
    <dgm:pt modelId="{7967923F-D279-4291-B59D-5BD10DA8556E}" type="pres">
      <dgm:prSet presAssocID="{573D957E-C723-4C6E-B386-41163B3D9312}" presName="Name21" presStyleCnt="0"/>
      <dgm:spPr/>
    </dgm:pt>
    <dgm:pt modelId="{F8EB33F5-047A-41C9-9799-4A393326DF47}" type="pres">
      <dgm:prSet presAssocID="{573D957E-C723-4C6E-B386-41163B3D9312}" presName="level2Shape" presStyleLbl="node2" presStyleIdx="0" presStyleCnt="2"/>
      <dgm:spPr/>
    </dgm:pt>
    <dgm:pt modelId="{D854AA46-3F1D-4D1A-A782-5A614454893D}" type="pres">
      <dgm:prSet presAssocID="{573D957E-C723-4C6E-B386-41163B3D9312}" presName="hierChild3" presStyleCnt="0"/>
      <dgm:spPr/>
    </dgm:pt>
    <dgm:pt modelId="{BD697B42-0F82-488C-969E-26DE5618A213}" type="pres">
      <dgm:prSet presAssocID="{85E643FE-3FF6-4463-A7E0-D8C61C493F3D}" presName="Name19" presStyleLbl="parChTrans1D2" presStyleIdx="1" presStyleCnt="2"/>
      <dgm:spPr/>
    </dgm:pt>
    <dgm:pt modelId="{C93E5BCA-07BF-4C8A-8BEA-6EB57E214FB2}" type="pres">
      <dgm:prSet presAssocID="{A758EEB3-AED6-4A06-AC6F-8B6BCFD898D8}" presName="Name21" presStyleCnt="0"/>
      <dgm:spPr/>
    </dgm:pt>
    <dgm:pt modelId="{25F1AD1B-5FF7-408C-AA4A-D07FBA0A505B}" type="pres">
      <dgm:prSet presAssocID="{A758EEB3-AED6-4A06-AC6F-8B6BCFD898D8}" presName="level2Shape" presStyleLbl="node2" presStyleIdx="1" presStyleCnt="2" custScaleX="120695"/>
      <dgm:spPr/>
    </dgm:pt>
    <dgm:pt modelId="{785A9FBD-284F-434F-9147-1F652B30C3F9}" type="pres">
      <dgm:prSet presAssocID="{A758EEB3-AED6-4A06-AC6F-8B6BCFD898D8}" presName="hierChild3" presStyleCnt="0"/>
      <dgm:spPr/>
    </dgm:pt>
    <dgm:pt modelId="{275EA44C-144E-4EE9-A87E-6256071EA0D0}" type="pres">
      <dgm:prSet presAssocID="{F35961D9-9E5C-42ED-87E3-E1E42B97AE13}" presName="Name19" presStyleLbl="parChTrans1D3" presStyleIdx="0" presStyleCnt="2"/>
      <dgm:spPr/>
    </dgm:pt>
    <dgm:pt modelId="{6E690D7F-00DE-4B79-B932-EC5A2DD6B8FD}" type="pres">
      <dgm:prSet presAssocID="{67202CA5-C46D-4F31-B6CE-4C9BA18CB32C}" presName="Name21" presStyleCnt="0"/>
      <dgm:spPr/>
    </dgm:pt>
    <dgm:pt modelId="{9BCCD814-F660-484A-B42B-A72A7B6108DB}" type="pres">
      <dgm:prSet presAssocID="{67202CA5-C46D-4F31-B6CE-4C9BA18CB32C}" presName="level2Shape" presStyleLbl="node3" presStyleIdx="0" presStyleCnt="2" custScaleX="133283"/>
      <dgm:spPr/>
    </dgm:pt>
    <dgm:pt modelId="{10469FDE-9FE1-460C-AC16-1E1C44B283D4}" type="pres">
      <dgm:prSet presAssocID="{67202CA5-C46D-4F31-B6CE-4C9BA18CB32C}" presName="hierChild3" presStyleCnt="0"/>
      <dgm:spPr/>
    </dgm:pt>
    <dgm:pt modelId="{E5D4E8C9-A646-4863-91C0-06A1F1E7ADB8}" type="pres">
      <dgm:prSet presAssocID="{06ABAA81-00E4-4969-9DE1-BA696BE77F37}" presName="Name19" presStyleLbl="parChTrans1D4" presStyleIdx="0" presStyleCnt="2"/>
      <dgm:spPr/>
    </dgm:pt>
    <dgm:pt modelId="{5E5F6179-A2DC-4ECA-89C0-666E05EAADA9}" type="pres">
      <dgm:prSet presAssocID="{9C4F4D01-18DB-4A87-AD5C-DB3A79FEE13B}" presName="Name21" presStyleCnt="0"/>
      <dgm:spPr/>
    </dgm:pt>
    <dgm:pt modelId="{912674DA-7E17-4192-A26D-0EDCA57C9CAD}" type="pres">
      <dgm:prSet presAssocID="{9C4F4D01-18DB-4A87-AD5C-DB3A79FEE13B}" presName="level2Shape" presStyleLbl="node4" presStyleIdx="0" presStyleCnt="2"/>
      <dgm:spPr/>
    </dgm:pt>
    <dgm:pt modelId="{F06A00C7-C558-47F1-A7AC-69D7FF6CAD21}" type="pres">
      <dgm:prSet presAssocID="{9C4F4D01-18DB-4A87-AD5C-DB3A79FEE13B}" presName="hierChild3" presStyleCnt="0"/>
      <dgm:spPr/>
    </dgm:pt>
    <dgm:pt modelId="{EF960BC0-805C-4333-B930-34B153C16B3E}" type="pres">
      <dgm:prSet presAssocID="{704BAA58-A68D-4B40-A80E-526CCCFA00CA}" presName="Name19" presStyleLbl="parChTrans1D4" presStyleIdx="1" presStyleCnt="2"/>
      <dgm:spPr/>
    </dgm:pt>
    <dgm:pt modelId="{75B2FCB0-E7FB-46E6-9BB7-529E63BA8428}" type="pres">
      <dgm:prSet presAssocID="{61ADB6B1-300E-476A-8937-1FC1206B9AE5}" presName="Name21" presStyleCnt="0"/>
      <dgm:spPr/>
    </dgm:pt>
    <dgm:pt modelId="{AADC5DB2-4563-4534-96E0-0BEAAEFAD264}" type="pres">
      <dgm:prSet presAssocID="{61ADB6B1-300E-476A-8937-1FC1206B9AE5}" presName="level2Shape" presStyleLbl="node4" presStyleIdx="1" presStyleCnt="2"/>
      <dgm:spPr/>
    </dgm:pt>
    <dgm:pt modelId="{0F49DBC3-3675-40F9-A118-2FC8F34BA3A6}" type="pres">
      <dgm:prSet presAssocID="{61ADB6B1-300E-476A-8937-1FC1206B9AE5}" presName="hierChild3" presStyleCnt="0"/>
      <dgm:spPr/>
    </dgm:pt>
    <dgm:pt modelId="{FC833476-0A14-40A1-864B-51496970A322}" type="pres">
      <dgm:prSet presAssocID="{13EE0A20-44BD-4095-AE19-E4CB91971F1B}" presName="Name19" presStyleLbl="parChTrans1D3" presStyleIdx="1" presStyleCnt="2"/>
      <dgm:spPr/>
    </dgm:pt>
    <dgm:pt modelId="{B9C28232-3F71-4CD8-A72F-833B7B6075C6}" type="pres">
      <dgm:prSet presAssocID="{BDD5F1F2-580F-4FEE-86C0-7547E8E64DB6}" presName="Name21" presStyleCnt="0"/>
      <dgm:spPr/>
    </dgm:pt>
    <dgm:pt modelId="{DDCC15E8-B0D0-4E14-A0EF-D2A4277916A8}" type="pres">
      <dgm:prSet presAssocID="{BDD5F1F2-580F-4FEE-86C0-7547E8E64DB6}" presName="level2Shape" presStyleLbl="node3" presStyleIdx="1" presStyleCnt="2"/>
      <dgm:spPr/>
    </dgm:pt>
    <dgm:pt modelId="{46D2559C-5545-4522-B48B-BBB32775891D}" type="pres">
      <dgm:prSet presAssocID="{BDD5F1F2-580F-4FEE-86C0-7547E8E64DB6}" presName="hierChild3" presStyleCnt="0"/>
      <dgm:spPr/>
    </dgm:pt>
    <dgm:pt modelId="{2D9A8F98-5D75-4A30-B6F1-3F4BE180650C}" type="pres">
      <dgm:prSet presAssocID="{6B16D91D-5A9D-47E4-9449-F24C3DCCAC36}" presName="bgShapesFlow" presStyleCnt="0"/>
      <dgm:spPr/>
    </dgm:pt>
    <dgm:pt modelId="{8707A9F6-72B6-42F6-B7F6-558F67C221F2}" type="pres">
      <dgm:prSet presAssocID="{478E851B-478E-4FBB-A237-B5C0D1096157}" presName="rectComp" presStyleCnt="0"/>
      <dgm:spPr/>
    </dgm:pt>
    <dgm:pt modelId="{3D18F286-2C89-4245-B18B-6606506E31C3}" type="pres">
      <dgm:prSet presAssocID="{478E851B-478E-4FBB-A237-B5C0D1096157}" presName="bgRect" presStyleLbl="bgShp" presStyleIdx="0" presStyleCnt="4" custLinFactNeighborX="947" custLinFactNeighborY="-1784"/>
      <dgm:spPr/>
    </dgm:pt>
    <dgm:pt modelId="{3FB97BA1-816C-4772-BA29-7EDEA8AFB29C}" type="pres">
      <dgm:prSet presAssocID="{478E851B-478E-4FBB-A237-B5C0D1096157}" presName="bgRectTx" presStyleLbl="bgShp" presStyleIdx="0" presStyleCnt="4">
        <dgm:presLayoutVars>
          <dgm:bulletEnabled val="1"/>
        </dgm:presLayoutVars>
      </dgm:prSet>
      <dgm:spPr/>
    </dgm:pt>
    <dgm:pt modelId="{07C7AFB6-6E70-416C-A10A-A94AD5EACA49}" type="pres">
      <dgm:prSet presAssocID="{478E851B-478E-4FBB-A237-B5C0D1096157}" presName="spComp" presStyleCnt="0"/>
      <dgm:spPr/>
    </dgm:pt>
    <dgm:pt modelId="{926E901D-4F47-4AF2-B716-AA2A613E7C0F}" type="pres">
      <dgm:prSet presAssocID="{478E851B-478E-4FBB-A237-B5C0D1096157}" presName="vSp" presStyleCnt="0"/>
      <dgm:spPr/>
    </dgm:pt>
    <dgm:pt modelId="{779F8C65-DB34-4476-BB29-70BA161349D6}" type="pres">
      <dgm:prSet presAssocID="{AF6DA357-B7FF-440F-8D3B-047E402F8AAC}" presName="rectComp" presStyleCnt="0"/>
      <dgm:spPr/>
    </dgm:pt>
    <dgm:pt modelId="{AF84D346-2E9E-4D67-8C0D-E4590100997F}" type="pres">
      <dgm:prSet presAssocID="{AF6DA357-B7FF-440F-8D3B-047E402F8AAC}" presName="bgRect" presStyleLbl="bgShp" presStyleIdx="1" presStyleCnt="4" custLinFactNeighborY="-79"/>
      <dgm:spPr/>
    </dgm:pt>
    <dgm:pt modelId="{15E9E603-8191-412F-AE5D-D652E0713065}" type="pres">
      <dgm:prSet presAssocID="{AF6DA357-B7FF-440F-8D3B-047E402F8AAC}" presName="bgRectTx" presStyleLbl="bgShp" presStyleIdx="1" presStyleCnt="4">
        <dgm:presLayoutVars>
          <dgm:bulletEnabled val="1"/>
        </dgm:presLayoutVars>
      </dgm:prSet>
      <dgm:spPr/>
    </dgm:pt>
    <dgm:pt modelId="{3EC8070C-8002-4CC2-A8B1-4E2DE3D01C60}" type="pres">
      <dgm:prSet presAssocID="{AF6DA357-B7FF-440F-8D3B-047E402F8AAC}" presName="spComp" presStyleCnt="0"/>
      <dgm:spPr/>
    </dgm:pt>
    <dgm:pt modelId="{01297D10-0468-4C95-A9A7-79071066D551}" type="pres">
      <dgm:prSet presAssocID="{AF6DA357-B7FF-440F-8D3B-047E402F8AAC}" presName="vSp" presStyleCnt="0"/>
      <dgm:spPr/>
    </dgm:pt>
    <dgm:pt modelId="{731E3761-7439-4457-A56E-9FCA900AC09B}" type="pres">
      <dgm:prSet presAssocID="{84C75553-4E46-4E01-9254-B2C4E8C0E36A}" presName="rectComp" presStyleCnt="0"/>
      <dgm:spPr/>
    </dgm:pt>
    <dgm:pt modelId="{8FF6418E-442C-4DAD-B00A-58663C4E9585}" type="pres">
      <dgm:prSet presAssocID="{84C75553-4E46-4E01-9254-B2C4E8C0E36A}" presName="bgRect" presStyleLbl="bgShp" presStyleIdx="2" presStyleCnt="4"/>
      <dgm:spPr/>
    </dgm:pt>
    <dgm:pt modelId="{24A6C7F6-E385-4E34-98FE-66B967070A30}" type="pres">
      <dgm:prSet presAssocID="{84C75553-4E46-4E01-9254-B2C4E8C0E36A}" presName="bgRectTx" presStyleLbl="bgShp" presStyleIdx="2" presStyleCnt="4">
        <dgm:presLayoutVars>
          <dgm:bulletEnabled val="1"/>
        </dgm:presLayoutVars>
      </dgm:prSet>
      <dgm:spPr/>
    </dgm:pt>
    <dgm:pt modelId="{8DFA826E-DB13-4884-9BC8-8F62E7A3B7D6}" type="pres">
      <dgm:prSet presAssocID="{84C75553-4E46-4E01-9254-B2C4E8C0E36A}" presName="spComp" presStyleCnt="0"/>
      <dgm:spPr/>
    </dgm:pt>
    <dgm:pt modelId="{32F9C630-F062-4C11-B722-35D5F9DE3424}" type="pres">
      <dgm:prSet presAssocID="{84C75553-4E46-4E01-9254-B2C4E8C0E36A}" presName="vSp" presStyleCnt="0"/>
      <dgm:spPr/>
    </dgm:pt>
    <dgm:pt modelId="{DFE6AA46-2F74-488E-9BC2-874E4048B6F9}" type="pres">
      <dgm:prSet presAssocID="{8B35E2BA-4E78-4B04-BC05-3A17AF832001}" presName="rectComp" presStyleCnt="0"/>
      <dgm:spPr/>
    </dgm:pt>
    <dgm:pt modelId="{1AFA9D16-A37F-412B-8848-2BA8C8620B8D}" type="pres">
      <dgm:prSet presAssocID="{8B35E2BA-4E78-4B04-BC05-3A17AF832001}" presName="bgRect" presStyleLbl="bgShp" presStyleIdx="3" presStyleCnt="4"/>
      <dgm:spPr/>
    </dgm:pt>
    <dgm:pt modelId="{04D94323-189D-4EED-9E04-906ABB47A5FB}" type="pres">
      <dgm:prSet presAssocID="{8B35E2BA-4E78-4B04-BC05-3A17AF832001}" presName="bgRectTx" presStyleLbl="bgShp" presStyleIdx="3" presStyleCnt="4">
        <dgm:presLayoutVars>
          <dgm:bulletEnabled val="1"/>
        </dgm:presLayoutVars>
      </dgm:prSet>
      <dgm:spPr/>
    </dgm:pt>
  </dgm:ptLst>
  <dgm:cxnLst>
    <dgm:cxn modelId="{48CB4F04-A653-457A-B5D0-07E0F18C73D7}" type="presOf" srcId="{BDD5F1F2-580F-4FEE-86C0-7547E8E64DB6}" destId="{DDCC15E8-B0D0-4E14-A0EF-D2A4277916A8}" srcOrd="0" destOrd="0" presId="urn:microsoft.com/office/officeart/2005/8/layout/hierarchy6"/>
    <dgm:cxn modelId="{F5391508-690D-4E4D-86F0-0672A3ADAD20}" srcId="{67202CA5-C46D-4F31-B6CE-4C9BA18CB32C}" destId="{61ADB6B1-300E-476A-8937-1FC1206B9AE5}" srcOrd="1" destOrd="0" parTransId="{704BAA58-A68D-4B40-A80E-526CCCFA00CA}" sibTransId="{FDCDBEE0-1145-48AD-BC49-D72271829B96}"/>
    <dgm:cxn modelId="{88E51110-FEC4-4108-AE67-977D495AFA20}" srcId="{A758EEB3-AED6-4A06-AC6F-8B6BCFD898D8}" destId="{67202CA5-C46D-4F31-B6CE-4C9BA18CB32C}" srcOrd="0" destOrd="0" parTransId="{F35961D9-9E5C-42ED-87E3-E1E42B97AE13}" sibTransId="{67BBD8A3-4B27-49EB-B403-CBF8016C3CBB}"/>
    <dgm:cxn modelId="{F01EF72E-0D7D-485B-8012-8D57B656A427}" type="presOf" srcId="{AF6DA357-B7FF-440F-8D3B-047E402F8AAC}" destId="{AF84D346-2E9E-4D67-8C0D-E4590100997F}" srcOrd="0" destOrd="0" presId="urn:microsoft.com/office/officeart/2005/8/layout/hierarchy6"/>
    <dgm:cxn modelId="{0B102E34-411E-4A97-AFE5-211C8F1D1ADF}" type="presOf" srcId="{67202CA5-C46D-4F31-B6CE-4C9BA18CB32C}" destId="{9BCCD814-F660-484A-B42B-A72A7B6108DB}" srcOrd="0" destOrd="0" presId="urn:microsoft.com/office/officeart/2005/8/layout/hierarchy6"/>
    <dgm:cxn modelId="{15C4E139-52BE-44F9-8A9A-700ED9B9046F}" type="presOf" srcId="{9C4F4D01-18DB-4A87-AD5C-DB3A79FEE13B}" destId="{912674DA-7E17-4192-A26D-0EDCA57C9CAD}" srcOrd="0" destOrd="0" presId="urn:microsoft.com/office/officeart/2005/8/layout/hierarchy6"/>
    <dgm:cxn modelId="{3284483E-1B5F-4EAB-9CC6-97954999C226}" type="presOf" srcId="{61ADB6B1-300E-476A-8937-1FC1206B9AE5}" destId="{AADC5DB2-4563-4534-96E0-0BEAAEFAD264}" srcOrd="0" destOrd="0" presId="urn:microsoft.com/office/officeart/2005/8/layout/hierarchy6"/>
    <dgm:cxn modelId="{E3A8905B-370E-4FF9-89FB-C989E1F6022C}" srcId="{4D49098C-7B46-4301-BB16-EBBB73599719}" destId="{A758EEB3-AED6-4A06-AC6F-8B6BCFD898D8}" srcOrd="1" destOrd="0" parTransId="{85E643FE-3FF6-4463-A7E0-D8C61C493F3D}" sibTransId="{9F2E7E66-7ED3-41BB-A54B-4F4CDE2D19C6}"/>
    <dgm:cxn modelId="{9EDCB75B-CC34-475E-B9B1-011E0A6FF79E}" type="presOf" srcId="{84C75553-4E46-4E01-9254-B2C4E8C0E36A}" destId="{8FF6418E-442C-4DAD-B00A-58663C4E9585}" srcOrd="0" destOrd="0" presId="urn:microsoft.com/office/officeart/2005/8/layout/hierarchy6"/>
    <dgm:cxn modelId="{D5299562-0DD6-447D-AE25-092D3D34120F}" type="presOf" srcId="{478E851B-478E-4FBB-A237-B5C0D1096157}" destId="{3FB97BA1-816C-4772-BA29-7EDEA8AFB29C}" srcOrd="1" destOrd="0" presId="urn:microsoft.com/office/officeart/2005/8/layout/hierarchy6"/>
    <dgm:cxn modelId="{22DD0244-9C53-4FF7-9062-80DDCB974E5A}" srcId="{4D49098C-7B46-4301-BB16-EBBB73599719}" destId="{573D957E-C723-4C6E-B386-41163B3D9312}" srcOrd="0" destOrd="0" parTransId="{13749AE1-1668-422E-BC4E-20B71367AC33}" sibTransId="{34CEC364-2822-41C5-B09C-94E8E743A4B9}"/>
    <dgm:cxn modelId="{17F3704F-7D65-42A2-A1DF-23DB207BBC13}" srcId="{6B16D91D-5A9D-47E4-9449-F24C3DCCAC36}" destId="{AF6DA357-B7FF-440F-8D3B-047E402F8AAC}" srcOrd="2" destOrd="0" parTransId="{5059AB50-4624-4092-BEFA-21DA1C5EE4BA}" sibTransId="{7339A591-363F-4499-BB2F-C69B33E8CDDF}"/>
    <dgm:cxn modelId="{F9208674-C8EE-40F5-8BE3-35765781FFA6}" type="presOf" srcId="{478E851B-478E-4FBB-A237-B5C0D1096157}" destId="{3D18F286-2C89-4245-B18B-6606506E31C3}" srcOrd="0" destOrd="0" presId="urn:microsoft.com/office/officeart/2005/8/layout/hierarchy6"/>
    <dgm:cxn modelId="{FEBCD855-2D94-4F21-BDB6-349D51BD2C75}" type="presOf" srcId="{13749AE1-1668-422E-BC4E-20B71367AC33}" destId="{785074C2-7E9E-4DDC-BC73-57D9F69DD483}" srcOrd="0" destOrd="0" presId="urn:microsoft.com/office/officeart/2005/8/layout/hierarchy6"/>
    <dgm:cxn modelId="{9F76E680-D00E-4D9B-B9ED-22EEB0DAB10C}" type="presOf" srcId="{85E643FE-3FF6-4463-A7E0-D8C61C493F3D}" destId="{BD697B42-0F82-488C-969E-26DE5618A213}" srcOrd="0" destOrd="0" presId="urn:microsoft.com/office/officeart/2005/8/layout/hierarchy6"/>
    <dgm:cxn modelId="{003D8983-D075-4619-8CFF-C2A801C1C13C}" srcId="{A758EEB3-AED6-4A06-AC6F-8B6BCFD898D8}" destId="{BDD5F1F2-580F-4FEE-86C0-7547E8E64DB6}" srcOrd="1" destOrd="0" parTransId="{13EE0A20-44BD-4095-AE19-E4CB91971F1B}" sibTransId="{6257C491-2767-4DAA-9853-038621CAF249}"/>
    <dgm:cxn modelId="{7E473C84-2D5B-42E8-9A3E-7A42656399FE}" type="presOf" srcId="{13EE0A20-44BD-4095-AE19-E4CB91971F1B}" destId="{FC833476-0A14-40A1-864B-51496970A322}" srcOrd="0" destOrd="0" presId="urn:microsoft.com/office/officeart/2005/8/layout/hierarchy6"/>
    <dgm:cxn modelId="{21E4978C-A73A-4B43-AAA6-9A862CFC037F}" type="presOf" srcId="{6B16D91D-5A9D-47E4-9449-F24C3DCCAC36}" destId="{92B9DE64-6AE9-4D63-9475-485B9ED897F3}" srcOrd="0" destOrd="0" presId="urn:microsoft.com/office/officeart/2005/8/layout/hierarchy6"/>
    <dgm:cxn modelId="{010E088F-99C0-4CAF-8112-37D44F557231}" srcId="{6B16D91D-5A9D-47E4-9449-F24C3DCCAC36}" destId="{8B35E2BA-4E78-4B04-BC05-3A17AF832001}" srcOrd="4" destOrd="0" parTransId="{D89D64FE-A1F2-4D17-AB18-1B571FACC225}" sibTransId="{DE97FBE3-80D3-4511-8265-1847BB9A7BA0}"/>
    <dgm:cxn modelId="{5789A398-74B2-4B17-96A8-B69FF7D0B9DD}" srcId="{6B16D91D-5A9D-47E4-9449-F24C3DCCAC36}" destId="{84C75553-4E46-4E01-9254-B2C4E8C0E36A}" srcOrd="3" destOrd="0" parTransId="{88613FEA-315B-430D-A8FD-2E09A66E0E8E}" sibTransId="{E5551F7A-40B0-47CA-902C-33223FFFC7F8}"/>
    <dgm:cxn modelId="{7393169D-BFF0-4D9C-8FE8-F3EBFF74545C}" type="presOf" srcId="{84C75553-4E46-4E01-9254-B2C4E8C0E36A}" destId="{24A6C7F6-E385-4E34-98FE-66B967070A30}" srcOrd="1" destOrd="0" presId="urn:microsoft.com/office/officeart/2005/8/layout/hierarchy6"/>
    <dgm:cxn modelId="{283057A6-BD59-41D4-9018-24F4ADA88AC0}" type="presOf" srcId="{F35961D9-9E5C-42ED-87E3-E1E42B97AE13}" destId="{275EA44C-144E-4EE9-A87E-6256071EA0D0}" srcOrd="0" destOrd="0" presId="urn:microsoft.com/office/officeart/2005/8/layout/hierarchy6"/>
    <dgm:cxn modelId="{530AE1B0-2589-4809-91E3-AF744022219A}" type="presOf" srcId="{704BAA58-A68D-4B40-A80E-526CCCFA00CA}" destId="{EF960BC0-805C-4333-B930-34B153C16B3E}" srcOrd="0" destOrd="0" presId="urn:microsoft.com/office/officeart/2005/8/layout/hierarchy6"/>
    <dgm:cxn modelId="{FCC199BF-999C-4DBB-B179-7674F91B21E3}" type="presOf" srcId="{AF6DA357-B7FF-440F-8D3B-047E402F8AAC}" destId="{15E9E603-8191-412F-AE5D-D652E0713065}" srcOrd="1" destOrd="0" presId="urn:microsoft.com/office/officeart/2005/8/layout/hierarchy6"/>
    <dgm:cxn modelId="{0F9037C1-67AF-4DC1-82AE-25534ADA7F49}" type="presOf" srcId="{06ABAA81-00E4-4969-9DE1-BA696BE77F37}" destId="{E5D4E8C9-A646-4863-91C0-06A1F1E7ADB8}" srcOrd="0" destOrd="0" presId="urn:microsoft.com/office/officeart/2005/8/layout/hierarchy6"/>
    <dgm:cxn modelId="{A71AFFCC-21EB-423F-A20D-672810BBFFB3}" srcId="{67202CA5-C46D-4F31-B6CE-4C9BA18CB32C}" destId="{9C4F4D01-18DB-4A87-AD5C-DB3A79FEE13B}" srcOrd="0" destOrd="0" parTransId="{06ABAA81-00E4-4969-9DE1-BA696BE77F37}" sibTransId="{09EB02A9-4E24-471E-ABEE-D9D3E5F9E52A}"/>
    <dgm:cxn modelId="{FFEC3ECF-D400-415B-9289-503AFD85EEB5}" srcId="{6B16D91D-5A9D-47E4-9449-F24C3DCCAC36}" destId="{478E851B-478E-4FBB-A237-B5C0D1096157}" srcOrd="1" destOrd="0" parTransId="{D374E2D6-091C-4515-961D-BB528F6681B5}" sibTransId="{B28F1CF7-DEBC-4F78-8D42-A90229089F79}"/>
    <dgm:cxn modelId="{B1C02ED6-13B0-4EB4-9DBB-56CC5994A240}" type="presOf" srcId="{A758EEB3-AED6-4A06-AC6F-8B6BCFD898D8}" destId="{25F1AD1B-5FF7-408C-AA4A-D07FBA0A505B}" srcOrd="0" destOrd="0" presId="urn:microsoft.com/office/officeart/2005/8/layout/hierarchy6"/>
    <dgm:cxn modelId="{B50511DA-EF29-4EF2-8EE1-E316B331E192}" type="presOf" srcId="{4D49098C-7B46-4301-BB16-EBBB73599719}" destId="{C6491B2D-18D5-4987-AC42-F1A925C67CEF}" srcOrd="0" destOrd="0" presId="urn:microsoft.com/office/officeart/2005/8/layout/hierarchy6"/>
    <dgm:cxn modelId="{26738EDF-8D74-44C3-9DA4-174DF27D3455}" type="presOf" srcId="{573D957E-C723-4C6E-B386-41163B3D9312}" destId="{F8EB33F5-047A-41C9-9799-4A393326DF47}" srcOrd="0" destOrd="0" presId="urn:microsoft.com/office/officeart/2005/8/layout/hierarchy6"/>
    <dgm:cxn modelId="{130B48E6-1197-486C-88BE-AC32C288668E}" type="presOf" srcId="{8B35E2BA-4E78-4B04-BC05-3A17AF832001}" destId="{04D94323-189D-4EED-9E04-906ABB47A5FB}" srcOrd="1" destOrd="0" presId="urn:microsoft.com/office/officeart/2005/8/layout/hierarchy6"/>
    <dgm:cxn modelId="{2A39FEF0-E708-437A-B539-BAC5F5CE1C42}" type="presOf" srcId="{8B35E2BA-4E78-4B04-BC05-3A17AF832001}" destId="{1AFA9D16-A37F-412B-8848-2BA8C8620B8D}" srcOrd="0" destOrd="0" presId="urn:microsoft.com/office/officeart/2005/8/layout/hierarchy6"/>
    <dgm:cxn modelId="{DF63EFF4-4E3B-4ED8-AEC5-1516DDF30020}" srcId="{6B16D91D-5A9D-47E4-9449-F24C3DCCAC36}" destId="{4D49098C-7B46-4301-BB16-EBBB73599719}" srcOrd="0" destOrd="0" parTransId="{7035CB60-DCAC-4111-BA86-E1F54251BA10}" sibTransId="{6A727051-8213-4E12-9D0F-CDBBC551DD0E}"/>
    <dgm:cxn modelId="{74C44746-5778-4B16-96FF-1D8C2EBB640B}" type="presParOf" srcId="{92B9DE64-6AE9-4D63-9475-485B9ED897F3}" destId="{1B4F655A-1111-4022-AFE3-C5BDD0CDD5D6}" srcOrd="0" destOrd="0" presId="urn:microsoft.com/office/officeart/2005/8/layout/hierarchy6"/>
    <dgm:cxn modelId="{43D53AB9-4F9F-4B4E-96B5-C1427986FBA1}" type="presParOf" srcId="{1B4F655A-1111-4022-AFE3-C5BDD0CDD5D6}" destId="{6A080825-C4E8-47F1-BA2D-2BEC81C52EBB}" srcOrd="0" destOrd="0" presId="urn:microsoft.com/office/officeart/2005/8/layout/hierarchy6"/>
    <dgm:cxn modelId="{E8793858-B598-4169-BD88-C195C9048C70}" type="presParOf" srcId="{1B4F655A-1111-4022-AFE3-C5BDD0CDD5D6}" destId="{72490C63-95DA-47DC-B4DD-708CE859FD1E}" srcOrd="1" destOrd="0" presId="urn:microsoft.com/office/officeart/2005/8/layout/hierarchy6"/>
    <dgm:cxn modelId="{4FEBEA23-9BE6-462A-81EE-011B93204EC3}" type="presParOf" srcId="{72490C63-95DA-47DC-B4DD-708CE859FD1E}" destId="{371B4341-C79E-4216-A4DA-BDA94F363F62}" srcOrd="0" destOrd="0" presId="urn:microsoft.com/office/officeart/2005/8/layout/hierarchy6"/>
    <dgm:cxn modelId="{A0D37DE6-0C58-4B60-BC24-9F00CCF4079D}" type="presParOf" srcId="{371B4341-C79E-4216-A4DA-BDA94F363F62}" destId="{C6491B2D-18D5-4987-AC42-F1A925C67CEF}" srcOrd="0" destOrd="0" presId="urn:microsoft.com/office/officeart/2005/8/layout/hierarchy6"/>
    <dgm:cxn modelId="{D7AAB387-748C-4B2F-81CE-3B55CDD39882}" type="presParOf" srcId="{371B4341-C79E-4216-A4DA-BDA94F363F62}" destId="{45D42365-2F58-41CF-A833-46D58A09D199}" srcOrd="1" destOrd="0" presId="urn:microsoft.com/office/officeart/2005/8/layout/hierarchy6"/>
    <dgm:cxn modelId="{9141C101-28E0-4848-B065-A3C8C977D6A8}" type="presParOf" srcId="{45D42365-2F58-41CF-A833-46D58A09D199}" destId="{785074C2-7E9E-4DDC-BC73-57D9F69DD483}" srcOrd="0" destOrd="0" presId="urn:microsoft.com/office/officeart/2005/8/layout/hierarchy6"/>
    <dgm:cxn modelId="{D65DC8FA-622B-4945-B213-7D5D3D5BAF34}" type="presParOf" srcId="{45D42365-2F58-41CF-A833-46D58A09D199}" destId="{7967923F-D279-4291-B59D-5BD10DA8556E}" srcOrd="1" destOrd="0" presId="urn:microsoft.com/office/officeart/2005/8/layout/hierarchy6"/>
    <dgm:cxn modelId="{1A0B91F3-57EA-4918-99FE-016AFCBA7860}" type="presParOf" srcId="{7967923F-D279-4291-B59D-5BD10DA8556E}" destId="{F8EB33F5-047A-41C9-9799-4A393326DF47}" srcOrd="0" destOrd="0" presId="urn:microsoft.com/office/officeart/2005/8/layout/hierarchy6"/>
    <dgm:cxn modelId="{9C300950-ADD3-4968-BB7B-EDE3C2DEBD71}" type="presParOf" srcId="{7967923F-D279-4291-B59D-5BD10DA8556E}" destId="{D854AA46-3F1D-4D1A-A782-5A614454893D}" srcOrd="1" destOrd="0" presId="urn:microsoft.com/office/officeart/2005/8/layout/hierarchy6"/>
    <dgm:cxn modelId="{F9EC8205-DE7F-48F4-90FE-07084CDB209A}" type="presParOf" srcId="{45D42365-2F58-41CF-A833-46D58A09D199}" destId="{BD697B42-0F82-488C-969E-26DE5618A213}" srcOrd="2" destOrd="0" presId="urn:microsoft.com/office/officeart/2005/8/layout/hierarchy6"/>
    <dgm:cxn modelId="{F55A18EE-33A4-4ACD-A8D2-0CEB15876F6D}" type="presParOf" srcId="{45D42365-2F58-41CF-A833-46D58A09D199}" destId="{C93E5BCA-07BF-4C8A-8BEA-6EB57E214FB2}" srcOrd="3" destOrd="0" presId="urn:microsoft.com/office/officeart/2005/8/layout/hierarchy6"/>
    <dgm:cxn modelId="{520A359B-94EE-422F-84DD-3154096E8397}" type="presParOf" srcId="{C93E5BCA-07BF-4C8A-8BEA-6EB57E214FB2}" destId="{25F1AD1B-5FF7-408C-AA4A-D07FBA0A505B}" srcOrd="0" destOrd="0" presId="urn:microsoft.com/office/officeart/2005/8/layout/hierarchy6"/>
    <dgm:cxn modelId="{A9E27185-83CC-455F-A86F-54FAF09F40E9}" type="presParOf" srcId="{C93E5BCA-07BF-4C8A-8BEA-6EB57E214FB2}" destId="{785A9FBD-284F-434F-9147-1F652B30C3F9}" srcOrd="1" destOrd="0" presId="urn:microsoft.com/office/officeart/2005/8/layout/hierarchy6"/>
    <dgm:cxn modelId="{D263B80C-9252-4138-8B39-DC18801F5543}" type="presParOf" srcId="{785A9FBD-284F-434F-9147-1F652B30C3F9}" destId="{275EA44C-144E-4EE9-A87E-6256071EA0D0}" srcOrd="0" destOrd="0" presId="urn:microsoft.com/office/officeart/2005/8/layout/hierarchy6"/>
    <dgm:cxn modelId="{3FE412E2-E50E-4D6C-AD8A-7BB9D17FA9AF}" type="presParOf" srcId="{785A9FBD-284F-434F-9147-1F652B30C3F9}" destId="{6E690D7F-00DE-4B79-B932-EC5A2DD6B8FD}" srcOrd="1" destOrd="0" presId="urn:microsoft.com/office/officeart/2005/8/layout/hierarchy6"/>
    <dgm:cxn modelId="{6B37A55C-76B0-49C9-A9F3-2BC1D728E606}" type="presParOf" srcId="{6E690D7F-00DE-4B79-B932-EC5A2DD6B8FD}" destId="{9BCCD814-F660-484A-B42B-A72A7B6108DB}" srcOrd="0" destOrd="0" presId="urn:microsoft.com/office/officeart/2005/8/layout/hierarchy6"/>
    <dgm:cxn modelId="{500C3F1F-CB90-4CB2-A49B-FC1B85660B21}" type="presParOf" srcId="{6E690D7F-00DE-4B79-B932-EC5A2DD6B8FD}" destId="{10469FDE-9FE1-460C-AC16-1E1C44B283D4}" srcOrd="1" destOrd="0" presId="urn:microsoft.com/office/officeart/2005/8/layout/hierarchy6"/>
    <dgm:cxn modelId="{3A8A23CF-EC7D-4B4A-98D0-AE12BD09D5C8}" type="presParOf" srcId="{10469FDE-9FE1-460C-AC16-1E1C44B283D4}" destId="{E5D4E8C9-A646-4863-91C0-06A1F1E7ADB8}" srcOrd="0" destOrd="0" presId="urn:microsoft.com/office/officeart/2005/8/layout/hierarchy6"/>
    <dgm:cxn modelId="{B39A5B2E-ABB8-4B2E-9D52-0FEF4DC9FAEE}" type="presParOf" srcId="{10469FDE-9FE1-460C-AC16-1E1C44B283D4}" destId="{5E5F6179-A2DC-4ECA-89C0-666E05EAADA9}" srcOrd="1" destOrd="0" presId="urn:microsoft.com/office/officeart/2005/8/layout/hierarchy6"/>
    <dgm:cxn modelId="{59212A66-9297-4D0B-B166-64E5CC182EAF}" type="presParOf" srcId="{5E5F6179-A2DC-4ECA-89C0-666E05EAADA9}" destId="{912674DA-7E17-4192-A26D-0EDCA57C9CAD}" srcOrd="0" destOrd="0" presId="urn:microsoft.com/office/officeart/2005/8/layout/hierarchy6"/>
    <dgm:cxn modelId="{9AAE0840-A419-41FD-AB77-A44929607561}" type="presParOf" srcId="{5E5F6179-A2DC-4ECA-89C0-666E05EAADA9}" destId="{F06A00C7-C558-47F1-A7AC-69D7FF6CAD21}" srcOrd="1" destOrd="0" presId="urn:microsoft.com/office/officeart/2005/8/layout/hierarchy6"/>
    <dgm:cxn modelId="{2EE68956-4933-4FA2-AD62-A05B045C7B31}" type="presParOf" srcId="{10469FDE-9FE1-460C-AC16-1E1C44B283D4}" destId="{EF960BC0-805C-4333-B930-34B153C16B3E}" srcOrd="2" destOrd="0" presId="urn:microsoft.com/office/officeart/2005/8/layout/hierarchy6"/>
    <dgm:cxn modelId="{8B63C29A-1B72-4152-B443-4BC6E54D5439}" type="presParOf" srcId="{10469FDE-9FE1-460C-AC16-1E1C44B283D4}" destId="{75B2FCB0-E7FB-46E6-9BB7-529E63BA8428}" srcOrd="3" destOrd="0" presId="urn:microsoft.com/office/officeart/2005/8/layout/hierarchy6"/>
    <dgm:cxn modelId="{253F4059-16CA-4023-A3AA-BBE3BB760DDE}" type="presParOf" srcId="{75B2FCB0-E7FB-46E6-9BB7-529E63BA8428}" destId="{AADC5DB2-4563-4534-96E0-0BEAAEFAD264}" srcOrd="0" destOrd="0" presId="urn:microsoft.com/office/officeart/2005/8/layout/hierarchy6"/>
    <dgm:cxn modelId="{212356B0-BE4F-478F-B145-7237F1BE4171}" type="presParOf" srcId="{75B2FCB0-E7FB-46E6-9BB7-529E63BA8428}" destId="{0F49DBC3-3675-40F9-A118-2FC8F34BA3A6}" srcOrd="1" destOrd="0" presId="urn:microsoft.com/office/officeart/2005/8/layout/hierarchy6"/>
    <dgm:cxn modelId="{CB9F426C-F6B6-4628-B45E-E2F3C9A4EBC0}" type="presParOf" srcId="{785A9FBD-284F-434F-9147-1F652B30C3F9}" destId="{FC833476-0A14-40A1-864B-51496970A322}" srcOrd="2" destOrd="0" presId="urn:microsoft.com/office/officeart/2005/8/layout/hierarchy6"/>
    <dgm:cxn modelId="{D5D9552B-19C5-4F35-9EFC-16D308C42CD0}" type="presParOf" srcId="{785A9FBD-284F-434F-9147-1F652B30C3F9}" destId="{B9C28232-3F71-4CD8-A72F-833B7B6075C6}" srcOrd="3" destOrd="0" presId="urn:microsoft.com/office/officeart/2005/8/layout/hierarchy6"/>
    <dgm:cxn modelId="{F9744D06-DAD1-49A5-8FF2-6B28F58ECCB6}" type="presParOf" srcId="{B9C28232-3F71-4CD8-A72F-833B7B6075C6}" destId="{DDCC15E8-B0D0-4E14-A0EF-D2A4277916A8}" srcOrd="0" destOrd="0" presId="urn:microsoft.com/office/officeart/2005/8/layout/hierarchy6"/>
    <dgm:cxn modelId="{311EB9CB-AC48-4F6A-9616-80020AAC3018}" type="presParOf" srcId="{B9C28232-3F71-4CD8-A72F-833B7B6075C6}" destId="{46D2559C-5545-4522-B48B-BBB32775891D}" srcOrd="1" destOrd="0" presId="urn:microsoft.com/office/officeart/2005/8/layout/hierarchy6"/>
    <dgm:cxn modelId="{DAF50BB9-16AF-4909-9EBB-1BA9D23A3860}" type="presParOf" srcId="{92B9DE64-6AE9-4D63-9475-485B9ED897F3}" destId="{2D9A8F98-5D75-4A30-B6F1-3F4BE180650C}" srcOrd="1" destOrd="0" presId="urn:microsoft.com/office/officeart/2005/8/layout/hierarchy6"/>
    <dgm:cxn modelId="{A65C2747-EE19-4038-9439-897F762DEF23}" type="presParOf" srcId="{2D9A8F98-5D75-4A30-B6F1-3F4BE180650C}" destId="{8707A9F6-72B6-42F6-B7F6-558F67C221F2}" srcOrd="0" destOrd="0" presId="urn:microsoft.com/office/officeart/2005/8/layout/hierarchy6"/>
    <dgm:cxn modelId="{A95FEB71-4DF2-4A36-ADDE-859770B3AAA0}" type="presParOf" srcId="{8707A9F6-72B6-42F6-B7F6-558F67C221F2}" destId="{3D18F286-2C89-4245-B18B-6606506E31C3}" srcOrd="0" destOrd="0" presId="urn:microsoft.com/office/officeart/2005/8/layout/hierarchy6"/>
    <dgm:cxn modelId="{C29EBD98-2822-47D6-9B27-F5A41ECB7B2E}" type="presParOf" srcId="{8707A9F6-72B6-42F6-B7F6-558F67C221F2}" destId="{3FB97BA1-816C-4772-BA29-7EDEA8AFB29C}" srcOrd="1" destOrd="0" presId="urn:microsoft.com/office/officeart/2005/8/layout/hierarchy6"/>
    <dgm:cxn modelId="{94FA4AD9-D285-4052-9253-32E8163882E4}" type="presParOf" srcId="{2D9A8F98-5D75-4A30-B6F1-3F4BE180650C}" destId="{07C7AFB6-6E70-416C-A10A-A94AD5EACA49}" srcOrd="1" destOrd="0" presId="urn:microsoft.com/office/officeart/2005/8/layout/hierarchy6"/>
    <dgm:cxn modelId="{EA7F1345-D3DE-4889-B6F6-90E2597FBB67}" type="presParOf" srcId="{07C7AFB6-6E70-416C-A10A-A94AD5EACA49}" destId="{926E901D-4F47-4AF2-B716-AA2A613E7C0F}" srcOrd="0" destOrd="0" presId="urn:microsoft.com/office/officeart/2005/8/layout/hierarchy6"/>
    <dgm:cxn modelId="{D39E3027-88DB-4871-88A1-B9797D419567}" type="presParOf" srcId="{2D9A8F98-5D75-4A30-B6F1-3F4BE180650C}" destId="{779F8C65-DB34-4476-BB29-70BA161349D6}" srcOrd="2" destOrd="0" presId="urn:microsoft.com/office/officeart/2005/8/layout/hierarchy6"/>
    <dgm:cxn modelId="{6E7D9EBB-6856-476A-8BA6-AA64FB396FCB}" type="presParOf" srcId="{779F8C65-DB34-4476-BB29-70BA161349D6}" destId="{AF84D346-2E9E-4D67-8C0D-E4590100997F}" srcOrd="0" destOrd="0" presId="urn:microsoft.com/office/officeart/2005/8/layout/hierarchy6"/>
    <dgm:cxn modelId="{20A91524-157F-4C62-8EEB-1AD203A9F7D9}" type="presParOf" srcId="{779F8C65-DB34-4476-BB29-70BA161349D6}" destId="{15E9E603-8191-412F-AE5D-D652E0713065}" srcOrd="1" destOrd="0" presId="urn:microsoft.com/office/officeart/2005/8/layout/hierarchy6"/>
    <dgm:cxn modelId="{41266788-6BFC-4B2C-98AE-F662F02EA25D}" type="presParOf" srcId="{2D9A8F98-5D75-4A30-B6F1-3F4BE180650C}" destId="{3EC8070C-8002-4CC2-A8B1-4E2DE3D01C60}" srcOrd="3" destOrd="0" presId="urn:microsoft.com/office/officeart/2005/8/layout/hierarchy6"/>
    <dgm:cxn modelId="{4133B740-10DB-4338-9666-C236C59EFEE8}" type="presParOf" srcId="{3EC8070C-8002-4CC2-A8B1-4E2DE3D01C60}" destId="{01297D10-0468-4C95-A9A7-79071066D551}" srcOrd="0" destOrd="0" presId="urn:microsoft.com/office/officeart/2005/8/layout/hierarchy6"/>
    <dgm:cxn modelId="{5BAA83A3-7C92-4988-A0CD-BCC0742795F5}" type="presParOf" srcId="{2D9A8F98-5D75-4A30-B6F1-3F4BE180650C}" destId="{731E3761-7439-4457-A56E-9FCA900AC09B}" srcOrd="4" destOrd="0" presId="urn:microsoft.com/office/officeart/2005/8/layout/hierarchy6"/>
    <dgm:cxn modelId="{B85A485F-6B92-4B2D-A73F-B621791FF6E6}" type="presParOf" srcId="{731E3761-7439-4457-A56E-9FCA900AC09B}" destId="{8FF6418E-442C-4DAD-B00A-58663C4E9585}" srcOrd="0" destOrd="0" presId="urn:microsoft.com/office/officeart/2005/8/layout/hierarchy6"/>
    <dgm:cxn modelId="{77A4A747-FB3D-4B05-9C8D-16ECEDF03850}" type="presParOf" srcId="{731E3761-7439-4457-A56E-9FCA900AC09B}" destId="{24A6C7F6-E385-4E34-98FE-66B967070A30}" srcOrd="1" destOrd="0" presId="urn:microsoft.com/office/officeart/2005/8/layout/hierarchy6"/>
    <dgm:cxn modelId="{CFAE58B6-51C3-47DA-8A70-A9A6FF06F6AE}" type="presParOf" srcId="{2D9A8F98-5D75-4A30-B6F1-3F4BE180650C}" destId="{8DFA826E-DB13-4884-9BC8-8F62E7A3B7D6}" srcOrd="5" destOrd="0" presId="urn:microsoft.com/office/officeart/2005/8/layout/hierarchy6"/>
    <dgm:cxn modelId="{5180D809-0DFC-4FAE-92FE-9101AE9F5313}" type="presParOf" srcId="{8DFA826E-DB13-4884-9BC8-8F62E7A3B7D6}" destId="{32F9C630-F062-4C11-B722-35D5F9DE3424}" srcOrd="0" destOrd="0" presId="urn:microsoft.com/office/officeart/2005/8/layout/hierarchy6"/>
    <dgm:cxn modelId="{540993C6-B32D-4022-9075-D22518275FA3}" type="presParOf" srcId="{2D9A8F98-5D75-4A30-B6F1-3F4BE180650C}" destId="{DFE6AA46-2F74-488E-9BC2-874E4048B6F9}" srcOrd="6" destOrd="0" presId="urn:microsoft.com/office/officeart/2005/8/layout/hierarchy6"/>
    <dgm:cxn modelId="{C00B1B0B-5820-44F0-9402-5A220A9CDB42}" type="presParOf" srcId="{DFE6AA46-2F74-488E-9BC2-874E4048B6F9}" destId="{1AFA9D16-A37F-412B-8848-2BA8C8620B8D}" srcOrd="0" destOrd="0" presId="urn:microsoft.com/office/officeart/2005/8/layout/hierarchy6"/>
    <dgm:cxn modelId="{359CCF59-F928-4F6A-9A6C-1ABFE1F3407B}" type="presParOf" srcId="{DFE6AA46-2F74-488E-9BC2-874E4048B6F9}" destId="{04D94323-189D-4EED-9E04-906ABB47A5FB}" srcOrd="1" destOrd="0" presId="urn:microsoft.com/office/officeart/2005/8/layout/hierarchy6"/>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AE47C92-A70E-4865-852C-6B372FAFBFD7}" type="doc">
      <dgm:prSet loTypeId="urn:microsoft.com/office/officeart/2005/8/layout/hList9" loCatId="list" qsTypeId="urn:microsoft.com/office/officeart/2005/8/quickstyle/simple1" qsCatId="simple" csTypeId="urn:microsoft.com/office/officeart/2005/8/colors/accent3_1" csCatId="accent3" phldr="1"/>
      <dgm:spPr/>
      <dgm:t>
        <a:bodyPr/>
        <a:lstStyle/>
        <a:p>
          <a:endParaRPr lang="zh-CN" altLang="en-US"/>
        </a:p>
      </dgm:t>
    </dgm:pt>
    <dgm:pt modelId="{F4F0B188-EBE8-4B5E-A5B2-68F75C323C3D}">
      <dgm:prSet custT="1"/>
      <dgm:spPr>
        <a:solidFill>
          <a:srgbClr val="2B11AF"/>
        </a:solidFill>
        <a:ln>
          <a:noFill/>
        </a:ln>
      </dgm:spPr>
      <dgm:t>
        <a:bodyPr/>
        <a:lstStyle/>
        <a:p>
          <a:r>
            <a:rPr lang="en-US" sz="1600" b="1" baseline="0">
              <a:solidFill>
                <a:schemeClr val="tx1"/>
              </a:solidFill>
              <a:latin typeface="+mn-ea"/>
              <a:ea typeface="+mn-ea"/>
            </a:rPr>
            <a:t>Supply-Demand Strategies</a:t>
          </a:r>
          <a:endParaRPr lang="zh-CN" sz="1600" b="1">
            <a:solidFill>
              <a:schemeClr val="tx1"/>
            </a:solidFill>
            <a:latin typeface="+mn-ea"/>
            <a:ea typeface="+mn-ea"/>
          </a:endParaRPr>
        </a:p>
      </dgm:t>
    </dgm:pt>
    <dgm:pt modelId="{7CA6A0BF-539F-4F9E-A55F-99240463AA60}" type="parTrans" cxnId="{78EE59E6-8CE6-4985-8F66-7DB091FF3A46}">
      <dgm:prSet/>
      <dgm:spPr/>
      <dgm:t>
        <a:bodyPr/>
        <a:lstStyle/>
        <a:p>
          <a:endParaRPr lang="zh-CN" altLang="en-US">
            <a:latin typeface="+mn-ea"/>
            <a:ea typeface="+mn-ea"/>
          </a:endParaRPr>
        </a:p>
      </dgm:t>
    </dgm:pt>
    <dgm:pt modelId="{EDD448C5-79BC-4BA9-BD16-84596EBDF7FC}" type="sibTrans" cxnId="{78EE59E6-8CE6-4985-8F66-7DB091FF3A46}">
      <dgm:prSet/>
      <dgm:spPr/>
      <dgm:t>
        <a:bodyPr/>
        <a:lstStyle/>
        <a:p>
          <a:endParaRPr lang="zh-CN" altLang="en-US">
            <a:latin typeface="+mn-ea"/>
            <a:ea typeface="+mn-ea"/>
          </a:endParaRPr>
        </a:p>
      </dgm:t>
    </dgm:pt>
    <dgm:pt modelId="{3100CA96-ABC1-4415-8AC7-0BC47B56C94A}">
      <dgm:prSet/>
      <dgm:spPr>
        <a:ln>
          <a:noFill/>
        </a:ln>
      </dgm:spPr>
      <dgm:t>
        <a:bodyPr/>
        <a:lstStyle/>
        <a:p>
          <a:r>
            <a:rPr lang="en-US" b="1" baseline="0" dirty="0">
              <a:latin typeface="+mn-ea"/>
              <a:ea typeface="+mn-ea"/>
            </a:rPr>
            <a:t>Allocation:</a:t>
          </a:r>
          <a:endParaRPr lang="zh-CN" b="1" dirty="0">
            <a:latin typeface="+mn-ea"/>
            <a:ea typeface="+mn-ea"/>
          </a:endParaRPr>
        </a:p>
      </dgm:t>
    </dgm:pt>
    <dgm:pt modelId="{29D0257F-286E-4BC2-844E-89843395ED53}" type="parTrans" cxnId="{744F15EC-BA5C-4627-97B9-E76E0ADFA45C}">
      <dgm:prSet/>
      <dgm:spPr/>
      <dgm:t>
        <a:bodyPr/>
        <a:lstStyle/>
        <a:p>
          <a:endParaRPr lang="zh-CN" altLang="en-US">
            <a:latin typeface="+mn-ea"/>
            <a:ea typeface="+mn-ea"/>
          </a:endParaRPr>
        </a:p>
      </dgm:t>
    </dgm:pt>
    <dgm:pt modelId="{5B9AFE33-EFA4-4F4A-AB22-B50B1CA4356A}" type="sibTrans" cxnId="{744F15EC-BA5C-4627-97B9-E76E0ADFA45C}">
      <dgm:prSet/>
      <dgm:spPr/>
      <dgm:t>
        <a:bodyPr/>
        <a:lstStyle/>
        <a:p>
          <a:endParaRPr lang="zh-CN" altLang="en-US">
            <a:latin typeface="+mn-ea"/>
            <a:ea typeface="+mn-ea"/>
          </a:endParaRPr>
        </a:p>
      </dgm:t>
    </dgm:pt>
    <dgm:pt modelId="{8B311499-BBE0-49FB-918D-9BEBAC38C38A}">
      <dgm:prSet/>
      <dgm:spPr>
        <a:ln>
          <a:noFill/>
        </a:ln>
      </dgm:spPr>
      <dgm:t>
        <a:bodyPr/>
        <a:lstStyle/>
        <a:p>
          <a:r>
            <a:rPr lang="en-US" b="1" baseline="0" dirty="0">
              <a:latin typeface="+mn-ea"/>
              <a:ea typeface="+mn-ea"/>
            </a:rPr>
            <a:t>Assign items to specific orders but still in inventory </a:t>
          </a:r>
          <a:endParaRPr lang="zh-CN" b="1" dirty="0">
            <a:latin typeface="+mn-ea"/>
            <a:ea typeface="+mn-ea"/>
          </a:endParaRPr>
        </a:p>
      </dgm:t>
    </dgm:pt>
    <dgm:pt modelId="{1BE86FCE-2756-4E76-92DF-22329D66DC1D}" type="parTrans" cxnId="{2DB77498-5487-44CA-ACFD-1DECE58BE7E9}">
      <dgm:prSet/>
      <dgm:spPr/>
      <dgm:t>
        <a:bodyPr/>
        <a:lstStyle/>
        <a:p>
          <a:endParaRPr lang="zh-CN" altLang="en-US">
            <a:latin typeface="+mn-ea"/>
            <a:ea typeface="+mn-ea"/>
          </a:endParaRPr>
        </a:p>
      </dgm:t>
    </dgm:pt>
    <dgm:pt modelId="{FCCF74BD-3F9B-4A51-A3B1-DE362745188E}" type="sibTrans" cxnId="{2DB77498-5487-44CA-ACFD-1DECE58BE7E9}">
      <dgm:prSet/>
      <dgm:spPr/>
      <dgm:t>
        <a:bodyPr/>
        <a:lstStyle/>
        <a:p>
          <a:endParaRPr lang="zh-CN" altLang="en-US">
            <a:latin typeface="+mn-ea"/>
            <a:ea typeface="+mn-ea"/>
          </a:endParaRPr>
        </a:p>
      </dgm:t>
    </dgm:pt>
    <dgm:pt modelId="{7600FA27-30E6-4071-850E-0A3E8A696F67}">
      <dgm:prSet/>
      <dgm:spPr>
        <a:ln>
          <a:noFill/>
        </a:ln>
      </dgm:spPr>
      <dgm:t>
        <a:bodyPr/>
        <a:lstStyle/>
        <a:p>
          <a:r>
            <a:rPr lang="en-US" b="1" baseline="0" dirty="0">
              <a:latin typeface="+mn-ea"/>
              <a:ea typeface="+mn-ea"/>
            </a:rPr>
            <a:t>Process to distribute materials in short supply </a:t>
          </a:r>
          <a:endParaRPr lang="zh-CN" b="1" dirty="0">
            <a:latin typeface="+mn-ea"/>
            <a:ea typeface="+mn-ea"/>
          </a:endParaRPr>
        </a:p>
      </dgm:t>
    </dgm:pt>
    <dgm:pt modelId="{1FBA42BA-0529-4E00-A810-EF4E643A228F}" type="parTrans" cxnId="{7E58B6A7-FF7A-4648-BBDE-CC596BE2A0EF}">
      <dgm:prSet/>
      <dgm:spPr/>
      <dgm:t>
        <a:bodyPr/>
        <a:lstStyle/>
        <a:p>
          <a:endParaRPr lang="zh-CN" altLang="en-US">
            <a:latin typeface="+mn-ea"/>
            <a:ea typeface="+mn-ea"/>
          </a:endParaRPr>
        </a:p>
      </dgm:t>
    </dgm:pt>
    <dgm:pt modelId="{105F194D-C946-4665-A172-B8B4D74F2E83}" type="sibTrans" cxnId="{7E58B6A7-FF7A-4648-BBDE-CC596BE2A0EF}">
      <dgm:prSet/>
      <dgm:spPr/>
      <dgm:t>
        <a:bodyPr/>
        <a:lstStyle/>
        <a:p>
          <a:endParaRPr lang="zh-CN" altLang="en-US">
            <a:latin typeface="+mn-ea"/>
            <a:ea typeface="+mn-ea"/>
          </a:endParaRPr>
        </a:p>
      </dgm:t>
    </dgm:pt>
    <dgm:pt modelId="{6F2C056D-264C-4385-B50E-21AD129DA748}" type="pres">
      <dgm:prSet presAssocID="{DAE47C92-A70E-4865-852C-6B372FAFBFD7}" presName="list" presStyleCnt="0">
        <dgm:presLayoutVars>
          <dgm:dir/>
          <dgm:animLvl val="lvl"/>
        </dgm:presLayoutVars>
      </dgm:prSet>
      <dgm:spPr/>
    </dgm:pt>
    <dgm:pt modelId="{B2DADAC1-4DB5-4A30-A8EA-9759F94DF766}" type="pres">
      <dgm:prSet presAssocID="{F4F0B188-EBE8-4B5E-A5B2-68F75C323C3D}" presName="posSpace" presStyleCnt="0"/>
      <dgm:spPr/>
    </dgm:pt>
    <dgm:pt modelId="{487D9FF7-4A4E-4860-9129-F4978EF35467}" type="pres">
      <dgm:prSet presAssocID="{F4F0B188-EBE8-4B5E-A5B2-68F75C323C3D}" presName="vertFlow" presStyleCnt="0"/>
      <dgm:spPr/>
    </dgm:pt>
    <dgm:pt modelId="{E5392FA5-B016-4EE8-A8BB-235E87F0F5B9}" type="pres">
      <dgm:prSet presAssocID="{F4F0B188-EBE8-4B5E-A5B2-68F75C323C3D}" presName="topSpace" presStyleCnt="0"/>
      <dgm:spPr/>
    </dgm:pt>
    <dgm:pt modelId="{B7907D92-7E44-40D2-B263-162D93680976}" type="pres">
      <dgm:prSet presAssocID="{F4F0B188-EBE8-4B5E-A5B2-68F75C323C3D}" presName="firstComp" presStyleCnt="0"/>
      <dgm:spPr/>
    </dgm:pt>
    <dgm:pt modelId="{7A769150-6793-4F90-A470-23873677C186}" type="pres">
      <dgm:prSet presAssocID="{F4F0B188-EBE8-4B5E-A5B2-68F75C323C3D}" presName="firstChild" presStyleLbl="bgAccFollowNode1" presStyleIdx="0" presStyleCnt="1"/>
      <dgm:spPr/>
    </dgm:pt>
    <dgm:pt modelId="{C4E43B35-5C35-401D-A9E7-B5049FF7FB87}" type="pres">
      <dgm:prSet presAssocID="{F4F0B188-EBE8-4B5E-A5B2-68F75C323C3D}" presName="firstChildTx" presStyleLbl="bgAccFollowNode1" presStyleIdx="0" presStyleCnt="1">
        <dgm:presLayoutVars>
          <dgm:bulletEnabled val="1"/>
        </dgm:presLayoutVars>
      </dgm:prSet>
      <dgm:spPr/>
    </dgm:pt>
    <dgm:pt modelId="{161F74BF-8644-40D6-9FA1-7359D0B1AC15}" type="pres">
      <dgm:prSet presAssocID="{F4F0B188-EBE8-4B5E-A5B2-68F75C323C3D}" presName="negSpace" presStyleCnt="0"/>
      <dgm:spPr/>
    </dgm:pt>
    <dgm:pt modelId="{582FC5B0-ABC0-497D-B4D4-E37459034AEA}" type="pres">
      <dgm:prSet presAssocID="{F4F0B188-EBE8-4B5E-A5B2-68F75C323C3D}" presName="circle" presStyleLbl="node1" presStyleIdx="0" presStyleCnt="1"/>
      <dgm:spPr/>
    </dgm:pt>
  </dgm:ptLst>
  <dgm:cxnLst>
    <dgm:cxn modelId="{9482FD15-9055-4CDF-94B0-6167D21414BC}" type="presOf" srcId="{8B311499-BBE0-49FB-918D-9BEBAC38C38A}" destId="{C4E43B35-5C35-401D-A9E7-B5049FF7FB87}" srcOrd="1" destOrd="1" presId="urn:microsoft.com/office/officeart/2005/8/layout/hList9"/>
    <dgm:cxn modelId="{D825BF1B-7C12-4E2D-933D-DA081078B82C}" type="presOf" srcId="{DAE47C92-A70E-4865-852C-6B372FAFBFD7}" destId="{6F2C056D-264C-4385-B50E-21AD129DA748}" srcOrd="0" destOrd="0" presId="urn:microsoft.com/office/officeart/2005/8/layout/hList9"/>
    <dgm:cxn modelId="{E636EC3C-6B7C-4186-B2DB-F31E556FDCC2}" type="presOf" srcId="{8B311499-BBE0-49FB-918D-9BEBAC38C38A}" destId="{7A769150-6793-4F90-A470-23873677C186}" srcOrd="0" destOrd="1" presId="urn:microsoft.com/office/officeart/2005/8/layout/hList9"/>
    <dgm:cxn modelId="{554C8272-16B7-41CF-B3DF-3C538A530774}" type="presOf" srcId="{7600FA27-30E6-4071-850E-0A3E8A696F67}" destId="{7A769150-6793-4F90-A470-23873677C186}" srcOrd="0" destOrd="2" presId="urn:microsoft.com/office/officeart/2005/8/layout/hList9"/>
    <dgm:cxn modelId="{083BD875-2FDA-42F1-8EB1-F4E670A212FB}" type="presOf" srcId="{7600FA27-30E6-4071-850E-0A3E8A696F67}" destId="{C4E43B35-5C35-401D-A9E7-B5049FF7FB87}" srcOrd="1" destOrd="2" presId="urn:microsoft.com/office/officeart/2005/8/layout/hList9"/>
    <dgm:cxn modelId="{57AE4296-74B0-4586-98BF-624D53128D16}" type="presOf" srcId="{3100CA96-ABC1-4415-8AC7-0BC47B56C94A}" destId="{C4E43B35-5C35-401D-A9E7-B5049FF7FB87}" srcOrd="1" destOrd="0" presId="urn:microsoft.com/office/officeart/2005/8/layout/hList9"/>
    <dgm:cxn modelId="{2DB77498-5487-44CA-ACFD-1DECE58BE7E9}" srcId="{3100CA96-ABC1-4415-8AC7-0BC47B56C94A}" destId="{8B311499-BBE0-49FB-918D-9BEBAC38C38A}" srcOrd="0" destOrd="0" parTransId="{1BE86FCE-2756-4E76-92DF-22329D66DC1D}" sibTransId="{FCCF74BD-3F9B-4A51-A3B1-DE362745188E}"/>
    <dgm:cxn modelId="{7E58B6A7-FF7A-4648-BBDE-CC596BE2A0EF}" srcId="{3100CA96-ABC1-4415-8AC7-0BC47B56C94A}" destId="{7600FA27-30E6-4071-850E-0A3E8A696F67}" srcOrd="1" destOrd="0" parTransId="{1FBA42BA-0529-4E00-A810-EF4E643A228F}" sibTransId="{105F194D-C946-4665-A172-B8B4D74F2E83}"/>
    <dgm:cxn modelId="{A0FCF0D6-2033-40E6-B510-FC4BCCE6836E}" type="presOf" srcId="{3100CA96-ABC1-4415-8AC7-0BC47B56C94A}" destId="{7A769150-6793-4F90-A470-23873677C186}" srcOrd="0" destOrd="0" presId="urn:microsoft.com/office/officeart/2005/8/layout/hList9"/>
    <dgm:cxn modelId="{22C616D8-D3E2-4C13-B449-65DFDA81579C}" type="presOf" srcId="{F4F0B188-EBE8-4B5E-A5B2-68F75C323C3D}" destId="{582FC5B0-ABC0-497D-B4D4-E37459034AEA}" srcOrd="0" destOrd="0" presId="urn:microsoft.com/office/officeart/2005/8/layout/hList9"/>
    <dgm:cxn modelId="{78EE59E6-8CE6-4985-8F66-7DB091FF3A46}" srcId="{DAE47C92-A70E-4865-852C-6B372FAFBFD7}" destId="{F4F0B188-EBE8-4B5E-A5B2-68F75C323C3D}" srcOrd="0" destOrd="0" parTransId="{7CA6A0BF-539F-4F9E-A55F-99240463AA60}" sibTransId="{EDD448C5-79BC-4BA9-BD16-84596EBDF7FC}"/>
    <dgm:cxn modelId="{744F15EC-BA5C-4627-97B9-E76E0ADFA45C}" srcId="{F4F0B188-EBE8-4B5E-A5B2-68F75C323C3D}" destId="{3100CA96-ABC1-4415-8AC7-0BC47B56C94A}" srcOrd="0" destOrd="0" parTransId="{29D0257F-286E-4BC2-844E-89843395ED53}" sibTransId="{5B9AFE33-EFA4-4F4A-AB22-B50B1CA4356A}"/>
    <dgm:cxn modelId="{4BF93612-A90F-443D-9D97-ED83B09FD1D9}" type="presParOf" srcId="{6F2C056D-264C-4385-B50E-21AD129DA748}" destId="{B2DADAC1-4DB5-4A30-A8EA-9759F94DF766}" srcOrd="0" destOrd="0" presId="urn:microsoft.com/office/officeart/2005/8/layout/hList9"/>
    <dgm:cxn modelId="{85C2B952-188A-4C6C-9AD3-B07B2CBDF64C}" type="presParOf" srcId="{6F2C056D-264C-4385-B50E-21AD129DA748}" destId="{487D9FF7-4A4E-4860-9129-F4978EF35467}" srcOrd="1" destOrd="0" presId="urn:microsoft.com/office/officeart/2005/8/layout/hList9"/>
    <dgm:cxn modelId="{C77295B0-4F55-45FD-B572-12DB23678A5A}" type="presParOf" srcId="{487D9FF7-4A4E-4860-9129-F4978EF35467}" destId="{E5392FA5-B016-4EE8-A8BB-235E87F0F5B9}" srcOrd="0" destOrd="0" presId="urn:microsoft.com/office/officeart/2005/8/layout/hList9"/>
    <dgm:cxn modelId="{4ED7728A-802F-455F-8452-D740CC696B2C}" type="presParOf" srcId="{487D9FF7-4A4E-4860-9129-F4978EF35467}" destId="{B7907D92-7E44-40D2-B263-162D93680976}" srcOrd="1" destOrd="0" presId="urn:microsoft.com/office/officeart/2005/8/layout/hList9"/>
    <dgm:cxn modelId="{7B26C7F1-892B-4068-B595-BDCE54A3A4B9}" type="presParOf" srcId="{B7907D92-7E44-40D2-B263-162D93680976}" destId="{7A769150-6793-4F90-A470-23873677C186}" srcOrd="0" destOrd="0" presId="urn:microsoft.com/office/officeart/2005/8/layout/hList9"/>
    <dgm:cxn modelId="{2D947366-7A6C-40CA-B944-7D8BF3933327}" type="presParOf" srcId="{B7907D92-7E44-40D2-B263-162D93680976}" destId="{C4E43B35-5C35-401D-A9E7-B5049FF7FB87}" srcOrd="1" destOrd="0" presId="urn:microsoft.com/office/officeart/2005/8/layout/hList9"/>
    <dgm:cxn modelId="{3DDA7F27-6BC5-4592-AA7F-E10709B65CA7}" type="presParOf" srcId="{6F2C056D-264C-4385-B50E-21AD129DA748}" destId="{161F74BF-8644-40D6-9FA1-7359D0B1AC15}" srcOrd="2" destOrd="0" presId="urn:microsoft.com/office/officeart/2005/8/layout/hList9"/>
    <dgm:cxn modelId="{E2326DAB-F826-4D1B-8E80-1E98CCFA0041}" type="presParOf" srcId="{6F2C056D-264C-4385-B50E-21AD129DA748}" destId="{582FC5B0-ABC0-497D-B4D4-E37459034AEA}" srcOrd="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7A6A8B2-CCF0-4339-A8DF-1CF78CBDE48D}"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zh-CN" altLang="en-US"/>
        </a:p>
      </dgm:t>
    </dgm:pt>
    <dgm:pt modelId="{882E87D8-60C0-4AA4-8413-D092EEB55919}">
      <dgm:prSet>
        <dgm:style>
          <a:lnRef idx="2">
            <a:schemeClr val="accent5"/>
          </a:lnRef>
          <a:fillRef idx="1">
            <a:schemeClr val="lt1"/>
          </a:fillRef>
          <a:effectRef idx="0">
            <a:schemeClr val="accent5"/>
          </a:effectRef>
          <a:fontRef idx="minor">
            <a:schemeClr val="dk1"/>
          </a:fontRef>
        </dgm:style>
      </dgm:prSet>
      <dgm:spPr/>
      <dgm:t>
        <a:bodyPr/>
        <a:lstStyle/>
        <a:p>
          <a:r>
            <a:rPr lang="zh-CN" b="1" dirty="0"/>
            <a:t>多层</a:t>
          </a:r>
          <a:r>
            <a:rPr lang="en-US" b="1" dirty="0"/>
            <a:t>BOM/</a:t>
          </a:r>
          <a:r>
            <a:rPr lang="zh-CN" b="1" dirty="0"/>
            <a:t>供应链网络模型</a:t>
          </a:r>
          <a:endParaRPr lang="zh-CN" dirty="0"/>
        </a:p>
      </dgm:t>
    </dgm:pt>
    <dgm:pt modelId="{436C2F10-7F3F-463A-9844-A054FBC8E7E2}" type="parTrans" cxnId="{A3145416-6862-4CFD-AAA1-56EEEFD53993}">
      <dgm:prSet/>
      <dgm:spPr/>
      <dgm:t>
        <a:bodyPr/>
        <a:lstStyle/>
        <a:p>
          <a:endParaRPr lang="zh-CN" altLang="en-US"/>
        </a:p>
      </dgm:t>
    </dgm:pt>
    <dgm:pt modelId="{46AA4D38-70C2-47A9-AD95-DB42647E66CA}" type="sibTrans" cxnId="{A3145416-6862-4CFD-AAA1-56EEEFD53993}">
      <dgm:prSet/>
      <dgm:spPr/>
      <dgm:t>
        <a:bodyPr/>
        <a:lstStyle/>
        <a:p>
          <a:endParaRPr lang="zh-CN" altLang="en-US"/>
        </a:p>
      </dgm:t>
    </dgm:pt>
    <dgm:pt modelId="{1F019CB7-71F8-4B7C-9CE4-C5E2F9612687}">
      <dgm:prSet/>
      <dgm:spPr/>
      <dgm:t>
        <a:bodyPr/>
        <a:lstStyle/>
        <a:p>
          <a:r>
            <a:rPr lang="zh-CN" b="1"/>
            <a:t>约束规划模型</a:t>
          </a:r>
          <a:endParaRPr lang="zh-CN"/>
        </a:p>
      </dgm:t>
    </dgm:pt>
    <dgm:pt modelId="{5AB3FB35-7C52-4B76-A2FF-B9F3DD7B0838}" type="parTrans" cxnId="{1FB6345D-49CE-4813-B4CE-E82F867D7FA1}">
      <dgm:prSet/>
      <dgm:spPr/>
      <dgm:t>
        <a:bodyPr/>
        <a:lstStyle/>
        <a:p>
          <a:endParaRPr lang="zh-CN" altLang="en-US"/>
        </a:p>
      </dgm:t>
    </dgm:pt>
    <dgm:pt modelId="{B4114E95-BCAF-426C-989C-6D6ECD4A3220}" type="sibTrans" cxnId="{1FB6345D-49CE-4813-B4CE-E82F867D7FA1}">
      <dgm:prSet/>
      <dgm:spPr/>
      <dgm:t>
        <a:bodyPr/>
        <a:lstStyle/>
        <a:p>
          <a:endParaRPr lang="zh-CN" altLang="en-US"/>
        </a:p>
      </dgm:t>
    </dgm:pt>
    <dgm:pt modelId="{A417785F-8FDF-468E-BB01-443535D18D23}">
      <dgm:prSet/>
      <dgm:spPr/>
      <dgm:t>
        <a:bodyPr/>
        <a:lstStyle/>
        <a:p>
          <a:r>
            <a:rPr lang="zh-CN" b="1" dirty="0"/>
            <a:t>资源优化（交付又准又快）</a:t>
          </a:r>
          <a:endParaRPr lang="zh-CN" dirty="0"/>
        </a:p>
      </dgm:t>
    </dgm:pt>
    <dgm:pt modelId="{3B1C8CE9-9034-49EB-AB75-5584ED84898A}" type="parTrans" cxnId="{23726D7F-DBFC-4825-A086-F807106C12F2}">
      <dgm:prSet/>
      <dgm:spPr/>
      <dgm:t>
        <a:bodyPr/>
        <a:lstStyle/>
        <a:p>
          <a:endParaRPr lang="zh-CN" altLang="en-US"/>
        </a:p>
      </dgm:t>
    </dgm:pt>
    <dgm:pt modelId="{16C00073-17A6-45CE-843F-36169E8B1246}" type="sibTrans" cxnId="{23726D7F-DBFC-4825-A086-F807106C12F2}">
      <dgm:prSet/>
      <dgm:spPr/>
      <dgm:t>
        <a:bodyPr/>
        <a:lstStyle/>
        <a:p>
          <a:endParaRPr lang="zh-CN" altLang="en-US"/>
        </a:p>
      </dgm:t>
    </dgm:pt>
    <dgm:pt modelId="{CFF755EE-40FB-4EB9-9132-CAA3B7E241C0}">
      <dgm:prSet/>
      <dgm:spPr/>
      <dgm:t>
        <a:bodyPr/>
        <a:lstStyle/>
        <a:p>
          <a:r>
            <a:rPr lang="zh-CN" b="1"/>
            <a:t>并行规划</a:t>
          </a:r>
          <a:endParaRPr lang="zh-CN"/>
        </a:p>
      </dgm:t>
    </dgm:pt>
    <dgm:pt modelId="{AD71332D-2FF9-4896-A006-5A4734A1253E}" type="parTrans" cxnId="{C7D9F45B-EE9F-4320-8646-2C37B7A2A195}">
      <dgm:prSet/>
      <dgm:spPr/>
      <dgm:t>
        <a:bodyPr/>
        <a:lstStyle/>
        <a:p>
          <a:endParaRPr lang="zh-CN" altLang="en-US"/>
        </a:p>
      </dgm:t>
    </dgm:pt>
    <dgm:pt modelId="{51DAE7FA-7A8F-443C-8682-C7C2675EEF8F}" type="sibTrans" cxnId="{C7D9F45B-EE9F-4320-8646-2C37B7A2A195}">
      <dgm:prSet/>
      <dgm:spPr/>
      <dgm:t>
        <a:bodyPr/>
        <a:lstStyle/>
        <a:p>
          <a:endParaRPr lang="zh-CN" altLang="en-US"/>
        </a:p>
      </dgm:t>
    </dgm:pt>
    <dgm:pt modelId="{9F0112D4-F655-40E8-A2E2-9CB96AF334B4}">
      <dgm:prSet/>
      <dgm:spPr/>
      <dgm:t>
        <a:bodyPr/>
        <a:lstStyle/>
        <a:p>
          <a:r>
            <a:rPr lang="zh-CN" b="1"/>
            <a:t>维度规划（特配）</a:t>
          </a:r>
          <a:endParaRPr lang="zh-CN"/>
        </a:p>
      </dgm:t>
    </dgm:pt>
    <dgm:pt modelId="{37035F6E-0A81-4226-B2D7-5E53E9FCD64D}" type="parTrans" cxnId="{6D071919-A560-4245-BA46-42541297CCE2}">
      <dgm:prSet/>
      <dgm:spPr/>
      <dgm:t>
        <a:bodyPr/>
        <a:lstStyle/>
        <a:p>
          <a:endParaRPr lang="zh-CN" altLang="en-US"/>
        </a:p>
      </dgm:t>
    </dgm:pt>
    <dgm:pt modelId="{C02327E4-1B05-4B84-9EAA-BC3DE3072452}" type="sibTrans" cxnId="{6D071919-A560-4245-BA46-42541297CCE2}">
      <dgm:prSet/>
      <dgm:spPr/>
      <dgm:t>
        <a:bodyPr/>
        <a:lstStyle/>
        <a:p>
          <a:endParaRPr lang="zh-CN" altLang="en-US"/>
        </a:p>
      </dgm:t>
    </dgm:pt>
    <dgm:pt modelId="{9D9EBDD7-214D-4E20-A3AB-62D1BF921C1A}">
      <dgm:prSet/>
      <dgm:spPr/>
      <dgm:t>
        <a:bodyPr/>
        <a:lstStyle/>
        <a:p>
          <a:r>
            <a:rPr lang="en-US" b="1"/>
            <a:t>Netting</a:t>
          </a:r>
          <a:r>
            <a:rPr lang="zh-CN" b="1"/>
            <a:t> 不受层级影响</a:t>
          </a:r>
          <a:endParaRPr lang="zh-CN"/>
        </a:p>
      </dgm:t>
    </dgm:pt>
    <dgm:pt modelId="{33CB6682-84E3-4886-8C02-BB0B6560354A}" type="parTrans" cxnId="{5F2BCE55-1963-41D3-B090-9B0BBFAB1104}">
      <dgm:prSet/>
      <dgm:spPr/>
      <dgm:t>
        <a:bodyPr/>
        <a:lstStyle/>
        <a:p>
          <a:endParaRPr lang="zh-CN" altLang="en-US"/>
        </a:p>
      </dgm:t>
    </dgm:pt>
    <dgm:pt modelId="{17CA9656-9ADF-4779-8666-E415033B69FD}" type="sibTrans" cxnId="{5F2BCE55-1963-41D3-B090-9B0BBFAB1104}">
      <dgm:prSet/>
      <dgm:spPr/>
      <dgm:t>
        <a:bodyPr/>
        <a:lstStyle/>
        <a:p>
          <a:endParaRPr lang="zh-CN" altLang="en-US"/>
        </a:p>
      </dgm:t>
    </dgm:pt>
    <dgm:pt modelId="{94FDEC69-500A-4985-82F1-0655827288A9}">
      <dgm:prSet/>
      <dgm:spPr/>
      <dgm:t>
        <a:bodyPr/>
        <a:lstStyle/>
        <a:p>
          <a:r>
            <a:rPr lang="zh-CN" b="1"/>
            <a:t>替代</a:t>
          </a:r>
          <a:endParaRPr lang="zh-CN"/>
        </a:p>
      </dgm:t>
    </dgm:pt>
    <dgm:pt modelId="{3B8CD2B1-1B0D-4C3A-8237-AAD44C0E0400}" type="parTrans" cxnId="{B43C8466-1A15-430F-BE8C-7A9B39F4A0E7}">
      <dgm:prSet/>
      <dgm:spPr/>
      <dgm:t>
        <a:bodyPr/>
        <a:lstStyle/>
        <a:p>
          <a:endParaRPr lang="zh-CN" altLang="en-US"/>
        </a:p>
      </dgm:t>
    </dgm:pt>
    <dgm:pt modelId="{789C8F1F-BAEB-48A3-BFDE-6CCC37C6751F}" type="sibTrans" cxnId="{B43C8466-1A15-430F-BE8C-7A9B39F4A0E7}">
      <dgm:prSet/>
      <dgm:spPr/>
      <dgm:t>
        <a:bodyPr/>
        <a:lstStyle/>
        <a:p>
          <a:endParaRPr lang="zh-CN" altLang="en-US"/>
        </a:p>
      </dgm:t>
    </dgm:pt>
    <dgm:pt modelId="{8F26177B-4EE8-43D2-A7D4-4BD74DD5122F}">
      <dgm:prSet/>
      <dgm:spPr/>
      <dgm:t>
        <a:bodyPr/>
        <a:lstStyle/>
        <a:p>
          <a:r>
            <a:rPr lang="zh-CN" b="1"/>
            <a:t>替换</a:t>
          </a:r>
          <a:endParaRPr lang="zh-CN"/>
        </a:p>
      </dgm:t>
    </dgm:pt>
    <dgm:pt modelId="{A248514F-E8CD-4EFB-A182-90F85400A5D7}" type="parTrans" cxnId="{9C7598FF-021F-41E1-92A9-A9129A941BBF}">
      <dgm:prSet/>
      <dgm:spPr/>
      <dgm:t>
        <a:bodyPr/>
        <a:lstStyle/>
        <a:p>
          <a:endParaRPr lang="zh-CN" altLang="en-US"/>
        </a:p>
      </dgm:t>
    </dgm:pt>
    <dgm:pt modelId="{92C15EAC-B31B-40D0-B8D3-4EE5F8EAFBCE}" type="sibTrans" cxnId="{9C7598FF-021F-41E1-92A9-A9129A941BBF}">
      <dgm:prSet/>
      <dgm:spPr/>
      <dgm:t>
        <a:bodyPr/>
        <a:lstStyle/>
        <a:p>
          <a:endParaRPr lang="zh-CN" altLang="en-US"/>
        </a:p>
      </dgm:t>
    </dgm:pt>
    <dgm:pt modelId="{DD69224D-73F1-49EA-8EDC-286078F7371E}">
      <dgm:prSet/>
      <dgm:spPr/>
      <dgm:t>
        <a:bodyPr/>
        <a:lstStyle/>
        <a:p>
          <a:r>
            <a:rPr lang="zh-CN" b="1"/>
            <a:t>轮式生产</a:t>
          </a:r>
          <a:endParaRPr lang="zh-CN"/>
        </a:p>
      </dgm:t>
    </dgm:pt>
    <dgm:pt modelId="{D99F4D8D-B307-4517-B5B1-A39BF4264A9B}" type="parTrans" cxnId="{07DD1881-3A36-4625-BAD8-9BDE8EE4D1D8}">
      <dgm:prSet/>
      <dgm:spPr/>
      <dgm:t>
        <a:bodyPr/>
        <a:lstStyle/>
        <a:p>
          <a:endParaRPr lang="zh-CN" altLang="en-US"/>
        </a:p>
      </dgm:t>
    </dgm:pt>
    <dgm:pt modelId="{FB6893B2-9378-40CF-BCEC-C3A12E19EC7A}" type="sibTrans" cxnId="{07DD1881-3A36-4625-BAD8-9BDE8EE4D1D8}">
      <dgm:prSet/>
      <dgm:spPr/>
      <dgm:t>
        <a:bodyPr/>
        <a:lstStyle/>
        <a:p>
          <a:endParaRPr lang="zh-CN" altLang="en-US"/>
        </a:p>
      </dgm:t>
    </dgm:pt>
    <dgm:pt modelId="{A99D32A6-0C76-49A1-9E42-BA3990128AC9}">
      <dgm:prSet/>
      <dgm:spPr/>
      <dgm:t>
        <a:bodyPr/>
        <a:lstStyle/>
        <a:p>
          <a:r>
            <a:rPr lang="zh-CN" b="1"/>
            <a:t>活动规划</a:t>
          </a:r>
          <a:endParaRPr lang="zh-CN"/>
        </a:p>
      </dgm:t>
    </dgm:pt>
    <dgm:pt modelId="{F6645403-44A9-4495-938E-D7B52482DE33}" type="parTrans" cxnId="{68BB94DA-77E7-4D24-8026-A4AF51AD2C42}">
      <dgm:prSet/>
      <dgm:spPr/>
      <dgm:t>
        <a:bodyPr/>
        <a:lstStyle/>
        <a:p>
          <a:endParaRPr lang="zh-CN" altLang="en-US"/>
        </a:p>
      </dgm:t>
    </dgm:pt>
    <dgm:pt modelId="{93DE3B02-2A4B-4C42-A0A9-27F0522775A9}" type="sibTrans" cxnId="{68BB94DA-77E7-4D24-8026-A4AF51AD2C42}">
      <dgm:prSet/>
      <dgm:spPr/>
      <dgm:t>
        <a:bodyPr/>
        <a:lstStyle/>
        <a:p>
          <a:endParaRPr lang="zh-CN" altLang="en-US"/>
        </a:p>
      </dgm:t>
    </dgm:pt>
    <dgm:pt modelId="{B589AA41-901A-43A9-8924-FFC797AFC4C7}">
      <dgm:prSet/>
      <dgm:spPr/>
      <dgm:t>
        <a:bodyPr/>
        <a:lstStyle/>
        <a:p>
          <a:r>
            <a:rPr lang="zh-CN" b="1"/>
            <a:t>统计预测</a:t>
          </a:r>
          <a:endParaRPr lang="zh-CN"/>
        </a:p>
      </dgm:t>
    </dgm:pt>
    <dgm:pt modelId="{6A952CCE-4B13-415B-BB17-5CA6F993F70C}" type="parTrans" cxnId="{B27897F8-87CE-42EF-B565-97E4A76CF728}">
      <dgm:prSet/>
      <dgm:spPr/>
      <dgm:t>
        <a:bodyPr/>
        <a:lstStyle/>
        <a:p>
          <a:endParaRPr lang="zh-CN" altLang="en-US"/>
        </a:p>
      </dgm:t>
    </dgm:pt>
    <dgm:pt modelId="{72677661-4C4E-4C0B-BCE7-3F1A5BF62401}" type="sibTrans" cxnId="{B27897F8-87CE-42EF-B565-97E4A76CF728}">
      <dgm:prSet/>
      <dgm:spPr/>
      <dgm:t>
        <a:bodyPr/>
        <a:lstStyle/>
        <a:p>
          <a:endParaRPr lang="zh-CN" altLang="en-US"/>
        </a:p>
      </dgm:t>
    </dgm:pt>
    <dgm:pt modelId="{5F377136-F7BD-4231-84A5-2644E14B801A}">
      <dgm:prSet/>
      <dgm:spPr/>
      <dgm:t>
        <a:bodyPr/>
        <a:lstStyle/>
        <a:p>
          <a:r>
            <a:rPr lang="zh-CN" b="1"/>
            <a:t>事件管理</a:t>
          </a:r>
          <a:endParaRPr lang="zh-CN"/>
        </a:p>
      </dgm:t>
    </dgm:pt>
    <dgm:pt modelId="{C1688560-F58F-4E6D-AEC2-4E9DE2F38865}" type="parTrans" cxnId="{C25E56E2-9DF9-4514-BAAF-7D599B3D7FD0}">
      <dgm:prSet/>
      <dgm:spPr/>
      <dgm:t>
        <a:bodyPr/>
        <a:lstStyle/>
        <a:p>
          <a:endParaRPr lang="zh-CN" altLang="en-US"/>
        </a:p>
      </dgm:t>
    </dgm:pt>
    <dgm:pt modelId="{DE814FC7-3FE8-4AFB-BD5D-798CFF577BA6}" type="sibTrans" cxnId="{C25E56E2-9DF9-4514-BAAF-7D599B3D7FD0}">
      <dgm:prSet/>
      <dgm:spPr/>
      <dgm:t>
        <a:bodyPr/>
        <a:lstStyle/>
        <a:p>
          <a:endParaRPr lang="zh-CN" altLang="en-US"/>
        </a:p>
      </dgm:t>
    </dgm:pt>
    <dgm:pt modelId="{FE5435FF-171D-4BC5-888B-E5173FC7C131}">
      <dgm:prSet/>
      <dgm:spPr/>
      <dgm:t>
        <a:bodyPr/>
        <a:lstStyle/>
        <a:p>
          <a:r>
            <a:rPr lang="en-US" b="1"/>
            <a:t>IPO</a:t>
          </a:r>
          <a:endParaRPr lang="zh-CN"/>
        </a:p>
      </dgm:t>
    </dgm:pt>
    <dgm:pt modelId="{2CE77EF4-0A95-466D-9338-F5234DF3674F}" type="parTrans" cxnId="{16417308-C7F8-49C7-920B-5863292490CA}">
      <dgm:prSet/>
      <dgm:spPr/>
      <dgm:t>
        <a:bodyPr/>
        <a:lstStyle/>
        <a:p>
          <a:endParaRPr lang="zh-CN" altLang="en-US"/>
        </a:p>
      </dgm:t>
    </dgm:pt>
    <dgm:pt modelId="{CAA8D94A-5357-4CA6-ACFF-559ABAB31C15}" type="sibTrans" cxnId="{16417308-C7F8-49C7-920B-5863292490CA}">
      <dgm:prSet/>
      <dgm:spPr/>
      <dgm:t>
        <a:bodyPr/>
        <a:lstStyle/>
        <a:p>
          <a:endParaRPr lang="zh-CN" altLang="en-US"/>
        </a:p>
      </dgm:t>
    </dgm:pt>
    <dgm:pt modelId="{6FF006D1-C39C-4717-B06B-574725306585}">
      <dgm:prSet/>
      <dgm:spPr/>
      <dgm:t>
        <a:bodyPr/>
        <a:lstStyle/>
        <a:p>
          <a:r>
            <a:rPr lang="en-US" b="1"/>
            <a:t>……..</a:t>
          </a:r>
          <a:endParaRPr lang="zh-CN"/>
        </a:p>
      </dgm:t>
    </dgm:pt>
    <dgm:pt modelId="{E21813B0-8989-4E6B-B7D0-8FAA373DFA71}" type="parTrans" cxnId="{7938B6DF-6BF2-4B8B-819F-BAC0083AAF56}">
      <dgm:prSet/>
      <dgm:spPr/>
      <dgm:t>
        <a:bodyPr/>
        <a:lstStyle/>
        <a:p>
          <a:endParaRPr lang="zh-CN" altLang="en-US"/>
        </a:p>
      </dgm:t>
    </dgm:pt>
    <dgm:pt modelId="{99B92FB9-9A59-4CDD-B6DE-E40B38205787}" type="sibTrans" cxnId="{7938B6DF-6BF2-4B8B-819F-BAC0083AAF56}">
      <dgm:prSet/>
      <dgm:spPr/>
      <dgm:t>
        <a:bodyPr/>
        <a:lstStyle/>
        <a:p>
          <a:endParaRPr lang="zh-CN" altLang="en-US"/>
        </a:p>
      </dgm:t>
    </dgm:pt>
    <dgm:pt modelId="{9A6AF0DD-0527-424F-8961-BFCB153E477C}" type="pres">
      <dgm:prSet presAssocID="{67A6A8B2-CCF0-4339-A8DF-1CF78CBDE48D}" presName="linear" presStyleCnt="0">
        <dgm:presLayoutVars>
          <dgm:animLvl val="lvl"/>
          <dgm:resizeHandles val="exact"/>
        </dgm:presLayoutVars>
      </dgm:prSet>
      <dgm:spPr/>
    </dgm:pt>
    <dgm:pt modelId="{550F70C3-D30C-4C35-AF64-F9673D200FC0}" type="pres">
      <dgm:prSet presAssocID="{882E87D8-60C0-4AA4-8413-D092EEB55919}" presName="parentText" presStyleLbl="node1" presStyleIdx="0" presStyleCnt="14">
        <dgm:presLayoutVars>
          <dgm:chMax val="0"/>
          <dgm:bulletEnabled val="1"/>
        </dgm:presLayoutVars>
      </dgm:prSet>
      <dgm:spPr/>
    </dgm:pt>
    <dgm:pt modelId="{996A9508-8537-4D1F-8E20-B72D9BDC7046}" type="pres">
      <dgm:prSet presAssocID="{46AA4D38-70C2-47A9-AD95-DB42647E66CA}" presName="spacer" presStyleCnt="0"/>
      <dgm:spPr/>
    </dgm:pt>
    <dgm:pt modelId="{CD247634-9554-498C-BE37-91212D2A3B0F}" type="pres">
      <dgm:prSet presAssocID="{1F019CB7-71F8-4B7C-9CE4-C5E2F9612687}" presName="parentText" presStyleLbl="node1" presStyleIdx="1" presStyleCnt="14">
        <dgm:presLayoutVars>
          <dgm:chMax val="0"/>
          <dgm:bulletEnabled val="1"/>
        </dgm:presLayoutVars>
      </dgm:prSet>
      <dgm:spPr/>
    </dgm:pt>
    <dgm:pt modelId="{7E4730D6-D878-4C33-AEC7-A40DEF5C10CC}" type="pres">
      <dgm:prSet presAssocID="{B4114E95-BCAF-426C-989C-6D6ECD4A3220}" presName="spacer" presStyleCnt="0"/>
      <dgm:spPr/>
    </dgm:pt>
    <dgm:pt modelId="{A038F8F5-77A0-47AD-A897-0B0CD8D289E4}" type="pres">
      <dgm:prSet presAssocID="{A417785F-8FDF-468E-BB01-443535D18D23}" presName="parentText" presStyleLbl="node1" presStyleIdx="2" presStyleCnt="14">
        <dgm:presLayoutVars>
          <dgm:chMax val="0"/>
          <dgm:bulletEnabled val="1"/>
        </dgm:presLayoutVars>
      </dgm:prSet>
      <dgm:spPr/>
    </dgm:pt>
    <dgm:pt modelId="{FE2567A0-72F0-43C0-9A6B-423E0BBC4CE4}" type="pres">
      <dgm:prSet presAssocID="{16C00073-17A6-45CE-843F-36169E8B1246}" presName="spacer" presStyleCnt="0"/>
      <dgm:spPr/>
    </dgm:pt>
    <dgm:pt modelId="{BE7D2233-A841-42D2-8E7C-77114253376E}" type="pres">
      <dgm:prSet presAssocID="{CFF755EE-40FB-4EB9-9132-CAA3B7E241C0}" presName="parentText" presStyleLbl="node1" presStyleIdx="3" presStyleCnt="14">
        <dgm:presLayoutVars>
          <dgm:chMax val="0"/>
          <dgm:bulletEnabled val="1"/>
        </dgm:presLayoutVars>
      </dgm:prSet>
      <dgm:spPr/>
    </dgm:pt>
    <dgm:pt modelId="{494EF973-C631-4D9C-9897-34BFF72A3B15}" type="pres">
      <dgm:prSet presAssocID="{51DAE7FA-7A8F-443C-8682-C7C2675EEF8F}" presName="spacer" presStyleCnt="0"/>
      <dgm:spPr/>
    </dgm:pt>
    <dgm:pt modelId="{9872B357-9E6A-4568-8B9A-296932A2DF5E}" type="pres">
      <dgm:prSet presAssocID="{9F0112D4-F655-40E8-A2E2-9CB96AF334B4}" presName="parentText" presStyleLbl="node1" presStyleIdx="4" presStyleCnt="14">
        <dgm:presLayoutVars>
          <dgm:chMax val="0"/>
          <dgm:bulletEnabled val="1"/>
        </dgm:presLayoutVars>
      </dgm:prSet>
      <dgm:spPr/>
    </dgm:pt>
    <dgm:pt modelId="{2661E5CE-A569-4358-BA47-B9C43F75AAE3}" type="pres">
      <dgm:prSet presAssocID="{C02327E4-1B05-4B84-9EAA-BC3DE3072452}" presName="spacer" presStyleCnt="0"/>
      <dgm:spPr/>
    </dgm:pt>
    <dgm:pt modelId="{D7CAAEFE-D108-4985-ABF9-F1F4464C8C49}" type="pres">
      <dgm:prSet presAssocID="{9D9EBDD7-214D-4E20-A3AB-62D1BF921C1A}" presName="parentText" presStyleLbl="node1" presStyleIdx="5" presStyleCnt="14">
        <dgm:presLayoutVars>
          <dgm:chMax val="0"/>
          <dgm:bulletEnabled val="1"/>
        </dgm:presLayoutVars>
      </dgm:prSet>
      <dgm:spPr/>
    </dgm:pt>
    <dgm:pt modelId="{9C7D084E-A281-4D4F-8B3C-BA96DC2296B7}" type="pres">
      <dgm:prSet presAssocID="{17CA9656-9ADF-4779-8666-E415033B69FD}" presName="spacer" presStyleCnt="0"/>
      <dgm:spPr/>
    </dgm:pt>
    <dgm:pt modelId="{FA03B592-C149-463E-B120-D7C8486E4AD3}" type="pres">
      <dgm:prSet presAssocID="{94FDEC69-500A-4985-82F1-0655827288A9}" presName="parentText" presStyleLbl="node1" presStyleIdx="6" presStyleCnt="14">
        <dgm:presLayoutVars>
          <dgm:chMax val="0"/>
          <dgm:bulletEnabled val="1"/>
        </dgm:presLayoutVars>
      </dgm:prSet>
      <dgm:spPr/>
    </dgm:pt>
    <dgm:pt modelId="{51790291-E3CD-4638-AB4D-2964D8FF15FD}" type="pres">
      <dgm:prSet presAssocID="{789C8F1F-BAEB-48A3-BFDE-6CCC37C6751F}" presName="spacer" presStyleCnt="0"/>
      <dgm:spPr/>
    </dgm:pt>
    <dgm:pt modelId="{B9F99895-A011-4114-BC43-30F9E3794FF1}" type="pres">
      <dgm:prSet presAssocID="{8F26177B-4EE8-43D2-A7D4-4BD74DD5122F}" presName="parentText" presStyleLbl="node1" presStyleIdx="7" presStyleCnt="14">
        <dgm:presLayoutVars>
          <dgm:chMax val="0"/>
          <dgm:bulletEnabled val="1"/>
        </dgm:presLayoutVars>
      </dgm:prSet>
      <dgm:spPr/>
    </dgm:pt>
    <dgm:pt modelId="{E4DDD135-9466-40D6-87D2-480098E21146}" type="pres">
      <dgm:prSet presAssocID="{92C15EAC-B31B-40D0-B8D3-4EE5F8EAFBCE}" presName="spacer" presStyleCnt="0"/>
      <dgm:spPr/>
    </dgm:pt>
    <dgm:pt modelId="{FFC7B5E4-9DAC-4261-9693-C89053EE518C}" type="pres">
      <dgm:prSet presAssocID="{DD69224D-73F1-49EA-8EDC-286078F7371E}" presName="parentText" presStyleLbl="node1" presStyleIdx="8" presStyleCnt="14">
        <dgm:presLayoutVars>
          <dgm:chMax val="0"/>
          <dgm:bulletEnabled val="1"/>
        </dgm:presLayoutVars>
      </dgm:prSet>
      <dgm:spPr/>
    </dgm:pt>
    <dgm:pt modelId="{5EE5942F-0E28-4279-BF88-161B2C359F4D}" type="pres">
      <dgm:prSet presAssocID="{FB6893B2-9378-40CF-BCEC-C3A12E19EC7A}" presName="spacer" presStyleCnt="0"/>
      <dgm:spPr/>
    </dgm:pt>
    <dgm:pt modelId="{D0A147BF-A3B2-45D4-AF88-EC6C04DC3738}" type="pres">
      <dgm:prSet presAssocID="{A99D32A6-0C76-49A1-9E42-BA3990128AC9}" presName="parentText" presStyleLbl="node1" presStyleIdx="9" presStyleCnt="14">
        <dgm:presLayoutVars>
          <dgm:chMax val="0"/>
          <dgm:bulletEnabled val="1"/>
        </dgm:presLayoutVars>
      </dgm:prSet>
      <dgm:spPr/>
    </dgm:pt>
    <dgm:pt modelId="{75967E46-2E43-4BF5-9895-287EFCB461C1}" type="pres">
      <dgm:prSet presAssocID="{93DE3B02-2A4B-4C42-A0A9-27F0522775A9}" presName="spacer" presStyleCnt="0"/>
      <dgm:spPr/>
    </dgm:pt>
    <dgm:pt modelId="{1F3D5E55-9788-49DA-8B3D-5E0B7C0EE016}" type="pres">
      <dgm:prSet presAssocID="{B589AA41-901A-43A9-8924-FFC797AFC4C7}" presName="parentText" presStyleLbl="node1" presStyleIdx="10" presStyleCnt="14">
        <dgm:presLayoutVars>
          <dgm:chMax val="0"/>
          <dgm:bulletEnabled val="1"/>
        </dgm:presLayoutVars>
      </dgm:prSet>
      <dgm:spPr/>
    </dgm:pt>
    <dgm:pt modelId="{23687DE5-1A3D-476B-B1AD-B373FCD10DA1}" type="pres">
      <dgm:prSet presAssocID="{72677661-4C4E-4C0B-BCE7-3F1A5BF62401}" presName="spacer" presStyleCnt="0"/>
      <dgm:spPr/>
    </dgm:pt>
    <dgm:pt modelId="{B3B84285-1A83-481E-AB88-DA5E7C4CA469}" type="pres">
      <dgm:prSet presAssocID="{5F377136-F7BD-4231-84A5-2644E14B801A}" presName="parentText" presStyleLbl="node1" presStyleIdx="11" presStyleCnt="14">
        <dgm:presLayoutVars>
          <dgm:chMax val="0"/>
          <dgm:bulletEnabled val="1"/>
        </dgm:presLayoutVars>
      </dgm:prSet>
      <dgm:spPr/>
    </dgm:pt>
    <dgm:pt modelId="{47DCBF58-260D-4F29-86B3-21872B8D5200}" type="pres">
      <dgm:prSet presAssocID="{DE814FC7-3FE8-4AFB-BD5D-798CFF577BA6}" presName="spacer" presStyleCnt="0"/>
      <dgm:spPr/>
    </dgm:pt>
    <dgm:pt modelId="{190919D8-2780-4432-80EA-D95112C44AD1}" type="pres">
      <dgm:prSet presAssocID="{FE5435FF-171D-4BC5-888B-E5173FC7C131}" presName="parentText" presStyleLbl="node1" presStyleIdx="12" presStyleCnt="14">
        <dgm:presLayoutVars>
          <dgm:chMax val="0"/>
          <dgm:bulletEnabled val="1"/>
        </dgm:presLayoutVars>
      </dgm:prSet>
      <dgm:spPr/>
    </dgm:pt>
    <dgm:pt modelId="{CD83A21F-B3A1-4F22-8FDB-ECEE8B1D9B35}" type="pres">
      <dgm:prSet presAssocID="{CAA8D94A-5357-4CA6-ACFF-559ABAB31C15}" presName="spacer" presStyleCnt="0"/>
      <dgm:spPr/>
    </dgm:pt>
    <dgm:pt modelId="{C9B91EF6-1B4F-4951-BBF5-73A5E9CCCB99}" type="pres">
      <dgm:prSet presAssocID="{6FF006D1-C39C-4717-B06B-574725306585}" presName="parentText" presStyleLbl="node1" presStyleIdx="13" presStyleCnt="14">
        <dgm:presLayoutVars>
          <dgm:chMax val="0"/>
          <dgm:bulletEnabled val="1"/>
        </dgm:presLayoutVars>
      </dgm:prSet>
      <dgm:spPr/>
    </dgm:pt>
  </dgm:ptLst>
  <dgm:cxnLst>
    <dgm:cxn modelId="{16417308-C7F8-49C7-920B-5863292490CA}" srcId="{67A6A8B2-CCF0-4339-A8DF-1CF78CBDE48D}" destId="{FE5435FF-171D-4BC5-888B-E5173FC7C131}" srcOrd="12" destOrd="0" parTransId="{2CE77EF4-0A95-466D-9338-F5234DF3674F}" sibTransId="{CAA8D94A-5357-4CA6-ACFF-559ABAB31C15}"/>
    <dgm:cxn modelId="{6C04D012-A3EC-4CAF-AABD-5E0C9A3BDF28}" type="presOf" srcId="{94FDEC69-500A-4985-82F1-0655827288A9}" destId="{FA03B592-C149-463E-B120-D7C8486E4AD3}" srcOrd="0" destOrd="0" presId="urn:microsoft.com/office/officeart/2005/8/layout/vList2"/>
    <dgm:cxn modelId="{7D38FE12-DE65-4D73-A833-127528635DD3}" type="presOf" srcId="{A99D32A6-0C76-49A1-9E42-BA3990128AC9}" destId="{D0A147BF-A3B2-45D4-AF88-EC6C04DC3738}" srcOrd="0" destOrd="0" presId="urn:microsoft.com/office/officeart/2005/8/layout/vList2"/>
    <dgm:cxn modelId="{A3145416-6862-4CFD-AAA1-56EEEFD53993}" srcId="{67A6A8B2-CCF0-4339-A8DF-1CF78CBDE48D}" destId="{882E87D8-60C0-4AA4-8413-D092EEB55919}" srcOrd="0" destOrd="0" parTransId="{436C2F10-7F3F-463A-9844-A054FBC8E7E2}" sibTransId="{46AA4D38-70C2-47A9-AD95-DB42647E66CA}"/>
    <dgm:cxn modelId="{6D071919-A560-4245-BA46-42541297CCE2}" srcId="{67A6A8B2-CCF0-4339-A8DF-1CF78CBDE48D}" destId="{9F0112D4-F655-40E8-A2E2-9CB96AF334B4}" srcOrd="4" destOrd="0" parTransId="{37035F6E-0A81-4226-B2D7-5E53E9FCD64D}" sibTransId="{C02327E4-1B05-4B84-9EAA-BC3DE3072452}"/>
    <dgm:cxn modelId="{32CB0824-A415-48EC-9EE7-1D574276FBA4}" type="presOf" srcId="{B589AA41-901A-43A9-8924-FFC797AFC4C7}" destId="{1F3D5E55-9788-49DA-8B3D-5E0B7C0EE016}" srcOrd="0" destOrd="0" presId="urn:microsoft.com/office/officeart/2005/8/layout/vList2"/>
    <dgm:cxn modelId="{BE6CCD2C-E9DD-4108-8A66-2A97F1154DB1}" type="presOf" srcId="{67A6A8B2-CCF0-4339-A8DF-1CF78CBDE48D}" destId="{9A6AF0DD-0527-424F-8961-BFCB153E477C}" srcOrd="0" destOrd="0" presId="urn:microsoft.com/office/officeart/2005/8/layout/vList2"/>
    <dgm:cxn modelId="{6182E733-60E7-4796-83EF-0332794CF42B}" type="presOf" srcId="{DD69224D-73F1-49EA-8EDC-286078F7371E}" destId="{FFC7B5E4-9DAC-4261-9693-C89053EE518C}" srcOrd="0" destOrd="0" presId="urn:microsoft.com/office/officeart/2005/8/layout/vList2"/>
    <dgm:cxn modelId="{9885BD39-E051-453C-8142-D1B140414C07}" type="presOf" srcId="{1F019CB7-71F8-4B7C-9CE4-C5E2F9612687}" destId="{CD247634-9554-498C-BE37-91212D2A3B0F}" srcOrd="0" destOrd="0" presId="urn:microsoft.com/office/officeart/2005/8/layout/vList2"/>
    <dgm:cxn modelId="{C7D9F45B-EE9F-4320-8646-2C37B7A2A195}" srcId="{67A6A8B2-CCF0-4339-A8DF-1CF78CBDE48D}" destId="{CFF755EE-40FB-4EB9-9132-CAA3B7E241C0}" srcOrd="3" destOrd="0" parTransId="{AD71332D-2FF9-4896-A006-5A4734A1253E}" sibTransId="{51DAE7FA-7A8F-443C-8682-C7C2675EEF8F}"/>
    <dgm:cxn modelId="{1FB6345D-49CE-4813-B4CE-E82F867D7FA1}" srcId="{67A6A8B2-CCF0-4339-A8DF-1CF78CBDE48D}" destId="{1F019CB7-71F8-4B7C-9CE4-C5E2F9612687}" srcOrd="1" destOrd="0" parTransId="{5AB3FB35-7C52-4B76-A2FF-B9F3DD7B0838}" sibTransId="{B4114E95-BCAF-426C-989C-6D6ECD4A3220}"/>
    <dgm:cxn modelId="{B43C8466-1A15-430F-BE8C-7A9B39F4A0E7}" srcId="{67A6A8B2-CCF0-4339-A8DF-1CF78CBDE48D}" destId="{94FDEC69-500A-4985-82F1-0655827288A9}" srcOrd="6" destOrd="0" parTransId="{3B8CD2B1-1B0D-4C3A-8237-AAD44C0E0400}" sibTransId="{789C8F1F-BAEB-48A3-BFDE-6CCC37C6751F}"/>
    <dgm:cxn modelId="{02ED4E6A-1561-4D96-92B0-4D6F514D240B}" type="presOf" srcId="{5F377136-F7BD-4231-84A5-2644E14B801A}" destId="{B3B84285-1A83-481E-AB88-DA5E7C4CA469}" srcOrd="0" destOrd="0" presId="urn:microsoft.com/office/officeart/2005/8/layout/vList2"/>
    <dgm:cxn modelId="{F0BBA370-4946-42B0-A9D2-2CF178CD3743}" type="presOf" srcId="{9F0112D4-F655-40E8-A2E2-9CB96AF334B4}" destId="{9872B357-9E6A-4568-8B9A-296932A2DF5E}" srcOrd="0" destOrd="0" presId="urn:microsoft.com/office/officeart/2005/8/layout/vList2"/>
    <dgm:cxn modelId="{0D1D3954-3EA4-4A5C-A80A-5C33701A90D6}" type="presOf" srcId="{882E87D8-60C0-4AA4-8413-D092EEB55919}" destId="{550F70C3-D30C-4C35-AF64-F9673D200FC0}" srcOrd="0" destOrd="0" presId="urn:microsoft.com/office/officeart/2005/8/layout/vList2"/>
    <dgm:cxn modelId="{5F2BCE55-1963-41D3-B090-9B0BBFAB1104}" srcId="{67A6A8B2-CCF0-4339-A8DF-1CF78CBDE48D}" destId="{9D9EBDD7-214D-4E20-A3AB-62D1BF921C1A}" srcOrd="5" destOrd="0" parTransId="{33CB6682-84E3-4886-8C02-BB0B6560354A}" sibTransId="{17CA9656-9ADF-4779-8666-E415033B69FD}"/>
    <dgm:cxn modelId="{E8A6427C-6E20-4B0E-A0B9-6E0114344F39}" type="presOf" srcId="{FE5435FF-171D-4BC5-888B-E5173FC7C131}" destId="{190919D8-2780-4432-80EA-D95112C44AD1}" srcOrd="0" destOrd="0" presId="urn:microsoft.com/office/officeart/2005/8/layout/vList2"/>
    <dgm:cxn modelId="{23726D7F-DBFC-4825-A086-F807106C12F2}" srcId="{67A6A8B2-CCF0-4339-A8DF-1CF78CBDE48D}" destId="{A417785F-8FDF-468E-BB01-443535D18D23}" srcOrd="2" destOrd="0" parTransId="{3B1C8CE9-9034-49EB-AB75-5584ED84898A}" sibTransId="{16C00073-17A6-45CE-843F-36169E8B1246}"/>
    <dgm:cxn modelId="{07DD1881-3A36-4625-BAD8-9BDE8EE4D1D8}" srcId="{67A6A8B2-CCF0-4339-A8DF-1CF78CBDE48D}" destId="{DD69224D-73F1-49EA-8EDC-286078F7371E}" srcOrd="8" destOrd="0" parTransId="{D99F4D8D-B307-4517-B5B1-A39BF4264A9B}" sibTransId="{FB6893B2-9378-40CF-BCEC-C3A12E19EC7A}"/>
    <dgm:cxn modelId="{B8A2129A-8D1E-4F25-BF45-D518080CB0EB}" type="presOf" srcId="{9D9EBDD7-214D-4E20-A3AB-62D1BF921C1A}" destId="{D7CAAEFE-D108-4985-ABF9-F1F4464C8C49}" srcOrd="0" destOrd="0" presId="urn:microsoft.com/office/officeart/2005/8/layout/vList2"/>
    <dgm:cxn modelId="{2BD343C0-CC96-479F-BF2B-CBB99BFB3B43}" type="presOf" srcId="{CFF755EE-40FB-4EB9-9132-CAA3B7E241C0}" destId="{BE7D2233-A841-42D2-8E7C-77114253376E}" srcOrd="0" destOrd="0" presId="urn:microsoft.com/office/officeart/2005/8/layout/vList2"/>
    <dgm:cxn modelId="{3D04C0D4-2F52-4315-A825-7CEF29887C90}" type="presOf" srcId="{6FF006D1-C39C-4717-B06B-574725306585}" destId="{C9B91EF6-1B4F-4951-BBF5-73A5E9CCCB99}" srcOrd="0" destOrd="0" presId="urn:microsoft.com/office/officeart/2005/8/layout/vList2"/>
    <dgm:cxn modelId="{68BB94DA-77E7-4D24-8026-A4AF51AD2C42}" srcId="{67A6A8B2-CCF0-4339-A8DF-1CF78CBDE48D}" destId="{A99D32A6-0C76-49A1-9E42-BA3990128AC9}" srcOrd="9" destOrd="0" parTransId="{F6645403-44A9-4495-938E-D7B52482DE33}" sibTransId="{93DE3B02-2A4B-4C42-A0A9-27F0522775A9}"/>
    <dgm:cxn modelId="{7938B6DF-6BF2-4B8B-819F-BAC0083AAF56}" srcId="{67A6A8B2-CCF0-4339-A8DF-1CF78CBDE48D}" destId="{6FF006D1-C39C-4717-B06B-574725306585}" srcOrd="13" destOrd="0" parTransId="{E21813B0-8989-4E6B-B7D0-8FAA373DFA71}" sibTransId="{99B92FB9-9A59-4CDD-B6DE-E40B38205787}"/>
    <dgm:cxn modelId="{ECC4BAE0-C02F-4006-B890-7897CF38F536}" type="presOf" srcId="{A417785F-8FDF-468E-BB01-443535D18D23}" destId="{A038F8F5-77A0-47AD-A897-0B0CD8D289E4}" srcOrd="0" destOrd="0" presId="urn:microsoft.com/office/officeart/2005/8/layout/vList2"/>
    <dgm:cxn modelId="{C25E56E2-9DF9-4514-BAAF-7D599B3D7FD0}" srcId="{67A6A8B2-CCF0-4339-A8DF-1CF78CBDE48D}" destId="{5F377136-F7BD-4231-84A5-2644E14B801A}" srcOrd="11" destOrd="0" parTransId="{C1688560-F58F-4E6D-AEC2-4E9DE2F38865}" sibTransId="{DE814FC7-3FE8-4AFB-BD5D-798CFF577BA6}"/>
    <dgm:cxn modelId="{03922CEC-744B-4102-A1CF-5A629AFF9FF9}" type="presOf" srcId="{8F26177B-4EE8-43D2-A7D4-4BD74DD5122F}" destId="{B9F99895-A011-4114-BC43-30F9E3794FF1}" srcOrd="0" destOrd="0" presId="urn:microsoft.com/office/officeart/2005/8/layout/vList2"/>
    <dgm:cxn modelId="{B27897F8-87CE-42EF-B565-97E4A76CF728}" srcId="{67A6A8B2-CCF0-4339-A8DF-1CF78CBDE48D}" destId="{B589AA41-901A-43A9-8924-FFC797AFC4C7}" srcOrd="10" destOrd="0" parTransId="{6A952CCE-4B13-415B-BB17-5CA6F993F70C}" sibTransId="{72677661-4C4E-4C0B-BCE7-3F1A5BF62401}"/>
    <dgm:cxn modelId="{9C7598FF-021F-41E1-92A9-A9129A941BBF}" srcId="{67A6A8B2-CCF0-4339-A8DF-1CF78CBDE48D}" destId="{8F26177B-4EE8-43D2-A7D4-4BD74DD5122F}" srcOrd="7" destOrd="0" parTransId="{A248514F-E8CD-4EFB-A182-90F85400A5D7}" sibTransId="{92C15EAC-B31B-40D0-B8D3-4EE5F8EAFBCE}"/>
    <dgm:cxn modelId="{F1A198A1-D500-4683-91D0-88E52CCB87E8}" type="presParOf" srcId="{9A6AF0DD-0527-424F-8961-BFCB153E477C}" destId="{550F70C3-D30C-4C35-AF64-F9673D200FC0}" srcOrd="0" destOrd="0" presId="urn:microsoft.com/office/officeart/2005/8/layout/vList2"/>
    <dgm:cxn modelId="{D28A59C4-1869-40DD-A6EB-68A648D39A36}" type="presParOf" srcId="{9A6AF0DD-0527-424F-8961-BFCB153E477C}" destId="{996A9508-8537-4D1F-8E20-B72D9BDC7046}" srcOrd="1" destOrd="0" presId="urn:microsoft.com/office/officeart/2005/8/layout/vList2"/>
    <dgm:cxn modelId="{BF037A19-53A4-4465-A751-4F07AAD929C3}" type="presParOf" srcId="{9A6AF0DD-0527-424F-8961-BFCB153E477C}" destId="{CD247634-9554-498C-BE37-91212D2A3B0F}" srcOrd="2" destOrd="0" presId="urn:microsoft.com/office/officeart/2005/8/layout/vList2"/>
    <dgm:cxn modelId="{DFA6DD9A-C39A-4259-B20B-BADC3EB269A6}" type="presParOf" srcId="{9A6AF0DD-0527-424F-8961-BFCB153E477C}" destId="{7E4730D6-D878-4C33-AEC7-A40DEF5C10CC}" srcOrd="3" destOrd="0" presId="urn:microsoft.com/office/officeart/2005/8/layout/vList2"/>
    <dgm:cxn modelId="{DD85BD47-DA3F-42A0-A840-1B0E6C498562}" type="presParOf" srcId="{9A6AF0DD-0527-424F-8961-BFCB153E477C}" destId="{A038F8F5-77A0-47AD-A897-0B0CD8D289E4}" srcOrd="4" destOrd="0" presId="urn:microsoft.com/office/officeart/2005/8/layout/vList2"/>
    <dgm:cxn modelId="{475EDD2D-6757-41AE-8082-D7783E69D1C5}" type="presParOf" srcId="{9A6AF0DD-0527-424F-8961-BFCB153E477C}" destId="{FE2567A0-72F0-43C0-9A6B-423E0BBC4CE4}" srcOrd="5" destOrd="0" presId="urn:microsoft.com/office/officeart/2005/8/layout/vList2"/>
    <dgm:cxn modelId="{06D69C2B-FB31-4B92-8F56-570CE0F65803}" type="presParOf" srcId="{9A6AF0DD-0527-424F-8961-BFCB153E477C}" destId="{BE7D2233-A841-42D2-8E7C-77114253376E}" srcOrd="6" destOrd="0" presId="urn:microsoft.com/office/officeart/2005/8/layout/vList2"/>
    <dgm:cxn modelId="{42725B67-96C3-4786-A76D-B0748ADC5FD4}" type="presParOf" srcId="{9A6AF0DD-0527-424F-8961-BFCB153E477C}" destId="{494EF973-C631-4D9C-9897-34BFF72A3B15}" srcOrd="7" destOrd="0" presId="urn:microsoft.com/office/officeart/2005/8/layout/vList2"/>
    <dgm:cxn modelId="{EA351045-AC35-4B0C-9DC1-818AB857409E}" type="presParOf" srcId="{9A6AF0DD-0527-424F-8961-BFCB153E477C}" destId="{9872B357-9E6A-4568-8B9A-296932A2DF5E}" srcOrd="8" destOrd="0" presId="urn:microsoft.com/office/officeart/2005/8/layout/vList2"/>
    <dgm:cxn modelId="{5311E2FC-E147-48DF-970E-9C58492D382C}" type="presParOf" srcId="{9A6AF0DD-0527-424F-8961-BFCB153E477C}" destId="{2661E5CE-A569-4358-BA47-B9C43F75AAE3}" srcOrd="9" destOrd="0" presId="urn:microsoft.com/office/officeart/2005/8/layout/vList2"/>
    <dgm:cxn modelId="{50F01114-01C9-4028-B3F0-BBDE63237431}" type="presParOf" srcId="{9A6AF0DD-0527-424F-8961-BFCB153E477C}" destId="{D7CAAEFE-D108-4985-ABF9-F1F4464C8C49}" srcOrd="10" destOrd="0" presId="urn:microsoft.com/office/officeart/2005/8/layout/vList2"/>
    <dgm:cxn modelId="{C7E6D3F4-81C2-42FA-99CB-B1E9C8CDAA0A}" type="presParOf" srcId="{9A6AF0DD-0527-424F-8961-BFCB153E477C}" destId="{9C7D084E-A281-4D4F-8B3C-BA96DC2296B7}" srcOrd="11" destOrd="0" presId="urn:microsoft.com/office/officeart/2005/8/layout/vList2"/>
    <dgm:cxn modelId="{9B8202F7-7A5C-4C32-B3AB-97AADC89DCE7}" type="presParOf" srcId="{9A6AF0DD-0527-424F-8961-BFCB153E477C}" destId="{FA03B592-C149-463E-B120-D7C8486E4AD3}" srcOrd="12" destOrd="0" presId="urn:microsoft.com/office/officeart/2005/8/layout/vList2"/>
    <dgm:cxn modelId="{4D0D1E3B-5834-4815-94BB-8C88F77B332E}" type="presParOf" srcId="{9A6AF0DD-0527-424F-8961-BFCB153E477C}" destId="{51790291-E3CD-4638-AB4D-2964D8FF15FD}" srcOrd="13" destOrd="0" presId="urn:microsoft.com/office/officeart/2005/8/layout/vList2"/>
    <dgm:cxn modelId="{CA545770-7CAD-416A-8ED9-2419D0191E27}" type="presParOf" srcId="{9A6AF0DD-0527-424F-8961-BFCB153E477C}" destId="{B9F99895-A011-4114-BC43-30F9E3794FF1}" srcOrd="14" destOrd="0" presId="urn:microsoft.com/office/officeart/2005/8/layout/vList2"/>
    <dgm:cxn modelId="{05E82805-3151-4AF0-ADFC-E15AF43F9D34}" type="presParOf" srcId="{9A6AF0DD-0527-424F-8961-BFCB153E477C}" destId="{E4DDD135-9466-40D6-87D2-480098E21146}" srcOrd="15" destOrd="0" presId="urn:microsoft.com/office/officeart/2005/8/layout/vList2"/>
    <dgm:cxn modelId="{C777A40B-9938-4B81-A4F6-9EF19E2A4F07}" type="presParOf" srcId="{9A6AF0DD-0527-424F-8961-BFCB153E477C}" destId="{FFC7B5E4-9DAC-4261-9693-C89053EE518C}" srcOrd="16" destOrd="0" presId="urn:microsoft.com/office/officeart/2005/8/layout/vList2"/>
    <dgm:cxn modelId="{D7D74FFE-ADD3-4057-8CF7-C05691E6D6D2}" type="presParOf" srcId="{9A6AF0DD-0527-424F-8961-BFCB153E477C}" destId="{5EE5942F-0E28-4279-BF88-161B2C359F4D}" srcOrd="17" destOrd="0" presId="urn:microsoft.com/office/officeart/2005/8/layout/vList2"/>
    <dgm:cxn modelId="{4E140D06-D3AA-4577-ACA1-162285B56B89}" type="presParOf" srcId="{9A6AF0DD-0527-424F-8961-BFCB153E477C}" destId="{D0A147BF-A3B2-45D4-AF88-EC6C04DC3738}" srcOrd="18" destOrd="0" presId="urn:microsoft.com/office/officeart/2005/8/layout/vList2"/>
    <dgm:cxn modelId="{25050376-6A92-4D1B-B287-E91D4E0AC480}" type="presParOf" srcId="{9A6AF0DD-0527-424F-8961-BFCB153E477C}" destId="{75967E46-2E43-4BF5-9895-287EFCB461C1}" srcOrd="19" destOrd="0" presId="urn:microsoft.com/office/officeart/2005/8/layout/vList2"/>
    <dgm:cxn modelId="{8D8B67CA-A77E-491A-A16F-78CC8C374760}" type="presParOf" srcId="{9A6AF0DD-0527-424F-8961-BFCB153E477C}" destId="{1F3D5E55-9788-49DA-8B3D-5E0B7C0EE016}" srcOrd="20" destOrd="0" presId="urn:microsoft.com/office/officeart/2005/8/layout/vList2"/>
    <dgm:cxn modelId="{FDE076CC-1DCE-451A-8A4B-1CB5F1219379}" type="presParOf" srcId="{9A6AF0DD-0527-424F-8961-BFCB153E477C}" destId="{23687DE5-1A3D-476B-B1AD-B373FCD10DA1}" srcOrd="21" destOrd="0" presId="urn:microsoft.com/office/officeart/2005/8/layout/vList2"/>
    <dgm:cxn modelId="{D567B503-C990-4EE1-B296-074ED823B2D2}" type="presParOf" srcId="{9A6AF0DD-0527-424F-8961-BFCB153E477C}" destId="{B3B84285-1A83-481E-AB88-DA5E7C4CA469}" srcOrd="22" destOrd="0" presId="urn:microsoft.com/office/officeart/2005/8/layout/vList2"/>
    <dgm:cxn modelId="{A34D3F0A-B01C-48A9-BA15-113A074F8573}" type="presParOf" srcId="{9A6AF0DD-0527-424F-8961-BFCB153E477C}" destId="{47DCBF58-260D-4F29-86B3-21872B8D5200}" srcOrd="23" destOrd="0" presId="urn:microsoft.com/office/officeart/2005/8/layout/vList2"/>
    <dgm:cxn modelId="{257C60B4-4E6F-4100-BD21-3C98FB1126C6}" type="presParOf" srcId="{9A6AF0DD-0527-424F-8961-BFCB153E477C}" destId="{190919D8-2780-4432-80EA-D95112C44AD1}" srcOrd="24" destOrd="0" presId="urn:microsoft.com/office/officeart/2005/8/layout/vList2"/>
    <dgm:cxn modelId="{3D9B46F9-D843-4C4F-A772-75754D1DC6AA}" type="presParOf" srcId="{9A6AF0DD-0527-424F-8961-BFCB153E477C}" destId="{CD83A21F-B3A1-4F22-8FDB-ECEE8B1D9B35}" srcOrd="25" destOrd="0" presId="urn:microsoft.com/office/officeart/2005/8/layout/vList2"/>
    <dgm:cxn modelId="{1944A3CE-EBF5-4065-9039-CD43B62870CE}" type="presParOf" srcId="{9A6AF0DD-0527-424F-8961-BFCB153E477C}" destId="{C9B91EF6-1B4F-4951-BBF5-73A5E9CCCB99}" srcOrd="26" destOrd="0" presId="urn:microsoft.com/office/officeart/2005/8/layout/vList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99DEB38-43E2-413F-B4D0-FB9114E4EC32}"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CN" altLang="en-US"/>
        </a:p>
      </dgm:t>
    </dgm:pt>
    <dgm:pt modelId="{99CDD501-FD71-4475-8116-17250A667A19}">
      <dgm:prSet custT="1"/>
      <dgm:spPr/>
      <dgm:t>
        <a:bodyPr/>
        <a:lstStyle/>
        <a:p>
          <a:r>
            <a:rPr lang="zh-CN" altLang="en-US" sz="1200" b="1" dirty="0">
              <a:latin typeface="+mn-ea"/>
              <a:ea typeface="+mn-ea"/>
            </a:rPr>
            <a:t>步骤一</a:t>
          </a:r>
          <a:r>
            <a:rPr lang="zh-CN" sz="1200" b="1" dirty="0">
              <a:latin typeface="+mn-ea"/>
              <a:ea typeface="+mn-ea"/>
            </a:rPr>
            <a:t>：</a:t>
          </a:r>
          <a:r>
            <a:rPr lang="en-US" sz="1200" b="1" dirty="0">
              <a:latin typeface="+mn-ea"/>
              <a:ea typeface="+mn-ea"/>
            </a:rPr>
            <a:t>Allotment Qty</a:t>
          </a:r>
          <a:r>
            <a:rPr lang="zh-CN" sz="1200" b="1" dirty="0">
              <a:latin typeface="+mn-ea"/>
              <a:ea typeface="+mn-ea"/>
            </a:rPr>
            <a:t>为配额，</a:t>
          </a:r>
          <a:r>
            <a:rPr lang="en-US" sz="1200" b="1" dirty="0">
              <a:latin typeface="+mn-ea"/>
              <a:ea typeface="+mn-ea"/>
            </a:rPr>
            <a:t>MRP Netting</a:t>
          </a:r>
          <a:r>
            <a:rPr lang="zh-CN" sz="1200" b="1" dirty="0">
              <a:latin typeface="+mn-ea"/>
              <a:ea typeface="+mn-ea"/>
            </a:rPr>
            <a:t>不能超配额，产生</a:t>
          </a:r>
          <a:r>
            <a:rPr lang="en-US" sz="1200" b="1" dirty="0">
              <a:latin typeface="+mn-ea"/>
              <a:ea typeface="+mn-ea"/>
            </a:rPr>
            <a:t>Short</a:t>
          </a:r>
          <a:r>
            <a:rPr lang="zh-CN" sz="1200" b="1" dirty="0">
              <a:latin typeface="+mn-ea"/>
              <a:ea typeface="+mn-ea"/>
            </a:rPr>
            <a:t>和</a:t>
          </a:r>
          <a:r>
            <a:rPr lang="en-US" sz="1200" b="1" dirty="0">
              <a:latin typeface="+mn-ea"/>
              <a:ea typeface="+mn-ea"/>
            </a:rPr>
            <a:t>Surplus</a:t>
          </a:r>
          <a:endParaRPr lang="zh-CN" sz="1200" b="1" dirty="0">
            <a:latin typeface="+mn-ea"/>
            <a:ea typeface="+mn-ea"/>
          </a:endParaRPr>
        </a:p>
      </dgm:t>
    </dgm:pt>
    <dgm:pt modelId="{B46D2A1A-DA59-4FBC-BAE0-FE5FCBC7B7D5}" type="parTrans" cxnId="{61AA8D33-626D-4498-98FF-C319468EC738}">
      <dgm:prSet/>
      <dgm:spPr/>
      <dgm:t>
        <a:bodyPr/>
        <a:lstStyle/>
        <a:p>
          <a:endParaRPr lang="zh-CN" altLang="en-US" sz="1200" b="1">
            <a:latin typeface="+mn-ea"/>
            <a:ea typeface="+mn-ea"/>
          </a:endParaRPr>
        </a:p>
      </dgm:t>
    </dgm:pt>
    <dgm:pt modelId="{974593F4-9B91-433F-A149-5736CA9AE1E0}" type="sibTrans" cxnId="{61AA8D33-626D-4498-98FF-C319468EC738}">
      <dgm:prSet/>
      <dgm:spPr/>
      <dgm:t>
        <a:bodyPr/>
        <a:lstStyle/>
        <a:p>
          <a:endParaRPr lang="zh-CN" altLang="en-US" sz="1200" b="1">
            <a:latin typeface="+mn-ea"/>
            <a:ea typeface="+mn-ea"/>
          </a:endParaRPr>
        </a:p>
      </dgm:t>
    </dgm:pt>
    <dgm:pt modelId="{247A1B1C-A34B-41B4-8E42-1165E20FA196}" type="pres">
      <dgm:prSet presAssocID="{099DEB38-43E2-413F-B4D0-FB9114E4EC32}" presName="linear" presStyleCnt="0">
        <dgm:presLayoutVars>
          <dgm:animLvl val="lvl"/>
          <dgm:resizeHandles val="exact"/>
        </dgm:presLayoutVars>
      </dgm:prSet>
      <dgm:spPr/>
    </dgm:pt>
    <dgm:pt modelId="{C78D0FD7-D5EF-40AF-BAEF-171B21B562C8}" type="pres">
      <dgm:prSet presAssocID="{99CDD501-FD71-4475-8116-17250A667A19}" presName="parentText" presStyleLbl="node1" presStyleIdx="0" presStyleCnt="1" custScaleX="97828" custScaleY="70241">
        <dgm:presLayoutVars>
          <dgm:chMax val="0"/>
          <dgm:bulletEnabled val="1"/>
        </dgm:presLayoutVars>
      </dgm:prSet>
      <dgm:spPr/>
    </dgm:pt>
  </dgm:ptLst>
  <dgm:cxnLst>
    <dgm:cxn modelId="{61AA8D33-626D-4498-98FF-C319468EC738}" srcId="{099DEB38-43E2-413F-B4D0-FB9114E4EC32}" destId="{99CDD501-FD71-4475-8116-17250A667A19}" srcOrd="0" destOrd="0" parTransId="{B46D2A1A-DA59-4FBC-BAE0-FE5FCBC7B7D5}" sibTransId="{974593F4-9B91-433F-A149-5736CA9AE1E0}"/>
    <dgm:cxn modelId="{61873172-7005-4341-B175-051EABB35EF1}" type="presOf" srcId="{099DEB38-43E2-413F-B4D0-FB9114E4EC32}" destId="{247A1B1C-A34B-41B4-8E42-1165E20FA196}" srcOrd="0" destOrd="0" presId="urn:microsoft.com/office/officeart/2005/8/layout/vList2"/>
    <dgm:cxn modelId="{5951599B-08F3-41D3-9FCA-FB525AAFCD37}" type="presOf" srcId="{99CDD501-FD71-4475-8116-17250A667A19}" destId="{C78D0FD7-D5EF-40AF-BAEF-171B21B562C8}" srcOrd="0" destOrd="0" presId="urn:microsoft.com/office/officeart/2005/8/layout/vList2"/>
    <dgm:cxn modelId="{B726D0D1-B525-4D06-B711-6F4F4F6EE8EF}" type="presParOf" srcId="{247A1B1C-A34B-41B4-8E42-1165E20FA196}" destId="{C78D0FD7-D5EF-40AF-BAEF-171B21B562C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099DEB38-43E2-413F-B4D0-FB9114E4EC32}"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CN" altLang="en-US"/>
        </a:p>
      </dgm:t>
    </dgm:pt>
    <dgm:pt modelId="{976A2CD6-9038-4AB0-B76A-952EB410B6D7}">
      <dgm:prSet custT="1"/>
      <dgm:spPr/>
      <dgm:t>
        <a:bodyPr/>
        <a:lstStyle/>
        <a:p>
          <a:r>
            <a:rPr lang="zh-CN" altLang="en-US" sz="1200" b="1" dirty="0">
              <a:latin typeface="+mn-ea"/>
              <a:ea typeface="+mn-ea"/>
            </a:rPr>
            <a:t>步骤二</a:t>
          </a:r>
          <a:r>
            <a:rPr lang="zh-CN" sz="1200" b="1" dirty="0">
              <a:latin typeface="+mn-ea"/>
              <a:ea typeface="+mn-ea"/>
            </a:rPr>
            <a:t>：按照需求</a:t>
          </a:r>
          <a:r>
            <a:rPr lang="en-US" sz="1200" b="1" dirty="0">
              <a:latin typeface="+mn-ea"/>
              <a:ea typeface="+mn-ea"/>
            </a:rPr>
            <a:t>Sequence/Priority </a:t>
          </a:r>
          <a:r>
            <a:rPr lang="zh-CN" sz="1200" b="1" dirty="0">
              <a:latin typeface="+mn-ea"/>
              <a:ea typeface="+mn-ea"/>
            </a:rPr>
            <a:t>分配</a:t>
          </a:r>
        </a:p>
      </dgm:t>
    </dgm:pt>
    <dgm:pt modelId="{208F5F81-1363-433F-828C-83608CA4714F}" type="parTrans" cxnId="{2079BA24-6C2E-475F-AEAB-01C3A3DE79C3}">
      <dgm:prSet/>
      <dgm:spPr/>
      <dgm:t>
        <a:bodyPr/>
        <a:lstStyle/>
        <a:p>
          <a:endParaRPr lang="zh-CN" altLang="en-US" sz="1200" b="1">
            <a:latin typeface="+mn-ea"/>
            <a:ea typeface="+mn-ea"/>
          </a:endParaRPr>
        </a:p>
      </dgm:t>
    </dgm:pt>
    <dgm:pt modelId="{05A782C2-AA05-4870-81A1-7E9934B1E39E}" type="sibTrans" cxnId="{2079BA24-6C2E-475F-AEAB-01C3A3DE79C3}">
      <dgm:prSet/>
      <dgm:spPr/>
      <dgm:t>
        <a:bodyPr/>
        <a:lstStyle/>
        <a:p>
          <a:endParaRPr lang="zh-CN" altLang="en-US" sz="1200" b="1">
            <a:latin typeface="+mn-ea"/>
            <a:ea typeface="+mn-ea"/>
          </a:endParaRPr>
        </a:p>
      </dgm:t>
    </dgm:pt>
    <dgm:pt modelId="{247A1B1C-A34B-41B4-8E42-1165E20FA196}" type="pres">
      <dgm:prSet presAssocID="{099DEB38-43E2-413F-B4D0-FB9114E4EC32}" presName="linear" presStyleCnt="0">
        <dgm:presLayoutVars>
          <dgm:animLvl val="lvl"/>
          <dgm:resizeHandles val="exact"/>
        </dgm:presLayoutVars>
      </dgm:prSet>
      <dgm:spPr/>
    </dgm:pt>
    <dgm:pt modelId="{172D40C9-9E54-40F0-83F4-2F103774E08E}" type="pres">
      <dgm:prSet presAssocID="{976A2CD6-9038-4AB0-B76A-952EB410B6D7}" presName="parentText" presStyleLbl="node1" presStyleIdx="0" presStyleCnt="1" custScaleY="76140">
        <dgm:presLayoutVars>
          <dgm:chMax val="0"/>
          <dgm:bulletEnabled val="1"/>
        </dgm:presLayoutVars>
      </dgm:prSet>
      <dgm:spPr/>
    </dgm:pt>
  </dgm:ptLst>
  <dgm:cxnLst>
    <dgm:cxn modelId="{2079BA24-6C2E-475F-AEAB-01C3A3DE79C3}" srcId="{099DEB38-43E2-413F-B4D0-FB9114E4EC32}" destId="{976A2CD6-9038-4AB0-B76A-952EB410B6D7}" srcOrd="0" destOrd="0" parTransId="{208F5F81-1363-433F-828C-83608CA4714F}" sibTransId="{05A782C2-AA05-4870-81A1-7E9934B1E39E}"/>
    <dgm:cxn modelId="{61873172-7005-4341-B175-051EABB35EF1}" type="presOf" srcId="{099DEB38-43E2-413F-B4D0-FB9114E4EC32}" destId="{247A1B1C-A34B-41B4-8E42-1165E20FA196}" srcOrd="0" destOrd="0" presId="urn:microsoft.com/office/officeart/2005/8/layout/vList2"/>
    <dgm:cxn modelId="{6F4CB774-16B0-4F13-881F-2E595880C7FF}" type="presOf" srcId="{976A2CD6-9038-4AB0-B76A-952EB410B6D7}" destId="{172D40C9-9E54-40F0-83F4-2F103774E08E}" srcOrd="0" destOrd="0" presId="urn:microsoft.com/office/officeart/2005/8/layout/vList2"/>
    <dgm:cxn modelId="{01E255F2-FE11-4D5D-8641-8B6E035AD289}" type="presParOf" srcId="{247A1B1C-A34B-41B4-8E42-1165E20FA196}" destId="{172D40C9-9E54-40F0-83F4-2F103774E0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4E9E3F7-F17B-4340-83E8-092ECE1BA6A7}"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zh-CN" altLang="en-US"/>
        </a:p>
      </dgm:t>
    </dgm:pt>
    <dgm:pt modelId="{155975C7-EE2F-4490-B653-1CBCACEB44E2}">
      <dgm:prSet/>
      <dgm:spPr/>
      <dgm:t>
        <a:bodyPr/>
        <a:lstStyle/>
        <a:p>
          <a:r>
            <a:rPr lang="zh-CN" b="1">
              <a:latin typeface="+mj-ea"/>
              <a:ea typeface="+mj-ea"/>
            </a:rPr>
            <a:t>预测调整 </a:t>
          </a:r>
          <a:endParaRPr lang="zh-CN">
            <a:latin typeface="+mj-ea"/>
            <a:ea typeface="+mj-ea"/>
          </a:endParaRPr>
        </a:p>
      </dgm:t>
    </dgm:pt>
    <dgm:pt modelId="{8743E79D-3313-434F-8E4F-4C3A6ABA44C2}" type="parTrans" cxnId="{F0C3851F-4DFB-4B63-9058-DCD9CE4E293E}">
      <dgm:prSet/>
      <dgm:spPr/>
      <dgm:t>
        <a:bodyPr/>
        <a:lstStyle/>
        <a:p>
          <a:endParaRPr lang="zh-CN" altLang="en-US">
            <a:latin typeface="+mj-ea"/>
            <a:ea typeface="+mj-ea"/>
          </a:endParaRPr>
        </a:p>
      </dgm:t>
    </dgm:pt>
    <dgm:pt modelId="{BE0709DB-9E2D-4C93-83BE-B5CFF4BE7955}" type="sibTrans" cxnId="{F0C3851F-4DFB-4B63-9058-DCD9CE4E293E}">
      <dgm:prSet/>
      <dgm:spPr/>
      <dgm:t>
        <a:bodyPr/>
        <a:lstStyle/>
        <a:p>
          <a:endParaRPr lang="zh-CN" altLang="en-US">
            <a:latin typeface="+mj-ea"/>
            <a:ea typeface="+mj-ea"/>
          </a:endParaRPr>
        </a:p>
      </dgm:t>
    </dgm:pt>
    <dgm:pt modelId="{C1558CA7-07E0-467C-99EA-F842C016D964}">
      <dgm:prSet/>
      <dgm:spPr/>
      <dgm:t>
        <a:bodyPr/>
        <a:lstStyle/>
        <a:p>
          <a:r>
            <a:rPr lang="zh-CN" b="1">
              <a:latin typeface="+mj-ea"/>
              <a:ea typeface="+mj-ea"/>
            </a:rPr>
            <a:t>当要调整某产品系列预测时，针对某一个</a:t>
          </a:r>
          <a:r>
            <a:rPr lang="en-US" b="1">
              <a:latin typeface="+mj-ea"/>
              <a:ea typeface="+mj-ea"/>
            </a:rPr>
            <a:t>stream</a:t>
          </a:r>
          <a:r>
            <a:rPr lang="zh-CN" b="1">
              <a:latin typeface="+mj-ea"/>
              <a:ea typeface="+mj-ea"/>
            </a:rPr>
            <a:t>的预测，例如市场预测（一般来讲，有统计预测，财务预测，市场预测等）</a:t>
          </a:r>
          <a:endParaRPr lang="zh-CN">
            <a:latin typeface="+mj-ea"/>
            <a:ea typeface="+mj-ea"/>
          </a:endParaRPr>
        </a:p>
      </dgm:t>
    </dgm:pt>
    <dgm:pt modelId="{E5CAC947-29E1-43FB-8678-0F94E976B882}" type="parTrans" cxnId="{3AEAADD8-4AF6-43BC-8F05-78BE08BD50DC}">
      <dgm:prSet/>
      <dgm:spPr/>
      <dgm:t>
        <a:bodyPr/>
        <a:lstStyle/>
        <a:p>
          <a:endParaRPr lang="zh-CN" altLang="en-US">
            <a:latin typeface="+mj-ea"/>
            <a:ea typeface="+mj-ea"/>
          </a:endParaRPr>
        </a:p>
      </dgm:t>
    </dgm:pt>
    <dgm:pt modelId="{D4000958-FE5D-48AA-97E5-C1B6E7B71BC8}" type="sibTrans" cxnId="{3AEAADD8-4AF6-43BC-8F05-78BE08BD50DC}">
      <dgm:prSet/>
      <dgm:spPr/>
      <dgm:t>
        <a:bodyPr/>
        <a:lstStyle/>
        <a:p>
          <a:endParaRPr lang="zh-CN" altLang="en-US">
            <a:latin typeface="+mj-ea"/>
            <a:ea typeface="+mj-ea"/>
          </a:endParaRPr>
        </a:p>
      </dgm:t>
    </dgm:pt>
    <dgm:pt modelId="{BDF52988-7751-4127-98AB-EDA42B54493D}">
      <dgm:prSet/>
      <dgm:spPr/>
      <dgm:t>
        <a:bodyPr/>
        <a:lstStyle/>
        <a:p>
          <a:r>
            <a:rPr lang="zh-CN" b="1">
              <a:latin typeface="+mj-ea"/>
              <a:ea typeface="+mj-ea"/>
            </a:rPr>
            <a:t>预测冲减 </a:t>
          </a:r>
          <a:endParaRPr lang="zh-CN">
            <a:latin typeface="+mj-ea"/>
            <a:ea typeface="+mj-ea"/>
          </a:endParaRPr>
        </a:p>
      </dgm:t>
    </dgm:pt>
    <dgm:pt modelId="{51E45D78-8CD0-410E-801E-D8A8404A8632}" type="parTrans" cxnId="{1DF57EFD-C843-4718-ACAE-F6710124919C}">
      <dgm:prSet/>
      <dgm:spPr/>
      <dgm:t>
        <a:bodyPr/>
        <a:lstStyle/>
        <a:p>
          <a:endParaRPr lang="zh-CN" altLang="en-US">
            <a:latin typeface="+mj-ea"/>
            <a:ea typeface="+mj-ea"/>
          </a:endParaRPr>
        </a:p>
      </dgm:t>
    </dgm:pt>
    <dgm:pt modelId="{BE25C9B9-FD0D-4ED3-A698-E882BFF264F8}" type="sibTrans" cxnId="{1DF57EFD-C843-4718-ACAE-F6710124919C}">
      <dgm:prSet/>
      <dgm:spPr/>
      <dgm:t>
        <a:bodyPr/>
        <a:lstStyle/>
        <a:p>
          <a:endParaRPr lang="zh-CN" altLang="en-US">
            <a:latin typeface="+mj-ea"/>
            <a:ea typeface="+mj-ea"/>
          </a:endParaRPr>
        </a:p>
      </dgm:t>
    </dgm:pt>
    <dgm:pt modelId="{C00B0A5B-553E-4FBF-A641-8D79A28BFA4B}">
      <dgm:prSet/>
      <dgm:spPr/>
      <dgm:t>
        <a:bodyPr/>
        <a:lstStyle/>
        <a:p>
          <a:r>
            <a:rPr lang="zh-CN" b="1" dirty="0">
              <a:latin typeface="+mj-ea"/>
              <a:ea typeface="+mj-ea"/>
            </a:rPr>
            <a:t>当针对某产品系列，成品或者组件做预测和实际订单冲减时，要匹配相同的客户或者相同地区等</a:t>
          </a:r>
          <a:endParaRPr lang="zh-CN" dirty="0">
            <a:latin typeface="+mj-ea"/>
            <a:ea typeface="+mj-ea"/>
          </a:endParaRPr>
        </a:p>
      </dgm:t>
    </dgm:pt>
    <dgm:pt modelId="{C0B93D78-C1DC-4026-A950-D4BFA1F322BF}" type="parTrans" cxnId="{D4B1E923-69C3-4930-90B3-CF5DD6C0E7B1}">
      <dgm:prSet/>
      <dgm:spPr/>
      <dgm:t>
        <a:bodyPr/>
        <a:lstStyle/>
        <a:p>
          <a:endParaRPr lang="zh-CN" altLang="en-US">
            <a:latin typeface="+mj-ea"/>
            <a:ea typeface="+mj-ea"/>
          </a:endParaRPr>
        </a:p>
      </dgm:t>
    </dgm:pt>
    <dgm:pt modelId="{1B6579C4-C121-42C8-BC06-10A14966359A}" type="sibTrans" cxnId="{D4B1E923-69C3-4930-90B3-CF5DD6C0E7B1}">
      <dgm:prSet/>
      <dgm:spPr/>
      <dgm:t>
        <a:bodyPr/>
        <a:lstStyle/>
        <a:p>
          <a:endParaRPr lang="zh-CN" altLang="en-US">
            <a:latin typeface="+mj-ea"/>
            <a:ea typeface="+mj-ea"/>
          </a:endParaRPr>
        </a:p>
      </dgm:t>
    </dgm:pt>
    <dgm:pt modelId="{6E083C27-59AE-469D-B27E-79BED80FD3AF}">
      <dgm:prSet/>
      <dgm:spPr/>
      <dgm:t>
        <a:bodyPr/>
        <a:lstStyle/>
        <a:p>
          <a:r>
            <a:rPr lang="zh-CN" b="1">
              <a:latin typeface="+mj-ea"/>
              <a:ea typeface="+mj-ea"/>
            </a:rPr>
            <a:t>供应选择 </a:t>
          </a:r>
          <a:endParaRPr lang="zh-CN">
            <a:latin typeface="+mj-ea"/>
            <a:ea typeface="+mj-ea"/>
          </a:endParaRPr>
        </a:p>
      </dgm:t>
    </dgm:pt>
    <dgm:pt modelId="{47DE3305-3158-4058-8199-EC7459ED9075}" type="parTrans" cxnId="{E33FDDF9-7D66-46B0-8638-440CCBF859AF}">
      <dgm:prSet/>
      <dgm:spPr/>
      <dgm:t>
        <a:bodyPr/>
        <a:lstStyle/>
        <a:p>
          <a:endParaRPr lang="zh-CN" altLang="en-US">
            <a:latin typeface="+mj-ea"/>
            <a:ea typeface="+mj-ea"/>
          </a:endParaRPr>
        </a:p>
      </dgm:t>
    </dgm:pt>
    <dgm:pt modelId="{B49FFA43-9FC8-4195-A374-35D0925AC587}" type="sibTrans" cxnId="{E33FDDF9-7D66-46B0-8638-440CCBF859AF}">
      <dgm:prSet/>
      <dgm:spPr/>
      <dgm:t>
        <a:bodyPr/>
        <a:lstStyle/>
        <a:p>
          <a:endParaRPr lang="zh-CN" altLang="en-US">
            <a:latin typeface="+mj-ea"/>
            <a:ea typeface="+mj-ea"/>
          </a:endParaRPr>
        </a:p>
      </dgm:t>
    </dgm:pt>
    <dgm:pt modelId="{5F2EB5F8-F41F-4033-9D91-4A4BFDD3098C}">
      <dgm:prSet/>
      <dgm:spPr/>
      <dgm:t>
        <a:bodyPr/>
        <a:lstStyle/>
        <a:p>
          <a:pPr algn="l"/>
          <a:r>
            <a:rPr lang="zh-CN" b="1">
              <a:latin typeface="+mj-ea"/>
              <a:ea typeface="+mj-ea"/>
            </a:rPr>
            <a:t>某些客户只接受某些工厂的产成品；某些客户只接受某些供应商的原材或者组件；某些客户只接受指定产地的原材，组件等等</a:t>
          </a:r>
          <a:endParaRPr lang="zh-CN">
            <a:latin typeface="+mj-ea"/>
            <a:ea typeface="+mj-ea"/>
          </a:endParaRPr>
        </a:p>
      </dgm:t>
    </dgm:pt>
    <dgm:pt modelId="{A5FE3502-978B-43AC-9C5F-78D84B23AE46}" type="parTrans" cxnId="{D56A34B0-A3B7-40D1-8083-45EEC22CF7AC}">
      <dgm:prSet/>
      <dgm:spPr/>
      <dgm:t>
        <a:bodyPr/>
        <a:lstStyle/>
        <a:p>
          <a:endParaRPr lang="zh-CN" altLang="en-US">
            <a:latin typeface="+mj-ea"/>
            <a:ea typeface="+mj-ea"/>
          </a:endParaRPr>
        </a:p>
      </dgm:t>
    </dgm:pt>
    <dgm:pt modelId="{B231385F-E41A-425D-97C7-6BBD1341DD2B}" type="sibTrans" cxnId="{D56A34B0-A3B7-40D1-8083-45EEC22CF7AC}">
      <dgm:prSet/>
      <dgm:spPr/>
      <dgm:t>
        <a:bodyPr/>
        <a:lstStyle/>
        <a:p>
          <a:endParaRPr lang="zh-CN" altLang="en-US">
            <a:latin typeface="+mj-ea"/>
            <a:ea typeface="+mj-ea"/>
          </a:endParaRPr>
        </a:p>
      </dgm:t>
    </dgm:pt>
    <dgm:pt modelId="{FBB53AC4-CC13-4606-B503-327179B8D714}">
      <dgm:prSet/>
      <dgm:spPr/>
      <dgm:t>
        <a:bodyPr/>
        <a:lstStyle/>
        <a:p>
          <a:r>
            <a:rPr lang="en-US" b="1">
              <a:latin typeface="+mj-ea"/>
              <a:ea typeface="+mj-ea"/>
            </a:rPr>
            <a:t>BOM</a:t>
          </a:r>
          <a:r>
            <a:rPr lang="zh-CN" b="1">
              <a:latin typeface="+mj-ea"/>
              <a:ea typeface="+mj-ea"/>
            </a:rPr>
            <a:t>和</a:t>
          </a:r>
          <a:r>
            <a:rPr lang="en-US" b="1">
              <a:latin typeface="+mj-ea"/>
              <a:ea typeface="+mj-ea"/>
            </a:rPr>
            <a:t>Routing</a:t>
          </a:r>
          <a:r>
            <a:rPr lang="zh-CN" b="1">
              <a:latin typeface="+mj-ea"/>
              <a:ea typeface="+mj-ea"/>
            </a:rPr>
            <a:t>的选择 </a:t>
          </a:r>
          <a:endParaRPr lang="zh-CN">
            <a:latin typeface="+mj-ea"/>
            <a:ea typeface="+mj-ea"/>
          </a:endParaRPr>
        </a:p>
      </dgm:t>
    </dgm:pt>
    <dgm:pt modelId="{431B0E3F-9C3D-4A42-9101-236F7EC5B831}" type="parTrans" cxnId="{CFB87168-6475-4580-958A-BED7C887A0E0}">
      <dgm:prSet/>
      <dgm:spPr/>
      <dgm:t>
        <a:bodyPr/>
        <a:lstStyle/>
        <a:p>
          <a:endParaRPr lang="zh-CN" altLang="en-US">
            <a:latin typeface="+mj-ea"/>
            <a:ea typeface="+mj-ea"/>
          </a:endParaRPr>
        </a:p>
      </dgm:t>
    </dgm:pt>
    <dgm:pt modelId="{BBE739CA-5CF2-4228-B819-8F3070A49FDF}" type="sibTrans" cxnId="{CFB87168-6475-4580-958A-BED7C887A0E0}">
      <dgm:prSet/>
      <dgm:spPr/>
      <dgm:t>
        <a:bodyPr/>
        <a:lstStyle/>
        <a:p>
          <a:endParaRPr lang="zh-CN" altLang="en-US">
            <a:latin typeface="+mj-ea"/>
            <a:ea typeface="+mj-ea"/>
          </a:endParaRPr>
        </a:p>
      </dgm:t>
    </dgm:pt>
    <dgm:pt modelId="{392BA46D-A8F9-4E27-BD4D-94CB84054E02}">
      <dgm:prSet/>
      <dgm:spPr/>
      <dgm:t>
        <a:bodyPr/>
        <a:lstStyle/>
        <a:p>
          <a:r>
            <a:rPr lang="zh-CN" b="1">
              <a:latin typeface="+mj-ea"/>
              <a:ea typeface="+mj-ea"/>
            </a:rPr>
            <a:t>某些客户只接受产品系列中的某些选项，某些替换料，某条产线</a:t>
          </a:r>
          <a:endParaRPr lang="zh-CN">
            <a:latin typeface="+mj-ea"/>
            <a:ea typeface="+mj-ea"/>
          </a:endParaRPr>
        </a:p>
      </dgm:t>
    </dgm:pt>
    <dgm:pt modelId="{73F179CB-1A58-4D79-AB29-1F9EB3EB6098}" type="parTrans" cxnId="{0CD867A7-2233-4653-A89F-621F96DA07CA}">
      <dgm:prSet/>
      <dgm:spPr/>
      <dgm:t>
        <a:bodyPr/>
        <a:lstStyle/>
        <a:p>
          <a:endParaRPr lang="zh-CN" altLang="en-US">
            <a:latin typeface="+mj-ea"/>
            <a:ea typeface="+mj-ea"/>
          </a:endParaRPr>
        </a:p>
      </dgm:t>
    </dgm:pt>
    <dgm:pt modelId="{75111269-FEDD-4749-809E-2842B28A9069}" type="sibTrans" cxnId="{0CD867A7-2233-4653-A89F-621F96DA07CA}">
      <dgm:prSet/>
      <dgm:spPr/>
      <dgm:t>
        <a:bodyPr/>
        <a:lstStyle/>
        <a:p>
          <a:endParaRPr lang="zh-CN" altLang="en-US">
            <a:latin typeface="+mj-ea"/>
            <a:ea typeface="+mj-ea"/>
          </a:endParaRPr>
        </a:p>
      </dgm:t>
    </dgm:pt>
    <dgm:pt modelId="{0763835F-4F05-4025-B0C3-C34658CB138E}">
      <dgm:prSet/>
      <dgm:spPr/>
      <dgm:t>
        <a:bodyPr/>
        <a:lstStyle/>
        <a:p>
          <a:r>
            <a:rPr lang="zh-CN" b="1">
              <a:latin typeface="+mj-ea"/>
              <a:ea typeface="+mj-ea"/>
            </a:rPr>
            <a:t>分档分类 </a:t>
          </a:r>
          <a:endParaRPr lang="zh-CN">
            <a:latin typeface="+mj-ea"/>
            <a:ea typeface="+mj-ea"/>
          </a:endParaRPr>
        </a:p>
      </dgm:t>
    </dgm:pt>
    <dgm:pt modelId="{E2119266-487F-4CE9-A311-76DC21BAA3F1}" type="parTrans" cxnId="{D2ECAE1A-5BA7-433B-8F59-B0275D9450F4}">
      <dgm:prSet/>
      <dgm:spPr/>
      <dgm:t>
        <a:bodyPr/>
        <a:lstStyle/>
        <a:p>
          <a:endParaRPr lang="zh-CN" altLang="en-US">
            <a:latin typeface="+mj-ea"/>
            <a:ea typeface="+mj-ea"/>
          </a:endParaRPr>
        </a:p>
      </dgm:t>
    </dgm:pt>
    <dgm:pt modelId="{81A49094-C2ED-4C45-A219-02EF9E261DDC}" type="sibTrans" cxnId="{D2ECAE1A-5BA7-433B-8F59-B0275D9450F4}">
      <dgm:prSet/>
      <dgm:spPr/>
      <dgm:t>
        <a:bodyPr/>
        <a:lstStyle/>
        <a:p>
          <a:endParaRPr lang="zh-CN" altLang="en-US">
            <a:latin typeface="+mj-ea"/>
            <a:ea typeface="+mj-ea"/>
          </a:endParaRPr>
        </a:p>
      </dgm:t>
    </dgm:pt>
    <dgm:pt modelId="{C65D6D9B-1FFC-44F3-AB66-DB0AD4B23AD7}">
      <dgm:prSet/>
      <dgm:spPr/>
      <dgm:t>
        <a:bodyPr/>
        <a:lstStyle/>
        <a:p>
          <a:r>
            <a:rPr lang="zh-CN" b="1" dirty="0">
              <a:latin typeface="+mj-ea"/>
              <a:ea typeface="+mj-ea"/>
            </a:rPr>
            <a:t>一个工艺路线可以产生多个等级的产品，如原油可以加工出汽油，煤油和凡士林；如芯片可以同时加工出不同功率；食品加工出深蓝和浅蓝的蛋糕；用户可接受某一等级范围，例如芯片大于等于</a:t>
          </a:r>
          <a:r>
            <a:rPr lang="en-US" b="1" dirty="0">
              <a:latin typeface="+mj-ea"/>
              <a:ea typeface="+mj-ea"/>
            </a:rPr>
            <a:t>166Mhz.</a:t>
          </a:r>
          <a:endParaRPr lang="zh-CN" dirty="0">
            <a:latin typeface="+mj-ea"/>
            <a:ea typeface="+mj-ea"/>
          </a:endParaRPr>
        </a:p>
      </dgm:t>
    </dgm:pt>
    <dgm:pt modelId="{5C104F88-CC15-427A-B9E0-1E420C4933A5}" type="parTrans" cxnId="{758D1FD4-FDFA-4CCD-8372-69834A9C6B23}">
      <dgm:prSet/>
      <dgm:spPr/>
      <dgm:t>
        <a:bodyPr/>
        <a:lstStyle/>
        <a:p>
          <a:endParaRPr lang="zh-CN" altLang="en-US">
            <a:latin typeface="+mj-ea"/>
            <a:ea typeface="+mj-ea"/>
          </a:endParaRPr>
        </a:p>
      </dgm:t>
    </dgm:pt>
    <dgm:pt modelId="{F5F2EF74-4D5F-4D74-897D-1536198E391B}" type="sibTrans" cxnId="{758D1FD4-FDFA-4CCD-8372-69834A9C6B23}">
      <dgm:prSet/>
      <dgm:spPr/>
      <dgm:t>
        <a:bodyPr/>
        <a:lstStyle/>
        <a:p>
          <a:endParaRPr lang="zh-CN" altLang="en-US">
            <a:latin typeface="+mj-ea"/>
            <a:ea typeface="+mj-ea"/>
          </a:endParaRPr>
        </a:p>
      </dgm:t>
    </dgm:pt>
    <dgm:pt modelId="{4BCA9CE4-8427-48EA-ABEF-70657C56FF5D}">
      <dgm:prSet/>
      <dgm:spPr/>
      <dgm:t>
        <a:bodyPr/>
        <a:lstStyle/>
        <a:p>
          <a:r>
            <a:rPr lang="zh-CN" b="1">
              <a:latin typeface="+mj-ea"/>
              <a:ea typeface="+mj-ea"/>
            </a:rPr>
            <a:t>价值流 </a:t>
          </a:r>
          <a:endParaRPr lang="zh-CN">
            <a:latin typeface="+mj-ea"/>
            <a:ea typeface="+mj-ea"/>
          </a:endParaRPr>
        </a:p>
      </dgm:t>
    </dgm:pt>
    <dgm:pt modelId="{6006803F-EBB3-4960-9A2A-CA85DA91B02B}" type="parTrans" cxnId="{4716C294-D87B-4146-AF55-21F1D9CCB6A6}">
      <dgm:prSet/>
      <dgm:spPr/>
      <dgm:t>
        <a:bodyPr/>
        <a:lstStyle/>
        <a:p>
          <a:endParaRPr lang="zh-CN" altLang="en-US">
            <a:latin typeface="+mj-ea"/>
            <a:ea typeface="+mj-ea"/>
          </a:endParaRPr>
        </a:p>
      </dgm:t>
    </dgm:pt>
    <dgm:pt modelId="{28C07AB1-1776-4A19-B6A3-8BC6BBD8095D}" type="sibTrans" cxnId="{4716C294-D87B-4146-AF55-21F1D9CCB6A6}">
      <dgm:prSet/>
      <dgm:spPr/>
      <dgm:t>
        <a:bodyPr/>
        <a:lstStyle/>
        <a:p>
          <a:endParaRPr lang="zh-CN" altLang="en-US">
            <a:latin typeface="+mj-ea"/>
            <a:ea typeface="+mj-ea"/>
          </a:endParaRPr>
        </a:p>
      </dgm:t>
    </dgm:pt>
    <dgm:pt modelId="{F47A7546-3E99-49C6-B6BE-5004AFE6EC52}">
      <dgm:prSet/>
      <dgm:spPr/>
      <dgm:t>
        <a:bodyPr/>
        <a:lstStyle/>
        <a:p>
          <a:r>
            <a:rPr lang="zh-CN" b="1">
              <a:latin typeface="+mj-ea"/>
              <a:ea typeface="+mj-ea"/>
            </a:rPr>
            <a:t>有一些组件，半成品可以继续生产出产生品也可以直接销售，如何区分出不同的价值流；在新品测试阶段，某些半成品生产之后只能流向制定线体，而在可发货阶段，半成品直接流入其对应的总装；</a:t>
          </a:r>
          <a:endParaRPr lang="zh-CN">
            <a:latin typeface="+mj-ea"/>
            <a:ea typeface="+mj-ea"/>
          </a:endParaRPr>
        </a:p>
      </dgm:t>
    </dgm:pt>
    <dgm:pt modelId="{2F979DD3-4E20-4DB4-AF74-341D2F7E920F}" type="parTrans" cxnId="{030BF3F7-9CA2-4FE5-8A4D-A15D57B4A6C7}">
      <dgm:prSet/>
      <dgm:spPr/>
      <dgm:t>
        <a:bodyPr/>
        <a:lstStyle/>
        <a:p>
          <a:endParaRPr lang="zh-CN" altLang="en-US">
            <a:latin typeface="+mj-ea"/>
            <a:ea typeface="+mj-ea"/>
          </a:endParaRPr>
        </a:p>
      </dgm:t>
    </dgm:pt>
    <dgm:pt modelId="{79200F3E-625B-41E5-907E-26BF72C038E0}" type="sibTrans" cxnId="{030BF3F7-9CA2-4FE5-8A4D-A15D57B4A6C7}">
      <dgm:prSet/>
      <dgm:spPr/>
      <dgm:t>
        <a:bodyPr/>
        <a:lstStyle/>
        <a:p>
          <a:endParaRPr lang="zh-CN" altLang="en-US">
            <a:latin typeface="+mj-ea"/>
            <a:ea typeface="+mj-ea"/>
          </a:endParaRPr>
        </a:p>
      </dgm:t>
    </dgm:pt>
    <dgm:pt modelId="{B9FEC37D-25EA-485B-B862-B91782C9DD37}">
      <dgm:prSet/>
      <dgm:spPr/>
      <dgm:t>
        <a:bodyPr/>
        <a:lstStyle/>
        <a:p>
          <a:r>
            <a:rPr lang="en-US" b="1" dirty="0">
              <a:latin typeface="+mj-ea"/>
              <a:ea typeface="+mj-ea"/>
            </a:rPr>
            <a:t>ATO/MTO</a:t>
          </a:r>
          <a:r>
            <a:rPr lang="zh-CN" dirty="0">
              <a:latin typeface="+mj-ea"/>
              <a:ea typeface="+mj-ea"/>
            </a:rPr>
            <a:t> </a:t>
          </a:r>
        </a:p>
      </dgm:t>
    </dgm:pt>
    <dgm:pt modelId="{60B556EC-6D3D-48BF-AD3C-A586A87FAF4C}" type="parTrans" cxnId="{F4A3F966-8A7D-4C24-BA33-1335DC422E0B}">
      <dgm:prSet/>
      <dgm:spPr/>
      <dgm:t>
        <a:bodyPr/>
        <a:lstStyle/>
        <a:p>
          <a:endParaRPr lang="zh-CN" altLang="en-US">
            <a:latin typeface="+mj-ea"/>
            <a:ea typeface="+mj-ea"/>
          </a:endParaRPr>
        </a:p>
      </dgm:t>
    </dgm:pt>
    <dgm:pt modelId="{26C67A30-1F4B-4C23-8DBE-94CD1D218F81}" type="sibTrans" cxnId="{F4A3F966-8A7D-4C24-BA33-1335DC422E0B}">
      <dgm:prSet/>
      <dgm:spPr/>
      <dgm:t>
        <a:bodyPr/>
        <a:lstStyle/>
        <a:p>
          <a:endParaRPr lang="zh-CN" altLang="en-US">
            <a:latin typeface="+mj-ea"/>
            <a:ea typeface="+mj-ea"/>
          </a:endParaRPr>
        </a:p>
      </dgm:t>
    </dgm:pt>
    <dgm:pt modelId="{43BBC6FA-5A81-4BD6-BB79-FC421416D794}">
      <dgm:prSet/>
      <dgm:spPr/>
      <dgm:t>
        <a:bodyPr/>
        <a:lstStyle/>
        <a:p>
          <a:r>
            <a:rPr lang="zh-CN">
              <a:latin typeface="+mj-ea"/>
              <a:ea typeface="+mj-ea"/>
            </a:rPr>
            <a:t>为响应市场，企业在不断地扩展产品线，往往制造策略会从</a:t>
          </a:r>
          <a:r>
            <a:rPr lang="en-US">
              <a:latin typeface="+mj-ea"/>
              <a:ea typeface="+mj-ea"/>
            </a:rPr>
            <a:t>MTS</a:t>
          </a:r>
          <a:r>
            <a:rPr lang="zh-CN">
              <a:latin typeface="+mj-ea"/>
              <a:ea typeface="+mj-ea"/>
            </a:rPr>
            <a:t>转向</a:t>
          </a:r>
          <a:r>
            <a:rPr lang="en-US">
              <a:latin typeface="+mj-ea"/>
              <a:ea typeface="+mj-ea"/>
            </a:rPr>
            <a:t>ATO/MTO. </a:t>
          </a:r>
          <a:r>
            <a:rPr lang="zh-CN">
              <a:latin typeface="+mj-ea"/>
              <a:ea typeface="+mj-ea"/>
            </a:rPr>
            <a:t>如何方便的做预测，如何方便订单执行与计划匹配成为挑战（如果针对成品</a:t>
          </a:r>
          <a:r>
            <a:rPr lang="en-US">
              <a:latin typeface="+mj-ea"/>
              <a:ea typeface="+mj-ea"/>
            </a:rPr>
            <a:t>SKU</a:t>
          </a:r>
          <a:r>
            <a:rPr lang="zh-CN">
              <a:latin typeface="+mj-ea"/>
              <a:ea typeface="+mj-ea"/>
            </a:rPr>
            <a:t>创建</a:t>
          </a:r>
          <a:r>
            <a:rPr lang="en-US">
              <a:latin typeface="+mj-ea"/>
              <a:ea typeface="+mj-ea"/>
            </a:rPr>
            <a:t>BOM</a:t>
          </a:r>
          <a:r>
            <a:rPr lang="zh-CN">
              <a:latin typeface="+mj-ea"/>
              <a:ea typeface="+mj-ea"/>
            </a:rPr>
            <a:t>那将是可选项累成的数量级）</a:t>
          </a:r>
        </a:p>
      </dgm:t>
    </dgm:pt>
    <dgm:pt modelId="{CE7BC3B1-86F7-4BA9-A5A4-3FD0812A095F}" type="parTrans" cxnId="{0BE4C4E0-E8FB-4117-89E5-8B808C9BDE38}">
      <dgm:prSet/>
      <dgm:spPr/>
      <dgm:t>
        <a:bodyPr/>
        <a:lstStyle/>
        <a:p>
          <a:endParaRPr lang="zh-CN" altLang="en-US">
            <a:latin typeface="+mj-ea"/>
            <a:ea typeface="+mj-ea"/>
          </a:endParaRPr>
        </a:p>
      </dgm:t>
    </dgm:pt>
    <dgm:pt modelId="{EAA4F532-8D39-470D-94DB-FE7A6C7A1A1F}" type="sibTrans" cxnId="{0BE4C4E0-E8FB-4117-89E5-8B808C9BDE38}">
      <dgm:prSet/>
      <dgm:spPr/>
      <dgm:t>
        <a:bodyPr/>
        <a:lstStyle/>
        <a:p>
          <a:endParaRPr lang="zh-CN" altLang="en-US">
            <a:latin typeface="+mj-ea"/>
            <a:ea typeface="+mj-ea"/>
          </a:endParaRPr>
        </a:p>
      </dgm:t>
    </dgm:pt>
    <dgm:pt modelId="{C499E392-3BFF-4786-8B99-18430E25181D}">
      <dgm:prSet/>
      <dgm:spPr/>
      <dgm:t>
        <a:bodyPr/>
        <a:lstStyle/>
        <a:p>
          <a:r>
            <a:rPr lang="zh-CN" b="1" dirty="0">
              <a:latin typeface="+mj-ea"/>
              <a:ea typeface="+mj-ea"/>
            </a:rPr>
            <a:t>降级选用</a:t>
          </a:r>
          <a:endParaRPr lang="zh-CN" dirty="0">
            <a:latin typeface="+mj-ea"/>
            <a:ea typeface="+mj-ea"/>
          </a:endParaRPr>
        </a:p>
      </dgm:t>
    </dgm:pt>
    <dgm:pt modelId="{C05CA4A6-EFC8-4501-A1E8-90A7D133B97B}" type="parTrans" cxnId="{260FABD6-CA0F-401C-B92E-D5FF912F3B5A}">
      <dgm:prSet/>
      <dgm:spPr/>
      <dgm:t>
        <a:bodyPr/>
        <a:lstStyle/>
        <a:p>
          <a:endParaRPr lang="zh-CN" altLang="en-US">
            <a:latin typeface="+mj-ea"/>
            <a:ea typeface="+mj-ea"/>
          </a:endParaRPr>
        </a:p>
      </dgm:t>
    </dgm:pt>
    <dgm:pt modelId="{0E7985AA-DDC2-419B-9389-3642F8B386BF}" type="sibTrans" cxnId="{260FABD6-CA0F-401C-B92E-D5FF912F3B5A}">
      <dgm:prSet/>
      <dgm:spPr/>
      <dgm:t>
        <a:bodyPr/>
        <a:lstStyle/>
        <a:p>
          <a:endParaRPr lang="zh-CN" altLang="en-US">
            <a:latin typeface="+mj-ea"/>
            <a:ea typeface="+mj-ea"/>
          </a:endParaRPr>
        </a:p>
      </dgm:t>
    </dgm:pt>
    <dgm:pt modelId="{832E7D9B-E9F4-4AD5-9CC4-82ECA718A70D}">
      <dgm:prSet/>
      <dgm:spPr/>
      <dgm:t>
        <a:bodyPr/>
        <a:lstStyle/>
        <a:p>
          <a:r>
            <a:rPr lang="zh-CN">
              <a:latin typeface="+mj-ea"/>
              <a:ea typeface="+mj-ea"/>
            </a:rPr>
            <a:t>降级使用允许在需要时，使用更高等级的零件来满足对较低等级零件的需求。</a:t>
          </a:r>
        </a:p>
      </dgm:t>
    </dgm:pt>
    <dgm:pt modelId="{A0EFD748-3E05-495E-B630-95ED0BD1B2AF}" type="parTrans" cxnId="{9BEFB96C-3E42-42CD-8B4F-7D2264BDA98D}">
      <dgm:prSet/>
      <dgm:spPr/>
      <dgm:t>
        <a:bodyPr/>
        <a:lstStyle/>
        <a:p>
          <a:endParaRPr lang="zh-CN" altLang="en-US">
            <a:latin typeface="+mj-ea"/>
            <a:ea typeface="+mj-ea"/>
          </a:endParaRPr>
        </a:p>
      </dgm:t>
    </dgm:pt>
    <dgm:pt modelId="{638CF464-E4A3-42FF-914D-3FDC8AA27F49}" type="sibTrans" cxnId="{9BEFB96C-3E42-42CD-8B4F-7D2264BDA98D}">
      <dgm:prSet/>
      <dgm:spPr/>
      <dgm:t>
        <a:bodyPr/>
        <a:lstStyle/>
        <a:p>
          <a:endParaRPr lang="zh-CN" altLang="en-US">
            <a:latin typeface="+mj-ea"/>
            <a:ea typeface="+mj-ea"/>
          </a:endParaRPr>
        </a:p>
      </dgm:t>
    </dgm:pt>
    <dgm:pt modelId="{4CDB5D44-4728-4DB0-ACC5-AEAA94DD52D8}" type="pres">
      <dgm:prSet presAssocID="{34E9E3F7-F17B-4340-83E8-092ECE1BA6A7}" presName="vert0" presStyleCnt="0">
        <dgm:presLayoutVars>
          <dgm:dir/>
          <dgm:animOne val="branch"/>
          <dgm:animLvl val="lvl"/>
        </dgm:presLayoutVars>
      </dgm:prSet>
      <dgm:spPr/>
    </dgm:pt>
    <dgm:pt modelId="{E69B6CA2-BA2B-4B6D-88EF-2E79554CCF64}" type="pres">
      <dgm:prSet presAssocID="{155975C7-EE2F-4490-B653-1CBCACEB44E2}" presName="thickLine" presStyleLbl="alignNode1" presStyleIdx="0" presStyleCnt="8"/>
      <dgm:spPr/>
    </dgm:pt>
    <dgm:pt modelId="{D9AA903C-E4F5-49D9-9862-F68301B9DF5F}" type="pres">
      <dgm:prSet presAssocID="{155975C7-EE2F-4490-B653-1CBCACEB44E2}" presName="horz1" presStyleCnt="0"/>
      <dgm:spPr/>
    </dgm:pt>
    <dgm:pt modelId="{4D8CA52D-F5E2-49FE-8DAD-D65E24D20B4F}" type="pres">
      <dgm:prSet presAssocID="{155975C7-EE2F-4490-B653-1CBCACEB44E2}" presName="tx1" presStyleLbl="revTx" presStyleIdx="0" presStyleCnt="16"/>
      <dgm:spPr/>
    </dgm:pt>
    <dgm:pt modelId="{4596CA93-2B56-4767-932F-9F36D308483A}" type="pres">
      <dgm:prSet presAssocID="{155975C7-EE2F-4490-B653-1CBCACEB44E2}" presName="vert1" presStyleCnt="0"/>
      <dgm:spPr/>
    </dgm:pt>
    <dgm:pt modelId="{974E2B9E-1BEF-4C56-AF6C-5E39FD7DBB0C}" type="pres">
      <dgm:prSet presAssocID="{C1558CA7-07E0-467C-99EA-F842C016D964}" presName="vertSpace2a" presStyleCnt="0"/>
      <dgm:spPr/>
    </dgm:pt>
    <dgm:pt modelId="{F08D1E11-0974-4D50-980B-22D1588B3D70}" type="pres">
      <dgm:prSet presAssocID="{C1558CA7-07E0-467C-99EA-F842C016D964}" presName="horz2" presStyleCnt="0"/>
      <dgm:spPr/>
    </dgm:pt>
    <dgm:pt modelId="{59E84954-B63C-41D8-9386-8511BD864726}" type="pres">
      <dgm:prSet presAssocID="{C1558CA7-07E0-467C-99EA-F842C016D964}" presName="horzSpace2" presStyleCnt="0"/>
      <dgm:spPr/>
    </dgm:pt>
    <dgm:pt modelId="{D782E8DF-0FD3-427C-9736-F0C7F474C7E3}" type="pres">
      <dgm:prSet presAssocID="{C1558CA7-07E0-467C-99EA-F842C016D964}" presName="tx2" presStyleLbl="revTx" presStyleIdx="1" presStyleCnt="16"/>
      <dgm:spPr/>
    </dgm:pt>
    <dgm:pt modelId="{A099E37D-0674-45B7-8680-718A42D1BFE6}" type="pres">
      <dgm:prSet presAssocID="{C1558CA7-07E0-467C-99EA-F842C016D964}" presName="vert2" presStyleCnt="0"/>
      <dgm:spPr/>
    </dgm:pt>
    <dgm:pt modelId="{B49AD372-8C98-46F0-9757-83E304BAB9F0}" type="pres">
      <dgm:prSet presAssocID="{C1558CA7-07E0-467C-99EA-F842C016D964}" presName="thinLine2b" presStyleLbl="callout" presStyleIdx="0" presStyleCnt="8"/>
      <dgm:spPr/>
    </dgm:pt>
    <dgm:pt modelId="{82829B75-789D-4938-B669-1D8D16005787}" type="pres">
      <dgm:prSet presAssocID="{C1558CA7-07E0-467C-99EA-F842C016D964}" presName="vertSpace2b" presStyleCnt="0"/>
      <dgm:spPr/>
    </dgm:pt>
    <dgm:pt modelId="{BC8E9086-57FB-4995-97EE-9D795EA22599}" type="pres">
      <dgm:prSet presAssocID="{BDF52988-7751-4127-98AB-EDA42B54493D}" presName="thickLine" presStyleLbl="alignNode1" presStyleIdx="1" presStyleCnt="8"/>
      <dgm:spPr/>
    </dgm:pt>
    <dgm:pt modelId="{B1540BD8-D6EB-471E-87FC-24478A3F24A6}" type="pres">
      <dgm:prSet presAssocID="{BDF52988-7751-4127-98AB-EDA42B54493D}" presName="horz1" presStyleCnt="0"/>
      <dgm:spPr/>
    </dgm:pt>
    <dgm:pt modelId="{0B4BE777-73BF-4E3D-AC5D-53DB54B9318C}" type="pres">
      <dgm:prSet presAssocID="{BDF52988-7751-4127-98AB-EDA42B54493D}" presName="tx1" presStyleLbl="revTx" presStyleIdx="2" presStyleCnt="16"/>
      <dgm:spPr/>
    </dgm:pt>
    <dgm:pt modelId="{18A65EFC-BF39-4EB4-9A8B-0E7DE59D3C14}" type="pres">
      <dgm:prSet presAssocID="{BDF52988-7751-4127-98AB-EDA42B54493D}" presName="vert1" presStyleCnt="0"/>
      <dgm:spPr/>
    </dgm:pt>
    <dgm:pt modelId="{C1F50F08-61DF-4BF4-911B-63F1950EC2AC}" type="pres">
      <dgm:prSet presAssocID="{C00B0A5B-553E-4FBF-A641-8D79A28BFA4B}" presName="vertSpace2a" presStyleCnt="0"/>
      <dgm:spPr/>
    </dgm:pt>
    <dgm:pt modelId="{9963243F-09C3-4DF9-80B8-13C70F70D867}" type="pres">
      <dgm:prSet presAssocID="{C00B0A5B-553E-4FBF-A641-8D79A28BFA4B}" presName="horz2" presStyleCnt="0"/>
      <dgm:spPr/>
    </dgm:pt>
    <dgm:pt modelId="{F0C6AEC6-D66E-4015-8A05-1183C3AEFD1E}" type="pres">
      <dgm:prSet presAssocID="{C00B0A5B-553E-4FBF-A641-8D79A28BFA4B}" presName="horzSpace2" presStyleCnt="0"/>
      <dgm:spPr/>
    </dgm:pt>
    <dgm:pt modelId="{6C6C5878-1A13-4799-A9E1-C78372BF709B}" type="pres">
      <dgm:prSet presAssocID="{C00B0A5B-553E-4FBF-A641-8D79A28BFA4B}" presName="tx2" presStyleLbl="revTx" presStyleIdx="3" presStyleCnt="16"/>
      <dgm:spPr/>
    </dgm:pt>
    <dgm:pt modelId="{8265944D-8398-4872-B299-9712C32B77D1}" type="pres">
      <dgm:prSet presAssocID="{C00B0A5B-553E-4FBF-A641-8D79A28BFA4B}" presName="vert2" presStyleCnt="0"/>
      <dgm:spPr/>
    </dgm:pt>
    <dgm:pt modelId="{450FB1D1-621B-4915-9813-537811FD7D58}" type="pres">
      <dgm:prSet presAssocID="{C00B0A5B-553E-4FBF-A641-8D79A28BFA4B}" presName="thinLine2b" presStyleLbl="callout" presStyleIdx="1" presStyleCnt="8"/>
      <dgm:spPr/>
    </dgm:pt>
    <dgm:pt modelId="{E3AD0373-AE6E-419E-9675-5007B6456EB0}" type="pres">
      <dgm:prSet presAssocID="{C00B0A5B-553E-4FBF-A641-8D79A28BFA4B}" presName="vertSpace2b" presStyleCnt="0"/>
      <dgm:spPr/>
    </dgm:pt>
    <dgm:pt modelId="{19FA8657-B158-4A0E-98E2-869168ED0F7C}" type="pres">
      <dgm:prSet presAssocID="{6E083C27-59AE-469D-B27E-79BED80FD3AF}" presName="thickLine" presStyleLbl="alignNode1" presStyleIdx="2" presStyleCnt="8"/>
      <dgm:spPr/>
    </dgm:pt>
    <dgm:pt modelId="{0A65616F-62B7-43CE-ABD1-3374E2265084}" type="pres">
      <dgm:prSet presAssocID="{6E083C27-59AE-469D-B27E-79BED80FD3AF}" presName="horz1" presStyleCnt="0"/>
      <dgm:spPr/>
    </dgm:pt>
    <dgm:pt modelId="{BDEC50A2-48B9-4E6B-AC12-D5AE68E2478B}" type="pres">
      <dgm:prSet presAssocID="{6E083C27-59AE-469D-B27E-79BED80FD3AF}" presName="tx1" presStyleLbl="revTx" presStyleIdx="4" presStyleCnt="16"/>
      <dgm:spPr/>
    </dgm:pt>
    <dgm:pt modelId="{7ACFA639-3D95-4939-B39D-2B4817874FFF}" type="pres">
      <dgm:prSet presAssocID="{6E083C27-59AE-469D-B27E-79BED80FD3AF}" presName="vert1" presStyleCnt="0"/>
      <dgm:spPr/>
    </dgm:pt>
    <dgm:pt modelId="{6DAA7E97-323E-445F-8F44-39F0A74548ED}" type="pres">
      <dgm:prSet presAssocID="{5F2EB5F8-F41F-4033-9D91-4A4BFDD3098C}" presName="vertSpace2a" presStyleCnt="0"/>
      <dgm:spPr/>
    </dgm:pt>
    <dgm:pt modelId="{130282E5-B8AD-4DDB-9C86-62441B6F294D}" type="pres">
      <dgm:prSet presAssocID="{5F2EB5F8-F41F-4033-9D91-4A4BFDD3098C}" presName="horz2" presStyleCnt="0"/>
      <dgm:spPr/>
    </dgm:pt>
    <dgm:pt modelId="{0AFB39AE-9BDF-4688-B6B9-6B16B8E587AE}" type="pres">
      <dgm:prSet presAssocID="{5F2EB5F8-F41F-4033-9D91-4A4BFDD3098C}" presName="horzSpace2" presStyleCnt="0"/>
      <dgm:spPr/>
    </dgm:pt>
    <dgm:pt modelId="{58EE20D3-B120-4A5D-A446-7E9433950A0A}" type="pres">
      <dgm:prSet presAssocID="{5F2EB5F8-F41F-4033-9D91-4A4BFDD3098C}" presName="tx2" presStyleLbl="revTx" presStyleIdx="5" presStyleCnt="16"/>
      <dgm:spPr/>
    </dgm:pt>
    <dgm:pt modelId="{B16F0D65-4892-4656-BCFA-58E669EB0CEE}" type="pres">
      <dgm:prSet presAssocID="{5F2EB5F8-F41F-4033-9D91-4A4BFDD3098C}" presName="vert2" presStyleCnt="0"/>
      <dgm:spPr/>
    </dgm:pt>
    <dgm:pt modelId="{24ADEFB8-AA02-49FD-A1A8-987A9246E9C6}" type="pres">
      <dgm:prSet presAssocID="{5F2EB5F8-F41F-4033-9D91-4A4BFDD3098C}" presName="thinLine2b" presStyleLbl="callout" presStyleIdx="2" presStyleCnt="8"/>
      <dgm:spPr/>
    </dgm:pt>
    <dgm:pt modelId="{33B99FFB-13D1-48F1-BAB8-5B26FBA8A4B6}" type="pres">
      <dgm:prSet presAssocID="{5F2EB5F8-F41F-4033-9D91-4A4BFDD3098C}" presName="vertSpace2b" presStyleCnt="0"/>
      <dgm:spPr/>
    </dgm:pt>
    <dgm:pt modelId="{26081DA2-14FB-47AD-BDAF-2AF5C15A72BA}" type="pres">
      <dgm:prSet presAssocID="{FBB53AC4-CC13-4606-B503-327179B8D714}" presName="thickLine" presStyleLbl="alignNode1" presStyleIdx="3" presStyleCnt="8"/>
      <dgm:spPr/>
    </dgm:pt>
    <dgm:pt modelId="{744ADFC5-F739-4E06-8791-84E142FCD4E4}" type="pres">
      <dgm:prSet presAssocID="{FBB53AC4-CC13-4606-B503-327179B8D714}" presName="horz1" presStyleCnt="0"/>
      <dgm:spPr/>
    </dgm:pt>
    <dgm:pt modelId="{077AF4B7-503D-4949-8A66-5D2DBBDAB90A}" type="pres">
      <dgm:prSet presAssocID="{FBB53AC4-CC13-4606-B503-327179B8D714}" presName="tx1" presStyleLbl="revTx" presStyleIdx="6" presStyleCnt="16"/>
      <dgm:spPr/>
    </dgm:pt>
    <dgm:pt modelId="{B13198E5-37AB-4183-9D42-8699B736DE8B}" type="pres">
      <dgm:prSet presAssocID="{FBB53AC4-CC13-4606-B503-327179B8D714}" presName="vert1" presStyleCnt="0"/>
      <dgm:spPr/>
    </dgm:pt>
    <dgm:pt modelId="{093B9DD2-BCFF-4DDD-B90B-183B650AB1C5}" type="pres">
      <dgm:prSet presAssocID="{392BA46D-A8F9-4E27-BD4D-94CB84054E02}" presName="vertSpace2a" presStyleCnt="0"/>
      <dgm:spPr/>
    </dgm:pt>
    <dgm:pt modelId="{8E7AC7BE-9FD6-4FA5-97A3-9711816C23AD}" type="pres">
      <dgm:prSet presAssocID="{392BA46D-A8F9-4E27-BD4D-94CB84054E02}" presName="horz2" presStyleCnt="0"/>
      <dgm:spPr/>
    </dgm:pt>
    <dgm:pt modelId="{939BB2AD-F817-484D-B10B-9F5FC541AC34}" type="pres">
      <dgm:prSet presAssocID="{392BA46D-A8F9-4E27-BD4D-94CB84054E02}" presName="horzSpace2" presStyleCnt="0"/>
      <dgm:spPr/>
    </dgm:pt>
    <dgm:pt modelId="{16863E8E-48E5-4355-A297-CC3DBF7236D0}" type="pres">
      <dgm:prSet presAssocID="{392BA46D-A8F9-4E27-BD4D-94CB84054E02}" presName="tx2" presStyleLbl="revTx" presStyleIdx="7" presStyleCnt="16"/>
      <dgm:spPr/>
    </dgm:pt>
    <dgm:pt modelId="{33FD19AF-C2AE-4F3D-84EA-819807E284BF}" type="pres">
      <dgm:prSet presAssocID="{392BA46D-A8F9-4E27-BD4D-94CB84054E02}" presName="vert2" presStyleCnt="0"/>
      <dgm:spPr/>
    </dgm:pt>
    <dgm:pt modelId="{2E9566D3-9CE5-4942-B644-45282859829C}" type="pres">
      <dgm:prSet presAssocID="{392BA46D-A8F9-4E27-BD4D-94CB84054E02}" presName="thinLine2b" presStyleLbl="callout" presStyleIdx="3" presStyleCnt="8"/>
      <dgm:spPr/>
    </dgm:pt>
    <dgm:pt modelId="{55FA5738-A552-470A-BFCC-131FBF739EA4}" type="pres">
      <dgm:prSet presAssocID="{392BA46D-A8F9-4E27-BD4D-94CB84054E02}" presName="vertSpace2b" presStyleCnt="0"/>
      <dgm:spPr/>
    </dgm:pt>
    <dgm:pt modelId="{FBED7EAE-A363-4123-856A-38C12343775C}" type="pres">
      <dgm:prSet presAssocID="{0763835F-4F05-4025-B0C3-C34658CB138E}" presName="thickLine" presStyleLbl="alignNode1" presStyleIdx="4" presStyleCnt="8"/>
      <dgm:spPr/>
    </dgm:pt>
    <dgm:pt modelId="{146DA6B9-FCC3-48E2-981C-7D49EC97174E}" type="pres">
      <dgm:prSet presAssocID="{0763835F-4F05-4025-B0C3-C34658CB138E}" presName="horz1" presStyleCnt="0"/>
      <dgm:spPr/>
    </dgm:pt>
    <dgm:pt modelId="{EC2B9BBC-75B6-422C-A6E6-5ECC0BDD1D2E}" type="pres">
      <dgm:prSet presAssocID="{0763835F-4F05-4025-B0C3-C34658CB138E}" presName="tx1" presStyleLbl="revTx" presStyleIdx="8" presStyleCnt="16"/>
      <dgm:spPr/>
    </dgm:pt>
    <dgm:pt modelId="{CA40E28A-8DE7-4530-AFB3-96DA98A34C48}" type="pres">
      <dgm:prSet presAssocID="{0763835F-4F05-4025-B0C3-C34658CB138E}" presName="vert1" presStyleCnt="0"/>
      <dgm:spPr/>
    </dgm:pt>
    <dgm:pt modelId="{217A586A-A74E-4280-BEB7-84E0E700F0D8}" type="pres">
      <dgm:prSet presAssocID="{C65D6D9B-1FFC-44F3-AB66-DB0AD4B23AD7}" presName="vertSpace2a" presStyleCnt="0"/>
      <dgm:spPr/>
    </dgm:pt>
    <dgm:pt modelId="{931457E2-9347-4306-925D-7B3FA0F43A48}" type="pres">
      <dgm:prSet presAssocID="{C65D6D9B-1FFC-44F3-AB66-DB0AD4B23AD7}" presName="horz2" presStyleCnt="0"/>
      <dgm:spPr/>
    </dgm:pt>
    <dgm:pt modelId="{AE8C2E1C-676D-46F2-BDDF-53B6A2E0F926}" type="pres">
      <dgm:prSet presAssocID="{C65D6D9B-1FFC-44F3-AB66-DB0AD4B23AD7}" presName="horzSpace2" presStyleCnt="0"/>
      <dgm:spPr/>
    </dgm:pt>
    <dgm:pt modelId="{3B98E71A-3531-406E-9F2F-FB57B1F67B24}" type="pres">
      <dgm:prSet presAssocID="{C65D6D9B-1FFC-44F3-AB66-DB0AD4B23AD7}" presName="tx2" presStyleLbl="revTx" presStyleIdx="9" presStyleCnt="16"/>
      <dgm:spPr/>
    </dgm:pt>
    <dgm:pt modelId="{AAB65AE6-E1C2-4E06-B373-F12E4E6FC434}" type="pres">
      <dgm:prSet presAssocID="{C65D6D9B-1FFC-44F3-AB66-DB0AD4B23AD7}" presName="vert2" presStyleCnt="0"/>
      <dgm:spPr/>
    </dgm:pt>
    <dgm:pt modelId="{3282E641-D5BC-4FF3-B8A7-8890614B2323}" type="pres">
      <dgm:prSet presAssocID="{C65D6D9B-1FFC-44F3-AB66-DB0AD4B23AD7}" presName="thinLine2b" presStyleLbl="callout" presStyleIdx="4" presStyleCnt="8"/>
      <dgm:spPr/>
    </dgm:pt>
    <dgm:pt modelId="{7426EF2A-CEDD-4E3C-9B35-31EB73EE8AEA}" type="pres">
      <dgm:prSet presAssocID="{C65D6D9B-1FFC-44F3-AB66-DB0AD4B23AD7}" presName="vertSpace2b" presStyleCnt="0"/>
      <dgm:spPr/>
    </dgm:pt>
    <dgm:pt modelId="{6F972F5A-DA25-4EBC-B613-C100530CD689}" type="pres">
      <dgm:prSet presAssocID="{4BCA9CE4-8427-48EA-ABEF-70657C56FF5D}" presName="thickLine" presStyleLbl="alignNode1" presStyleIdx="5" presStyleCnt="8"/>
      <dgm:spPr/>
    </dgm:pt>
    <dgm:pt modelId="{BE099E57-3F48-4014-8B1C-EFF73D4B977B}" type="pres">
      <dgm:prSet presAssocID="{4BCA9CE4-8427-48EA-ABEF-70657C56FF5D}" presName="horz1" presStyleCnt="0"/>
      <dgm:spPr/>
    </dgm:pt>
    <dgm:pt modelId="{4979D6A3-4CF8-4C1F-9F2D-F3402B875667}" type="pres">
      <dgm:prSet presAssocID="{4BCA9CE4-8427-48EA-ABEF-70657C56FF5D}" presName="tx1" presStyleLbl="revTx" presStyleIdx="10" presStyleCnt="16"/>
      <dgm:spPr/>
    </dgm:pt>
    <dgm:pt modelId="{2766844A-7591-4FED-89EA-BD1BB918A0A9}" type="pres">
      <dgm:prSet presAssocID="{4BCA9CE4-8427-48EA-ABEF-70657C56FF5D}" presName="vert1" presStyleCnt="0"/>
      <dgm:spPr/>
    </dgm:pt>
    <dgm:pt modelId="{D4790072-CDA2-4309-AA54-BA380C5D2F28}" type="pres">
      <dgm:prSet presAssocID="{F47A7546-3E99-49C6-B6BE-5004AFE6EC52}" presName="vertSpace2a" presStyleCnt="0"/>
      <dgm:spPr/>
    </dgm:pt>
    <dgm:pt modelId="{E5531A98-355E-468A-AA62-5414EE703059}" type="pres">
      <dgm:prSet presAssocID="{F47A7546-3E99-49C6-B6BE-5004AFE6EC52}" presName="horz2" presStyleCnt="0"/>
      <dgm:spPr/>
    </dgm:pt>
    <dgm:pt modelId="{0AEF3058-0158-4BA6-8B20-FEBDD8DD76C7}" type="pres">
      <dgm:prSet presAssocID="{F47A7546-3E99-49C6-B6BE-5004AFE6EC52}" presName="horzSpace2" presStyleCnt="0"/>
      <dgm:spPr/>
    </dgm:pt>
    <dgm:pt modelId="{DEAB29E3-DE93-4BFF-BF38-1D9B406241E3}" type="pres">
      <dgm:prSet presAssocID="{F47A7546-3E99-49C6-B6BE-5004AFE6EC52}" presName="tx2" presStyleLbl="revTx" presStyleIdx="11" presStyleCnt="16"/>
      <dgm:spPr/>
    </dgm:pt>
    <dgm:pt modelId="{8F81AE71-DCD0-4926-8B2E-84308F7EADAE}" type="pres">
      <dgm:prSet presAssocID="{F47A7546-3E99-49C6-B6BE-5004AFE6EC52}" presName="vert2" presStyleCnt="0"/>
      <dgm:spPr/>
    </dgm:pt>
    <dgm:pt modelId="{A9397846-AF93-40B7-BEAC-6B66225BC582}" type="pres">
      <dgm:prSet presAssocID="{F47A7546-3E99-49C6-B6BE-5004AFE6EC52}" presName="thinLine2b" presStyleLbl="callout" presStyleIdx="5" presStyleCnt="8"/>
      <dgm:spPr/>
    </dgm:pt>
    <dgm:pt modelId="{EA2B77CA-4D94-4019-A41C-E7DDAF3347D0}" type="pres">
      <dgm:prSet presAssocID="{F47A7546-3E99-49C6-B6BE-5004AFE6EC52}" presName="vertSpace2b" presStyleCnt="0"/>
      <dgm:spPr/>
    </dgm:pt>
    <dgm:pt modelId="{3522C743-4C99-48F2-BADA-DDD2859CDACA}" type="pres">
      <dgm:prSet presAssocID="{B9FEC37D-25EA-485B-B862-B91782C9DD37}" presName="thickLine" presStyleLbl="alignNode1" presStyleIdx="6" presStyleCnt="8"/>
      <dgm:spPr/>
    </dgm:pt>
    <dgm:pt modelId="{07D336DA-FE6B-4502-8930-42CE9618CD17}" type="pres">
      <dgm:prSet presAssocID="{B9FEC37D-25EA-485B-B862-B91782C9DD37}" presName="horz1" presStyleCnt="0"/>
      <dgm:spPr/>
    </dgm:pt>
    <dgm:pt modelId="{0D8727DE-E62F-46F4-B4B2-45D45B652DAC}" type="pres">
      <dgm:prSet presAssocID="{B9FEC37D-25EA-485B-B862-B91782C9DD37}" presName="tx1" presStyleLbl="revTx" presStyleIdx="12" presStyleCnt="16"/>
      <dgm:spPr/>
    </dgm:pt>
    <dgm:pt modelId="{9409E63C-264E-456A-85B1-E8A0BE5B8183}" type="pres">
      <dgm:prSet presAssocID="{B9FEC37D-25EA-485B-B862-B91782C9DD37}" presName="vert1" presStyleCnt="0"/>
      <dgm:spPr/>
    </dgm:pt>
    <dgm:pt modelId="{1BBFA6D8-7001-42EE-B95F-B9F6BFC4AA91}" type="pres">
      <dgm:prSet presAssocID="{43BBC6FA-5A81-4BD6-BB79-FC421416D794}" presName="vertSpace2a" presStyleCnt="0"/>
      <dgm:spPr/>
    </dgm:pt>
    <dgm:pt modelId="{2DA28750-EEAF-4197-AD60-99F3F963823F}" type="pres">
      <dgm:prSet presAssocID="{43BBC6FA-5A81-4BD6-BB79-FC421416D794}" presName="horz2" presStyleCnt="0"/>
      <dgm:spPr/>
    </dgm:pt>
    <dgm:pt modelId="{7C1E526C-EBD5-4CD1-AE31-C78FA3416136}" type="pres">
      <dgm:prSet presAssocID="{43BBC6FA-5A81-4BD6-BB79-FC421416D794}" presName="horzSpace2" presStyleCnt="0"/>
      <dgm:spPr/>
    </dgm:pt>
    <dgm:pt modelId="{6368106C-2B2A-47DD-B3E2-8EE48BF99B00}" type="pres">
      <dgm:prSet presAssocID="{43BBC6FA-5A81-4BD6-BB79-FC421416D794}" presName="tx2" presStyleLbl="revTx" presStyleIdx="13" presStyleCnt="16"/>
      <dgm:spPr/>
    </dgm:pt>
    <dgm:pt modelId="{2C54B499-57A8-4F5F-A880-8D6C8FDBC0F1}" type="pres">
      <dgm:prSet presAssocID="{43BBC6FA-5A81-4BD6-BB79-FC421416D794}" presName="vert2" presStyleCnt="0"/>
      <dgm:spPr/>
    </dgm:pt>
    <dgm:pt modelId="{FEE0D8E4-7F68-4FF3-A4D4-3E9C75EC6863}" type="pres">
      <dgm:prSet presAssocID="{43BBC6FA-5A81-4BD6-BB79-FC421416D794}" presName="thinLine2b" presStyleLbl="callout" presStyleIdx="6" presStyleCnt="8"/>
      <dgm:spPr/>
    </dgm:pt>
    <dgm:pt modelId="{E2F1D25C-26E3-4E53-BADE-C20538C851D1}" type="pres">
      <dgm:prSet presAssocID="{43BBC6FA-5A81-4BD6-BB79-FC421416D794}" presName="vertSpace2b" presStyleCnt="0"/>
      <dgm:spPr/>
    </dgm:pt>
    <dgm:pt modelId="{C3AB5F92-6D8E-4988-8393-03262CF21A86}" type="pres">
      <dgm:prSet presAssocID="{C499E392-3BFF-4786-8B99-18430E25181D}" presName="thickLine" presStyleLbl="alignNode1" presStyleIdx="7" presStyleCnt="8"/>
      <dgm:spPr/>
    </dgm:pt>
    <dgm:pt modelId="{15B8557A-B3B0-4A64-9DEF-1F8D77F5E5DE}" type="pres">
      <dgm:prSet presAssocID="{C499E392-3BFF-4786-8B99-18430E25181D}" presName="horz1" presStyleCnt="0"/>
      <dgm:spPr/>
    </dgm:pt>
    <dgm:pt modelId="{55489179-6D82-4B00-9C0E-FDDFC493C5AA}" type="pres">
      <dgm:prSet presAssocID="{C499E392-3BFF-4786-8B99-18430E25181D}" presName="tx1" presStyleLbl="revTx" presStyleIdx="14" presStyleCnt="16"/>
      <dgm:spPr/>
    </dgm:pt>
    <dgm:pt modelId="{4065AC1C-6A68-4C3B-97B0-4C57468CE6E6}" type="pres">
      <dgm:prSet presAssocID="{C499E392-3BFF-4786-8B99-18430E25181D}" presName="vert1" presStyleCnt="0"/>
      <dgm:spPr/>
    </dgm:pt>
    <dgm:pt modelId="{DAC5BB69-CE0F-4160-9169-B5C73AB10C83}" type="pres">
      <dgm:prSet presAssocID="{832E7D9B-E9F4-4AD5-9CC4-82ECA718A70D}" presName="vertSpace2a" presStyleCnt="0"/>
      <dgm:spPr/>
    </dgm:pt>
    <dgm:pt modelId="{AB0034FF-6F54-409F-A212-8FC49C889161}" type="pres">
      <dgm:prSet presAssocID="{832E7D9B-E9F4-4AD5-9CC4-82ECA718A70D}" presName="horz2" presStyleCnt="0"/>
      <dgm:spPr/>
    </dgm:pt>
    <dgm:pt modelId="{290FD9D3-E2F9-49A9-BFA5-76D7B68A3B6D}" type="pres">
      <dgm:prSet presAssocID="{832E7D9B-E9F4-4AD5-9CC4-82ECA718A70D}" presName="horzSpace2" presStyleCnt="0"/>
      <dgm:spPr/>
    </dgm:pt>
    <dgm:pt modelId="{D619E146-7A48-4CB2-B48E-B8E80FC4D63C}" type="pres">
      <dgm:prSet presAssocID="{832E7D9B-E9F4-4AD5-9CC4-82ECA718A70D}" presName="tx2" presStyleLbl="revTx" presStyleIdx="15" presStyleCnt="16"/>
      <dgm:spPr/>
    </dgm:pt>
    <dgm:pt modelId="{28791CC4-D48F-401B-822E-DE3441B32E4D}" type="pres">
      <dgm:prSet presAssocID="{832E7D9B-E9F4-4AD5-9CC4-82ECA718A70D}" presName="vert2" presStyleCnt="0"/>
      <dgm:spPr/>
    </dgm:pt>
    <dgm:pt modelId="{955033DF-A638-4CFA-AC7D-DA1186A11CC4}" type="pres">
      <dgm:prSet presAssocID="{832E7D9B-E9F4-4AD5-9CC4-82ECA718A70D}" presName="thinLine2b" presStyleLbl="callout" presStyleIdx="7" presStyleCnt="8"/>
      <dgm:spPr/>
    </dgm:pt>
    <dgm:pt modelId="{70D9EE9D-98FF-41CA-984A-519DE253C3BC}" type="pres">
      <dgm:prSet presAssocID="{832E7D9B-E9F4-4AD5-9CC4-82ECA718A70D}" presName="vertSpace2b" presStyleCnt="0"/>
      <dgm:spPr/>
    </dgm:pt>
  </dgm:ptLst>
  <dgm:cxnLst>
    <dgm:cxn modelId="{19C38508-AA4B-447D-80DB-42BAF2CFF84F}" type="presOf" srcId="{C65D6D9B-1FFC-44F3-AB66-DB0AD4B23AD7}" destId="{3B98E71A-3531-406E-9F2F-FB57B1F67B24}" srcOrd="0" destOrd="0" presId="urn:microsoft.com/office/officeart/2008/layout/LinedList"/>
    <dgm:cxn modelId="{D2ECAE1A-5BA7-433B-8F59-B0275D9450F4}" srcId="{34E9E3F7-F17B-4340-83E8-092ECE1BA6A7}" destId="{0763835F-4F05-4025-B0C3-C34658CB138E}" srcOrd="4" destOrd="0" parTransId="{E2119266-487F-4CE9-A311-76DC21BAA3F1}" sibTransId="{81A49094-C2ED-4C45-A219-02EF9E261DDC}"/>
    <dgm:cxn modelId="{B6F6F61A-F2CB-42E9-8059-A1542FA02E6B}" type="presOf" srcId="{C1558CA7-07E0-467C-99EA-F842C016D964}" destId="{D782E8DF-0FD3-427C-9736-F0C7F474C7E3}" srcOrd="0" destOrd="0" presId="urn:microsoft.com/office/officeart/2008/layout/LinedList"/>
    <dgm:cxn modelId="{F0C3851F-4DFB-4B63-9058-DCD9CE4E293E}" srcId="{34E9E3F7-F17B-4340-83E8-092ECE1BA6A7}" destId="{155975C7-EE2F-4490-B653-1CBCACEB44E2}" srcOrd="0" destOrd="0" parTransId="{8743E79D-3313-434F-8E4F-4C3A6ABA44C2}" sibTransId="{BE0709DB-9E2D-4C93-83BE-B5CFF4BE7955}"/>
    <dgm:cxn modelId="{D4B1E923-69C3-4930-90B3-CF5DD6C0E7B1}" srcId="{BDF52988-7751-4127-98AB-EDA42B54493D}" destId="{C00B0A5B-553E-4FBF-A641-8D79A28BFA4B}" srcOrd="0" destOrd="0" parTransId="{C0B93D78-C1DC-4026-A950-D4BFA1F322BF}" sibTransId="{1B6579C4-C121-42C8-BC06-10A14966359A}"/>
    <dgm:cxn modelId="{58AED328-8F9C-447C-A7D4-D56A4ADAD007}" type="presOf" srcId="{5F2EB5F8-F41F-4033-9D91-4A4BFDD3098C}" destId="{58EE20D3-B120-4A5D-A446-7E9433950A0A}" srcOrd="0" destOrd="0" presId="urn:microsoft.com/office/officeart/2008/layout/LinedList"/>
    <dgm:cxn modelId="{06D57235-EF4F-4AFE-9508-F3D6328381A8}" type="presOf" srcId="{0763835F-4F05-4025-B0C3-C34658CB138E}" destId="{EC2B9BBC-75B6-422C-A6E6-5ECC0BDD1D2E}" srcOrd="0" destOrd="0" presId="urn:microsoft.com/office/officeart/2008/layout/LinedList"/>
    <dgm:cxn modelId="{EF6A4B37-9EA5-4C83-A3E9-B6F37FC6AE1D}" type="presOf" srcId="{43BBC6FA-5A81-4BD6-BB79-FC421416D794}" destId="{6368106C-2B2A-47DD-B3E2-8EE48BF99B00}" srcOrd="0" destOrd="0" presId="urn:microsoft.com/office/officeart/2008/layout/LinedList"/>
    <dgm:cxn modelId="{3422335C-0607-476A-BDFC-800DA6E6234F}" type="presOf" srcId="{832E7D9B-E9F4-4AD5-9CC4-82ECA718A70D}" destId="{D619E146-7A48-4CB2-B48E-B8E80FC4D63C}" srcOrd="0" destOrd="0" presId="urn:microsoft.com/office/officeart/2008/layout/LinedList"/>
    <dgm:cxn modelId="{6BAEA75F-2E88-43D7-9A0B-4E7074F2D6B3}" type="presOf" srcId="{B9FEC37D-25EA-485B-B862-B91782C9DD37}" destId="{0D8727DE-E62F-46F4-B4B2-45D45B652DAC}" srcOrd="0" destOrd="0" presId="urn:microsoft.com/office/officeart/2008/layout/LinedList"/>
    <dgm:cxn modelId="{F4A3F966-8A7D-4C24-BA33-1335DC422E0B}" srcId="{34E9E3F7-F17B-4340-83E8-092ECE1BA6A7}" destId="{B9FEC37D-25EA-485B-B862-B91782C9DD37}" srcOrd="6" destOrd="0" parTransId="{60B556EC-6D3D-48BF-AD3C-A586A87FAF4C}" sibTransId="{26C67A30-1F4B-4C23-8DBE-94CD1D218F81}"/>
    <dgm:cxn modelId="{CFB87168-6475-4580-958A-BED7C887A0E0}" srcId="{34E9E3F7-F17B-4340-83E8-092ECE1BA6A7}" destId="{FBB53AC4-CC13-4606-B503-327179B8D714}" srcOrd="3" destOrd="0" parTransId="{431B0E3F-9C3D-4A42-9101-236F7EC5B831}" sibTransId="{BBE739CA-5CF2-4228-B819-8F3070A49FDF}"/>
    <dgm:cxn modelId="{371A5948-5278-435A-B113-CA228AA9533F}" type="presOf" srcId="{FBB53AC4-CC13-4606-B503-327179B8D714}" destId="{077AF4B7-503D-4949-8A66-5D2DBBDAB90A}" srcOrd="0" destOrd="0" presId="urn:microsoft.com/office/officeart/2008/layout/LinedList"/>
    <dgm:cxn modelId="{FAA64F6C-BEEB-4B0C-9D0E-D16024DD90B5}" type="presOf" srcId="{392BA46D-A8F9-4E27-BD4D-94CB84054E02}" destId="{16863E8E-48E5-4355-A297-CC3DBF7236D0}" srcOrd="0" destOrd="0" presId="urn:microsoft.com/office/officeart/2008/layout/LinedList"/>
    <dgm:cxn modelId="{9BEFB96C-3E42-42CD-8B4F-7D2264BDA98D}" srcId="{C499E392-3BFF-4786-8B99-18430E25181D}" destId="{832E7D9B-E9F4-4AD5-9CC4-82ECA718A70D}" srcOrd="0" destOrd="0" parTransId="{A0EFD748-3E05-495E-B630-95ED0BD1B2AF}" sibTransId="{638CF464-E4A3-42FF-914D-3FDC8AA27F49}"/>
    <dgm:cxn modelId="{42EAFF6C-43CD-47C1-8B4A-CD0FBFA977D4}" type="presOf" srcId="{155975C7-EE2F-4490-B653-1CBCACEB44E2}" destId="{4D8CA52D-F5E2-49FE-8DAD-D65E24D20B4F}" srcOrd="0" destOrd="0" presId="urn:microsoft.com/office/officeart/2008/layout/LinedList"/>
    <dgm:cxn modelId="{A4D3C474-83AC-4DC5-8D97-2242926AA860}" type="presOf" srcId="{4BCA9CE4-8427-48EA-ABEF-70657C56FF5D}" destId="{4979D6A3-4CF8-4C1F-9F2D-F3402B875667}" srcOrd="0" destOrd="0" presId="urn:microsoft.com/office/officeart/2008/layout/LinedList"/>
    <dgm:cxn modelId="{C50C2D75-4C6A-4189-8961-18D4E3C6AC7E}" type="presOf" srcId="{BDF52988-7751-4127-98AB-EDA42B54493D}" destId="{0B4BE777-73BF-4E3D-AC5D-53DB54B9318C}" srcOrd="0" destOrd="0" presId="urn:microsoft.com/office/officeart/2008/layout/LinedList"/>
    <dgm:cxn modelId="{9141DB86-9A38-4963-9F5A-6707A338E2B2}" type="presOf" srcId="{F47A7546-3E99-49C6-B6BE-5004AFE6EC52}" destId="{DEAB29E3-DE93-4BFF-BF38-1D9B406241E3}" srcOrd="0" destOrd="0" presId="urn:microsoft.com/office/officeart/2008/layout/LinedList"/>
    <dgm:cxn modelId="{4716C294-D87B-4146-AF55-21F1D9CCB6A6}" srcId="{34E9E3F7-F17B-4340-83E8-092ECE1BA6A7}" destId="{4BCA9CE4-8427-48EA-ABEF-70657C56FF5D}" srcOrd="5" destOrd="0" parTransId="{6006803F-EBB3-4960-9A2A-CA85DA91B02B}" sibTransId="{28C07AB1-1776-4A19-B6A3-8BC6BBD8095D}"/>
    <dgm:cxn modelId="{0CD867A7-2233-4653-A89F-621F96DA07CA}" srcId="{FBB53AC4-CC13-4606-B503-327179B8D714}" destId="{392BA46D-A8F9-4E27-BD4D-94CB84054E02}" srcOrd="0" destOrd="0" parTransId="{73F179CB-1A58-4D79-AB29-1F9EB3EB6098}" sibTransId="{75111269-FEDD-4749-809E-2842B28A9069}"/>
    <dgm:cxn modelId="{D56A34B0-A3B7-40D1-8083-45EEC22CF7AC}" srcId="{6E083C27-59AE-469D-B27E-79BED80FD3AF}" destId="{5F2EB5F8-F41F-4033-9D91-4A4BFDD3098C}" srcOrd="0" destOrd="0" parTransId="{A5FE3502-978B-43AC-9C5F-78D84B23AE46}" sibTransId="{B231385F-E41A-425D-97C7-6BBD1341DD2B}"/>
    <dgm:cxn modelId="{A043A3B1-604D-40AB-B3E4-74269FDF6907}" type="presOf" srcId="{34E9E3F7-F17B-4340-83E8-092ECE1BA6A7}" destId="{4CDB5D44-4728-4DB0-ACC5-AEAA94DD52D8}" srcOrd="0" destOrd="0" presId="urn:microsoft.com/office/officeart/2008/layout/LinedList"/>
    <dgm:cxn modelId="{DF90E5C5-BCF5-437C-8B7F-DFDC1D8A4B22}" type="presOf" srcId="{6E083C27-59AE-469D-B27E-79BED80FD3AF}" destId="{BDEC50A2-48B9-4E6B-AC12-D5AE68E2478B}" srcOrd="0" destOrd="0" presId="urn:microsoft.com/office/officeart/2008/layout/LinedList"/>
    <dgm:cxn modelId="{BAB2F0D0-457B-45FE-A4D9-08872BFCF86F}" type="presOf" srcId="{C499E392-3BFF-4786-8B99-18430E25181D}" destId="{55489179-6D82-4B00-9C0E-FDDFC493C5AA}" srcOrd="0" destOrd="0" presId="urn:microsoft.com/office/officeart/2008/layout/LinedList"/>
    <dgm:cxn modelId="{758D1FD4-FDFA-4CCD-8372-69834A9C6B23}" srcId="{0763835F-4F05-4025-B0C3-C34658CB138E}" destId="{C65D6D9B-1FFC-44F3-AB66-DB0AD4B23AD7}" srcOrd="0" destOrd="0" parTransId="{5C104F88-CC15-427A-B9E0-1E420C4933A5}" sibTransId="{F5F2EF74-4D5F-4D74-897D-1536198E391B}"/>
    <dgm:cxn modelId="{260FABD6-CA0F-401C-B92E-D5FF912F3B5A}" srcId="{34E9E3F7-F17B-4340-83E8-092ECE1BA6A7}" destId="{C499E392-3BFF-4786-8B99-18430E25181D}" srcOrd="7" destOrd="0" parTransId="{C05CA4A6-EFC8-4501-A1E8-90A7D133B97B}" sibTransId="{0E7985AA-DDC2-419B-9389-3642F8B386BF}"/>
    <dgm:cxn modelId="{3AEAADD8-4AF6-43BC-8F05-78BE08BD50DC}" srcId="{155975C7-EE2F-4490-B653-1CBCACEB44E2}" destId="{C1558CA7-07E0-467C-99EA-F842C016D964}" srcOrd="0" destOrd="0" parTransId="{E5CAC947-29E1-43FB-8678-0F94E976B882}" sibTransId="{D4000958-FE5D-48AA-97E5-C1B6E7B71BC8}"/>
    <dgm:cxn modelId="{0BE4C4E0-E8FB-4117-89E5-8B808C9BDE38}" srcId="{B9FEC37D-25EA-485B-B862-B91782C9DD37}" destId="{43BBC6FA-5A81-4BD6-BB79-FC421416D794}" srcOrd="0" destOrd="0" parTransId="{CE7BC3B1-86F7-4BA9-A5A4-3FD0812A095F}" sibTransId="{EAA4F532-8D39-470D-94DB-FE7A6C7A1A1F}"/>
    <dgm:cxn modelId="{E6B4DFEB-C391-408A-8FF5-A9ED2DC8198B}" type="presOf" srcId="{C00B0A5B-553E-4FBF-A641-8D79A28BFA4B}" destId="{6C6C5878-1A13-4799-A9E1-C78372BF709B}" srcOrd="0" destOrd="0" presId="urn:microsoft.com/office/officeart/2008/layout/LinedList"/>
    <dgm:cxn modelId="{030BF3F7-9CA2-4FE5-8A4D-A15D57B4A6C7}" srcId="{4BCA9CE4-8427-48EA-ABEF-70657C56FF5D}" destId="{F47A7546-3E99-49C6-B6BE-5004AFE6EC52}" srcOrd="0" destOrd="0" parTransId="{2F979DD3-4E20-4DB4-AF74-341D2F7E920F}" sibTransId="{79200F3E-625B-41E5-907E-26BF72C038E0}"/>
    <dgm:cxn modelId="{E33FDDF9-7D66-46B0-8638-440CCBF859AF}" srcId="{34E9E3F7-F17B-4340-83E8-092ECE1BA6A7}" destId="{6E083C27-59AE-469D-B27E-79BED80FD3AF}" srcOrd="2" destOrd="0" parTransId="{47DE3305-3158-4058-8199-EC7459ED9075}" sibTransId="{B49FFA43-9FC8-4195-A374-35D0925AC587}"/>
    <dgm:cxn modelId="{1DF57EFD-C843-4718-ACAE-F6710124919C}" srcId="{34E9E3F7-F17B-4340-83E8-092ECE1BA6A7}" destId="{BDF52988-7751-4127-98AB-EDA42B54493D}" srcOrd="1" destOrd="0" parTransId="{51E45D78-8CD0-410E-801E-D8A8404A8632}" sibTransId="{BE25C9B9-FD0D-4ED3-A698-E882BFF264F8}"/>
    <dgm:cxn modelId="{AA7ED4A4-F99D-4DC7-9442-5C0B6A79D512}" type="presParOf" srcId="{4CDB5D44-4728-4DB0-ACC5-AEAA94DD52D8}" destId="{E69B6CA2-BA2B-4B6D-88EF-2E79554CCF64}" srcOrd="0" destOrd="0" presId="urn:microsoft.com/office/officeart/2008/layout/LinedList"/>
    <dgm:cxn modelId="{A0DB581D-64A9-4CD9-A815-8C8B300725A0}" type="presParOf" srcId="{4CDB5D44-4728-4DB0-ACC5-AEAA94DD52D8}" destId="{D9AA903C-E4F5-49D9-9862-F68301B9DF5F}" srcOrd="1" destOrd="0" presId="urn:microsoft.com/office/officeart/2008/layout/LinedList"/>
    <dgm:cxn modelId="{ED6DAE30-96B0-4D0D-AC15-E22B3BC8AFD1}" type="presParOf" srcId="{D9AA903C-E4F5-49D9-9862-F68301B9DF5F}" destId="{4D8CA52D-F5E2-49FE-8DAD-D65E24D20B4F}" srcOrd="0" destOrd="0" presId="urn:microsoft.com/office/officeart/2008/layout/LinedList"/>
    <dgm:cxn modelId="{509E839B-005C-4B64-94B8-7166B6726BF8}" type="presParOf" srcId="{D9AA903C-E4F5-49D9-9862-F68301B9DF5F}" destId="{4596CA93-2B56-4767-932F-9F36D308483A}" srcOrd="1" destOrd="0" presId="urn:microsoft.com/office/officeart/2008/layout/LinedList"/>
    <dgm:cxn modelId="{09E522C5-2F96-49BF-8525-57416E4B4934}" type="presParOf" srcId="{4596CA93-2B56-4767-932F-9F36D308483A}" destId="{974E2B9E-1BEF-4C56-AF6C-5E39FD7DBB0C}" srcOrd="0" destOrd="0" presId="urn:microsoft.com/office/officeart/2008/layout/LinedList"/>
    <dgm:cxn modelId="{72E51A1E-241B-4484-83F1-215BB4E06C59}" type="presParOf" srcId="{4596CA93-2B56-4767-932F-9F36D308483A}" destId="{F08D1E11-0974-4D50-980B-22D1588B3D70}" srcOrd="1" destOrd="0" presId="urn:microsoft.com/office/officeart/2008/layout/LinedList"/>
    <dgm:cxn modelId="{78FCEA89-82C0-4082-8ADC-78C3F1797420}" type="presParOf" srcId="{F08D1E11-0974-4D50-980B-22D1588B3D70}" destId="{59E84954-B63C-41D8-9386-8511BD864726}" srcOrd="0" destOrd="0" presId="urn:microsoft.com/office/officeart/2008/layout/LinedList"/>
    <dgm:cxn modelId="{6BAA267F-A0B8-4E59-9044-DF1DA4F6C2B3}" type="presParOf" srcId="{F08D1E11-0974-4D50-980B-22D1588B3D70}" destId="{D782E8DF-0FD3-427C-9736-F0C7F474C7E3}" srcOrd="1" destOrd="0" presId="urn:microsoft.com/office/officeart/2008/layout/LinedList"/>
    <dgm:cxn modelId="{0AE50340-FF98-44CB-97CB-95BB49565CE3}" type="presParOf" srcId="{F08D1E11-0974-4D50-980B-22D1588B3D70}" destId="{A099E37D-0674-45B7-8680-718A42D1BFE6}" srcOrd="2" destOrd="0" presId="urn:microsoft.com/office/officeart/2008/layout/LinedList"/>
    <dgm:cxn modelId="{0932F19B-A6AF-4DBC-B059-43560C1B750A}" type="presParOf" srcId="{4596CA93-2B56-4767-932F-9F36D308483A}" destId="{B49AD372-8C98-46F0-9757-83E304BAB9F0}" srcOrd="2" destOrd="0" presId="urn:microsoft.com/office/officeart/2008/layout/LinedList"/>
    <dgm:cxn modelId="{74324835-9D2F-48FB-A9A4-2A11E0F24101}" type="presParOf" srcId="{4596CA93-2B56-4767-932F-9F36D308483A}" destId="{82829B75-789D-4938-B669-1D8D16005787}" srcOrd="3" destOrd="0" presId="urn:microsoft.com/office/officeart/2008/layout/LinedList"/>
    <dgm:cxn modelId="{42514520-8AFA-4692-A71B-D12DCF5277AD}" type="presParOf" srcId="{4CDB5D44-4728-4DB0-ACC5-AEAA94DD52D8}" destId="{BC8E9086-57FB-4995-97EE-9D795EA22599}" srcOrd="2" destOrd="0" presId="urn:microsoft.com/office/officeart/2008/layout/LinedList"/>
    <dgm:cxn modelId="{395D3E58-4E3A-4ACA-863E-DFB2F01662D6}" type="presParOf" srcId="{4CDB5D44-4728-4DB0-ACC5-AEAA94DD52D8}" destId="{B1540BD8-D6EB-471E-87FC-24478A3F24A6}" srcOrd="3" destOrd="0" presId="urn:microsoft.com/office/officeart/2008/layout/LinedList"/>
    <dgm:cxn modelId="{3C017BAA-FE8D-4179-B835-09A33242279B}" type="presParOf" srcId="{B1540BD8-D6EB-471E-87FC-24478A3F24A6}" destId="{0B4BE777-73BF-4E3D-AC5D-53DB54B9318C}" srcOrd="0" destOrd="0" presId="urn:microsoft.com/office/officeart/2008/layout/LinedList"/>
    <dgm:cxn modelId="{81AC954A-E2B7-4C54-B8CD-01EDEC6D13B3}" type="presParOf" srcId="{B1540BD8-D6EB-471E-87FC-24478A3F24A6}" destId="{18A65EFC-BF39-4EB4-9A8B-0E7DE59D3C14}" srcOrd="1" destOrd="0" presId="urn:microsoft.com/office/officeart/2008/layout/LinedList"/>
    <dgm:cxn modelId="{5F473A17-C431-4D61-AC1B-9898CA1FB1CE}" type="presParOf" srcId="{18A65EFC-BF39-4EB4-9A8B-0E7DE59D3C14}" destId="{C1F50F08-61DF-4BF4-911B-63F1950EC2AC}" srcOrd="0" destOrd="0" presId="urn:microsoft.com/office/officeart/2008/layout/LinedList"/>
    <dgm:cxn modelId="{07E0A3FA-4823-41D7-AAAA-20A1407392EC}" type="presParOf" srcId="{18A65EFC-BF39-4EB4-9A8B-0E7DE59D3C14}" destId="{9963243F-09C3-4DF9-80B8-13C70F70D867}" srcOrd="1" destOrd="0" presId="urn:microsoft.com/office/officeart/2008/layout/LinedList"/>
    <dgm:cxn modelId="{A2BDD0A1-672E-420E-B181-9D571A30606D}" type="presParOf" srcId="{9963243F-09C3-4DF9-80B8-13C70F70D867}" destId="{F0C6AEC6-D66E-4015-8A05-1183C3AEFD1E}" srcOrd="0" destOrd="0" presId="urn:microsoft.com/office/officeart/2008/layout/LinedList"/>
    <dgm:cxn modelId="{543BD2DE-326A-4001-BF9D-8D5EA8ADC904}" type="presParOf" srcId="{9963243F-09C3-4DF9-80B8-13C70F70D867}" destId="{6C6C5878-1A13-4799-A9E1-C78372BF709B}" srcOrd="1" destOrd="0" presId="urn:microsoft.com/office/officeart/2008/layout/LinedList"/>
    <dgm:cxn modelId="{6A715086-1011-45BA-A1CA-8D5D5660DB11}" type="presParOf" srcId="{9963243F-09C3-4DF9-80B8-13C70F70D867}" destId="{8265944D-8398-4872-B299-9712C32B77D1}" srcOrd="2" destOrd="0" presId="urn:microsoft.com/office/officeart/2008/layout/LinedList"/>
    <dgm:cxn modelId="{1713EFA1-E05E-41AE-9527-CA31AA54E67C}" type="presParOf" srcId="{18A65EFC-BF39-4EB4-9A8B-0E7DE59D3C14}" destId="{450FB1D1-621B-4915-9813-537811FD7D58}" srcOrd="2" destOrd="0" presId="urn:microsoft.com/office/officeart/2008/layout/LinedList"/>
    <dgm:cxn modelId="{2BD92866-392B-43B7-85D0-E2997C2DB042}" type="presParOf" srcId="{18A65EFC-BF39-4EB4-9A8B-0E7DE59D3C14}" destId="{E3AD0373-AE6E-419E-9675-5007B6456EB0}" srcOrd="3" destOrd="0" presId="urn:microsoft.com/office/officeart/2008/layout/LinedList"/>
    <dgm:cxn modelId="{724CA793-E299-49A9-B27C-97F56528C0CE}" type="presParOf" srcId="{4CDB5D44-4728-4DB0-ACC5-AEAA94DD52D8}" destId="{19FA8657-B158-4A0E-98E2-869168ED0F7C}" srcOrd="4" destOrd="0" presId="urn:microsoft.com/office/officeart/2008/layout/LinedList"/>
    <dgm:cxn modelId="{6A833AA5-7B74-42F5-822E-699821CD2909}" type="presParOf" srcId="{4CDB5D44-4728-4DB0-ACC5-AEAA94DD52D8}" destId="{0A65616F-62B7-43CE-ABD1-3374E2265084}" srcOrd="5" destOrd="0" presId="urn:microsoft.com/office/officeart/2008/layout/LinedList"/>
    <dgm:cxn modelId="{8C6A0D40-0FFF-4602-9513-7AD238DA67CD}" type="presParOf" srcId="{0A65616F-62B7-43CE-ABD1-3374E2265084}" destId="{BDEC50A2-48B9-4E6B-AC12-D5AE68E2478B}" srcOrd="0" destOrd="0" presId="urn:microsoft.com/office/officeart/2008/layout/LinedList"/>
    <dgm:cxn modelId="{8665095F-ED2A-4DC8-A59F-8EE11042D871}" type="presParOf" srcId="{0A65616F-62B7-43CE-ABD1-3374E2265084}" destId="{7ACFA639-3D95-4939-B39D-2B4817874FFF}" srcOrd="1" destOrd="0" presId="urn:microsoft.com/office/officeart/2008/layout/LinedList"/>
    <dgm:cxn modelId="{3F20B254-C94C-4241-9B93-036593317675}" type="presParOf" srcId="{7ACFA639-3D95-4939-B39D-2B4817874FFF}" destId="{6DAA7E97-323E-445F-8F44-39F0A74548ED}" srcOrd="0" destOrd="0" presId="urn:microsoft.com/office/officeart/2008/layout/LinedList"/>
    <dgm:cxn modelId="{B35452C2-F721-4749-B46E-1631CC4CE437}" type="presParOf" srcId="{7ACFA639-3D95-4939-B39D-2B4817874FFF}" destId="{130282E5-B8AD-4DDB-9C86-62441B6F294D}" srcOrd="1" destOrd="0" presId="urn:microsoft.com/office/officeart/2008/layout/LinedList"/>
    <dgm:cxn modelId="{EF9296FD-FEAD-4E26-873F-0967BB8E4041}" type="presParOf" srcId="{130282E5-B8AD-4DDB-9C86-62441B6F294D}" destId="{0AFB39AE-9BDF-4688-B6B9-6B16B8E587AE}" srcOrd="0" destOrd="0" presId="urn:microsoft.com/office/officeart/2008/layout/LinedList"/>
    <dgm:cxn modelId="{050A0B07-4341-4074-9B28-2F8DC26B6DE8}" type="presParOf" srcId="{130282E5-B8AD-4DDB-9C86-62441B6F294D}" destId="{58EE20D3-B120-4A5D-A446-7E9433950A0A}" srcOrd="1" destOrd="0" presId="urn:microsoft.com/office/officeart/2008/layout/LinedList"/>
    <dgm:cxn modelId="{5E9706D1-6909-452A-83F0-F14881486250}" type="presParOf" srcId="{130282E5-B8AD-4DDB-9C86-62441B6F294D}" destId="{B16F0D65-4892-4656-BCFA-58E669EB0CEE}" srcOrd="2" destOrd="0" presId="urn:microsoft.com/office/officeart/2008/layout/LinedList"/>
    <dgm:cxn modelId="{0D01F4A4-1B3A-4D0D-AE49-9429C637993E}" type="presParOf" srcId="{7ACFA639-3D95-4939-B39D-2B4817874FFF}" destId="{24ADEFB8-AA02-49FD-A1A8-987A9246E9C6}" srcOrd="2" destOrd="0" presId="urn:microsoft.com/office/officeart/2008/layout/LinedList"/>
    <dgm:cxn modelId="{97E8B2A8-A969-4108-9991-1C7A1973E726}" type="presParOf" srcId="{7ACFA639-3D95-4939-B39D-2B4817874FFF}" destId="{33B99FFB-13D1-48F1-BAB8-5B26FBA8A4B6}" srcOrd="3" destOrd="0" presId="urn:microsoft.com/office/officeart/2008/layout/LinedList"/>
    <dgm:cxn modelId="{43567DA9-B2A0-4890-ABC4-2A751F8B07C0}" type="presParOf" srcId="{4CDB5D44-4728-4DB0-ACC5-AEAA94DD52D8}" destId="{26081DA2-14FB-47AD-BDAF-2AF5C15A72BA}" srcOrd="6" destOrd="0" presId="urn:microsoft.com/office/officeart/2008/layout/LinedList"/>
    <dgm:cxn modelId="{87D0B84E-58B9-440B-94A2-5DF4B3593E44}" type="presParOf" srcId="{4CDB5D44-4728-4DB0-ACC5-AEAA94DD52D8}" destId="{744ADFC5-F739-4E06-8791-84E142FCD4E4}" srcOrd="7" destOrd="0" presId="urn:microsoft.com/office/officeart/2008/layout/LinedList"/>
    <dgm:cxn modelId="{35A156ED-6CDC-415A-B727-71592A06E693}" type="presParOf" srcId="{744ADFC5-F739-4E06-8791-84E142FCD4E4}" destId="{077AF4B7-503D-4949-8A66-5D2DBBDAB90A}" srcOrd="0" destOrd="0" presId="urn:microsoft.com/office/officeart/2008/layout/LinedList"/>
    <dgm:cxn modelId="{847B1C1F-3BA8-493D-9DBC-36D160D03F05}" type="presParOf" srcId="{744ADFC5-F739-4E06-8791-84E142FCD4E4}" destId="{B13198E5-37AB-4183-9D42-8699B736DE8B}" srcOrd="1" destOrd="0" presId="urn:microsoft.com/office/officeart/2008/layout/LinedList"/>
    <dgm:cxn modelId="{4C91025A-58B4-4AD6-B231-9E7EA7C95244}" type="presParOf" srcId="{B13198E5-37AB-4183-9D42-8699B736DE8B}" destId="{093B9DD2-BCFF-4DDD-B90B-183B650AB1C5}" srcOrd="0" destOrd="0" presId="urn:microsoft.com/office/officeart/2008/layout/LinedList"/>
    <dgm:cxn modelId="{12BEA930-AE00-49AF-A92D-96560EB93CBE}" type="presParOf" srcId="{B13198E5-37AB-4183-9D42-8699B736DE8B}" destId="{8E7AC7BE-9FD6-4FA5-97A3-9711816C23AD}" srcOrd="1" destOrd="0" presId="urn:microsoft.com/office/officeart/2008/layout/LinedList"/>
    <dgm:cxn modelId="{55609F4C-8269-420B-A9E9-DA217CCA9903}" type="presParOf" srcId="{8E7AC7BE-9FD6-4FA5-97A3-9711816C23AD}" destId="{939BB2AD-F817-484D-B10B-9F5FC541AC34}" srcOrd="0" destOrd="0" presId="urn:microsoft.com/office/officeart/2008/layout/LinedList"/>
    <dgm:cxn modelId="{20B4C6C4-8248-48B9-843C-8C72CAA2C80B}" type="presParOf" srcId="{8E7AC7BE-9FD6-4FA5-97A3-9711816C23AD}" destId="{16863E8E-48E5-4355-A297-CC3DBF7236D0}" srcOrd="1" destOrd="0" presId="urn:microsoft.com/office/officeart/2008/layout/LinedList"/>
    <dgm:cxn modelId="{8C752510-1C98-4872-B6E3-A9C23B9C22F5}" type="presParOf" srcId="{8E7AC7BE-9FD6-4FA5-97A3-9711816C23AD}" destId="{33FD19AF-C2AE-4F3D-84EA-819807E284BF}" srcOrd="2" destOrd="0" presId="urn:microsoft.com/office/officeart/2008/layout/LinedList"/>
    <dgm:cxn modelId="{E738E41F-96D6-4834-8ECD-29428868B943}" type="presParOf" srcId="{B13198E5-37AB-4183-9D42-8699B736DE8B}" destId="{2E9566D3-9CE5-4942-B644-45282859829C}" srcOrd="2" destOrd="0" presId="urn:microsoft.com/office/officeart/2008/layout/LinedList"/>
    <dgm:cxn modelId="{7895EF89-4916-4BCF-BA08-C6BB5367A461}" type="presParOf" srcId="{B13198E5-37AB-4183-9D42-8699B736DE8B}" destId="{55FA5738-A552-470A-BFCC-131FBF739EA4}" srcOrd="3" destOrd="0" presId="urn:microsoft.com/office/officeart/2008/layout/LinedList"/>
    <dgm:cxn modelId="{8DA5E0BB-F993-4E33-96A0-EB572C937E9C}" type="presParOf" srcId="{4CDB5D44-4728-4DB0-ACC5-AEAA94DD52D8}" destId="{FBED7EAE-A363-4123-856A-38C12343775C}" srcOrd="8" destOrd="0" presId="urn:microsoft.com/office/officeart/2008/layout/LinedList"/>
    <dgm:cxn modelId="{3680F292-B9BB-4878-A09D-9089E2757F65}" type="presParOf" srcId="{4CDB5D44-4728-4DB0-ACC5-AEAA94DD52D8}" destId="{146DA6B9-FCC3-48E2-981C-7D49EC97174E}" srcOrd="9" destOrd="0" presId="urn:microsoft.com/office/officeart/2008/layout/LinedList"/>
    <dgm:cxn modelId="{64F7A45D-B8AF-47AE-889D-7FCB6E45E01E}" type="presParOf" srcId="{146DA6B9-FCC3-48E2-981C-7D49EC97174E}" destId="{EC2B9BBC-75B6-422C-A6E6-5ECC0BDD1D2E}" srcOrd="0" destOrd="0" presId="urn:microsoft.com/office/officeart/2008/layout/LinedList"/>
    <dgm:cxn modelId="{2CE15044-AA0A-4503-ACAE-4F74684D1EB9}" type="presParOf" srcId="{146DA6B9-FCC3-48E2-981C-7D49EC97174E}" destId="{CA40E28A-8DE7-4530-AFB3-96DA98A34C48}" srcOrd="1" destOrd="0" presId="urn:microsoft.com/office/officeart/2008/layout/LinedList"/>
    <dgm:cxn modelId="{715BC964-C688-4133-9B4D-74B6863790FB}" type="presParOf" srcId="{CA40E28A-8DE7-4530-AFB3-96DA98A34C48}" destId="{217A586A-A74E-4280-BEB7-84E0E700F0D8}" srcOrd="0" destOrd="0" presId="urn:microsoft.com/office/officeart/2008/layout/LinedList"/>
    <dgm:cxn modelId="{7B1128C7-5EC9-401F-9E68-BEDADAD32DDD}" type="presParOf" srcId="{CA40E28A-8DE7-4530-AFB3-96DA98A34C48}" destId="{931457E2-9347-4306-925D-7B3FA0F43A48}" srcOrd="1" destOrd="0" presId="urn:microsoft.com/office/officeart/2008/layout/LinedList"/>
    <dgm:cxn modelId="{6232F323-F956-4F14-A750-A566EEA3FD35}" type="presParOf" srcId="{931457E2-9347-4306-925D-7B3FA0F43A48}" destId="{AE8C2E1C-676D-46F2-BDDF-53B6A2E0F926}" srcOrd="0" destOrd="0" presId="urn:microsoft.com/office/officeart/2008/layout/LinedList"/>
    <dgm:cxn modelId="{C333F373-106F-4C54-B27D-236E899D4404}" type="presParOf" srcId="{931457E2-9347-4306-925D-7B3FA0F43A48}" destId="{3B98E71A-3531-406E-9F2F-FB57B1F67B24}" srcOrd="1" destOrd="0" presId="urn:microsoft.com/office/officeart/2008/layout/LinedList"/>
    <dgm:cxn modelId="{4C020CE2-A7DA-4125-A47F-DD0FB2F7027E}" type="presParOf" srcId="{931457E2-9347-4306-925D-7B3FA0F43A48}" destId="{AAB65AE6-E1C2-4E06-B373-F12E4E6FC434}" srcOrd="2" destOrd="0" presId="urn:microsoft.com/office/officeart/2008/layout/LinedList"/>
    <dgm:cxn modelId="{4B409ADD-7009-4DC9-B90A-35055CF4EF83}" type="presParOf" srcId="{CA40E28A-8DE7-4530-AFB3-96DA98A34C48}" destId="{3282E641-D5BC-4FF3-B8A7-8890614B2323}" srcOrd="2" destOrd="0" presId="urn:microsoft.com/office/officeart/2008/layout/LinedList"/>
    <dgm:cxn modelId="{C6129805-1D91-4F23-8BCD-AC3DBD8A7621}" type="presParOf" srcId="{CA40E28A-8DE7-4530-AFB3-96DA98A34C48}" destId="{7426EF2A-CEDD-4E3C-9B35-31EB73EE8AEA}" srcOrd="3" destOrd="0" presId="urn:microsoft.com/office/officeart/2008/layout/LinedList"/>
    <dgm:cxn modelId="{B1AB86D0-18AB-4B58-9701-52638C090156}" type="presParOf" srcId="{4CDB5D44-4728-4DB0-ACC5-AEAA94DD52D8}" destId="{6F972F5A-DA25-4EBC-B613-C100530CD689}" srcOrd="10" destOrd="0" presId="urn:microsoft.com/office/officeart/2008/layout/LinedList"/>
    <dgm:cxn modelId="{7C2A8471-9241-4324-8F8D-7C5AA969E733}" type="presParOf" srcId="{4CDB5D44-4728-4DB0-ACC5-AEAA94DD52D8}" destId="{BE099E57-3F48-4014-8B1C-EFF73D4B977B}" srcOrd="11" destOrd="0" presId="urn:microsoft.com/office/officeart/2008/layout/LinedList"/>
    <dgm:cxn modelId="{062F40AC-6399-43CB-89D2-9545B09D2A7F}" type="presParOf" srcId="{BE099E57-3F48-4014-8B1C-EFF73D4B977B}" destId="{4979D6A3-4CF8-4C1F-9F2D-F3402B875667}" srcOrd="0" destOrd="0" presId="urn:microsoft.com/office/officeart/2008/layout/LinedList"/>
    <dgm:cxn modelId="{39C0602D-7356-4F93-A3B0-26736FAA72FE}" type="presParOf" srcId="{BE099E57-3F48-4014-8B1C-EFF73D4B977B}" destId="{2766844A-7591-4FED-89EA-BD1BB918A0A9}" srcOrd="1" destOrd="0" presId="urn:microsoft.com/office/officeart/2008/layout/LinedList"/>
    <dgm:cxn modelId="{CC4C4644-8711-459B-96D3-133061B98D23}" type="presParOf" srcId="{2766844A-7591-4FED-89EA-BD1BB918A0A9}" destId="{D4790072-CDA2-4309-AA54-BA380C5D2F28}" srcOrd="0" destOrd="0" presId="urn:microsoft.com/office/officeart/2008/layout/LinedList"/>
    <dgm:cxn modelId="{E4D83D04-71AB-4039-8780-9DCA2C56B20F}" type="presParOf" srcId="{2766844A-7591-4FED-89EA-BD1BB918A0A9}" destId="{E5531A98-355E-468A-AA62-5414EE703059}" srcOrd="1" destOrd="0" presId="urn:microsoft.com/office/officeart/2008/layout/LinedList"/>
    <dgm:cxn modelId="{0AAF87B7-7F40-404A-A399-4F233B1297FF}" type="presParOf" srcId="{E5531A98-355E-468A-AA62-5414EE703059}" destId="{0AEF3058-0158-4BA6-8B20-FEBDD8DD76C7}" srcOrd="0" destOrd="0" presId="urn:microsoft.com/office/officeart/2008/layout/LinedList"/>
    <dgm:cxn modelId="{0740DEAE-ECB5-4CD7-A308-9314350FE220}" type="presParOf" srcId="{E5531A98-355E-468A-AA62-5414EE703059}" destId="{DEAB29E3-DE93-4BFF-BF38-1D9B406241E3}" srcOrd="1" destOrd="0" presId="urn:microsoft.com/office/officeart/2008/layout/LinedList"/>
    <dgm:cxn modelId="{C843A7BE-F3EF-4176-99E4-C1487C975676}" type="presParOf" srcId="{E5531A98-355E-468A-AA62-5414EE703059}" destId="{8F81AE71-DCD0-4926-8B2E-84308F7EADAE}" srcOrd="2" destOrd="0" presId="urn:microsoft.com/office/officeart/2008/layout/LinedList"/>
    <dgm:cxn modelId="{EA4FBA21-C599-42B4-853E-9EA4AD816A99}" type="presParOf" srcId="{2766844A-7591-4FED-89EA-BD1BB918A0A9}" destId="{A9397846-AF93-40B7-BEAC-6B66225BC582}" srcOrd="2" destOrd="0" presId="urn:microsoft.com/office/officeart/2008/layout/LinedList"/>
    <dgm:cxn modelId="{E20D3E07-505D-42CF-85BA-30731C20258B}" type="presParOf" srcId="{2766844A-7591-4FED-89EA-BD1BB918A0A9}" destId="{EA2B77CA-4D94-4019-A41C-E7DDAF3347D0}" srcOrd="3" destOrd="0" presId="urn:microsoft.com/office/officeart/2008/layout/LinedList"/>
    <dgm:cxn modelId="{D9E81622-9ED4-4FF3-A62C-FB0BE524C1F6}" type="presParOf" srcId="{4CDB5D44-4728-4DB0-ACC5-AEAA94DD52D8}" destId="{3522C743-4C99-48F2-BADA-DDD2859CDACA}" srcOrd="12" destOrd="0" presId="urn:microsoft.com/office/officeart/2008/layout/LinedList"/>
    <dgm:cxn modelId="{CEBA7A5F-E721-4E66-BE32-0A7CCB6CB393}" type="presParOf" srcId="{4CDB5D44-4728-4DB0-ACC5-AEAA94DD52D8}" destId="{07D336DA-FE6B-4502-8930-42CE9618CD17}" srcOrd="13" destOrd="0" presId="urn:microsoft.com/office/officeart/2008/layout/LinedList"/>
    <dgm:cxn modelId="{A8541D60-7A9E-4DF9-A485-6E035160C9B5}" type="presParOf" srcId="{07D336DA-FE6B-4502-8930-42CE9618CD17}" destId="{0D8727DE-E62F-46F4-B4B2-45D45B652DAC}" srcOrd="0" destOrd="0" presId="urn:microsoft.com/office/officeart/2008/layout/LinedList"/>
    <dgm:cxn modelId="{AF83D1B4-516B-48E1-80A2-1C9F4DD1C64B}" type="presParOf" srcId="{07D336DA-FE6B-4502-8930-42CE9618CD17}" destId="{9409E63C-264E-456A-85B1-E8A0BE5B8183}" srcOrd="1" destOrd="0" presId="urn:microsoft.com/office/officeart/2008/layout/LinedList"/>
    <dgm:cxn modelId="{AE79E036-F2C8-4CD2-971E-1E735865673F}" type="presParOf" srcId="{9409E63C-264E-456A-85B1-E8A0BE5B8183}" destId="{1BBFA6D8-7001-42EE-B95F-B9F6BFC4AA91}" srcOrd="0" destOrd="0" presId="urn:microsoft.com/office/officeart/2008/layout/LinedList"/>
    <dgm:cxn modelId="{E458C2FF-9AB8-40D1-941E-499DE57D5B4D}" type="presParOf" srcId="{9409E63C-264E-456A-85B1-E8A0BE5B8183}" destId="{2DA28750-EEAF-4197-AD60-99F3F963823F}" srcOrd="1" destOrd="0" presId="urn:microsoft.com/office/officeart/2008/layout/LinedList"/>
    <dgm:cxn modelId="{D28D8303-C06A-4C81-82BE-AA6119EB3A0C}" type="presParOf" srcId="{2DA28750-EEAF-4197-AD60-99F3F963823F}" destId="{7C1E526C-EBD5-4CD1-AE31-C78FA3416136}" srcOrd="0" destOrd="0" presId="urn:microsoft.com/office/officeart/2008/layout/LinedList"/>
    <dgm:cxn modelId="{9377005F-84A4-4836-8902-FB149AC862C6}" type="presParOf" srcId="{2DA28750-EEAF-4197-AD60-99F3F963823F}" destId="{6368106C-2B2A-47DD-B3E2-8EE48BF99B00}" srcOrd="1" destOrd="0" presId="urn:microsoft.com/office/officeart/2008/layout/LinedList"/>
    <dgm:cxn modelId="{E83A6A8D-6C19-4312-A6E4-609B8E546D5E}" type="presParOf" srcId="{2DA28750-EEAF-4197-AD60-99F3F963823F}" destId="{2C54B499-57A8-4F5F-A880-8D6C8FDBC0F1}" srcOrd="2" destOrd="0" presId="urn:microsoft.com/office/officeart/2008/layout/LinedList"/>
    <dgm:cxn modelId="{57EC33E8-3D33-4208-9E2B-ACE6A71BEB0B}" type="presParOf" srcId="{9409E63C-264E-456A-85B1-E8A0BE5B8183}" destId="{FEE0D8E4-7F68-4FF3-A4D4-3E9C75EC6863}" srcOrd="2" destOrd="0" presId="urn:microsoft.com/office/officeart/2008/layout/LinedList"/>
    <dgm:cxn modelId="{DE3392BA-A3D9-4671-A051-65D0DC60A28D}" type="presParOf" srcId="{9409E63C-264E-456A-85B1-E8A0BE5B8183}" destId="{E2F1D25C-26E3-4E53-BADE-C20538C851D1}" srcOrd="3" destOrd="0" presId="urn:microsoft.com/office/officeart/2008/layout/LinedList"/>
    <dgm:cxn modelId="{5C00A405-7C99-4E35-A0C7-B1977D188BC5}" type="presParOf" srcId="{4CDB5D44-4728-4DB0-ACC5-AEAA94DD52D8}" destId="{C3AB5F92-6D8E-4988-8393-03262CF21A86}" srcOrd="14" destOrd="0" presId="urn:microsoft.com/office/officeart/2008/layout/LinedList"/>
    <dgm:cxn modelId="{FD1A88AC-4E41-4596-9BC3-507E03B17B7A}" type="presParOf" srcId="{4CDB5D44-4728-4DB0-ACC5-AEAA94DD52D8}" destId="{15B8557A-B3B0-4A64-9DEF-1F8D77F5E5DE}" srcOrd="15" destOrd="0" presId="urn:microsoft.com/office/officeart/2008/layout/LinedList"/>
    <dgm:cxn modelId="{C8E09EBD-6EF6-4C00-BC9C-E47E16F72204}" type="presParOf" srcId="{15B8557A-B3B0-4A64-9DEF-1F8D77F5E5DE}" destId="{55489179-6D82-4B00-9C0E-FDDFC493C5AA}" srcOrd="0" destOrd="0" presId="urn:microsoft.com/office/officeart/2008/layout/LinedList"/>
    <dgm:cxn modelId="{DDD63CC5-666F-49D3-9C91-345647B981BE}" type="presParOf" srcId="{15B8557A-B3B0-4A64-9DEF-1F8D77F5E5DE}" destId="{4065AC1C-6A68-4C3B-97B0-4C57468CE6E6}" srcOrd="1" destOrd="0" presId="urn:microsoft.com/office/officeart/2008/layout/LinedList"/>
    <dgm:cxn modelId="{02EBA6EB-8CC2-42A8-B8E8-86201D79D339}" type="presParOf" srcId="{4065AC1C-6A68-4C3B-97B0-4C57468CE6E6}" destId="{DAC5BB69-CE0F-4160-9169-B5C73AB10C83}" srcOrd="0" destOrd="0" presId="urn:microsoft.com/office/officeart/2008/layout/LinedList"/>
    <dgm:cxn modelId="{86A95C3B-BF6F-47CB-A92D-816FF1B60F1B}" type="presParOf" srcId="{4065AC1C-6A68-4C3B-97B0-4C57468CE6E6}" destId="{AB0034FF-6F54-409F-A212-8FC49C889161}" srcOrd="1" destOrd="0" presId="urn:microsoft.com/office/officeart/2008/layout/LinedList"/>
    <dgm:cxn modelId="{E7ED9DD3-95FE-4500-BBC2-3FC24574F535}" type="presParOf" srcId="{AB0034FF-6F54-409F-A212-8FC49C889161}" destId="{290FD9D3-E2F9-49A9-BFA5-76D7B68A3B6D}" srcOrd="0" destOrd="0" presId="urn:microsoft.com/office/officeart/2008/layout/LinedList"/>
    <dgm:cxn modelId="{3B0E9375-CF77-4C80-8E72-E292DB61EA22}" type="presParOf" srcId="{AB0034FF-6F54-409F-A212-8FC49C889161}" destId="{D619E146-7A48-4CB2-B48E-B8E80FC4D63C}" srcOrd="1" destOrd="0" presId="urn:microsoft.com/office/officeart/2008/layout/LinedList"/>
    <dgm:cxn modelId="{B397F303-98F6-4467-966B-8DD7EF5D7EED}" type="presParOf" srcId="{AB0034FF-6F54-409F-A212-8FC49C889161}" destId="{28791CC4-D48F-401B-822E-DE3441B32E4D}" srcOrd="2" destOrd="0" presId="urn:microsoft.com/office/officeart/2008/layout/LinedList"/>
    <dgm:cxn modelId="{BF6F195E-3552-4697-90D9-A2BDA71BB24E}" type="presParOf" srcId="{4065AC1C-6A68-4C3B-97B0-4C57468CE6E6}" destId="{955033DF-A638-4CFA-AC7D-DA1186A11CC4}" srcOrd="2" destOrd="0" presId="urn:microsoft.com/office/officeart/2008/layout/LinedList"/>
    <dgm:cxn modelId="{95962E14-78FE-479C-8708-55C26163448F}" type="presParOf" srcId="{4065AC1C-6A68-4C3B-97B0-4C57468CE6E6}" destId="{70D9EE9D-98FF-41CA-984A-519DE253C3BC}"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dgm:spPr/>
      <dgm:t>
        <a:bodyPr/>
        <a:lstStyle/>
        <a:p>
          <a:endParaRPr lang="zh-CN" altLang="en-US"/>
        </a:p>
      </dgm:t>
    </dgm:pt>
    <dgm:pt modelId="{4D0E73C8-016F-46AE-A343-A4B4007B0EC3}">
      <dgm:prSet/>
      <dgm:spPr/>
      <dgm:t>
        <a:bodyPr/>
        <a:lstStyle/>
        <a:p>
          <a:r>
            <a:rPr lang="zh-CN"/>
            <a:t>维度组</a:t>
          </a:r>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a:t>维度</a:t>
          </a:r>
          <a:r>
            <a:rPr lang="en-US"/>
            <a:t>3</a:t>
          </a:r>
          <a:endParaRPr lang="zh-CN"/>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316E17B-4809-44C8-9466-217214F3808D}" type="pres">
      <dgm:prSet presAssocID="{BC1EAC1D-FBF5-422C-83AE-02E5E7BC735B}" presName="Name0" presStyleCnt="0">
        <dgm:presLayoutVars>
          <dgm:chPref val="1"/>
          <dgm:dir val="rev"/>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3"/>
      <dgm:spPr/>
    </dgm:pt>
    <dgm:pt modelId="{66DE2959-D9B6-4E79-9746-0EFC3BCBC19D}" type="pres">
      <dgm:prSet presAssocID="{A9F4C3D9-3557-4CAB-AAAF-AAED4E44A2B5}" presName="connTx" presStyleLbl="parChTrans1D2" presStyleIdx="0" presStyleCnt="3"/>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3">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3"/>
      <dgm:spPr/>
    </dgm:pt>
    <dgm:pt modelId="{DA3757F0-C76A-43BF-BB36-78A804971A2D}" type="pres">
      <dgm:prSet presAssocID="{9EB5C41A-FBC1-4D16-9554-ABDBED493D58}" presName="connTx" presStyleLbl="parChTrans1D2" presStyleIdx="1" presStyleCnt="3"/>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3">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3"/>
      <dgm:spPr/>
    </dgm:pt>
    <dgm:pt modelId="{1ACF5E9D-0FAA-4B59-B8B1-16B02EE6F726}" type="pres">
      <dgm:prSet presAssocID="{BB95CAC0-F8EE-4344-99E6-235EA59F03BB}" presName="connTx" presStyleLbl="parChTrans1D2" presStyleIdx="2" presStyleCnt="3"/>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3">
        <dgm:presLayoutVars>
          <dgm:chPref val="3"/>
        </dgm:presLayoutVars>
      </dgm:prSet>
      <dgm:spPr/>
    </dgm:pt>
    <dgm:pt modelId="{97CB6D7B-B43C-42BD-ADC7-2C7691BE2D46}" type="pres">
      <dgm:prSet presAssocID="{E6D7F503-79EA-4677-9BFD-D12A92F7A31C}"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4D0E73C8-016F-46AE-A343-A4B4007B0EC3}">
      <dgm:prSet/>
      <dgm:spPr/>
      <dgm:t>
        <a:bodyPr/>
        <a:lstStyle/>
        <a:p>
          <a:r>
            <a:rPr lang="zh-CN" dirty="0"/>
            <a:t>维度</a:t>
          </a:r>
          <a:r>
            <a:rPr lang="zh-CN" altLang="en-US" dirty="0"/>
            <a:t>集</a:t>
          </a:r>
          <a:endParaRPr lang="zh-CN" dirty="0"/>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dirty="0"/>
            <a:t>维度</a:t>
          </a:r>
          <a:r>
            <a:rPr lang="en-US" dirty="0"/>
            <a:t>3</a:t>
          </a:r>
          <a:endParaRPr lang="zh-CN" dirty="0"/>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FF59FCF-A083-4ADD-A79C-7835B76CADB9}">
      <dgm:prSet/>
      <dgm:spPr/>
      <dgm:t>
        <a:bodyPr/>
        <a:lstStyle/>
        <a:p>
          <a:r>
            <a:rPr lang="zh-CN" altLang="en-US" dirty="0"/>
            <a:t>维度</a:t>
          </a:r>
          <a:r>
            <a:rPr lang="en-US" altLang="zh-CN" dirty="0"/>
            <a:t>…..n</a:t>
          </a:r>
          <a:endParaRPr lang="zh-CN" dirty="0"/>
        </a:p>
      </dgm:t>
    </dgm:pt>
    <dgm:pt modelId="{080FB9FE-CD8C-498C-9CB8-0FE07EC03F3F}" type="parTrans" cxnId="{8C1E9521-07CA-4756-8D48-80B3EE92567F}">
      <dgm:prSet/>
      <dgm:spPr/>
      <dgm:t>
        <a:bodyPr/>
        <a:lstStyle/>
        <a:p>
          <a:endParaRPr lang="zh-CN" altLang="en-US"/>
        </a:p>
      </dgm:t>
    </dgm:pt>
    <dgm:pt modelId="{FA6BC42D-C388-4E1D-B05C-E49A47E34DBD}" type="sibTrans" cxnId="{8C1E9521-07CA-4756-8D48-80B3EE92567F}">
      <dgm:prSet/>
      <dgm:spPr/>
      <dgm:t>
        <a:bodyPr/>
        <a:lstStyle/>
        <a:p>
          <a:endParaRPr lang="zh-CN" altLang="en-US"/>
        </a:p>
      </dgm:t>
    </dgm:pt>
    <dgm:pt modelId="{9316E17B-4809-44C8-9466-217214F3808D}" type="pres">
      <dgm:prSet presAssocID="{BC1EAC1D-FBF5-422C-83AE-02E5E7BC735B}" presName="Name0" presStyleCnt="0">
        <dgm:presLayoutVars>
          <dgm:chPref val="1"/>
          <dgm:dir/>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4"/>
      <dgm:spPr/>
    </dgm:pt>
    <dgm:pt modelId="{66DE2959-D9B6-4E79-9746-0EFC3BCBC19D}" type="pres">
      <dgm:prSet presAssocID="{A9F4C3D9-3557-4CAB-AAAF-AAED4E44A2B5}" presName="connTx" presStyleLbl="parChTrans1D2" presStyleIdx="0" presStyleCnt="4"/>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4">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4"/>
      <dgm:spPr/>
    </dgm:pt>
    <dgm:pt modelId="{DA3757F0-C76A-43BF-BB36-78A804971A2D}" type="pres">
      <dgm:prSet presAssocID="{9EB5C41A-FBC1-4D16-9554-ABDBED493D58}" presName="connTx" presStyleLbl="parChTrans1D2" presStyleIdx="1" presStyleCnt="4"/>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4">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4"/>
      <dgm:spPr/>
    </dgm:pt>
    <dgm:pt modelId="{1ACF5E9D-0FAA-4B59-B8B1-16B02EE6F726}" type="pres">
      <dgm:prSet presAssocID="{BB95CAC0-F8EE-4344-99E6-235EA59F03BB}" presName="connTx" presStyleLbl="parChTrans1D2" presStyleIdx="2" presStyleCnt="4"/>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4">
        <dgm:presLayoutVars>
          <dgm:chPref val="3"/>
        </dgm:presLayoutVars>
      </dgm:prSet>
      <dgm:spPr/>
    </dgm:pt>
    <dgm:pt modelId="{97CB6D7B-B43C-42BD-ADC7-2C7691BE2D46}" type="pres">
      <dgm:prSet presAssocID="{E6D7F503-79EA-4677-9BFD-D12A92F7A31C}" presName="level3hierChild" presStyleCnt="0"/>
      <dgm:spPr/>
    </dgm:pt>
    <dgm:pt modelId="{9790859D-8C61-4AF6-B203-2D322A6E5352}" type="pres">
      <dgm:prSet presAssocID="{080FB9FE-CD8C-498C-9CB8-0FE07EC03F3F}" presName="conn2-1" presStyleLbl="parChTrans1D2" presStyleIdx="3" presStyleCnt="4"/>
      <dgm:spPr/>
    </dgm:pt>
    <dgm:pt modelId="{5EFECBB7-6398-44D6-A5EB-025DBB843910}" type="pres">
      <dgm:prSet presAssocID="{080FB9FE-CD8C-498C-9CB8-0FE07EC03F3F}" presName="connTx" presStyleLbl="parChTrans1D2" presStyleIdx="3" presStyleCnt="4"/>
      <dgm:spPr/>
    </dgm:pt>
    <dgm:pt modelId="{25BC1211-4860-4022-8197-C9D89C0B1A69}" type="pres">
      <dgm:prSet presAssocID="{9FF59FCF-A083-4ADD-A79C-7835B76CADB9}" presName="root2" presStyleCnt="0"/>
      <dgm:spPr/>
    </dgm:pt>
    <dgm:pt modelId="{14991D58-8D8C-4EA2-B08C-6DDC48E96B6F}" type="pres">
      <dgm:prSet presAssocID="{9FF59FCF-A083-4ADD-A79C-7835B76CADB9}" presName="LevelTwoTextNode" presStyleLbl="node2" presStyleIdx="3" presStyleCnt="4">
        <dgm:presLayoutVars>
          <dgm:chPref val="3"/>
        </dgm:presLayoutVars>
      </dgm:prSet>
      <dgm:spPr/>
    </dgm:pt>
    <dgm:pt modelId="{C9C45E51-61F2-4745-B372-0B4F420CE5DE}" type="pres">
      <dgm:prSet presAssocID="{9FF59FCF-A083-4ADD-A79C-7835B76CADB9}"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8C1E9521-07CA-4756-8D48-80B3EE92567F}" srcId="{4D0E73C8-016F-46AE-A343-A4B4007B0EC3}" destId="{9FF59FCF-A083-4ADD-A79C-7835B76CADB9}" srcOrd="3" destOrd="0" parTransId="{080FB9FE-CD8C-498C-9CB8-0FE07EC03F3F}" sibTransId="{FA6BC42D-C388-4E1D-B05C-E49A47E34DBD}"/>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778894B4-9D50-4858-B665-5AAD644C33D7}" type="presOf" srcId="{9FF59FCF-A083-4ADD-A79C-7835B76CADB9}" destId="{14991D58-8D8C-4EA2-B08C-6DDC48E96B6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1D28EBDA-FE60-4185-B8AB-65EEEF7F33B3}" type="presOf" srcId="{080FB9FE-CD8C-498C-9CB8-0FE07EC03F3F}" destId="{5EFECBB7-6398-44D6-A5EB-025DBB843910}" srcOrd="1" destOrd="0" presId="urn:microsoft.com/office/officeart/2008/layout/HorizontalMultiLevelHierarchy"/>
    <dgm:cxn modelId="{7EDF66F6-2B63-4A89-93AE-96CBFCAF5107}" type="presOf" srcId="{080FB9FE-CD8C-498C-9CB8-0FE07EC03F3F}" destId="{9790859D-8C61-4AF6-B203-2D322A6E5352}" srcOrd="0"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 modelId="{76EFB8A5-0486-4691-8D66-E110B05CE8AC}" type="presParOf" srcId="{EFCE2038-7E88-40F9-8618-E74E9EC204F3}" destId="{9790859D-8C61-4AF6-B203-2D322A6E5352}" srcOrd="6" destOrd="0" presId="urn:microsoft.com/office/officeart/2008/layout/HorizontalMultiLevelHierarchy"/>
    <dgm:cxn modelId="{D501F0B0-65CD-4768-BE0B-FD3C8E352E45}" type="presParOf" srcId="{9790859D-8C61-4AF6-B203-2D322A6E5352}" destId="{5EFECBB7-6398-44D6-A5EB-025DBB843910}" srcOrd="0" destOrd="0" presId="urn:microsoft.com/office/officeart/2008/layout/HorizontalMultiLevelHierarchy"/>
    <dgm:cxn modelId="{7F2030F1-3FC3-4683-A9AB-9E1E78978CBE}" type="presParOf" srcId="{EFCE2038-7E88-40F9-8618-E74E9EC204F3}" destId="{25BC1211-4860-4022-8197-C9D89C0B1A69}" srcOrd="7" destOrd="0" presId="urn:microsoft.com/office/officeart/2008/layout/HorizontalMultiLevelHierarchy"/>
    <dgm:cxn modelId="{21C49179-4AE6-41DB-BD85-DC93D775F9D2}" type="presParOf" srcId="{25BC1211-4860-4022-8197-C9D89C0B1A69}" destId="{14991D58-8D8C-4EA2-B08C-6DDC48E96B6F}" srcOrd="0" destOrd="0" presId="urn:microsoft.com/office/officeart/2008/layout/HorizontalMultiLevelHierarchy"/>
    <dgm:cxn modelId="{CC6CBD06-25DA-4294-8FBE-966431E8DFA3}" type="presParOf" srcId="{25BC1211-4860-4022-8197-C9D89C0B1A69}" destId="{C9C45E51-61F2-4745-B372-0B4F420CE5DE}" srcOrd="1" destOrd="0" presId="urn:microsoft.com/office/officeart/2008/layout/HorizontalMultiLevelHierarchy"/>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dgm:spPr/>
      <dgm:t>
        <a:bodyPr/>
        <a:lstStyle/>
        <a:p>
          <a:endParaRPr lang="zh-CN" altLang="en-US"/>
        </a:p>
      </dgm:t>
    </dgm:pt>
    <dgm:pt modelId="{4D0E73C8-016F-46AE-A343-A4B4007B0EC3}">
      <dgm:prSet/>
      <dgm:spPr/>
      <dgm:t>
        <a:bodyPr/>
        <a:lstStyle/>
        <a:p>
          <a:r>
            <a:rPr lang="zh-CN"/>
            <a:t>维度组</a:t>
          </a:r>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a:t>维度</a:t>
          </a:r>
          <a:r>
            <a:rPr lang="en-US"/>
            <a:t>3</a:t>
          </a:r>
          <a:endParaRPr lang="zh-CN"/>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316E17B-4809-44C8-9466-217214F3808D}" type="pres">
      <dgm:prSet presAssocID="{BC1EAC1D-FBF5-422C-83AE-02E5E7BC735B}" presName="Name0" presStyleCnt="0">
        <dgm:presLayoutVars>
          <dgm:chPref val="1"/>
          <dgm:dir val="rev"/>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3"/>
      <dgm:spPr/>
    </dgm:pt>
    <dgm:pt modelId="{66DE2959-D9B6-4E79-9746-0EFC3BCBC19D}" type="pres">
      <dgm:prSet presAssocID="{A9F4C3D9-3557-4CAB-AAAF-AAED4E44A2B5}" presName="connTx" presStyleLbl="parChTrans1D2" presStyleIdx="0" presStyleCnt="3"/>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3">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3"/>
      <dgm:spPr/>
    </dgm:pt>
    <dgm:pt modelId="{DA3757F0-C76A-43BF-BB36-78A804971A2D}" type="pres">
      <dgm:prSet presAssocID="{9EB5C41A-FBC1-4D16-9554-ABDBED493D58}" presName="connTx" presStyleLbl="parChTrans1D2" presStyleIdx="1" presStyleCnt="3"/>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3">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3"/>
      <dgm:spPr/>
    </dgm:pt>
    <dgm:pt modelId="{1ACF5E9D-0FAA-4B59-B8B1-16B02EE6F726}" type="pres">
      <dgm:prSet presAssocID="{BB95CAC0-F8EE-4344-99E6-235EA59F03BB}" presName="connTx" presStyleLbl="parChTrans1D2" presStyleIdx="2" presStyleCnt="3"/>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3">
        <dgm:presLayoutVars>
          <dgm:chPref val="3"/>
        </dgm:presLayoutVars>
      </dgm:prSet>
      <dgm:spPr/>
    </dgm:pt>
    <dgm:pt modelId="{97CB6D7B-B43C-42BD-ADC7-2C7691BE2D46}" type="pres">
      <dgm:prSet presAssocID="{E6D7F503-79EA-4677-9BFD-D12A92F7A31C}"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4D0E73C8-016F-46AE-A343-A4B4007B0EC3}">
      <dgm:prSet/>
      <dgm:spPr/>
      <dgm:t>
        <a:bodyPr/>
        <a:lstStyle/>
        <a:p>
          <a:r>
            <a:rPr lang="zh-CN" dirty="0"/>
            <a:t>维度</a:t>
          </a:r>
          <a:r>
            <a:rPr lang="zh-CN" altLang="en-US" dirty="0"/>
            <a:t>集</a:t>
          </a:r>
          <a:endParaRPr lang="zh-CN" dirty="0"/>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dirty="0"/>
            <a:t>维度</a:t>
          </a:r>
          <a:r>
            <a:rPr lang="en-US" dirty="0"/>
            <a:t>3</a:t>
          </a:r>
          <a:endParaRPr lang="zh-CN" dirty="0"/>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FF59FCF-A083-4ADD-A79C-7835B76CADB9}">
      <dgm:prSet/>
      <dgm:spPr/>
      <dgm:t>
        <a:bodyPr/>
        <a:lstStyle/>
        <a:p>
          <a:r>
            <a:rPr lang="zh-CN" altLang="en-US" dirty="0"/>
            <a:t>维度</a:t>
          </a:r>
          <a:r>
            <a:rPr lang="en-US" altLang="zh-CN" dirty="0"/>
            <a:t>…..n</a:t>
          </a:r>
          <a:endParaRPr lang="zh-CN" dirty="0"/>
        </a:p>
      </dgm:t>
    </dgm:pt>
    <dgm:pt modelId="{080FB9FE-CD8C-498C-9CB8-0FE07EC03F3F}" type="parTrans" cxnId="{8C1E9521-07CA-4756-8D48-80B3EE92567F}">
      <dgm:prSet/>
      <dgm:spPr/>
      <dgm:t>
        <a:bodyPr/>
        <a:lstStyle/>
        <a:p>
          <a:endParaRPr lang="zh-CN" altLang="en-US"/>
        </a:p>
      </dgm:t>
    </dgm:pt>
    <dgm:pt modelId="{FA6BC42D-C388-4E1D-B05C-E49A47E34DBD}" type="sibTrans" cxnId="{8C1E9521-07CA-4756-8D48-80B3EE92567F}">
      <dgm:prSet/>
      <dgm:spPr/>
      <dgm:t>
        <a:bodyPr/>
        <a:lstStyle/>
        <a:p>
          <a:endParaRPr lang="zh-CN" altLang="en-US"/>
        </a:p>
      </dgm:t>
    </dgm:pt>
    <dgm:pt modelId="{9316E17B-4809-44C8-9466-217214F3808D}" type="pres">
      <dgm:prSet presAssocID="{BC1EAC1D-FBF5-422C-83AE-02E5E7BC735B}" presName="Name0" presStyleCnt="0">
        <dgm:presLayoutVars>
          <dgm:chPref val="1"/>
          <dgm:dir/>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4"/>
      <dgm:spPr/>
    </dgm:pt>
    <dgm:pt modelId="{66DE2959-D9B6-4E79-9746-0EFC3BCBC19D}" type="pres">
      <dgm:prSet presAssocID="{A9F4C3D9-3557-4CAB-AAAF-AAED4E44A2B5}" presName="connTx" presStyleLbl="parChTrans1D2" presStyleIdx="0" presStyleCnt="4"/>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4">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4"/>
      <dgm:spPr/>
    </dgm:pt>
    <dgm:pt modelId="{DA3757F0-C76A-43BF-BB36-78A804971A2D}" type="pres">
      <dgm:prSet presAssocID="{9EB5C41A-FBC1-4D16-9554-ABDBED493D58}" presName="connTx" presStyleLbl="parChTrans1D2" presStyleIdx="1" presStyleCnt="4"/>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4">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4"/>
      <dgm:spPr/>
    </dgm:pt>
    <dgm:pt modelId="{1ACF5E9D-0FAA-4B59-B8B1-16B02EE6F726}" type="pres">
      <dgm:prSet presAssocID="{BB95CAC0-F8EE-4344-99E6-235EA59F03BB}" presName="connTx" presStyleLbl="parChTrans1D2" presStyleIdx="2" presStyleCnt="4"/>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4">
        <dgm:presLayoutVars>
          <dgm:chPref val="3"/>
        </dgm:presLayoutVars>
      </dgm:prSet>
      <dgm:spPr/>
    </dgm:pt>
    <dgm:pt modelId="{97CB6D7B-B43C-42BD-ADC7-2C7691BE2D46}" type="pres">
      <dgm:prSet presAssocID="{E6D7F503-79EA-4677-9BFD-D12A92F7A31C}" presName="level3hierChild" presStyleCnt="0"/>
      <dgm:spPr/>
    </dgm:pt>
    <dgm:pt modelId="{9790859D-8C61-4AF6-B203-2D322A6E5352}" type="pres">
      <dgm:prSet presAssocID="{080FB9FE-CD8C-498C-9CB8-0FE07EC03F3F}" presName="conn2-1" presStyleLbl="parChTrans1D2" presStyleIdx="3" presStyleCnt="4"/>
      <dgm:spPr/>
    </dgm:pt>
    <dgm:pt modelId="{5EFECBB7-6398-44D6-A5EB-025DBB843910}" type="pres">
      <dgm:prSet presAssocID="{080FB9FE-CD8C-498C-9CB8-0FE07EC03F3F}" presName="connTx" presStyleLbl="parChTrans1D2" presStyleIdx="3" presStyleCnt="4"/>
      <dgm:spPr/>
    </dgm:pt>
    <dgm:pt modelId="{25BC1211-4860-4022-8197-C9D89C0B1A69}" type="pres">
      <dgm:prSet presAssocID="{9FF59FCF-A083-4ADD-A79C-7835B76CADB9}" presName="root2" presStyleCnt="0"/>
      <dgm:spPr/>
    </dgm:pt>
    <dgm:pt modelId="{14991D58-8D8C-4EA2-B08C-6DDC48E96B6F}" type="pres">
      <dgm:prSet presAssocID="{9FF59FCF-A083-4ADD-A79C-7835B76CADB9}" presName="LevelTwoTextNode" presStyleLbl="node2" presStyleIdx="3" presStyleCnt="4">
        <dgm:presLayoutVars>
          <dgm:chPref val="3"/>
        </dgm:presLayoutVars>
      </dgm:prSet>
      <dgm:spPr/>
    </dgm:pt>
    <dgm:pt modelId="{C9C45E51-61F2-4745-B372-0B4F420CE5DE}" type="pres">
      <dgm:prSet presAssocID="{9FF59FCF-A083-4ADD-A79C-7835B76CADB9}"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8C1E9521-07CA-4756-8D48-80B3EE92567F}" srcId="{4D0E73C8-016F-46AE-A343-A4B4007B0EC3}" destId="{9FF59FCF-A083-4ADD-A79C-7835B76CADB9}" srcOrd="3" destOrd="0" parTransId="{080FB9FE-CD8C-498C-9CB8-0FE07EC03F3F}" sibTransId="{FA6BC42D-C388-4E1D-B05C-E49A47E34DBD}"/>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778894B4-9D50-4858-B665-5AAD644C33D7}" type="presOf" srcId="{9FF59FCF-A083-4ADD-A79C-7835B76CADB9}" destId="{14991D58-8D8C-4EA2-B08C-6DDC48E96B6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1D28EBDA-FE60-4185-B8AB-65EEEF7F33B3}" type="presOf" srcId="{080FB9FE-CD8C-498C-9CB8-0FE07EC03F3F}" destId="{5EFECBB7-6398-44D6-A5EB-025DBB843910}" srcOrd="1" destOrd="0" presId="urn:microsoft.com/office/officeart/2008/layout/HorizontalMultiLevelHierarchy"/>
    <dgm:cxn modelId="{7EDF66F6-2B63-4A89-93AE-96CBFCAF5107}" type="presOf" srcId="{080FB9FE-CD8C-498C-9CB8-0FE07EC03F3F}" destId="{9790859D-8C61-4AF6-B203-2D322A6E5352}" srcOrd="0"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 modelId="{76EFB8A5-0486-4691-8D66-E110B05CE8AC}" type="presParOf" srcId="{EFCE2038-7E88-40F9-8618-E74E9EC204F3}" destId="{9790859D-8C61-4AF6-B203-2D322A6E5352}" srcOrd="6" destOrd="0" presId="urn:microsoft.com/office/officeart/2008/layout/HorizontalMultiLevelHierarchy"/>
    <dgm:cxn modelId="{D501F0B0-65CD-4768-BE0B-FD3C8E352E45}" type="presParOf" srcId="{9790859D-8C61-4AF6-B203-2D322A6E5352}" destId="{5EFECBB7-6398-44D6-A5EB-025DBB843910}" srcOrd="0" destOrd="0" presId="urn:microsoft.com/office/officeart/2008/layout/HorizontalMultiLevelHierarchy"/>
    <dgm:cxn modelId="{7F2030F1-3FC3-4683-A9AB-9E1E78978CBE}" type="presParOf" srcId="{EFCE2038-7E88-40F9-8618-E74E9EC204F3}" destId="{25BC1211-4860-4022-8197-C9D89C0B1A69}" srcOrd="7" destOrd="0" presId="urn:microsoft.com/office/officeart/2008/layout/HorizontalMultiLevelHierarchy"/>
    <dgm:cxn modelId="{21C49179-4AE6-41DB-BD85-DC93D775F9D2}" type="presParOf" srcId="{25BC1211-4860-4022-8197-C9D89C0B1A69}" destId="{14991D58-8D8C-4EA2-B08C-6DDC48E96B6F}" srcOrd="0" destOrd="0" presId="urn:microsoft.com/office/officeart/2008/layout/HorizontalMultiLevelHierarchy"/>
    <dgm:cxn modelId="{CC6CBD06-25DA-4294-8FBE-966431E8DFA3}" type="presParOf" srcId="{25BC1211-4860-4022-8197-C9D89C0B1A69}" destId="{C9C45E51-61F2-4745-B372-0B4F420CE5DE}" srcOrd="1" destOrd="0" presId="urn:microsoft.com/office/officeart/2008/layout/HorizontalMultiLevelHierarchy"/>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dgm:spPr/>
      <dgm:t>
        <a:bodyPr/>
        <a:lstStyle/>
        <a:p>
          <a:endParaRPr lang="zh-CN" altLang="en-US"/>
        </a:p>
      </dgm:t>
    </dgm:pt>
    <dgm:pt modelId="{4D0E73C8-016F-46AE-A343-A4B4007B0EC3}">
      <dgm:prSet/>
      <dgm:spPr/>
      <dgm:t>
        <a:bodyPr/>
        <a:lstStyle/>
        <a:p>
          <a:r>
            <a:rPr lang="zh-CN"/>
            <a:t>维度组</a:t>
          </a:r>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a:t>维度</a:t>
          </a:r>
          <a:r>
            <a:rPr lang="en-US"/>
            <a:t>3</a:t>
          </a:r>
          <a:endParaRPr lang="zh-CN"/>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316E17B-4809-44C8-9466-217214F3808D}" type="pres">
      <dgm:prSet presAssocID="{BC1EAC1D-FBF5-422C-83AE-02E5E7BC735B}" presName="Name0" presStyleCnt="0">
        <dgm:presLayoutVars>
          <dgm:chPref val="1"/>
          <dgm:dir val="rev"/>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3"/>
      <dgm:spPr/>
    </dgm:pt>
    <dgm:pt modelId="{66DE2959-D9B6-4E79-9746-0EFC3BCBC19D}" type="pres">
      <dgm:prSet presAssocID="{A9F4C3D9-3557-4CAB-AAAF-AAED4E44A2B5}" presName="connTx" presStyleLbl="parChTrans1D2" presStyleIdx="0" presStyleCnt="3"/>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3">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3"/>
      <dgm:spPr/>
    </dgm:pt>
    <dgm:pt modelId="{DA3757F0-C76A-43BF-BB36-78A804971A2D}" type="pres">
      <dgm:prSet presAssocID="{9EB5C41A-FBC1-4D16-9554-ABDBED493D58}" presName="connTx" presStyleLbl="parChTrans1D2" presStyleIdx="1" presStyleCnt="3"/>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3">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3"/>
      <dgm:spPr/>
    </dgm:pt>
    <dgm:pt modelId="{1ACF5E9D-0FAA-4B59-B8B1-16B02EE6F726}" type="pres">
      <dgm:prSet presAssocID="{BB95CAC0-F8EE-4344-99E6-235EA59F03BB}" presName="connTx" presStyleLbl="parChTrans1D2" presStyleIdx="2" presStyleCnt="3"/>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3">
        <dgm:presLayoutVars>
          <dgm:chPref val="3"/>
        </dgm:presLayoutVars>
      </dgm:prSet>
      <dgm:spPr/>
    </dgm:pt>
    <dgm:pt modelId="{97CB6D7B-B43C-42BD-ADC7-2C7691BE2D46}" type="pres">
      <dgm:prSet presAssocID="{E6D7F503-79EA-4677-9BFD-D12A92F7A31C}"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BC1EAC1D-FBF5-422C-83AE-02E5E7BC735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4D0E73C8-016F-46AE-A343-A4B4007B0EC3}">
      <dgm:prSet/>
      <dgm:spPr/>
      <dgm:t>
        <a:bodyPr/>
        <a:lstStyle/>
        <a:p>
          <a:r>
            <a:rPr lang="zh-CN" dirty="0"/>
            <a:t>维度</a:t>
          </a:r>
          <a:r>
            <a:rPr lang="zh-CN" altLang="en-US" dirty="0"/>
            <a:t>集</a:t>
          </a:r>
          <a:endParaRPr lang="zh-CN" dirty="0"/>
        </a:p>
      </dgm:t>
    </dgm:pt>
    <dgm:pt modelId="{D59E36EF-1B51-4655-87BB-EDD418BC73D8}" type="parTrans" cxnId="{6ACDD230-B6C2-4C78-B91E-1A0C2E8680E1}">
      <dgm:prSet/>
      <dgm:spPr/>
      <dgm:t>
        <a:bodyPr/>
        <a:lstStyle/>
        <a:p>
          <a:endParaRPr lang="zh-CN" altLang="en-US"/>
        </a:p>
      </dgm:t>
    </dgm:pt>
    <dgm:pt modelId="{E4BF4CFC-BEB5-466E-8A79-19761F3F1A05}" type="sibTrans" cxnId="{6ACDD230-B6C2-4C78-B91E-1A0C2E8680E1}">
      <dgm:prSet/>
      <dgm:spPr/>
      <dgm:t>
        <a:bodyPr/>
        <a:lstStyle/>
        <a:p>
          <a:endParaRPr lang="zh-CN" altLang="en-US"/>
        </a:p>
      </dgm:t>
    </dgm:pt>
    <dgm:pt modelId="{8C2A3439-D190-48EE-BF9B-57A1589134E8}">
      <dgm:prSet/>
      <dgm:spPr/>
      <dgm:t>
        <a:bodyPr/>
        <a:lstStyle/>
        <a:p>
          <a:r>
            <a:rPr lang="zh-CN"/>
            <a:t>维度</a:t>
          </a:r>
          <a:r>
            <a:rPr lang="en-US"/>
            <a:t>1</a:t>
          </a:r>
          <a:endParaRPr lang="zh-CN"/>
        </a:p>
      </dgm:t>
    </dgm:pt>
    <dgm:pt modelId="{A9F4C3D9-3557-4CAB-AAAF-AAED4E44A2B5}" type="parTrans" cxnId="{8B72DF7A-BB5A-43CC-BB0A-9EE4B08EBCD4}">
      <dgm:prSet/>
      <dgm:spPr/>
      <dgm:t>
        <a:bodyPr/>
        <a:lstStyle/>
        <a:p>
          <a:endParaRPr lang="zh-CN" altLang="en-US"/>
        </a:p>
      </dgm:t>
    </dgm:pt>
    <dgm:pt modelId="{3BCD7D25-2F28-492A-904D-F55660FCCCC5}" type="sibTrans" cxnId="{8B72DF7A-BB5A-43CC-BB0A-9EE4B08EBCD4}">
      <dgm:prSet/>
      <dgm:spPr/>
      <dgm:t>
        <a:bodyPr/>
        <a:lstStyle/>
        <a:p>
          <a:endParaRPr lang="zh-CN" altLang="en-US"/>
        </a:p>
      </dgm:t>
    </dgm:pt>
    <dgm:pt modelId="{33D7E657-5381-4B86-AC8F-D1233F63B0E0}">
      <dgm:prSet/>
      <dgm:spPr/>
      <dgm:t>
        <a:bodyPr/>
        <a:lstStyle/>
        <a:p>
          <a:r>
            <a:rPr lang="zh-CN"/>
            <a:t>维度</a:t>
          </a:r>
          <a:r>
            <a:rPr lang="en-US"/>
            <a:t>2</a:t>
          </a:r>
          <a:endParaRPr lang="zh-CN"/>
        </a:p>
      </dgm:t>
    </dgm:pt>
    <dgm:pt modelId="{9EB5C41A-FBC1-4D16-9554-ABDBED493D58}" type="parTrans" cxnId="{97620E2F-4DB4-43F1-AFFF-2B80223454D7}">
      <dgm:prSet/>
      <dgm:spPr/>
      <dgm:t>
        <a:bodyPr/>
        <a:lstStyle/>
        <a:p>
          <a:endParaRPr lang="zh-CN" altLang="en-US"/>
        </a:p>
      </dgm:t>
    </dgm:pt>
    <dgm:pt modelId="{274C15D3-7322-4136-B3A1-56F4AC850375}" type="sibTrans" cxnId="{97620E2F-4DB4-43F1-AFFF-2B80223454D7}">
      <dgm:prSet/>
      <dgm:spPr/>
      <dgm:t>
        <a:bodyPr/>
        <a:lstStyle/>
        <a:p>
          <a:endParaRPr lang="zh-CN" altLang="en-US"/>
        </a:p>
      </dgm:t>
    </dgm:pt>
    <dgm:pt modelId="{E6D7F503-79EA-4677-9BFD-D12A92F7A31C}">
      <dgm:prSet/>
      <dgm:spPr/>
      <dgm:t>
        <a:bodyPr/>
        <a:lstStyle/>
        <a:p>
          <a:r>
            <a:rPr lang="zh-CN" dirty="0"/>
            <a:t>维度</a:t>
          </a:r>
          <a:r>
            <a:rPr lang="en-US" dirty="0"/>
            <a:t>3</a:t>
          </a:r>
          <a:endParaRPr lang="zh-CN" dirty="0"/>
        </a:p>
      </dgm:t>
    </dgm:pt>
    <dgm:pt modelId="{BB95CAC0-F8EE-4344-99E6-235EA59F03BB}" type="parTrans" cxnId="{7650666C-5725-4202-8DC8-8154E00197F3}">
      <dgm:prSet/>
      <dgm:spPr/>
      <dgm:t>
        <a:bodyPr/>
        <a:lstStyle/>
        <a:p>
          <a:endParaRPr lang="zh-CN" altLang="en-US"/>
        </a:p>
      </dgm:t>
    </dgm:pt>
    <dgm:pt modelId="{62C6CF20-1C13-4066-B393-046EED92FBC9}" type="sibTrans" cxnId="{7650666C-5725-4202-8DC8-8154E00197F3}">
      <dgm:prSet/>
      <dgm:spPr/>
      <dgm:t>
        <a:bodyPr/>
        <a:lstStyle/>
        <a:p>
          <a:endParaRPr lang="zh-CN" altLang="en-US"/>
        </a:p>
      </dgm:t>
    </dgm:pt>
    <dgm:pt modelId="{9FF59FCF-A083-4ADD-A79C-7835B76CADB9}">
      <dgm:prSet/>
      <dgm:spPr/>
      <dgm:t>
        <a:bodyPr/>
        <a:lstStyle/>
        <a:p>
          <a:r>
            <a:rPr lang="zh-CN" altLang="en-US" dirty="0"/>
            <a:t>维度</a:t>
          </a:r>
          <a:r>
            <a:rPr lang="en-US" altLang="zh-CN" dirty="0"/>
            <a:t>…..n</a:t>
          </a:r>
          <a:endParaRPr lang="zh-CN" dirty="0"/>
        </a:p>
      </dgm:t>
    </dgm:pt>
    <dgm:pt modelId="{080FB9FE-CD8C-498C-9CB8-0FE07EC03F3F}" type="parTrans" cxnId="{8C1E9521-07CA-4756-8D48-80B3EE92567F}">
      <dgm:prSet/>
      <dgm:spPr/>
      <dgm:t>
        <a:bodyPr/>
        <a:lstStyle/>
        <a:p>
          <a:endParaRPr lang="zh-CN" altLang="en-US"/>
        </a:p>
      </dgm:t>
    </dgm:pt>
    <dgm:pt modelId="{FA6BC42D-C388-4E1D-B05C-E49A47E34DBD}" type="sibTrans" cxnId="{8C1E9521-07CA-4756-8D48-80B3EE92567F}">
      <dgm:prSet/>
      <dgm:spPr/>
      <dgm:t>
        <a:bodyPr/>
        <a:lstStyle/>
        <a:p>
          <a:endParaRPr lang="zh-CN" altLang="en-US"/>
        </a:p>
      </dgm:t>
    </dgm:pt>
    <dgm:pt modelId="{9316E17B-4809-44C8-9466-217214F3808D}" type="pres">
      <dgm:prSet presAssocID="{BC1EAC1D-FBF5-422C-83AE-02E5E7BC735B}" presName="Name0" presStyleCnt="0">
        <dgm:presLayoutVars>
          <dgm:chPref val="1"/>
          <dgm:dir/>
          <dgm:animOne val="branch"/>
          <dgm:animLvl val="lvl"/>
          <dgm:resizeHandles val="exact"/>
        </dgm:presLayoutVars>
      </dgm:prSet>
      <dgm:spPr/>
    </dgm:pt>
    <dgm:pt modelId="{21C4873A-8667-43E2-9485-A3ACFD1D62B9}" type="pres">
      <dgm:prSet presAssocID="{4D0E73C8-016F-46AE-A343-A4B4007B0EC3}" presName="root1" presStyleCnt="0"/>
      <dgm:spPr/>
    </dgm:pt>
    <dgm:pt modelId="{8A084EB8-76C1-479D-ABBB-821AC3A0C1D3}" type="pres">
      <dgm:prSet presAssocID="{4D0E73C8-016F-46AE-A343-A4B4007B0EC3}" presName="LevelOneTextNode" presStyleLbl="node0" presStyleIdx="0" presStyleCnt="1">
        <dgm:presLayoutVars>
          <dgm:chPref val="3"/>
        </dgm:presLayoutVars>
      </dgm:prSet>
      <dgm:spPr/>
    </dgm:pt>
    <dgm:pt modelId="{EFCE2038-7E88-40F9-8618-E74E9EC204F3}" type="pres">
      <dgm:prSet presAssocID="{4D0E73C8-016F-46AE-A343-A4B4007B0EC3}" presName="level2hierChild" presStyleCnt="0"/>
      <dgm:spPr/>
    </dgm:pt>
    <dgm:pt modelId="{02182DB4-8CE3-459C-B6C0-9CB5DC71479B}" type="pres">
      <dgm:prSet presAssocID="{A9F4C3D9-3557-4CAB-AAAF-AAED4E44A2B5}" presName="conn2-1" presStyleLbl="parChTrans1D2" presStyleIdx="0" presStyleCnt="4"/>
      <dgm:spPr/>
    </dgm:pt>
    <dgm:pt modelId="{66DE2959-D9B6-4E79-9746-0EFC3BCBC19D}" type="pres">
      <dgm:prSet presAssocID="{A9F4C3D9-3557-4CAB-AAAF-AAED4E44A2B5}" presName="connTx" presStyleLbl="parChTrans1D2" presStyleIdx="0" presStyleCnt="4"/>
      <dgm:spPr/>
    </dgm:pt>
    <dgm:pt modelId="{1A7E0058-4A52-402C-A4B4-57756FAF6743}" type="pres">
      <dgm:prSet presAssocID="{8C2A3439-D190-48EE-BF9B-57A1589134E8}" presName="root2" presStyleCnt="0"/>
      <dgm:spPr/>
    </dgm:pt>
    <dgm:pt modelId="{D327265F-B942-4B43-A502-D10FFEA12F73}" type="pres">
      <dgm:prSet presAssocID="{8C2A3439-D190-48EE-BF9B-57A1589134E8}" presName="LevelTwoTextNode" presStyleLbl="node2" presStyleIdx="0" presStyleCnt="4">
        <dgm:presLayoutVars>
          <dgm:chPref val="3"/>
        </dgm:presLayoutVars>
      </dgm:prSet>
      <dgm:spPr/>
    </dgm:pt>
    <dgm:pt modelId="{E8E36F7C-37E1-4069-8883-49CD86D62220}" type="pres">
      <dgm:prSet presAssocID="{8C2A3439-D190-48EE-BF9B-57A1589134E8}" presName="level3hierChild" presStyleCnt="0"/>
      <dgm:spPr/>
    </dgm:pt>
    <dgm:pt modelId="{8693A490-7F8B-45EB-8ABA-62C345D97B2B}" type="pres">
      <dgm:prSet presAssocID="{9EB5C41A-FBC1-4D16-9554-ABDBED493D58}" presName="conn2-1" presStyleLbl="parChTrans1D2" presStyleIdx="1" presStyleCnt="4"/>
      <dgm:spPr/>
    </dgm:pt>
    <dgm:pt modelId="{DA3757F0-C76A-43BF-BB36-78A804971A2D}" type="pres">
      <dgm:prSet presAssocID="{9EB5C41A-FBC1-4D16-9554-ABDBED493D58}" presName="connTx" presStyleLbl="parChTrans1D2" presStyleIdx="1" presStyleCnt="4"/>
      <dgm:spPr/>
    </dgm:pt>
    <dgm:pt modelId="{4E70CE55-4684-45EC-9BB4-114C45567522}" type="pres">
      <dgm:prSet presAssocID="{33D7E657-5381-4B86-AC8F-D1233F63B0E0}" presName="root2" presStyleCnt="0"/>
      <dgm:spPr/>
    </dgm:pt>
    <dgm:pt modelId="{CDD08F04-9859-46B0-AD62-E025CBE48998}" type="pres">
      <dgm:prSet presAssocID="{33D7E657-5381-4B86-AC8F-D1233F63B0E0}" presName="LevelTwoTextNode" presStyleLbl="node2" presStyleIdx="1" presStyleCnt="4">
        <dgm:presLayoutVars>
          <dgm:chPref val="3"/>
        </dgm:presLayoutVars>
      </dgm:prSet>
      <dgm:spPr/>
    </dgm:pt>
    <dgm:pt modelId="{F07EB07B-6EC3-4AAA-AD7E-F139A1F1B1EF}" type="pres">
      <dgm:prSet presAssocID="{33D7E657-5381-4B86-AC8F-D1233F63B0E0}" presName="level3hierChild" presStyleCnt="0"/>
      <dgm:spPr/>
    </dgm:pt>
    <dgm:pt modelId="{CD1E3767-A381-4B03-AC88-F10F736702EF}" type="pres">
      <dgm:prSet presAssocID="{BB95CAC0-F8EE-4344-99E6-235EA59F03BB}" presName="conn2-1" presStyleLbl="parChTrans1D2" presStyleIdx="2" presStyleCnt="4"/>
      <dgm:spPr/>
    </dgm:pt>
    <dgm:pt modelId="{1ACF5E9D-0FAA-4B59-B8B1-16B02EE6F726}" type="pres">
      <dgm:prSet presAssocID="{BB95CAC0-F8EE-4344-99E6-235EA59F03BB}" presName="connTx" presStyleLbl="parChTrans1D2" presStyleIdx="2" presStyleCnt="4"/>
      <dgm:spPr/>
    </dgm:pt>
    <dgm:pt modelId="{BCCA3DFD-0047-4AAE-8EB7-1560B537DDA4}" type="pres">
      <dgm:prSet presAssocID="{E6D7F503-79EA-4677-9BFD-D12A92F7A31C}" presName="root2" presStyleCnt="0"/>
      <dgm:spPr/>
    </dgm:pt>
    <dgm:pt modelId="{3EB37757-FBE5-45BC-AFB0-99E6600D6278}" type="pres">
      <dgm:prSet presAssocID="{E6D7F503-79EA-4677-9BFD-D12A92F7A31C}" presName="LevelTwoTextNode" presStyleLbl="node2" presStyleIdx="2" presStyleCnt="4">
        <dgm:presLayoutVars>
          <dgm:chPref val="3"/>
        </dgm:presLayoutVars>
      </dgm:prSet>
      <dgm:spPr/>
    </dgm:pt>
    <dgm:pt modelId="{97CB6D7B-B43C-42BD-ADC7-2C7691BE2D46}" type="pres">
      <dgm:prSet presAssocID="{E6D7F503-79EA-4677-9BFD-D12A92F7A31C}" presName="level3hierChild" presStyleCnt="0"/>
      <dgm:spPr/>
    </dgm:pt>
    <dgm:pt modelId="{9790859D-8C61-4AF6-B203-2D322A6E5352}" type="pres">
      <dgm:prSet presAssocID="{080FB9FE-CD8C-498C-9CB8-0FE07EC03F3F}" presName="conn2-1" presStyleLbl="parChTrans1D2" presStyleIdx="3" presStyleCnt="4"/>
      <dgm:spPr/>
    </dgm:pt>
    <dgm:pt modelId="{5EFECBB7-6398-44D6-A5EB-025DBB843910}" type="pres">
      <dgm:prSet presAssocID="{080FB9FE-CD8C-498C-9CB8-0FE07EC03F3F}" presName="connTx" presStyleLbl="parChTrans1D2" presStyleIdx="3" presStyleCnt="4"/>
      <dgm:spPr/>
    </dgm:pt>
    <dgm:pt modelId="{25BC1211-4860-4022-8197-C9D89C0B1A69}" type="pres">
      <dgm:prSet presAssocID="{9FF59FCF-A083-4ADD-A79C-7835B76CADB9}" presName="root2" presStyleCnt="0"/>
      <dgm:spPr/>
    </dgm:pt>
    <dgm:pt modelId="{14991D58-8D8C-4EA2-B08C-6DDC48E96B6F}" type="pres">
      <dgm:prSet presAssocID="{9FF59FCF-A083-4ADD-A79C-7835B76CADB9}" presName="LevelTwoTextNode" presStyleLbl="node2" presStyleIdx="3" presStyleCnt="4">
        <dgm:presLayoutVars>
          <dgm:chPref val="3"/>
        </dgm:presLayoutVars>
      </dgm:prSet>
      <dgm:spPr/>
    </dgm:pt>
    <dgm:pt modelId="{C9C45E51-61F2-4745-B372-0B4F420CE5DE}" type="pres">
      <dgm:prSet presAssocID="{9FF59FCF-A083-4ADD-A79C-7835B76CADB9}" presName="level3hierChild" presStyleCnt="0"/>
      <dgm:spPr/>
    </dgm:pt>
  </dgm:ptLst>
  <dgm:cxnLst>
    <dgm:cxn modelId="{04D96209-EFEA-4716-A35B-39780C60C42B}" type="presOf" srcId="{BB95CAC0-F8EE-4344-99E6-235EA59F03BB}" destId="{1ACF5E9D-0FAA-4B59-B8B1-16B02EE6F726}" srcOrd="1" destOrd="0" presId="urn:microsoft.com/office/officeart/2008/layout/HorizontalMultiLevelHierarchy"/>
    <dgm:cxn modelId="{8C1E9521-07CA-4756-8D48-80B3EE92567F}" srcId="{4D0E73C8-016F-46AE-A343-A4B4007B0EC3}" destId="{9FF59FCF-A083-4ADD-A79C-7835B76CADB9}" srcOrd="3" destOrd="0" parTransId="{080FB9FE-CD8C-498C-9CB8-0FE07EC03F3F}" sibTransId="{FA6BC42D-C388-4E1D-B05C-E49A47E34DBD}"/>
    <dgm:cxn modelId="{97620E2F-4DB4-43F1-AFFF-2B80223454D7}" srcId="{4D0E73C8-016F-46AE-A343-A4B4007B0EC3}" destId="{33D7E657-5381-4B86-AC8F-D1233F63B0E0}" srcOrd="1" destOrd="0" parTransId="{9EB5C41A-FBC1-4D16-9554-ABDBED493D58}" sibTransId="{274C15D3-7322-4136-B3A1-56F4AC850375}"/>
    <dgm:cxn modelId="{6ACDD230-B6C2-4C78-B91E-1A0C2E8680E1}" srcId="{BC1EAC1D-FBF5-422C-83AE-02E5E7BC735B}" destId="{4D0E73C8-016F-46AE-A343-A4B4007B0EC3}" srcOrd="0" destOrd="0" parTransId="{D59E36EF-1B51-4655-87BB-EDD418BC73D8}" sibTransId="{E4BF4CFC-BEB5-466E-8A79-19761F3F1A05}"/>
    <dgm:cxn modelId="{7CECBC36-4398-4A99-9E04-91ACB4618D09}" type="presOf" srcId="{BC1EAC1D-FBF5-422C-83AE-02E5E7BC735B}" destId="{9316E17B-4809-44C8-9466-217214F3808D}" srcOrd="0" destOrd="0" presId="urn:microsoft.com/office/officeart/2008/layout/HorizontalMultiLevelHierarchy"/>
    <dgm:cxn modelId="{98B4463F-4903-4F21-A460-ACA8672D9322}" type="presOf" srcId="{A9F4C3D9-3557-4CAB-AAAF-AAED4E44A2B5}" destId="{02182DB4-8CE3-459C-B6C0-9CB5DC71479B}" srcOrd="0" destOrd="0" presId="urn:microsoft.com/office/officeart/2008/layout/HorizontalMultiLevelHierarchy"/>
    <dgm:cxn modelId="{C4348A45-EB10-4933-A4FC-4E833B7DFD1B}" type="presOf" srcId="{E6D7F503-79EA-4677-9BFD-D12A92F7A31C}" destId="{3EB37757-FBE5-45BC-AFB0-99E6600D6278}" srcOrd="0" destOrd="0" presId="urn:microsoft.com/office/officeart/2008/layout/HorizontalMultiLevelHierarchy"/>
    <dgm:cxn modelId="{7650666C-5725-4202-8DC8-8154E00197F3}" srcId="{4D0E73C8-016F-46AE-A343-A4B4007B0EC3}" destId="{E6D7F503-79EA-4677-9BFD-D12A92F7A31C}" srcOrd="2" destOrd="0" parTransId="{BB95CAC0-F8EE-4344-99E6-235EA59F03BB}" sibTransId="{62C6CF20-1C13-4066-B393-046EED92FBC9}"/>
    <dgm:cxn modelId="{704F505A-F516-426A-AD3B-06A3F33199E0}" type="presOf" srcId="{33D7E657-5381-4B86-AC8F-D1233F63B0E0}" destId="{CDD08F04-9859-46B0-AD62-E025CBE48998}" srcOrd="0" destOrd="0" presId="urn:microsoft.com/office/officeart/2008/layout/HorizontalMultiLevelHierarchy"/>
    <dgm:cxn modelId="{8B72DF7A-BB5A-43CC-BB0A-9EE4B08EBCD4}" srcId="{4D0E73C8-016F-46AE-A343-A4B4007B0EC3}" destId="{8C2A3439-D190-48EE-BF9B-57A1589134E8}" srcOrd="0" destOrd="0" parTransId="{A9F4C3D9-3557-4CAB-AAAF-AAED4E44A2B5}" sibTransId="{3BCD7D25-2F28-492A-904D-F55660FCCCC5}"/>
    <dgm:cxn modelId="{9A0F8689-245B-474F-A7C5-A85F29F49A16}" type="presOf" srcId="{8C2A3439-D190-48EE-BF9B-57A1589134E8}" destId="{D327265F-B942-4B43-A502-D10FFEA12F73}" srcOrd="0" destOrd="0" presId="urn:microsoft.com/office/officeart/2008/layout/HorizontalMultiLevelHierarchy"/>
    <dgm:cxn modelId="{7F1FD491-888B-4A2B-B629-4C2BC19D3EAE}" type="presOf" srcId="{4D0E73C8-016F-46AE-A343-A4B4007B0EC3}" destId="{8A084EB8-76C1-479D-ABBB-821AC3A0C1D3}" srcOrd="0" destOrd="0" presId="urn:microsoft.com/office/officeart/2008/layout/HorizontalMultiLevelHierarchy"/>
    <dgm:cxn modelId="{24189F97-8CDE-4C1B-8BB9-D9CDFE024A22}" type="presOf" srcId="{A9F4C3D9-3557-4CAB-AAAF-AAED4E44A2B5}" destId="{66DE2959-D9B6-4E79-9746-0EFC3BCBC19D}" srcOrd="1" destOrd="0" presId="urn:microsoft.com/office/officeart/2008/layout/HorizontalMultiLevelHierarchy"/>
    <dgm:cxn modelId="{DD755AB2-7FAC-4D0D-87D4-8A99F338F6D6}" type="presOf" srcId="{BB95CAC0-F8EE-4344-99E6-235EA59F03BB}" destId="{CD1E3767-A381-4B03-AC88-F10F736702EF}" srcOrd="0" destOrd="0" presId="urn:microsoft.com/office/officeart/2008/layout/HorizontalMultiLevelHierarchy"/>
    <dgm:cxn modelId="{778894B4-9D50-4858-B665-5AAD644C33D7}" type="presOf" srcId="{9FF59FCF-A083-4ADD-A79C-7835B76CADB9}" destId="{14991D58-8D8C-4EA2-B08C-6DDC48E96B6F}" srcOrd="0" destOrd="0" presId="urn:microsoft.com/office/officeart/2008/layout/HorizontalMultiLevelHierarchy"/>
    <dgm:cxn modelId="{938B57C3-60E3-4B9E-9736-AE344E6D84DA}" type="presOf" srcId="{9EB5C41A-FBC1-4D16-9554-ABDBED493D58}" destId="{8693A490-7F8B-45EB-8ABA-62C345D97B2B}" srcOrd="0" destOrd="0" presId="urn:microsoft.com/office/officeart/2008/layout/HorizontalMultiLevelHierarchy"/>
    <dgm:cxn modelId="{60B1F8C8-A4CD-4389-97C5-82E8EFE84ECB}" type="presOf" srcId="{9EB5C41A-FBC1-4D16-9554-ABDBED493D58}" destId="{DA3757F0-C76A-43BF-BB36-78A804971A2D}" srcOrd="1" destOrd="0" presId="urn:microsoft.com/office/officeart/2008/layout/HorizontalMultiLevelHierarchy"/>
    <dgm:cxn modelId="{1D28EBDA-FE60-4185-B8AB-65EEEF7F33B3}" type="presOf" srcId="{080FB9FE-CD8C-498C-9CB8-0FE07EC03F3F}" destId="{5EFECBB7-6398-44D6-A5EB-025DBB843910}" srcOrd="1" destOrd="0" presId="urn:microsoft.com/office/officeart/2008/layout/HorizontalMultiLevelHierarchy"/>
    <dgm:cxn modelId="{7EDF66F6-2B63-4A89-93AE-96CBFCAF5107}" type="presOf" srcId="{080FB9FE-CD8C-498C-9CB8-0FE07EC03F3F}" destId="{9790859D-8C61-4AF6-B203-2D322A6E5352}" srcOrd="0" destOrd="0" presId="urn:microsoft.com/office/officeart/2008/layout/HorizontalMultiLevelHierarchy"/>
    <dgm:cxn modelId="{69A07687-6CD0-4AB7-8FFD-814009EC175E}" type="presParOf" srcId="{9316E17B-4809-44C8-9466-217214F3808D}" destId="{21C4873A-8667-43E2-9485-A3ACFD1D62B9}" srcOrd="0" destOrd="0" presId="urn:microsoft.com/office/officeart/2008/layout/HorizontalMultiLevelHierarchy"/>
    <dgm:cxn modelId="{7983ED05-CCEE-45C6-8830-DD847419F7AE}" type="presParOf" srcId="{21C4873A-8667-43E2-9485-A3ACFD1D62B9}" destId="{8A084EB8-76C1-479D-ABBB-821AC3A0C1D3}" srcOrd="0" destOrd="0" presId="urn:microsoft.com/office/officeart/2008/layout/HorizontalMultiLevelHierarchy"/>
    <dgm:cxn modelId="{36816416-D8FA-4817-AD99-017031BB5611}" type="presParOf" srcId="{21C4873A-8667-43E2-9485-A3ACFD1D62B9}" destId="{EFCE2038-7E88-40F9-8618-E74E9EC204F3}" srcOrd="1" destOrd="0" presId="urn:microsoft.com/office/officeart/2008/layout/HorizontalMultiLevelHierarchy"/>
    <dgm:cxn modelId="{32D854F4-2849-4E63-AE0C-C1454BDEB591}" type="presParOf" srcId="{EFCE2038-7E88-40F9-8618-E74E9EC204F3}" destId="{02182DB4-8CE3-459C-B6C0-9CB5DC71479B}" srcOrd="0" destOrd="0" presId="urn:microsoft.com/office/officeart/2008/layout/HorizontalMultiLevelHierarchy"/>
    <dgm:cxn modelId="{31F15300-E4D1-4CD5-B2FE-B2A5874E60E0}" type="presParOf" srcId="{02182DB4-8CE3-459C-B6C0-9CB5DC71479B}" destId="{66DE2959-D9B6-4E79-9746-0EFC3BCBC19D}" srcOrd="0" destOrd="0" presId="urn:microsoft.com/office/officeart/2008/layout/HorizontalMultiLevelHierarchy"/>
    <dgm:cxn modelId="{D208194C-7393-41E1-BB91-BFFB60ED29DE}" type="presParOf" srcId="{EFCE2038-7E88-40F9-8618-E74E9EC204F3}" destId="{1A7E0058-4A52-402C-A4B4-57756FAF6743}" srcOrd="1" destOrd="0" presId="urn:microsoft.com/office/officeart/2008/layout/HorizontalMultiLevelHierarchy"/>
    <dgm:cxn modelId="{FA8874C5-D00B-4948-86D6-F9E3E4AD68F5}" type="presParOf" srcId="{1A7E0058-4A52-402C-A4B4-57756FAF6743}" destId="{D327265F-B942-4B43-A502-D10FFEA12F73}" srcOrd="0" destOrd="0" presId="urn:microsoft.com/office/officeart/2008/layout/HorizontalMultiLevelHierarchy"/>
    <dgm:cxn modelId="{55A43E06-9121-40A6-A484-6943A4418105}" type="presParOf" srcId="{1A7E0058-4A52-402C-A4B4-57756FAF6743}" destId="{E8E36F7C-37E1-4069-8883-49CD86D62220}" srcOrd="1" destOrd="0" presId="urn:microsoft.com/office/officeart/2008/layout/HorizontalMultiLevelHierarchy"/>
    <dgm:cxn modelId="{41F8D3F7-62E7-4480-AB24-6C7D3B25449B}" type="presParOf" srcId="{EFCE2038-7E88-40F9-8618-E74E9EC204F3}" destId="{8693A490-7F8B-45EB-8ABA-62C345D97B2B}" srcOrd="2" destOrd="0" presId="urn:microsoft.com/office/officeart/2008/layout/HorizontalMultiLevelHierarchy"/>
    <dgm:cxn modelId="{F8DF1AAD-10F8-4FC1-8183-AA95D9A8CA17}" type="presParOf" srcId="{8693A490-7F8B-45EB-8ABA-62C345D97B2B}" destId="{DA3757F0-C76A-43BF-BB36-78A804971A2D}" srcOrd="0" destOrd="0" presId="urn:microsoft.com/office/officeart/2008/layout/HorizontalMultiLevelHierarchy"/>
    <dgm:cxn modelId="{4D5BA402-829B-463D-BCE9-D809DA356FAC}" type="presParOf" srcId="{EFCE2038-7E88-40F9-8618-E74E9EC204F3}" destId="{4E70CE55-4684-45EC-9BB4-114C45567522}" srcOrd="3" destOrd="0" presId="urn:microsoft.com/office/officeart/2008/layout/HorizontalMultiLevelHierarchy"/>
    <dgm:cxn modelId="{1E59C036-D4C1-4B1C-A347-DAB8235A57EF}" type="presParOf" srcId="{4E70CE55-4684-45EC-9BB4-114C45567522}" destId="{CDD08F04-9859-46B0-AD62-E025CBE48998}" srcOrd="0" destOrd="0" presId="urn:microsoft.com/office/officeart/2008/layout/HorizontalMultiLevelHierarchy"/>
    <dgm:cxn modelId="{9391948E-F9F8-4AD1-852B-C0E21515746D}" type="presParOf" srcId="{4E70CE55-4684-45EC-9BB4-114C45567522}" destId="{F07EB07B-6EC3-4AAA-AD7E-F139A1F1B1EF}" srcOrd="1" destOrd="0" presId="urn:microsoft.com/office/officeart/2008/layout/HorizontalMultiLevelHierarchy"/>
    <dgm:cxn modelId="{D4DB7DAC-14B6-4186-A484-1A2626B74CAB}" type="presParOf" srcId="{EFCE2038-7E88-40F9-8618-E74E9EC204F3}" destId="{CD1E3767-A381-4B03-AC88-F10F736702EF}" srcOrd="4" destOrd="0" presId="urn:microsoft.com/office/officeart/2008/layout/HorizontalMultiLevelHierarchy"/>
    <dgm:cxn modelId="{D1F267CC-1CE5-4F3B-A3A8-6B0E846166C7}" type="presParOf" srcId="{CD1E3767-A381-4B03-AC88-F10F736702EF}" destId="{1ACF5E9D-0FAA-4B59-B8B1-16B02EE6F726}" srcOrd="0" destOrd="0" presId="urn:microsoft.com/office/officeart/2008/layout/HorizontalMultiLevelHierarchy"/>
    <dgm:cxn modelId="{E5B0F634-6CB0-48A9-9D22-3CDD12E53C42}" type="presParOf" srcId="{EFCE2038-7E88-40F9-8618-E74E9EC204F3}" destId="{BCCA3DFD-0047-4AAE-8EB7-1560B537DDA4}" srcOrd="5" destOrd="0" presId="urn:microsoft.com/office/officeart/2008/layout/HorizontalMultiLevelHierarchy"/>
    <dgm:cxn modelId="{3C66CF4E-7BF5-45FD-B9B3-904ADC8CFF7E}" type="presParOf" srcId="{BCCA3DFD-0047-4AAE-8EB7-1560B537DDA4}" destId="{3EB37757-FBE5-45BC-AFB0-99E6600D6278}" srcOrd="0" destOrd="0" presId="urn:microsoft.com/office/officeart/2008/layout/HorizontalMultiLevelHierarchy"/>
    <dgm:cxn modelId="{8B5377AD-7FEB-48A7-A549-E31D5DE26C4A}" type="presParOf" srcId="{BCCA3DFD-0047-4AAE-8EB7-1560B537DDA4}" destId="{97CB6D7B-B43C-42BD-ADC7-2C7691BE2D46}" srcOrd="1" destOrd="0" presId="urn:microsoft.com/office/officeart/2008/layout/HorizontalMultiLevelHierarchy"/>
    <dgm:cxn modelId="{76EFB8A5-0486-4691-8D66-E110B05CE8AC}" type="presParOf" srcId="{EFCE2038-7E88-40F9-8618-E74E9EC204F3}" destId="{9790859D-8C61-4AF6-B203-2D322A6E5352}" srcOrd="6" destOrd="0" presId="urn:microsoft.com/office/officeart/2008/layout/HorizontalMultiLevelHierarchy"/>
    <dgm:cxn modelId="{D501F0B0-65CD-4768-BE0B-FD3C8E352E45}" type="presParOf" srcId="{9790859D-8C61-4AF6-B203-2D322A6E5352}" destId="{5EFECBB7-6398-44D6-A5EB-025DBB843910}" srcOrd="0" destOrd="0" presId="urn:microsoft.com/office/officeart/2008/layout/HorizontalMultiLevelHierarchy"/>
    <dgm:cxn modelId="{7F2030F1-3FC3-4683-A9AB-9E1E78978CBE}" type="presParOf" srcId="{EFCE2038-7E88-40F9-8618-E74E9EC204F3}" destId="{25BC1211-4860-4022-8197-C9D89C0B1A69}" srcOrd="7" destOrd="0" presId="urn:microsoft.com/office/officeart/2008/layout/HorizontalMultiLevelHierarchy"/>
    <dgm:cxn modelId="{21C49179-4AE6-41DB-BD85-DC93D775F9D2}" type="presParOf" srcId="{25BC1211-4860-4022-8197-C9D89C0B1A69}" destId="{14991D58-8D8C-4EA2-B08C-6DDC48E96B6F}" srcOrd="0" destOrd="0" presId="urn:microsoft.com/office/officeart/2008/layout/HorizontalMultiLevelHierarchy"/>
    <dgm:cxn modelId="{CC6CBD06-25DA-4294-8FBE-966431E8DFA3}" type="presParOf" srcId="{25BC1211-4860-4022-8197-C9D89C0B1A69}" destId="{C9C45E51-61F2-4745-B372-0B4F420CE5DE}" srcOrd="1" destOrd="0" presId="urn:microsoft.com/office/officeart/2008/layout/HorizontalMultiLevelHierarchy"/>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575D0C-3963-4D98-8586-3E0B5250D23B}">
      <dsp:nvSpPr>
        <dsp:cNvPr id="0" name=""/>
        <dsp:cNvSpPr/>
      </dsp:nvSpPr>
      <dsp:spPr>
        <a:xfrm>
          <a:off x="0" y="712"/>
          <a:ext cx="1119216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61AB11-67AA-4182-961E-7B3D08227FA0}">
      <dsp:nvSpPr>
        <dsp:cNvPr id="0" name=""/>
        <dsp:cNvSpPr/>
      </dsp:nvSpPr>
      <dsp:spPr>
        <a:xfrm>
          <a:off x="0" y="712"/>
          <a:ext cx="3226156" cy="1457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sz="1400" b="1" kern="1200" dirty="0"/>
            <a:t>二十多年来，产能扩张后，</a:t>
          </a:r>
          <a:r>
            <a:rPr lang="zh-CN" sz="1800" b="1" kern="1200" dirty="0">
              <a:solidFill>
                <a:srgbClr val="00D4FF"/>
              </a:solidFill>
            </a:rPr>
            <a:t>本应</a:t>
          </a:r>
          <a:r>
            <a:rPr lang="zh-CN" sz="1400" b="1" kern="1200" dirty="0"/>
            <a:t>采购</a:t>
          </a:r>
          <a:r>
            <a:rPr lang="zh-CN" sz="1800" b="1" kern="1200" dirty="0">
              <a:solidFill>
                <a:srgbClr val="00D4FF"/>
              </a:solidFill>
            </a:rPr>
            <a:t>成本降低</a:t>
          </a:r>
          <a:r>
            <a:rPr lang="zh-CN" sz="1400" b="1" kern="1200" dirty="0"/>
            <a:t>，运营</a:t>
          </a:r>
          <a:r>
            <a:rPr lang="zh-CN" sz="1800" b="1" kern="1200" dirty="0">
              <a:solidFill>
                <a:srgbClr val="00D4FF"/>
              </a:solidFill>
            </a:rPr>
            <a:t>效率</a:t>
          </a:r>
          <a:r>
            <a:rPr lang="zh-CN" sz="1400" b="1" kern="1200" dirty="0"/>
            <a:t>应该</a:t>
          </a:r>
          <a:r>
            <a:rPr lang="zh-CN" sz="1800" b="1" kern="1200" dirty="0">
              <a:solidFill>
                <a:srgbClr val="00D4FF"/>
              </a:solidFill>
            </a:rPr>
            <a:t>提升</a:t>
          </a:r>
          <a:r>
            <a:rPr lang="zh-CN" sz="1400" b="1" kern="1200" dirty="0"/>
            <a:t>，</a:t>
          </a:r>
          <a:r>
            <a:rPr lang="zh-CN" sz="1800" b="1" kern="1200" dirty="0">
              <a:solidFill>
                <a:srgbClr val="00D4FF"/>
              </a:solidFill>
            </a:rPr>
            <a:t>然而</a:t>
          </a:r>
          <a:r>
            <a:rPr lang="zh-CN" sz="1400" b="1" kern="1200" dirty="0"/>
            <a:t>悖论是价值链管理的</a:t>
          </a:r>
          <a:r>
            <a:rPr lang="en-US" sz="1800" b="1" kern="1200" dirty="0">
              <a:solidFill>
                <a:srgbClr val="00D4FF"/>
              </a:solidFill>
            </a:rPr>
            <a:t>ROIC</a:t>
          </a:r>
          <a:r>
            <a:rPr lang="zh-CN" sz="1400" b="1" kern="1200" dirty="0"/>
            <a:t>（客户满意度、库存周转</a:t>
          </a:r>
          <a:r>
            <a:rPr lang="en-US" sz="1400" b="1" kern="1200" dirty="0"/>
            <a:t>etc.</a:t>
          </a:r>
          <a:r>
            <a:rPr lang="zh-CN" sz="1400" b="1" kern="1200" dirty="0"/>
            <a:t>）</a:t>
          </a:r>
          <a:r>
            <a:rPr lang="zh-CN" sz="1800" b="1" kern="1200" dirty="0">
              <a:solidFill>
                <a:srgbClr val="00D4FF"/>
              </a:solidFill>
            </a:rPr>
            <a:t>不升反降</a:t>
          </a:r>
          <a:r>
            <a:rPr lang="zh-CN" sz="1400" b="1" kern="1200" dirty="0"/>
            <a:t>。</a:t>
          </a:r>
          <a:endParaRPr lang="zh-CN" sz="1400" kern="1200" dirty="0"/>
        </a:p>
      </dsp:txBody>
      <dsp:txXfrm>
        <a:off x="0" y="712"/>
        <a:ext cx="3226156" cy="1457274"/>
      </dsp:txXfrm>
    </dsp:sp>
    <dsp:sp modelId="{5DA13AF2-94AC-4547-9FFF-E5F6023092B2}">
      <dsp:nvSpPr>
        <dsp:cNvPr id="0" name=""/>
        <dsp:cNvSpPr/>
      </dsp:nvSpPr>
      <dsp:spPr>
        <a:xfrm>
          <a:off x="3375512" y="34582"/>
          <a:ext cx="7816314" cy="677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sz="1600" b="1" kern="1200" dirty="0"/>
            <a:t>各部门都在为自己的</a:t>
          </a:r>
          <a:r>
            <a:rPr lang="zh-CN" altLang="en-US" sz="1800" b="1" kern="1200" dirty="0">
              <a:solidFill>
                <a:srgbClr val="00D4FF"/>
              </a:solidFill>
            </a:rPr>
            <a:t>局部</a:t>
          </a:r>
          <a:r>
            <a:rPr lang="en-US" sz="1800" b="1" kern="1200" dirty="0">
              <a:solidFill>
                <a:srgbClr val="00D4FF"/>
              </a:solidFill>
            </a:rPr>
            <a:t>KPI</a:t>
          </a:r>
          <a:r>
            <a:rPr lang="zh-CN" sz="1600" b="1" kern="1200" dirty="0"/>
            <a:t>拼搏形成</a:t>
          </a:r>
          <a:r>
            <a:rPr lang="zh-CN" sz="1800" b="1" kern="1200" dirty="0">
              <a:solidFill>
                <a:srgbClr val="00D4FF"/>
              </a:solidFill>
            </a:rPr>
            <a:t>纳什均衡</a:t>
          </a:r>
          <a:r>
            <a:rPr lang="zh-CN" sz="1600" b="1" kern="1200" dirty="0"/>
            <a:t>。</a:t>
          </a:r>
          <a:endParaRPr lang="zh-CN" sz="1600" kern="1200" dirty="0"/>
        </a:p>
      </dsp:txBody>
      <dsp:txXfrm>
        <a:off x="3375512" y="34582"/>
        <a:ext cx="7816314" cy="677404"/>
      </dsp:txXfrm>
    </dsp:sp>
    <dsp:sp modelId="{E807F660-62B2-4987-B0E2-CD634547399D}">
      <dsp:nvSpPr>
        <dsp:cNvPr id="0" name=""/>
        <dsp:cNvSpPr/>
      </dsp:nvSpPr>
      <dsp:spPr>
        <a:xfrm>
          <a:off x="3226156" y="711987"/>
          <a:ext cx="796567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2925F8-3BF6-411A-AE95-0FF3E9FA43B7}">
      <dsp:nvSpPr>
        <dsp:cNvPr id="0" name=""/>
        <dsp:cNvSpPr/>
      </dsp:nvSpPr>
      <dsp:spPr>
        <a:xfrm>
          <a:off x="3375512" y="745857"/>
          <a:ext cx="7816314" cy="677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dirty="0"/>
            <a:t>各团队和个人日复一日、年复一年的忙碌，然而却像</a:t>
          </a:r>
          <a:r>
            <a:rPr lang="zh-CN" altLang="en-US" sz="1800" b="1" kern="1200" dirty="0">
              <a:solidFill>
                <a:srgbClr val="00D4FF"/>
              </a:solidFill>
            </a:rPr>
            <a:t>布朗运动</a:t>
          </a:r>
          <a:r>
            <a:rPr lang="zh-CN" altLang="en-US" sz="1400" b="1" kern="1200" dirty="0"/>
            <a:t>。今天救的火是昨天救火埋下的雷</a:t>
          </a:r>
          <a:r>
            <a:rPr lang="zh-CN" altLang="en-US" sz="2000" b="1" kern="1200" dirty="0"/>
            <a:t>。</a:t>
          </a:r>
          <a:endParaRPr lang="zh-CN" altLang="en-US" sz="2000" kern="1200" dirty="0"/>
        </a:p>
      </dsp:txBody>
      <dsp:txXfrm>
        <a:off x="3375512" y="745857"/>
        <a:ext cx="7816314" cy="677404"/>
      </dsp:txXfrm>
    </dsp:sp>
    <dsp:sp modelId="{C300D74C-236A-426F-9662-B7F2462035C3}">
      <dsp:nvSpPr>
        <dsp:cNvPr id="0" name=""/>
        <dsp:cNvSpPr/>
      </dsp:nvSpPr>
      <dsp:spPr>
        <a:xfrm>
          <a:off x="3226156" y="1423262"/>
          <a:ext cx="796567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DE5A1-E632-412A-82C7-3F63FE136BE6}">
      <dsp:nvSpPr>
        <dsp:cNvPr id="0" name=""/>
        <dsp:cNvSpPr/>
      </dsp:nvSpPr>
      <dsp:spPr>
        <a:xfrm>
          <a:off x="0" y="0"/>
          <a:ext cx="694501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350AC4-3EC0-4834-9230-26AC566BE521}">
      <dsp:nvSpPr>
        <dsp:cNvPr id="0" name=""/>
        <dsp:cNvSpPr/>
      </dsp:nvSpPr>
      <dsp:spPr>
        <a:xfrm>
          <a:off x="0" y="0"/>
          <a:ext cx="6945012" cy="80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CN" altLang="en-US" sz="2000" kern="1200" dirty="0"/>
            <a:t>联想跟业界的</a:t>
          </a:r>
          <a:r>
            <a:rPr lang="zh-CN" altLang="en-US" sz="2800" b="1" kern="1200" dirty="0">
              <a:solidFill>
                <a:srgbClr val="00D4FF"/>
              </a:solidFill>
            </a:rPr>
            <a:t>叙事大同小异，为何只有他？！</a:t>
          </a:r>
          <a:endParaRPr lang="zh-CN" altLang="en-US" sz="2100" kern="1200" dirty="0">
            <a:solidFill>
              <a:srgbClr val="00D4FF"/>
            </a:solidFill>
          </a:endParaRPr>
        </a:p>
      </dsp:txBody>
      <dsp:txXfrm>
        <a:off x="0" y="0"/>
        <a:ext cx="6945012" cy="801460"/>
      </dsp:txXfrm>
    </dsp:sp>
    <dsp:sp modelId="{61583878-4506-4C29-9CCD-C4A282DD19EA}">
      <dsp:nvSpPr>
        <dsp:cNvPr id="0" name=""/>
        <dsp:cNvSpPr/>
      </dsp:nvSpPr>
      <dsp:spPr>
        <a:xfrm>
          <a:off x="0" y="801460"/>
          <a:ext cx="694501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4672BA-D8F7-474D-BDC5-46CC11937B46}">
      <dsp:nvSpPr>
        <dsp:cNvPr id="0" name=""/>
        <dsp:cNvSpPr/>
      </dsp:nvSpPr>
      <dsp:spPr>
        <a:xfrm>
          <a:off x="0" y="801460"/>
          <a:ext cx="6945012" cy="80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CN" altLang="en-US" sz="2000" kern="1200" dirty="0"/>
            <a:t>过去几十年的理论、经验、实践的</a:t>
          </a:r>
          <a:r>
            <a:rPr lang="zh-CN" altLang="en-US" sz="2800" b="1" kern="1200" dirty="0">
              <a:solidFill>
                <a:srgbClr val="00D4FF"/>
              </a:solidFill>
            </a:rPr>
            <a:t>边界</a:t>
          </a:r>
          <a:r>
            <a:rPr lang="zh-CN" altLang="en-US" sz="2000" kern="1200" dirty="0"/>
            <a:t>到底是什么？</a:t>
          </a:r>
          <a:endParaRPr lang="zh-CN" altLang="en-US" sz="2100" kern="1200" dirty="0"/>
        </a:p>
      </dsp:txBody>
      <dsp:txXfrm>
        <a:off x="0" y="801460"/>
        <a:ext cx="6945012" cy="801460"/>
      </dsp:txXfrm>
    </dsp:sp>
    <dsp:sp modelId="{D33F321F-75DB-463C-ADA7-BC976918136F}">
      <dsp:nvSpPr>
        <dsp:cNvPr id="0" name=""/>
        <dsp:cNvSpPr/>
      </dsp:nvSpPr>
      <dsp:spPr>
        <a:xfrm>
          <a:off x="0" y="1602921"/>
          <a:ext cx="694501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7A7CE8-7D2D-4C0D-9C6A-9A58D85754BF}">
      <dsp:nvSpPr>
        <dsp:cNvPr id="0" name=""/>
        <dsp:cNvSpPr/>
      </dsp:nvSpPr>
      <dsp:spPr>
        <a:xfrm>
          <a:off x="0" y="1602921"/>
          <a:ext cx="6945012" cy="80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CN" altLang="en-US" sz="2000" b="0" kern="1200" dirty="0">
              <a:solidFill>
                <a:schemeClr val="tx1"/>
              </a:solidFill>
            </a:rPr>
            <a:t>可计算、可执行的</a:t>
          </a:r>
          <a:r>
            <a:rPr lang="zh-CN" altLang="en-US" sz="2800" b="1" kern="1200" dirty="0">
              <a:solidFill>
                <a:srgbClr val="00D4FF"/>
              </a:solidFill>
            </a:rPr>
            <a:t>方案</a:t>
          </a:r>
          <a:r>
            <a:rPr lang="zh-CN" altLang="en-US" sz="2000" kern="1200" dirty="0"/>
            <a:t>到底是什么？</a:t>
          </a:r>
          <a:endParaRPr lang="zh-CN" altLang="en-US" sz="2100" kern="1200" dirty="0"/>
        </a:p>
      </dsp:txBody>
      <dsp:txXfrm>
        <a:off x="0" y="1602921"/>
        <a:ext cx="6945012" cy="801460"/>
      </dsp:txXfrm>
    </dsp:sp>
    <dsp:sp modelId="{465784A9-1DDB-4DAB-8F37-0FB3F3253F7E}">
      <dsp:nvSpPr>
        <dsp:cNvPr id="0" name=""/>
        <dsp:cNvSpPr/>
      </dsp:nvSpPr>
      <dsp:spPr>
        <a:xfrm>
          <a:off x="0" y="2404382"/>
          <a:ext cx="694501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667180-9CE0-4652-BF73-511CF6D79F8E}">
      <dsp:nvSpPr>
        <dsp:cNvPr id="0" name=""/>
        <dsp:cNvSpPr/>
      </dsp:nvSpPr>
      <dsp:spPr>
        <a:xfrm>
          <a:off x="0" y="2404382"/>
          <a:ext cx="6945012" cy="80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zh-CN" altLang="en-US" sz="2100" kern="1200" dirty="0"/>
            <a:t>是时候</a:t>
          </a:r>
          <a:r>
            <a:rPr lang="zh-CN" altLang="en-US" sz="2800" b="1" kern="1200" dirty="0">
              <a:solidFill>
                <a:srgbClr val="00D4FF"/>
              </a:solidFill>
            </a:rPr>
            <a:t>重新思考</a:t>
          </a:r>
          <a:r>
            <a:rPr lang="zh-CN" altLang="en-US" sz="2100" kern="1200" dirty="0"/>
            <a:t>了！</a:t>
          </a:r>
        </a:p>
      </dsp:txBody>
      <dsp:txXfrm>
        <a:off x="0" y="2404382"/>
        <a:ext cx="6945012" cy="801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F3182-5C6A-4DBF-89B1-6F6967B448BB}">
      <dsp:nvSpPr>
        <dsp:cNvPr id="0" name=""/>
        <dsp:cNvSpPr/>
      </dsp:nvSpPr>
      <dsp:spPr>
        <a:xfrm>
          <a:off x="0" y="6781"/>
          <a:ext cx="6637447" cy="660638"/>
        </a:xfrm>
        <a:prstGeom prst="roundRect">
          <a:avLst/>
        </a:prstGeom>
        <a:no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rPr>
            <a:t>范式</a:t>
          </a:r>
          <a:r>
            <a:rPr lang="zh-CN" altLang="en-US" sz="2400" b="1" kern="1200" dirty="0">
              <a:solidFill>
                <a:srgbClr val="00D4FF"/>
              </a:solidFill>
            </a:rPr>
            <a:t>决定</a:t>
          </a:r>
          <a:r>
            <a:rPr lang="zh-CN" altLang="en-US" sz="1800" b="1" kern="1200" dirty="0">
              <a:solidFill>
                <a:schemeClr val="tx1"/>
              </a:solidFill>
            </a:rPr>
            <a:t>路径。</a:t>
          </a:r>
          <a:r>
            <a:rPr lang="zh-CN" altLang="en-US" sz="1800" kern="1200" dirty="0">
              <a:solidFill>
                <a:schemeClr val="tx1"/>
              </a:solidFill>
            </a:rPr>
            <a:t>定性错了，定量全是徒劳。</a:t>
          </a:r>
        </a:p>
      </dsp:txBody>
      <dsp:txXfrm>
        <a:off x="32250" y="39031"/>
        <a:ext cx="6572947" cy="596138"/>
      </dsp:txXfrm>
    </dsp:sp>
    <dsp:sp modelId="{50A34445-A801-4933-8D23-0788760BD172}">
      <dsp:nvSpPr>
        <dsp:cNvPr id="0" name=""/>
        <dsp:cNvSpPr/>
      </dsp:nvSpPr>
      <dsp:spPr>
        <a:xfrm>
          <a:off x="0" y="674154"/>
          <a:ext cx="6637447" cy="660638"/>
        </a:xfrm>
        <a:prstGeom prst="roundRect">
          <a:avLst/>
        </a:prstGeom>
        <a:no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rgbClr val="FFFFFF"/>
              </a:solidFill>
              <a:latin typeface="Arial"/>
              <a:ea typeface="微软雅黑"/>
              <a:cs typeface="+mn-cs"/>
            </a:rPr>
            <a:t>路径</a:t>
          </a:r>
          <a:r>
            <a:rPr lang="zh-CN" altLang="en-US" sz="2400" b="1" kern="1200" dirty="0">
              <a:solidFill>
                <a:srgbClr val="00D4FF"/>
              </a:solidFill>
            </a:rPr>
            <a:t>决定</a:t>
          </a:r>
          <a:r>
            <a:rPr lang="zh-CN" altLang="en-US" sz="1800" b="1" kern="1200" dirty="0">
              <a:solidFill>
                <a:srgbClr val="FFFFFF"/>
              </a:solidFill>
              <a:latin typeface="Arial"/>
              <a:ea typeface="微软雅黑"/>
              <a:cs typeface="+mn-cs"/>
            </a:rPr>
            <a:t>方案</a:t>
          </a:r>
          <a:r>
            <a:rPr lang="zh-CN" altLang="en-US" sz="1800" kern="1200" dirty="0">
              <a:solidFill>
                <a:schemeClr val="tx1"/>
              </a:solidFill>
            </a:rPr>
            <a:t>。知道往哪走，不等于走得过去。</a:t>
          </a:r>
        </a:p>
      </dsp:txBody>
      <dsp:txXfrm>
        <a:off x="32250" y="706404"/>
        <a:ext cx="6572947" cy="596138"/>
      </dsp:txXfrm>
    </dsp:sp>
    <dsp:sp modelId="{E77CB5B2-D6D3-4271-85DA-BCCEC744C499}">
      <dsp:nvSpPr>
        <dsp:cNvPr id="0" name=""/>
        <dsp:cNvSpPr/>
      </dsp:nvSpPr>
      <dsp:spPr>
        <a:xfrm>
          <a:off x="0" y="1347392"/>
          <a:ext cx="6637447" cy="660638"/>
        </a:xfrm>
        <a:prstGeom prst="roundRect">
          <a:avLst/>
        </a:prstGeom>
        <a:no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1" i="0" kern="1200" dirty="0">
              <a:solidFill>
                <a:srgbClr val="00D4FF"/>
              </a:solidFill>
            </a:rPr>
            <a:t>选择</a:t>
          </a:r>
          <a:r>
            <a:rPr lang="zh-CN" altLang="en-US" sz="1800" b="1" i="0" kern="1200" dirty="0">
              <a:solidFill>
                <a:schemeClr val="tx1"/>
              </a:solidFill>
            </a:rPr>
            <a:t>比努力重要</a:t>
          </a:r>
          <a:r>
            <a:rPr lang="zh-CN" altLang="en-US" sz="1800" b="0" i="0" kern="1200" dirty="0">
              <a:solidFill>
                <a:schemeClr val="tx1"/>
              </a:solidFill>
            </a:rPr>
            <a:t>。先定范式，再谈方案。</a:t>
          </a:r>
          <a:endParaRPr lang="zh-CN" altLang="en-US" sz="1800" kern="1200" dirty="0">
            <a:solidFill>
              <a:schemeClr val="tx1"/>
            </a:solidFill>
          </a:endParaRPr>
        </a:p>
      </dsp:txBody>
      <dsp:txXfrm>
        <a:off x="32250" y="1379642"/>
        <a:ext cx="6572947" cy="596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DBC4F-A275-4687-A256-F416B186EBED}">
      <dsp:nvSpPr>
        <dsp:cNvPr id="0" name=""/>
        <dsp:cNvSpPr/>
      </dsp:nvSpPr>
      <dsp:spPr>
        <a:xfrm>
          <a:off x="0" y="386022"/>
          <a:ext cx="6096000" cy="1436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249936" rIns="473117" bIns="85344" numCol="1" spcCol="1270" anchor="t" anchorCtr="0">
          <a:noAutofit/>
        </a:bodyPr>
        <a:lstStyle/>
        <a:p>
          <a:pPr marL="114300" lvl="1" indent="-114300" algn="l" defTabSz="533400">
            <a:lnSpc>
              <a:spcPct val="90000"/>
            </a:lnSpc>
            <a:spcBef>
              <a:spcPct val="0"/>
            </a:spcBef>
            <a:spcAft>
              <a:spcPct val="15000"/>
            </a:spcAft>
            <a:buChar char="•"/>
          </a:pPr>
          <a:r>
            <a:rPr lang="zh-CN" altLang="en-US" sz="1200" b="1" kern="1200" dirty="0"/>
            <a:t>第一，正确的结构。</a:t>
          </a:r>
        </a:p>
        <a:p>
          <a:pPr marL="228600" lvl="2" indent="-114300" algn="l" defTabSz="533400">
            <a:lnSpc>
              <a:spcPct val="90000"/>
            </a:lnSpc>
            <a:spcBef>
              <a:spcPct val="0"/>
            </a:spcBef>
            <a:spcAft>
              <a:spcPct val="15000"/>
            </a:spcAft>
            <a:buChar char="•"/>
          </a:pPr>
          <a:r>
            <a:rPr lang="zh-CN" altLang="en-US" sz="1200" kern="1200"/>
            <a:t>节点、拓扑、约束、状态矢量、状态跃迁，五个维度同时存在、强耦合。</a:t>
          </a:r>
        </a:p>
        <a:p>
          <a:pPr marL="114300" lvl="1" indent="-114300" algn="l" defTabSz="533400">
            <a:lnSpc>
              <a:spcPct val="90000"/>
            </a:lnSpc>
            <a:spcBef>
              <a:spcPct val="0"/>
            </a:spcBef>
            <a:spcAft>
              <a:spcPct val="15000"/>
            </a:spcAft>
            <a:buChar char="•"/>
          </a:pPr>
          <a:r>
            <a:rPr lang="zh-CN" altLang="en-US" sz="1200" b="1" kern="1200" dirty="0"/>
            <a:t>第二，正确的内容。</a:t>
          </a:r>
        </a:p>
        <a:p>
          <a:pPr marL="228600" lvl="2" indent="-114300" algn="l" defTabSz="533400">
            <a:lnSpc>
              <a:spcPct val="90000"/>
            </a:lnSpc>
            <a:spcBef>
              <a:spcPct val="0"/>
            </a:spcBef>
            <a:spcAft>
              <a:spcPct val="15000"/>
            </a:spcAft>
            <a:buChar char="•"/>
          </a:pPr>
          <a:r>
            <a:rPr lang="zh-CN" sz="1200" kern="1200"/>
            <a:t>物料在哪里、机台能产多少、订单什么交期</a:t>
          </a:r>
          <a:r>
            <a:rPr lang="en-US" sz="1200" kern="1200"/>
            <a:t>——</a:t>
          </a:r>
          <a:r>
            <a:rPr lang="zh-CN" sz="1200" kern="1200"/>
            <a:t>全部变成精确的数字坐标。</a:t>
          </a:r>
        </a:p>
      </dsp:txBody>
      <dsp:txXfrm>
        <a:off x="0" y="386022"/>
        <a:ext cx="6096000" cy="1436400"/>
      </dsp:txXfrm>
    </dsp:sp>
    <dsp:sp modelId="{FA95093B-B72E-4D4A-AAD8-7B9BA9A2DBC0}">
      <dsp:nvSpPr>
        <dsp:cNvPr id="0" name=""/>
        <dsp:cNvSpPr/>
      </dsp:nvSpPr>
      <dsp:spPr>
        <a:xfrm>
          <a:off x="304800" y="208902"/>
          <a:ext cx="426720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622300">
            <a:lnSpc>
              <a:spcPct val="90000"/>
            </a:lnSpc>
            <a:spcBef>
              <a:spcPct val="0"/>
            </a:spcBef>
            <a:spcAft>
              <a:spcPct val="35000"/>
            </a:spcAft>
            <a:buNone/>
          </a:pPr>
          <a:r>
            <a:rPr lang="zh-CN" altLang="en-US" sz="1400" b="1" kern="1200"/>
            <a:t>数据模型要做两件事：</a:t>
          </a:r>
        </a:p>
      </dsp:txBody>
      <dsp:txXfrm>
        <a:off x="322093" y="226195"/>
        <a:ext cx="4232614" cy="3196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7F5907-9D62-471F-BF54-4CDA0587E9C5}">
      <dsp:nvSpPr>
        <dsp:cNvPr id="0" name=""/>
        <dsp:cNvSpPr/>
      </dsp:nvSpPr>
      <dsp:spPr>
        <a:xfrm>
          <a:off x="0" y="159451"/>
          <a:ext cx="6096000" cy="2211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187452" rIns="473117" bIns="99568" numCol="1" spcCol="1270" anchor="t" anchorCtr="0">
          <a:noAutofit/>
        </a:bodyPr>
        <a:lstStyle/>
        <a:p>
          <a:pPr marL="114300" lvl="1" indent="-114300" algn="l" defTabSz="622300">
            <a:lnSpc>
              <a:spcPct val="90000"/>
            </a:lnSpc>
            <a:spcBef>
              <a:spcPct val="0"/>
            </a:spcBef>
            <a:spcAft>
              <a:spcPct val="15000"/>
            </a:spcAft>
            <a:buChar char="•"/>
          </a:pPr>
          <a:r>
            <a:rPr lang="zh-CN" sz="1400" kern="1200"/>
            <a:t>节点：物料、机台、供应商、</a:t>
          </a:r>
          <a:r>
            <a:rPr lang="en-US" sz="1400" kern="1200"/>
            <a:t>DC</a:t>
          </a:r>
          <a:r>
            <a:rPr lang="zh-CN" sz="1400" kern="1200"/>
            <a:t>、客户</a:t>
          </a:r>
        </a:p>
        <a:p>
          <a:pPr marL="114300" lvl="1" indent="-114300" algn="l" defTabSz="622300">
            <a:lnSpc>
              <a:spcPct val="90000"/>
            </a:lnSpc>
            <a:spcBef>
              <a:spcPct val="0"/>
            </a:spcBef>
            <a:spcAft>
              <a:spcPct val="15000"/>
            </a:spcAft>
            <a:buChar char="•"/>
          </a:pPr>
          <a:r>
            <a:rPr lang="zh-CN" sz="1400" kern="1200"/>
            <a:t>拓扑：节点之间的连线</a:t>
          </a:r>
          <a:r>
            <a:rPr lang="en-US" sz="1400" kern="1200"/>
            <a:t>——BOM</a:t>
          </a:r>
          <a:r>
            <a:rPr lang="zh-CN" sz="1400" kern="1200"/>
            <a:t>、工艺路线、物流网络</a:t>
          </a:r>
        </a:p>
        <a:p>
          <a:pPr marL="114300" lvl="1" indent="-114300" algn="l" defTabSz="622300">
            <a:lnSpc>
              <a:spcPct val="90000"/>
            </a:lnSpc>
            <a:spcBef>
              <a:spcPct val="0"/>
            </a:spcBef>
            <a:spcAft>
              <a:spcPct val="15000"/>
            </a:spcAft>
            <a:buChar char="•"/>
          </a:pPr>
          <a:r>
            <a:rPr lang="zh-CN" altLang="en-US" sz="1400" kern="1200"/>
            <a:t>约束：产能上限、交期死线、合规红线</a:t>
          </a:r>
        </a:p>
        <a:p>
          <a:pPr marL="114300" lvl="1" indent="-114300" algn="l" defTabSz="622300">
            <a:lnSpc>
              <a:spcPct val="90000"/>
            </a:lnSpc>
            <a:spcBef>
              <a:spcPct val="0"/>
            </a:spcBef>
            <a:spcAft>
              <a:spcPct val="15000"/>
            </a:spcAft>
            <a:buChar char="•"/>
          </a:pPr>
          <a:r>
            <a:rPr lang="zh-CN" sz="1400" kern="1200"/>
            <a:t>状态矢量：单据</a:t>
          </a:r>
          <a:r>
            <a:rPr lang="en-US" sz="1400" kern="1200"/>
            <a:t>——</a:t>
          </a:r>
          <a:r>
            <a:rPr lang="zh-CN" sz="1400" kern="1200"/>
            <a:t>此刻的库存、在途、物权、财务余额</a:t>
          </a:r>
        </a:p>
        <a:p>
          <a:pPr marL="114300" lvl="1" indent="-114300" algn="l" defTabSz="622300">
            <a:lnSpc>
              <a:spcPct val="90000"/>
            </a:lnSpc>
            <a:spcBef>
              <a:spcPct val="0"/>
            </a:spcBef>
            <a:spcAft>
              <a:spcPct val="15000"/>
            </a:spcAft>
            <a:buChar char="•"/>
          </a:pPr>
          <a:r>
            <a:rPr lang="zh-CN" sz="1400" kern="1200" dirty="0"/>
            <a:t>状态跃迁：</a:t>
          </a:r>
          <a:r>
            <a:rPr lang="zh-CN" sz="1800" b="1" kern="1200" dirty="0">
              <a:solidFill>
                <a:srgbClr val="00D4FF"/>
              </a:solidFill>
            </a:rPr>
            <a:t>因果</a:t>
          </a:r>
          <a:r>
            <a:rPr lang="zh-CN" sz="1400" kern="1200" dirty="0"/>
            <a:t>动作</a:t>
          </a:r>
          <a:r>
            <a:rPr lang="en-US" sz="1400" kern="1200" dirty="0"/>
            <a:t>——</a:t>
          </a:r>
          <a:r>
            <a:rPr lang="zh-CN" sz="1400" kern="1200" dirty="0"/>
            <a:t>下游拉动上游、</a:t>
          </a:r>
          <a:r>
            <a:rPr lang="en-US" sz="1400" kern="1200" dirty="0"/>
            <a:t>Pegging</a:t>
          </a:r>
          <a:r>
            <a:rPr lang="zh-CN" altLang="en-US" sz="1400" kern="1200" dirty="0"/>
            <a:t>、上层计划对下层的约束性指导等</a:t>
          </a:r>
          <a:r>
            <a:rPr lang="en-US" altLang="zh-CN" sz="1400" kern="1200" dirty="0"/>
            <a:t>.</a:t>
          </a:r>
          <a:endParaRPr lang="zh-CN" sz="1400" kern="1200" dirty="0"/>
        </a:p>
      </dsp:txBody>
      <dsp:txXfrm>
        <a:off x="0" y="159451"/>
        <a:ext cx="6096000" cy="2211300"/>
      </dsp:txXfrm>
    </dsp:sp>
    <dsp:sp modelId="{A277970C-7D78-4458-AE3D-E1DD604D6FBB}">
      <dsp:nvSpPr>
        <dsp:cNvPr id="0" name=""/>
        <dsp:cNvSpPr/>
      </dsp:nvSpPr>
      <dsp:spPr>
        <a:xfrm>
          <a:off x="304800" y="26611"/>
          <a:ext cx="426720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622300">
            <a:lnSpc>
              <a:spcPct val="90000"/>
            </a:lnSpc>
            <a:spcBef>
              <a:spcPct val="0"/>
            </a:spcBef>
            <a:spcAft>
              <a:spcPct val="35000"/>
            </a:spcAft>
            <a:buNone/>
          </a:pPr>
          <a:r>
            <a:rPr lang="zh-CN" altLang="en-US" sz="1400" b="1" kern="1200"/>
            <a:t>五个维度是什么：</a:t>
          </a:r>
        </a:p>
      </dsp:txBody>
      <dsp:txXfrm>
        <a:off x="317769" y="39580"/>
        <a:ext cx="4241262" cy="2397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72580-CABF-48E3-A917-D77494FFEFB0}">
      <dsp:nvSpPr>
        <dsp:cNvPr id="0" name=""/>
        <dsp:cNvSpPr/>
      </dsp:nvSpPr>
      <dsp:spPr>
        <a:xfrm>
          <a:off x="0" y="1966"/>
          <a:ext cx="1092918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B1AF81-B7B0-4E9A-9A42-CEA2CD34166B}">
      <dsp:nvSpPr>
        <dsp:cNvPr id="0" name=""/>
        <dsp:cNvSpPr/>
      </dsp:nvSpPr>
      <dsp:spPr>
        <a:xfrm>
          <a:off x="0" y="1966"/>
          <a:ext cx="2185836" cy="4023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CN" altLang="en-US" sz="2000" b="0" i="0" kern="1200" dirty="0"/>
            <a:t>业务算法驱动系统打破静止，发生</a:t>
          </a:r>
          <a:r>
            <a:rPr lang="zh-CN" altLang="en-US" sz="2000" b="1" i="0" kern="1200" dirty="0">
              <a:solidFill>
                <a:srgbClr val="00D4FF"/>
              </a:solidFill>
            </a:rPr>
            <a:t>状态跃迁</a:t>
          </a:r>
          <a:r>
            <a:rPr lang="zh-CN" altLang="en-US" sz="2000" b="0" i="0" kern="1200" dirty="0">
              <a:solidFill>
                <a:srgbClr val="00D4FF"/>
              </a:solidFill>
            </a:rPr>
            <a:t>。</a:t>
          </a:r>
          <a:r>
            <a:rPr lang="zh-CN" altLang="en-US" sz="2000" b="1" i="0" kern="1200" dirty="0">
              <a:solidFill>
                <a:srgbClr val="00D4FF"/>
              </a:solidFill>
            </a:rPr>
            <a:t>三层</a:t>
          </a:r>
          <a:r>
            <a:rPr lang="zh-CN" altLang="en-US" sz="2000" b="0" i="0" kern="1200" dirty="0"/>
            <a:t>结构：</a:t>
          </a:r>
          <a:endParaRPr lang="zh-CN" altLang="en-US" sz="2000" kern="1200" dirty="0"/>
        </a:p>
      </dsp:txBody>
      <dsp:txXfrm>
        <a:off x="0" y="1966"/>
        <a:ext cx="2185836" cy="4023780"/>
      </dsp:txXfrm>
    </dsp:sp>
    <dsp:sp modelId="{FAF8E70A-BDA6-4C77-BC00-A9776035B681}">
      <dsp:nvSpPr>
        <dsp:cNvPr id="0" name=""/>
        <dsp:cNvSpPr/>
      </dsp:nvSpPr>
      <dsp:spPr>
        <a:xfrm>
          <a:off x="2349774" y="76037"/>
          <a:ext cx="8579408" cy="1481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sz="1400" b="1" i="0" kern="1200" dirty="0"/>
            <a:t>微观层：元算子</a:t>
          </a:r>
          <a:br>
            <a:rPr lang="zh-CN" sz="1400" b="0" i="0" kern="1200" dirty="0"/>
          </a:br>
          <a:r>
            <a:rPr lang="zh-CN" sz="1400" b="0" i="0" kern="1200" dirty="0"/>
            <a:t>最底层的逻辑动词</a:t>
          </a:r>
          <a:r>
            <a:rPr lang="en-US" sz="1400" b="0" i="0" kern="1200" dirty="0"/>
            <a:t>——</a:t>
          </a:r>
          <a:r>
            <a:rPr lang="zh-CN" sz="1400" b="0" i="0" kern="1200" dirty="0"/>
            <a:t>优先级排序、拓扑展开</a:t>
          </a:r>
          <a:r>
            <a:rPr lang="zh-CN" altLang="en-US" sz="1400" b="0" i="0" kern="1200" dirty="0"/>
            <a:t>（价值链网络）</a:t>
          </a:r>
          <a:r>
            <a:rPr lang="zh-CN" sz="1400" b="0" i="0" kern="1200" dirty="0"/>
            <a:t>、齐套计算</a:t>
          </a:r>
          <a:r>
            <a:rPr lang="zh-CN" altLang="en-US" sz="1400" b="0" i="0" kern="1200" dirty="0"/>
            <a:t>等</a:t>
          </a:r>
          <a:r>
            <a:rPr lang="zh-CN" sz="1400" b="0" i="0" kern="1200" dirty="0"/>
            <a:t>。</a:t>
          </a:r>
          <a:endParaRPr lang="zh-CN" sz="1400" kern="1200" dirty="0"/>
        </a:p>
      </dsp:txBody>
      <dsp:txXfrm>
        <a:off x="2349774" y="76037"/>
        <a:ext cx="8579408" cy="1481411"/>
      </dsp:txXfrm>
    </dsp:sp>
    <dsp:sp modelId="{6973B2FD-6000-4DA4-8DC4-7ECB6FD9DDA6}">
      <dsp:nvSpPr>
        <dsp:cNvPr id="0" name=""/>
        <dsp:cNvSpPr/>
      </dsp:nvSpPr>
      <dsp:spPr>
        <a:xfrm>
          <a:off x="2185836" y="719751"/>
          <a:ext cx="874334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4E1AE9-9C60-423B-9B09-FED266D48644}">
      <dsp:nvSpPr>
        <dsp:cNvPr id="0" name=""/>
        <dsp:cNvSpPr/>
      </dsp:nvSpPr>
      <dsp:spPr>
        <a:xfrm>
          <a:off x="2231635" y="958321"/>
          <a:ext cx="8579408" cy="1481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i="0" kern="1200" dirty="0"/>
            <a:t>中观层：编排</a:t>
          </a:r>
          <a:br>
            <a:rPr lang="zh-CN" altLang="en-US" sz="1400" b="0" i="0" kern="1200" dirty="0"/>
          </a:br>
          <a:r>
            <a:rPr lang="zh-CN" altLang="en-US" sz="1400" b="0" i="0" kern="1200" dirty="0"/>
            <a:t>定义算子的调用顺序、并发路径、约束妥协逻辑。</a:t>
          </a:r>
        </a:p>
        <a:p>
          <a:pPr marL="0" lvl="0" indent="0" algn="l" defTabSz="622300">
            <a:lnSpc>
              <a:spcPct val="90000"/>
            </a:lnSpc>
            <a:spcBef>
              <a:spcPct val="0"/>
            </a:spcBef>
            <a:spcAft>
              <a:spcPct val="35000"/>
            </a:spcAft>
            <a:buNone/>
          </a:pPr>
          <a:r>
            <a:rPr lang="zh-CN" altLang="en-US" sz="1400" b="0" i="0" kern="1200" dirty="0"/>
            <a:t>编排的本质，是“计算→判断→再计算”的有限步数循环。算完一个需求，判断它分到哪个节点；分完一个，再算下一个。每一步都在穷举约束规则和条件分支，每一步都在剪枝。</a:t>
          </a:r>
        </a:p>
        <a:p>
          <a:pPr marL="0" lvl="0" indent="0" algn="l" defTabSz="622300">
            <a:lnSpc>
              <a:spcPct val="90000"/>
            </a:lnSpc>
            <a:spcBef>
              <a:spcPct val="0"/>
            </a:spcBef>
            <a:spcAft>
              <a:spcPct val="35000"/>
            </a:spcAft>
            <a:buNone/>
          </a:pPr>
          <a:r>
            <a:rPr lang="zh-CN" altLang="en-US" sz="1400" b="0" i="0" kern="1200" dirty="0"/>
            <a:t>它不是乘法式穷举（</a:t>
          </a:r>
          <a:r>
            <a:rPr lang="en-US" altLang="en-US" sz="1400" b="0" i="0" kern="1200" dirty="0"/>
            <a:t>N!</a:t>
          </a:r>
          <a:r>
            <a:rPr lang="zh-CN" altLang="en-US" sz="1400" b="0" i="0" kern="1200" dirty="0"/>
            <a:t>），是加法式穷举（有限步数的条件判断）。所以碳基扛不住，硅基能跑。</a:t>
          </a:r>
        </a:p>
        <a:p>
          <a:pPr marL="0" lvl="0" indent="0" algn="l" defTabSz="622300">
            <a:lnSpc>
              <a:spcPct val="90000"/>
            </a:lnSpc>
            <a:spcBef>
              <a:spcPct val="0"/>
            </a:spcBef>
            <a:spcAft>
              <a:spcPct val="35000"/>
            </a:spcAft>
            <a:buNone/>
          </a:pPr>
          <a:r>
            <a:rPr lang="zh-CN" altLang="en-US" sz="1400" b="0" i="0" kern="1200" dirty="0"/>
            <a:t>所有分支跑完，所有约束筛过，解空间收敛到在给定战略意志</a:t>
          </a:r>
          <a:r>
            <a:rPr lang="en-US" altLang="en-US" sz="1400" b="0" i="0" kern="1200" dirty="0"/>
            <a:t>M</a:t>
          </a:r>
          <a:r>
            <a:rPr lang="zh-CN" altLang="en-US" sz="1400" b="0" i="0" kern="1200" dirty="0"/>
            <a:t>下的</a:t>
          </a:r>
          <a:r>
            <a:rPr lang="zh-CN" altLang="en-US" sz="1800" b="1" i="0" kern="1200" dirty="0">
              <a:solidFill>
                <a:srgbClr val="00D4FF"/>
              </a:solidFill>
            </a:rPr>
            <a:t>确定性最优解</a:t>
          </a:r>
          <a:r>
            <a:rPr lang="zh-CN" altLang="en-US" sz="1400" b="0" i="0" kern="1200" dirty="0"/>
            <a:t>。</a:t>
          </a:r>
          <a:endParaRPr lang="zh-CN" altLang="en-US" sz="1400" kern="1200" dirty="0"/>
        </a:p>
      </dsp:txBody>
      <dsp:txXfrm>
        <a:off x="2231635" y="958321"/>
        <a:ext cx="8579408" cy="1481411"/>
      </dsp:txXfrm>
    </dsp:sp>
    <dsp:sp modelId="{C9DF4D08-5429-4ABE-9D29-D78F02E4E9C9}">
      <dsp:nvSpPr>
        <dsp:cNvPr id="0" name=""/>
        <dsp:cNvSpPr/>
      </dsp:nvSpPr>
      <dsp:spPr>
        <a:xfrm>
          <a:off x="2185836" y="3112930"/>
          <a:ext cx="874334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534C63-C6EB-48F2-8B56-94EEB7C0390C}">
      <dsp:nvSpPr>
        <dsp:cNvPr id="0" name=""/>
        <dsp:cNvSpPr/>
      </dsp:nvSpPr>
      <dsp:spPr>
        <a:xfrm>
          <a:off x="2349774" y="3187001"/>
          <a:ext cx="8579408" cy="764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sz="1400" b="1" i="0" kern="1200" dirty="0"/>
            <a:t>宏观层：</a:t>
          </a:r>
          <a:r>
            <a:rPr lang="zh-CN" sz="1800" b="1" i="0" kern="1200" dirty="0">
              <a:solidFill>
                <a:srgbClr val="00D4FF"/>
              </a:solidFill>
            </a:rPr>
            <a:t>涌现</a:t>
          </a:r>
          <a:br>
            <a:rPr lang="zh-CN" sz="1400" b="0" i="0" kern="1200" dirty="0"/>
          </a:br>
          <a:r>
            <a:rPr lang="zh-CN" sz="1400" b="0" i="0" kern="1200" dirty="0"/>
            <a:t>底层元算子</a:t>
          </a:r>
          <a:r>
            <a:rPr lang="en-US" sz="1400" b="0" i="0" kern="1200" dirty="0"/>
            <a:t>+</a:t>
          </a:r>
          <a:r>
            <a:rPr lang="zh-CN" sz="1400" b="0" i="0" kern="1200" dirty="0"/>
            <a:t>编排引擎高频运转时，自然涌现出</a:t>
          </a:r>
          <a:r>
            <a:rPr lang="en-US" sz="1400" b="0" i="0" kern="1200" dirty="0"/>
            <a:t>IBP(</a:t>
          </a:r>
          <a:r>
            <a:rPr lang="zh-CN" altLang="en-US" sz="1400" b="0" i="0" kern="1200" dirty="0"/>
            <a:t>战略层</a:t>
          </a:r>
          <a:r>
            <a:rPr lang="en-US" sz="1400" b="0" i="0" kern="1200" dirty="0"/>
            <a:t>)</a:t>
          </a:r>
          <a:r>
            <a:rPr lang="zh-CN" sz="1400" b="0" i="0" kern="1200" dirty="0"/>
            <a:t>、</a:t>
          </a:r>
          <a:r>
            <a:rPr lang="en-US" sz="1400" b="0" i="0" kern="1200" dirty="0"/>
            <a:t>ITP</a:t>
          </a:r>
          <a:r>
            <a:rPr lang="zh-CN" altLang="en-US" sz="1400" b="0" i="0" kern="1200" dirty="0"/>
            <a:t>（战术）</a:t>
          </a:r>
          <a:r>
            <a:rPr lang="zh-CN" sz="1400" b="0" i="0" kern="1200" dirty="0"/>
            <a:t>、</a:t>
          </a:r>
          <a:r>
            <a:rPr lang="en-US" sz="1400" b="0" i="0" kern="1200" dirty="0"/>
            <a:t>IOP</a:t>
          </a:r>
          <a:r>
            <a:rPr lang="zh-CN" altLang="en-US" sz="1400" b="0" i="0" kern="1200" dirty="0"/>
            <a:t>（运营）</a:t>
          </a:r>
          <a:r>
            <a:rPr lang="zh-CN" sz="1400" b="0" i="0" kern="1200" dirty="0"/>
            <a:t>、</a:t>
          </a:r>
          <a:r>
            <a:rPr lang="en-US" sz="1400" b="0" i="0" kern="1200" dirty="0"/>
            <a:t>Control Tower</a:t>
          </a:r>
          <a:r>
            <a:rPr lang="zh-CN" sz="1400" b="0" i="0" kern="1200" dirty="0"/>
            <a:t>。</a:t>
          </a:r>
          <a:endParaRPr lang="zh-CN" sz="1400" kern="1200" dirty="0"/>
        </a:p>
      </dsp:txBody>
      <dsp:txXfrm>
        <a:off x="2349774" y="3187001"/>
        <a:ext cx="8579408" cy="764037"/>
      </dsp:txXfrm>
    </dsp:sp>
    <dsp:sp modelId="{86F2620A-49C3-4944-84F2-81DD943451F8}">
      <dsp:nvSpPr>
        <dsp:cNvPr id="0" name=""/>
        <dsp:cNvSpPr/>
      </dsp:nvSpPr>
      <dsp:spPr>
        <a:xfrm>
          <a:off x="2185836" y="3951039"/>
          <a:ext cx="874334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323CB-48FB-4571-B185-85523FBD9F0F}">
      <dsp:nvSpPr>
        <dsp:cNvPr id="0" name=""/>
        <dsp:cNvSpPr/>
      </dsp:nvSpPr>
      <dsp:spPr>
        <a:xfrm>
          <a:off x="0" y="211829"/>
          <a:ext cx="9486162" cy="277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9B7157-6105-46DF-A77C-7374FE13ABBA}">
      <dsp:nvSpPr>
        <dsp:cNvPr id="0" name=""/>
        <dsp:cNvSpPr/>
      </dsp:nvSpPr>
      <dsp:spPr>
        <a:xfrm>
          <a:off x="474308" y="49469"/>
          <a:ext cx="6640314"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988" tIns="0" rIns="250988"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双螺旋的设计保障决策收敛于最优的不动点以提高决策质量。</a:t>
          </a:r>
        </a:p>
      </dsp:txBody>
      <dsp:txXfrm>
        <a:off x="490160" y="65321"/>
        <a:ext cx="6608610" cy="293016"/>
      </dsp:txXfrm>
    </dsp:sp>
    <dsp:sp modelId="{B6F473F1-D1CB-4855-8DB0-F15AA9609347}">
      <dsp:nvSpPr>
        <dsp:cNvPr id="0" name=""/>
        <dsp:cNvSpPr/>
      </dsp:nvSpPr>
      <dsp:spPr>
        <a:xfrm>
          <a:off x="0" y="710789"/>
          <a:ext cx="9486162"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A9D955-EC3C-4E76-A70D-E7EFDC27CA02}">
      <dsp:nvSpPr>
        <dsp:cNvPr id="0" name=""/>
        <dsp:cNvSpPr/>
      </dsp:nvSpPr>
      <dsp:spPr>
        <a:xfrm>
          <a:off x="474308" y="548429"/>
          <a:ext cx="664031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988" tIns="0" rIns="250988"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然而决策速度是另一个需要跨过去的难关。</a:t>
          </a:r>
        </a:p>
      </dsp:txBody>
      <dsp:txXfrm>
        <a:off x="490160" y="564281"/>
        <a:ext cx="6608610" cy="293016"/>
      </dsp:txXfrm>
    </dsp:sp>
    <dsp:sp modelId="{2AD48EE7-9E9C-422B-AF13-C55DA2D64FE6}">
      <dsp:nvSpPr>
        <dsp:cNvPr id="0" name=""/>
        <dsp:cNvSpPr/>
      </dsp:nvSpPr>
      <dsp:spPr>
        <a:xfrm>
          <a:off x="0" y="1209750"/>
          <a:ext cx="9486162" cy="17671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6232" tIns="229108" rIns="736232" bIns="113792" numCol="1" spcCol="1270" anchor="t" anchorCtr="0">
          <a:noAutofit/>
        </a:bodyPr>
        <a:lstStyle/>
        <a:p>
          <a:pPr marL="171450" lvl="1" indent="-171450" algn="l" defTabSz="711200">
            <a:lnSpc>
              <a:spcPct val="90000"/>
            </a:lnSpc>
            <a:spcBef>
              <a:spcPct val="0"/>
            </a:spcBef>
            <a:spcAft>
              <a:spcPct val="15000"/>
            </a:spcAft>
            <a:buChar char="•"/>
          </a:pPr>
          <a:r>
            <a:rPr lang="zh-CN" sz="1600" b="1" kern="1200"/>
            <a:t>抛弃业务对象，拥抱紧凑数组：数据连续存储，</a:t>
          </a:r>
          <a:r>
            <a:rPr lang="en-US" sz="1600" b="1" kern="1200"/>
            <a:t>CPU</a:t>
          </a:r>
          <a:r>
            <a:rPr lang="zh-CN" sz="1600" b="1" kern="1200"/>
            <a:t>缓存不失效。</a:t>
          </a:r>
        </a:p>
        <a:p>
          <a:pPr marL="171450" lvl="1" indent="-171450" algn="l" defTabSz="711200">
            <a:lnSpc>
              <a:spcPct val="90000"/>
            </a:lnSpc>
            <a:spcBef>
              <a:spcPct val="0"/>
            </a:spcBef>
            <a:spcAft>
              <a:spcPct val="15000"/>
            </a:spcAft>
            <a:buChar char="•"/>
          </a:pPr>
          <a:r>
            <a:rPr lang="zh-CN" sz="1600" b="1" kern="1200"/>
            <a:t>抛弃逻辑判断，拥抱位图向量化：用数学运算取代</a:t>
          </a:r>
          <a:r>
            <a:rPr lang="en-US" sz="1600" b="1" kern="1200"/>
            <a:t>IF-ELSE</a:t>
          </a:r>
          <a:r>
            <a:rPr lang="zh-CN" sz="1600" b="1" kern="1200"/>
            <a:t>。</a:t>
          </a:r>
        </a:p>
        <a:p>
          <a:pPr marL="171450" lvl="1" indent="-171450" algn="l" defTabSz="711200">
            <a:lnSpc>
              <a:spcPct val="90000"/>
            </a:lnSpc>
            <a:spcBef>
              <a:spcPct val="0"/>
            </a:spcBef>
            <a:spcAft>
              <a:spcPct val="15000"/>
            </a:spcAft>
            <a:buChar char="•"/>
          </a:pPr>
          <a:r>
            <a:rPr lang="zh-CN" sz="1600" b="1" kern="1200" dirty="0"/>
            <a:t>抛弃全局锁定，拥抱双层并行：业务解耦切片，</a:t>
          </a:r>
          <a:r>
            <a:rPr lang="en-US" sz="1600" b="1" kern="1200" dirty="0"/>
            <a:t>CPU</a:t>
          </a:r>
          <a:r>
            <a:rPr lang="zh-CN" sz="1600" b="1" kern="1200" dirty="0"/>
            <a:t>无锁并发。</a:t>
          </a:r>
        </a:p>
        <a:p>
          <a:pPr marL="171450" lvl="1" indent="-171450" algn="l" defTabSz="711200">
            <a:lnSpc>
              <a:spcPct val="90000"/>
            </a:lnSpc>
            <a:spcBef>
              <a:spcPct val="0"/>
            </a:spcBef>
            <a:spcAft>
              <a:spcPct val="15000"/>
            </a:spcAft>
            <a:buChar char="•"/>
          </a:pPr>
          <a:r>
            <a:rPr lang="zh-CN" altLang="en-US" sz="1600" b="1" kern="1200" dirty="0"/>
            <a:t>刨析串行计算，以空间换取速度：分别并行累加。</a:t>
          </a:r>
        </a:p>
      </dsp:txBody>
      <dsp:txXfrm>
        <a:off x="0" y="1209750"/>
        <a:ext cx="9486162" cy="1767150"/>
      </dsp:txXfrm>
    </dsp:sp>
    <dsp:sp modelId="{66048E25-DB0B-4141-AE33-DD61D2D12DB6}">
      <dsp:nvSpPr>
        <dsp:cNvPr id="0" name=""/>
        <dsp:cNvSpPr/>
      </dsp:nvSpPr>
      <dsp:spPr>
        <a:xfrm>
          <a:off x="474308" y="1047389"/>
          <a:ext cx="6640314" cy="324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988" tIns="0" rIns="250988"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优化内存计算即精细设计数据结构算法：</a:t>
          </a:r>
        </a:p>
      </dsp:txBody>
      <dsp:txXfrm>
        <a:off x="490160" y="1063241"/>
        <a:ext cx="6608610" cy="2930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266742-6E65-43BC-9F32-8D86F04B6845}">
      <dsp:nvSpPr>
        <dsp:cNvPr id="0" name=""/>
        <dsp:cNvSpPr/>
      </dsp:nvSpPr>
      <dsp:spPr>
        <a:xfrm>
          <a:off x="0" y="0"/>
          <a:ext cx="8708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C4923F-53E7-4459-B535-F35460218A1F}">
      <dsp:nvSpPr>
        <dsp:cNvPr id="0" name=""/>
        <dsp:cNvSpPr/>
      </dsp:nvSpPr>
      <dsp:spPr>
        <a:xfrm>
          <a:off x="0" y="0"/>
          <a:ext cx="8708571" cy="843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CN" sz="1800" kern="1200"/>
            <a:t>业务的本体 </a:t>
          </a:r>
          <a:r>
            <a:rPr lang="en-US" sz="1800" kern="1200"/>
            <a:t>= </a:t>
          </a:r>
          <a:r>
            <a:rPr lang="zh-CN" sz="1800" kern="1200"/>
            <a:t>数据模型 </a:t>
          </a:r>
          <a:r>
            <a:rPr lang="en-US" sz="1800" kern="1200"/>
            <a:t>+ </a:t>
          </a:r>
          <a:r>
            <a:rPr lang="zh-CN" sz="1800" kern="1200"/>
            <a:t>业务算法。</a:t>
          </a:r>
        </a:p>
      </dsp:txBody>
      <dsp:txXfrm>
        <a:off x="0" y="0"/>
        <a:ext cx="8708571" cy="843638"/>
      </dsp:txXfrm>
    </dsp:sp>
    <dsp:sp modelId="{9BA70B55-A4CD-4AEB-97C2-6F6FF6C457B3}">
      <dsp:nvSpPr>
        <dsp:cNvPr id="0" name=""/>
        <dsp:cNvSpPr/>
      </dsp:nvSpPr>
      <dsp:spPr>
        <a:xfrm>
          <a:off x="0" y="843638"/>
          <a:ext cx="8708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2087DF-AB7F-4F76-A4AD-1BF60B09ECB3}">
      <dsp:nvSpPr>
        <dsp:cNvPr id="0" name=""/>
        <dsp:cNvSpPr/>
      </dsp:nvSpPr>
      <dsp:spPr>
        <a:xfrm>
          <a:off x="0" y="843638"/>
          <a:ext cx="8708571" cy="843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CN" sz="1800" kern="1200"/>
            <a:t>节点不是独立的，是耦合的。物料</a:t>
          </a:r>
          <a:r>
            <a:rPr lang="en-US" sz="1800" kern="1200"/>
            <a:t>A</a:t>
          </a:r>
          <a:r>
            <a:rPr lang="zh-CN" sz="1800" kern="1200"/>
            <a:t>的延迟会影响订单</a:t>
          </a:r>
          <a:r>
            <a:rPr lang="en-US" sz="1800" kern="1200"/>
            <a:t>B</a:t>
          </a:r>
          <a:r>
            <a:rPr lang="zh-CN" sz="1800" kern="1200"/>
            <a:t>，订单</a:t>
          </a:r>
          <a:r>
            <a:rPr lang="en-US" sz="1800" kern="1200"/>
            <a:t>B</a:t>
          </a:r>
          <a:r>
            <a:rPr lang="zh-CN" sz="1800" kern="1200"/>
            <a:t>延期会影响客户</a:t>
          </a:r>
          <a:r>
            <a:rPr lang="en-US" sz="1800" kern="1200"/>
            <a:t>C</a:t>
          </a:r>
          <a:r>
            <a:rPr lang="zh-CN" sz="1800" kern="1200"/>
            <a:t>。</a:t>
          </a:r>
        </a:p>
      </dsp:txBody>
      <dsp:txXfrm>
        <a:off x="0" y="843638"/>
        <a:ext cx="8708571" cy="843638"/>
      </dsp:txXfrm>
    </dsp:sp>
    <dsp:sp modelId="{BE9A44D7-6A94-46CC-9FDB-D9EBBC6A9583}">
      <dsp:nvSpPr>
        <dsp:cNvPr id="0" name=""/>
        <dsp:cNvSpPr/>
      </dsp:nvSpPr>
      <dsp:spPr>
        <a:xfrm>
          <a:off x="0" y="1687277"/>
          <a:ext cx="8708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DC2EF6-AC6F-4B57-80AD-272DA763B621}">
      <dsp:nvSpPr>
        <dsp:cNvPr id="0" name=""/>
        <dsp:cNvSpPr/>
      </dsp:nvSpPr>
      <dsp:spPr>
        <a:xfrm>
          <a:off x="0" y="1687276"/>
          <a:ext cx="8708571" cy="843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CN" altLang="en-US" sz="1800" kern="1200" dirty="0"/>
            <a:t>状态跃迁，就是派工、</a:t>
          </a:r>
          <a:r>
            <a:rPr lang="en-US" altLang="zh-CN" sz="1800" kern="1200" dirty="0"/>
            <a:t>Pegging</a:t>
          </a:r>
          <a:r>
            <a:rPr lang="zh-CN" altLang="en-US" sz="1800" kern="1200" dirty="0"/>
            <a:t>、拉动</a:t>
          </a:r>
          <a:r>
            <a:rPr lang="en-US" altLang="zh-CN" sz="1800" kern="1200" dirty="0"/>
            <a:t>——</a:t>
          </a:r>
          <a:r>
            <a:rPr lang="zh-CN" altLang="en-US" sz="1800" kern="1200" dirty="0"/>
            <a:t>它把订单、工单、物料死死扣在一起</a:t>
          </a:r>
          <a:r>
            <a:rPr lang="zh-CN" sz="1800" kern="1200" dirty="0"/>
            <a:t>。</a:t>
          </a:r>
        </a:p>
      </dsp:txBody>
      <dsp:txXfrm>
        <a:off x="0" y="1687276"/>
        <a:ext cx="8708571" cy="843638"/>
      </dsp:txXfrm>
    </dsp:sp>
    <dsp:sp modelId="{9C441365-0A70-4EE4-9C39-9CA4C9FE269A}">
      <dsp:nvSpPr>
        <dsp:cNvPr id="0" name=""/>
        <dsp:cNvSpPr/>
      </dsp:nvSpPr>
      <dsp:spPr>
        <a:xfrm>
          <a:off x="0" y="2530915"/>
          <a:ext cx="8708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53BAAD-8BC9-44BD-8F2B-1B4E08C18C99}">
      <dsp:nvSpPr>
        <dsp:cNvPr id="0" name=""/>
        <dsp:cNvSpPr/>
      </dsp:nvSpPr>
      <dsp:spPr>
        <a:xfrm>
          <a:off x="0" y="2530915"/>
          <a:ext cx="8708571" cy="843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zh-CN" altLang="en-US" sz="1800" kern="1200" dirty="0"/>
            <a:t>既然模型本身</a:t>
          </a:r>
          <a:r>
            <a:rPr lang="zh-CN" altLang="en-US" sz="2400" b="1" kern="1200" dirty="0">
              <a:solidFill>
                <a:srgbClr val="00D4FF"/>
              </a:solidFill>
            </a:rPr>
            <a:t>不可分</a:t>
          </a:r>
          <a:r>
            <a:rPr lang="zh-CN" altLang="en-US" sz="1800" kern="1200" dirty="0"/>
            <a:t>，业务本身也不可分。</a:t>
          </a:r>
        </a:p>
      </dsp:txBody>
      <dsp:txXfrm>
        <a:off x="0" y="2530915"/>
        <a:ext cx="8708571" cy="84363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57AED5-2596-4482-AFBC-1588808F3110}">
      <dsp:nvSpPr>
        <dsp:cNvPr id="0" name=""/>
        <dsp:cNvSpPr/>
      </dsp:nvSpPr>
      <dsp:spPr>
        <a:xfrm>
          <a:off x="0" y="340732"/>
          <a:ext cx="10931501"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B5C966-8246-47B5-B539-2AA9FF224882}">
      <dsp:nvSpPr>
        <dsp:cNvPr id="0" name=""/>
        <dsp:cNvSpPr/>
      </dsp:nvSpPr>
      <dsp:spPr>
        <a:xfrm>
          <a:off x="546575" y="16012"/>
          <a:ext cx="765205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229" tIns="0" rIns="289229" bIns="0" numCol="1" spcCol="1270" anchor="ctr" anchorCtr="0">
          <a:noAutofit/>
        </a:bodyPr>
        <a:lstStyle/>
        <a:p>
          <a:pPr marL="0" lvl="0" indent="0" algn="l" defTabSz="711200">
            <a:lnSpc>
              <a:spcPct val="90000"/>
            </a:lnSpc>
            <a:spcBef>
              <a:spcPct val="0"/>
            </a:spcBef>
            <a:spcAft>
              <a:spcPct val="35000"/>
            </a:spcAft>
            <a:buNone/>
          </a:pPr>
          <a:r>
            <a:rPr lang="zh-CN" sz="1600" b="1" kern="1200">
              <a:solidFill>
                <a:schemeClr val="tx1"/>
              </a:solidFill>
              <a:latin typeface="+mn-ea"/>
              <a:ea typeface="+mn-ea"/>
            </a:rPr>
            <a:t>业务包括什么？研发（</a:t>
          </a:r>
          <a:r>
            <a:rPr lang="en-US" sz="1600" b="1" kern="1200">
              <a:solidFill>
                <a:schemeClr val="tx1"/>
              </a:solidFill>
              <a:latin typeface="+mn-ea"/>
              <a:ea typeface="+mn-ea"/>
            </a:rPr>
            <a:t>C</a:t>
          </a:r>
          <a:r>
            <a:rPr lang="zh-CN" sz="1600" b="1" kern="1200">
              <a:solidFill>
                <a:schemeClr val="tx1"/>
              </a:solidFill>
              <a:latin typeface="+mn-ea"/>
              <a:ea typeface="+mn-ea"/>
            </a:rPr>
            <a:t>）、营销</a:t>
          </a:r>
          <a:r>
            <a:rPr lang="en-US" sz="1600" b="1" kern="1200">
              <a:solidFill>
                <a:schemeClr val="tx1"/>
              </a:solidFill>
              <a:latin typeface="+mn-ea"/>
              <a:ea typeface="+mn-ea"/>
            </a:rPr>
            <a:t>/</a:t>
          </a:r>
          <a:r>
            <a:rPr lang="zh-CN" sz="1600" b="1" kern="1200">
              <a:solidFill>
                <a:schemeClr val="tx1"/>
              </a:solidFill>
              <a:latin typeface="+mn-ea"/>
              <a:ea typeface="+mn-ea"/>
            </a:rPr>
            <a:t>销售（</a:t>
          </a:r>
          <a:r>
            <a:rPr lang="en-US" sz="1600" b="1" kern="1200">
              <a:solidFill>
                <a:schemeClr val="tx1"/>
              </a:solidFill>
              <a:latin typeface="+mn-ea"/>
              <a:ea typeface="+mn-ea"/>
            </a:rPr>
            <a:t>P</a:t>
          </a:r>
          <a:r>
            <a:rPr lang="zh-CN" sz="1600" b="1" kern="1200">
              <a:solidFill>
                <a:schemeClr val="tx1"/>
              </a:solidFill>
              <a:latin typeface="+mn-ea"/>
              <a:ea typeface="+mn-ea"/>
            </a:rPr>
            <a:t>）、供应链（</a:t>
          </a:r>
          <a:r>
            <a:rPr lang="en-US" sz="1600" b="1" kern="1200">
              <a:solidFill>
                <a:schemeClr val="tx1"/>
              </a:solidFill>
              <a:latin typeface="+mn-ea"/>
              <a:ea typeface="+mn-ea"/>
            </a:rPr>
            <a:t>D</a:t>
          </a:r>
          <a:r>
            <a:rPr lang="zh-CN" sz="1600" b="1" kern="1200">
              <a:solidFill>
                <a:schemeClr val="tx1"/>
              </a:solidFill>
              <a:latin typeface="+mn-ea"/>
              <a:ea typeface="+mn-ea"/>
            </a:rPr>
            <a:t>）。</a:t>
          </a:r>
        </a:p>
      </dsp:txBody>
      <dsp:txXfrm>
        <a:off x="578278" y="47715"/>
        <a:ext cx="7588644" cy="586034"/>
      </dsp:txXfrm>
    </dsp:sp>
    <dsp:sp modelId="{8227C405-FE0B-44A7-92E5-BC918CD7CA88}">
      <dsp:nvSpPr>
        <dsp:cNvPr id="0" name=""/>
        <dsp:cNvSpPr/>
      </dsp:nvSpPr>
      <dsp:spPr>
        <a:xfrm>
          <a:off x="0" y="1338652"/>
          <a:ext cx="10931501" cy="162854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406" tIns="458216" rIns="848406"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a:solidFill>
                <a:schemeClr val="tx1"/>
              </a:solidFill>
              <a:latin typeface="+mn-ea"/>
              <a:ea typeface="+mn-ea"/>
            </a:rPr>
            <a:t>研发改一个零件，采购前置期变了，产线可能停线。</a:t>
          </a:r>
        </a:p>
        <a:p>
          <a:pPr marL="171450" lvl="1" indent="-171450" algn="l" defTabSz="711200">
            <a:lnSpc>
              <a:spcPct val="90000"/>
            </a:lnSpc>
            <a:spcBef>
              <a:spcPct val="0"/>
            </a:spcBef>
            <a:spcAft>
              <a:spcPct val="15000"/>
            </a:spcAft>
            <a:buChar char="•"/>
          </a:pPr>
          <a:r>
            <a:rPr lang="zh-CN" altLang="en-US" sz="1600" b="1" kern="1200">
              <a:solidFill>
                <a:schemeClr val="tx1"/>
              </a:solidFill>
              <a:latin typeface="+mn-ea"/>
              <a:ea typeface="+mn-ea"/>
            </a:rPr>
            <a:t>销售拍胸脯承诺交期，后端产能接不住，交期违约赔款。</a:t>
          </a:r>
        </a:p>
        <a:p>
          <a:pPr marL="171450" lvl="1" indent="-171450" algn="l" defTabSz="711200">
            <a:lnSpc>
              <a:spcPct val="90000"/>
            </a:lnSpc>
            <a:spcBef>
              <a:spcPct val="0"/>
            </a:spcBef>
            <a:spcAft>
              <a:spcPct val="15000"/>
            </a:spcAft>
            <a:buChar char="•"/>
          </a:pPr>
          <a:r>
            <a:rPr lang="zh-CN" sz="1600" b="1" kern="1200">
              <a:solidFill>
                <a:schemeClr val="tx1"/>
              </a:solidFill>
              <a:latin typeface="+mn-ea"/>
              <a:ea typeface="+mn-ea"/>
            </a:rPr>
            <a:t>交付端为保单日</a:t>
          </a:r>
          <a:r>
            <a:rPr lang="en-US" sz="1600" b="1" kern="1200">
              <a:solidFill>
                <a:schemeClr val="tx1"/>
              </a:solidFill>
              <a:latin typeface="+mn-ea"/>
              <a:ea typeface="+mn-ea"/>
            </a:rPr>
            <a:t>OEE</a:t>
          </a:r>
          <a:r>
            <a:rPr lang="zh-CN" sz="1600" b="1" kern="1200">
              <a:solidFill>
                <a:schemeClr val="tx1"/>
              </a:solidFill>
              <a:latin typeface="+mn-ea"/>
              <a:ea typeface="+mn-ea"/>
            </a:rPr>
            <a:t>，偷偷挪料，大客户承诺落空。</a:t>
          </a:r>
        </a:p>
      </dsp:txBody>
      <dsp:txXfrm>
        <a:off x="0" y="1338652"/>
        <a:ext cx="10931501" cy="1628549"/>
      </dsp:txXfrm>
    </dsp:sp>
    <dsp:sp modelId="{84920056-7C96-4149-B678-F7A3336FF6F6}">
      <dsp:nvSpPr>
        <dsp:cNvPr id="0" name=""/>
        <dsp:cNvSpPr/>
      </dsp:nvSpPr>
      <dsp:spPr>
        <a:xfrm>
          <a:off x="546575" y="1013932"/>
          <a:ext cx="765205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229" tIns="0" rIns="28922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chemeClr val="tx1"/>
              </a:solidFill>
              <a:latin typeface="+mn-ea"/>
              <a:ea typeface="+mn-ea"/>
            </a:rPr>
            <a:t>但真正的能力，不是分别懂这三块。而是要懂它们之间的强耦合：</a:t>
          </a:r>
        </a:p>
      </dsp:txBody>
      <dsp:txXfrm>
        <a:off x="578278" y="1045635"/>
        <a:ext cx="7588644" cy="586034"/>
      </dsp:txXfrm>
    </dsp:sp>
    <dsp:sp modelId="{4343B7D1-1E8D-40F4-9E36-BD6D4FD92394}">
      <dsp:nvSpPr>
        <dsp:cNvPr id="0" name=""/>
        <dsp:cNvSpPr/>
      </dsp:nvSpPr>
      <dsp:spPr>
        <a:xfrm>
          <a:off x="0" y="3410722"/>
          <a:ext cx="10931501"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339AF2-B31D-4579-B7FD-21416FA4B5B7}">
      <dsp:nvSpPr>
        <dsp:cNvPr id="0" name=""/>
        <dsp:cNvSpPr/>
      </dsp:nvSpPr>
      <dsp:spPr>
        <a:xfrm>
          <a:off x="546575" y="3086002"/>
          <a:ext cx="765205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229" tIns="0" rIns="289229" bIns="0"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tx1"/>
              </a:solidFill>
              <a:latin typeface="+mn-ea"/>
              <a:ea typeface="+mn-ea"/>
            </a:rPr>
            <a:t>C</a:t>
          </a:r>
          <a:r>
            <a:rPr lang="zh-CN" sz="1600" b="1" kern="1200">
              <a:solidFill>
                <a:schemeClr val="tx1"/>
              </a:solidFill>
              <a:latin typeface="+mn-ea"/>
              <a:ea typeface="+mn-ea"/>
            </a:rPr>
            <a:t>动一下，</a:t>
          </a:r>
          <a:r>
            <a:rPr lang="en-US" sz="1600" b="1" kern="1200">
              <a:solidFill>
                <a:schemeClr val="tx1"/>
              </a:solidFill>
              <a:latin typeface="+mn-ea"/>
              <a:ea typeface="+mn-ea"/>
            </a:rPr>
            <a:t>P</a:t>
          </a:r>
          <a:r>
            <a:rPr lang="zh-CN" sz="1600" b="1" kern="1200">
              <a:solidFill>
                <a:schemeClr val="tx1"/>
              </a:solidFill>
              <a:latin typeface="+mn-ea"/>
              <a:ea typeface="+mn-ea"/>
            </a:rPr>
            <a:t>和</a:t>
          </a:r>
          <a:r>
            <a:rPr lang="en-US" sz="1600" b="1" kern="1200">
              <a:solidFill>
                <a:schemeClr val="tx1"/>
              </a:solidFill>
              <a:latin typeface="+mn-ea"/>
              <a:ea typeface="+mn-ea"/>
            </a:rPr>
            <a:t>D</a:t>
          </a:r>
          <a:r>
            <a:rPr lang="zh-CN" sz="1600" b="1" kern="1200">
              <a:solidFill>
                <a:schemeClr val="tx1"/>
              </a:solidFill>
              <a:latin typeface="+mn-ea"/>
              <a:ea typeface="+mn-ea"/>
            </a:rPr>
            <a:t>跟着震。</a:t>
          </a:r>
          <a:r>
            <a:rPr lang="en-US" sz="1600" b="1" kern="1200">
              <a:solidFill>
                <a:schemeClr val="tx1"/>
              </a:solidFill>
              <a:latin typeface="+mn-ea"/>
              <a:ea typeface="+mn-ea"/>
            </a:rPr>
            <a:t>P</a:t>
          </a:r>
          <a:r>
            <a:rPr lang="zh-CN" sz="1600" b="1" kern="1200">
              <a:solidFill>
                <a:schemeClr val="tx1"/>
              </a:solidFill>
              <a:latin typeface="+mn-ea"/>
              <a:ea typeface="+mn-ea"/>
            </a:rPr>
            <a:t>动一下，</a:t>
          </a:r>
          <a:r>
            <a:rPr lang="en-US" sz="1600" b="1" kern="1200">
              <a:solidFill>
                <a:schemeClr val="tx1"/>
              </a:solidFill>
              <a:latin typeface="+mn-ea"/>
              <a:ea typeface="+mn-ea"/>
            </a:rPr>
            <a:t>C</a:t>
          </a:r>
          <a:r>
            <a:rPr lang="zh-CN" sz="1600" b="1" kern="1200">
              <a:solidFill>
                <a:schemeClr val="tx1"/>
              </a:solidFill>
              <a:latin typeface="+mn-ea"/>
              <a:ea typeface="+mn-ea"/>
            </a:rPr>
            <a:t>和</a:t>
          </a:r>
          <a:r>
            <a:rPr lang="en-US" sz="1600" b="1" kern="1200">
              <a:solidFill>
                <a:schemeClr val="tx1"/>
              </a:solidFill>
              <a:latin typeface="+mn-ea"/>
              <a:ea typeface="+mn-ea"/>
            </a:rPr>
            <a:t>D</a:t>
          </a:r>
          <a:r>
            <a:rPr lang="zh-CN" sz="1600" b="1" kern="1200">
              <a:solidFill>
                <a:schemeClr val="tx1"/>
              </a:solidFill>
              <a:latin typeface="+mn-ea"/>
              <a:ea typeface="+mn-ea"/>
            </a:rPr>
            <a:t>跟着抖。</a:t>
          </a:r>
          <a:r>
            <a:rPr lang="en-US" sz="1600" b="1" kern="1200">
              <a:solidFill>
                <a:schemeClr val="tx1"/>
              </a:solidFill>
              <a:latin typeface="+mn-ea"/>
              <a:ea typeface="+mn-ea"/>
            </a:rPr>
            <a:t>D</a:t>
          </a:r>
          <a:r>
            <a:rPr lang="zh-CN" sz="1600" b="1" kern="1200">
              <a:solidFill>
                <a:schemeClr val="tx1"/>
              </a:solidFill>
              <a:latin typeface="+mn-ea"/>
              <a:ea typeface="+mn-ea"/>
            </a:rPr>
            <a:t>动一下，整个因果网重新排列。</a:t>
          </a:r>
        </a:p>
      </dsp:txBody>
      <dsp:txXfrm>
        <a:off x="578278" y="3117705"/>
        <a:ext cx="7588644" cy="586034"/>
      </dsp:txXfrm>
    </dsp:sp>
    <dsp:sp modelId="{97225EAC-AE2B-429C-8720-B379F7EE11E9}">
      <dsp:nvSpPr>
        <dsp:cNvPr id="0" name=""/>
        <dsp:cNvSpPr/>
      </dsp:nvSpPr>
      <dsp:spPr>
        <a:xfrm>
          <a:off x="0" y="4408642"/>
          <a:ext cx="10931501"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4414AA-2F64-4CB0-AB89-506B7CF8DE4F}">
      <dsp:nvSpPr>
        <dsp:cNvPr id="0" name=""/>
        <dsp:cNvSpPr/>
      </dsp:nvSpPr>
      <dsp:spPr>
        <a:xfrm>
          <a:off x="546575" y="4083922"/>
          <a:ext cx="765205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229" tIns="0" rIns="289229" bIns="0" numCol="1" spcCol="1270" anchor="ctr" anchorCtr="0">
          <a:noAutofit/>
        </a:bodyPr>
        <a:lstStyle/>
        <a:p>
          <a:pPr marL="0" lvl="0" indent="0" algn="l" defTabSz="711200">
            <a:lnSpc>
              <a:spcPct val="90000"/>
            </a:lnSpc>
            <a:spcBef>
              <a:spcPct val="0"/>
            </a:spcBef>
            <a:spcAft>
              <a:spcPct val="35000"/>
            </a:spcAft>
            <a:buNone/>
          </a:pPr>
          <a:r>
            <a:rPr lang="zh-CN" sz="1600" b="1" kern="1200" dirty="0">
              <a:solidFill>
                <a:schemeClr val="tx1"/>
              </a:solidFill>
              <a:latin typeface="+mn-ea"/>
              <a:ea typeface="+mn-ea"/>
            </a:rPr>
            <a:t>而且不是泛泛地懂，是懂到模型层面</a:t>
          </a:r>
          <a:r>
            <a:rPr lang="en-US" sz="1600" b="1" kern="1200" dirty="0">
              <a:solidFill>
                <a:schemeClr val="tx1"/>
              </a:solidFill>
              <a:latin typeface="+mn-ea"/>
              <a:ea typeface="+mn-ea"/>
            </a:rPr>
            <a:t>——</a:t>
          </a:r>
          <a:r>
            <a:rPr lang="zh-CN" sz="1600" b="1" kern="1200" dirty="0">
              <a:solidFill>
                <a:schemeClr val="tx1"/>
              </a:solidFill>
              <a:latin typeface="+mn-ea"/>
              <a:ea typeface="+mn-ea"/>
            </a:rPr>
            <a:t>物料怎么齐套、产能怎么约束、交期怎么传导、替换料怎么切换。</a:t>
          </a:r>
        </a:p>
      </dsp:txBody>
      <dsp:txXfrm>
        <a:off x="578278" y="4115625"/>
        <a:ext cx="7588644" cy="5860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4B098-7B1B-4849-B273-DA7ED9D90965}">
      <dsp:nvSpPr>
        <dsp:cNvPr id="0" name=""/>
        <dsp:cNvSpPr/>
      </dsp:nvSpPr>
      <dsp:spPr>
        <a:xfrm>
          <a:off x="0" y="45971"/>
          <a:ext cx="8403772" cy="1162830"/>
        </a:xfrm>
        <a:prstGeom prst="rect">
          <a:avLst/>
        </a:prstGeom>
        <a:solidFill>
          <a:schemeClr val="accent2">
            <a:shade val="5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zh-CN" sz="1900" kern="1200" dirty="0"/>
            <a:t>业务懂了，还得把它变成可计算的模型。而且不是分别建三套模型，是</a:t>
          </a:r>
          <a:r>
            <a:rPr lang="zh-CN" sz="2400" b="1" kern="1200" dirty="0">
              <a:solidFill>
                <a:schemeClr val="tx1"/>
              </a:solidFill>
              <a:latin typeface="+mj-ea"/>
              <a:ea typeface="+mj-ea"/>
            </a:rPr>
            <a:t>跨</a:t>
          </a:r>
          <a:r>
            <a:rPr lang="en-US" sz="2400" b="1" kern="1200" dirty="0">
              <a:solidFill>
                <a:schemeClr val="tx1"/>
              </a:solidFill>
              <a:latin typeface="+mj-ea"/>
              <a:ea typeface="+mj-ea"/>
            </a:rPr>
            <a:t>C/P/D</a:t>
          </a:r>
          <a:r>
            <a:rPr lang="zh-CN" sz="1900" kern="1200" dirty="0"/>
            <a:t>建一套统一的五维模型。</a:t>
          </a:r>
        </a:p>
      </dsp:txBody>
      <dsp:txXfrm>
        <a:off x="0" y="45971"/>
        <a:ext cx="8403772" cy="1162830"/>
      </dsp:txXfrm>
    </dsp:sp>
    <dsp:sp modelId="{99C481E3-02A5-4768-ACF9-0840D60F240C}">
      <dsp:nvSpPr>
        <dsp:cNvPr id="0" name=""/>
        <dsp:cNvSpPr/>
      </dsp:nvSpPr>
      <dsp:spPr>
        <a:xfrm>
          <a:off x="0" y="1208802"/>
          <a:ext cx="8403772" cy="3546539"/>
        </a:xfrm>
        <a:prstGeom prst="rect">
          <a:avLst/>
        </a:prstGeom>
        <a:noFill/>
        <a:ln w="12700" cap="flat" cmpd="sng" algn="ctr">
          <a:solidFill>
            <a:schemeClr val="accent2">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zh-CN" sz="1900" kern="1200" dirty="0"/>
            <a:t>节点：不只是供应链的物料和机台，还要包括研发的</a:t>
          </a:r>
          <a:r>
            <a:rPr lang="en-US" sz="1900" kern="1200" dirty="0"/>
            <a:t>BOM</a:t>
          </a:r>
          <a:r>
            <a:rPr lang="zh-CN" sz="1900" kern="1200" dirty="0"/>
            <a:t>节点、销售的订单节点。</a:t>
          </a:r>
        </a:p>
        <a:p>
          <a:pPr marL="171450" lvl="1" indent="-171450" algn="l" defTabSz="844550">
            <a:lnSpc>
              <a:spcPct val="90000"/>
            </a:lnSpc>
            <a:spcBef>
              <a:spcPct val="0"/>
            </a:spcBef>
            <a:spcAft>
              <a:spcPct val="15000"/>
            </a:spcAft>
            <a:buChar char="•"/>
          </a:pPr>
          <a:r>
            <a:rPr lang="zh-CN" sz="1900" kern="1200" dirty="0"/>
            <a:t>拓扑：不只是</a:t>
          </a:r>
          <a:r>
            <a:rPr lang="en-US" sz="1900" kern="1200" dirty="0"/>
            <a:t>BOM</a:t>
          </a:r>
          <a:r>
            <a:rPr lang="zh-CN" sz="1900" kern="1200" dirty="0"/>
            <a:t>和工艺路线，还要包括销售预测到主计划的传导链路、研发变更到采购和生产的因果链。</a:t>
          </a:r>
        </a:p>
        <a:p>
          <a:pPr marL="171450" lvl="1" indent="-171450" algn="l" defTabSz="844550">
            <a:lnSpc>
              <a:spcPct val="90000"/>
            </a:lnSpc>
            <a:spcBef>
              <a:spcPct val="0"/>
            </a:spcBef>
            <a:spcAft>
              <a:spcPct val="15000"/>
            </a:spcAft>
            <a:buChar char="•"/>
          </a:pPr>
          <a:r>
            <a:rPr lang="zh-CN" sz="1900" kern="1200" dirty="0"/>
            <a:t>约束：不只是产能和交期，还要包括研发的</a:t>
          </a:r>
          <a:r>
            <a:rPr lang="en-US" sz="1900" kern="1200" dirty="0"/>
            <a:t>ECN</a:t>
          </a:r>
          <a:r>
            <a:rPr lang="zh-CN" sz="1900" kern="1200" dirty="0"/>
            <a:t>变更窗口、销售的交期承诺。</a:t>
          </a:r>
        </a:p>
        <a:p>
          <a:pPr marL="171450" lvl="1" indent="-171450" algn="l" defTabSz="844550">
            <a:lnSpc>
              <a:spcPct val="90000"/>
            </a:lnSpc>
            <a:spcBef>
              <a:spcPct val="0"/>
            </a:spcBef>
            <a:spcAft>
              <a:spcPct val="15000"/>
            </a:spcAft>
            <a:buChar char="•"/>
          </a:pPr>
          <a:r>
            <a:rPr lang="zh-CN" altLang="en-US" sz="1900" kern="1200" dirty="0"/>
            <a:t>状态矢量：不只是库存和物权，还要包括销售的承诺状态、研发的变更状态。</a:t>
          </a:r>
        </a:p>
        <a:p>
          <a:pPr marL="171450" lvl="1" indent="-171450" algn="l" defTabSz="844550">
            <a:lnSpc>
              <a:spcPct val="90000"/>
            </a:lnSpc>
            <a:spcBef>
              <a:spcPct val="0"/>
            </a:spcBef>
            <a:spcAft>
              <a:spcPct val="15000"/>
            </a:spcAft>
            <a:buChar char="•"/>
          </a:pPr>
          <a:r>
            <a:rPr lang="zh-CN" sz="1900" kern="1200" dirty="0"/>
            <a:t>状态跃迁：不只是派工和</a:t>
          </a:r>
          <a:r>
            <a:rPr lang="en-US" sz="1900" kern="1200" dirty="0"/>
            <a:t>Pegging</a:t>
          </a:r>
          <a:r>
            <a:rPr lang="zh-CN" sz="1900" kern="1200" dirty="0"/>
            <a:t>，还要包括研发变更拉动采购重算、销售插单拉动产线重排。</a:t>
          </a:r>
        </a:p>
      </dsp:txBody>
      <dsp:txXfrm>
        <a:off x="0" y="1208802"/>
        <a:ext cx="8403772" cy="354653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9DA58-C300-4A12-A5CB-513211401E01}">
      <dsp:nvSpPr>
        <dsp:cNvPr id="0" name=""/>
        <dsp:cNvSpPr/>
      </dsp:nvSpPr>
      <dsp:spPr>
        <a:xfrm>
          <a:off x="0" y="253797"/>
          <a:ext cx="9145474"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50BE09-D0D3-4BA7-B7B8-1785819A654C}">
      <dsp:nvSpPr>
        <dsp:cNvPr id="0" name=""/>
        <dsp:cNvSpPr/>
      </dsp:nvSpPr>
      <dsp:spPr>
        <a:xfrm>
          <a:off x="457273" y="32397"/>
          <a:ext cx="7567925"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974" tIns="0" rIns="241974" bIns="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rPr>
            <a:t>能力论已经证明：业务不可分，能力不可分，必须单脑奇点（总设计师）。</a:t>
          </a:r>
        </a:p>
      </dsp:txBody>
      <dsp:txXfrm>
        <a:off x="478889" y="54013"/>
        <a:ext cx="7524693" cy="399568"/>
      </dsp:txXfrm>
    </dsp:sp>
    <dsp:sp modelId="{20A07064-BB37-4674-9A28-6A1441FEE53A}">
      <dsp:nvSpPr>
        <dsp:cNvPr id="0" name=""/>
        <dsp:cNvSpPr/>
      </dsp:nvSpPr>
      <dsp:spPr>
        <a:xfrm>
          <a:off x="0" y="1421693"/>
          <a:ext cx="9145474"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30F403-AAD9-4BF6-8A8D-D6094C4B081E}">
      <dsp:nvSpPr>
        <dsp:cNvPr id="0" name=""/>
        <dsp:cNvSpPr/>
      </dsp:nvSpPr>
      <dsp:spPr>
        <a:xfrm>
          <a:off x="456827" y="712797"/>
          <a:ext cx="7560534" cy="9302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974" tIns="0" rIns="241974" bIns="0" numCol="1" spcCol="1270" anchor="ctr" anchorCtr="0">
          <a:noAutofit/>
        </a:bodyPr>
        <a:lstStyle/>
        <a:p>
          <a:pPr marL="0" lvl="0" indent="0" algn="l" defTabSz="711200">
            <a:lnSpc>
              <a:spcPct val="90000"/>
            </a:lnSpc>
            <a:spcBef>
              <a:spcPct val="0"/>
            </a:spcBef>
            <a:spcAft>
              <a:spcPct val="35000"/>
            </a:spcAft>
            <a:buNone/>
          </a:pPr>
          <a:r>
            <a:rPr lang="zh-CN" altLang="en-US" sz="1600" b="0" kern="1200" dirty="0">
              <a:solidFill>
                <a:schemeClr val="tx1"/>
              </a:solidFill>
            </a:rPr>
            <a:t>设计权一旦集中单脑，运行机制就</a:t>
          </a:r>
          <a:r>
            <a:rPr lang="zh-CN" altLang="en-US" sz="1800" b="1" kern="1200" dirty="0">
              <a:solidFill>
                <a:schemeClr val="tx1"/>
              </a:solidFill>
            </a:rPr>
            <a:t>绝不可能是委员会民主表决</a:t>
          </a:r>
          <a:r>
            <a:rPr lang="zh-CN" altLang="en-US" sz="1600" b="0" kern="1200" dirty="0">
              <a:solidFill>
                <a:schemeClr val="tx1"/>
              </a:solidFill>
            </a:rPr>
            <a:t>。若让委员会投票决定算法规则和确权方案，等于把已经集中的设计权又强行拆散，这在物理逻辑上直接矛盾。</a:t>
          </a:r>
        </a:p>
      </dsp:txBody>
      <dsp:txXfrm>
        <a:off x="502240" y="758210"/>
        <a:ext cx="7469708" cy="839470"/>
      </dsp:txXfrm>
    </dsp:sp>
    <dsp:sp modelId="{0C82D689-AD37-4EBE-B9D4-342FA80C4A5C}">
      <dsp:nvSpPr>
        <dsp:cNvPr id="0" name=""/>
        <dsp:cNvSpPr/>
      </dsp:nvSpPr>
      <dsp:spPr>
        <a:xfrm>
          <a:off x="0" y="2102093"/>
          <a:ext cx="9145474"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43B8CF-BC9C-4577-8527-7D00F27E78FC}">
      <dsp:nvSpPr>
        <dsp:cNvPr id="0" name=""/>
        <dsp:cNvSpPr/>
      </dsp:nvSpPr>
      <dsp:spPr>
        <a:xfrm>
          <a:off x="457273" y="1880693"/>
          <a:ext cx="7567925"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974" tIns="0" rIns="241974" bIns="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rPr>
            <a:t>阿罗不可能定理的物理表现：</a:t>
          </a:r>
          <a:r>
            <a:rPr lang="zh-CN" altLang="en-US" sz="1600" b="0" kern="1200" dirty="0">
              <a:solidFill>
                <a:schemeClr val="tx1"/>
              </a:solidFill>
            </a:rPr>
            <a:t>多目标冲突下，民主表决无法产生全局最优解。</a:t>
          </a:r>
        </a:p>
      </dsp:txBody>
      <dsp:txXfrm>
        <a:off x="478889" y="1902309"/>
        <a:ext cx="7524693" cy="3995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064FA3-F3B0-4A26-BF3C-91498BF058FA}">
      <dsp:nvSpPr>
        <dsp:cNvPr id="0" name=""/>
        <dsp:cNvSpPr/>
      </dsp:nvSpPr>
      <dsp:spPr>
        <a:xfrm>
          <a:off x="2901" y="344410"/>
          <a:ext cx="1744802"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b="1" kern="1200">
              <a:latin typeface="+mj-ea"/>
              <a:ea typeface="+mj-ea"/>
            </a:rPr>
            <a:t>自由输入：</a:t>
          </a:r>
        </a:p>
      </dsp:txBody>
      <dsp:txXfrm>
        <a:off x="2901" y="344410"/>
        <a:ext cx="1744802" cy="691200"/>
      </dsp:txXfrm>
    </dsp:sp>
    <dsp:sp modelId="{42AFC100-1911-4CE6-97B5-B522910D5B18}">
      <dsp:nvSpPr>
        <dsp:cNvPr id="0" name=""/>
        <dsp:cNvSpPr/>
      </dsp:nvSpPr>
      <dsp:spPr>
        <a:xfrm>
          <a:off x="2901" y="1035611"/>
          <a:ext cx="1744802" cy="1482299"/>
        </a:xfrm>
        <a:prstGeom prst="rect">
          <a:avLst/>
        </a:prstGeom>
        <a:no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i="0" kern="1200" dirty="0">
              <a:latin typeface="+mn-ea"/>
              <a:ea typeface="+mn-ea"/>
            </a:rPr>
            <a:t>各部门表达诉求，黑天鹅事件自由涌入</a:t>
          </a:r>
          <a:r>
            <a:rPr lang="zh-CN" altLang="en-US" sz="1600" b="1" kern="1200" dirty="0">
              <a:latin typeface="+mn-ea"/>
              <a:ea typeface="+mn-ea"/>
            </a:rPr>
            <a:t>。</a:t>
          </a:r>
        </a:p>
      </dsp:txBody>
      <dsp:txXfrm>
        <a:off x="2901" y="1035611"/>
        <a:ext cx="1744802" cy="1482299"/>
      </dsp:txXfrm>
    </dsp:sp>
    <dsp:sp modelId="{D42E7F19-F0FC-49A2-91D6-5B089AD49FEC}">
      <dsp:nvSpPr>
        <dsp:cNvPr id="0" name=""/>
        <dsp:cNvSpPr/>
      </dsp:nvSpPr>
      <dsp:spPr>
        <a:xfrm>
          <a:off x="1991976" y="344410"/>
          <a:ext cx="1744802"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b="1" kern="1200">
              <a:latin typeface="+mj-ea"/>
              <a:ea typeface="+mj-ea"/>
            </a:rPr>
            <a:t>逻辑坍缩：</a:t>
          </a:r>
        </a:p>
      </dsp:txBody>
      <dsp:txXfrm>
        <a:off x="1991976" y="344410"/>
        <a:ext cx="1744802" cy="691200"/>
      </dsp:txXfrm>
    </dsp:sp>
    <dsp:sp modelId="{77F2E406-6D85-407B-8A70-B2E6B5A0E0CC}">
      <dsp:nvSpPr>
        <dsp:cNvPr id="0" name=""/>
        <dsp:cNvSpPr/>
      </dsp:nvSpPr>
      <dsp:spPr>
        <a:xfrm>
          <a:off x="1991976" y="1035611"/>
          <a:ext cx="1744802" cy="1482299"/>
        </a:xfrm>
        <a:prstGeom prst="rect">
          <a:avLst/>
        </a:prstGeom>
        <a:no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i="0" kern="1200" dirty="0">
              <a:latin typeface="+mn-ea"/>
              <a:ea typeface="+mn-ea"/>
            </a:rPr>
            <a:t>总设计师</a:t>
          </a:r>
          <a:r>
            <a:rPr lang="en-US" altLang="zh-CN" sz="1600" b="0" i="0" kern="1200" dirty="0">
              <a:latin typeface="+mn-ea"/>
              <a:ea typeface="+mn-ea"/>
            </a:rPr>
            <a:t>/</a:t>
          </a:r>
          <a:r>
            <a:rPr lang="zh-CN" altLang="en-US" sz="1600" b="0" i="0" kern="1200" dirty="0">
              <a:latin typeface="+mn-ea"/>
              <a:ea typeface="+mn-ea"/>
            </a:rPr>
            <a:t>硅基引擎，把混沌收敛成确定性指令</a:t>
          </a:r>
          <a:r>
            <a:rPr lang="zh-CN" sz="1600" b="1" kern="1200" dirty="0">
              <a:latin typeface="+mn-ea"/>
              <a:ea typeface="+mn-ea"/>
            </a:rPr>
            <a:t>。</a:t>
          </a:r>
        </a:p>
      </dsp:txBody>
      <dsp:txXfrm>
        <a:off x="1991976" y="1035611"/>
        <a:ext cx="1744802" cy="1482299"/>
      </dsp:txXfrm>
    </dsp:sp>
    <dsp:sp modelId="{F81EBA57-92B5-42FA-B3E4-D0EC3CA9465E}">
      <dsp:nvSpPr>
        <dsp:cNvPr id="0" name=""/>
        <dsp:cNvSpPr/>
      </dsp:nvSpPr>
      <dsp:spPr>
        <a:xfrm>
          <a:off x="3981051" y="344410"/>
          <a:ext cx="1744802"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b="1" kern="1200">
              <a:latin typeface="+mj-ea"/>
              <a:ea typeface="+mj-ea"/>
            </a:rPr>
            <a:t>协同协奏：</a:t>
          </a:r>
        </a:p>
      </dsp:txBody>
      <dsp:txXfrm>
        <a:off x="3981051" y="344410"/>
        <a:ext cx="1744802" cy="691200"/>
      </dsp:txXfrm>
    </dsp:sp>
    <dsp:sp modelId="{0482A8B4-8957-4186-81EA-B31A36DDA59A}">
      <dsp:nvSpPr>
        <dsp:cNvPr id="0" name=""/>
        <dsp:cNvSpPr/>
      </dsp:nvSpPr>
      <dsp:spPr>
        <a:xfrm>
          <a:off x="3981051" y="1035611"/>
          <a:ext cx="1744802" cy="1482299"/>
        </a:xfrm>
        <a:prstGeom prst="rect">
          <a:avLst/>
        </a:prstGeom>
        <a:no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0" kern="1200" dirty="0">
              <a:latin typeface="+mj-ea"/>
              <a:ea typeface="+mj-ea"/>
            </a:rPr>
            <a:t>One Plan</a:t>
          </a:r>
          <a:r>
            <a:rPr lang="zh-CN" sz="1600" b="0" kern="1200" dirty="0">
              <a:latin typeface="+mj-ea"/>
              <a:ea typeface="+mj-ea"/>
            </a:rPr>
            <a:t>穿透部门墙，机台像齿轮一样服从。</a:t>
          </a:r>
        </a:p>
      </dsp:txBody>
      <dsp:txXfrm>
        <a:off x="3981051" y="1035611"/>
        <a:ext cx="1744802" cy="1482299"/>
      </dsp:txXfrm>
    </dsp:sp>
    <dsp:sp modelId="{BEE3C44C-B63D-4BD7-8093-83E7F5D9E37C}">
      <dsp:nvSpPr>
        <dsp:cNvPr id="0" name=""/>
        <dsp:cNvSpPr/>
      </dsp:nvSpPr>
      <dsp:spPr>
        <a:xfrm>
          <a:off x="5970126" y="344410"/>
          <a:ext cx="1744802"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b="1" kern="1200">
              <a:latin typeface="+mj-ea"/>
              <a:ea typeface="+mj-ea"/>
            </a:rPr>
            <a:t>闭环反馈：</a:t>
          </a:r>
        </a:p>
      </dsp:txBody>
      <dsp:txXfrm>
        <a:off x="5970126" y="344410"/>
        <a:ext cx="1744802" cy="691200"/>
      </dsp:txXfrm>
    </dsp:sp>
    <dsp:sp modelId="{33C8CE28-9F9D-4E26-AC66-F9D2E34A4E4A}">
      <dsp:nvSpPr>
        <dsp:cNvPr id="0" name=""/>
        <dsp:cNvSpPr/>
      </dsp:nvSpPr>
      <dsp:spPr>
        <a:xfrm>
          <a:off x="5970126" y="1035611"/>
          <a:ext cx="1744802" cy="1482299"/>
        </a:xfrm>
        <a:prstGeom prst="rect">
          <a:avLst/>
        </a:prstGeom>
        <a:no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kern="1200" dirty="0">
              <a:latin typeface="+mj-ea"/>
              <a:ea typeface="+mj-ea"/>
            </a:rPr>
            <a:t>执行偏差重新流回输入端，触发下一轮演化。</a:t>
          </a:r>
        </a:p>
      </dsp:txBody>
      <dsp:txXfrm>
        <a:off x="5970126" y="1035611"/>
        <a:ext cx="1744802" cy="14822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70D22-D916-4324-ABFA-8305B6726999}">
      <dsp:nvSpPr>
        <dsp:cNvPr id="0" name=""/>
        <dsp:cNvSpPr/>
      </dsp:nvSpPr>
      <dsp:spPr>
        <a:xfrm>
          <a:off x="0" y="991"/>
          <a:ext cx="852604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F5A7A-4C9A-42C3-B213-5C6BC1F78A00}">
      <dsp:nvSpPr>
        <dsp:cNvPr id="0" name=""/>
        <dsp:cNvSpPr/>
      </dsp:nvSpPr>
      <dsp:spPr>
        <a:xfrm>
          <a:off x="0" y="991"/>
          <a:ext cx="8526043" cy="67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kern="1200"/>
            <a:t>路径论已经推出：自下而上建系统，先修执行层，再托举主计划。</a:t>
          </a:r>
        </a:p>
      </dsp:txBody>
      <dsp:txXfrm>
        <a:off x="0" y="991"/>
        <a:ext cx="8526043" cy="676447"/>
      </dsp:txXfrm>
    </dsp:sp>
    <dsp:sp modelId="{EF80F920-FD47-467F-84C2-3CFDC7BB90BB}">
      <dsp:nvSpPr>
        <dsp:cNvPr id="0" name=""/>
        <dsp:cNvSpPr/>
      </dsp:nvSpPr>
      <dsp:spPr>
        <a:xfrm>
          <a:off x="0" y="677438"/>
          <a:ext cx="852604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0C296E-03F2-4CB3-87FD-778635E55988}">
      <dsp:nvSpPr>
        <dsp:cNvPr id="0" name=""/>
        <dsp:cNvSpPr/>
      </dsp:nvSpPr>
      <dsp:spPr>
        <a:xfrm>
          <a:off x="0" y="677438"/>
          <a:ext cx="8526043" cy="67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kern="1200" dirty="0"/>
            <a:t>体系设计得再好，落地一定遇到</a:t>
          </a:r>
          <a:r>
            <a:rPr lang="zh-CN" altLang="en-US" sz="2000" b="1" kern="1200" dirty="0">
              <a:solidFill>
                <a:srgbClr val="00D4FF"/>
              </a:solidFill>
            </a:rPr>
            <a:t>巨大阻力</a:t>
          </a:r>
          <a:r>
            <a:rPr lang="zh-CN" altLang="en-US" sz="1600" kern="1200" dirty="0"/>
            <a:t>。这些阻力不只是技术问题，更是</a:t>
          </a:r>
          <a:r>
            <a:rPr lang="zh-CN" altLang="en-US" sz="2000" b="1" kern="1200" dirty="0">
              <a:solidFill>
                <a:srgbClr val="00D4FF"/>
              </a:solidFill>
            </a:rPr>
            <a:t>权力问题</a:t>
          </a:r>
          <a:r>
            <a:rPr lang="zh-CN" altLang="en-US" sz="1600" kern="1200" dirty="0"/>
            <a:t>。</a:t>
          </a:r>
        </a:p>
      </dsp:txBody>
      <dsp:txXfrm>
        <a:off x="0" y="677438"/>
        <a:ext cx="8526043" cy="676447"/>
      </dsp:txXfrm>
    </dsp:sp>
    <dsp:sp modelId="{56ABE8E2-468B-44BA-B4E7-2C30A3B3FF06}">
      <dsp:nvSpPr>
        <dsp:cNvPr id="0" name=""/>
        <dsp:cNvSpPr/>
      </dsp:nvSpPr>
      <dsp:spPr>
        <a:xfrm>
          <a:off x="0" y="1353886"/>
          <a:ext cx="852604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7D336F-7835-4D05-B3B9-2950692F4A87}">
      <dsp:nvSpPr>
        <dsp:cNvPr id="0" name=""/>
        <dsp:cNvSpPr/>
      </dsp:nvSpPr>
      <dsp:spPr>
        <a:xfrm>
          <a:off x="0" y="1353886"/>
          <a:ext cx="8526043" cy="67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kern="1200" dirty="0"/>
            <a:t>前面从目的论到机制论，绝大多数定性问题已经捋顺。到最后，就剩这一关：权力与总设计师之间的</a:t>
          </a:r>
          <a:r>
            <a:rPr lang="zh-CN" altLang="en-US" sz="2000" b="1" kern="1200" dirty="0">
              <a:solidFill>
                <a:srgbClr val="00D4FF"/>
              </a:solidFill>
            </a:rPr>
            <a:t>夹角。</a:t>
          </a:r>
          <a:endParaRPr lang="zh-CN" altLang="en-US" sz="1600" b="1" kern="1200" dirty="0">
            <a:solidFill>
              <a:srgbClr val="00D4FF"/>
            </a:solidFill>
          </a:endParaRPr>
        </a:p>
      </dsp:txBody>
      <dsp:txXfrm>
        <a:off x="0" y="1353886"/>
        <a:ext cx="8526043" cy="67644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640BD-441B-46B9-993F-FB3BA10296DB}">
      <dsp:nvSpPr>
        <dsp:cNvPr id="0" name=""/>
        <dsp:cNvSpPr/>
      </dsp:nvSpPr>
      <dsp:spPr>
        <a:xfrm>
          <a:off x="0" y="154874"/>
          <a:ext cx="10695530" cy="660410"/>
        </a:xfrm>
        <a:prstGeom prst="roundRect">
          <a:avLst/>
        </a:prstGeom>
        <a:noFill/>
        <a:ln w="12700" cap="flat" cmpd="sng" algn="ctr">
          <a:solidFill>
            <a:srgbClr val="00D4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kern="1200" dirty="0">
              <a:solidFill>
                <a:schemeClr val="tx1"/>
              </a:solidFill>
              <a:latin typeface="+mn-ea"/>
              <a:ea typeface="+mn-ea"/>
            </a:rPr>
            <a:t>变革启动时，</a:t>
          </a:r>
          <a:r>
            <a:rPr lang="en-US" sz="1600" kern="1200" dirty="0">
              <a:solidFill>
                <a:schemeClr val="tx1"/>
              </a:solidFill>
              <a:latin typeface="+mn-ea"/>
              <a:ea typeface="+mn-ea"/>
            </a:rPr>
            <a:t>Sponsor</a:t>
          </a:r>
          <a:r>
            <a:rPr lang="zh-CN" sz="1600" kern="1200" dirty="0">
              <a:solidFill>
                <a:schemeClr val="tx1"/>
              </a:solidFill>
              <a:latin typeface="+mn-ea"/>
              <a:ea typeface="+mn-ea"/>
            </a:rPr>
            <a:t>（变革发起人）</a:t>
          </a:r>
          <a:r>
            <a:rPr lang="zh-CN" sz="2000" b="1" kern="1200" dirty="0">
              <a:solidFill>
                <a:srgbClr val="00D4FF"/>
              </a:solidFill>
              <a:latin typeface="+mn-ea"/>
              <a:ea typeface="+mn-ea"/>
            </a:rPr>
            <a:t>先举手</a:t>
          </a:r>
          <a:r>
            <a:rPr lang="zh-CN" sz="1600" kern="1200" dirty="0">
              <a:solidFill>
                <a:schemeClr val="tx1"/>
              </a:solidFill>
              <a:latin typeface="+mn-ea"/>
              <a:ea typeface="+mn-ea"/>
            </a:rPr>
            <a:t>：“我们要搞数字化转型。”</a:t>
          </a:r>
        </a:p>
      </dsp:txBody>
      <dsp:txXfrm>
        <a:off x="32239" y="187113"/>
        <a:ext cx="10631052" cy="595932"/>
      </dsp:txXfrm>
    </dsp:sp>
    <dsp:sp modelId="{07FE2DD5-5033-4BD6-B3EB-6A0B90067E68}">
      <dsp:nvSpPr>
        <dsp:cNvPr id="0" name=""/>
        <dsp:cNvSpPr/>
      </dsp:nvSpPr>
      <dsp:spPr>
        <a:xfrm>
          <a:off x="0" y="829684"/>
          <a:ext cx="10695530" cy="660410"/>
        </a:xfrm>
        <a:prstGeom prst="roundRect">
          <a:avLst/>
        </a:prstGeom>
        <a:noFill/>
        <a:ln w="12700" cap="flat" cmpd="sng" algn="ctr">
          <a:solidFill>
            <a:srgbClr val="00D4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solidFill>
                <a:srgbClr val="00D4FF"/>
              </a:solidFill>
              <a:latin typeface="+mn-ea"/>
              <a:ea typeface="+mn-ea"/>
            </a:rPr>
            <a:t>方向</a:t>
          </a:r>
          <a:r>
            <a:rPr lang="zh-CN" altLang="en-US" sz="1600" kern="1200" dirty="0">
              <a:solidFill>
                <a:schemeClr val="tx1"/>
              </a:solidFill>
              <a:latin typeface="+mn-ea"/>
              <a:ea typeface="+mn-ea"/>
            </a:rPr>
            <a:t>不是拍脑袋，是经过与总设计师</a:t>
          </a:r>
          <a:r>
            <a:rPr lang="zh-CN" altLang="en-US" sz="2000" b="1" kern="1200" dirty="0">
              <a:solidFill>
                <a:srgbClr val="00D4FF"/>
              </a:solidFill>
              <a:latin typeface="+mn-ea"/>
              <a:ea typeface="+mn-ea"/>
            </a:rPr>
            <a:t>共同论证</a:t>
          </a:r>
          <a:r>
            <a:rPr lang="zh-CN" altLang="en-US" sz="1600" kern="1200" dirty="0">
              <a:solidFill>
                <a:schemeClr val="tx1"/>
              </a:solidFill>
              <a:latin typeface="+mn-ea"/>
              <a:ea typeface="+mn-ea"/>
            </a:rPr>
            <a:t>确认的。</a:t>
          </a:r>
        </a:p>
      </dsp:txBody>
      <dsp:txXfrm>
        <a:off x="32239" y="861923"/>
        <a:ext cx="10631052" cy="595932"/>
      </dsp:txXfrm>
    </dsp:sp>
    <dsp:sp modelId="{0BDBBFB5-7F81-481F-AA85-9B35A3C9EC94}">
      <dsp:nvSpPr>
        <dsp:cNvPr id="0" name=""/>
        <dsp:cNvSpPr/>
      </dsp:nvSpPr>
      <dsp:spPr>
        <a:xfrm>
          <a:off x="0" y="1504494"/>
          <a:ext cx="10695530" cy="660410"/>
        </a:xfrm>
        <a:prstGeom prst="roundRect">
          <a:avLst/>
        </a:prstGeom>
        <a:noFill/>
        <a:ln w="12700" cap="flat" cmpd="sng" algn="ctr">
          <a:solidFill>
            <a:srgbClr val="00D4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kern="1200" dirty="0">
              <a:solidFill>
                <a:schemeClr val="tx1"/>
              </a:solidFill>
              <a:latin typeface="+mn-ea"/>
              <a:ea typeface="+mn-ea"/>
            </a:rPr>
            <a:t>这个动作本身，就形成了一个</a:t>
          </a:r>
          <a:r>
            <a:rPr lang="zh-CN" sz="2000" b="1" kern="1200" dirty="0">
              <a:solidFill>
                <a:srgbClr val="00D4FF"/>
              </a:solidFill>
              <a:latin typeface="+mn-ea"/>
              <a:ea typeface="+mn-ea"/>
            </a:rPr>
            <a:t>引力场</a:t>
          </a:r>
          <a:r>
            <a:rPr lang="zh-CN" sz="1600" kern="1200" dirty="0">
              <a:solidFill>
                <a:schemeClr val="tx1"/>
              </a:solidFill>
              <a:latin typeface="+mn-ea"/>
              <a:ea typeface="+mn-ea"/>
            </a:rPr>
            <a:t>。各部门立刻感受到压力</a:t>
          </a:r>
          <a:r>
            <a:rPr lang="en-US" sz="1600" kern="1200" dirty="0">
              <a:solidFill>
                <a:schemeClr val="tx1"/>
              </a:solidFill>
              <a:latin typeface="+mn-ea"/>
              <a:ea typeface="+mn-ea"/>
            </a:rPr>
            <a:t>——</a:t>
          </a:r>
          <a:r>
            <a:rPr lang="zh-CN" sz="1600" kern="1200" dirty="0">
              <a:solidFill>
                <a:schemeClr val="tx1"/>
              </a:solidFill>
              <a:latin typeface="+mn-ea"/>
              <a:ea typeface="+mn-ea"/>
            </a:rPr>
            <a:t>不管真懂假懂，真同意假同意，从趋利避害的角度，</a:t>
          </a:r>
          <a:r>
            <a:rPr lang="zh-CN" sz="2000" b="1" kern="1200" dirty="0">
              <a:solidFill>
                <a:srgbClr val="00D4FF"/>
              </a:solidFill>
              <a:latin typeface="+mn-ea"/>
              <a:ea typeface="+mn-ea"/>
            </a:rPr>
            <a:t>都会表态、响应</a:t>
          </a:r>
          <a:r>
            <a:rPr lang="zh-CN" sz="1600" kern="1200" dirty="0">
              <a:solidFill>
                <a:schemeClr val="tx1"/>
              </a:solidFill>
              <a:latin typeface="+mn-ea"/>
              <a:ea typeface="+mn-ea"/>
            </a:rPr>
            <a:t>。</a:t>
          </a:r>
        </a:p>
      </dsp:txBody>
      <dsp:txXfrm>
        <a:off x="32239" y="1536733"/>
        <a:ext cx="10631052" cy="595932"/>
      </dsp:txXfrm>
    </dsp:sp>
    <dsp:sp modelId="{54646919-4F3D-4726-85D7-611425297CD3}">
      <dsp:nvSpPr>
        <dsp:cNvPr id="0" name=""/>
        <dsp:cNvSpPr/>
      </dsp:nvSpPr>
      <dsp:spPr>
        <a:xfrm>
          <a:off x="0" y="2179304"/>
          <a:ext cx="10695530" cy="660410"/>
        </a:xfrm>
        <a:prstGeom prst="roundRect">
          <a:avLst/>
        </a:prstGeom>
        <a:noFill/>
        <a:ln w="12700" cap="flat" cmpd="sng" algn="ctr">
          <a:solidFill>
            <a:srgbClr val="00D4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kern="1200" dirty="0">
              <a:solidFill>
                <a:schemeClr val="tx1"/>
              </a:solidFill>
              <a:latin typeface="+mn-ea"/>
              <a:ea typeface="+mn-ea"/>
            </a:rPr>
            <a:t>但</a:t>
          </a:r>
          <a:r>
            <a:rPr lang="en-US" sz="1600" kern="1200" dirty="0">
              <a:solidFill>
                <a:schemeClr val="tx1"/>
              </a:solidFill>
              <a:latin typeface="+mn-ea"/>
              <a:ea typeface="+mn-ea"/>
            </a:rPr>
            <a:t>Sponsor</a:t>
          </a:r>
          <a:r>
            <a:rPr lang="zh-CN" sz="1600" kern="1200" dirty="0">
              <a:solidFill>
                <a:schemeClr val="tx1"/>
              </a:solidFill>
              <a:latin typeface="+mn-ea"/>
              <a:ea typeface="+mn-ea"/>
            </a:rPr>
            <a:t>也是人。他</a:t>
          </a:r>
          <a:r>
            <a:rPr lang="zh-CN" sz="2000" b="1" kern="1200" dirty="0">
              <a:solidFill>
                <a:srgbClr val="00D4FF"/>
              </a:solidFill>
              <a:latin typeface="+mn-ea"/>
              <a:ea typeface="+mn-ea"/>
            </a:rPr>
            <a:t>可能越界</a:t>
          </a:r>
          <a:r>
            <a:rPr lang="zh-CN" sz="1600" kern="1200" dirty="0">
              <a:solidFill>
                <a:schemeClr val="tx1"/>
              </a:solidFill>
              <a:latin typeface="+mn-ea"/>
              <a:ea typeface="+mn-ea"/>
            </a:rPr>
            <a:t>，但他并不知道自己不懂；他也可能被短期利益带偏，</a:t>
          </a:r>
          <a:r>
            <a:rPr lang="zh-CN" sz="2000" b="1" kern="1200" dirty="0">
              <a:solidFill>
                <a:srgbClr val="00D4FF"/>
              </a:solidFill>
              <a:latin typeface="+mn-ea"/>
              <a:ea typeface="+mn-ea"/>
            </a:rPr>
            <a:t>偏离</a:t>
          </a:r>
          <a:r>
            <a:rPr lang="zh-CN" sz="1600" kern="1200" dirty="0">
              <a:solidFill>
                <a:schemeClr val="tx1"/>
              </a:solidFill>
              <a:latin typeface="+mn-ea"/>
              <a:ea typeface="+mn-ea"/>
            </a:rPr>
            <a:t>与总设计师共同确认的</a:t>
          </a:r>
          <a:r>
            <a:rPr lang="zh-CN" sz="2000" b="1" kern="1200" dirty="0">
              <a:solidFill>
                <a:srgbClr val="00D4FF"/>
              </a:solidFill>
              <a:latin typeface="+mn-ea"/>
              <a:ea typeface="+mn-ea"/>
            </a:rPr>
            <a:t>方向</a:t>
          </a:r>
          <a:r>
            <a:rPr lang="zh-CN" sz="1600" kern="1200" dirty="0">
              <a:solidFill>
                <a:schemeClr val="tx1"/>
              </a:solidFill>
              <a:latin typeface="+mn-ea"/>
              <a:ea typeface="+mn-ea"/>
            </a:rPr>
            <a:t>。</a:t>
          </a:r>
        </a:p>
      </dsp:txBody>
      <dsp:txXfrm>
        <a:off x="32239" y="2211543"/>
        <a:ext cx="10631052" cy="595932"/>
      </dsp:txXfrm>
    </dsp:sp>
    <dsp:sp modelId="{790D5D9E-3767-46D7-B8C5-78C52CF38D51}">
      <dsp:nvSpPr>
        <dsp:cNvPr id="0" name=""/>
        <dsp:cNvSpPr/>
      </dsp:nvSpPr>
      <dsp:spPr>
        <a:xfrm>
          <a:off x="0" y="2854114"/>
          <a:ext cx="10695530" cy="660410"/>
        </a:xfrm>
        <a:prstGeom prst="roundRect">
          <a:avLst/>
        </a:prstGeom>
        <a:noFill/>
        <a:ln w="12700" cap="flat" cmpd="sng" algn="ctr">
          <a:solidFill>
            <a:srgbClr val="00D4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tx1"/>
              </a:solidFill>
              <a:latin typeface="+mn-ea"/>
              <a:ea typeface="+mn-ea"/>
            </a:rPr>
            <a:t>这就是为什么必须有“</a:t>
          </a:r>
          <a:r>
            <a:rPr lang="zh-CN" altLang="en-US" sz="2000" b="1" kern="1200" dirty="0">
              <a:solidFill>
                <a:srgbClr val="00D4FF"/>
              </a:solidFill>
              <a:latin typeface="+mn-ea"/>
              <a:ea typeface="+mn-ea"/>
            </a:rPr>
            <a:t>双长制”</a:t>
          </a:r>
          <a:r>
            <a:rPr lang="zh-CN" altLang="en-US" sz="1600" kern="1200" dirty="0">
              <a:solidFill>
                <a:schemeClr val="tx1"/>
              </a:solidFill>
              <a:latin typeface="+mn-ea"/>
              <a:ea typeface="+mn-ea"/>
            </a:rPr>
            <a:t>。</a:t>
          </a:r>
        </a:p>
      </dsp:txBody>
      <dsp:txXfrm>
        <a:off x="32239" y="2886353"/>
        <a:ext cx="10631052" cy="59593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233-A2E1-4D88-AFEE-60B204B558A6}">
      <dsp:nvSpPr>
        <dsp:cNvPr id="0" name=""/>
        <dsp:cNvSpPr/>
      </dsp:nvSpPr>
      <dsp:spPr>
        <a:xfrm>
          <a:off x="0" y="249645"/>
          <a:ext cx="8053110" cy="1984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5011" tIns="291592" rIns="62501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m</a:t>
          </a:r>
          <a:r>
            <a:rPr lang="zh-CN" sz="1400" kern="1200"/>
            <a:t>：组织的惯性质量</a:t>
          </a:r>
        </a:p>
        <a:p>
          <a:pPr marL="114300" lvl="1" indent="-114300" algn="l" defTabSz="622300">
            <a:lnSpc>
              <a:spcPct val="90000"/>
            </a:lnSpc>
            <a:spcBef>
              <a:spcPct val="0"/>
            </a:spcBef>
            <a:spcAft>
              <a:spcPct val="15000"/>
            </a:spcAft>
            <a:buChar char="•"/>
          </a:pPr>
          <a:r>
            <a:rPr lang="en-US" sz="1400" kern="1200"/>
            <a:t>a</a:t>
          </a:r>
          <a:r>
            <a:rPr lang="zh-CN" sz="1400" kern="1200"/>
            <a:t>：系统推行的加速度</a:t>
          </a:r>
        </a:p>
        <a:p>
          <a:pPr marL="114300" lvl="1" indent="-114300" algn="l" defTabSz="622300">
            <a:lnSpc>
              <a:spcPct val="90000"/>
            </a:lnSpc>
            <a:spcBef>
              <a:spcPct val="0"/>
            </a:spcBef>
            <a:spcAft>
              <a:spcPct val="15000"/>
            </a:spcAft>
            <a:buChar char="•"/>
          </a:pPr>
          <a:r>
            <a:rPr lang="en-US" sz="1400" kern="1200"/>
            <a:t>F_M</a:t>
          </a:r>
          <a:r>
            <a:rPr lang="zh-CN" sz="1400" kern="1200"/>
            <a:t>：行政推力（</a:t>
          </a:r>
          <a:r>
            <a:rPr lang="en-US" sz="1400" kern="1200"/>
            <a:t>Sponsor</a:t>
          </a:r>
          <a:r>
            <a:rPr lang="zh-CN" sz="1400" kern="1200"/>
            <a:t>划界、给资源、顶压力）</a:t>
          </a:r>
        </a:p>
        <a:p>
          <a:pPr marL="114300" lvl="1" indent="-114300" algn="l" defTabSz="622300">
            <a:lnSpc>
              <a:spcPct val="90000"/>
            </a:lnSpc>
            <a:spcBef>
              <a:spcPct val="0"/>
            </a:spcBef>
            <a:spcAft>
              <a:spcPct val="15000"/>
            </a:spcAft>
            <a:buChar char="•"/>
          </a:pPr>
          <a:r>
            <a:rPr lang="en-US" sz="1400" kern="1200"/>
            <a:t>F_Π</a:t>
          </a:r>
          <a:r>
            <a:rPr lang="zh-CN" sz="1400" kern="1200"/>
            <a:t>：逻辑引力（总设计师的武器：统一数据、统一规则、统一逻辑、统一算法）</a:t>
          </a:r>
        </a:p>
        <a:p>
          <a:pPr marL="114300" lvl="1" indent="-114300" algn="l" defTabSz="622300">
            <a:lnSpc>
              <a:spcPct val="90000"/>
            </a:lnSpc>
            <a:spcBef>
              <a:spcPct val="0"/>
            </a:spcBef>
            <a:spcAft>
              <a:spcPct val="15000"/>
            </a:spcAft>
            <a:buChar char="•"/>
          </a:pPr>
          <a:r>
            <a:rPr lang="en-US" sz="1400" kern="1200" dirty="0"/>
            <a:t>f</a:t>
          </a:r>
          <a:r>
            <a:rPr lang="zh-CN" sz="1400" kern="1200" dirty="0"/>
            <a:t>：物理摩擦力（寻租、不认可、阳奉阴违</a:t>
          </a:r>
          <a:r>
            <a:rPr lang="zh-CN" altLang="en-US" sz="1400" kern="1200" dirty="0"/>
            <a:t>等</a:t>
          </a:r>
          <a:r>
            <a:rPr lang="zh-CN" sz="1400" kern="1200" dirty="0"/>
            <a:t>的防御阻力）</a:t>
          </a:r>
        </a:p>
      </dsp:txBody>
      <dsp:txXfrm>
        <a:off x="0" y="249645"/>
        <a:ext cx="8053110" cy="1984500"/>
      </dsp:txXfrm>
    </dsp:sp>
    <dsp:sp modelId="{08851EA7-3B40-4EA3-8317-BA509173362F}">
      <dsp:nvSpPr>
        <dsp:cNvPr id="0" name=""/>
        <dsp:cNvSpPr/>
      </dsp:nvSpPr>
      <dsp:spPr>
        <a:xfrm>
          <a:off x="402655" y="43005"/>
          <a:ext cx="5637177"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072" tIns="0" rIns="213072" bIns="0" numCol="1" spcCol="1270" anchor="ctr" anchorCtr="0">
          <a:noAutofit/>
        </a:bodyPr>
        <a:lstStyle/>
        <a:p>
          <a:pPr marL="0" lvl="0" indent="0" algn="l" defTabSz="622300">
            <a:lnSpc>
              <a:spcPct val="90000"/>
            </a:lnSpc>
            <a:spcBef>
              <a:spcPct val="0"/>
            </a:spcBef>
            <a:spcAft>
              <a:spcPct val="35000"/>
            </a:spcAft>
            <a:buNone/>
          </a:pPr>
          <a:r>
            <a:rPr lang="zh-CN" sz="1400" b="1" kern="1200">
              <a:latin typeface="+mn-ea"/>
              <a:ea typeface="+mn-ea"/>
            </a:rPr>
            <a:t>组织动力学方程：</a:t>
          </a:r>
          <a:r>
            <a:rPr lang="en-US" sz="1400" b="1" kern="1200">
              <a:latin typeface="+mn-ea"/>
              <a:ea typeface="+mn-ea"/>
            </a:rPr>
            <a:t>m × a = F_M + F_Π − f</a:t>
          </a:r>
          <a:endParaRPr lang="zh-CN" sz="1400" b="1" kern="1200">
            <a:latin typeface="+mn-ea"/>
            <a:ea typeface="+mn-ea"/>
          </a:endParaRPr>
        </a:p>
      </dsp:txBody>
      <dsp:txXfrm>
        <a:off x="422830" y="63180"/>
        <a:ext cx="5596827" cy="37293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907E58-64E6-4F5F-8E3A-D27FE47A8D86}">
      <dsp:nvSpPr>
        <dsp:cNvPr id="0" name=""/>
        <dsp:cNvSpPr/>
      </dsp:nvSpPr>
      <dsp:spPr>
        <a:xfrm>
          <a:off x="0" y="725123"/>
          <a:ext cx="4874342" cy="1675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8303" tIns="291592" rIns="378303" bIns="99568"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a:t>统一数据：没有两套账，没有私藏缓冲。</a:t>
          </a:r>
        </a:p>
        <a:p>
          <a:pPr marL="114300" lvl="1" indent="-114300" algn="l" defTabSz="622300">
            <a:lnSpc>
              <a:spcPct val="90000"/>
            </a:lnSpc>
            <a:spcBef>
              <a:spcPct val="0"/>
            </a:spcBef>
            <a:spcAft>
              <a:spcPct val="15000"/>
            </a:spcAft>
            <a:buChar char="•"/>
          </a:pPr>
          <a:r>
            <a:rPr lang="zh-CN" altLang="en-US" sz="1400" kern="1200"/>
            <a:t>统一规则：优先级、配额、约束，全部刚性。</a:t>
          </a:r>
        </a:p>
        <a:p>
          <a:pPr marL="114300" lvl="1" indent="-114300" algn="l" defTabSz="622300">
            <a:lnSpc>
              <a:spcPct val="90000"/>
            </a:lnSpc>
            <a:spcBef>
              <a:spcPct val="0"/>
            </a:spcBef>
            <a:spcAft>
              <a:spcPct val="15000"/>
            </a:spcAft>
            <a:buChar char="•"/>
          </a:pPr>
          <a:r>
            <a:rPr lang="zh-CN" altLang="en-US" sz="1400" kern="1200"/>
            <a:t>统一逻辑：结果可追溯、可复现。</a:t>
          </a:r>
        </a:p>
        <a:p>
          <a:pPr marL="114300" lvl="1" indent="-114300" algn="l" defTabSz="622300">
            <a:lnSpc>
              <a:spcPct val="90000"/>
            </a:lnSpc>
            <a:spcBef>
              <a:spcPct val="0"/>
            </a:spcBef>
            <a:spcAft>
              <a:spcPct val="15000"/>
            </a:spcAft>
            <a:buChar char="•"/>
          </a:pPr>
          <a:r>
            <a:rPr lang="zh-CN" altLang="en-US" sz="1400" kern="1200"/>
            <a:t>统一算法：谁真做、谁假做，算一遍全暴露。</a:t>
          </a:r>
        </a:p>
      </dsp:txBody>
      <dsp:txXfrm>
        <a:off x="0" y="725123"/>
        <a:ext cx="4874342" cy="1675800"/>
      </dsp:txXfrm>
    </dsp:sp>
    <dsp:sp modelId="{7CB7B36D-0E5B-4A29-9357-4DFE1569A670}">
      <dsp:nvSpPr>
        <dsp:cNvPr id="0" name=""/>
        <dsp:cNvSpPr/>
      </dsp:nvSpPr>
      <dsp:spPr>
        <a:xfrm>
          <a:off x="243717" y="518483"/>
          <a:ext cx="3412039"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967" tIns="0" rIns="128967" bIns="0" numCol="1" spcCol="1270" anchor="ctr" anchorCtr="0">
          <a:noAutofit/>
        </a:bodyPr>
        <a:lstStyle/>
        <a:p>
          <a:pPr marL="0" lvl="0" indent="0" algn="l" defTabSz="622300">
            <a:lnSpc>
              <a:spcPct val="90000"/>
            </a:lnSpc>
            <a:spcBef>
              <a:spcPct val="0"/>
            </a:spcBef>
            <a:spcAft>
              <a:spcPct val="35000"/>
            </a:spcAft>
            <a:buNone/>
          </a:pPr>
          <a:r>
            <a:rPr lang="en-US" sz="1400" b="1" kern="1200" dirty="0"/>
            <a:t>F_Π </a:t>
          </a:r>
          <a:r>
            <a:rPr lang="zh-CN" sz="1400" b="1" kern="1200" dirty="0"/>
            <a:t>不是抽象概念。它的具体形态就是：</a:t>
          </a:r>
        </a:p>
      </dsp:txBody>
      <dsp:txXfrm>
        <a:off x="263892" y="538658"/>
        <a:ext cx="3371689" cy="37293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334D9-8F84-4240-AF20-922EAA8374DF}">
      <dsp:nvSpPr>
        <dsp:cNvPr id="0" name=""/>
        <dsp:cNvSpPr/>
      </dsp:nvSpPr>
      <dsp:spPr>
        <a:xfrm>
          <a:off x="0" y="244779"/>
          <a:ext cx="3013097" cy="17199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3850" tIns="270764" rIns="233850" bIns="92456" numCol="1" spcCol="1270" anchor="t" anchorCtr="0">
          <a:noAutofit/>
        </a:bodyPr>
        <a:lstStyle/>
        <a:p>
          <a:pPr marL="114300" lvl="1" indent="-114300" algn="l" defTabSz="577850">
            <a:lnSpc>
              <a:spcPct val="90000"/>
            </a:lnSpc>
            <a:spcBef>
              <a:spcPct val="0"/>
            </a:spcBef>
            <a:spcAft>
              <a:spcPct val="15000"/>
            </a:spcAft>
            <a:buChar char="•"/>
          </a:pPr>
          <a:r>
            <a:rPr lang="zh-CN" sz="1300" kern="1200" dirty="0"/>
            <a:t>启动期：</a:t>
          </a:r>
          <a:r>
            <a:rPr lang="en-US" sz="1300" kern="1200" dirty="0"/>
            <a:t>F_M &gt; f</a:t>
          </a:r>
          <a:r>
            <a:rPr lang="zh-CN" sz="1300" kern="1200" dirty="0"/>
            <a:t>，</a:t>
          </a:r>
          <a:r>
            <a:rPr lang="en-US" sz="1300" kern="1200" dirty="0"/>
            <a:t>Sponsor</a:t>
          </a:r>
          <a:r>
            <a:rPr lang="zh-CN" sz="1300" kern="1200" dirty="0"/>
            <a:t>顶住压力，权力破冰。</a:t>
          </a:r>
        </a:p>
        <a:p>
          <a:pPr marL="114300" lvl="1" indent="-114300" algn="l" defTabSz="577850">
            <a:lnSpc>
              <a:spcPct val="90000"/>
            </a:lnSpc>
            <a:spcBef>
              <a:spcPct val="0"/>
            </a:spcBef>
            <a:spcAft>
              <a:spcPct val="15000"/>
            </a:spcAft>
            <a:buChar char="•"/>
          </a:pPr>
          <a:r>
            <a:rPr lang="zh-CN" sz="1300" kern="1200"/>
            <a:t>运行期：</a:t>
          </a:r>
          <a:r>
            <a:rPr lang="en-US" sz="1300" kern="1200"/>
            <a:t>F_Π ≥ f</a:t>
          </a:r>
          <a:r>
            <a:rPr lang="zh-CN" sz="1300" kern="1200"/>
            <a:t>，总设计师用统一数据和规则，让 </a:t>
          </a:r>
          <a:r>
            <a:rPr lang="en-US" sz="1300" kern="1200"/>
            <a:t>f </a:t>
          </a:r>
          <a:r>
            <a:rPr lang="zh-CN" sz="1300" kern="1200"/>
            <a:t>失去博弈空间。</a:t>
          </a:r>
        </a:p>
      </dsp:txBody>
      <dsp:txXfrm>
        <a:off x="0" y="244779"/>
        <a:ext cx="3013097" cy="1719900"/>
      </dsp:txXfrm>
    </dsp:sp>
    <dsp:sp modelId="{5B7A3642-5895-4666-9EFC-22E2BA22E012}">
      <dsp:nvSpPr>
        <dsp:cNvPr id="0" name=""/>
        <dsp:cNvSpPr/>
      </dsp:nvSpPr>
      <dsp:spPr>
        <a:xfrm>
          <a:off x="150654" y="52899"/>
          <a:ext cx="2109167"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722" tIns="0" rIns="79722" bIns="0" numCol="1" spcCol="1270" anchor="ctr" anchorCtr="0">
          <a:noAutofit/>
        </a:bodyPr>
        <a:lstStyle/>
        <a:p>
          <a:pPr marL="0" lvl="0" indent="0" algn="l" defTabSz="622300">
            <a:lnSpc>
              <a:spcPct val="90000"/>
            </a:lnSpc>
            <a:spcBef>
              <a:spcPct val="0"/>
            </a:spcBef>
            <a:spcAft>
              <a:spcPct val="35000"/>
            </a:spcAft>
            <a:buNone/>
          </a:pPr>
          <a:r>
            <a:rPr lang="zh-CN" altLang="en-US" sz="1400" b="1" kern="1200"/>
            <a:t>两种相态：</a:t>
          </a:r>
        </a:p>
      </dsp:txBody>
      <dsp:txXfrm>
        <a:off x="169388" y="71633"/>
        <a:ext cx="2071699" cy="34629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28C632-4765-44C3-8682-930E4264D0F5}">
      <dsp:nvSpPr>
        <dsp:cNvPr id="0" name=""/>
        <dsp:cNvSpPr/>
      </dsp:nvSpPr>
      <dsp:spPr>
        <a:xfrm>
          <a:off x="0" y="277143"/>
          <a:ext cx="9509757" cy="115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8063" tIns="333248" rIns="738063"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F_M</a:t>
          </a:r>
          <a:r>
            <a:rPr lang="zh-CN" sz="1600" kern="1200"/>
            <a:t>：行政总指挥线（</a:t>
          </a:r>
          <a:r>
            <a:rPr lang="en-US" sz="1600" kern="1200"/>
            <a:t>Sponsor</a:t>
          </a:r>
          <a:r>
            <a:rPr lang="zh-CN" sz="1600" kern="1200"/>
            <a:t>），划界定方向、给资源、顶压力。</a:t>
          </a:r>
        </a:p>
        <a:p>
          <a:pPr marL="171450" lvl="1" indent="-171450" algn="l" defTabSz="711200">
            <a:lnSpc>
              <a:spcPct val="90000"/>
            </a:lnSpc>
            <a:spcBef>
              <a:spcPct val="0"/>
            </a:spcBef>
            <a:spcAft>
              <a:spcPct val="15000"/>
            </a:spcAft>
            <a:buChar char="•"/>
          </a:pPr>
          <a:r>
            <a:rPr lang="en-US" sz="1600" kern="1200"/>
            <a:t>F_Π</a:t>
          </a:r>
          <a:r>
            <a:rPr lang="zh-CN" sz="1600" kern="1200"/>
            <a:t>：总设计师线，建逻辑、跑闭环、建立缓冲决定怎么干。</a:t>
          </a:r>
        </a:p>
      </dsp:txBody>
      <dsp:txXfrm>
        <a:off x="0" y="277143"/>
        <a:ext cx="9509757" cy="1159200"/>
      </dsp:txXfrm>
    </dsp:sp>
    <dsp:sp modelId="{47F1E352-E754-46C5-BEA1-644DA8EA903C}">
      <dsp:nvSpPr>
        <dsp:cNvPr id="0" name=""/>
        <dsp:cNvSpPr/>
      </dsp:nvSpPr>
      <dsp:spPr>
        <a:xfrm>
          <a:off x="475487" y="40983"/>
          <a:ext cx="6656830"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1612" tIns="0" rIns="251612" bIns="0" numCol="1" spcCol="1270" anchor="ctr" anchorCtr="0">
          <a:noAutofit/>
        </a:bodyPr>
        <a:lstStyle/>
        <a:p>
          <a:pPr marL="0" lvl="0" indent="0" algn="l" defTabSz="711200">
            <a:lnSpc>
              <a:spcPct val="90000"/>
            </a:lnSpc>
            <a:spcBef>
              <a:spcPct val="0"/>
            </a:spcBef>
            <a:spcAft>
              <a:spcPct val="35000"/>
            </a:spcAft>
            <a:buNone/>
          </a:pPr>
          <a:r>
            <a:rPr lang="zh-CN" sz="1600" b="1" kern="1200"/>
            <a:t>钱学森提出“双长制”</a:t>
          </a:r>
          <a:r>
            <a:rPr lang="en-US" sz="1600" b="1" kern="1200"/>
            <a:t>——</a:t>
          </a:r>
          <a:r>
            <a:rPr lang="zh-CN" sz="1600" b="1" kern="1200"/>
            <a:t>行政总指挥线 </a:t>
          </a:r>
          <a:r>
            <a:rPr lang="en-US" sz="1600" b="1" kern="1200"/>
            <a:t>+ </a:t>
          </a:r>
          <a:r>
            <a:rPr lang="zh-CN" sz="1600" b="1" kern="1200"/>
            <a:t>总设计师线。</a:t>
          </a:r>
        </a:p>
      </dsp:txBody>
      <dsp:txXfrm>
        <a:off x="498544" y="64040"/>
        <a:ext cx="6610716" cy="42620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AB1ED-ED23-4FC8-8056-89F2D9DD6A14}">
      <dsp:nvSpPr>
        <dsp:cNvPr id="0" name=""/>
        <dsp:cNvSpPr/>
      </dsp:nvSpPr>
      <dsp:spPr>
        <a:xfrm>
          <a:off x="0" y="8528"/>
          <a:ext cx="9086481" cy="844045"/>
        </a:xfrm>
        <a:prstGeom prst="roundRect">
          <a:avLst/>
        </a:prstGeom>
        <a:no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chemeClr val="tx1"/>
              </a:solidFill>
            </a:rPr>
            <a:t>系统上线了。剪彩、庆功、香槟。</a:t>
          </a:r>
        </a:p>
      </dsp:txBody>
      <dsp:txXfrm>
        <a:off x="41203" y="49731"/>
        <a:ext cx="9004075" cy="761639"/>
      </dsp:txXfrm>
    </dsp:sp>
    <dsp:sp modelId="{4C3236E9-F8F0-4169-9D5D-8320B3BAC7CF}">
      <dsp:nvSpPr>
        <dsp:cNvPr id="0" name=""/>
        <dsp:cNvSpPr/>
      </dsp:nvSpPr>
      <dsp:spPr>
        <a:xfrm>
          <a:off x="0" y="907293"/>
          <a:ext cx="9086481" cy="844045"/>
        </a:xfrm>
        <a:prstGeom prst="roundRect">
          <a:avLst/>
        </a:prstGeom>
        <a:noFill/>
        <a:ln w="1270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chemeClr val="tx1"/>
              </a:solidFill>
            </a:rPr>
            <a:t>但热力学第二定律告诉我们：任何孤立系统，熵增不可逆。</a:t>
          </a:r>
        </a:p>
      </dsp:txBody>
      <dsp:txXfrm>
        <a:off x="41203" y="948496"/>
        <a:ext cx="9004075" cy="761639"/>
      </dsp:txXfrm>
    </dsp:sp>
    <dsp:sp modelId="{0EC9C254-7805-4743-8CEE-79BC1259B522}">
      <dsp:nvSpPr>
        <dsp:cNvPr id="0" name=""/>
        <dsp:cNvSpPr/>
      </dsp:nvSpPr>
      <dsp:spPr>
        <a:xfrm>
          <a:off x="0" y="1806058"/>
          <a:ext cx="9086481" cy="844045"/>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rPr>
            <a:t>系统一旦切断持续维护，就变成了一个孤立系统。外部业务在变，规则在变，数据在变。系统会在几个月内逐渐偏离物理现实，退化成一个精致的“平行宇宙”。</a:t>
          </a:r>
        </a:p>
      </dsp:txBody>
      <dsp:txXfrm>
        <a:off x="41203" y="1847261"/>
        <a:ext cx="9004075" cy="76163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528331-FF05-4E31-A8A0-6248556CD108}">
      <dsp:nvSpPr>
        <dsp:cNvPr id="0" name=""/>
        <dsp:cNvSpPr/>
      </dsp:nvSpPr>
      <dsp:spPr>
        <a:xfrm>
          <a:off x="0" y="284"/>
          <a:ext cx="8099811" cy="762145"/>
        </a:xfrm>
        <a:prstGeom prst="roundRect">
          <a:avLst/>
        </a:prstGeom>
        <a:noFill/>
        <a:ln w="12700" cap="flat" cmpd="sng" algn="ctr">
          <a:solidFill>
            <a:schemeClr val="tx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tx1"/>
              </a:solidFill>
              <a:latin typeface="+mn-ea"/>
              <a:ea typeface="+mn-ea"/>
            </a:rPr>
            <a:t>哥德尔不完备定理证明：任何足够复杂的逻辑系统，</a:t>
          </a:r>
          <a:r>
            <a:rPr lang="zh-CN" altLang="en-US" sz="2000" b="1" kern="1200" dirty="0">
              <a:solidFill>
                <a:srgbClr val="00D4FF"/>
              </a:solidFill>
              <a:latin typeface="+mn-ea"/>
              <a:ea typeface="+mn-ea"/>
            </a:rPr>
            <a:t>不可能</a:t>
          </a:r>
          <a:r>
            <a:rPr lang="zh-CN" altLang="en-US" sz="1600" kern="1200" dirty="0">
              <a:solidFill>
                <a:schemeClr val="tx1"/>
              </a:solidFill>
              <a:latin typeface="+mn-ea"/>
              <a:ea typeface="+mn-ea"/>
            </a:rPr>
            <a:t>同时满足“一致性（自洽）”与“</a:t>
          </a:r>
          <a:r>
            <a:rPr lang="zh-CN" altLang="en-US" sz="2000" b="1" kern="1200" dirty="0">
              <a:solidFill>
                <a:srgbClr val="00D4FF"/>
              </a:solidFill>
              <a:latin typeface="+mn-ea"/>
              <a:ea typeface="+mn-ea"/>
            </a:rPr>
            <a:t>完备性</a:t>
          </a:r>
          <a:r>
            <a:rPr lang="zh-CN" altLang="en-US" sz="1600" kern="1200" dirty="0">
              <a:solidFill>
                <a:schemeClr val="tx1"/>
              </a:solidFill>
              <a:latin typeface="+mn-ea"/>
              <a:ea typeface="+mn-ea"/>
            </a:rPr>
            <a:t>”。</a:t>
          </a:r>
        </a:p>
      </dsp:txBody>
      <dsp:txXfrm>
        <a:off x="37205" y="37489"/>
        <a:ext cx="8025401" cy="687735"/>
      </dsp:txXfrm>
    </dsp:sp>
    <dsp:sp modelId="{3511512C-C14E-4487-9DBD-43F64ACFFC7B}">
      <dsp:nvSpPr>
        <dsp:cNvPr id="0" name=""/>
        <dsp:cNvSpPr/>
      </dsp:nvSpPr>
      <dsp:spPr>
        <a:xfrm>
          <a:off x="0" y="773089"/>
          <a:ext cx="8099811" cy="762145"/>
        </a:xfrm>
        <a:prstGeom prst="roundRect">
          <a:avLst/>
        </a:prstGeom>
        <a:noFill/>
        <a:ln w="12700" cap="flat" cmpd="sng" algn="ctr">
          <a:solidFill>
            <a:schemeClr val="tx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kern="1200">
              <a:solidFill>
                <a:schemeClr val="tx1"/>
              </a:solidFill>
              <a:latin typeface="+mn-ea"/>
              <a:ea typeface="+mn-ea"/>
            </a:rPr>
            <a:t>这意味着：系统做到了自洽，就注定无法涵盖未来物理世界中所有的新变异。</a:t>
          </a:r>
        </a:p>
      </dsp:txBody>
      <dsp:txXfrm>
        <a:off x="37205" y="810294"/>
        <a:ext cx="8025401" cy="687735"/>
      </dsp:txXfrm>
    </dsp:sp>
    <dsp:sp modelId="{19D10826-6AA7-43FB-AC8C-FC151AC52966}">
      <dsp:nvSpPr>
        <dsp:cNvPr id="0" name=""/>
        <dsp:cNvSpPr/>
      </dsp:nvSpPr>
      <dsp:spPr>
        <a:xfrm>
          <a:off x="0" y="1545894"/>
          <a:ext cx="8099811" cy="762145"/>
        </a:xfrm>
        <a:prstGeom prst="roundRect">
          <a:avLst/>
        </a:prstGeom>
        <a:noFill/>
        <a:ln w="12700" cap="flat" cmpd="sng" algn="ctr">
          <a:solidFill>
            <a:schemeClr val="tx1">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kern="1200" dirty="0">
              <a:solidFill>
                <a:schemeClr val="tx1"/>
              </a:solidFill>
              <a:latin typeface="+mn-ea"/>
              <a:ea typeface="+mn-ea"/>
            </a:rPr>
            <a:t>贸易战、地缘断供、颠覆性的新业务模式</a:t>
          </a:r>
          <a:r>
            <a:rPr lang="en-US" sz="1600" kern="1200" dirty="0">
              <a:solidFill>
                <a:schemeClr val="tx1"/>
              </a:solidFill>
              <a:latin typeface="+mn-ea"/>
              <a:ea typeface="+mn-ea"/>
            </a:rPr>
            <a:t>——</a:t>
          </a:r>
          <a:r>
            <a:rPr lang="zh-CN" sz="1600" kern="1200" dirty="0">
              <a:solidFill>
                <a:schemeClr val="tx1"/>
              </a:solidFill>
              <a:latin typeface="+mn-ea"/>
              <a:ea typeface="+mn-ea"/>
            </a:rPr>
            <a:t>这些前所未有的</a:t>
          </a:r>
          <a:r>
            <a:rPr lang="zh-CN" sz="2000" b="1" kern="1200" dirty="0">
              <a:solidFill>
                <a:srgbClr val="00D4FF"/>
              </a:solidFill>
              <a:latin typeface="+mn-ea"/>
              <a:ea typeface="+mn-ea"/>
            </a:rPr>
            <a:t>黑天鹅</a:t>
          </a:r>
          <a:r>
            <a:rPr lang="zh-CN" sz="1600" kern="1200" dirty="0">
              <a:solidFill>
                <a:schemeClr val="tx1"/>
              </a:solidFill>
              <a:latin typeface="+mn-ea"/>
              <a:ea typeface="+mn-ea"/>
            </a:rPr>
            <a:t>，就是现实世界对硅基系统的“</a:t>
          </a:r>
          <a:r>
            <a:rPr lang="zh-CN" sz="2000" b="1" kern="1200" dirty="0">
              <a:solidFill>
                <a:srgbClr val="00D4FF"/>
              </a:solidFill>
              <a:latin typeface="+mn-ea"/>
              <a:ea typeface="+mn-ea"/>
            </a:rPr>
            <a:t>哥德尔撞击</a:t>
          </a:r>
          <a:r>
            <a:rPr lang="zh-CN" sz="1600" kern="1200" dirty="0">
              <a:solidFill>
                <a:schemeClr val="tx1"/>
              </a:solidFill>
              <a:latin typeface="+mn-ea"/>
              <a:ea typeface="+mn-ea"/>
            </a:rPr>
            <a:t>”。</a:t>
          </a:r>
        </a:p>
      </dsp:txBody>
      <dsp:txXfrm>
        <a:off x="37205" y="1583099"/>
        <a:ext cx="8025401" cy="68773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4ED47-64EF-4537-ACC5-91028ABB3DE0}">
      <dsp:nvSpPr>
        <dsp:cNvPr id="0" name=""/>
        <dsp:cNvSpPr/>
      </dsp:nvSpPr>
      <dsp:spPr>
        <a:xfrm>
          <a:off x="0" y="0"/>
          <a:ext cx="3416320" cy="34163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776143-0322-4F4F-9B7A-A989D5A0733F}">
      <dsp:nvSpPr>
        <dsp:cNvPr id="0" name=""/>
        <dsp:cNvSpPr/>
      </dsp:nvSpPr>
      <dsp:spPr>
        <a:xfrm>
          <a:off x="1708160" y="0"/>
          <a:ext cx="7766204" cy="34163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面对哥德尔撞击，不能坐等系统崩溃。</a:t>
          </a:r>
          <a:endParaRPr lang="en-US" altLang="zh-CN" sz="1800" kern="1200" dirty="0"/>
        </a:p>
        <a:p>
          <a:pPr marL="0" lvl="0" indent="0" algn="ctr" defTabSz="800100">
            <a:lnSpc>
              <a:spcPct val="90000"/>
            </a:lnSpc>
            <a:spcBef>
              <a:spcPct val="0"/>
            </a:spcBef>
            <a:spcAft>
              <a:spcPct val="35000"/>
            </a:spcAft>
            <a:buNone/>
          </a:pPr>
          <a:r>
            <a:rPr lang="zh-CN" altLang="en-US" sz="1800" kern="1200" dirty="0"/>
            <a:t>必须建立</a:t>
          </a:r>
          <a:r>
            <a:rPr lang="zh-CN" altLang="en-US" sz="2400" b="1" kern="1200" dirty="0">
              <a:solidFill>
                <a:srgbClr val="00D4FF"/>
              </a:solidFill>
            </a:rPr>
            <a:t>主动运营体系</a:t>
          </a:r>
          <a:r>
            <a:rPr lang="zh-CN" altLang="en-US" sz="2000" kern="1200" dirty="0"/>
            <a:t>：</a:t>
          </a:r>
        </a:p>
      </dsp:txBody>
      <dsp:txXfrm>
        <a:off x="1708160" y="0"/>
        <a:ext cx="3883102" cy="3416320"/>
      </dsp:txXfrm>
    </dsp:sp>
    <dsp:sp modelId="{665C0DD3-1DB1-413E-8FAC-01E5A5598D53}">
      <dsp:nvSpPr>
        <dsp:cNvPr id="0" name=""/>
        <dsp:cNvSpPr/>
      </dsp:nvSpPr>
      <dsp:spPr>
        <a:xfrm>
          <a:off x="5591262" y="0"/>
          <a:ext cx="3883102" cy="341632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zh-CN" sz="1500" kern="1200"/>
            <a:t>第一步：</a:t>
          </a:r>
          <a:r>
            <a:rPr lang="en-US" sz="1500" kern="1200"/>
            <a:t>Workaround</a:t>
          </a:r>
          <a:r>
            <a:rPr lang="zh-CN" sz="1500" kern="1200"/>
            <a:t>止血。</a:t>
          </a:r>
        </a:p>
        <a:p>
          <a:pPr marL="228600" lvl="2" indent="-114300" algn="l" defTabSz="666750">
            <a:lnSpc>
              <a:spcPct val="90000"/>
            </a:lnSpc>
            <a:spcBef>
              <a:spcPct val="0"/>
            </a:spcBef>
            <a:spcAft>
              <a:spcPct val="15000"/>
            </a:spcAft>
            <a:buChar char="•"/>
          </a:pPr>
          <a:r>
            <a:rPr lang="zh-CN" altLang="en-US" sz="1500" kern="1200" dirty="0"/>
            <a:t>突发问题，不等代码重构，先用变通方案恢复物理连续性。</a:t>
          </a:r>
        </a:p>
        <a:p>
          <a:pPr marL="114300" lvl="1" indent="-114300" algn="l" defTabSz="666750">
            <a:lnSpc>
              <a:spcPct val="90000"/>
            </a:lnSpc>
            <a:spcBef>
              <a:spcPct val="0"/>
            </a:spcBef>
            <a:spcAft>
              <a:spcPct val="15000"/>
            </a:spcAft>
            <a:buChar char="•"/>
          </a:pPr>
          <a:r>
            <a:rPr lang="zh-CN" altLang="en-US" sz="1500" kern="1200" dirty="0"/>
            <a:t>第二步：寻根。</a:t>
          </a:r>
        </a:p>
        <a:p>
          <a:pPr marL="228600" lvl="2" indent="-114300" algn="l" defTabSz="666750">
            <a:lnSpc>
              <a:spcPct val="90000"/>
            </a:lnSpc>
            <a:spcBef>
              <a:spcPct val="0"/>
            </a:spcBef>
            <a:spcAft>
              <a:spcPct val="15000"/>
            </a:spcAft>
            <a:buChar char="•"/>
          </a:pPr>
          <a:r>
            <a:rPr lang="zh-CN" altLang="en-US" sz="1500" kern="1200" dirty="0"/>
            <a:t>危机缓解后，下潜到双螺旋结构。是业务规则变了？还是数据模型有盲区？</a:t>
          </a:r>
        </a:p>
        <a:p>
          <a:pPr marL="114300" lvl="1" indent="-114300" algn="l" defTabSz="666750">
            <a:lnSpc>
              <a:spcPct val="90000"/>
            </a:lnSpc>
            <a:spcBef>
              <a:spcPct val="0"/>
            </a:spcBef>
            <a:spcAft>
              <a:spcPct val="15000"/>
            </a:spcAft>
            <a:buChar char="•"/>
          </a:pPr>
          <a:r>
            <a:rPr lang="zh-CN" altLang="en-US" sz="1500" kern="1200"/>
            <a:t>第三步：系统性重构。</a:t>
          </a:r>
        </a:p>
        <a:p>
          <a:pPr marL="228600" lvl="2" indent="-114300" algn="l" defTabSz="666750">
            <a:lnSpc>
              <a:spcPct val="90000"/>
            </a:lnSpc>
            <a:spcBef>
              <a:spcPct val="0"/>
            </a:spcBef>
            <a:spcAft>
              <a:spcPct val="15000"/>
            </a:spcAft>
            <a:buChar char="•"/>
          </a:pPr>
          <a:r>
            <a:rPr lang="zh-CN" sz="1500" kern="1200"/>
            <a:t>把偏差转化为底层优化项目，让免疫基因永久写入。不让</a:t>
          </a:r>
          <a:r>
            <a:rPr lang="en-US" sz="1500" kern="1200"/>
            <a:t>Workaround</a:t>
          </a:r>
          <a:r>
            <a:rPr lang="zh-CN" sz="1500" kern="1200"/>
            <a:t>固化为技术债。</a:t>
          </a:r>
        </a:p>
      </dsp:txBody>
      <dsp:txXfrm>
        <a:off x="5591262" y="0"/>
        <a:ext cx="3883102" cy="341632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75D45-B29A-43E6-A5A9-0EA68FE017DF}">
      <dsp:nvSpPr>
        <dsp:cNvPr id="0" name=""/>
        <dsp:cNvSpPr/>
      </dsp:nvSpPr>
      <dsp:spPr>
        <a:xfrm>
          <a:off x="26" y="136460"/>
          <a:ext cx="2502158" cy="7690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a:latin typeface="+mj-ea"/>
              <a:ea typeface="+mj-ea"/>
            </a:rPr>
            <a:t>One Plan</a:t>
          </a:r>
          <a:r>
            <a:rPr lang="zh-CN" sz="1600" b="1" kern="1200">
              <a:latin typeface="+mj-ea"/>
              <a:ea typeface="+mj-ea"/>
            </a:rPr>
            <a:t>：构建了横纵协同的神经中枢</a:t>
          </a:r>
          <a:endParaRPr lang="zh-CN" sz="1600" kern="1200">
            <a:latin typeface="+mj-ea"/>
            <a:ea typeface="+mj-ea"/>
          </a:endParaRPr>
        </a:p>
      </dsp:txBody>
      <dsp:txXfrm>
        <a:off x="26" y="136460"/>
        <a:ext cx="2502158" cy="769093"/>
      </dsp:txXfrm>
    </dsp:sp>
    <dsp:sp modelId="{2E7C871B-0DF9-4CF1-9DDB-0361200040F7}">
      <dsp:nvSpPr>
        <dsp:cNvPr id="0" name=""/>
        <dsp:cNvSpPr/>
      </dsp:nvSpPr>
      <dsp:spPr>
        <a:xfrm>
          <a:off x="26" y="905553"/>
          <a:ext cx="2502158" cy="41751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r>
            <a:rPr lang="en-US" sz="900" b="0" kern="1200" dirty="0">
              <a:latin typeface="+mj-ea"/>
              <a:ea typeface="+mj-ea"/>
            </a:rPr>
            <a:t>One Plan</a:t>
          </a:r>
          <a:r>
            <a:rPr lang="zh-CN" sz="900" b="0" kern="1200" dirty="0">
              <a:latin typeface="+mj-ea"/>
              <a:ea typeface="+mj-ea"/>
            </a:rPr>
            <a:t>通过建立从战略到执行、从供应商到客户的数字孪生与因果链，赋予了企业核心的智能决策能力。这意味着企业不再依赖经验猜测，而是能够：</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进行预测（</a:t>
          </a:r>
          <a:r>
            <a:rPr lang="en-US" sz="900" b="1" i="0" kern="1200" dirty="0">
              <a:latin typeface="+mj-ea"/>
              <a:ea typeface="+mj-ea"/>
            </a:rPr>
            <a:t>Predict</a:t>
          </a:r>
          <a:r>
            <a:rPr lang="zh-CN" sz="900" b="1" i="0" kern="1200" dirty="0">
              <a:latin typeface="+mj-ea"/>
              <a:ea typeface="+mj-ea"/>
            </a:rPr>
            <a:t>）​</a:t>
          </a:r>
          <a:r>
            <a:rPr lang="zh-CN" sz="900" b="0" i="0" kern="1200" dirty="0">
              <a:latin typeface="+mj-ea"/>
              <a:ea typeface="+mj-ea"/>
            </a:rPr>
            <a:t>​：基于数据模型前瞻性地制定计划。</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追溯根因（</a:t>
          </a:r>
          <a:r>
            <a:rPr lang="en-US" sz="900" b="1" i="0" kern="1200" dirty="0">
              <a:latin typeface="+mj-ea"/>
              <a:ea typeface="+mj-ea"/>
            </a:rPr>
            <a:t>Root Cause Analysis</a:t>
          </a:r>
          <a:r>
            <a:rPr lang="zh-CN" sz="900" b="1" i="0" kern="1200" dirty="0">
              <a:latin typeface="+mj-ea"/>
              <a:ea typeface="+mj-ea"/>
            </a:rPr>
            <a:t>）​</a:t>
          </a:r>
          <a:r>
            <a:rPr lang="zh-CN" sz="900" b="0" i="0" kern="1200" dirty="0">
              <a:latin typeface="+mj-ea"/>
              <a:ea typeface="+mj-ea"/>
            </a:rPr>
            <a:t>​：快速定位问题的本质。</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权衡优化（</a:t>
          </a:r>
          <a:r>
            <a:rPr lang="en-US" sz="900" b="1" i="0" kern="1200" dirty="0">
              <a:latin typeface="+mj-ea"/>
              <a:ea typeface="+mj-ea"/>
            </a:rPr>
            <a:t>Trade-off</a:t>
          </a:r>
          <a:r>
            <a:rPr lang="zh-CN" sz="900" b="1" i="0" kern="1200" dirty="0">
              <a:latin typeface="+mj-ea"/>
              <a:ea typeface="+mj-ea"/>
            </a:rPr>
            <a:t>）​</a:t>
          </a:r>
          <a:r>
            <a:rPr lang="zh-CN" sz="900" b="0" i="0" kern="1200" dirty="0">
              <a:latin typeface="+mj-ea"/>
              <a:ea typeface="+mj-ea"/>
            </a:rPr>
            <a:t>​：在多目标冲突中找到全局最优解。</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altLang="en-US" sz="900" b="0" i="0" kern="1200" dirty="0">
              <a:latin typeface="+mj-ea"/>
              <a:ea typeface="+mj-ea"/>
            </a:rPr>
            <a:t>​</a:t>
          </a:r>
          <a:r>
            <a:rPr lang="zh-CN" altLang="en-US" sz="900" b="1" i="0" kern="1200" dirty="0">
              <a:latin typeface="+mj-ea"/>
              <a:ea typeface="+mj-ea"/>
            </a:rPr>
            <a:t>动态学习改进</a:t>
          </a:r>
          <a:r>
            <a:rPr lang="zh-CN" altLang="en-US" sz="900" b="0" i="0" kern="1200" dirty="0">
              <a:latin typeface="+mj-ea"/>
              <a:ea typeface="+mj-ea"/>
            </a:rPr>
            <a:t>​：持续优化运营。</a:t>
          </a:r>
          <a:endParaRPr lang="zh-CN" altLang="en-US" sz="900" kern="1200" dirty="0">
            <a:latin typeface="+mj-ea"/>
            <a:ea typeface="+mj-ea"/>
          </a:endParaRPr>
        </a:p>
        <a:p>
          <a:pPr marL="57150" lvl="1" indent="-57150" algn="l" defTabSz="400050">
            <a:lnSpc>
              <a:spcPct val="90000"/>
            </a:lnSpc>
            <a:spcBef>
              <a:spcPct val="0"/>
            </a:spcBef>
            <a:spcAft>
              <a:spcPct val="15000"/>
            </a:spcAft>
            <a:buChar char="•"/>
          </a:pPr>
          <a:r>
            <a:rPr lang="zh-CN" sz="900" b="1" kern="1200" dirty="0">
              <a:latin typeface="+mj-ea"/>
              <a:ea typeface="+mj-ea"/>
            </a:rPr>
            <a:t>（此时，</a:t>
          </a:r>
          <a:r>
            <a:rPr lang="en-US" sz="900" b="1" kern="1200" dirty="0">
              <a:latin typeface="+mj-ea"/>
              <a:ea typeface="+mj-ea"/>
            </a:rPr>
            <a:t>One Plan</a:t>
          </a:r>
          <a:r>
            <a:rPr lang="zh-CN" sz="900" b="1" kern="1200" dirty="0">
              <a:latin typeface="+mj-ea"/>
              <a:ea typeface="+mj-ea"/>
            </a:rPr>
            <a:t>是强大的，但其价值仍隐藏在复杂的算法和数据模型中。）​</a:t>
          </a:r>
          <a:r>
            <a:rPr lang="zh-CN" sz="900" b="0" kern="1200" dirty="0">
              <a:latin typeface="+mj-ea"/>
              <a:ea typeface="+mj-ea"/>
            </a:rPr>
            <a:t>​</a:t>
          </a:r>
          <a:endParaRPr lang="zh-CN" sz="900" kern="1200" dirty="0">
            <a:latin typeface="+mj-ea"/>
            <a:ea typeface="+mj-ea"/>
          </a:endParaRPr>
        </a:p>
      </dsp:txBody>
      <dsp:txXfrm>
        <a:off x="26" y="905553"/>
        <a:ext cx="2502158" cy="4175145"/>
      </dsp:txXfrm>
    </dsp:sp>
    <dsp:sp modelId="{B18CC9F5-43CA-42C3-BB72-8C6F94CDBEB1}">
      <dsp:nvSpPr>
        <dsp:cNvPr id="0" name=""/>
        <dsp:cNvSpPr/>
      </dsp:nvSpPr>
      <dsp:spPr>
        <a:xfrm>
          <a:off x="2852487" y="136460"/>
          <a:ext cx="2502158" cy="7690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zh-CN" sz="1400" b="0" kern="1200" dirty="0">
              <a:latin typeface="+mj-ea"/>
              <a:ea typeface="+mj-ea"/>
            </a:rPr>
            <a:t>​</a:t>
          </a:r>
          <a:r>
            <a:rPr lang="en-US" sz="1400" b="1" kern="1200" dirty="0">
              <a:latin typeface="+mj-ea"/>
              <a:ea typeface="+mj-ea"/>
            </a:rPr>
            <a:t>Control Tower</a:t>
          </a:r>
          <a:r>
            <a:rPr lang="zh-CN" sz="1400" b="1" kern="1200" dirty="0">
              <a:latin typeface="+mj-ea"/>
              <a:ea typeface="+mj-ea"/>
            </a:rPr>
            <a:t>：不可或缺的“全局指挥中心”​</a:t>
          </a:r>
          <a:r>
            <a:rPr lang="zh-CN" sz="1400" b="0" kern="1200" dirty="0">
              <a:latin typeface="+mj-ea"/>
              <a:ea typeface="+mj-ea"/>
            </a:rPr>
            <a:t>​</a:t>
          </a:r>
          <a:endParaRPr lang="zh-CN" sz="1400" kern="1200" dirty="0">
            <a:latin typeface="+mj-ea"/>
            <a:ea typeface="+mj-ea"/>
          </a:endParaRPr>
        </a:p>
      </dsp:txBody>
      <dsp:txXfrm>
        <a:off x="2852487" y="136460"/>
        <a:ext cx="2502158" cy="769093"/>
      </dsp:txXfrm>
    </dsp:sp>
    <dsp:sp modelId="{DA19CCDA-25CA-4FB5-AA04-86AB58B06865}">
      <dsp:nvSpPr>
        <dsp:cNvPr id="0" name=""/>
        <dsp:cNvSpPr/>
      </dsp:nvSpPr>
      <dsp:spPr>
        <a:xfrm>
          <a:off x="2852487" y="905553"/>
          <a:ext cx="2502158" cy="41751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r>
            <a:rPr lang="zh-CN" sz="900" b="0" kern="1200" dirty="0">
              <a:latin typeface="+mj-ea"/>
              <a:ea typeface="+mj-ea"/>
            </a:rPr>
            <a:t>然而，一个再强大的“大脑”也需要与“躯干”和“四肢”高效协同。</a:t>
          </a:r>
          <a:r>
            <a:rPr lang="en-US" sz="900" b="0" kern="1200" dirty="0">
              <a:latin typeface="+mj-ea"/>
              <a:ea typeface="+mj-ea"/>
            </a:rPr>
            <a:t>Control Tower</a:t>
          </a:r>
          <a:r>
            <a:rPr lang="zh-CN" sz="900" b="0" kern="1200" dirty="0">
              <a:latin typeface="+mj-ea"/>
              <a:ea typeface="+mj-ea"/>
            </a:rPr>
            <a:t>正是将这个“智能大脑”的输出，转化为整个组织可理解、可执行的统一语言和指挥指令。它的关键价值在于：</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a:t>
          </a:r>
          <a:r>
            <a:rPr lang="en-US" sz="900" b="1" i="0" kern="1200" dirty="0">
              <a:latin typeface="+mj-ea"/>
              <a:ea typeface="+mj-ea"/>
            </a:rPr>
            <a:t>【</a:t>
          </a:r>
          <a:r>
            <a:rPr lang="zh-CN" sz="900" b="1" i="0" kern="1200" dirty="0">
              <a:latin typeface="+mj-ea"/>
              <a:ea typeface="+mj-ea"/>
            </a:rPr>
            <a:t>简化复杂</a:t>
          </a:r>
          <a:r>
            <a:rPr lang="en-US" sz="900" b="1" i="0" kern="1200" dirty="0">
              <a:latin typeface="+mj-ea"/>
              <a:ea typeface="+mj-ea"/>
            </a:rPr>
            <a:t>】​</a:t>
          </a:r>
          <a:r>
            <a:rPr lang="zh-CN" sz="900" b="0" i="0" kern="1200" dirty="0">
              <a:latin typeface="+mj-ea"/>
              <a:ea typeface="+mj-ea"/>
            </a:rPr>
            <a:t>​：将</a:t>
          </a:r>
          <a:r>
            <a:rPr lang="en-US" sz="900" b="0" i="0" kern="1200" dirty="0">
              <a:latin typeface="+mj-ea"/>
              <a:ea typeface="+mj-ea"/>
            </a:rPr>
            <a:t>One Plan</a:t>
          </a:r>
          <a:r>
            <a:rPr lang="zh-CN" sz="900" b="0" i="0" kern="1200" dirty="0">
              <a:latin typeface="+mj-ea"/>
              <a:ea typeface="+mj-ea"/>
            </a:rPr>
            <a:t>产生的复杂算法结果，转化为直观的仪表盘和可视化报告，让每位决策者都能在</a:t>
          </a:r>
          <a:r>
            <a:rPr lang="en-US" sz="900" b="0" i="0" kern="1200" dirty="0">
              <a:latin typeface="+mj-ea"/>
              <a:ea typeface="+mj-ea"/>
            </a:rPr>
            <a:t>5</a:t>
          </a:r>
          <a:r>
            <a:rPr lang="zh-CN" sz="900" b="0" i="0" kern="1200" dirty="0">
              <a:latin typeface="+mj-ea"/>
              <a:ea typeface="+mj-ea"/>
            </a:rPr>
            <a:t>秒内掌握全局态势，从而</a:t>
          </a:r>
          <a:r>
            <a:rPr lang="zh-CN" sz="900" b="1" i="0" kern="1200" dirty="0">
              <a:latin typeface="+mj-ea"/>
              <a:ea typeface="+mj-ea"/>
            </a:rPr>
            <a:t>将智能</a:t>
          </a:r>
          <a:r>
            <a:rPr lang="en-US" sz="900" b="1" i="0" kern="1200" dirty="0">
              <a:latin typeface="+mj-ea"/>
              <a:ea typeface="+mj-ea"/>
            </a:rPr>
            <a:t>BI</a:t>
          </a:r>
          <a:r>
            <a:rPr lang="zh-CN" sz="900" b="1" i="0" kern="1200" dirty="0">
              <a:latin typeface="+mj-ea"/>
              <a:ea typeface="+mj-ea"/>
            </a:rPr>
            <a:t>分析的价值真正释放给业务人员</a:t>
          </a:r>
          <a:r>
            <a:rPr lang="zh-CN" sz="900" b="0" i="0" kern="1200" dirty="0">
              <a:latin typeface="+mj-ea"/>
              <a:ea typeface="+mj-ea"/>
            </a:rPr>
            <a:t>。</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a:t>
          </a:r>
          <a:r>
            <a:rPr lang="en-US" sz="900" b="1" i="0" kern="1200" dirty="0">
              <a:latin typeface="+mj-ea"/>
              <a:ea typeface="+mj-ea"/>
            </a:rPr>
            <a:t>【</a:t>
          </a:r>
          <a:r>
            <a:rPr lang="zh-CN" sz="900" b="1" i="0" kern="1200" dirty="0">
              <a:latin typeface="+mj-ea"/>
              <a:ea typeface="+mj-ea"/>
            </a:rPr>
            <a:t>实时监控与预警</a:t>
          </a:r>
          <a:r>
            <a:rPr lang="en-US" sz="900" b="1" i="0" kern="1200" dirty="0">
              <a:latin typeface="+mj-ea"/>
              <a:ea typeface="+mj-ea"/>
            </a:rPr>
            <a:t>】​</a:t>
          </a:r>
          <a:r>
            <a:rPr lang="zh-CN" sz="900" b="0" i="0" kern="1200" dirty="0">
              <a:latin typeface="+mj-ea"/>
              <a:ea typeface="+mj-ea"/>
            </a:rPr>
            <a:t>​：充当组织的“神经中枢”，</a:t>
          </a:r>
          <a:r>
            <a:rPr lang="en-US" sz="900" b="0" i="0" kern="1200" dirty="0">
              <a:latin typeface="+mj-ea"/>
              <a:ea typeface="+mj-ea"/>
            </a:rPr>
            <a:t>7x24</a:t>
          </a:r>
          <a:r>
            <a:rPr lang="zh-CN" sz="900" b="0" i="0" kern="1200" dirty="0">
              <a:latin typeface="+mj-ea"/>
              <a:ea typeface="+mj-ea"/>
            </a:rPr>
            <a:t>小时监控运营状态，在偏差发生的瞬间发出预警，确保</a:t>
          </a:r>
          <a:r>
            <a:rPr lang="en-US" sz="900" b="0" i="0" kern="1200" dirty="0">
              <a:latin typeface="+mj-ea"/>
              <a:ea typeface="+mj-ea"/>
            </a:rPr>
            <a:t>One Plan</a:t>
          </a:r>
          <a:r>
            <a:rPr lang="zh-CN" sz="900" b="0" i="0" kern="1200" dirty="0">
              <a:latin typeface="+mj-ea"/>
              <a:ea typeface="+mj-ea"/>
            </a:rPr>
            <a:t>的规划不会在执行中失控。</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a:t>
          </a:r>
          <a:r>
            <a:rPr lang="en-US" sz="900" b="1" i="0" kern="1200" dirty="0">
              <a:latin typeface="+mj-ea"/>
              <a:ea typeface="+mj-ea"/>
            </a:rPr>
            <a:t>【</a:t>
          </a:r>
          <a:r>
            <a:rPr lang="zh-CN" sz="900" b="1" i="0" kern="1200" dirty="0">
              <a:latin typeface="+mj-ea"/>
              <a:ea typeface="+mj-ea"/>
            </a:rPr>
            <a:t>支持模拟决策</a:t>
          </a:r>
          <a:r>
            <a:rPr lang="en-US" sz="900" b="1" i="0" kern="1200" dirty="0">
              <a:latin typeface="+mj-ea"/>
              <a:ea typeface="+mj-ea"/>
            </a:rPr>
            <a:t>】​</a:t>
          </a:r>
          <a:r>
            <a:rPr lang="zh-CN" sz="900" b="0" i="0" kern="1200" dirty="0">
              <a:latin typeface="+mj-ea"/>
              <a:ea typeface="+mj-ea"/>
            </a:rPr>
            <a:t>​：提供“</a:t>
          </a:r>
          <a:r>
            <a:rPr lang="en-US" sz="900" b="0" i="0" kern="1200" dirty="0">
              <a:latin typeface="+mj-ea"/>
              <a:ea typeface="+mj-ea"/>
            </a:rPr>
            <a:t>What-if”</a:t>
          </a:r>
          <a:r>
            <a:rPr lang="zh-CN" sz="900" b="0" i="0" kern="1200" dirty="0">
              <a:latin typeface="+mj-ea"/>
              <a:ea typeface="+mj-ea"/>
            </a:rPr>
            <a:t>沙盘推演界面，让管理者能够直观地测试不同决策方案的结果，​</a:t>
          </a:r>
          <a:r>
            <a:rPr lang="zh-CN" sz="900" b="1" i="0" kern="1200" dirty="0">
              <a:latin typeface="+mj-ea"/>
              <a:ea typeface="+mj-ea"/>
            </a:rPr>
            <a:t>将</a:t>
          </a:r>
          <a:r>
            <a:rPr lang="en-US" sz="900" b="1" i="0" kern="1200" dirty="0">
              <a:latin typeface="+mj-ea"/>
              <a:ea typeface="+mj-ea"/>
            </a:rPr>
            <a:t>One Plan</a:t>
          </a:r>
          <a:r>
            <a:rPr lang="zh-CN" sz="900" b="1" i="0" kern="1200" dirty="0">
              <a:latin typeface="+mj-ea"/>
              <a:ea typeface="+mj-ea"/>
            </a:rPr>
            <a:t>的权衡分析能力（</a:t>
          </a:r>
          <a:r>
            <a:rPr lang="en-US" sz="900" b="1" i="0" kern="1200" dirty="0">
              <a:latin typeface="+mj-ea"/>
              <a:ea typeface="+mj-ea"/>
            </a:rPr>
            <a:t>Trade-off</a:t>
          </a:r>
          <a:r>
            <a:rPr lang="zh-CN" sz="900" b="1" i="0" kern="1200" dirty="0">
              <a:latin typeface="+mj-ea"/>
              <a:ea typeface="+mj-ea"/>
            </a:rPr>
            <a:t>）转化为具象的、可信的业务对话</a:t>
          </a:r>
          <a:r>
            <a:rPr lang="zh-CN" sz="900" b="0" i="0" kern="1200" dirty="0">
              <a:latin typeface="+mj-ea"/>
              <a:ea typeface="+mj-ea"/>
            </a:rPr>
            <a:t>。</a:t>
          </a:r>
          <a:endParaRPr lang="zh-CN" sz="900" kern="1200" dirty="0">
            <a:latin typeface="+mj-ea"/>
            <a:ea typeface="+mj-ea"/>
          </a:endParaRPr>
        </a:p>
        <a:p>
          <a:pPr marL="114300" lvl="2" indent="-57150" algn="l" defTabSz="400050">
            <a:lnSpc>
              <a:spcPct val="90000"/>
            </a:lnSpc>
            <a:spcBef>
              <a:spcPct val="0"/>
            </a:spcBef>
            <a:spcAft>
              <a:spcPct val="15000"/>
            </a:spcAft>
            <a:buChar char="•"/>
          </a:pPr>
          <a:r>
            <a:rPr lang="zh-CN" sz="900" b="0" i="0" kern="1200" dirty="0">
              <a:latin typeface="+mj-ea"/>
              <a:ea typeface="+mj-ea"/>
            </a:rPr>
            <a:t>​</a:t>
          </a:r>
          <a:r>
            <a:rPr lang="zh-CN" sz="900" b="1" i="0" kern="1200" dirty="0">
              <a:latin typeface="+mj-ea"/>
              <a:ea typeface="+mj-ea"/>
            </a:rPr>
            <a:t>​</a:t>
          </a:r>
          <a:r>
            <a:rPr lang="en-US" sz="900" b="1" i="0" kern="1200" dirty="0">
              <a:latin typeface="+mj-ea"/>
              <a:ea typeface="+mj-ea"/>
            </a:rPr>
            <a:t>【</a:t>
          </a:r>
          <a:r>
            <a:rPr lang="zh-CN" sz="900" b="1" i="0" kern="1200" dirty="0">
              <a:latin typeface="+mj-ea"/>
              <a:ea typeface="+mj-ea"/>
            </a:rPr>
            <a:t>促进跨职能协同</a:t>
          </a:r>
          <a:r>
            <a:rPr lang="en-US" sz="900" b="1" i="0" kern="1200" dirty="0">
              <a:latin typeface="+mj-ea"/>
              <a:ea typeface="+mj-ea"/>
            </a:rPr>
            <a:t>】​</a:t>
          </a:r>
          <a:r>
            <a:rPr lang="zh-CN" sz="900" b="0" i="0" kern="1200" dirty="0">
              <a:latin typeface="+mj-ea"/>
              <a:ea typeface="+mj-ea"/>
            </a:rPr>
            <a:t>​：作为“单一事实来源”，为销售、生产、采购、财务等所有部门提供同一套数据和视图，​</a:t>
          </a:r>
          <a:r>
            <a:rPr lang="zh-CN" sz="900" b="1" i="0" kern="1200" dirty="0">
              <a:latin typeface="+mj-ea"/>
              <a:ea typeface="+mj-ea"/>
            </a:rPr>
            <a:t>彻底打破竖井，让协同建立在事实而非争论之上</a:t>
          </a:r>
          <a:r>
            <a:rPr lang="zh-CN" sz="900" b="0" i="0" kern="1200" dirty="0">
              <a:latin typeface="+mj-ea"/>
              <a:ea typeface="+mj-ea"/>
            </a:rPr>
            <a:t>。</a:t>
          </a:r>
          <a:endParaRPr lang="zh-CN" sz="900" kern="1200" dirty="0">
            <a:latin typeface="+mj-ea"/>
            <a:ea typeface="+mj-ea"/>
          </a:endParaRPr>
        </a:p>
      </dsp:txBody>
      <dsp:txXfrm>
        <a:off x="2852487" y="905553"/>
        <a:ext cx="2502158" cy="417514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CFBB7-DAA7-4DBB-BCE4-18785795A9F2}">
      <dsp:nvSpPr>
        <dsp:cNvPr id="0" name=""/>
        <dsp:cNvSpPr/>
      </dsp:nvSpPr>
      <dsp:spPr>
        <a:xfrm>
          <a:off x="0" y="247235"/>
          <a:ext cx="10969200" cy="390600"/>
        </a:xfrm>
        <a:prstGeom prst="rect">
          <a:avLst/>
        </a:prstGeom>
        <a:solidFill>
          <a:schemeClr val="lt1">
            <a:alpha val="9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56896" numCol="1" spcCol="1270" anchor="t" anchorCtr="0">
          <a:noAutofit/>
        </a:bodyPr>
        <a:lstStyle/>
        <a:p>
          <a:pPr marL="57150" lvl="1" indent="-57150" algn="l" defTabSz="355600">
            <a:lnSpc>
              <a:spcPct val="90000"/>
            </a:lnSpc>
            <a:spcBef>
              <a:spcPct val="0"/>
            </a:spcBef>
            <a:spcAft>
              <a:spcPct val="15000"/>
            </a:spcAft>
            <a:buChar char="•"/>
          </a:pPr>
          <a:r>
            <a:rPr lang="zh-CN" altLang="en-US" sz="800" b="1" kern="1200" dirty="0">
              <a:solidFill>
                <a:schemeClr val="bg1"/>
              </a:solidFill>
              <a:latin typeface="+mj-ea"/>
              <a:ea typeface="+mj-ea"/>
              <a:cs typeface="+mn-cs"/>
            </a:rPr>
            <a:t>在保障交期的前提下让资源最大化利用的</a:t>
          </a:r>
          <a:r>
            <a:rPr lang="en-US" altLang="zh-CN" sz="800" b="1" kern="1200" dirty="0">
              <a:solidFill>
                <a:schemeClr val="bg1"/>
              </a:solidFill>
              <a:latin typeface="+mj-ea"/>
              <a:ea typeface="+mj-ea"/>
              <a:cs typeface="+mn-cs"/>
            </a:rPr>
            <a:t>One Plan</a:t>
          </a:r>
          <a:r>
            <a:rPr lang="zh-CN" altLang="en-US" sz="800" b="1" kern="1200" dirty="0">
              <a:solidFill>
                <a:schemeClr val="bg1"/>
              </a:solidFill>
              <a:latin typeface="+mj-ea"/>
              <a:ea typeface="+mj-ea"/>
              <a:cs typeface="+mn-cs"/>
            </a:rPr>
            <a:t>。专，共线问题，连续生产问题等。</a:t>
          </a:r>
        </a:p>
      </dsp:txBody>
      <dsp:txXfrm>
        <a:off x="0" y="247235"/>
        <a:ext cx="10969200" cy="390600"/>
      </dsp:txXfrm>
    </dsp:sp>
    <dsp:sp modelId="{FD4A96DA-E5EE-4DBB-A84F-D37C509E48B5}">
      <dsp:nvSpPr>
        <dsp:cNvPr id="0" name=""/>
        <dsp:cNvSpPr/>
      </dsp:nvSpPr>
      <dsp:spPr>
        <a:xfrm>
          <a:off x="548460" y="129155"/>
          <a:ext cx="7678440" cy="23616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533400">
            <a:lnSpc>
              <a:spcPct val="90000"/>
            </a:lnSpc>
            <a:spcBef>
              <a:spcPct val="0"/>
            </a:spcBef>
            <a:spcAft>
              <a:spcPct val="35000"/>
            </a:spcAft>
            <a:buNone/>
          </a:pPr>
          <a:r>
            <a:rPr lang="zh-CN" altLang="en-US" sz="1400" b="1" kern="1200" dirty="0">
              <a:solidFill>
                <a:schemeClr val="bg1"/>
              </a:solidFill>
              <a:latin typeface="+mj-ea"/>
              <a:ea typeface="+mj-ea"/>
              <a:cs typeface="+mn-cs"/>
            </a:rPr>
            <a:t>计划的准确性</a:t>
          </a:r>
          <a:r>
            <a:rPr lang="en-US" altLang="zh-CN" sz="1400" b="1" kern="1200" dirty="0">
              <a:solidFill>
                <a:schemeClr val="bg1"/>
              </a:solidFill>
              <a:latin typeface="+mj-ea"/>
              <a:ea typeface="+mj-ea"/>
              <a:cs typeface="+mn-cs"/>
            </a:rPr>
            <a:t>-</a:t>
          </a:r>
          <a:r>
            <a:rPr lang="zh-CN" altLang="en-US" sz="1400" b="1" kern="1200" dirty="0">
              <a:solidFill>
                <a:schemeClr val="bg1"/>
              </a:solidFill>
              <a:latin typeface="+mj-ea"/>
              <a:ea typeface="+mj-ea"/>
              <a:cs typeface="+mn-cs"/>
            </a:rPr>
            <a:t>交付又准又快：</a:t>
          </a:r>
        </a:p>
      </dsp:txBody>
      <dsp:txXfrm>
        <a:off x="559988" y="140683"/>
        <a:ext cx="7655384" cy="213104"/>
      </dsp:txXfrm>
    </dsp:sp>
    <dsp:sp modelId="{16539D17-2819-4CB5-B082-85AB37D5B4D8}">
      <dsp:nvSpPr>
        <dsp:cNvPr id="0" name=""/>
        <dsp:cNvSpPr/>
      </dsp:nvSpPr>
      <dsp:spPr>
        <a:xfrm>
          <a:off x="0" y="799115"/>
          <a:ext cx="10969200" cy="441000"/>
        </a:xfrm>
        <a:prstGeom prst="rect">
          <a:avLst/>
        </a:prstGeom>
        <a:solidFill>
          <a:schemeClr val="lt1">
            <a:alpha val="90000"/>
            <a:hueOff val="0"/>
            <a:satOff val="0"/>
            <a:lumOff val="0"/>
            <a:alphaOff val="0"/>
          </a:schemeClr>
        </a:solidFill>
        <a:ln w="12700" cap="flat" cmpd="sng" algn="ctr">
          <a:solidFill>
            <a:schemeClr val="accent1">
              <a:shade val="80000"/>
              <a:hueOff val="48757"/>
              <a:satOff val="-949"/>
              <a:lumOff val="37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b="1" kern="1200" dirty="0">
              <a:solidFill>
                <a:schemeClr val="bg1"/>
              </a:solidFill>
              <a:latin typeface="+mj-ea"/>
              <a:ea typeface="+mj-ea"/>
              <a:cs typeface="+mn-cs"/>
            </a:rPr>
            <a:t>主计划，欠料，发货通知，生产计划，交期承诺，工单，排程，拉料一体化智能协奏让工厂运作丝滑进行。</a:t>
          </a:r>
        </a:p>
      </dsp:txBody>
      <dsp:txXfrm>
        <a:off x="0" y="799115"/>
        <a:ext cx="10969200" cy="441000"/>
      </dsp:txXfrm>
    </dsp:sp>
    <dsp:sp modelId="{DB270920-EFCA-4C63-B7F7-9DFDA007D9C9}">
      <dsp:nvSpPr>
        <dsp:cNvPr id="0" name=""/>
        <dsp:cNvSpPr/>
      </dsp:nvSpPr>
      <dsp:spPr>
        <a:xfrm>
          <a:off x="548460" y="681035"/>
          <a:ext cx="7678440" cy="236160"/>
        </a:xfrm>
        <a:prstGeom prst="roundRect">
          <a:avLst/>
        </a:prstGeom>
        <a:solidFill>
          <a:schemeClr val="accent1">
            <a:shade val="80000"/>
            <a:hueOff val="48757"/>
            <a:satOff val="-949"/>
            <a:lumOff val="37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527" tIns="0" rIns="270527" bIns="0" numCol="1" spcCol="1270" anchor="ctr" anchorCtr="0">
          <a:noAutofit/>
        </a:bodyPr>
        <a:lstStyle/>
        <a:p>
          <a:pPr marL="0" lvl="0" indent="0" algn="l" defTabSz="533400">
            <a:lnSpc>
              <a:spcPct val="90000"/>
            </a:lnSpc>
            <a:spcBef>
              <a:spcPct val="0"/>
            </a:spcBef>
            <a:spcAft>
              <a:spcPct val="35000"/>
            </a:spcAft>
            <a:buNone/>
          </a:pPr>
          <a:r>
            <a:rPr lang="zh-CN" altLang="en-US" sz="1400" b="1" kern="1200" dirty="0">
              <a:solidFill>
                <a:schemeClr val="bg1"/>
              </a:solidFill>
              <a:latin typeface="+mj-ea"/>
              <a:ea typeface="+mj-ea"/>
              <a:cs typeface="+mn-cs"/>
            </a:rPr>
            <a:t>智能计划与排程</a:t>
          </a:r>
          <a:r>
            <a:rPr lang="en-US" altLang="zh-CN" sz="1400" b="1" kern="1200" dirty="0">
              <a:solidFill>
                <a:schemeClr val="bg1"/>
              </a:solidFill>
              <a:latin typeface="+mj-ea"/>
              <a:ea typeface="+mj-ea"/>
              <a:cs typeface="+mn-cs"/>
            </a:rPr>
            <a:t>IPS</a:t>
          </a:r>
          <a:r>
            <a:rPr lang="zh-CN" altLang="en-US" sz="1400" b="1" kern="1200" dirty="0">
              <a:solidFill>
                <a:schemeClr val="bg1"/>
              </a:solidFill>
              <a:latin typeface="+mj-ea"/>
              <a:ea typeface="+mj-ea"/>
              <a:cs typeface="+mn-cs"/>
            </a:rPr>
            <a:t>（</a:t>
          </a:r>
          <a:r>
            <a:rPr lang="en-US" altLang="zh-CN" sz="1400" b="1" kern="1200" dirty="0">
              <a:solidFill>
                <a:schemeClr val="bg1"/>
              </a:solidFill>
              <a:latin typeface="+mj-ea"/>
              <a:ea typeface="+mj-ea"/>
              <a:cs typeface="+mn-cs"/>
            </a:rPr>
            <a:t>Intelligent Planning &amp; Scheduling</a:t>
          </a:r>
          <a:r>
            <a:rPr lang="zh-CN" altLang="en-US" sz="1400" b="1" kern="1200" dirty="0">
              <a:solidFill>
                <a:schemeClr val="bg1"/>
              </a:solidFill>
              <a:latin typeface="+mj-ea"/>
              <a:ea typeface="+mj-ea"/>
              <a:cs typeface="+mn-cs"/>
            </a:rPr>
            <a:t>）</a:t>
          </a:r>
        </a:p>
      </dsp:txBody>
      <dsp:txXfrm>
        <a:off x="559988" y="692563"/>
        <a:ext cx="7655384" cy="213104"/>
      </dsp:txXfrm>
    </dsp:sp>
    <dsp:sp modelId="{896089C3-56E3-48B7-9CB7-BE11962F3131}">
      <dsp:nvSpPr>
        <dsp:cNvPr id="0" name=""/>
        <dsp:cNvSpPr/>
      </dsp:nvSpPr>
      <dsp:spPr>
        <a:xfrm>
          <a:off x="0" y="1401396"/>
          <a:ext cx="10969200" cy="882000"/>
        </a:xfrm>
        <a:prstGeom prst="rect">
          <a:avLst/>
        </a:prstGeom>
        <a:solidFill>
          <a:schemeClr val="lt1">
            <a:alpha val="90000"/>
            <a:hueOff val="0"/>
            <a:satOff val="0"/>
            <a:lumOff val="0"/>
            <a:alphaOff val="0"/>
          </a:schemeClr>
        </a:solidFill>
        <a:ln w="12700" cap="flat" cmpd="sng" algn="ctr">
          <a:solidFill>
            <a:schemeClr val="accent1">
              <a:shade val="80000"/>
              <a:hueOff val="97514"/>
              <a:satOff val="-1898"/>
              <a:lumOff val="757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87452" rIns="851332" bIns="64008" numCol="1" spcCol="1270" anchor="t" anchorCtr="0">
          <a:noAutofit/>
        </a:bodyPr>
        <a:lstStyle/>
        <a:p>
          <a:pPr marL="57150" lvl="1" indent="-57150" algn="l" defTabSz="400050">
            <a:lnSpc>
              <a:spcPct val="90000"/>
            </a:lnSpc>
            <a:spcBef>
              <a:spcPct val="0"/>
            </a:spcBef>
            <a:spcAft>
              <a:spcPct val="15000"/>
            </a:spcAft>
            <a:buChar char="•"/>
          </a:pPr>
          <a:r>
            <a:rPr lang="zh-CN" altLang="en-US" sz="1000" b="1" kern="1200">
              <a:solidFill>
                <a:schemeClr val="bg1"/>
              </a:solidFill>
              <a:latin typeface="+mj-ea"/>
              <a:ea typeface="+mj-ea"/>
              <a:cs typeface="+mn-cs"/>
            </a:rPr>
            <a:t>优先级管理需要从战略到执行的管理。重要客户，区域，产品组的订单优先级高也不能保障其可得性。我们需要在预测中考量，并在主计划中做资源分配相当于预留（刚柔并进）。</a:t>
          </a:r>
          <a:endParaRPr lang="zh-CN" altLang="en-US" sz="1000" b="1" kern="1200" dirty="0">
            <a:solidFill>
              <a:schemeClr val="bg1"/>
            </a:solidFill>
            <a:latin typeface="+mj-ea"/>
            <a:ea typeface="+mj-ea"/>
            <a:cs typeface="+mn-cs"/>
          </a:endParaRPr>
        </a:p>
        <a:p>
          <a:pPr marL="57150" lvl="1" indent="-57150" algn="l" defTabSz="400050">
            <a:lnSpc>
              <a:spcPct val="90000"/>
            </a:lnSpc>
            <a:spcBef>
              <a:spcPct val="0"/>
            </a:spcBef>
            <a:spcAft>
              <a:spcPct val="15000"/>
            </a:spcAft>
            <a:buChar char="•"/>
          </a:pPr>
          <a:r>
            <a:rPr lang="zh-CN" altLang="en-US" sz="1000" b="1" kern="1200">
              <a:solidFill>
                <a:schemeClr val="bg1"/>
              </a:solidFill>
              <a:latin typeface="+mj-ea"/>
              <a:ea typeface="+mj-ea"/>
              <a:cs typeface="+mn-cs"/>
            </a:rPr>
            <a:t>在执行过程中即要交付又准又快有要符合战术的约束指导</a:t>
          </a:r>
          <a:endParaRPr lang="zh-CN" altLang="en-US" sz="1000" b="1" kern="1200" dirty="0">
            <a:solidFill>
              <a:schemeClr val="bg1"/>
            </a:solidFill>
            <a:latin typeface="+mj-ea"/>
            <a:ea typeface="+mj-ea"/>
            <a:cs typeface="+mn-cs"/>
          </a:endParaRPr>
        </a:p>
      </dsp:txBody>
      <dsp:txXfrm>
        <a:off x="0" y="1401396"/>
        <a:ext cx="10969200" cy="882000"/>
      </dsp:txXfrm>
    </dsp:sp>
    <dsp:sp modelId="{77CF62F0-0F67-40DC-8542-461263097C38}">
      <dsp:nvSpPr>
        <dsp:cNvPr id="0" name=""/>
        <dsp:cNvSpPr/>
      </dsp:nvSpPr>
      <dsp:spPr>
        <a:xfrm>
          <a:off x="548460" y="1283316"/>
          <a:ext cx="7678440" cy="236160"/>
        </a:xfrm>
        <a:prstGeom prst="roundRect">
          <a:avLst/>
        </a:prstGeom>
        <a:solidFill>
          <a:schemeClr val="accent1">
            <a:shade val="80000"/>
            <a:hueOff val="97514"/>
            <a:satOff val="-1898"/>
            <a:lumOff val="75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533400">
            <a:lnSpc>
              <a:spcPct val="90000"/>
            </a:lnSpc>
            <a:spcBef>
              <a:spcPct val="0"/>
            </a:spcBef>
            <a:spcAft>
              <a:spcPct val="35000"/>
            </a:spcAft>
            <a:buNone/>
          </a:pPr>
          <a:r>
            <a:rPr lang="en-US" altLang="zh-CN" sz="1400" b="1" kern="1200">
              <a:solidFill>
                <a:schemeClr val="bg1"/>
              </a:solidFill>
              <a:latin typeface="+mj-ea"/>
              <a:ea typeface="+mj-ea"/>
              <a:cs typeface="+mn-cs"/>
            </a:rPr>
            <a:t>E2E </a:t>
          </a:r>
          <a:r>
            <a:rPr lang="zh-CN" altLang="en-US" sz="1400" b="1" kern="1200">
              <a:solidFill>
                <a:schemeClr val="bg1"/>
              </a:solidFill>
              <a:latin typeface="+mj-ea"/>
              <a:ea typeface="+mj-ea"/>
              <a:cs typeface="+mn-cs"/>
            </a:rPr>
            <a:t>优先级管理</a:t>
          </a:r>
          <a:endParaRPr lang="zh-CN" altLang="en-US" sz="1400" b="1" kern="1200" dirty="0">
            <a:solidFill>
              <a:schemeClr val="bg1"/>
            </a:solidFill>
            <a:latin typeface="+mj-ea"/>
            <a:ea typeface="+mj-ea"/>
            <a:cs typeface="+mn-cs"/>
          </a:endParaRPr>
        </a:p>
      </dsp:txBody>
      <dsp:txXfrm>
        <a:off x="559988" y="1294844"/>
        <a:ext cx="7655384" cy="213104"/>
      </dsp:txXfrm>
    </dsp:sp>
    <dsp:sp modelId="{1080CE5F-0C34-40B1-B1BF-1963AF1DBE91}">
      <dsp:nvSpPr>
        <dsp:cNvPr id="0" name=""/>
        <dsp:cNvSpPr/>
      </dsp:nvSpPr>
      <dsp:spPr>
        <a:xfrm>
          <a:off x="0" y="2444676"/>
          <a:ext cx="10969200" cy="441000"/>
        </a:xfrm>
        <a:prstGeom prst="rect">
          <a:avLst/>
        </a:prstGeom>
        <a:solidFill>
          <a:schemeClr val="lt1">
            <a:alpha val="90000"/>
            <a:hueOff val="0"/>
            <a:satOff val="0"/>
            <a:lumOff val="0"/>
            <a:alphaOff val="0"/>
          </a:schemeClr>
        </a:solidFill>
        <a:ln w="12700" cap="flat" cmpd="sng" algn="ctr">
          <a:solidFill>
            <a:schemeClr val="accent1">
              <a:shade val="80000"/>
              <a:hueOff val="146271"/>
              <a:satOff val="-2847"/>
              <a:lumOff val="113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b="1" kern="1200" dirty="0">
              <a:solidFill>
                <a:schemeClr val="bg1"/>
              </a:solidFill>
              <a:latin typeface="+mj-ea"/>
              <a:ea typeface="+mj-ea"/>
              <a:cs typeface="+mn-cs"/>
            </a:rPr>
            <a:t>对产品结构、供应、资源、配置、配方、地域、产品层级、客户层级的个性化需求</a:t>
          </a:r>
        </a:p>
      </dsp:txBody>
      <dsp:txXfrm>
        <a:off x="0" y="2444676"/>
        <a:ext cx="10969200" cy="441000"/>
      </dsp:txXfrm>
    </dsp:sp>
    <dsp:sp modelId="{8B737F45-C7AA-4B15-BF57-C3BDDF01C565}">
      <dsp:nvSpPr>
        <dsp:cNvPr id="0" name=""/>
        <dsp:cNvSpPr/>
      </dsp:nvSpPr>
      <dsp:spPr>
        <a:xfrm>
          <a:off x="548460" y="2326596"/>
          <a:ext cx="7678440" cy="236160"/>
        </a:xfrm>
        <a:prstGeom prst="roundRect">
          <a:avLst/>
        </a:prstGeom>
        <a:solidFill>
          <a:schemeClr val="accent1">
            <a:shade val="80000"/>
            <a:hueOff val="146271"/>
            <a:satOff val="-2847"/>
            <a:lumOff val="113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solidFill>
                <a:schemeClr val="bg1"/>
              </a:solidFill>
              <a:latin typeface="+mj-ea"/>
              <a:ea typeface="+mj-ea"/>
              <a:cs typeface="+mn-cs"/>
            </a:rPr>
            <a:t>维度规划： </a:t>
          </a:r>
        </a:p>
      </dsp:txBody>
      <dsp:txXfrm>
        <a:off x="559988" y="2338124"/>
        <a:ext cx="7655384" cy="213104"/>
      </dsp:txXfrm>
    </dsp:sp>
    <dsp:sp modelId="{52416394-0E07-4B5C-8E03-7A7A47BAF4A6}">
      <dsp:nvSpPr>
        <dsp:cNvPr id="0" name=""/>
        <dsp:cNvSpPr/>
      </dsp:nvSpPr>
      <dsp:spPr>
        <a:xfrm>
          <a:off x="0" y="3046956"/>
          <a:ext cx="10969200" cy="642600"/>
        </a:xfrm>
        <a:prstGeom prst="rect">
          <a:avLst/>
        </a:prstGeom>
        <a:solidFill>
          <a:schemeClr val="lt1">
            <a:alpha val="90000"/>
            <a:hueOff val="0"/>
            <a:satOff val="0"/>
            <a:lumOff val="0"/>
            <a:alphaOff val="0"/>
          </a:schemeClr>
        </a:solidFill>
        <a:ln w="12700" cap="flat" cmpd="sng" algn="ctr">
          <a:solidFill>
            <a:schemeClr val="accent1">
              <a:shade val="80000"/>
              <a:hueOff val="195028"/>
              <a:satOff val="-3795"/>
              <a:lumOff val="151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b="1" i="0" kern="1200" dirty="0">
              <a:solidFill>
                <a:schemeClr val="bg1"/>
              </a:solidFill>
              <a:latin typeface="+mj-ea"/>
              <a:ea typeface="+mj-ea"/>
              <a:cs typeface="+mn-cs"/>
            </a:rPr>
            <a:t>以颠覆的模型算法智能决策，快速响应市场和供应侧变化。多层</a:t>
          </a:r>
          <a:r>
            <a:rPr lang="en-US" sz="1000" b="1" i="0" kern="1200" dirty="0">
              <a:solidFill>
                <a:schemeClr val="bg1"/>
              </a:solidFill>
              <a:latin typeface="+mj-ea"/>
              <a:ea typeface="+mj-ea"/>
              <a:cs typeface="+mn-cs"/>
            </a:rPr>
            <a:t>BOM, </a:t>
          </a:r>
          <a:r>
            <a:rPr lang="zh-CN" altLang="en-US" sz="1000" b="1" i="0" kern="1200" dirty="0">
              <a:solidFill>
                <a:schemeClr val="bg1"/>
              </a:solidFill>
              <a:latin typeface="+mj-ea"/>
              <a:ea typeface="+mj-ea"/>
              <a:cs typeface="+mn-cs"/>
            </a:rPr>
            <a:t>跨工厂寻源，多供应链网络节点和层级，众多规则，约束等复杂场景导致计划决策长达数小时甚至十几个小时才能抛出结果。</a:t>
          </a:r>
        </a:p>
      </dsp:txBody>
      <dsp:txXfrm>
        <a:off x="0" y="3046956"/>
        <a:ext cx="10969200" cy="642600"/>
      </dsp:txXfrm>
    </dsp:sp>
    <dsp:sp modelId="{7B371590-38D0-4EA2-A0EF-7AEAFA73CFD4}">
      <dsp:nvSpPr>
        <dsp:cNvPr id="0" name=""/>
        <dsp:cNvSpPr/>
      </dsp:nvSpPr>
      <dsp:spPr>
        <a:xfrm>
          <a:off x="548460" y="2928876"/>
          <a:ext cx="7678440" cy="236160"/>
        </a:xfrm>
        <a:prstGeom prst="roundRect">
          <a:avLst/>
        </a:prstGeom>
        <a:solidFill>
          <a:schemeClr val="accent1">
            <a:shade val="80000"/>
            <a:hueOff val="195028"/>
            <a:satOff val="-3795"/>
            <a:lumOff val="151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622300">
            <a:lnSpc>
              <a:spcPct val="90000"/>
            </a:lnSpc>
            <a:spcBef>
              <a:spcPct val="0"/>
            </a:spcBef>
            <a:spcAft>
              <a:spcPct val="35000"/>
            </a:spcAft>
            <a:buNone/>
          </a:pPr>
          <a:r>
            <a:rPr lang="zh-CN" altLang="en-US" sz="1400" b="1" kern="1200">
              <a:solidFill>
                <a:schemeClr val="bg1"/>
              </a:solidFill>
              <a:latin typeface="+mj-ea"/>
              <a:ea typeface="+mj-ea"/>
              <a:cs typeface="+mn-cs"/>
            </a:rPr>
            <a:t>高性能实现‘</a:t>
          </a:r>
          <a:r>
            <a:rPr lang="en-US" altLang="zh-CN" sz="1400" b="1" kern="1200">
              <a:solidFill>
                <a:schemeClr val="bg1"/>
              </a:solidFill>
              <a:latin typeface="+mj-ea"/>
              <a:ea typeface="+mj-ea"/>
              <a:cs typeface="+mn-cs"/>
            </a:rPr>
            <a:t>Concurrent Planning </a:t>
          </a:r>
          <a:r>
            <a:rPr lang="zh-CN" altLang="en-US" sz="1400" b="1" kern="1200">
              <a:solidFill>
                <a:schemeClr val="bg1"/>
              </a:solidFill>
              <a:latin typeface="+mj-ea"/>
              <a:ea typeface="+mj-ea"/>
              <a:cs typeface="+mn-cs"/>
            </a:rPr>
            <a:t>’：</a:t>
          </a:r>
          <a:endParaRPr lang="zh-CN" altLang="en-US" sz="1400" b="1" kern="1200" dirty="0">
            <a:solidFill>
              <a:schemeClr val="bg1"/>
            </a:solidFill>
            <a:latin typeface="+mj-ea"/>
            <a:ea typeface="+mj-ea"/>
            <a:cs typeface="+mn-cs"/>
          </a:endParaRPr>
        </a:p>
      </dsp:txBody>
      <dsp:txXfrm>
        <a:off x="559988" y="2940404"/>
        <a:ext cx="7655384" cy="213104"/>
      </dsp:txXfrm>
    </dsp:sp>
    <dsp:sp modelId="{9494A0A1-E57B-4B55-927A-7FD06E3FEA49}">
      <dsp:nvSpPr>
        <dsp:cNvPr id="0" name=""/>
        <dsp:cNvSpPr/>
      </dsp:nvSpPr>
      <dsp:spPr>
        <a:xfrm>
          <a:off x="0" y="3850836"/>
          <a:ext cx="10969200" cy="441000"/>
        </a:xfrm>
        <a:prstGeom prst="rect">
          <a:avLst/>
        </a:prstGeom>
        <a:solidFill>
          <a:schemeClr val="lt1">
            <a:alpha val="90000"/>
            <a:hueOff val="0"/>
            <a:satOff val="0"/>
            <a:lumOff val="0"/>
            <a:alphaOff val="0"/>
          </a:schemeClr>
        </a:solidFill>
        <a:ln w="12700" cap="flat" cmpd="sng" algn="ctr">
          <a:solidFill>
            <a:schemeClr val="accent1">
              <a:shade val="80000"/>
              <a:hueOff val="243785"/>
              <a:satOff val="-4744"/>
              <a:lumOff val="189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b="1" kern="1200">
              <a:solidFill>
                <a:schemeClr val="bg1"/>
              </a:solidFill>
              <a:latin typeface="+mj-ea"/>
              <a:ea typeface="+mj-ea"/>
              <a:cs typeface="+mn-cs"/>
            </a:rPr>
            <a:t>不完全替代，组替代，冲突依赖这些复杂的替换场景导致采购 买不对，</a:t>
          </a:r>
          <a:r>
            <a:rPr lang="en-US" sz="1000" b="1" kern="1200">
              <a:solidFill>
                <a:schemeClr val="bg1"/>
              </a:solidFill>
              <a:latin typeface="+mj-ea"/>
              <a:ea typeface="+mj-ea"/>
              <a:cs typeface="+mn-cs"/>
            </a:rPr>
            <a:t>MP/CTP/ATP</a:t>
          </a:r>
          <a:r>
            <a:rPr lang="zh-CN" altLang="en-US" sz="1000" b="1" kern="1200">
              <a:solidFill>
                <a:schemeClr val="bg1"/>
              </a:solidFill>
              <a:latin typeface="+mj-ea"/>
              <a:ea typeface="+mj-ea"/>
              <a:cs typeface="+mn-cs"/>
            </a:rPr>
            <a:t>用不对造成呆滞和短缺。</a:t>
          </a:r>
          <a:endParaRPr lang="zh-CN" altLang="en-US" sz="1000" b="1" kern="1200" dirty="0">
            <a:solidFill>
              <a:schemeClr val="bg1"/>
            </a:solidFill>
            <a:latin typeface="+mj-ea"/>
            <a:ea typeface="+mj-ea"/>
            <a:cs typeface="+mn-cs"/>
          </a:endParaRPr>
        </a:p>
      </dsp:txBody>
      <dsp:txXfrm>
        <a:off x="0" y="3850836"/>
        <a:ext cx="10969200" cy="441000"/>
      </dsp:txXfrm>
    </dsp:sp>
    <dsp:sp modelId="{DB4A4D0C-6E9E-46D9-826C-775DDF92A306}">
      <dsp:nvSpPr>
        <dsp:cNvPr id="0" name=""/>
        <dsp:cNvSpPr/>
      </dsp:nvSpPr>
      <dsp:spPr>
        <a:xfrm>
          <a:off x="548460" y="3732756"/>
          <a:ext cx="7678440" cy="236160"/>
        </a:xfrm>
        <a:prstGeom prst="roundRect">
          <a:avLst/>
        </a:prstGeom>
        <a:solidFill>
          <a:schemeClr val="accent1">
            <a:shade val="80000"/>
            <a:hueOff val="243785"/>
            <a:satOff val="-4744"/>
            <a:lumOff val="189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527" tIns="0" rIns="270527" bIns="0" numCol="1" spcCol="1270" anchor="ctr" anchorCtr="0">
          <a:noAutofit/>
        </a:bodyPr>
        <a:lstStyle/>
        <a:p>
          <a:pPr marL="0" lvl="0" indent="0" algn="l" defTabSz="533400">
            <a:lnSpc>
              <a:spcPct val="90000"/>
            </a:lnSpc>
            <a:spcBef>
              <a:spcPct val="0"/>
            </a:spcBef>
            <a:spcAft>
              <a:spcPct val="35000"/>
            </a:spcAft>
            <a:buNone/>
          </a:pPr>
          <a:r>
            <a:rPr lang="zh-CN" altLang="en-US" sz="1400" b="1" kern="1200">
              <a:solidFill>
                <a:schemeClr val="bg1"/>
              </a:solidFill>
              <a:latin typeface="+mj-ea"/>
              <a:ea typeface="+mj-ea"/>
              <a:cs typeface="+mn-cs"/>
            </a:rPr>
            <a:t>替换料： </a:t>
          </a:r>
          <a:endParaRPr lang="zh-CN" altLang="en-US" sz="1400" b="1" kern="1200" dirty="0">
            <a:solidFill>
              <a:schemeClr val="bg1"/>
            </a:solidFill>
            <a:latin typeface="+mj-ea"/>
            <a:ea typeface="+mj-ea"/>
            <a:cs typeface="+mn-cs"/>
          </a:endParaRPr>
        </a:p>
      </dsp:txBody>
      <dsp:txXfrm>
        <a:off x="559988" y="3744284"/>
        <a:ext cx="7655384" cy="213104"/>
      </dsp:txXfrm>
    </dsp:sp>
    <dsp:sp modelId="{40C8B5E6-32BC-4949-BCCB-FE92E9EAC757}">
      <dsp:nvSpPr>
        <dsp:cNvPr id="0" name=""/>
        <dsp:cNvSpPr/>
      </dsp:nvSpPr>
      <dsp:spPr>
        <a:xfrm>
          <a:off x="0" y="4453116"/>
          <a:ext cx="10969200" cy="441000"/>
        </a:xfrm>
        <a:prstGeom prst="rect">
          <a:avLst/>
        </a:prstGeom>
        <a:solidFill>
          <a:schemeClr val="lt1">
            <a:alpha val="90000"/>
            <a:hueOff val="0"/>
            <a:satOff val="0"/>
            <a:lumOff val="0"/>
            <a:alphaOff val="0"/>
          </a:schemeClr>
        </a:solidFill>
        <a:ln w="12700" cap="flat" cmpd="sng" algn="ctr">
          <a:solidFill>
            <a:schemeClr val="accent1">
              <a:shade val="80000"/>
              <a:hueOff val="292542"/>
              <a:satOff val="-5693"/>
              <a:lumOff val="227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en-US" altLang="zh-CN" sz="1000" b="1" kern="1200">
              <a:solidFill>
                <a:schemeClr val="bg1"/>
              </a:solidFill>
              <a:latin typeface="+mj-ea"/>
              <a:ea typeface="+mj-ea"/>
              <a:cs typeface="+mn-cs"/>
            </a:rPr>
            <a:t>Parts forecast</a:t>
          </a:r>
          <a:r>
            <a:rPr lang="zh-CN" altLang="en-US" sz="1000" b="1" kern="1200">
              <a:solidFill>
                <a:schemeClr val="bg1"/>
              </a:solidFill>
              <a:latin typeface="+mj-ea"/>
              <a:ea typeface="+mj-ea"/>
              <a:cs typeface="+mn-cs"/>
            </a:rPr>
            <a:t>，</a:t>
          </a:r>
          <a:r>
            <a:rPr lang="en-US" altLang="zh-CN" sz="1000" b="1" kern="1200">
              <a:solidFill>
                <a:schemeClr val="bg1"/>
              </a:solidFill>
              <a:latin typeface="+mj-ea"/>
              <a:ea typeface="+mj-ea"/>
              <a:cs typeface="+mn-cs"/>
            </a:rPr>
            <a:t>Commit, ETA, ASN</a:t>
          </a:r>
          <a:r>
            <a:rPr lang="zh-CN" altLang="en-US" sz="1000" b="1" kern="1200">
              <a:solidFill>
                <a:schemeClr val="bg1"/>
              </a:solidFill>
              <a:latin typeface="+mj-ea"/>
              <a:ea typeface="+mj-ea"/>
              <a:cs typeface="+mn-cs"/>
            </a:rPr>
            <a:t>和</a:t>
          </a:r>
          <a:r>
            <a:rPr lang="en-US" altLang="zh-CN" sz="1000" b="1" kern="1200">
              <a:solidFill>
                <a:schemeClr val="bg1"/>
              </a:solidFill>
              <a:latin typeface="+mj-ea"/>
              <a:ea typeface="+mj-ea"/>
              <a:cs typeface="+mn-cs"/>
            </a:rPr>
            <a:t>GR</a:t>
          </a:r>
          <a:r>
            <a:rPr lang="zh-CN" altLang="en-US" sz="1000" b="1" kern="1200">
              <a:solidFill>
                <a:schemeClr val="bg1"/>
              </a:solidFill>
              <a:latin typeface="+mj-ea"/>
              <a:ea typeface="+mj-ea"/>
              <a:cs typeface="+mn-cs"/>
            </a:rPr>
            <a:t>之间没有</a:t>
          </a:r>
          <a:r>
            <a:rPr lang="en-US" altLang="zh-CN" sz="1000" b="1" kern="1200">
              <a:solidFill>
                <a:schemeClr val="bg1"/>
              </a:solidFill>
              <a:latin typeface="+mj-ea"/>
              <a:ea typeface="+mj-ea"/>
              <a:cs typeface="+mn-cs"/>
            </a:rPr>
            <a:t>pegging. </a:t>
          </a:r>
          <a:r>
            <a:rPr lang="zh-CN" altLang="en-US" sz="1000" b="1" kern="1200">
              <a:solidFill>
                <a:schemeClr val="bg1"/>
              </a:solidFill>
              <a:latin typeface="+mj-ea"/>
              <a:ea typeface="+mj-ea"/>
              <a:cs typeface="+mn-cs"/>
            </a:rPr>
            <a:t>导致双方</a:t>
          </a:r>
          <a:r>
            <a:rPr lang="en-US" altLang="zh-CN" sz="1000" b="1" kern="1200">
              <a:solidFill>
                <a:schemeClr val="bg1"/>
              </a:solidFill>
              <a:latin typeface="+mj-ea"/>
              <a:ea typeface="+mj-ea"/>
              <a:cs typeface="+mn-cs"/>
            </a:rPr>
            <a:t>workload</a:t>
          </a:r>
          <a:r>
            <a:rPr lang="zh-CN" altLang="en-US" sz="1000" b="1" kern="1200">
              <a:solidFill>
                <a:schemeClr val="bg1"/>
              </a:solidFill>
              <a:latin typeface="+mj-ea"/>
              <a:ea typeface="+mj-ea"/>
              <a:cs typeface="+mn-cs"/>
            </a:rPr>
            <a:t>都很大，而且数据错误频发，供应商</a:t>
          </a:r>
          <a:r>
            <a:rPr lang="en-US" altLang="zh-CN" sz="1000" b="1" kern="1200">
              <a:solidFill>
                <a:schemeClr val="bg1"/>
              </a:solidFill>
              <a:latin typeface="+mj-ea"/>
              <a:ea typeface="+mj-ea"/>
              <a:cs typeface="+mn-cs"/>
            </a:rPr>
            <a:t>OTD</a:t>
          </a:r>
          <a:r>
            <a:rPr lang="zh-CN" altLang="en-US" sz="1000" b="1" kern="1200">
              <a:solidFill>
                <a:schemeClr val="bg1"/>
              </a:solidFill>
              <a:latin typeface="+mj-ea"/>
              <a:ea typeface="+mj-ea"/>
              <a:cs typeface="+mn-cs"/>
            </a:rPr>
            <a:t>很难提高</a:t>
          </a:r>
          <a:endParaRPr lang="zh-CN" altLang="en-US" sz="1000" b="1" kern="1200" dirty="0">
            <a:solidFill>
              <a:schemeClr val="bg1"/>
            </a:solidFill>
            <a:latin typeface="+mj-ea"/>
            <a:ea typeface="+mj-ea"/>
            <a:cs typeface="+mn-cs"/>
          </a:endParaRPr>
        </a:p>
      </dsp:txBody>
      <dsp:txXfrm>
        <a:off x="0" y="4453116"/>
        <a:ext cx="10969200" cy="441000"/>
      </dsp:txXfrm>
    </dsp:sp>
    <dsp:sp modelId="{4CC365B4-FBAC-4FD2-834D-F2E925EE6E43}">
      <dsp:nvSpPr>
        <dsp:cNvPr id="0" name=""/>
        <dsp:cNvSpPr/>
      </dsp:nvSpPr>
      <dsp:spPr>
        <a:xfrm>
          <a:off x="548460" y="4335036"/>
          <a:ext cx="7678440" cy="236160"/>
        </a:xfrm>
        <a:prstGeom prst="roundRect">
          <a:avLst/>
        </a:prstGeom>
        <a:solidFill>
          <a:schemeClr val="accent1">
            <a:shade val="80000"/>
            <a:hueOff val="292542"/>
            <a:satOff val="-5693"/>
            <a:lumOff val="227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622300">
            <a:lnSpc>
              <a:spcPct val="90000"/>
            </a:lnSpc>
            <a:spcBef>
              <a:spcPct val="0"/>
            </a:spcBef>
            <a:spcAft>
              <a:spcPct val="35000"/>
            </a:spcAft>
            <a:buNone/>
          </a:pPr>
          <a:r>
            <a:rPr lang="zh-CN" altLang="en-US" sz="1400" b="1" kern="1200">
              <a:solidFill>
                <a:schemeClr val="bg1"/>
              </a:solidFill>
              <a:latin typeface="+mj-ea"/>
              <a:ea typeface="+mj-ea"/>
              <a:cs typeface="+mn-cs"/>
            </a:rPr>
            <a:t>供应商深度协同</a:t>
          </a:r>
          <a:endParaRPr lang="zh-CN" altLang="en-US" sz="1400" b="1" kern="1200" dirty="0">
            <a:solidFill>
              <a:schemeClr val="bg1"/>
            </a:solidFill>
            <a:latin typeface="+mj-ea"/>
            <a:ea typeface="+mj-ea"/>
            <a:cs typeface="+mn-cs"/>
          </a:endParaRPr>
        </a:p>
      </dsp:txBody>
      <dsp:txXfrm>
        <a:off x="559988" y="4346564"/>
        <a:ext cx="7655384" cy="213104"/>
      </dsp:txXfrm>
    </dsp:sp>
    <dsp:sp modelId="{4D359B5E-47CB-4066-ABAE-EFC0897B592D}">
      <dsp:nvSpPr>
        <dsp:cNvPr id="0" name=""/>
        <dsp:cNvSpPr/>
      </dsp:nvSpPr>
      <dsp:spPr>
        <a:xfrm>
          <a:off x="0" y="5055395"/>
          <a:ext cx="10969200" cy="441000"/>
        </a:xfrm>
        <a:prstGeom prst="rect">
          <a:avLst/>
        </a:prstGeom>
        <a:solidFill>
          <a:schemeClr val="lt1">
            <a:alpha val="90000"/>
            <a:hueOff val="0"/>
            <a:satOff val="0"/>
            <a:lumOff val="0"/>
            <a:alphaOff val="0"/>
          </a:schemeClr>
        </a:solidFill>
        <a:ln w="12700" cap="flat" cmpd="sng" algn="ctr">
          <a:solidFill>
            <a:schemeClr val="accent1">
              <a:shade val="80000"/>
              <a:hueOff val="341299"/>
              <a:satOff val="-6642"/>
              <a:lumOff val="265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332" tIns="166624" rIns="851332"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b="1" kern="1200">
              <a:solidFill>
                <a:schemeClr val="bg1"/>
              </a:solidFill>
              <a:latin typeface="+mj-ea"/>
              <a:ea typeface="+mj-ea"/>
              <a:cs typeface="+mn-cs"/>
            </a:rPr>
            <a:t>国际领导厂商的</a:t>
          </a:r>
          <a:r>
            <a:rPr lang="en-US" altLang="zh-CN" sz="1000" b="1" kern="1200">
              <a:solidFill>
                <a:schemeClr val="bg1"/>
              </a:solidFill>
              <a:latin typeface="+mj-ea"/>
              <a:ea typeface="+mj-ea"/>
              <a:cs typeface="+mn-cs"/>
            </a:rPr>
            <a:t>Package</a:t>
          </a:r>
          <a:r>
            <a:rPr lang="zh-CN" altLang="en-US" sz="1000" b="1" kern="1200">
              <a:solidFill>
                <a:schemeClr val="bg1"/>
              </a:solidFill>
              <a:latin typeface="+mj-ea"/>
              <a:ea typeface="+mj-ea"/>
              <a:cs typeface="+mn-cs"/>
            </a:rPr>
            <a:t>软件由于架构以及二开问题造成性能以及数据问题导致</a:t>
          </a:r>
          <a:r>
            <a:rPr lang="en-US" altLang="zh-CN" sz="1000" b="1" kern="1200">
              <a:solidFill>
                <a:schemeClr val="bg1"/>
              </a:solidFill>
              <a:latin typeface="+mj-ea"/>
              <a:ea typeface="+mj-ea"/>
              <a:cs typeface="+mn-cs"/>
            </a:rPr>
            <a:t>Control Tower &amp; What-if</a:t>
          </a:r>
          <a:r>
            <a:rPr lang="zh-CN" altLang="en-US" sz="1000" b="1" kern="1200">
              <a:solidFill>
                <a:schemeClr val="bg1"/>
              </a:solidFill>
              <a:latin typeface="+mj-ea"/>
              <a:ea typeface="+mj-ea"/>
              <a:cs typeface="+mn-cs"/>
            </a:rPr>
            <a:t>成为摆设</a:t>
          </a:r>
          <a:endParaRPr lang="zh-CN" altLang="en-US" sz="1000" b="1" kern="1200" dirty="0">
            <a:solidFill>
              <a:schemeClr val="bg1"/>
            </a:solidFill>
            <a:latin typeface="+mj-ea"/>
            <a:ea typeface="+mj-ea"/>
            <a:cs typeface="+mn-cs"/>
          </a:endParaRPr>
        </a:p>
      </dsp:txBody>
      <dsp:txXfrm>
        <a:off x="0" y="5055395"/>
        <a:ext cx="10969200" cy="441000"/>
      </dsp:txXfrm>
    </dsp:sp>
    <dsp:sp modelId="{1DF51D1D-9D11-422C-B2ED-4397770A2EA6}">
      <dsp:nvSpPr>
        <dsp:cNvPr id="0" name=""/>
        <dsp:cNvSpPr/>
      </dsp:nvSpPr>
      <dsp:spPr>
        <a:xfrm>
          <a:off x="548460" y="4937316"/>
          <a:ext cx="7678440" cy="236160"/>
        </a:xfrm>
        <a:prstGeom prst="roundRect">
          <a:avLst/>
        </a:prstGeom>
        <a:solidFill>
          <a:schemeClr val="accent1">
            <a:shade val="80000"/>
            <a:hueOff val="341299"/>
            <a:satOff val="-6642"/>
            <a:lumOff val="265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27" tIns="0" rIns="290227" bIns="0" numCol="1" spcCol="1270" anchor="ctr" anchorCtr="0">
          <a:noAutofit/>
        </a:bodyPr>
        <a:lstStyle/>
        <a:p>
          <a:pPr marL="0" lvl="0" indent="0" algn="l" defTabSz="488950">
            <a:lnSpc>
              <a:spcPct val="90000"/>
            </a:lnSpc>
            <a:spcBef>
              <a:spcPct val="0"/>
            </a:spcBef>
            <a:spcAft>
              <a:spcPct val="35000"/>
            </a:spcAft>
            <a:buNone/>
          </a:pPr>
          <a:r>
            <a:rPr lang="en-US" altLang="zh-CN" sz="1400" b="1" kern="1200">
              <a:solidFill>
                <a:schemeClr val="bg1"/>
              </a:solidFill>
              <a:latin typeface="+mj-ea"/>
              <a:ea typeface="+mj-ea"/>
              <a:cs typeface="+mn-cs"/>
            </a:rPr>
            <a:t>Control Tower &amp; What-if</a:t>
          </a:r>
          <a:endParaRPr lang="zh-CN" altLang="en-US" sz="1400" b="1" kern="1200" dirty="0">
            <a:solidFill>
              <a:schemeClr val="bg1"/>
            </a:solidFill>
            <a:latin typeface="+mj-ea"/>
            <a:ea typeface="+mj-ea"/>
            <a:cs typeface="+mn-cs"/>
          </a:endParaRPr>
        </a:p>
      </dsp:txBody>
      <dsp:txXfrm>
        <a:off x="559988" y="4948844"/>
        <a:ext cx="7655384" cy="21310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06FB5-A283-4556-8F1B-9FFF64CE4AF3}">
      <dsp:nvSpPr>
        <dsp:cNvPr id="0" name=""/>
        <dsp:cNvSpPr/>
      </dsp:nvSpPr>
      <dsp:spPr>
        <a:xfrm>
          <a:off x="0" y="971"/>
          <a:ext cx="4513612" cy="41049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zh-CN" altLang="en-US" sz="1400" b="1" kern="1200"/>
            <a:t>齐套计算</a:t>
          </a:r>
        </a:p>
      </dsp:txBody>
      <dsp:txXfrm>
        <a:off x="20039" y="21010"/>
        <a:ext cx="4473534" cy="370416"/>
      </dsp:txXfrm>
    </dsp:sp>
    <dsp:sp modelId="{3FDD1272-7235-47EA-B7FD-880BFA7A13EF}">
      <dsp:nvSpPr>
        <dsp:cNvPr id="0" name=""/>
        <dsp:cNvSpPr/>
      </dsp:nvSpPr>
      <dsp:spPr>
        <a:xfrm>
          <a:off x="0" y="425119"/>
          <a:ext cx="4513612" cy="41049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t>工单用到的供应是什么？产生拉动计划。</a:t>
          </a:r>
        </a:p>
      </dsp:txBody>
      <dsp:txXfrm>
        <a:off x="20039" y="445158"/>
        <a:ext cx="4473534" cy="370416"/>
      </dsp:txXfrm>
    </dsp:sp>
    <dsp:sp modelId="{F7653806-2045-471C-9DAC-163A4F759D61}">
      <dsp:nvSpPr>
        <dsp:cNvPr id="0" name=""/>
        <dsp:cNvSpPr/>
      </dsp:nvSpPr>
      <dsp:spPr>
        <a:xfrm>
          <a:off x="0" y="849268"/>
          <a:ext cx="4513612" cy="41049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zh-CN" sz="1400" b="1" kern="1200"/>
            <a:t>交期发生变化，比对</a:t>
          </a:r>
          <a:r>
            <a:rPr lang="en-US" sz="1400" b="1" kern="1200"/>
            <a:t>Pegging</a:t>
          </a:r>
          <a:r>
            <a:rPr lang="zh-CN" sz="1400" b="1" kern="1200"/>
            <a:t>找到具体供应变化。</a:t>
          </a:r>
        </a:p>
      </dsp:txBody>
      <dsp:txXfrm>
        <a:off x="20039" y="869307"/>
        <a:ext cx="4473534" cy="370416"/>
      </dsp:txXfrm>
    </dsp:sp>
    <dsp:sp modelId="{7B3ACCA2-A27D-4C41-BD70-F09A13156137}">
      <dsp:nvSpPr>
        <dsp:cNvPr id="0" name=""/>
        <dsp:cNvSpPr/>
      </dsp:nvSpPr>
      <dsp:spPr>
        <a:xfrm>
          <a:off x="0" y="1273417"/>
          <a:ext cx="4513612" cy="41049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zh-CN" altLang="en-US" sz="1400" b="1" kern="1200"/>
            <a:t>反之，供应发生变化时，可能影响到的需求是哪些？</a:t>
          </a:r>
        </a:p>
      </dsp:txBody>
      <dsp:txXfrm>
        <a:off x="20039" y="1293456"/>
        <a:ext cx="4473534" cy="370416"/>
      </dsp:txXfrm>
    </dsp:sp>
    <dsp:sp modelId="{1C29FB8A-4715-442A-800A-F267493B6E08}">
      <dsp:nvSpPr>
        <dsp:cNvPr id="0" name=""/>
        <dsp:cNvSpPr/>
      </dsp:nvSpPr>
      <dsp:spPr>
        <a:xfrm>
          <a:off x="0" y="1697566"/>
          <a:ext cx="4513612" cy="410494"/>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zh-CN" altLang="en-US" sz="1400" b="1" kern="1200"/>
            <a:t>预分配的供应谁可以用？</a:t>
          </a:r>
        </a:p>
      </dsp:txBody>
      <dsp:txXfrm>
        <a:off x="20039" y="1717605"/>
        <a:ext cx="4473534" cy="370416"/>
      </dsp:txXfrm>
    </dsp:sp>
    <dsp:sp modelId="{4BC0DCC1-0098-42F7-BED6-8807A22CE793}">
      <dsp:nvSpPr>
        <dsp:cNvPr id="0" name=""/>
        <dsp:cNvSpPr/>
      </dsp:nvSpPr>
      <dsp:spPr>
        <a:xfrm>
          <a:off x="0" y="2121714"/>
          <a:ext cx="4513612" cy="41049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a:t>
          </a:r>
          <a:endParaRPr lang="zh-CN" sz="1400" b="1" kern="1200"/>
        </a:p>
      </dsp:txBody>
      <dsp:txXfrm>
        <a:off x="20039" y="2141753"/>
        <a:ext cx="4473534" cy="37041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9363C-27C5-4F06-9926-95BB477A85A7}">
      <dsp:nvSpPr>
        <dsp:cNvPr id="0" name=""/>
        <dsp:cNvSpPr/>
      </dsp:nvSpPr>
      <dsp:spPr>
        <a:xfrm>
          <a:off x="0" y="0"/>
          <a:ext cx="440487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7C9910-F238-4A5B-8037-91E02C36563F}">
      <dsp:nvSpPr>
        <dsp:cNvPr id="0" name=""/>
        <dsp:cNvSpPr/>
      </dsp:nvSpPr>
      <dsp:spPr>
        <a:xfrm>
          <a:off x="0" y="0"/>
          <a:ext cx="4404876" cy="298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altLang="zh-CN" sz="1000" kern="1200">
              <a:latin typeface="Arial"/>
              <a:ea typeface="微软雅黑"/>
              <a:cs typeface="+mn-cs"/>
            </a:rPr>
            <a:t>FG11</a:t>
          </a:r>
          <a:r>
            <a:rPr lang="en-US" altLang="zh-CN" sz="1000" kern="1200" dirty="0">
              <a:latin typeface="Arial"/>
              <a:ea typeface="微软雅黑"/>
              <a:cs typeface="+mn-cs"/>
            </a:rPr>
            <a:t>….n</a:t>
          </a:r>
          <a:r>
            <a:rPr lang="zh-CN" altLang="en-US" sz="1000" kern="1200" dirty="0">
              <a:latin typeface="Arial"/>
              <a:ea typeface="微软雅黑"/>
              <a:cs typeface="+mn-cs"/>
            </a:rPr>
            <a:t>即可以在</a:t>
          </a:r>
          <a:r>
            <a:rPr lang="en-US" altLang="zh-CN" sz="1000" kern="1200" dirty="0">
              <a:latin typeface="Arial"/>
              <a:ea typeface="微软雅黑"/>
              <a:cs typeface="+mn-cs"/>
            </a:rPr>
            <a:t>Line1, </a:t>
          </a:r>
          <a:r>
            <a:rPr lang="zh-CN" altLang="en-US" sz="1000" kern="1200" dirty="0">
              <a:latin typeface="Arial"/>
              <a:ea typeface="微软雅黑"/>
              <a:cs typeface="+mn-cs"/>
            </a:rPr>
            <a:t>也可以在</a:t>
          </a:r>
          <a:r>
            <a:rPr lang="en-US" altLang="zh-CN" sz="1000" kern="1200" dirty="0">
              <a:latin typeface="Arial"/>
              <a:ea typeface="微软雅黑"/>
              <a:cs typeface="+mn-cs"/>
            </a:rPr>
            <a:t>Line2</a:t>
          </a:r>
          <a:r>
            <a:rPr lang="zh-CN" altLang="en-US" sz="1000" kern="1200" dirty="0">
              <a:latin typeface="Arial"/>
              <a:ea typeface="微软雅黑"/>
              <a:cs typeface="+mn-cs"/>
            </a:rPr>
            <a:t>，还可以在</a:t>
          </a:r>
          <a:r>
            <a:rPr lang="en-US" altLang="zh-CN" sz="1000" kern="1200" dirty="0">
              <a:latin typeface="Arial"/>
              <a:ea typeface="微软雅黑"/>
              <a:cs typeface="+mn-cs"/>
            </a:rPr>
            <a:t>Line3</a:t>
          </a:r>
          <a:r>
            <a:rPr lang="zh-CN" altLang="en-US" sz="1000" kern="1200" dirty="0">
              <a:latin typeface="Arial"/>
              <a:ea typeface="微软雅黑"/>
              <a:cs typeface="+mn-cs"/>
            </a:rPr>
            <a:t>生产</a:t>
          </a:r>
        </a:p>
      </dsp:txBody>
      <dsp:txXfrm>
        <a:off x="0" y="0"/>
        <a:ext cx="4404876" cy="298516"/>
      </dsp:txXfrm>
    </dsp:sp>
    <dsp:sp modelId="{57125BE3-8BFD-4150-8807-F439B2B52AA0}">
      <dsp:nvSpPr>
        <dsp:cNvPr id="0" name=""/>
        <dsp:cNvSpPr/>
      </dsp:nvSpPr>
      <dsp:spPr>
        <a:xfrm>
          <a:off x="0" y="298516"/>
          <a:ext cx="440487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D9CB95-E1CF-4A68-887B-4BB10D1B42AA}">
      <dsp:nvSpPr>
        <dsp:cNvPr id="0" name=""/>
        <dsp:cNvSpPr/>
      </dsp:nvSpPr>
      <dsp:spPr>
        <a:xfrm>
          <a:off x="0" y="298516"/>
          <a:ext cx="4404876" cy="298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altLang="zh-CN" sz="1000" kern="1200">
              <a:latin typeface="Arial"/>
              <a:ea typeface="微软雅黑"/>
              <a:cs typeface="+mn-cs"/>
            </a:rPr>
            <a:t>FG21….m</a:t>
          </a:r>
          <a:r>
            <a:rPr lang="zh-CN" altLang="en-US" sz="1000" kern="1200">
              <a:latin typeface="Arial"/>
              <a:ea typeface="微软雅黑"/>
              <a:cs typeface="+mn-cs"/>
            </a:rPr>
            <a:t>找只能在</a:t>
          </a:r>
          <a:r>
            <a:rPr lang="en-US" altLang="zh-CN" sz="1000" kern="1200">
              <a:latin typeface="Arial"/>
              <a:ea typeface="微软雅黑"/>
              <a:cs typeface="+mn-cs"/>
            </a:rPr>
            <a:t>Line1</a:t>
          </a:r>
          <a:r>
            <a:rPr lang="zh-CN" altLang="en-US" sz="1000" kern="1200">
              <a:latin typeface="Arial"/>
              <a:ea typeface="微软雅黑"/>
              <a:cs typeface="+mn-cs"/>
            </a:rPr>
            <a:t>生产</a:t>
          </a:r>
          <a:endParaRPr lang="zh-CN" altLang="en-US" sz="1000" kern="1200" dirty="0">
            <a:latin typeface="Arial"/>
            <a:ea typeface="微软雅黑"/>
            <a:cs typeface="+mn-cs"/>
          </a:endParaRPr>
        </a:p>
      </dsp:txBody>
      <dsp:txXfrm>
        <a:off x="0" y="298516"/>
        <a:ext cx="4404876" cy="298516"/>
      </dsp:txXfrm>
    </dsp:sp>
    <dsp:sp modelId="{0D2A5AC6-AE33-41B5-9422-275B7FF4D67A}">
      <dsp:nvSpPr>
        <dsp:cNvPr id="0" name=""/>
        <dsp:cNvSpPr/>
      </dsp:nvSpPr>
      <dsp:spPr>
        <a:xfrm>
          <a:off x="0" y="597032"/>
          <a:ext cx="440487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4592BE-28FA-4A71-A9C0-EA0D68F45276}">
      <dsp:nvSpPr>
        <dsp:cNvPr id="0" name=""/>
        <dsp:cNvSpPr/>
      </dsp:nvSpPr>
      <dsp:spPr>
        <a:xfrm>
          <a:off x="0" y="597032"/>
          <a:ext cx="4404876" cy="298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zh-CN" altLang="en-US" sz="1000" kern="1200">
              <a:latin typeface="Arial"/>
              <a:ea typeface="微软雅黑"/>
              <a:cs typeface="+mn-cs"/>
            </a:rPr>
            <a:t>意味着</a:t>
          </a:r>
          <a:r>
            <a:rPr lang="en-US" altLang="zh-CN" sz="1000" kern="1200">
              <a:latin typeface="Arial"/>
              <a:ea typeface="微软雅黑"/>
              <a:cs typeface="+mn-cs"/>
            </a:rPr>
            <a:t>Line1</a:t>
          </a:r>
          <a:r>
            <a:rPr lang="zh-CN" altLang="en-US" sz="1000" kern="1200">
              <a:latin typeface="Arial"/>
              <a:ea typeface="微软雅黑"/>
              <a:cs typeface="+mn-cs"/>
            </a:rPr>
            <a:t>为</a:t>
          </a:r>
          <a:r>
            <a:rPr lang="en-US" altLang="zh-CN" sz="1000" kern="1200">
              <a:latin typeface="Arial"/>
              <a:ea typeface="微软雅黑"/>
              <a:cs typeface="+mn-cs"/>
            </a:rPr>
            <a:t>FG21…..m</a:t>
          </a:r>
          <a:r>
            <a:rPr lang="zh-CN" altLang="en-US" sz="1000" kern="1200">
              <a:latin typeface="Arial"/>
              <a:ea typeface="微软雅黑"/>
              <a:cs typeface="+mn-cs"/>
            </a:rPr>
            <a:t>的主产线</a:t>
          </a:r>
          <a:endParaRPr lang="zh-CN" altLang="en-US" sz="1000" kern="1200" dirty="0">
            <a:latin typeface="Arial"/>
            <a:ea typeface="微软雅黑"/>
            <a:cs typeface="+mn-cs"/>
          </a:endParaRPr>
        </a:p>
      </dsp:txBody>
      <dsp:txXfrm>
        <a:off x="0" y="597032"/>
        <a:ext cx="4404876" cy="298516"/>
      </dsp:txXfrm>
    </dsp:sp>
    <dsp:sp modelId="{97B3A9C3-C62D-40D3-9006-03163B81249A}">
      <dsp:nvSpPr>
        <dsp:cNvPr id="0" name=""/>
        <dsp:cNvSpPr/>
      </dsp:nvSpPr>
      <dsp:spPr>
        <a:xfrm>
          <a:off x="0" y="895548"/>
          <a:ext cx="4404876"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BEA5E4-7068-45C9-AE1D-49DCE127E788}">
      <dsp:nvSpPr>
        <dsp:cNvPr id="0" name=""/>
        <dsp:cNvSpPr/>
      </dsp:nvSpPr>
      <dsp:spPr>
        <a:xfrm>
          <a:off x="0" y="895548"/>
          <a:ext cx="4404876" cy="298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altLang="zh-CN" sz="1000" kern="1200">
              <a:latin typeface="Arial"/>
              <a:ea typeface="微软雅黑"/>
              <a:cs typeface="+mn-cs"/>
            </a:rPr>
            <a:t>Pn</a:t>
          </a:r>
          <a:r>
            <a:rPr lang="zh-CN" altLang="en-US" sz="1000" kern="1200">
              <a:latin typeface="Arial"/>
              <a:ea typeface="微软雅黑"/>
              <a:cs typeface="+mn-cs"/>
            </a:rPr>
            <a:t>代表优先顺序，数字越小，优先级越高</a:t>
          </a:r>
          <a:endParaRPr lang="zh-CN" altLang="en-US" sz="1000" kern="1200" dirty="0">
            <a:latin typeface="Arial"/>
            <a:ea typeface="微软雅黑"/>
            <a:cs typeface="+mn-cs"/>
          </a:endParaRPr>
        </a:p>
      </dsp:txBody>
      <dsp:txXfrm>
        <a:off x="0" y="895548"/>
        <a:ext cx="4404876" cy="29851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A9D16-A37F-412B-8848-2BA8C8620B8D}">
      <dsp:nvSpPr>
        <dsp:cNvPr id="0" name=""/>
        <dsp:cNvSpPr/>
      </dsp:nvSpPr>
      <dsp:spPr>
        <a:xfrm>
          <a:off x="0" y="3851303"/>
          <a:ext cx="8774489" cy="1098524"/>
        </a:xfrm>
        <a:prstGeom prst="roundRect">
          <a:avLst>
            <a:gd name="adj" fmla="val 10000"/>
          </a:avLst>
        </a:prstGeom>
        <a:solidFill>
          <a:srgbClr val="66CCFF">
            <a:alpha val="49000"/>
          </a:srgbClr>
        </a:solidFill>
        <a:ln>
          <a:solidFill>
            <a:srgbClr val="66CCFF"/>
          </a:solid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rPr>
            <a:t>Country</a:t>
          </a:r>
          <a:endParaRPr lang="zh-CN" altLang="en-US" sz="1400" kern="1200" dirty="0">
            <a:solidFill>
              <a:schemeClr val="tx1"/>
            </a:solidFill>
          </a:endParaRPr>
        </a:p>
      </dsp:txBody>
      <dsp:txXfrm>
        <a:off x="0" y="3851303"/>
        <a:ext cx="2632346" cy="1098524"/>
      </dsp:txXfrm>
    </dsp:sp>
    <dsp:sp modelId="{8FF6418E-442C-4DAD-B00A-58663C4E9585}">
      <dsp:nvSpPr>
        <dsp:cNvPr id="0" name=""/>
        <dsp:cNvSpPr/>
      </dsp:nvSpPr>
      <dsp:spPr>
        <a:xfrm>
          <a:off x="0" y="2569690"/>
          <a:ext cx="8774489" cy="1098524"/>
        </a:xfrm>
        <a:prstGeom prst="roundRect">
          <a:avLst>
            <a:gd name="adj" fmla="val 10000"/>
          </a:avLst>
        </a:prstGeom>
        <a:solidFill>
          <a:srgbClr val="66CCFF">
            <a:alpha val="36000"/>
          </a:srgbClr>
        </a:solidFill>
        <a:ln>
          <a:solidFill>
            <a:srgbClr val="66CCFF"/>
          </a:solid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rPr>
            <a:t>Sub Geo</a:t>
          </a:r>
          <a:endParaRPr lang="zh-CN" altLang="en-US" sz="1400" kern="1200" dirty="0">
            <a:solidFill>
              <a:schemeClr val="tx1"/>
            </a:solidFill>
          </a:endParaRPr>
        </a:p>
      </dsp:txBody>
      <dsp:txXfrm>
        <a:off x="0" y="2569690"/>
        <a:ext cx="2632346" cy="1098524"/>
      </dsp:txXfrm>
    </dsp:sp>
    <dsp:sp modelId="{AF84D346-2E9E-4D67-8C0D-E4590100997F}">
      <dsp:nvSpPr>
        <dsp:cNvPr id="0" name=""/>
        <dsp:cNvSpPr/>
      </dsp:nvSpPr>
      <dsp:spPr>
        <a:xfrm>
          <a:off x="0" y="1287210"/>
          <a:ext cx="8774489" cy="1098524"/>
        </a:xfrm>
        <a:prstGeom prst="roundRect">
          <a:avLst>
            <a:gd name="adj" fmla="val 10000"/>
          </a:avLst>
        </a:prstGeom>
        <a:solidFill>
          <a:srgbClr val="66CCFF">
            <a:alpha val="47000"/>
          </a:srgb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rPr>
            <a:t>GEO</a:t>
          </a:r>
          <a:endParaRPr lang="zh-CN" altLang="en-US" sz="1400" kern="1200" dirty="0">
            <a:solidFill>
              <a:schemeClr val="tx1"/>
            </a:solidFill>
          </a:endParaRPr>
        </a:p>
      </dsp:txBody>
      <dsp:txXfrm>
        <a:off x="0" y="1287210"/>
        <a:ext cx="2632346" cy="1098524"/>
      </dsp:txXfrm>
    </dsp:sp>
    <dsp:sp modelId="{3D18F286-2C89-4245-B18B-6606506E31C3}">
      <dsp:nvSpPr>
        <dsp:cNvPr id="0" name=""/>
        <dsp:cNvSpPr/>
      </dsp:nvSpPr>
      <dsp:spPr>
        <a:xfrm>
          <a:off x="0" y="0"/>
          <a:ext cx="8774489" cy="1098524"/>
        </a:xfrm>
        <a:prstGeom prst="roundRect">
          <a:avLst>
            <a:gd name="adj" fmla="val 10000"/>
          </a:avLst>
        </a:prstGeom>
        <a:solidFill>
          <a:srgbClr val="92D050">
            <a:alpha val="40000"/>
          </a:srgb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rPr>
            <a:t>Supply</a:t>
          </a:r>
          <a:r>
            <a:rPr lang="en-US" altLang="zh-CN" sz="1400" kern="1200" dirty="0"/>
            <a:t> </a:t>
          </a:r>
          <a:endParaRPr lang="zh-CN" altLang="en-US" sz="1400" kern="1200" dirty="0"/>
        </a:p>
      </dsp:txBody>
      <dsp:txXfrm>
        <a:off x="0" y="0"/>
        <a:ext cx="2632346" cy="1098524"/>
      </dsp:txXfrm>
    </dsp:sp>
    <dsp:sp modelId="{C6491B2D-18D5-4987-AC42-F1A925C67CEF}">
      <dsp:nvSpPr>
        <dsp:cNvPr id="0" name=""/>
        <dsp:cNvSpPr/>
      </dsp:nvSpPr>
      <dsp:spPr>
        <a:xfrm>
          <a:off x="4439605" y="98009"/>
          <a:ext cx="1373156" cy="915437"/>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zh-CN" sz="1400" b="1" kern="1200" dirty="0"/>
            <a:t>B</a:t>
          </a:r>
        </a:p>
        <a:p>
          <a:pPr marL="0" lvl="0" indent="0" algn="ctr" defTabSz="622300">
            <a:lnSpc>
              <a:spcPct val="90000"/>
            </a:lnSpc>
            <a:spcBef>
              <a:spcPct val="0"/>
            </a:spcBef>
            <a:spcAft>
              <a:spcPct val="35000"/>
            </a:spcAft>
            <a:buNone/>
          </a:pPr>
          <a:r>
            <a:rPr lang="en-US" altLang="zh-CN" sz="1400" kern="1200" dirty="0"/>
            <a:t>1700</a:t>
          </a:r>
        </a:p>
        <a:p>
          <a:pPr marL="0" lvl="0" indent="0" algn="ctr" defTabSz="622300">
            <a:lnSpc>
              <a:spcPct val="90000"/>
            </a:lnSpc>
            <a:spcBef>
              <a:spcPct val="0"/>
            </a:spcBef>
            <a:spcAft>
              <a:spcPct val="35000"/>
            </a:spcAft>
            <a:buNone/>
          </a:pPr>
          <a:endParaRPr lang="zh-CN" altLang="en-US" sz="1400" kern="1200" dirty="0"/>
        </a:p>
      </dsp:txBody>
      <dsp:txXfrm>
        <a:off x="4466417" y="124821"/>
        <a:ext cx="1319532" cy="861813"/>
      </dsp:txXfrm>
    </dsp:sp>
    <dsp:sp modelId="{785074C2-7E9E-4DDC-BC73-57D9F69DD483}">
      <dsp:nvSpPr>
        <dsp:cNvPr id="0" name=""/>
        <dsp:cNvSpPr/>
      </dsp:nvSpPr>
      <dsp:spPr>
        <a:xfrm>
          <a:off x="4091545" y="1013447"/>
          <a:ext cx="1034638" cy="366174"/>
        </a:xfrm>
        <a:custGeom>
          <a:avLst/>
          <a:gdLst/>
          <a:ahLst/>
          <a:cxnLst/>
          <a:rect l="0" t="0" r="0" b="0"/>
          <a:pathLst>
            <a:path>
              <a:moveTo>
                <a:pt x="1034638" y="0"/>
              </a:moveTo>
              <a:lnTo>
                <a:pt x="1034638" y="183087"/>
              </a:lnTo>
              <a:lnTo>
                <a:pt x="0" y="183087"/>
              </a:lnTo>
              <a:lnTo>
                <a:pt x="0" y="3661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EB33F5-047A-41C9-9799-4A393326DF47}">
      <dsp:nvSpPr>
        <dsp:cNvPr id="0" name=""/>
        <dsp:cNvSpPr/>
      </dsp:nvSpPr>
      <dsp:spPr>
        <a:xfrm>
          <a:off x="3404967" y="1379622"/>
          <a:ext cx="1373156"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altLang="zh-CN" sz="900" kern="1200" dirty="0"/>
        </a:p>
      </dsp:txBody>
      <dsp:txXfrm>
        <a:off x="3431779" y="1406434"/>
        <a:ext cx="1319532" cy="861813"/>
      </dsp:txXfrm>
    </dsp:sp>
    <dsp:sp modelId="{BD697B42-0F82-488C-969E-26DE5618A213}">
      <dsp:nvSpPr>
        <dsp:cNvPr id="0" name=""/>
        <dsp:cNvSpPr/>
      </dsp:nvSpPr>
      <dsp:spPr>
        <a:xfrm>
          <a:off x="5126183" y="1013447"/>
          <a:ext cx="892551" cy="366174"/>
        </a:xfrm>
        <a:custGeom>
          <a:avLst/>
          <a:gdLst/>
          <a:ahLst/>
          <a:cxnLst/>
          <a:rect l="0" t="0" r="0" b="0"/>
          <a:pathLst>
            <a:path>
              <a:moveTo>
                <a:pt x="0" y="0"/>
              </a:moveTo>
              <a:lnTo>
                <a:pt x="0" y="183087"/>
              </a:lnTo>
              <a:lnTo>
                <a:pt x="892551" y="183087"/>
              </a:lnTo>
              <a:lnTo>
                <a:pt x="892551" y="3661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F1AD1B-5FF7-408C-AA4A-D07FBA0A505B}">
      <dsp:nvSpPr>
        <dsp:cNvPr id="0" name=""/>
        <dsp:cNvSpPr/>
      </dsp:nvSpPr>
      <dsp:spPr>
        <a:xfrm>
          <a:off x="5190070" y="1379622"/>
          <a:ext cx="1657330"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altLang="zh-CN" sz="1200" kern="1200" dirty="0"/>
        </a:p>
      </dsp:txBody>
      <dsp:txXfrm>
        <a:off x="5216882" y="1406434"/>
        <a:ext cx="1603706" cy="861813"/>
      </dsp:txXfrm>
    </dsp:sp>
    <dsp:sp modelId="{275EA44C-144E-4EE9-A87E-6256071EA0D0}">
      <dsp:nvSpPr>
        <dsp:cNvPr id="0" name=""/>
        <dsp:cNvSpPr/>
      </dsp:nvSpPr>
      <dsp:spPr>
        <a:xfrm>
          <a:off x="5126183" y="2295059"/>
          <a:ext cx="892551" cy="366174"/>
        </a:xfrm>
        <a:custGeom>
          <a:avLst/>
          <a:gdLst/>
          <a:ahLst/>
          <a:cxnLst/>
          <a:rect l="0" t="0" r="0" b="0"/>
          <a:pathLst>
            <a:path>
              <a:moveTo>
                <a:pt x="892551" y="0"/>
              </a:moveTo>
              <a:lnTo>
                <a:pt x="892551" y="183087"/>
              </a:lnTo>
              <a:lnTo>
                <a:pt x="0" y="183087"/>
              </a:lnTo>
              <a:lnTo>
                <a:pt x="0" y="366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CCD814-F660-484A-B42B-A72A7B6108DB}">
      <dsp:nvSpPr>
        <dsp:cNvPr id="0" name=""/>
        <dsp:cNvSpPr/>
      </dsp:nvSpPr>
      <dsp:spPr>
        <a:xfrm>
          <a:off x="4211092" y="2661234"/>
          <a:ext cx="1830183"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p>
      </dsp:txBody>
      <dsp:txXfrm>
        <a:off x="4237904" y="2688046"/>
        <a:ext cx="1776559" cy="861813"/>
      </dsp:txXfrm>
    </dsp:sp>
    <dsp:sp modelId="{E5D4E8C9-A646-4863-91C0-06A1F1E7ADB8}">
      <dsp:nvSpPr>
        <dsp:cNvPr id="0" name=""/>
        <dsp:cNvSpPr/>
      </dsp:nvSpPr>
      <dsp:spPr>
        <a:xfrm>
          <a:off x="4233632" y="3576671"/>
          <a:ext cx="892551" cy="366174"/>
        </a:xfrm>
        <a:custGeom>
          <a:avLst/>
          <a:gdLst/>
          <a:ahLst/>
          <a:cxnLst/>
          <a:rect l="0" t="0" r="0" b="0"/>
          <a:pathLst>
            <a:path>
              <a:moveTo>
                <a:pt x="892551" y="0"/>
              </a:moveTo>
              <a:lnTo>
                <a:pt x="892551" y="183087"/>
              </a:lnTo>
              <a:lnTo>
                <a:pt x="0" y="183087"/>
              </a:lnTo>
              <a:lnTo>
                <a:pt x="0" y="366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2674DA-7E17-4192-A26D-0EDCA57C9CAD}">
      <dsp:nvSpPr>
        <dsp:cNvPr id="0" name=""/>
        <dsp:cNvSpPr/>
      </dsp:nvSpPr>
      <dsp:spPr>
        <a:xfrm>
          <a:off x="3547054" y="3942846"/>
          <a:ext cx="1373156"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p>
      </dsp:txBody>
      <dsp:txXfrm>
        <a:off x="3573866" y="3969658"/>
        <a:ext cx="1319532" cy="861813"/>
      </dsp:txXfrm>
    </dsp:sp>
    <dsp:sp modelId="{EF960BC0-805C-4333-B930-34B153C16B3E}">
      <dsp:nvSpPr>
        <dsp:cNvPr id="0" name=""/>
        <dsp:cNvSpPr/>
      </dsp:nvSpPr>
      <dsp:spPr>
        <a:xfrm>
          <a:off x="5126183" y="3576671"/>
          <a:ext cx="892551" cy="366174"/>
        </a:xfrm>
        <a:custGeom>
          <a:avLst/>
          <a:gdLst/>
          <a:ahLst/>
          <a:cxnLst/>
          <a:rect l="0" t="0" r="0" b="0"/>
          <a:pathLst>
            <a:path>
              <a:moveTo>
                <a:pt x="0" y="0"/>
              </a:moveTo>
              <a:lnTo>
                <a:pt x="0" y="183087"/>
              </a:lnTo>
              <a:lnTo>
                <a:pt x="892551" y="183087"/>
              </a:lnTo>
              <a:lnTo>
                <a:pt x="892551" y="366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C5DB2-4563-4534-96E0-0BEAAEFAD264}">
      <dsp:nvSpPr>
        <dsp:cNvPr id="0" name=""/>
        <dsp:cNvSpPr/>
      </dsp:nvSpPr>
      <dsp:spPr>
        <a:xfrm>
          <a:off x="5332157" y="3942846"/>
          <a:ext cx="1373156"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p>
      </dsp:txBody>
      <dsp:txXfrm>
        <a:off x="5358969" y="3969658"/>
        <a:ext cx="1319532" cy="861813"/>
      </dsp:txXfrm>
    </dsp:sp>
    <dsp:sp modelId="{FC833476-0A14-40A1-864B-51496970A322}">
      <dsp:nvSpPr>
        <dsp:cNvPr id="0" name=""/>
        <dsp:cNvSpPr/>
      </dsp:nvSpPr>
      <dsp:spPr>
        <a:xfrm>
          <a:off x="6018735" y="2295059"/>
          <a:ext cx="1121065" cy="366174"/>
        </a:xfrm>
        <a:custGeom>
          <a:avLst/>
          <a:gdLst/>
          <a:ahLst/>
          <a:cxnLst/>
          <a:rect l="0" t="0" r="0" b="0"/>
          <a:pathLst>
            <a:path>
              <a:moveTo>
                <a:pt x="0" y="0"/>
              </a:moveTo>
              <a:lnTo>
                <a:pt x="0" y="183087"/>
              </a:lnTo>
              <a:lnTo>
                <a:pt x="1121065" y="183087"/>
              </a:lnTo>
              <a:lnTo>
                <a:pt x="1121065" y="366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CC15E8-B0D0-4E14-A0EF-D2A4277916A8}">
      <dsp:nvSpPr>
        <dsp:cNvPr id="0" name=""/>
        <dsp:cNvSpPr/>
      </dsp:nvSpPr>
      <dsp:spPr>
        <a:xfrm>
          <a:off x="6453222" y="2661234"/>
          <a:ext cx="1373156" cy="915437"/>
        </a:xfrm>
        <a:prstGeom prst="roundRect">
          <a:avLst>
            <a:gd name="adj" fmla="val 10000"/>
          </a:avLst>
        </a:prstGeom>
        <a:solidFill>
          <a:srgbClr val="4D88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p>
      </dsp:txBody>
      <dsp:txXfrm>
        <a:off x="6480034" y="2688046"/>
        <a:ext cx="1319532" cy="86181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69150-6793-4F90-A470-23873677C186}">
      <dsp:nvSpPr>
        <dsp:cNvPr id="0" name=""/>
        <dsp:cNvSpPr/>
      </dsp:nvSpPr>
      <dsp:spPr>
        <a:xfrm>
          <a:off x="1481025" y="978442"/>
          <a:ext cx="2774974" cy="1850908"/>
        </a:xfrm>
        <a:prstGeom prst="rect">
          <a:avLst/>
        </a:prstGeom>
        <a:solidFill>
          <a:schemeClr val="lt1">
            <a:alpha val="90000"/>
            <a:tint val="4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t" anchorCtr="0">
          <a:noAutofit/>
        </a:bodyPr>
        <a:lstStyle/>
        <a:p>
          <a:pPr marL="0" lvl="0" indent="0" algn="l" defTabSz="711200">
            <a:lnSpc>
              <a:spcPct val="90000"/>
            </a:lnSpc>
            <a:spcBef>
              <a:spcPct val="0"/>
            </a:spcBef>
            <a:spcAft>
              <a:spcPct val="35000"/>
            </a:spcAft>
            <a:buNone/>
          </a:pPr>
          <a:r>
            <a:rPr lang="en-US" sz="1600" b="1" kern="1200" baseline="0" dirty="0">
              <a:latin typeface="+mn-ea"/>
              <a:ea typeface="+mn-ea"/>
            </a:rPr>
            <a:t>Allocation:</a:t>
          </a:r>
          <a:endParaRPr lang="zh-CN" sz="1600" b="1" kern="1200" dirty="0">
            <a:latin typeface="+mn-ea"/>
            <a:ea typeface="+mn-ea"/>
          </a:endParaRPr>
        </a:p>
        <a:p>
          <a:pPr marL="114300" lvl="1" indent="-114300" algn="l" defTabSz="533400">
            <a:lnSpc>
              <a:spcPct val="90000"/>
            </a:lnSpc>
            <a:spcBef>
              <a:spcPct val="0"/>
            </a:spcBef>
            <a:spcAft>
              <a:spcPct val="15000"/>
            </a:spcAft>
            <a:buChar char="•"/>
          </a:pPr>
          <a:r>
            <a:rPr lang="en-US" sz="1200" b="1" kern="1200" baseline="0" dirty="0">
              <a:latin typeface="+mn-ea"/>
              <a:ea typeface="+mn-ea"/>
            </a:rPr>
            <a:t>Assign items to specific orders but still in inventory </a:t>
          </a:r>
          <a:endParaRPr lang="zh-CN" sz="1200" b="1" kern="1200" dirty="0">
            <a:latin typeface="+mn-ea"/>
            <a:ea typeface="+mn-ea"/>
          </a:endParaRPr>
        </a:p>
        <a:p>
          <a:pPr marL="114300" lvl="1" indent="-114300" algn="l" defTabSz="533400">
            <a:lnSpc>
              <a:spcPct val="90000"/>
            </a:lnSpc>
            <a:spcBef>
              <a:spcPct val="0"/>
            </a:spcBef>
            <a:spcAft>
              <a:spcPct val="15000"/>
            </a:spcAft>
            <a:buChar char="•"/>
          </a:pPr>
          <a:r>
            <a:rPr lang="en-US" sz="1200" b="1" kern="1200" baseline="0" dirty="0">
              <a:latin typeface="+mn-ea"/>
              <a:ea typeface="+mn-ea"/>
            </a:rPr>
            <a:t>Process to distribute materials in short supply </a:t>
          </a:r>
          <a:endParaRPr lang="zh-CN" sz="1200" b="1" kern="1200" dirty="0">
            <a:latin typeface="+mn-ea"/>
            <a:ea typeface="+mn-ea"/>
          </a:endParaRPr>
        </a:p>
      </dsp:txBody>
      <dsp:txXfrm>
        <a:off x="1925021" y="978442"/>
        <a:ext cx="2330978" cy="1850908"/>
      </dsp:txXfrm>
    </dsp:sp>
    <dsp:sp modelId="{582FC5B0-ABC0-497D-B4D4-E37459034AEA}">
      <dsp:nvSpPr>
        <dsp:cNvPr id="0" name=""/>
        <dsp:cNvSpPr/>
      </dsp:nvSpPr>
      <dsp:spPr>
        <a:xfrm>
          <a:off x="1039" y="238449"/>
          <a:ext cx="1849983" cy="1849983"/>
        </a:xfrm>
        <a:prstGeom prst="ellipse">
          <a:avLst/>
        </a:prstGeom>
        <a:solidFill>
          <a:srgbClr val="2B11AF"/>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baseline="0">
              <a:solidFill>
                <a:schemeClr val="tx1"/>
              </a:solidFill>
              <a:latin typeface="+mn-ea"/>
              <a:ea typeface="+mn-ea"/>
            </a:rPr>
            <a:t>Supply-Demand Strategies</a:t>
          </a:r>
          <a:endParaRPr lang="zh-CN" sz="1600" b="1" kern="1200">
            <a:solidFill>
              <a:schemeClr val="tx1"/>
            </a:solidFill>
            <a:latin typeface="+mn-ea"/>
            <a:ea typeface="+mn-ea"/>
          </a:endParaRPr>
        </a:p>
      </dsp:txBody>
      <dsp:txXfrm>
        <a:off x="271963" y="509373"/>
        <a:ext cx="1308135" cy="130813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F70C3-D30C-4C35-AF64-F9673D200FC0}">
      <dsp:nvSpPr>
        <dsp:cNvPr id="0" name=""/>
        <dsp:cNvSpPr/>
      </dsp:nvSpPr>
      <dsp:spPr>
        <a:xfrm>
          <a:off x="0" y="52244"/>
          <a:ext cx="3338132" cy="341055"/>
        </a:xfrm>
        <a:prstGeom prst="round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sz="1100" b="1" kern="1200" dirty="0"/>
            <a:t>多层</a:t>
          </a:r>
          <a:r>
            <a:rPr lang="en-US" sz="1100" b="1" kern="1200" dirty="0"/>
            <a:t>BOM/</a:t>
          </a:r>
          <a:r>
            <a:rPr lang="zh-CN" sz="1100" b="1" kern="1200" dirty="0"/>
            <a:t>供应链网络模型</a:t>
          </a:r>
          <a:endParaRPr lang="zh-CN" sz="1100" kern="1200" dirty="0"/>
        </a:p>
      </dsp:txBody>
      <dsp:txXfrm>
        <a:off x="16649" y="68893"/>
        <a:ext cx="3304834" cy="307757"/>
      </dsp:txXfrm>
    </dsp:sp>
    <dsp:sp modelId="{CD247634-9554-498C-BE37-91212D2A3B0F}">
      <dsp:nvSpPr>
        <dsp:cNvPr id="0" name=""/>
        <dsp:cNvSpPr/>
      </dsp:nvSpPr>
      <dsp:spPr>
        <a:xfrm>
          <a:off x="0" y="42497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约束规划模型</a:t>
          </a:r>
          <a:endParaRPr lang="zh-CN" altLang="en-US" sz="1100" kern="1200"/>
        </a:p>
      </dsp:txBody>
      <dsp:txXfrm>
        <a:off x="16649" y="441628"/>
        <a:ext cx="3304834" cy="307757"/>
      </dsp:txXfrm>
    </dsp:sp>
    <dsp:sp modelId="{A038F8F5-77A0-47AD-A897-0B0CD8D289E4}">
      <dsp:nvSpPr>
        <dsp:cNvPr id="0" name=""/>
        <dsp:cNvSpPr/>
      </dsp:nvSpPr>
      <dsp:spPr>
        <a:xfrm>
          <a:off x="0" y="79771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dirty="0"/>
            <a:t>资源优化（交付又准又快）</a:t>
          </a:r>
          <a:endParaRPr lang="zh-CN" altLang="en-US" sz="1100" kern="1200" dirty="0"/>
        </a:p>
      </dsp:txBody>
      <dsp:txXfrm>
        <a:off x="16649" y="814363"/>
        <a:ext cx="3304834" cy="307757"/>
      </dsp:txXfrm>
    </dsp:sp>
    <dsp:sp modelId="{BE7D2233-A841-42D2-8E7C-77114253376E}">
      <dsp:nvSpPr>
        <dsp:cNvPr id="0" name=""/>
        <dsp:cNvSpPr/>
      </dsp:nvSpPr>
      <dsp:spPr>
        <a:xfrm>
          <a:off x="0" y="117044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并行规划</a:t>
          </a:r>
          <a:endParaRPr lang="zh-CN" altLang="en-US" sz="1100" kern="1200"/>
        </a:p>
      </dsp:txBody>
      <dsp:txXfrm>
        <a:off x="16649" y="1187098"/>
        <a:ext cx="3304834" cy="307757"/>
      </dsp:txXfrm>
    </dsp:sp>
    <dsp:sp modelId="{9872B357-9E6A-4568-8B9A-296932A2DF5E}">
      <dsp:nvSpPr>
        <dsp:cNvPr id="0" name=""/>
        <dsp:cNvSpPr/>
      </dsp:nvSpPr>
      <dsp:spPr>
        <a:xfrm>
          <a:off x="0" y="154318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维度规划（特配）</a:t>
          </a:r>
          <a:endParaRPr lang="zh-CN" altLang="en-US" sz="1100" kern="1200"/>
        </a:p>
      </dsp:txBody>
      <dsp:txXfrm>
        <a:off x="16649" y="1559833"/>
        <a:ext cx="3304834" cy="307757"/>
      </dsp:txXfrm>
    </dsp:sp>
    <dsp:sp modelId="{D7CAAEFE-D108-4985-ABF9-F1F4464C8C49}">
      <dsp:nvSpPr>
        <dsp:cNvPr id="0" name=""/>
        <dsp:cNvSpPr/>
      </dsp:nvSpPr>
      <dsp:spPr>
        <a:xfrm>
          <a:off x="0" y="191591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t>Netting</a:t>
          </a:r>
          <a:r>
            <a:rPr lang="zh-CN" sz="1100" b="1" kern="1200"/>
            <a:t> 不受层级影响</a:t>
          </a:r>
          <a:endParaRPr lang="zh-CN" sz="1100" kern="1200"/>
        </a:p>
      </dsp:txBody>
      <dsp:txXfrm>
        <a:off x="16649" y="1932568"/>
        <a:ext cx="3304834" cy="307757"/>
      </dsp:txXfrm>
    </dsp:sp>
    <dsp:sp modelId="{FA03B592-C149-463E-B120-D7C8486E4AD3}">
      <dsp:nvSpPr>
        <dsp:cNvPr id="0" name=""/>
        <dsp:cNvSpPr/>
      </dsp:nvSpPr>
      <dsp:spPr>
        <a:xfrm>
          <a:off x="0" y="228865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替代</a:t>
          </a:r>
          <a:endParaRPr lang="zh-CN" altLang="en-US" sz="1100" kern="1200"/>
        </a:p>
      </dsp:txBody>
      <dsp:txXfrm>
        <a:off x="16649" y="2305303"/>
        <a:ext cx="3304834" cy="307757"/>
      </dsp:txXfrm>
    </dsp:sp>
    <dsp:sp modelId="{B9F99895-A011-4114-BC43-30F9E3794FF1}">
      <dsp:nvSpPr>
        <dsp:cNvPr id="0" name=""/>
        <dsp:cNvSpPr/>
      </dsp:nvSpPr>
      <dsp:spPr>
        <a:xfrm>
          <a:off x="0" y="266138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替换</a:t>
          </a:r>
          <a:endParaRPr lang="zh-CN" altLang="en-US" sz="1100" kern="1200"/>
        </a:p>
      </dsp:txBody>
      <dsp:txXfrm>
        <a:off x="16649" y="2678038"/>
        <a:ext cx="3304834" cy="307757"/>
      </dsp:txXfrm>
    </dsp:sp>
    <dsp:sp modelId="{FFC7B5E4-9DAC-4261-9693-C89053EE518C}">
      <dsp:nvSpPr>
        <dsp:cNvPr id="0" name=""/>
        <dsp:cNvSpPr/>
      </dsp:nvSpPr>
      <dsp:spPr>
        <a:xfrm>
          <a:off x="0" y="303412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轮式生产</a:t>
          </a:r>
          <a:endParaRPr lang="zh-CN" altLang="en-US" sz="1100" kern="1200"/>
        </a:p>
      </dsp:txBody>
      <dsp:txXfrm>
        <a:off x="16649" y="3050773"/>
        <a:ext cx="3304834" cy="307757"/>
      </dsp:txXfrm>
    </dsp:sp>
    <dsp:sp modelId="{D0A147BF-A3B2-45D4-AF88-EC6C04DC3738}">
      <dsp:nvSpPr>
        <dsp:cNvPr id="0" name=""/>
        <dsp:cNvSpPr/>
      </dsp:nvSpPr>
      <dsp:spPr>
        <a:xfrm>
          <a:off x="0" y="340685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活动规划</a:t>
          </a:r>
          <a:endParaRPr lang="zh-CN" altLang="en-US" sz="1100" kern="1200"/>
        </a:p>
      </dsp:txBody>
      <dsp:txXfrm>
        <a:off x="16649" y="3423508"/>
        <a:ext cx="3304834" cy="307757"/>
      </dsp:txXfrm>
    </dsp:sp>
    <dsp:sp modelId="{1F3D5E55-9788-49DA-8B3D-5E0B7C0EE016}">
      <dsp:nvSpPr>
        <dsp:cNvPr id="0" name=""/>
        <dsp:cNvSpPr/>
      </dsp:nvSpPr>
      <dsp:spPr>
        <a:xfrm>
          <a:off x="0" y="377959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统计预测</a:t>
          </a:r>
          <a:endParaRPr lang="zh-CN" altLang="en-US" sz="1100" kern="1200"/>
        </a:p>
      </dsp:txBody>
      <dsp:txXfrm>
        <a:off x="16649" y="3796243"/>
        <a:ext cx="3304834" cy="307757"/>
      </dsp:txXfrm>
    </dsp:sp>
    <dsp:sp modelId="{B3B84285-1A83-481E-AB88-DA5E7C4CA469}">
      <dsp:nvSpPr>
        <dsp:cNvPr id="0" name=""/>
        <dsp:cNvSpPr/>
      </dsp:nvSpPr>
      <dsp:spPr>
        <a:xfrm>
          <a:off x="0" y="415232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zh-CN" altLang="en-US" sz="1100" b="1" kern="1200"/>
            <a:t>事件管理</a:t>
          </a:r>
          <a:endParaRPr lang="zh-CN" altLang="en-US" sz="1100" kern="1200"/>
        </a:p>
      </dsp:txBody>
      <dsp:txXfrm>
        <a:off x="16649" y="4168978"/>
        <a:ext cx="3304834" cy="307757"/>
      </dsp:txXfrm>
    </dsp:sp>
    <dsp:sp modelId="{190919D8-2780-4432-80EA-D95112C44AD1}">
      <dsp:nvSpPr>
        <dsp:cNvPr id="0" name=""/>
        <dsp:cNvSpPr/>
      </dsp:nvSpPr>
      <dsp:spPr>
        <a:xfrm>
          <a:off x="0" y="4525064"/>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t>IPO</a:t>
          </a:r>
          <a:endParaRPr lang="zh-CN" sz="1100" kern="1200"/>
        </a:p>
      </dsp:txBody>
      <dsp:txXfrm>
        <a:off x="16649" y="4541713"/>
        <a:ext cx="3304834" cy="307757"/>
      </dsp:txXfrm>
    </dsp:sp>
    <dsp:sp modelId="{C9B91EF6-1B4F-4951-BBF5-73A5E9CCCB99}">
      <dsp:nvSpPr>
        <dsp:cNvPr id="0" name=""/>
        <dsp:cNvSpPr/>
      </dsp:nvSpPr>
      <dsp:spPr>
        <a:xfrm>
          <a:off x="0" y="4897799"/>
          <a:ext cx="3338132" cy="3410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t>……..</a:t>
          </a:r>
          <a:endParaRPr lang="zh-CN" sz="1100" kern="1200"/>
        </a:p>
      </dsp:txBody>
      <dsp:txXfrm>
        <a:off x="16649" y="4914448"/>
        <a:ext cx="3304834" cy="30775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8D0FD7-D5EF-40AF-BAEF-171B21B562C8}">
      <dsp:nvSpPr>
        <dsp:cNvPr id="0" name=""/>
        <dsp:cNvSpPr/>
      </dsp:nvSpPr>
      <dsp:spPr>
        <a:xfrm>
          <a:off x="78385" y="78456"/>
          <a:ext cx="7061068" cy="85469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en-US" sz="1200" b="1" kern="1200" dirty="0">
              <a:latin typeface="+mn-ea"/>
              <a:ea typeface="+mn-ea"/>
            </a:rPr>
            <a:t>步骤一</a:t>
          </a:r>
          <a:r>
            <a:rPr lang="zh-CN" sz="1200" b="1" kern="1200" dirty="0">
              <a:latin typeface="+mn-ea"/>
              <a:ea typeface="+mn-ea"/>
            </a:rPr>
            <a:t>：</a:t>
          </a:r>
          <a:r>
            <a:rPr lang="en-US" sz="1200" b="1" kern="1200" dirty="0">
              <a:latin typeface="+mn-ea"/>
              <a:ea typeface="+mn-ea"/>
            </a:rPr>
            <a:t>Allotment Qty</a:t>
          </a:r>
          <a:r>
            <a:rPr lang="zh-CN" sz="1200" b="1" kern="1200" dirty="0">
              <a:latin typeface="+mn-ea"/>
              <a:ea typeface="+mn-ea"/>
            </a:rPr>
            <a:t>为配额，</a:t>
          </a:r>
          <a:r>
            <a:rPr lang="en-US" sz="1200" b="1" kern="1200" dirty="0">
              <a:latin typeface="+mn-ea"/>
              <a:ea typeface="+mn-ea"/>
            </a:rPr>
            <a:t>MRP Netting</a:t>
          </a:r>
          <a:r>
            <a:rPr lang="zh-CN" sz="1200" b="1" kern="1200" dirty="0">
              <a:latin typeface="+mn-ea"/>
              <a:ea typeface="+mn-ea"/>
            </a:rPr>
            <a:t>不能超配额，产生</a:t>
          </a:r>
          <a:r>
            <a:rPr lang="en-US" sz="1200" b="1" kern="1200" dirty="0">
              <a:latin typeface="+mn-ea"/>
              <a:ea typeface="+mn-ea"/>
            </a:rPr>
            <a:t>Short</a:t>
          </a:r>
          <a:r>
            <a:rPr lang="zh-CN" sz="1200" b="1" kern="1200" dirty="0">
              <a:latin typeface="+mn-ea"/>
              <a:ea typeface="+mn-ea"/>
            </a:rPr>
            <a:t>和</a:t>
          </a:r>
          <a:r>
            <a:rPr lang="en-US" sz="1200" b="1" kern="1200" dirty="0">
              <a:latin typeface="+mn-ea"/>
              <a:ea typeface="+mn-ea"/>
            </a:rPr>
            <a:t>Surplus</a:t>
          </a:r>
          <a:endParaRPr lang="zh-CN" sz="1200" b="1" kern="1200" dirty="0">
            <a:latin typeface="+mn-ea"/>
            <a:ea typeface="+mn-ea"/>
          </a:endParaRPr>
        </a:p>
      </dsp:txBody>
      <dsp:txXfrm>
        <a:off x="120108" y="120179"/>
        <a:ext cx="6977622" cy="77124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D40C9-9E54-40F0-83F4-2F103774E08E}">
      <dsp:nvSpPr>
        <dsp:cNvPr id="0" name=""/>
        <dsp:cNvSpPr/>
      </dsp:nvSpPr>
      <dsp:spPr>
        <a:xfrm>
          <a:off x="0" y="266809"/>
          <a:ext cx="7217840" cy="92647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en-US" sz="1200" b="1" kern="1200" dirty="0">
              <a:latin typeface="+mn-ea"/>
              <a:ea typeface="+mn-ea"/>
            </a:rPr>
            <a:t>步骤二</a:t>
          </a:r>
          <a:r>
            <a:rPr lang="zh-CN" sz="1200" b="1" kern="1200" dirty="0">
              <a:latin typeface="+mn-ea"/>
              <a:ea typeface="+mn-ea"/>
            </a:rPr>
            <a:t>：按照需求</a:t>
          </a:r>
          <a:r>
            <a:rPr lang="en-US" sz="1200" b="1" kern="1200" dirty="0">
              <a:latin typeface="+mn-ea"/>
              <a:ea typeface="+mn-ea"/>
            </a:rPr>
            <a:t>Sequence/Priority </a:t>
          </a:r>
          <a:r>
            <a:rPr lang="zh-CN" sz="1200" b="1" kern="1200" dirty="0">
              <a:latin typeface="+mn-ea"/>
              <a:ea typeface="+mn-ea"/>
            </a:rPr>
            <a:t>分配</a:t>
          </a:r>
        </a:p>
      </dsp:txBody>
      <dsp:txXfrm>
        <a:off x="45227" y="312036"/>
        <a:ext cx="7127386" cy="83601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B6CA2-BA2B-4B6D-88EF-2E79554CCF64}">
      <dsp:nvSpPr>
        <dsp:cNvPr id="0" name=""/>
        <dsp:cNvSpPr/>
      </dsp:nvSpPr>
      <dsp:spPr>
        <a:xfrm>
          <a:off x="0" y="0"/>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8CA52D-F5E2-49FE-8DAD-D65E24D20B4F}">
      <dsp:nvSpPr>
        <dsp:cNvPr id="0" name=""/>
        <dsp:cNvSpPr/>
      </dsp:nvSpPr>
      <dsp:spPr>
        <a:xfrm>
          <a:off x="0" y="0"/>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a:latin typeface="+mj-ea"/>
              <a:ea typeface="+mj-ea"/>
            </a:rPr>
            <a:t>预测调整 </a:t>
          </a:r>
          <a:endParaRPr lang="zh-CN" altLang="en-US" sz="1400" kern="1200">
            <a:latin typeface="+mj-ea"/>
            <a:ea typeface="+mj-ea"/>
          </a:endParaRPr>
        </a:p>
      </dsp:txBody>
      <dsp:txXfrm>
        <a:off x="0" y="0"/>
        <a:ext cx="2128558" cy="678526"/>
      </dsp:txXfrm>
    </dsp:sp>
    <dsp:sp modelId="{D782E8DF-0FD3-427C-9736-F0C7F474C7E3}">
      <dsp:nvSpPr>
        <dsp:cNvPr id="0" name=""/>
        <dsp:cNvSpPr/>
      </dsp:nvSpPr>
      <dsp:spPr>
        <a:xfrm>
          <a:off x="2288200" y="30811"/>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sz="1300" b="1" kern="1200">
              <a:latin typeface="+mj-ea"/>
              <a:ea typeface="+mj-ea"/>
            </a:rPr>
            <a:t>当要调整某产品系列预测时，针对某一个</a:t>
          </a:r>
          <a:r>
            <a:rPr lang="en-US" sz="1300" b="1" kern="1200">
              <a:latin typeface="+mj-ea"/>
              <a:ea typeface="+mj-ea"/>
            </a:rPr>
            <a:t>stream</a:t>
          </a:r>
          <a:r>
            <a:rPr lang="zh-CN" sz="1300" b="1" kern="1200">
              <a:latin typeface="+mj-ea"/>
              <a:ea typeface="+mj-ea"/>
            </a:rPr>
            <a:t>的预测，例如市场预测（一般来讲，有统计预测，财务预测，市场预测等）</a:t>
          </a:r>
          <a:endParaRPr lang="zh-CN" sz="1300" kern="1200">
            <a:latin typeface="+mj-ea"/>
            <a:ea typeface="+mj-ea"/>
          </a:endParaRPr>
        </a:p>
      </dsp:txBody>
      <dsp:txXfrm>
        <a:off x="2288200" y="30811"/>
        <a:ext cx="8354590" cy="616239"/>
      </dsp:txXfrm>
    </dsp:sp>
    <dsp:sp modelId="{B49AD372-8C98-46F0-9757-83E304BAB9F0}">
      <dsp:nvSpPr>
        <dsp:cNvPr id="0" name=""/>
        <dsp:cNvSpPr/>
      </dsp:nvSpPr>
      <dsp:spPr>
        <a:xfrm>
          <a:off x="2128558" y="647051"/>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8E9086-57FB-4995-97EE-9D795EA22599}">
      <dsp:nvSpPr>
        <dsp:cNvPr id="0" name=""/>
        <dsp:cNvSpPr/>
      </dsp:nvSpPr>
      <dsp:spPr>
        <a:xfrm>
          <a:off x="0" y="678526"/>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4BE777-73BF-4E3D-AC5D-53DB54B9318C}">
      <dsp:nvSpPr>
        <dsp:cNvPr id="0" name=""/>
        <dsp:cNvSpPr/>
      </dsp:nvSpPr>
      <dsp:spPr>
        <a:xfrm>
          <a:off x="0" y="678526"/>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a:latin typeface="+mj-ea"/>
              <a:ea typeface="+mj-ea"/>
            </a:rPr>
            <a:t>预测冲减 </a:t>
          </a:r>
          <a:endParaRPr lang="zh-CN" altLang="en-US" sz="1400" kern="1200">
            <a:latin typeface="+mj-ea"/>
            <a:ea typeface="+mj-ea"/>
          </a:endParaRPr>
        </a:p>
      </dsp:txBody>
      <dsp:txXfrm>
        <a:off x="0" y="678526"/>
        <a:ext cx="2128558" cy="678526"/>
      </dsp:txXfrm>
    </dsp:sp>
    <dsp:sp modelId="{6C6C5878-1A13-4799-A9E1-C78372BF709B}">
      <dsp:nvSpPr>
        <dsp:cNvPr id="0" name=""/>
        <dsp:cNvSpPr/>
      </dsp:nvSpPr>
      <dsp:spPr>
        <a:xfrm>
          <a:off x="2288200" y="709338"/>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altLang="en-US" sz="1300" b="1" kern="1200" dirty="0">
              <a:latin typeface="+mj-ea"/>
              <a:ea typeface="+mj-ea"/>
            </a:rPr>
            <a:t>当针对某产品系列，成品或者组件做预测和实际订单冲减时，要匹配相同的客户或者相同地区等</a:t>
          </a:r>
          <a:endParaRPr lang="zh-CN" altLang="en-US" sz="1300" kern="1200" dirty="0">
            <a:latin typeface="+mj-ea"/>
            <a:ea typeface="+mj-ea"/>
          </a:endParaRPr>
        </a:p>
      </dsp:txBody>
      <dsp:txXfrm>
        <a:off x="2288200" y="709338"/>
        <a:ext cx="8354590" cy="616239"/>
      </dsp:txXfrm>
    </dsp:sp>
    <dsp:sp modelId="{450FB1D1-621B-4915-9813-537811FD7D58}">
      <dsp:nvSpPr>
        <dsp:cNvPr id="0" name=""/>
        <dsp:cNvSpPr/>
      </dsp:nvSpPr>
      <dsp:spPr>
        <a:xfrm>
          <a:off x="2128558" y="1325578"/>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FA8657-B158-4A0E-98E2-869168ED0F7C}">
      <dsp:nvSpPr>
        <dsp:cNvPr id="0" name=""/>
        <dsp:cNvSpPr/>
      </dsp:nvSpPr>
      <dsp:spPr>
        <a:xfrm>
          <a:off x="0" y="1357052"/>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EC50A2-48B9-4E6B-AC12-D5AE68E2478B}">
      <dsp:nvSpPr>
        <dsp:cNvPr id="0" name=""/>
        <dsp:cNvSpPr/>
      </dsp:nvSpPr>
      <dsp:spPr>
        <a:xfrm>
          <a:off x="0" y="1357052"/>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a:latin typeface="+mj-ea"/>
              <a:ea typeface="+mj-ea"/>
            </a:rPr>
            <a:t>供应选择 </a:t>
          </a:r>
          <a:endParaRPr lang="zh-CN" altLang="en-US" sz="1400" kern="1200">
            <a:latin typeface="+mj-ea"/>
            <a:ea typeface="+mj-ea"/>
          </a:endParaRPr>
        </a:p>
      </dsp:txBody>
      <dsp:txXfrm>
        <a:off x="0" y="1357052"/>
        <a:ext cx="2128558" cy="678526"/>
      </dsp:txXfrm>
    </dsp:sp>
    <dsp:sp modelId="{58EE20D3-B120-4A5D-A446-7E9433950A0A}">
      <dsp:nvSpPr>
        <dsp:cNvPr id="0" name=""/>
        <dsp:cNvSpPr/>
      </dsp:nvSpPr>
      <dsp:spPr>
        <a:xfrm>
          <a:off x="2288200" y="1387864"/>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altLang="en-US" sz="1300" b="1" kern="1200">
              <a:latin typeface="+mj-ea"/>
              <a:ea typeface="+mj-ea"/>
            </a:rPr>
            <a:t>某些客户只接受某些工厂的产成品；某些客户只接受某些供应商的原材或者组件；某些客户只接受指定产地的原材，组件等等</a:t>
          </a:r>
          <a:endParaRPr lang="zh-CN" altLang="en-US" sz="1300" kern="1200">
            <a:latin typeface="+mj-ea"/>
            <a:ea typeface="+mj-ea"/>
          </a:endParaRPr>
        </a:p>
      </dsp:txBody>
      <dsp:txXfrm>
        <a:off x="2288200" y="1387864"/>
        <a:ext cx="8354590" cy="616239"/>
      </dsp:txXfrm>
    </dsp:sp>
    <dsp:sp modelId="{24ADEFB8-AA02-49FD-A1A8-987A9246E9C6}">
      <dsp:nvSpPr>
        <dsp:cNvPr id="0" name=""/>
        <dsp:cNvSpPr/>
      </dsp:nvSpPr>
      <dsp:spPr>
        <a:xfrm>
          <a:off x="2128558" y="2004104"/>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81DA2-14FB-47AD-BDAF-2AF5C15A72BA}">
      <dsp:nvSpPr>
        <dsp:cNvPr id="0" name=""/>
        <dsp:cNvSpPr/>
      </dsp:nvSpPr>
      <dsp:spPr>
        <a:xfrm>
          <a:off x="0" y="2035579"/>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7AF4B7-503D-4949-8A66-5D2DBBDAB90A}">
      <dsp:nvSpPr>
        <dsp:cNvPr id="0" name=""/>
        <dsp:cNvSpPr/>
      </dsp:nvSpPr>
      <dsp:spPr>
        <a:xfrm>
          <a:off x="0" y="2035579"/>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latin typeface="+mj-ea"/>
              <a:ea typeface="+mj-ea"/>
            </a:rPr>
            <a:t>BOM</a:t>
          </a:r>
          <a:r>
            <a:rPr lang="zh-CN" sz="1400" b="1" kern="1200">
              <a:latin typeface="+mj-ea"/>
              <a:ea typeface="+mj-ea"/>
            </a:rPr>
            <a:t>和</a:t>
          </a:r>
          <a:r>
            <a:rPr lang="en-US" sz="1400" b="1" kern="1200">
              <a:latin typeface="+mj-ea"/>
              <a:ea typeface="+mj-ea"/>
            </a:rPr>
            <a:t>Routing</a:t>
          </a:r>
          <a:r>
            <a:rPr lang="zh-CN" sz="1400" b="1" kern="1200">
              <a:latin typeface="+mj-ea"/>
              <a:ea typeface="+mj-ea"/>
            </a:rPr>
            <a:t>的选择 </a:t>
          </a:r>
          <a:endParaRPr lang="zh-CN" sz="1400" kern="1200">
            <a:latin typeface="+mj-ea"/>
            <a:ea typeface="+mj-ea"/>
          </a:endParaRPr>
        </a:p>
      </dsp:txBody>
      <dsp:txXfrm>
        <a:off x="0" y="2035579"/>
        <a:ext cx="2128558" cy="678526"/>
      </dsp:txXfrm>
    </dsp:sp>
    <dsp:sp modelId="{16863E8E-48E5-4355-A297-CC3DBF7236D0}">
      <dsp:nvSpPr>
        <dsp:cNvPr id="0" name=""/>
        <dsp:cNvSpPr/>
      </dsp:nvSpPr>
      <dsp:spPr>
        <a:xfrm>
          <a:off x="2288200" y="2066391"/>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altLang="en-US" sz="1300" b="1" kern="1200">
              <a:latin typeface="+mj-ea"/>
              <a:ea typeface="+mj-ea"/>
            </a:rPr>
            <a:t>某些客户只接受产品系列中的某些选项，某些替换料，某条产线</a:t>
          </a:r>
          <a:endParaRPr lang="zh-CN" altLang="en-US" sz="1300" kern="1200">
            <a:latin typeface="+mj-ea"/>
            <a:ea typeface="+mj-ea"/>
          </a:endParaRPr>
        </a:p>
      </dsp:txBody>
      <dsp:txXfrm>
        <a:off x="2288200" y="2066391"/>
        <a:ext cx="8354590" cy="616239"/>
      </dsp:txXfrm>
    </dsp:sp>
    <dsp:sp modelId="{2E9566D3-9CE5-4942-B644-45282859829C}">
      <dsp:nvSpPr>
        <dsp:cNvPr id="0" name=""/>
        <dsp:cNvSpPr/>
      </dsp:nvSpPr>
      <dsp:spPr>
        <a:xfrm>
          <a:off x="2128558" y="2682630"/>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ED7EAE-A363-4123-856A-38C12343775C}">
      <dsp:nvSpPr>
        <dsp:cNvPr id="0" name=""/>
        <dsp:cNvSpPr/>
      </dsp:nvSpPr>
      <dsp:spPr>
        <a:xfrm>
          <a:off x="0" y="2714105"/>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2B9BBC-75B6-422C-A6E6-5ECC0BDD1D2E}">
      <dsp:nvSpPr>
        <dsp:cNvPr id="0" name=""/>
        <dsp:cNvSpPr/>
      </dsp:nvSpPr>
      <dsp:spPr>
        <a:xfrm>
          <a:off x="0" y="2714105"/>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a:latin typeface="+mj-ea"/>
              <a:ea typeface="+mj-ea"/>
            </a:rPr>
            <a:t>分档分类 </a:t>
          </a:r>
          <a:endParaRPr lang="zh-CN" altLang="en-US" sz="1400" kern="1200">
            <a:latin typeface="+mj-ea"/>
            <a:ea typeface="+mj-ea"/>
          </a:endParaRPr>
        </a:p>
      </dsp:txBody>
      <dsp:txXfrm>
        <a:off x="0" y="2714105"/>
        <a:ext cx="2128558" cy="678526"/>
      </dsp:txXfrm>
    </dsp:sp>
    <dsp:sp modelId="{3B98E71A-3531-406E-9F2F-FB57B1F67B24}">
      <dsp:nvSpPr>
        <dsp:cNvPr id="0" name=""/>
        <dsp:cNvSpPr/>
      </dsp:nvSpPr>
      <dsp:spPr>
        <a:xfrm>
          <a:off x="2288200" y="2744917"/>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sz="1300" b="1" kern="1200" dirty="0">
              <a:latin typeface="+mj-ea"/>
              <a:ea typeface="+mj-ea"/>
            </a:rPr>
            <a:t>一个工艺路线可以产生多个等级的产品，如原油可以加工出汽油，煤油和凡士林；如芯片可以同时加工出不同功率；食品加工出深蓝和浅蓝的蛋糕；用户可接受某一等级范围，例如芯片大于等于</a:t>
          </a:r>
          <a:r>
            <a:rPr lang="en-US" sz="1300" b="1" kern="1200" dirty="0">
              <a:latin typeface="+mj-ea"/>
              <a:ea typeface="+mj-ea"/>
            </a:rPr>
            <a:t>166Mhz.</a:t>
          </a:r>
          <a:endParaRPr lang="zh-CN" sz="1300" kern="1200" dirty="0">
            <a:latin typeface="+mj-ea"/>
            <a:ea typeface="+mj-ea"/>
          </a:endParaRPr>
        </a:p>
      </dsp:txBody>
      <dsp:txXfrm>
        <a:off x="2288200" y="2744917"/>
        <a:ext cx="8354590" cy="616239"/>
      </dsp:txXfrm>
    </dsp:sp>
    <dsp:sp modelId="{3282E641-D5BC-4FF3-B8A7-8890614B2323}">
      <dsp:nvSpPr>
        <dsp:cNvPr id="0" name=""/>
        <dsp:cNvSpPr/>
      </dsp:nvSpPr>
      <dsp:spPr>
        <a:xfrm>
          <a:off x="2128558" y="3361157"/>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972F5A-DA25-4EBC-B613-C100530CD689}">
      <dsp:nvSpPr>
        <dsp:cNvPr id="0" name=""/>
        <dsp:cNvSpPr/>
      </dsp:nvSpPr>
      <dsp:spPr>
        <a:xfrm>
          <a:off x="0" y="3392631"/>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79D6A3-4CF8-4C1F-9F2D-F3402B875667}">
      <dsp:nvSpPr>
        <dsp:cNvPr id="0" name=""/>
        <dsp:cNvSpPr/>
      </dsp:nvSpPr>
      <dsp:spPr>
        <a:xfrm>
          <a:off x="0" y="3392631"/>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a:latin typeface="+mj-ea"/>
              <a:ea typeface="+mj-ea"/>
            </a:rPr>
            <a:t>价值流 </a:t>
          </a:r>
          <a:endParaRPr lang="zh-CN" altLang="en-US" sz="1400" kern="1200">
            <a:latin typeface="+mj-ea"/>
            <a:ea typeface="+mj-ea"/>
          </a:endParaRPr>
        </a:p>
      </dsp:txBody>
      <dsp:txXfrm>
        <a:off x="0" y="3392631"/>
        <a:ext cx="2128558" cy="678526"/>
      </dsp:txXfrm>
    </dsp:sp>
    <dsp:sp modelId="{DEAB29E3-DE93-4BFF-BF38-1D9B406241E3}">
      <dsp:nvSpPr>
        <dsp:cNvPr id="0" name=""/>
        <dsp:cNvSpPr/>
      </dsp:nvSpPr>
      <dsp:spPr>
        <a:xfrm>
          <a:off x="2288200" y="3423443"/>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altLang="en-US" sz="1300" b="1" kern="1200">
              <a:latin typeface="+mj-ea"/>
              <a:ea typeface="+mj-ea"/>
            </a:rPr>
            <a:t>有一些组件，半成品可以继续生产出产生品也可以直接销售，如何区分出不同的价值流；在新品测试阶段，某些半成品生产之后只能流向制定线体，而在可发货阶段，半成品直接流入其对应的总装；</a:t>
          </a:r>
          <a:endParaRPr lang="zh-CN" altLang="en-US" sz="1300" kern="1200">
            <a:latin typeface="+mj-ea"/>
            <a:ea typeface="+mj-ea"/>
          </a:endParaRPr>
        </a:p>
      </dsp:txBody>
      <dsp:txXfrm>
        <a:off x="2288200" y="3423443"/>
        <a:ext cx="8354590" cy="616239"/>
      </dsp:txXfrm>
    </dsp:sp>
    <dsp:sp modelId="{A9397846-AF93-40B7-BEAC-6B66225BC582}">
      <dsp:nvSpPr>
        <dsp:cNvPr id="0" name=""/>
        <dsp:cNvSpPr/>
      </dsp:nvSpPr>
      <dsp:spPr>
        <a:xfrm>
          <a:off x="2128558" y="4039683"/>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22C743-4C99-48F2-BADA-DDD2859CDACA}">
      <dsp:nvSpPr>
        <dsp:cNvPr id="0" name=""/>
        <dsp:cNvSpPr/>
      </dsp:nvSpPr>
      <dsp:spPr>
        <a:xfrm>
          <a:off x="0" y="4071158"/>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8727DE-E62F-46F4-B4B2-45D45B652DAC}">
      <dsp:nvSpPr>
        <dsp:cNvPr id="0" name=""/>
        <dsp:cNvSpPr/>
      </dsp:nvSpPr>
      <dsp:spPr>
        <a:xfrm>
          <a:off x="0" y="4071158"/>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latin typeface="+mj-ea"/>
              <a:ea typeface="+mj-ea"/>
            </a:rPr>
            <a:t>ATO/MTO</a:t>
          </a:r>
          <a:r>
            <a:rPr lang="zh-CN" sz="1400" kern="1200" dirty="0">
              <a:latin typeface="+mj-ea"/>
              <a:ea typeface="+mj-ea"/>
            </a:rPr>
            <a:t> </a:t>
          </a:r>
        </a:p>
      </dsp:txBody>
      <dsp:txXfrm>
        <a:off x="0" y="4071158"/>
        <a:ext cx="2128558" cy="678526"/>
      </dsp:txXfrm>
    </dsp:sp>
    <dsp:sp modelId="{6368106C-2B2A-47DD-B3E2-8EE48BF99B00}">
      <dsp:nvSpPr>
        <dsp:cNvPr id="0" name=""/>
        <dsp:cNvSpPr/>
      </dsp:nvSpPr>
      <dsp:spPr>
        <a:xfrm>
          <a:off x="2288200" y="4101970"/>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sz="1300" kern="1200">
              <a:latin typeface="+mj-ea"/>
              <a:ea typeface="+mj-ea"/>
            </a:rPr>
            <a:t>为响应市场，企业在不断地扩展产品线，往往制造策略会从</a:t>
          </a:r>
          <a:r>
            <a:rPr lang="en-US" sz="1300" kern="1200">
              <a:latin typeface="+mj-ea"/>
              <a:ea typeface="+mj-ea"/>
            </a:rPr>
            <a:t>MTS</a:t>
          </a:r>
          <a:r>
            <a:rPr lang="zh-CN" sz="1300" kern="1200">
              <a:latin typeface="+mj-ea"/>
              <a:ea typeface="+mj-ea"/>
            </a:rPr>
            <a:t>转向</a:t>
          </a:r>
          <a:r>
            <a:rPr lang="en-US" sz="1300" kern="1200">
              <a:latin typeface="+mj-ea"/>
              <a:ea typeface="+mj-ea"/>
            </a:rPr>
            <a:t>ATO/MTO. </a:t>
          </a:r>
          <a:r>
            <a:rPr lang="zh-CN" sz="1300" kern="1200">
              <a:latin typeface="+mj-ea"/>
              <a:ea typeface="+mj-ea"/>
            </a:rPr>
            <a:t>如何方便的做预测，如何方便订单执行与计划匹配成为挑战（如果针对成品</a:t>
          </a:r>
          <a:r>
            <a:rPr lang="en-US" sz="1300" kern="1200">
              <a:latin typeface="+mj-ea"/>
              <a:ea typeface="+mj-ea"/>
            </a:rPr>
            <a:t>SKU</a:t>
          </a:r>
          <a:r>
            <a:rPr lang="zh-CN" sz="1300" kern="1200">
              <a:latin typeface="+mj-ea"/>
              <a:ea typeface="+mj-ea"/>
            </a:rPr>
            <a:t>创建</a:t>
          </a:r>
          <a:r>
            <a:rPr lang="en-US" sz="1300" kern="1200">
              <a:latin typeface="+mj-ea"/>
              <a:ea typeface="+mj-ea"/>
            </a:rPr>
            <a:t>BOM</a:t>
          </a:r>
          <a:r>
            <a:rPr lang="zh-CN" sz="1300" kern="1200">
              <a:latin typeface="+mj-ea"/>
              <a:ea typeface="+mj-ea"/>
            </a:rPr>
            <a:t>那将是可选项累成的数量级）</a:t>
          </a:r>
        </a:p>
      </dsp:txBody>
      <dsp:txXfrm>
        <a:off x="2288200" y="4101970"/>
        <a:ext cx="8354590" cy="616239"/>
      </dsp:txXfrm>
    </dsp:sp>
    <dsp:sp modelId="{FEE0D8E4-7F68-4FF3-A4D4-3E9C75EC6863}">
      <dsp:nvSpPr>
        <dsp:cNvPr id="0" name=""/>
        <dsp:cNvSpPr/>
      </dsp:nvSpPr>
      <dsp:spPr>
        <a:xfrm>
          <a:off x="2128558" y="4718210"/>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AB5F92-6D8E-4988-8393-03262CF21A86}">
      <dsp:nvSpPr>
        <dsp:cNvPr id="0" name=""/>
        <dsp:cNvSpPr/>
      </dsp:nvSpPr>
      <dsp:spPr>
        <a:xfrm>
          <a:off x="0" y="4749684"/>
          <a:ext cx="10642791"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489179-6D82-4B00-9C0E-FDDFC493C5AA}">
      <dsp:nvSpPr>
        <dsp:cNvPr id="0" name=""/>
        <dsp:cNvSpPr/>
      </dsp:nvSpPr>
      <dsp:spPr>
        <a:xfrm>
          <a:off x="0" y="4749684"/>
          <a:ext cx="2128558" cy="678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b="1" kern="1200" dirty="0">
              <a:latin typeface="+mj-ea"/>
              <a:ea typeface="+mj-ea"/>
            </a:rPr>
            <a:t>降级选用</a:t>
          </a:r>
          <a:endParaRPr lang="zh-CN" altLang="en-US" sz="1400" kern="1200" dirty="0">
            <a:latin typeface="+mj-ea"/>
            <a:ea typeface="+mj-ea"/>
          </a:endParaRPr>
        </a:p>
      </dsp:txBody>
      <dsp:txXfrm>
        <a:off x="0" y="4749684"/>
        <a:ext cx="2128558" cy="678526"/>
      </dsp:txXfrm>
    </dsp:sp>
    <dsp:sp modelId="{D619E146-7A48-4CB2-B48E-B8E80FC4D63C}">
      <dsp:nvSpPr>
        <dsp:cNvPr id="0" name=""/>
        <dsp:cNvSpPr/>
      </dsp:nvSpPr>
      <dsp:spPr>
        <a:xfrm>
          <a:off x="2288200" y="4780496"/>
          <a:ext cx="8354590" cy="616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zh-CN" altLang="en-US" sz="1300" kern="1200">
              <a:latin typeface="+mj-ea"/>
              <a:ea typeface="+mj-ea"/>
            </a:rPr>
            <a:t>降级使用允许在需要时，使用更高等级的零件来满足对较低等级零件的需求。</a:t>
          </a:r>
        </a:p>
      </dsp:txBody>
      <dsp:txXfrm>
        <a:off x="2288200" y="4780496"/>
        <a:ext cx="8354590" cy="616239"/>
      </dsp:txXfrm>
    </dsp:sp>
    <dsp:sp modelId="{955033DF-A638-4CFA-AC7D-DA1186A11CC4}">
      <dsp:nvSpPr>
        <dsp:cNvPr id="0" name=""/>
        <dsp:cNvSpPr/>
      </dsp:nvSpPr>
      <dsp:spPr>
        <a:xfrm>
          <a:off x="2128558" y="5396736"/>
          <a:ext cx="8514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E3767-A381-4B03-AC88-F10F736702EF}">
      <dsp:nvSpPr>
        <dsp:cNvPr id="0" name=""/>
        <dsp:cNvSpPr/>
      </dsp:nvSpPr>
      <dsp:spPr>
        <a:xfrm>
          <a:off x="1309693" y="637866"/>
          <a:ext cx="159007" cy="302986"/>
        </a:xfrm>
        <a:custGeom>
          <a:avLst/>
          <a:gdLst/>
          <a:ahLst/>
          <a:cxnLst/>
          <a:rect l="0" t="0" r="0" b="0"/>
          <a:pathLst>
            <a:path>
              <a:moveTo>
                <a:pt x="159007" y="0"/>
              </a:moveTo>
              <a:lnTo>
                <a:pt x="79503" y="0"/>
              </a:lnTo>
              <a:lnTo>
                <a:pt x="79503" y="302986"/>
              </a:lnTo>
              <a:lnTo>
                <a:pt x="0" y="3029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780806"/>
        <a:ext cx="17108" cy="17108"/>
      </dsp:txXfrm>
    </dsp:sp>
    <dsp:sp modelId="{8693A490-7F8B-45EB-8ABA-62C345D97B2B}">
      <dsp:nvSpPr>
        <dsp:cNvPr id="0" name=""/>
        <dsp:cNvSpPr/>
      </dsp:nvSpPr>
      <dsp:spPr>
        <a:xfrm>
          <a:off x="1309693" y="592147"/>
          <a:ext cx="159007" cy="91440"/>
        </a:xfrm>
        <a:custGeom>
          <a:avLst/>
          <a:gdLst/>
          <a:ahLst/>
          <a:cxnLst/>
          <a:rect l="0" t="0" r="0" b="0"/>
          <a:pathLst>
            <a:path>
              <a:moveTo>
                <a:pt x="159007"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5222" y="633891"/>
        <a:ext cx="7950" cy="7950"/>
      </dsp:txXfrm>
    </dsp:sp>
    <dsp:sp modelId="{02182DB4-8CE3-459C-B6C0-9CB5DC71479B}">
      <dsp:nvSpPr>
        <dsp:cNvPr id="0" name=""/>
        <dsp:cNvSpPr/>
      </dsp:nvSpPr>
      <dsp:spPr>
        <a:xfrm>
          <a:off x="1309693" y="334880"/>
          <a:ext cx="159007" cy="302986"/>
        </a:xfrm>
        <a:custGeom>
          <a:avLst/>
          <a:gdLst/>
          <a:ahLst/>
          <a:cxnLst/>
          <a:rect l="0" t="0" r="0" b="0"/>
          <a:pathLst>
            <a:path>
              <a:moveTo>
                <a:pt x="159007" y="302986"/>
              </a:moveTo>
              <a:lnTo>
                <a:pt x="79503" y="302986"/>
              </a:lnTo>
              <a:lnTo>
                <a:pt x="79503"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477819"/>
        <a:ext cx="17108" cy="17108"/>
      </dsp:txXfrm>
    </dsp:sp>
    <dsp:sp modelId="{8A084EB8-76C1-479D-ABBB-821AC3A0C1D3}">
      <dsp:nvSpPr>
        <dsp:cNvPr id="0" name=""/>
        <dsp:cNvSpPr/>
      </dsp:nvSpPr>
      <dsp:spPr>
        <a:xfrm rot="5400000">
          <a:off x="952028"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维度组</a:t>
          </a:r>
        </a:p>
      </dsp:txBody>
      <dsp:txXfrm>
        <a:off x="952028" y="516672"/>
        <a:ext cx="1275733" cy="242389"/>
      </dsp:txXfrm>
    </dsp:sp>
    <dsp:sp modelId="{D327265F-B942-4B43-A502-D10FFEA12F73}">
      <dsp:nvSpPr>
        <dsp:cNvPr id="0" name=""/>
        <dsp:cNvSpPr/>
      </dsp:nvSpPr>
      <dsp:spPr>
        <a:xfrm>
          <a:off x="514656" y="21368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514656" y="213685"/>
        <a:ext cx="795037" cy="242389"/>
      </dsp:txXfrm>
    </dsp:sp>
    <dsp:sp modelId="{CDD08F04-9859-46B0-AD62-E025CBE48998}">
      <dsp:nvSpPr>
        <dsp:cNvPr id="0" name=""/>
        <dsp:cNvSpPr/>
      </dsp:nvSpPr>
      <dsp:spPr>
        <a:xfrm>
          <a:off x="514656" y="51667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514656" y="516672"/>
        <a:ext cx="795037" cy="242389"/>
      </dsp:txXfrm>
    </dsp:sp>
    <dsp:sp modelId="{3EB37757-FBE5-45BC-AFB0-99E6600D6278}">
      <dsp:nvSpPr>
        <dsp:cNvPr id="0" name=""/>
        <dsp:cNvSpPr/>
      </dsp:nvSpPr>
      <dsp:spPr>
        <a:xfrm>
          <a:off x="514656" y="819659"/>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3</a:t>
          </a:r>
          <a:endParaRPr lang="zh-CN" sz="1100" kern="1200"/>
        </a:p>
      </dsp:txBody>
      <dsp:txXfrm>
        <a:off x="514656" y="819659"/>
        <a:ext cx="795037" cy="24238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0859D-8C61-4AF6-B203-2D322A6E5352}">
      <dsp:nvSpPr>
        <dsp:cNvPr id="0" name=""/>
        <dsp:cNvSpPr/>
      </dsp:nvSpPr>
      <dsp:spPr>
        <a:xfrm>
          <a:off x="757045" y="637866"/>
          <a:ext cx="159007" cy="454480"/>
        </a:xfrm>
        <a:custGeom>
          <a:avLst/>
          <a:gdLst/>
          <a:ahLst/>
          <a:cxnLst/>
          <a:rect l="0" t="0" r="0" b="0"/>
          <a:pathLst>
            <a:path>
              <a:moveTo>
                <a:pt x="0" y="0"/>
              </a:moveTo>
              <a:lnTo>
                <a:pt x="79503" y="0"/>
              </a:lnTo>
              <a:lnTo>
                <a:pt x="79503" y="454480"/>
              </a:lnTo>
              <a:lnTo>
                <a:pt x="159007" y="4544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853069"/>
        <a:ext cx="24074" cy="24074"/>
      </dsp:txXfrm>
    </dsp:sp>
    <dsp:sp modelId="{CD1E3767-A381-4B03-AC88-F10F736702EF}">
      <dsp:nvSpPr>
        <dsp:cNvPr id="0" name=""/>
        <dsp:cNvSpPr/>
      </dsp:nvSpPr>
      <dsp:spPr>
        <a:xfrm>
          <a:off x="757045" y="637866"/>
          <a:ext cx="159007" cy="151493"/>
        </a:xfrm>
        <a:custGeom>
          <a:avLst/>
          <a:gdLst/>
          <a:ahLst/>
          <a:cxnLst/>
          <a:rect l="0" t="0" r="0" b="0"/>
          <a:pathLst>
            <a:path>
              <a:moveTo>
                <a:pt x="0" y="0"/>
              </a:moveTo>
              <a:lnTo>
                <a:pt x="79503" y="0"/>
              </a:lnTo>
              <a:lnTo>
                <a:pt x="79503" y="151493"/>
              </a:lnTo>
              <a:lnTo>
                <a:pt x="159007" y="1514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708123"/>
        <a:ext cx="10981" cy="10981"/>
      </dsp:txXfrm>
    </dsp:sp>
    <dsp:sp modelId="{8693A490-7F8B-45EB-8ABA-62C345D97B2B}">
      <dsp:nvSpPr>
        <dsp:cNvPr id="0" name=""/>
        <dsp:cNvSpPr/>
      </dsp:nvSpPr>
      <dsp:spPr>
        <a:xfrm>
          <a:off x="757045" y="486373"/>
          <a:ext cx="159007" cy="151493"/>
        </a:xfrm>
        <a:custGeom>
          <a:avLst/>
          <a:gdLst/>
          <a:ahLst/>
          <a:cxnLst/>
          <a:rect l="0" t="0" r="0" b="0"/>
          <a:pathLst>
            <a:path>
              <a:moveTo>
                <a:pt x="0" y="151493"/>
              </a:moveTo>
              <a:lnTo>
                <a:pt x="79503" y="151493"/>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556629"/>
        <a:ext cx="10981" cy="10981"/>
      </dsp:txXfrm>
    </dsp:sp>
    <dsp:sp modelId="{02182DB4-8CE3-459C-B6C0-9CB5DC71479B}">
      <dsp:nvSpPr>
        <dsp:cNvPr id="0" name=""/>
        <dsp:cNvSpPr/>
      </dsp:nvSpPr>
      <dsp:spPr>
        <a:xfrm>
          <a:off x="757045" y="183386"/>
          <a:ext cx="159007" cy="454480"/>
        </a:xfrm>
        <a:custGeom>
          <a:avLst/>
          <a:gdLst/>
          <a:ahLst/>
          <a:cxnLst/>
          <a:rect l="0" t="0" r="0" b="0"/>
          <a:pathLst>
            <a:path>
              <a:moveTo>
                <a:pt x="0" y="454480"/>
              </a:moveTo>
              <a:lnTo>
                <a:pt x="79503" y="454480"/>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398589"/>
        <a:ext cx="24074" cy="24074"/>
      </dsp:txXfrm>
    </dsp:sp>
    <dsp:sp modelId="{8A084EB8-76C1-479D-ABBB-821AC3A0C1D3}">
      <dsp:nvSpPr>
        <dsp:cNvPr id="0" name=""/>
        <dsp:cNvSpPr/>
      </dsp:nvSpPr>
      <dsp:spPr>
        <a:xfrm rot="16200000">
          <a:off x="-2015"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zh-CN" altLang="en-US" sz="1100" kern="1200" dirty="0"/>
            <a:t>集</a:t>
          </a:r>
          <a:endParaRPr lang="zh-CN" sz="1100" kern="1200" dirty="0"/>
        </a:p>
      </dsp:txBody>
      <dsp:txXfrm>
        <a:off x="-2015" y="516672"/>
        <a:ext cx="1275733" cy="242389"/>
      </dsp:txXfrm>
    </dsp:sp>
    <dsp:sp modelId="{D327265F-B942-4B43-A502-D10FFEA12F73}">
      <dsp:nvSpPr>
        <dsp:cNvPr id="0" name=""/>
        <dsp:cNvSpPr/>
      </dsp:nvSpPr>
      <dsp:spPr>
        <a:xfrm>
          <a:off x="916053" y="6219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916053" y="62192"/>
        <a:ext cx="795037" cy="242389"/>
      </dsp:txXfrm>
    </dsp:sp>
    <dsp:sp modelId="{CDD08F04-9859-46B0-AD62-E025CBE48998}">
      <dsp:nvSpPr>
        <dsp:cNvPr id="0" name=""/>
        <dsp:cNvSpPr/>
      </dsp:nvSpPr>
      <dsp:spPr>
        <a:xfrm>
          <a:off x="916053" y="365178"/>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916053" y="365178"/>
        <a:ext cx="795037" cy="242389"/>
      </dsp:txXfrm>
    </dsp:sp>
    <dsp:sp modelId="{3EB37757-FBE5-45BC-AFB0-99E6600D6278}">
      <dsp:nvSpPr>
        <dsp:cNvPr id="0" name=""/>
        <dsp:cNvSpPr/>
      </dsp:nvSpPr>
      <dsp:spPr>
        <a:xfrm>
          <a:off x="916053" y="66816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en-US" sz="1100" kern="1200" dirty="0"/>
            <a:t>3</a:t>
          </a:r>
          <a:endParaRPr lang="zh-CN" sz="1100" kern="1200" dirty="0"/>
        </a:p>
      </dsp:txBody>
      <dsp:txXfrm>
        <a:off x="916053" y="668165"/>
        <a:ext cx="795037" cy="242389"/>
      </dsp:txXfrm>
    </dsp:sp>
    <dsp:sp modelId="{14991D58-8D8C-4EA2-B08C-6DDC48E96B6F}">
      <dsp:nvSpPr>
        <dsp:cNvPr id="0" name=""/>
        <dsp:cNvSpPr/>
      </dsp:nvSpPr>
      <dsp:spPr>
        <a:xfrm>
          <a:off x="916053" y="97115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维度</a:t>
          </a:r>
          <a:r>
            <a:rPr lang="en-US" altLang="zh-CN" sz="1100" kern="1200" dirty="0"/>
            <a:t>…..n</a:t>
          </a:r>
          <a:endParaRPr lang="zh-CN" sz="1100" kern="1200" dirty="0"/>
        </a:p>
      </dsp:txBody>
      <dsp:txXfrm>
        <a:off x="916053" y="971152"/>
        <a:ext cx="795037" cy="242389"/>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E3767-A381-4B03-AC88-F10F736702EF}">
      <dsp:nvSpPr>
        <dsp:cNvPr id="0" name=""/>
        <dsp:cNvSpPr/>
      </dsp:nvSpPr>
      <dsp:spPr>
        <a:xfrm>
          <a:off x="1309693" y="637866"/>
          <a:ext cx="159007" cy="302986"/>
        </a:xfrm>
        <a:custGeom>
          <a:avLst/>
          <a:gdLst/>
          <a:ahLst/>
          <a:cxnLst/>
          <a:rect l="0" t="0" r="0" b="0"/>
          <a:pathLst>
            <a:path>
              <a:moveTo>
                <a:pt x="159007" y="0"/>
              </a:moveTo>
              <a:lnTo>
                <a:pt x="79503" y="0"/>
              </a:lnTo>
              <a:lnTo>
                <a:pt x="79503" y="302986"/>
              </a:lnTo>
              <a:lnTo>
                <a:pt x="0" y="3029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780806"/>
        <a:ext cx="17108" cy="17108"/>
      </dsp:txXfrm>
    </dsp:sp>
    <dsp:sp modelId="{8693A490-7F8B-45EB-8ABA-62C345D97B2B}">
      <dsp:nvSpPr>
        <dsp:cNvPr id="0" name=""/>
        <dsp:cNvSpPr/>
      </dsp:nvSpPr>
      <dsp:spPr>
        <a:xfrm>
          <a:off x="1309693" y="592147"/>
          <a:ext cx="159007" cy="91440"/>
        </a:xfrm>
        <a:custGeom>
          <a:avLst/>
          <a:gdLst/>
          <a:ahLst/>
          <a:cxnLst/>
          <a:rect l="0" t="0" r="0" b="0"/>
          <a:pathLst>
            <a:path>
              <a:moveTo>
                <a:pt x="159007"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5222" y="633891"/>
        <a:ext cx="7950" cy="7950"/>
      </dsp:txXfrm>
    </dsp:sp>
    <dsp:sp modelId="{02182DB4-8CE3-459C-B6C0-9CB5DC71479B}">
      <dsp:nvSpPr>
        <dsp:cNvPr id="0" name=""/>
        <dsp:cNvSpPr/>
      </dsp:nvSpPr>
      <dsp:spPr>
        <a:xfrm>
          <a:off x="1309693" y="334880"/>
          <a:ext cx="159007" cy="302986"/>
        </a:xfrm>
        <a:custGeom>
          <a:avLst/>
          <a:gdLst/>
          <a:ahLst/>
          <a:cxnLst/>
          <a:rect l="0" t="0" r="0" b="0"/>
          <a:pathLst>
            <a:path>
              <a:moveTo>
                <a:pt x="159007" y="302986"/>
              </a:moveTo>
              <a:lnTo>
                <a:pt x="79503" y="302986"/>
              </a:lnTo>
              <a:lnTo>
                <a:pt x="79503"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477819"/>
        <a:ext cx="17108" cy="17108"/>
      </dsp:txXfrm>
    </dsp:sp>
    <dsp:sp modelId="{8A084EB8-76C1-479D-ABBB-821AC3A0C1D3}">
      <dsp:nvSpPr>
        <dsp:cNvPr id="0" name=""/>
        <dsp:cNvSpPr/>
      </dsp:nvSpPr>
      <dsp:spPr>
        <a:xfrm rot="5400000">
          <a:off x="952028"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维度组</a:t>
          </a:r>
        </a:p>
      </dsp:txBody>
      <dsp:txXfrm>
        <a:off x="952028" y="516672"/>
        <a:ext cx="1275733" cy="242389"/>
      </dsp:txXfrm>
    </dsp:sp>
    <dsp:sp modelId="{D327265F-B942-4B43-A502-D10FFEA12F73}">
      <dsp:nvSpPr>
        <dsp:cNvPr id="0" name=""/>
        <dsp:cNvSpPr/>
      </dsp:nvSpPr>
      <dsp:spPr>
        <a:xfrm>
          <a:off x="514656" y="21368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514656" y="213685"/>
        <a:ext cx="795037" cy="242389"/>
      </dsp:txXfrm>
    </dsp:sp>
    <dsp:sp modelId="{CDD08F04-9859-46B0-AD62-E025CBE48998}">
      <dsp:nvSpPr>
        <dsp:cNvPr id="0" name=""/>
        <dsp:cNvSpPr/>
      </dsp:nvSpPr>
      <dsp:spPr>
        <a:xfrm>
          <a:off x="514656" y="51667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514656" y="516672"/>
        <a:ext cx="795037" cy="242389"/>
      </dsp:txXfrm>
    </dsp:sp>
    <dsp:sp modelId="{3EB37757-FBE5-45BC-AFB0-99E6600D6278}">
      <dsp:nvSpPr>
        <dsp:cNvPr id="0" name=""/>
        <dsp:cNvSpPr/>
      </dsp:nvSpPr>
      <dsp:spPr>
        <a:xfrm>
          <a:off x="514656" y="819659"/>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3</a:t>
          </a:r>
          <a:endParaRPr lang="zh-CN" sz="1100" kern="1200"/>
        </a:p>
      </dsp:txBody>
      <dsp:txXfrm>
        <a:off x="514656" y="819659"/>
        <a:ext cx="795037" cy="24238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0859D-8C61-4AF6-B203-2D322A6E5352}">
      <dsp:nvSpPr>
        <dsp:cNvPr id="0" name=""/>
        <dsp:cNvSpPr/>
      </dsp:nvSpPr>
      <dsp:spPr>
        <a:xfrm>
          <a:off x="757045" y="637866"/>
          <a:ext cx="159007" cy="454480"/>
        </a:xfrm>
        <a:custGeom>
          <a:avLst/>
          <a:gdLst/>
          <a:ahLst/>
          <a:cxnLst/>
          <a:rect l="0" t="0" r="0" b="0"/>
          <a:pathLst>
            <a:path>
              <a:moveTo>
                <a:pt x="0" y="0"/>
              </a:moveTo>
              <a:lnTo>
                <a:pt x="79503" y="0"/>
              </a:lnTo>
              <a:lnTo>
                <a:pt x="79503" y="454480"/>
              </a:lnTo>
              <a:lnTo>
                <a:pt x="159007" y="4544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853069"/>
        <a:ext cx="24074" cy="24074"/>
      </dsp:txXfrm>
    </dsp:sp>
    <dsp:sp modelId="{CD1E3767-A381-4B03-AC88-F10F736702EF}">
      <dsp:nvSpPr>
        <dsp:cNvPr id="0" name=""/>
        <dsp:cNvSpPr/>
      </dsp:nvSpPr>
      <dsp:spPr>
        <a:xfrm>
          <a:off x="757045" y="637866"/>
          <a:ext cx="159007" cy="151493"/>
        </a:xfrm>
        <a:custGeom>
          <a:avLst/>
          <a:gdLst/>
          <a:ahLst/>
          <a:cxnLst/>
          <a:rect l="0" t="0" r="0" b="0"/>
          <a:pathLst>
            <a:path>
              <a:moveTo>
                <a:pt x="0" y="0"/>
              </a:moveTo>
              <a:lnTo>
                <a:pt x="79503" y="0"/>
              </a:lnTo>
              <a:lnTo>
                <a:pt x="79503" y="151493"/>
              </a:lnTo>
              <a:lnTo>
                <a:pt x="159007" y="1514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708123"/>
        <a:ext cx="10981" cy="10981"/>
      </dsp:txXfrm>
    </dsp:sp>
    <dsp:sp modelId="{8693A490-7F8B-45EB-8ABA-62C345D97B2B}">
      <dsp:nvSpPr>
        <dsp:cNvPr id="0" name=""/>
        <dsp:cNvSpPr/>
      </dsp:nvSpPr>
      <dsp:spPr>
        <a:xfrm>
          <a:off x="757045" y="486373"/>
          <a:ext cx="159007" cy="151493"/>
        </a:xfrm>
        <a:custGeom>
          <a:avLst/>
          <a:gdLst/>
          <a:ahLst/>
          <a:cxnLst/>
          <a:rect l="0" t="0" r="0" b="0"/>
          <a:pathLst>
            <a:path>
              <a:moveTo>
                <a:pt x="0" y="151493"/>
              </a:moveTo>
              <a:lnTo>
                <a:pt x="79503" y="151493"/>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556629"/>
        <a:ext cx="10981" cy="10981"/>
      </dsp:txXfrm>
    </dsp:sp>
    <dsp:sp modelId="{02182DB4-8CE3-459C-B6C0-9CB5DC71479B}">
      <dsp:nvSpPr>
        <dsp:cNvPr id="0" name=""/>
        <dsp:cNvSpPr/>
      </dsp:nvSpPr>
      <dsp:spPr>
        <a:xfrm>
          <a:off x="757045" y="183386"/>
          <a:ext cx="159007" cy="454480"/>
        </a:xfrm>
        <a:custGeom>
          <a:avLst/>
          <a:gdLst/>
          <a:ahLst/>
          <a:cxnLst/>
          <a:rect l="0" t="0" r="0" b="0"/>
          <a:pathLst>
            <a:path>
              <a:moveTo>
                <a:pt x="0" y="454480"/>
              </a:moveTo>
              <a:lnTo>
                <a:pt x="79503" y="454480"/>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398589"/>
        <a:ext cx="24074" cy="24074"/>
      </dsp:txXfrm>
    </dsp:sp>
    <dsp:sp modelId="{8A084EB8-76C1-479D-ABBB-821AC3A0C1D3}">
      <dsp:nvSpPr>
        <dsp:cNvPr id="0" name=""/>
        <dsp:cNvSpPr/>
      </dsp:nvSpPr>
      <dsp:spPr>
        <a:xfrm rot="16200000">
          <a:off x="-2015"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zh-CN" altLang="en-US" sz="1100" kern="1200" dirty="0"/>
            <a:t>集</a:t>
          </a:r>
          <a:endParaRPr lang="zh-CN" sz="1100" kern="1200" dirty="0"/>
        </a:p>
      </dsp:txBody>
      <dsp:txXfrm>
        <a:off x="-2015" y="516672"/>
        <a:ext cx="1275733" cy="242389"/>
      </dsp:txXfrm>
    </dsp:sp>
    <dsp:sp modelId="{D327265F-B942-4B43-A502-D10FFEA12F73}">
      <dsp:nvSpPr>
        <dsp:cNvPr id="0" name=""/>
        <dsp:cNvSpPr/>
      </dsp:nvSpPr>
      <dsp:spPr>
        <a:xfrm>
          <a:off x="916053" y="6219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916053" y="62192"/>
        <a:ext cx="795037" cy="242389"/>
      </dsp:txXfrm>
    </dsp:sp>
    <dsp:sp modelId="{CDD08F04-9859-46B0-AD62-E025CBE48998}">
      <dsp:nvSpPr>
        <dsp:cNvPr id="0" name=""/>
        <dsp:cNvSpPr/>
      </dsp:nvSpPr>
      <dsp:spPr>
        <a:xfrm>
          <a:off x="916053" y="365178"/>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916053" y="365178"/>
        <a:ext cx="795037" cy="242389"/>
      </dsp:txXfrm>
    </dsp:sp>
    <dsp:sp modelId="{3EB37757-FBE5-45BC-AFB0-99E6600D6278}">
      <dsp:nvSpPr>
        <dsp:cNvPr id="0" name=""/>
        <dsp:cNvSpPr/>
      </dsp:nvSpPr>
      <dsp:spPr>
        <a:xfrm>
          <a:off x="916053" y="66816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en-US" sz="1100" kern="1200" dirty="0"/>
            <a:t>3</a:t>
          </a:r>
          <a:endParaRPr lang="zh-CN" sz="1100" kern="1200" dirty="0"/>
        </a:p>
      </dsp:txBody>
      <dsp:txXfrm>
        <a:off x="916053" y="668165"/>
        <a:ext cx="795037" cy="242389"/>
      </dsp:txXfrm>
    </dsp:sp>
    <dsp:sp modelId="{14991D58-8D8C-4EA2-B08C-6DDC48E96B6F}">
      <dsp:nvSpPr>
        <dsp:cNvPr id="0" name=""/>
        <dsp:cNvSpPr/>
      </dsp:nvSpPr>
      <dsp:spPr>
        <a:xfrm>
          <a:off x="916053" y="97115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维度</a:t>
          </a:r>
          <a:r>
            <a:rPr lang="en-US" altLang="zh-CN" sz="1100" kern="1200" dirty="0"/>
            <a:t>…..n</a:t>
          </a:r>
          <a:endParaRPr lang="zh-CN" sz="1100" kern="1200" dirty="0"/>
        </a:p>
      </dsp:txBody>
      <dsp:txXfrm>
        <a:off x="916053" y="971152"/>
        <a:ext cx="795037" cy="242389"/>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E3767-A381-4B03-AC88-F10F736702EF}">
      <dsp:nvSpPr>
        <dsp:cNvPr id="0" name=""/>
        <dsp:cNvSpPr/>
      </dsp:nvSpPr>
      <dsp:spPr>
        <a:xfrm>
          <a:off x="1309693" y="637866"/>
          <a:ext cx="159007" cy="302986"/>
        </a:xfrm>
        <a:custGeom>
          <a:avLst/>
          <a:gdLst/>
          <a:ahLst/>
          <a:cxnLst/>
          <a:rect l="0" t="0" r="0" b="0"/>
          <a:pathLst>
            <a:path>
              <a:moveTo>
                <a:pt x="159007" y="0"/>
              </a:moveTo>
              <a:lnTo>
                <a:pt x="79503" y="0"/>
              </a:lnTo>
              <a:lnTo>
                <a:pt x="79503" y="302986"/>
              </a:lnTo>
              <a:lnTo>
                <a:pt x="0" y="3029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780806"/>
        <a:ext cx="17108" cy="17108"/>
      </dsp:txXfrm>
    </dsp:sp>
    <dsp:sp modelId="{8693A490-7F8B-45EB-8ABA-62C345D97B2B}">
      <dsp:nvSpPr>
        <dsp:cNvPr id="0" name=""/>
        <dsp:cNvSpPr/>
      </dsp:nvSpPr>
      <dsp:spPr>
        <a:xfrm>
          <a:off x="1309693" y="592147"/>
          <a:ext cx="159007" cy="91440"/>
        </a:xfrm>
        <a:custGeom>
          <a:avLst/>
          <a:gdLst/>
          <a:ahLst/>
          <a:cxnLst/>
          <a:rect l="0" t="0" r="0" b="0"/>
          <a:pathLst>
            <a:path>
              <a:moveTo>
                <a:pt x="159007"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5222" y="633891"/>
        <a:ext cx="7950" cy="7950"/>
      </dsp:txXfrm>
    </dsp:sp>
    <dsp:sp modelId="{02182DB4-8CE3-459C-B6C0-9CB5DC71479B}">
      <dsp:nvSpPr>
        <dsp:cNvPr id="0" name=""/>
        <dsp:cNvSpPr/>
      </dsp:nvSpPr>
      <dsp:spPr>
        <a:xfrm>
          <a:off x="1309693" y="334880"/>
          <a:ext cx="159007" cy="302986"/>
        </a:xfrm>
        <a:custGeom>
          <a:avLst/>
          <a:gdLst/>
          <a:ahLst/>
          <a:cxnLst/>
          <a:rect l="0" t="0" r="0" b="0"/>
          <a:pathLst>
            <a:path>
              <a:moveTo>
                <a:pt x="159007" y="302986"/>
              </a:moveTo>
              <a:lnTo>
                <a:pt x="79503" y="302986"/>
              </a:lnTo>
              <a:lnTo>
                <a:pt x="79503"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0643" y="477819"/>
        <a:ext cx="17108" cy="17108"/>
      </dsp:txXfrm>
    </dsp:sp>
    <dsp:sp modelId="{8A084EB8-76C1-479D-ABBB-821AC3A0C1D3}">
      <dsp:nvSpPr>
        <dsp:cNvPr id="0" name=""/>
        <dsp:cNvSpPr/>
      </dsp:nvSpPr>
      <dsp:spPr>
        <a:xfrm rot="5400000">
          <a:off x="952028"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维度组</a:t>
          </a:r>
        </a:p>
      </dsp:txBody>
      <dsp:txXfrm>
        <a:off x="952028" y="516672"/>
        <a:ext cx="1275733" cy="242389"/>
      </dsp:txXfrm>
    </dsp:sp>
    <dsp:sp modelId="{D327265F-B942-4B43-A502-D10FFEA12F73}">
      <dsp:nvSpPr>
        <dsp:cNvPr id="0" name=""/>
        <dsp:cNvSpPr/>
      </dsp:nvSpPr>
      <dsp:spPr>
        <a:xfrm>
          <a:off x="514656" y="21368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514656" y="213685"/>
        <a:ext cx="795037" cy="242389"/>
      </dsp:txXfrm>
    </dsp:sp>
    <dsp:sp modelId="{CDD08F04-9859-46B0-AD62-E025CBE48998}">
      <dsp:nvSpPr>
        <dsp:cNvPr id="0" name=""/>
        <dsp:cNvSpPr/>
      </dsp:nvSpPr>
      <dsp:spPr>
        <a:xfrm>
          <a:off x="514656" y="51667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514656" y="516672"/>
        <a:ext cx="795037" cy="242389"/>
      </dsp:txXfrm>
    </dsp:sp>
    <dsp:sp modelId="{3EB37757-FBE5-45BC-AFB0-99E6600D6278}">
      <dsp:nvSpPr>
        <dsp:cNvPr id="0" name=""/>
        <dsp:cNvSpPr/>
      </dsp:nvSpPr>
      <dsp:spPr>
        <a:xfrm>
          <a:off x="514656" y="819659"/>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3</a:t>
          </a:r>
          <a:endParaRPr lang="zh-CN" sz="1100" kern="1200"/>
        </a:p>
      </dsp:txBody>
      <dsp:txXfrm>
        <a:off x="514656" y="819659"/>
        <a:ext cx="795037" cy="242389"/>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0859D-8C61-4AF6-B203-2D322A6E5352}">
      <dsp:nvSpPr>
        <dsp:cNvPr id="0" name=""/>
        <dsp:cNvSpPr/>
      </dsp:nvSpPr>
      <dsp:spPr>
        <a:xfrm>
          <a:off x="757045" y="637866"/>
          <a:ext cx="159007" cy="454480"/>
        </a:xfrm>
        <a:custGeom>
          <a:avLst/>
          <a:gdLst/>
          <a:ahLst/>
          <a:cxnLst/>
          <a:rect l="0" t="0" r="0" b="0"/>
          <a:pathLst>
            <a:path>
              <a:moveTo>
                <a:pt x="0" y="0"/>
              </a:moveTo>
              <a:lnTo>
                <a:pt x="79503" y="0"/>
              </a:lnTo>
              <a:lnTo>
                <a:pt x="79503" y="454480"/>
              </a:lnTo>
              <a:lnTo>
                <a:pt x="159007" y="4544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853069"/>
        <a:ext cx="24074" cy="24074"/>
      </dsp:txXfrm>
    </dsp:sp>
    <dsp:sp modelId="{CD1E3767-A381-4B03-AC88-F10F736702EF}">
      <dsp:nvSpPr>
        <dsp:cNvPr id="0" name=""/>
        <dsp:cNvSpPr/>
      </dsp:nvSpPr>
      <dsp:spPr>
        <a:xfrm>
          <a:off x="757045" y="637866"/>
          <a:ext cx="159007" cy="151493"/>
        </a:xfrm>
        <a:custGeom>
          <a:avLst/>
          <a:gdLst/>
          <a:ahLst/>
          <a:cxnLst/>
          <a:rect l="0" t="0" r="0" b="0"/>
          <a:pathLst>
            <a:path>
              <a:moveTo>
                <a:pt x="0" y="0"/>
              </a:moveTo>
              <a:lnTo>
                <a:pt x="79503" y="0"/>
              </a:lnTo>
              <a:lnTo>
                <a:pt x="79503" y="151493"/>
              </a:lnTo>
              <a:lnTo>
                <a:pt x="159007" y="1514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708123"/>
        <a:ext cx="10981" cy="10981"/>
      </dsp:txXfrm>
    </dsp:sp>
    <dsp:sp modelId="{8693A490-7F8B-45EB-8ABA-62C345D97B2B}">
      <dsp:nvSpPr>
        <dsp:cNvPr id="0" name=""/>
        <dsp:cNvSpPr/>
      </dsp:nvSpPr>
      <dsp:spPr>
        <a:xfrm>
          <a:off x="757045" y="486373"/>
          <a:ext cx="159007" cy="151493"/>
        </a:xfrm>
        <a:custGeom>
          <a:avLst/>
          <a:gdLst/>
          <a:ahLst/>
          <a:cxnLst/>
          <a:rect l="0" t="0" r="0" b="0"/>
          <a:pathLst>
            <a:path>
              <a:moveTo>
                <a:pt x="0" y="151493"/>
              </a:moveTo>
              <a:lnTo>
                <a:pt x="79503" y="151493"/>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31058" y="556629"/>
        <a:ext cx="10981" cy="10981"/>
      </dsp:txXfrm>
    </dsp:sp>
    <dsp:sp modelId="{02182DB4-8CE3-459C-B6C0-9CB5DC71479B}">
      <dsp:nvSpPr>
        <dsp:cNvPr id="0" name=""/>
        <dsp:cNvSpPr/>
      </dsp:nvSpPr>
      <dsp:spPr>
        <a:xfrm>
          <a:off x="757045" y="183386"/>
          <a:ext cx="159007" cy="454480"/>
        </a:xfrm>
        <a:custGeom>
          <a:avLst/>
          <a:gdLst/>
          <a:ahLst/>
          <a:cxnLst/>
          <a:rect l="0" t="0" r="0" b="0"/>
          <a:pathLst>
            <a:path>
              <a:moveTo>
                <a:pt x="0" y="454480"/>
              </a:moveTo>
              <a:lnTo>
                <a:pt x="79503" y="454480"/>
              </a:lnTo>
              <a:lnTo>
                <a:pt x="79503" y="0"/>
              </a:lnTo>
              <a:lnTo>
                <a:pt x="1590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824512" y="398589"/>
        <a:ext cx="24074" cy="24074"/>
      </dsp:txXfrm>
    </dsp:sp>
    <dsp:sp modelId="{8A084EB8-76C1-479D-ABBB-821AC3A0C1D3}">
      <dsp:nvSpPr>
        <dsp:cNvPr id="0" name=""/>
        <dsp:cNvSpPr/>
      </dsp:nvSpPr>
      <dsp:spPr>
        <a:xfrm rot="16200000">
          <a:off x="-2015" y="516672"/>
          <a:ext cx="1275733"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zh-CN" altLang="en-US" sz="1100" kern="1200" dirty="0"/>
            <a:t>集</a:t>
          </a:r>
          <a:endParaRPr lang="zh-CN" sz="1100" kern="1200" dirty="0"/>
        </a:p>
      </dsp:txBody>
      <dsp:txXfrm>
        <a:off x="-2015" y="516672"/>
        <a:ext cx="1275733" cy="242389"/>
      </dsp:txXfrm>
    </dsp:sp>
    <dsp:sp modelId="{D327265F-B942-4B43-A502-D10FFEA12F73}">
      <dsp:nvSpPr>
        <dsp:cNvPr id="0" name=""/>
        <dsp:cNvSpPr/>
      </dsp:nvSpPr>
      <dsp:spPr>
        <a:xfrm>
          <a:off x="916053" y="6219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1</a:t>
          </a:r>
          <a:endParaRPr lang="zh-CN" sz="1100" kern="1200"/>
        </a:p>
      </dsp:txBody>
      <dsp:txXfrm>
        <a:off x="916053" y="62192"/>
        <a:ext cx="795037" cy="242389"/>
      </dsp:txXfrm>
    </dsp:sp>
    <dsp:sp modelId="{CDD08F04-9859-46B0-AD62-E025CBE48998}">
      <dsp:nvSpPr>
        <dsp:cNvPr id="0" name=""/>
        <dsp:cNvSpPr/>
      </dsp:nvSpPr>
      <dsp:spPr>
        <a:xfrm>
          <a:off x="916053" y="365178"/>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a:t>维度</a:t>
          </a:r>
          <a:r>
            <a:rPr lang="en-US" sz="1100" kern="1200"/>
            <a:t>2</a:t>
          </a:r>
          <a:endParaRPr lang="zh-CN" sz="1100" kern="1200"/>
        </a:p>
      </dsp:txBody>
      <dsp:txXfrm>
        <a:off x="916053" y="365178"/>
        <a:ext cx="795037" cy="242389"/>
      </dsp:txXfrm>
    </dsp:sp>
    <dsp:sp modelId="{3EB37757-FBE5-45BC-AFB0-99E6600D6278}">
      <dsp:nvSpPr>
        <dsp:cNvPr id="0" name=""/>
        <dsp:cNvSpPr/>
      </dsp:nvSpPr>
      <dsp:spPr>
        <a:xfrm>
          <a:off x="916053" y="668165"/>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sz="1100" kern="1200" dirty="0"/>
            <a:t>维度</a:t>
          </a:r>
          <a:r>
            <a:rPr lang="en-US" sz="1100" kern="1200" dirty="0"/>
            <a:t>3</a:t>
          </a:r>
          <a:endParaRPr lang="zh-CN" sz="1100" kern="1200" dirty="0"/>
        </a:p>
      </dsp:txBody>
      <dsp:txXfrm>
        <a:off x="916053" y="668165"/>
        <a:ext cx="795037" cy="242389"/>
      </dsp:txXfrm>
    </dsp:sp>
    <dsp:sp modelId="{14991D58-8D8C-4EA2-B08C-6DDC48E96B6F}">
      <dsp:nvSpPr>
        <dsp:cNvPr id="0" name=""/>
        <dsp:cNvSpPr/>
      </dsp:nvSpPr>
      <dsp:spPr>
        <a:xfrm>
          <a:off x="916053" y="971152"/>
          <a:ext cx="795037" cy="242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维度</a:t>
          </a:r>
          <a:r>
            <a:rPr lang="en-US" altLang="zh-CN" sz="1100" kern="1200" dirty="0"/>
            <a:t>…..n</a:t>
          </a:r>
          <a:endParaRPr lang="zh-CN" sz="1100" kern="1200" dirty="0"/>
        </a:p>
      </dsp:txBody>
      <dsp:txXfrm>
        <a:off x="916053" y="971152"/>
        <a:ext cx="795037" cy="24238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7.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15B961-2DE2-4B0C-B3EE-FDEC34D119E1}" type="datetimeFigureOut">
              <a:rPr lang="zh-CN" altLang="en-US" smtClean="0"/>
              <a:t>2026/9/18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EB395-9790-4D78-899F-0CF1B2548215}" type="slidenum">
              <a:rPr lang="zh-CN" altLang="en-US" smtClean="0"/>
              <a:t>‹#›</a:t>
            </a:fld>
            <a:endParaRPr lang="zh-CN" altLang="en-US"/>
          </a:p>
        </p:txBody>
      </p:sp>
    </p:spTree>
    <p:extLst>
      <p:ext uri="{BB962C8B-B14F-4D97-AF65-F5344CB8AC3E}">
        <p14:creationId xmlns:p14="http://schemas.microsoft.com/office/powerpoint/2010/main" val="133075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859952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34813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9762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MRP, CTP, Production Planning</a:t>
            </a:r>
            <a:endParaRPr lang="zh-CN" altLang="en-US" dirty="0"/>
          </a:p>
        </p:txBody>
      </p:sp>
    </p:spTree>
    <p:extLst>
      <p:ext uri="{BB962C8B-B14F-4D97-AF65-F5344CB8AC3E}">
        <p14:creationId xmlns:p14="http://schemas.microsoft.com/office/powerpoint/2010/main" val="3003124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95454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04951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59CE-6992-396C-8164-ECEC563EED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798D7F-4C35-43A8-65CC-646EC047A2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3304F4-3FAD-3B23-981B-DFB2BB63EF8C}"/>
              </a:ext>
            </a:extLst>
          </p:cNvPr>
          <p:cNvSpPr>
            <a:spLocks noGrp="1"/>
          </p:cNvSpPr>
          <p:nvPr>
            <p:ph type="body" idx="1"/>
          </p:nvPr>
        </p:nvSpPr>
        <p:spPr/>
        <p:txBody>
          <a:bodyPr/>
          <a:lstStyle/>
          <a:p>
            <a:r>
              <a:rPr lang="en-US" altLang="zh-CN" dirty="0"/>
              <a:t>General</a:t>
            </a:r>
            <a:r>
              <a:rPr lang="zh-CN" altLang="en-US" dirty="0"/>
              <a:t> </a:t>
            </a:r>
            <a:r>
              <a:rPr lang="en-US" altLang="zh-CN" dirty="0"/>
              <a:t>Algorithm, demand follow sequence/priority allocate resource. But when we face alternate resource or constraints we need consider customer request and </a:t>
            </a:r>
            <a:r>
              <a:rPr lang="en-US" altLang="zh-CN"/>
              <a:t>capabilities </a:t>
            </a:r>
            <a:r>
              <a:rPr lang="en-US" altLang="zh-CN" b="0" i="0">
                <a:solidFill>
                  <a:srgbClr val="2A2F45"/>
                </a:solidFill>
                <a:effectLst/>
                <a:latin typeface="PingFang SC"/>
              </a:rPr>
              <a:t>Simultaneously.</a:t>
            </a:r>
            <a:endParaRPr lang="zh-CN" altLang="en-US" dirty="0"/>
          </a:p>
        </p:txBody>
      </p:sp>
      <p:sp>
        <p:nvSpPr>
          <p:cNvPr id="4" name="灯片编号占位符 3">
            <a:extLst>
              <a:ext uri="{FF2B5EF4-FFF2-40B4-BE49-F238E27FC236}">
                <a16:creationId xmlns:a16="http://schemas.microsoft.com/office/drawing/2014/main" id="{68C66D0F-BDDB-58A9-8FBB-49623253A7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48664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89425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6EB395-9790-4D78-899F-0CF1B2548215}" type="slidenum">
              <a:rPr lang="zh-CN" altLang="en-US" smtClean="0"/>
              <a:t>152</a:t>
            </a:fld>
            <a:endParaRPr lang="zh-CN" altLang="en-US"/>
          </a:p>
        </p:txBody>
      </p:sp>
    </p:spTree>
    <p:extLst>
      <p:ext uri="{BB962C8B-B14F-4D97-AF65-F5344CB8AC3E}">
        <p14:creationId xmlns:p14="http://schemas.microsoft.com/office/powerpoint/2010/main" val="221463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MTM001 R1</a:t>
            </a:r>
            <a:r>
              <a:rPr lang="zh-CN" altLang="en-US" dirty="0"/>
              <a:t> </a:t>
            </a:r>
            <a:r>
              <a:rPr lang="en-US" altLang="zh-CN" dirty="0"/>
              <a:t>BIN01 50</a:t>
            </a:r>
          </a:p>
          <a:p>
            <a:r>
              <a:rPr lang="en-US" altLang="zh-CN" dirty="0"/>
              <a:t>                     BIN02 30</a:t>
            </a:r>
          </a:p>
          <a:p>
            <a:r>
              <a:rPr lang="en-US" altLang="zh-CN" dirty="0"/>
              <a:t>                     BIN03 20</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180346-C08D-4E4F-9E70-9286E599026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477095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3.wdp"/><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8.png"/><Relationship Id="rId4" Type="http://schemas.microsoft.com/office/2007/relationships/hdphoto" Target="../media/hdphoto4.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1.xml"/><Relationship Id="rId6" Type="http://schemas.microsoft.com/office/2007/relationships/hdphoto" Target="../media/hdphoto6.wdp"/><Relationship Id="rId5" Type="http://schemas.openxmlformats.org/officeDocument/2006/relationships/image" Target="../media/image12.png"/><Relationship Id="rId4" Type="http://schemas.microsoft.com/office/2007/relationships/hdphoto" Target="../media/hdphoto5.wdp"/></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microsoft.com/office/2007/relationships/hdphoto" Target="../media/hdphoto6.wdp"/><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2.png"/><Relationship Id="rId5" Type="http://schemas.microsoft.com/office/2007/relationships/hdphoto" Target="../media/hdphoto7.wdp"/><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2.xml"/><Relationship Id="rId6" Type="http://schemas.microsoft.com/office/2007/relationships/hdphoto" Target="../media/hdphoto8.wdp"/><Relationship Id="rId5" Type="http://schemas.openxmlformats.org/officeDocument/2006/relationships/image" Target="../media/image16.png"/><Relationship Id="rId4" Type="http://schemas.microsoft.com/office/2007/relationships/hdphoto" Target="../media/hdphoto5.wdp"/></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2.xml"/><Relationship Id="rId6" Type="http://schemas.microsoft.com/office/2007/relationships/hdphoto" Target="../media/hdphoto7.wdp"/><Relationship Id="rId5" Type="http://schemas.openxmlformats.org/officeDocument/2006/relationships/image" Target="../media/image15.png"/><Relationship Id="rId4" Type="http://schemas.microsoft.com/office/2007/relationships/hdphoto" Target="../media/hdphoto5.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7" Type="http://schemas.microsoft.com/office/2007/relationships/hdphoto" Target="../media/hdphoto6.wdp"/><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13.png"/><Relationship Id="rId4" Type="http://schemas.microsoft.com/office/2007/relationships/hdphoto" Target="../media/hdphoto5.wdp"/></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3.png"/><Relationship Id="rId4" Type="http://schemas.microsoft.com/office/2007/relationships/hdphoto" Target="../media/hdphoto6.wdp"/></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5" Type="http://schemas.microsoft.com/office/2007/relationships/hdphoto" Target="../media/hdphoto6.wdp"/><Relationship Id="rId4" Type="http://schemas.openxmlformats.org/officeDocument/2006/relationships/image" Target="../media/image1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2.xml"/><Relationship Id="rId6" Type="http://schemas.microsoft.com/office/2007/relationships/hdphoto" Target="../media/hdphoto6.wdp"/><Relationship Id="rId5" Type="http://schemas.openxmlformats.org/officeDocument/2006/relationships/image" Target="../media/image12.png"/><Relationship Id="rId4" Type="http://schemas.microsoft.com/office/2007/relationships/hdphoto" Target="../media/hdphoto7.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2.xml"/><Relationship Id="rId6" Type="http://schemas.microsoft.com/office/2007/relationships/hdphoto" Target="../media/hdphoto6.wdp"/><Relationship Id="rId5" Type="http://schemas.openxmlformats.org/officeDocument/2006/relationships/image" Target="../media/image12.png"/><Relationship Id="rId4" Type="http://schemas.microsoft.com/office/2007/relationships/hdphoto" Target="../media/hdphoto5.wdp"/></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png"/><Relationship Id="rId7" Type="http://schemas.microsoft.com/office/2007/relationships/hdphoto" Target="../media/hdphoto6.wdp"/><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13.png"/><Relationship Id="rId4" Type="http://schemas.microsoft.com/office/2007/relationships/hdphoto" Target="../media/hdphoto5.wdp"/></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microsoft.com/office/2007/relationships/hdphoto" Target="../media/hdphoto6.wdp"/><Relationship Id="rId2" Type="http://schemas.openxmlformats.org/officeDocument/2006/relationships/image" Target="../media/image7.png"/><Relationship Id="rId1" Type="http://schemas.openxmlformats.org/officeDocument/2006/relationships/slideMaster" Target="../slideMasters/slideMaster3.xml"/><Relationship Id="rId6" Type="http://schemas.openxmlformats.org/officeDocument/2006/relationships/image" Target="../media/image12.png"/><Relationship Id="rId5" Type="http://schemas.microsoft.com/office/2007/relationships/hdphoto" Target="../media/hdphoto7.wdp"/><Relationship Id="rId4"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3.xml"/><Relationship Id="rId6" Type="http://schemas.microsoft.com/office/2007/relationships/hdphoto" Target="../media/hdphoto8.wdp"/><Relationship Id="rId5" Type="http://schemas.openxmlformats.org/officeDocument/2006/relationships/image" Target="../media/image16.png"/><Relationship Id="rId4" Type="http://schemas.microsoft.com/office/2007/relationships/hdphoto" Target="../media/hdphoto5.wdp"/></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3.xml"/><Relationship Id="rId6" Type="http://schemas.microsoft.com/office/2007/relationships/hdphoto" Target="../media/hdphoto7.wdp"/><Relationship Id="rId5" Type="http://schemas.openxmlformats.org/officeDocument/2006/relationships/image" Target="../media/image15.png"/><Relationship Id="rId4" Type="http://schemas.microsoft.com/office/2007/relationships/hdphoto" Target="../media/hdphoto5.wdp"/></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7" Type="http://schemas.microsoft.com/office/2007/relationships/hdphoto" Target="../media/hdphoto6.wdp"/><Relationship Id="rId2" Type="http://schemas.openxmlformats.org/officeDocument/2006/relationships/image" Target="../media/image9.jpeg"/><Relationship Id="rId1" Type="http://schemas.openxmlformats.org/officeDocument/2006/relationships/slideMaster" Target="../slideMasters/slideMaster3.xml"/><Relationship Id="rId6" Type="http://schemas.openxmlformats.org/officeDocument/2006/relationships/image" Target="../media/image12.png"/><Relationship Id="rId5" Type="http://schemas.openxmlformats.org/officeDocument/2006/relationships/image" Target="../media/image13.png"/><Relationship Id="rId4" Type="http://schemas.microsoft.com/office/2007/relationships/hdphoto" Target="../media/hdphoto5.wdp"/></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3.png"/><Relationship Id="rId4" Type="http://schemas.microsoft.com/office/2007/relationships/hdphoto" Target="../media/hdphoto6.wdp"/></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6.wdp"/><Relationship Id="rId4" Type="http://schemas.openxmlformats.org/officeDocument/2006/relationships/image" Target="../media/image12.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3.xml"/><Relationship Id="rId6" Type="http://schemas.microsoft.com/office/2007/relationships/hdphoto" Target="../media/hdphoto6.wdp"/><Relationship Id="rId5" Type="http://schemas.openxmlformats.org/officeDocument/2006/relationships/image" Target="../media/image12.png"/><Relationship Id="rId4" Type="http://schemas.microsoft.com/office/2007/relationships/hdphoto" Target="../media/hdphoto7.wdp"/></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Master" Target="../slideMasters/slideMaster3.xml"/><Relationship Id="rId6" Type="http://schemas.microsoft.com/office/2007/relationships/hdphoto" Target="../media/hdphoto6.wdp"/><Relationship Id="rId5" Type="http://schemas.openxmlformats.org/officeDocument/2006/relationships/image" Target="../media/image12.png"/><Relationship Id="rId4" Type="http://schemas.microsoft.com/office/2007/relationships/hdphoto" Target="../media/hdphoto5.wdp"/></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image" Target="../media/image9.jpe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4.wdp"/></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2.png"/><Relationship Id="rId4" Type="http://schemas.microsoft.com/office/2007/relationships/hdphoto" Target="../media/hdphoto1.wdp"/></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3.wdp"/></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4.wdp"/></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4.xml"/><Relationship Id="rId6" Type="http://schemas.openxmlformats.org/officeDocument/2006/relationships/image" Target="../media/image3.png"/><Relationship Id="rId5" Type="http://schemas.microsoft.com/office/2007/relationships/hdphoto" Target="../media/hdphoto3.wdp"/><Relationship Id="rId4" Type="http://schemas.openxmlformats.org/officeDocument/2006/relationships/image" Target="../media/image8.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4.xml"/><Relationship Id="rId6" Type="http://schemas.microsoft.com/office/2007/relationships/hdphoto" Target="../media/hdphoto3.wdp"/><Relationship Id="rId5" Type="http://schemas.openxmlformats.org/officeDocument/2006/relationships/image" Target="../media/image8.png"/><Relationship Id="rId4" Type="http://schemas.microsoft.com/office/2007/relationships/hdphoto" Target="../media/hdphoto4.wdp"/></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4.xml"/><Relationship Id="rId6" Type="http://schemas.microsoft.com/office/2007/relationships/hdphoto" Target="../media/hdphoto3.wdp"/><Relationship Id="rId5" Type="http://schemas.openxmlformats.org/officeDocument/2006/relationships/image" Target="../media/image8.png"/><Relationship Id="rId4" Type="http://schemas.microsoft.com/office/2007/relationships/hdphoto" Target="../media/hdphoto4.wdp"/></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image" Target="../media/image9.jpeg"/><Relationship Id="rId1" Type="http://schemas.openxmlformats.org/officeDocument/2006/relationships/slideMaster" Target="../slideMasters/slideMaster4.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4.wdp"/></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8.xml"/><Relationship Id="rId1" Type="http://schemas.openxmlformats.org/officeDocument/2006/relationships/tags" Target="../tags/tag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2.png"/><Relationship Id="rId4" Type="http://schemas.microsoft.com/office/2007/relationships/hdphoto" Target="../media/hdphoto1.wdp"/></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3.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3.wdp"/></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4.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4.wdp"/></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BE0DAE40-464B-542A-F3CA-72C57176C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0452" cy="7039661"/>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96A4A0C-29EC-8C3E-D594-13ECAD0B3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Rectangle 3">
            <a:extLst>
              <a:ext uri="{FF2B5EF4-FFF2-40B4-BE49-F238E27FC236}">
                <a16:creationId xmlns:a16="http://schemas.microsoft.com/office/drawing/2014/main" id="{A1C87679-80C6-AE99-8DAA-AABF3C22FC41}"/>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11">
            <a:extLst>
              <a:ext uri="{FF2B5EF4-FFF2-40B4-BE49-F238E27FC236}">
                <a16:creationId xmlns:a16="http://schemas.microsoft.com/office/drawing/2014/main" id="{066661E8-8677-3293-5AAC-326D368AABAB}"/>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Straight Connector 13">
            <a:extLst>
              <a:ext uri="{FF2B5EF4-FFF2-40B4-BE49-F238E27FC236}">
                <a16:creationId xmlns:a16="http://schemas.microsoft.com/office/drawing/2014/main" id="{DC9115AD-2831-67A5-AD90-EEEFA56EA9EF}"/>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1114C14-9BAA-470F-E3EF-5D0EA90EE792}"/>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0C8A08A5-2F8F-C0CD-6BE3-8EF426240607}"/>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53009199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1C2BD55-C666-8B43-19FA-C2F61102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66741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r>
              <a:rPr lang="zh-CN" altLang="en-US"/>
              <a:t>单击此处编辑母版文本样式</a:t>
            </a:r>
          </a:p>
        </p:txBody>
      </p:sp>
    </p:spTree>
    <p:extLst>
      <p:ext uri="{BB962C8B-B14F-4D97-AF65-F5344CB8AC3E}">
        <p14:creationId xmlns:p14="http://schemas.microsoft.com/office/powerpoint/2010/main" val="5260139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5B30-EAE6-475D-9E77-B9C4E87F9C88}"/>
              </a:ext>
            </a:extLst>
          </p:cNvPr>
          <p:cNvSpPr>
            <a:spLocks noGrp="1"/>
          </p:cNvSpPr>
          <p:nvPr>
            <p:ph type="title" hasCustomPrompt="1"/>
          </p:nvPr>
        </p:nvSpPr>
        <p:spPr>
          <a:xfrm>
            <a:off x="1055988" y="-399021"/>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18373954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D1C7A1-2043-1669-5F8A-7B227BD7D30A}"/>
              </a:ext>
            </a:extLst>
          </p:cNvPr>
          <p:cNvSpPr>
            <a:spLocks noGrp="1"/>
          </p:cNvSpPr>
          <p:nvPr>
            <p:ph type="title" hasCustomPrompt="1"/>
          </p:nvPr>
        </p:nvSpPr>
        <p:spPr>
          <a:xfrm>
            <a:off x="825329" y="-427905"/>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81683085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末尾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8C971A2-91C0-0F12-DA53-E6784B322847}"/>
              </a:ext>
            </a:extLst>
          </p:cNvPr>
          <p:cNvPicPr>
            <a:picLocks noChangeAspect="1"/>
          </p:cNvPicPr>
          <p:nvPr/>
        </p:nvPicPr>
        <p:blipFill>
          <a:blip r:embed="rId2"/>
          <a:stretch>
            <a:fillRect/>
          </a:stretch>
        </p:blipFill>
        <p:spPr>
          <a:xfrm>
            <a:off x="7620000" y="13546"/>
            <a:ext cx="4576460" cy="6844454"/>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Speaker name and title</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2" name="图片 1">
            <a:extLst>
              <a:ext uri="{FF2B5EF4-FFF2-40B4-BE49-F238E27FC236}">
                <a16:creationId xmlns:a16="http://schemas.microsoft.com/office/drawing/2014/main" id="{0808FB89-916C-2617-605B-3A71B8F3D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5B3BDEC6-F771-C16C-C365-03B2262F7C40}"/>
              </a:ext>
            </a:extLst>
          </p:cNvPr>
          <p:cNvPicPr>
            <a:picLocks noChangeAspect="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5" name="图片 4">
            <a:extLst>
              <a:ext uri="{FF2B5EF4-FFF2-40B4-BE49-F238E27FC236}">
                <a16:creationId xmlns:a16="http://schemas.microsoft.com/office/drawing/2014/main" id="{18B5EE46-E2B2-EBF2-F5AC-5322A677557F}"/>
              </a:ext>
            </a:extLst>
          </p:cNvPr>
          <p:cNvPicPr>
            <a:picLocks noChangeAspect="1"/>
          </p:cNvPicPr>
          <p:nvPr/>
        </p:nvPicPr>
        <p:blipFill>
          <a:blip r:embed="rId6">
            <a:duotone>
              <a:prstClr val="black"/>
              <a:schemeClr val="tx2">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7" name="图片 6">
            <a:extLst>
              <a:ext uri="{FF2B5EF4-FFF2-40B4-BE49-F238E27FC236}">
                <a16:creationId xmlns:a16="http://schemas.microsoft.com/office/drawing/2014/main" id="{B23BCB1D-48BB-8E7F-1E38-42BFFA9E944D}"/>
              </a:ext>
            </a:extLst>
          </p:cNvPr>
          <p:cNvPicPr>
            <a:picLocks noChangeAspect="1"/>
          </p:cNvPicPr>
          <p:nvPr/>
        </p:nvPicPr>
        <p:blipFill>
          <a:blip r:embed="rId8">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60185233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标题幻灯片">
    <p:spTree>
      <p:nvGrpSpPr>
        <p:cNvPr id="1" name=""/>
        <p:cNvGrpSpPr/>
        <p:nvPr/>
      </p:nvGrpSpPr>
      <p:grpSpPr>
        <a:xfrm>
          <a:off x="0" y="0"/>
          <a:ext cx="0" cy="0"/>
          <a:chOff x="0" y="0"/>
          <a:chExt cx="0" cy="0"/>
        </a:xfrm>
      </p:grpSpPr>
      <p:grpSp>
        <p:nvGrpSpPr>
          <p:cNvPr id="40" name="组合 39"/>
          <p:cNvGrpSpPr/>
          <p:nvPr/>
        </p:nvGrpSpPr>
        <p:grpSpPr>
          <a:xfrm>
            <a:off x="0" y="0"/>
            <a:ext cx="12192000" cy="6857104"/>
            <a:chOff x="0" y="0"/>
            <a:chExt cx="12192000" cy="6857104"/>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3" name="标题 4">
            <a:extLst>
              <a:ext uri="{FF2B5EF4-FFF2-40B4-BE49-F238E27FC236}">
                <a16:creationId xmlns:a16="http://schemas.microsoft.com/office/drawing/2014/main" id="{B5D391BF-A023-49D2-B62C-E02AC8635D69}"/>
              </a:ext>
            </a:extLst>
          </p:cNvPr>
          <p:cNvSpPr>
            <a:spLocks noGrp="1"/>
          </p:cNvSpPr>
          <p:nvPr>
            <p:ph type="ctrTitle"/>
          </p:nvPr>
        </p:nvSpPr>
        <p:spPr>
          <a:xfrm>
            <a:off x="4400350" y="1183952"/>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zh-CN" altLang="en-US"/>
              <a:t>单击此处编辑母版标题样式</a:t>
            </a:r>
            <a:endParaRPr lang="en-US" dirty="0"/>
          </a:p>
        </p:txBody>
      </p:sp>
      <p:pic>
        <p:nvPicPr>
          <p:cNvPr id="5" name="图片 4">
            <a:extLst>
              <a:ext uri="{FF2B5EF4-FFF2-40B4-BE49-F238E27FC236}">
                <a16:creationId xmlns:a16="http://schemas.microsoft.com/office/drawing/2014/main" id="{57ED4568-4D8D-7CE6-DBD3-61776C004218}"/>
              </a:ext>
            </a:extLst>
          </p:cNvPr>
          <p:cNvPicPr>
            <a:picLocks noChangeAspect="1"/>
          </p:cNvPicPr>
          <p:nvPr/>
        </p:nvPicPr>
        <p:blipFill>
          <a:blip r:embed="rId5">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20576" y="2814306"/>
            <a:ext cx="2178398" cy="978522"/>
          </a:xfrm>
          <a:prstGeom prst="rect">
            <a:avLst/>
          </a:prstGeom>
        </p:spPr>
      </p:pic>
    </p:spTree>
    <p:extLst>
      <p:ext uri="{BB962C8B-B14F-4D97-AF65-F5344CB8AC3E}">
        <p14:creationId xmlns:p14="http://schemas.microsoft.com/office/powerpoint/2010/main" val="199913334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202FDAE-0095-6CC0-EC3F-208D75966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标题 1"/>
          <p:cNvSpPr>
            <a:spLocks noGrp="1"/>
          </p:cNvSpPr>
          <p:nvPr>
            <p:ph type="title" hasCustomPrompt="1"/>
          </p:nvPr>
        </p:nvSpPr>
        <p:spPr>
          <a:xfrm>
            <a:off x="660400" y="1500189"/>
            <a:ext cx="2519061" cy="864515"/>
          </a:xfrm>
          <a:prstGeom prst="rect">
            <a:avLst/>
          </a:prstGeom>
          <a:noFill/>
        </p:spPr>
        <p:txBody>
          <a:bodyPr anchor="t" anchorCtr="0">
            <a:normAutofit/>
          </a:bodyPr>
          <a:lstStyle>
            <a:lvl1pPr algn="r">
              <a:defRPr sz="2800">
                <a:solidFill>
                  <a:srgbClr val="FFFFFF"/>
                </a:solidFill>
              </a:defRPr>
            </a:lvl1pPr>
          </a:lstStyle>
          <a:p>
            <a:pPr lvl="0"/>
            <a:r>
              <a:rPr lang="en-US"/>
              <a:t>Agenda</a:t>
            </a:r>
          </a:p>
        </p:txBody>
      </p:sp>
      <p:sp>
        <p:nvSpPr>
          <p:cNvPr id="3" name="内容占位符 2"/>
          <p:cNvSpPr>
            <a:spLocks noGrp="1"/>
          </p:cNvSpPr>
          <p:nvPr>
            <p:ph sz="quarter" idx="1" hasCustomPrompt="1"/>
          </p:nvPr>
        </p:nvSpPr>
        <p:spPr>
          <a:xfrm>
            <a:off x="3839860" y="1500189"/>
            <a:ext cx="7679039" cy="427831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7" name="图片 6">
            <a:extLst>
              <a:ext uri="{FF2B5EF4-FFF2-40B4-BE49-F238E27FC236}">
                <a16:creationId xmlns:a16="http://schemas.microsoft.com/office/drawing/2014/main" id="{956E91C9-E62C-62F0-BC27-65EF2B59939D}"/>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260BFE75-AB93-8081-4027-EDC31F67337A}"/>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2184" y="6108209"/>
            <a:ext cx="704451" cy="621204"/>
          </a:xfrm>
          <a:prstGeom prst="rect">
            <a:avLst/>
          </a:prstGeom>
        </p:spPr>
      </p:pic>
      <p:pic>
        <p:nvPicPr>
          <p:cNvPr id="4" name="图片 3">
            <a:extLst>
              <a:ext uri="{FF2B5EF4-FFF2-40B4-BE49-F238E27FC236}">
                <a16:creationId xmlns:a16="http://schemas.microsoft.com/office/drawing/2014/main" id="{4533F409-7AF2-7738-C45D-ADDC0C992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5" name="图片 4">
            <a:extLst>
              <a:ext uri="{FF2B5EF4-FFF2-40B4-BE49-F238E27FC236}">
                <a16:creationId xmlns:a16="http://schemas.microsoft.com/office/drawing/2014/main" id="{04915495-E497-C559-512B-5F59C7548598}"/>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6" name="图片 5">
            <a:extLst>
              <a:ext uri="{FF2B5EF4-FFF2-40B4-BE49-F238E27FC236}">
                <a16:creationId xmlns:a16="http://schemas.microsoft.com/office/drawing/2014/main" id="{824640ED-C55D-8D73-4EAB-DC295132A4F1}"/>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112345370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0C225C48-C16B-E760-3562-D3A3B9176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A8C2A5F4-62F8-0DE3-BF8E-7DB2909DE39B}"/>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958CF466-A791-1E6D-0D69-1A428A2442AE}"/>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58442788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空白">
    <p:spTree>
      <p:nvGrpSpPr>
        <p:cNvPr id="1" name=""/>
        <p:cNvGrpSpPr/>
        <p:nvPr/>
      </p:nvGrpSpPr>
      <p:grpSpPr>
        <a:xfrm>
          <a:off x="0" y="0"/>
          <a:ext cx="0" cy="0"/>
          <a:chOff x="0" y="0"/>
          <a:chExt cx="0" cy="0"/>
        </a:xfrm>
      </p:grpSpPr>
      <p:sp>
        <p:nvSpPr>
          <p:cNvPr id="5" name="矩形 4"/>
          <p:cNvSpPr/>
          <p:nvPr/>
        </p:nvSpPr>
        <p:spPr>
          <a:xfrm>
            <a:off x="0" y="6729413"/>
            <a:ext cx="12192000" cy="128587"/>
          </a:xfrm>
          <a:prstGeom prst="rect">
            <a:avLst/>
          </a:prstGeom>
          <a:gradFill>
            <a:gsLst>
              <a:gs pos="0">
                <a:schemeClr val="accent2"/>
              </a:gs>
              <a:gs pos="100000">
                <a:schemeClr val="accent1"/>
              </a:gs>
            </a:gsLst>
            <a:lin ang="10800000" scaled="1"/>
          </a:gradFill>
          <a:ln w="19050">
            <a:noFill/>
            <a:round/>
          </a:ln>
        </p:spPr>
        <p:txBody>
          <a:bodyPr vert="horz" wrap="square" lIns="91440" tIns="45720" rIns="91440" bIns="45720" numCol="1" spcCol="0" rtlCol="0" fromWordArt="0" anchor="ctr" anchorCtr="1" forceAA="0" compatLnSpc="1">
            <a:noAutofit/>
          </a:bodyPr>
          <a:lstStyle/>
          <a:p>
            <a:pPr lvl="0" algn="ctr"/>
            <a:endParaRPr lang="zh-CN" altLang="en-US" sz="1200" b="1">
              <a:solidFill>
                <a:schemeClr val="tx1"/>
              </a:solidFill>
            </a:endParaRPr>
          </a:p>
        </p:txBody>
      </p:sp>
      <p:sp>
        <p:nvSpPr>
          <p:cNvPr id="6" name="标题 1">
            <a:extLst>
              <a:ext uri="{FF2B5EF4-FFF2-40B4-BE49-F238E27FC236}">
                <a16:creationId xmlns:a16="http://schemas.microsoft.com/office/drawing/2014/main" id="{1E9DDCD0-7537-A039-754A-F4224B0E3693}"/>
              </a:ext>
            </a:extLst>
          </p:cNvPr>
          <p:cNvSpPr>
            <a:spLocks noGrp="1"/>
          </p:cNvSpPr>
          <p:nvPr>
            <p:ph type="title"/>
          </p:nvPr>
        </p:nvSpPr>
        <p:spPr>
          <a:xfrm>
            <a:off x="866346" y="-316256"/>
            <a:ext cx="10858500" cy="900112"/>
          </a:xfrm>
        </p:spPr>
        <p:txBody>
          <a:bodyPr/>
          <a:lstStyle>
            <a:lvl1pPr>
              <a:defRPr/>
            </a:lvl1pPr>
          </a:lstStyle>
          <a:p>
            <a:pPr lvl="0"/>
            <a:r>
              <a:rPr lang="zh-CN" altLang="en-US"/>
              <a:t>单击此处编辑母版标题样式</a:t>
            </a:r>
            <a:endParaRPr lang="en-US" dirty="0"/>
          </a:p>
        </p:txBody>
      </p:sp>
    </p:spTree>
    <p:extLst>
      <p:ext uri="{BB962C8B-B14F-4D97-AF65-F5344CB8AC3E}">
        <p14:creationId xmlns:p14="http://schemas.microsoft.com/office/powerpoint/2010/main" val="361669581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标题幻灯片">
    <p:spTree>
      <p:nvGrpSpPr>
        <p:cNvPr id="1" name=""/>
        <p:cNvGrpSpPr/>
        <p:nvPr/>
      </p:nvGrpSpPr>
      <p:grpSpPr>
        <a:xfrm>
          <a:off x="0" y="0"/>
          <a:ext cx="0" cy="0"/>
          <a:chOff x="0" y="0"/>
          <a:chExt cx="0" cy="0"/>
        </a:xfrm>
      </p:grpSpPr>
      <p:grpSp>
        <p:nvGrpSpPr>
          <p:cNvPr id="40" name="组合 39"/>
          <p:cNvGrpSpPr/>
          <p:nvPr/>
        </p:nvGrpSpPr>
        <p:grpSpPr>
          <a:xfrm>
            <a:off x="0" y="896"/>
            <a:ext cx="12192000" cy="6857104"/>
            <a:chOff x="0" y="0"/>
            <a:chExt cx="12192000" cy="6857104"/>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sp>
        <p:nvSpPr>
          <p:cNvPr id="3" name="标题 4">
            <a:extLst>
              <a:ext uri="{FF2B5EF4-FFF2-40B4-BE49-F238E27FC236}">
                <a16:creationId xmlns:a16="http://schemas.microsoft.com/office/drawing/2014/main" id="{B5D391BF-A023-49D2-B62C-E02AC8635D69}"/>
              </a:ext>
            </a:extLst>
          </p:cNvPr>
          <p:cNvSpPr>
            <a:spLocks noGrp="1"/>
          </p:cNvSpPr>
          <p:nvPr>
            <p:ph type="ctrTitle"/>
          </p:nvPr>
        </p:nvSpPr>
        <p:spPr>
          <a:xfrm>
            <a:off x="1653009" y="1900394"/>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zh-CN" altLang="en-US" dirty="0"/>
              <a:t>单击此处编辑母版标题样式</a:t>
            </a:r>
            <a:endParaRPr lang="en-US" dirty="0"/>
          </a:p>
        </p:txBody>
      </p:sp>
    </p:spTree>
    <p:extLst>
      <p:ext uri="{BB962C8B-B14F-4D97-AF65-F5344CB8AC3E}">
        <p14:creationId xmlns:p14="http://schemas.microsoft.com/office/powerpoint/2010/main" val="384827301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DDCD0-7537-A039-754A-F4224B0E3693}"/>
              </a:ext>
            </a:extLst>
          </p:cNvPr>
          <p:cNvSpPr>
            <a:spLocks noGrp="1"/>
          </p:cNvSpPr>
          <p:nvPr/>
        </p:nvSpPr>
        <p:spPr>
          <a:xfrm>
            <a:off x="899833"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3" name="标题 1">
            <a:extLst>
              <a:ext uri="{FF2B5EF4-FFF2-40B4-BE49-F238E27FC236}">
                <a16:creationId xmlns:a16="http://schemas.microsoft.com/office/drawing/2014/main" id="{1E9DDCD0-7537-A039-754A-F4224B0E3693}"/>
              </a:ext>
            </a:extLst>
          </p:cNvPr>
          <p:cNvSpPr>
            <a:spLocks noGrp="1"/>
          </p:cNvSpPr>
          <p:nvPr/>
        </p:nvSpPr>
        <p:spPr>
          <a:xfrm>
            <a:off x="947645"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149429265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13" name="文本占位符 12"/>
          <p:cNvSpPr>
            <a:spLocks noGrp="1"/>
          </p:cNvSpPr>
          <p:nvPr>
            <p:ph type="body" idx="1"/>
            <p:custDataLst>
              <p:tags r:id="rId1"/>
            </p:custDataLst>
          </p:nvPr>
        </p:nvSpPr>
        <p:spPr>
          <a:xfrm>
            <a:off x="569595" y="1253490"/>
            <a:ext cx="11052810" cy="4869180"/>
          </a:xfrm>
          <a:prstGeom prst="rect">
            <a:avLst/>
          </a:prstGeom>
        </p:spPr>
        <p:txBody>
          <a:bodyPr vert="horz" lIns="91440" tIns="45720" rIns="91440" bIns="45720" rtlCol="0">
            <a:normAutofit/>
          </a:bodyPr>
          <a:lstStyle>
            <a:lvl1pPr marL="0" indent="0">
              <a:buNone/>
              <a:defRPr sz="1400">
                <a:solidFill>
                  <a:schemeClr val="tx1"/>
                </a:solidFill>
              </a:defRPr>
            </a:lvl1pPr>
            <a:lvl2pPr marL="457200" indent="0">
              <a:buNone/>
              <a:defRPr sz="1400">
                <a:solidFill>
                  <a:schemeClr val="tx1"/>
                </a:solidFill>
              </a:defRPr>
            </a:lvl2pPr>
            <a:lvl3pPr marL="914400" indent="0">
              <a:buNone/>
              <a:defRPr sz="1400">
                <a:solidFill>
                  <a:schemeClr val="tx1"/>
                </a:solidFill>
              </a:defRPr>
            </a:lvl3pPr>
            <a:lvl4pPr marL="1371600" indent="0">
              <a:buNone/>
              <a:defRPr sz="1400">
                <a:solidFill>
                  <a:schemeClr val="tx1"/>
                </a:solidFill>
              </a:defRPr>
            </a:lvl4pPr>
            <a:lvl5pPr marL="1828800" indent="0">
              <a:buNone/>
              <a:defRPr sz="14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灯片编号占位符 4"/>
          <p:cNvSpPr>
            <a:spLocks noGrp="1"/>
          </p:cNvSpPr>
          <p:nvPr>
            <p:custDataLst>
              <p:tags r:id="rId2"/>
            </p:custDataLst>
          </p:nvPr>
        </p:nvSpPr>
        <p:spPr>
          <a:xfrm>
            <a:off x="8879205" y="637540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56FF76-7BF1-4E25-A0F5-B7CD95F22364}" type="slidenum">
              <a:rPr lang="zh-CN" altLang="en-US" smtClean="0"/>
              <a:t>‹#›</a:t>
            </a:fld>
            <a:endParaRPr lang="zh-CN" altLang="en-US" dirty="0"/>
          </a:p>
        </p:txBody>
      </p:sp>
      <p:sp>
        <p:nvSpPr>
          <p:cNvPr id="2" name="标题 1">
            <a:extLst>
              <a:ext uri="{FF2B5EF4-FFF2-40B4-BE49-F238E27FC236}">
                <a16:creationId xmlns:a16="http://schemas.microsoft.com/office/drawing/2014/main" id="{1E9DDCD0-7537-A039-754A-F4224B0E3693}"/>
              </a:ext>
            </a:extLst>
          </p:cNvPr>
          <p:cNvSpPr>
            <a:spLocks noGrp="1"/>
          </p:cNvSpPr>
          <p:nvPr/>
        </p:nvSpPr>
        <p:spPr>
          <a:xfrm>
            <a:off x="935691" y="-22304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376153081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31029"/>
            <a:ext cx="10858500" cy="1028700"/>
          </a:xfrm>
        </p:spPr>
        <p:txBody>
          <a:bodyPr/>
          <a:lstStyle/>
          <a:p>
            <a:r>
              <a:rPr lang="zh-CN" altLang="en-US"/>
              <a:t>单击此处编辑母版标题样式</a:t>
            </a:r>
          </a:p>
        </p:txBody>
      </p:sp>
      <p:sp>
        <p:nvSpPr>
          <p:cNvPr id="3" name="内容占位符 2"/>
          <p:cNvSpPr>
            <a:spLocks noGrp="1"/>
          </p:cNvSpPr>
          <p:nvPr>
            <p:ph sz="half" idx="1"/>
          </p:nvPr>
        </p:nvSpPr>
        <p:spPr>
          <a:xfrm>
            <a:off x="609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51E7F0B-FFCC-4D4F-B467-D280DDD33922}" type="datetimeFigureOut">
              <a:rPr lang="zh-CN" altLang="en-US" smtClean="0"/>
              <a:t>2026/9/18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B6D5FF2-B339-4F0C-9123-47E0DF76EF31}" type="slidenum">
              <a:rPr lang="zh-CN" altLang="en-US" smtClean="0"/>
              <a:t>‹#›</a:t>
            </a:fld>
            <a:endParaRPr lang="zh-CN" altLang="en-US"/>
          </a:p>
        </p:txBody>
      </p:sp>
    </p:spTree>
    <p:extLst>
      <p:ext uri="{BB962C8B-B14F-4D97-AF65-F5344CB8AC3E}">
        <p14:creationId xmlns:p14="http://schemas.microsoft.com/office/powerpoint/2010/main" val="212303910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 No Background">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450" indent="-171450">
              <a:lnSpc>
                <a:spcPct val="90000"/>
              </a:lnSpc>
              <a:spcBef>
                <a:spcPts val="6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6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Freeform 5">
            <a:extLst>
              <a:ext uri="{FF2B5EF4-FFF2-40B4-BE49-F238E27FC236}">
                <a16:creationId xmlns:a16="http://schemas.microsoft.com/office/drawing/2014/main" id="{8C261849-EED4-439D-9D86-D00B5DA1B6C8}"/>
              </a:ext>
            </a:extLst>
          </p:cNvPr>
          <p:cNvSpPr>
            <a:spLocks noChangeAspect="1" noEditPoints="1"/>
          </p:cNvSpPr>
          <p:nvPr/>
        </p:nvSpPr>
        <p:spPr bwMode="black">
          <a:xfrm>
            <a:off x="205409" y="423409"/>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8" name="TextBox slide number">
            <a:extLst>
              <a:ext uri="{FF2B5EF4-FFF2-40B4-BE49-F238E27FC236}">
                <a16:creationId xmlns:a16="http://schemas.microsoft.com/office/drawing/2014/main" id="{C14F407B-25FF-40AD-A010-7F4E0497654A}"/>
              </a:ext>
            </a:extLst>
          </p:cNvPr>
          <p:cNvSpPr txBox="1"/>
          <p:nvPr/>
        </p:nvSpPr>
        <p:spPr bwMode="white">
          <a:xfrm>
            <a:off x="11751760" y="6395208"/>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dirty="0">
              <a:solidFill>
                <a:schemeClr val="tx1"/>
              </a:solidFill>
            </a:endParaRPr>
          </a:p>
        </p:txBody>
      </p:sp>
    </p:spTree>
    <p:extLst>
      <p:ext uri="{BB962C8B-B14F-4D97-AF65-F5344CB8AC3E}">
        <p14:creationId xmlns:p14="http://schemas.microsoft.com/office/powerpoint/2010/main" val="375549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空白">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EF5-5DA5-9F91-63DD-0168D8E3EB8B}"/>
              </a:ext>
            </a:extLst>
          </p:cNvPr>
          <p:cNvSpPr>
            <a:spLocks noGrp="1"/>
          </p:cNvSpPr>
          <p:nvPr>
            <p:ph type="title"/>
          </p:nvPr>
        </p:nvSpPr>
        <p:spPr>
          <a:xfrm>
            <a:off x="886690" y="187035"/>
            <a:ext cx="10714759" cy="457201"/>
          </a:xfrm>
          <a:prstGeom prst="rect">
            <a:avLst/>
          </a:prstGeom>
        </p:spPr>
        <p:txBody>
          <a:bodyPr/>
          <a:lstStyle>
            <a:lvl1pPr>
              <a:defRPr>
                <a:solidFill>
                  <a:schemeClr val="tx1"/>
                </a:solidFill>
                <a:latin typeface="+mj-ea"/>
                <a:ea typeface="+mj-ea"/>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76384542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B42509E-12FE-156B-B1FC-818C4EC59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p:nvPr>
        </p:nvSpPr>
        <p:spPr>
          <a:xfrm>
            <a:off x="1027460" y="2767054"/>
            <a:ext cx="5200650" cy="1794141"/>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zh-CN" altLang="en-US"/>
              <a:t>单击此处编辑母版标题样式</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F90B7826-24A7-BC3C-73C9-9F5F7B19EAE5}"/>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0BDE140C-EF3F-E22F-4A92-E3E962B8277F}"/>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51722202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a:prstGeom prst="rect">
            <a:avLst/>
          </a:prstGeo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2B64EF90-A043-CF53-4A64-26B4932B7055}"/>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7FF88E22-8B91-66CE-8127-F4DF49D0C47F}"/>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39120071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37927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6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B5C826-F652-1CCF-FB10-4DE7F332740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26DAE16-B950-0286-9A18-C043BF0AE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9C147E3-3761-43A7-4D59-BFC767BB98C0}"/>
              </a:ext>
            </a:extLst>
          </p:cNvPr>
          <p:cNvSpPr>
            <a:spLocks noGrp="1"/>
          </p:cNvSpPr>
          <p:nvPr>
            <p:ph type="dt" sz="half" idx="10"/>
          </p:nvPr>
        </p:nvSpPr>
        <p:spPr/>
        <p:txBody>
          <a:bodyPr/>
          <a:lstStyle/>
          <a:p>
            <a:fld id="{751E7F0B-FFCC-4D4F-B467-D280DDD33922}"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5F1EC97E-78BF-E451-8042-9CF4773CBD6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D7F1CD-72A6-4265-3957-B464E74A9704}"/>
              </a:ext>
            </a:extLst>
          </p:cNvPr>
          <p:cNvSpPr>
            <a:spLocks noGrp="1"/>
          </p:cNvSpPr>
          <p:nvPr>
            <p:ph type="sldNum" sz="quarter" idx="12"/>
          </p:nvPr>
        </p:nvSpPr>
        <p:spPr/>
        <p:txBody>
          <a:bodyPr/>
          <a:lstStyle/>
          <a:p>
            <a:fld id="{6B6D5FF2-B339-4F0C-9123-47E0DF76EF31}" type="slidenum">
              <a:rPr lang="zh-CN" altLang="en-US" smtClean="0"/>
              <a:t>‹#›</a:t>
            </a:fld>
            <a:endParaRPr lang="zh-CN" altLang="en-US"/>
          </a:p>
        </p:txBody>
      </p:sp>
    </p:spTree>
    <p:extLst>
      <p:ext uri="{BB962C8B-B14F-4D97-AF65-F5344CB8AC3E}">
        <p14:creationId xmlns:p14="http://schemas.microsoft.com/office/powerpoint/2010/main" val="2422489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grpSp>
        <p:nvGrpSpPr>
          <p:cNvPr id="40" name="组合 39"/>
          <p:cNvGrpSpPr/>
          <p:nvPr userDrawn="1"/>
        </p:nvGrpSpPr>
        <p:grpSpPr>
          <a:xfrm>
            <a:off x="0" y="0"/>
            <a:ext cx="12192000" cy="6857104"/>
            <a:chOff x="0" y="0"/>
            <a:chExt cx="12192000" cy="6857104"/>
          </a:xfrm>
        </p:grpSpPr>
        <p:sp>
          <p:nvSpPr>
            <p:cNvPr id="26" name="任意多边形: 形状 25"/>
            <p:cNvSpPr/>
            <p:nvPr userDrawn="1"/>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userDrawn="1"/>
          </p:nvGrpSpPr>
          <p:grpSpPr>
            <a:xfrm rot="16200000">
              <a:off x="10661887" y="5765801"/>
              <a:ext cx="783772" cy="783772"/>
              <a:chOff x="9052852" y="3572185"/>
              <a:chExt cx="344753" cy="344753"/>
            </a:xfrm>
          </p:grpSpPr>
          <p:grpSp>
            <p:nvGrpSpPr>
              <p:cNvPr id="55" name="组合 54"/>
              <p:cNvGrpSpPr/>
              <p:nvPr userDrawn="1"/>
            </p:nvGrpSpPr>
            <p:grpSpPr>
              <a:xfrm flipV="1">
                <a:off x="9052852" y="3572185"/>
                <a:ext cx="344753" cy="344753"/>
                <a:chOff x="2909263" y="4352415"/>
                <a:chExt cx="93625" cy="93625"/>
              </a:xfrm>
            </p:grpSpPr>
            <p:sp>
              <p:nvSpPr>
                <p:cNvPr id="57" name="椭圆 56"/>
                <p:cNvSpPr/>
                <p:nvPr userDrawn="1"/>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userDrawn="1"/>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4594541" y="1855139"/>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endParaRPr lang="en-US" dirty="0"/>
          </a:p>
        </p:txBody>
      </p:sp>
      <p:pic>
        <p:nvPicPr>
          <p:cNvPr id="3" name="图片 2">
            <a:extLst>
              <a:ext uri="{FF2B5EF4-FFF2-40B4-BE49-F238E27FC236}">
                <a16:creationId xmlns:a16="http://schemas.microsoft.com/office/drawing/2014/main" id="{28F19448-DCD7-2BCE-82BA-95A656302291}"/>
              </a:ext>
            </a:extLst>
          </p:cNvPr>
          <p:cNvPicPr>
            <a:picLocks noChangeAspect="1"/>
          </p:cNvPicPr>
          <p:nvPr userDrawn="1"/>
        </p:nvPicPr>
        <p:blipFill>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
        <p:nvSpPr>
          <p:cNvPr id="4" name="文本框 3">
            <a:extLst>
              <a:ext uri="{FF2B5EF4-FFF2-40B4-BE49-F238E27FC236}">
                <a16:creationId xmlns:a16="http://schemas.microsoft.com/office/drawing/2014/main" id="{7C0BEDAE-EB8C-24D6-C6AF-B8C73A0C8E8B}"/>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spTree>
    <p:extLst>
      <p:ext uri="{BB962C8B-B14F-4D97-AF65-F5344CB8AC3E}">
        <p14:creationId xmlns:p14="http://schemas.microsoft.com/office/powerpoint/2010/main" val="4158828757"/>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BE0DAE40-464B-542A-F3CA-72C57176C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0452" cy="7039661"/>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96A4A0C-29EC-8C3E-D594-13ECAD0B3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Rectangle 3">
            <a:extLst>
              <a:ext uri="{FF2B5EF4-FFF2-40B4-BE49-F238E27FC236}">
                <a16:creationId xmlns:a16="http://schemas.microsoft.com/office/drawing/2014/main" id="{A1C87679-80C6-AE99-8DAA-AABF3C22FC41}"/>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11">
            <a:extLst>
              <a:ext uri="{FF2B5EF4-FFF2-40B4-BE49-F238E27FC236}">
                <a16:creationId xmlns:a16="http://schemas.microsoft.com/office/drawing/2014/main" id="{066661E8-8677-3293-5AAC-326D368AABAB}"/>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Straight Connector 13">
            <a:extLst>
              <a:ext uri="{FF2B5EF4-FFF2-40B4-BE49-F238E27FC236}">
                <a16:creationId xmlns:a16="http://schemas.microsoft.com/office/drawing/2014/main" id="{DC9115AD-2831-67A5-AD90-EEEFA56EA9EF}"/>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1114C14-9BAA-470F-E3EF-5D0EA90EE792}"/>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0C8A08A5-2F8F-C0CD-6BE3-8EF426240607}"/>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54467784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1C2BD55-C666-8B43-19FA-C2F61102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p:nvPr>
        </p:nvSpPr>
        <p:spPr>
          <a:xfrm>
            <a:off x="1029470" y="1862477"/>
            <a:ext cx="5200650" cy="2605695"/>
          </a:xfrm>
          <a:noFill/>
          <a:ln>
            <a:noFill/>
          </a:ln>
        </p:spPr>
        <p:txBody>
          <a:bodyPr vert="horz" wrap="square" lIns="91440" tIns="45720" rIns="91440" bIns="45720" rtlCol="0" anchor="b">
            <a:noAutofit/>
          </a:bodyPr>
          <a:lstStyle>
            <a:lvl1pPr algn="ctr">
              <a:defRPr lang="zh-CN" altLang="en-US" sz="4400" i="0" dirty="0">
                <a:solidFill>
                  <a:schemeClr val="bg1"/>
                </a:solidFill>
              </a:defRPr>
            </a:lvl1pPr>
          </a:lstStyle>
          <a:p>
            <a:pPr lvl="0"/>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24157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bg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endParaRPr lang="zh-CN" altLang="en-US" dirty="0"/>
          </a:p>
        </p:txBody>
      </p:sp>
    </p:spTree>
    <p:extLst>
      <p:ext uri="{BB962C8B-B14F-4D97-AF65-F5344CB8AC3E}">
        <p14:creationId xmlns:p14="http://schemas.microsoft.com/office/powerpoint/2010/main" val="161670502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5B30-EAE6-475D-9E77-B9C4E87F9C88}"/>
              </a:ext>
            </a:extLst>
          </p:cNvPr>
          <p:cNvSpPr>
            <a:spLocks noGrp="1"/>
          </p:cNvSpPr>
          <p:nvPr>
            <p:ph type="title"/>
          </p:nvPr>
        </p:nvSpPr>
        <p:spPr>
          <a:xfrm>
            <a:off x="1055988" y="63795"/>
            <a:ext cx="10858500" cy="565883"/>
          </a:xfrm>
        </p:spPr>
        <p:txBody>
          <a:bodyPr/>
          <a:lstStyle>
            <a:lvl1pPr>
              <a:defRPr>
                <a:solidFill>
                  <a:schemeClr val="bg1"/>
                </a:solidFill>
              </a:defRPr>
            </a:lvl1pPr>
          </a:lstStyle>
          <a:p>
            <a:endParaRPr lang="zh-CN" altLang="en-US" dirty="0"/>
          </a:p>
        </p:txBody>
      </p:sp>
      <p:sp>
        <p:nvSpPr>
          <p:cNvPr id="3" name="Freeform 5">
            <a:extLst>
              <a:ext uri="{FF2B5EF4-FFF2-40B4-BE49-F238E27FC236}">
                <a16:creationId xmlns:a16="http://schemas.microsoft.com/office/drawing/2014/main" id="{30EAF3CF-A2E7-6ECC-6A5B-97BFF20CBA8B}"/>
              </a:ext>
            </a:extLst>
          </p:cNvPr>
          <p:cNvSpPr>
            <a:spLocks noChangeAspect="1" noEditPoints="1"/>
          </p:cNvSpPr>
          <p:nvPr userDrawn="1"/>
        </p:nvSpPr>
        <p:spPr bwMode="black">
          <a:xfrm>
            <a:off x="630711" y="246442"/>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5851004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D1C7A1-2043-1669-5F8A-7B227BD7D30A}"/>
              </a:ext>
            </a:extLst>
          </p:cNvPr>
          <p:cNvSpPr>
            <a:spLocks noGrp="1"/>
          </p:cNvSpPr>
          <p:nvPr>
            <p:ph type="title"/>
          </p:nvPr>
        </p:nvSpPr>
        <p:spPr>
          <a:xfrm>
            <a:off x="825329" y="37213"/>
            <a:ext cx="10858500" cy="563581"/>
          </a:xfrm>
        </p:spPr>
        <p:txBody>
          <a:bodyPr/>
          <a:lstStyle>
            <a:lvl1pPr>
              <a:defRPr>
                <a:solidFill>
                  <a:schemeClr val="bg1"/>
                </a:solidFill>
              </a:defRPr>
            </a:lvl1pPr>
          </a:lstStyle>
          <a:p>
            <a:endParaRPr lang="zh-CN" altLang="en-US" dirty="0"/>
          </a:p>
        </p:txBody>
      </p:sp>
      <p:sp>
        <p:nvSpPr>
          <p:cNvPr id="2" name="Freeform 5">
            <a:extLst>
              <a:ext uri="{FF2B5EF4-FFF2-40B4-BE49-F238E27FC236}">
                <a16:creationId xmlns:a16="http://schemas.microsoft.com/office/drawing/2014/main" id="{8B2B53EC-7B47-E8AA-4EE2-A75948C99D9C}"/>
              </a:ext>
            </a:extLst>
          </p:cNvPr>
          <p:cNvSpPr>
            <a:spLocks noChangeAspect="1" noEditPoints="1"/>
          </p:cNvSpPr>
          <p:nvPr userDrawn="1"/>
        </p:nvSpPr>
        <p:spPr bwMode="black">
          <a:xfrm>
            <a:off x="460591" y="240913"/>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38608772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末尾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8C971A2-91C0-0F12-DA53-E6784B322847}"/>
              </a:ext>
            </a:extLst>
          </p:cNvPr>
          <p:cNvPicPr>
            <a:picLocks noChangeAspect="1"/>
          </p:cNvPicPr>
          <p:nvPr/>
        </p:nvPicPr>
        <p:blipFill>
          <a:blip r:embed="rId2"/>
          <a:stretch>
            <a:fillRect/>
          </a:stretch>
        </p:blipFill>
        <p:spPr>
          <a:xfrm>
            <a:off x="7620000" y="13546"/>
            <a:ext cx="4576460" cy="6844454"/>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Speaker name and title</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2" name="图片 1">
            <a:extLst>
              <a:ext uri="{FF2B5EF4-FFF2-40B4-BE49-F238E27FC236}">
                <a16:creationId xmlns:a16="http://schemas.microsoft.com/office/drawing/2014/main" id="{0808FB89-916C-2617-605B-3A71B8F3D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5B3BDEC6-F771-C16C-C365-03B2262F7C40}"/>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5" name="图片 4">
            <a:extLst>
              <a:ext uri="{FF2B5EF4-FFF2-40B4-BE49-F238E27FC236}">
                <a16:creationId xmlns:a16="http://schemas.microsoft.com/office/drawing/2014/main" id="{18B5EE46-E2B2-EBF2-F5AC-5322A677557F}"/>
              </a:ext>
            </a:extLst>
          </p:cNvPr>
          <p:cNvPicPr>
            <a:picLocks noChangeAspect="1"/>
          </p:cNvPicPr>
          <p:nvPr/>
        </p:nvPicPr>
        <p:blipFill>
          <a:blip r:embed="rId6" cstate="print">
            <a:duotone>
              <a:prstClr val="black"/>
              <a:schemeClr val="tx2">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7" name="图片 6">
            <a:extLst>
              <a:ext uri="{FF2B5EF4-FFF2-40B4-BE49-F238E27FC236}">
                <a16:creationId xmlns:a16="http://schemas.microsoft.com/office/drawing/2014/main" id="{B23BCB1D-48BB-8E7F-1E38-42BFFA9E944D}"/>
              </a:ext>
            </a:extLst>
          </p:cNvPr>
          <p:cNvPicPr>
            <a:picLocks noChangeAspect="1"/>
          </p:cNvPicPr>
          <p:nvPr/>
        </p:nvPicPr>
        <p:blipFill>
          <a:blip r:embed="rId8"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256522226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2_标题幻灯片">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3" name="标题 4">
            <a:extLst>
              <a:ext uri="{FF2B5EF4-FFF2-40B4-BE49-F238E27FC236}">
                <a16:creationId xmlns:a16="http://schemas.microsoft.com/office/drawing/2014/main" id="{B5D391BF-A023-49D2-B62C-E02AC8635D69}"/>
              </a:ext>
            </a:extLst>
          </p:cNvPr>
          <p:cNvSpPr>
            <a:spLocks noGrp="1"/>
          </p:cNvSpPr>
          <p:nvPr>
            <p:ph type="ctrTitle"/>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bg1"/>
                </a:solidFill>
              </a:defRPr>
            </a:lvl1pPr>
          </a:lstStyle>
          <a:p>
            <a:pPr lvl="0"/>
            <a:endParaRPr lang="en-US" dirty="0"/>
          </a:p>
        </p:txBody>
      </p:sp>
      <p:pic>
        <p:nvPicPr>
          <p:cNvPr id="5" name="图片 4">
            <a:extLst>
              <a:ext uri="{FF2B5EF4-FFF2-40B4-BE49-F238E27FC236}">
                <a16:creationId xmlns:a16="http://schemas.microsoft.com/office/drawing/2014/main" id="{57ED4568-4D8D-7CE6-DBD3-61776C004218}"/>
              </a:ext>
            </a:extLst>
          </p:cNvPr>
          <p:cNvPicPr>
            <a:picLocks noChangeAspect="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45185" y="2818989"/>
            <a:ext cx="2178398" cy="978522"/>
          </a:xfrm>
          <a:prstGeom prst="rect">
            <a:avLst/>
          </a:prstGeom>
        </p:spPr>
      </p:pic>
    </p:spTree>
    <p:extLst>
      <p:ext uri="{BB962C8B-B14F-4D97-AF65-F5344CB8AC3E}">
        <p14:creationId xmlns:p14="http://schemas.microsoft.com/office/powerpoint/2010/main" val="2128710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202FDAE-0095-6CC0-EC3F-208D75966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标题 1"/>
          <p:cNvSpPr>
            <a:spLocks noGrp="1"/>
          </p:cNvSpPr>
          <p:nvPr>
            <p:ph type="title" hasCustomPrompt="1"/>
          </p:nvPr>
        </p:nvSpPr>
        <p:spPr>
          <a:xfrm>
            <a:off x="660400" y="1500189"/>
            <a:ext cx="2519061" cy="864515"/>
          </a:xfrm>
          <a:prstGeom prst="rect">
            <a:avLst/>
          </a:prstGeom>
          <a:noFill/>
        </p:spPr>
        <p:txBody>
          <a:bodyPr anchor="t" anchorCtr="0">
            <a:normAutofit/>
          </a:bodyPr>
          <a:lstStyle>
            <a:lvl1pPr algn="r">
              <a:defRPr sz="2800">
                <a:solidFill>
                  <a:srgbClr val="FFFFFF"/>
                </a:solidFill>
              </a:defRPr>
            </a:lvl1pPr>
          </a:lstStyle>
          <a:p>
            <a:pPr lvl="0"/>
            <a:r>
              <a:rPr lang="en-US"/>
              <a:t>Agenda</a:t>
            </a:r>
          </a:p>
        </p:txBody>
      </p:sp>
      <p:sp>
        <p:nvSpPr>
          <p:cNvPr id="3" name="内容占位符 2"/>
          <p:cNvSpPr>
            <a:spLocks noGrp="1"/>
          </p:cNvSpPr>
          <p:nvPr>
            <p:ph sz="quarter" idx="1" hasCustomPrompt="1"/>
          </p:nvPr>
        </p:nvSpPr>
        <p:spPr>
          <a:xfrm>
            <a:off x="3839860" y="1500189"/>
            <a:ext cx="7679039" cy="427831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7" name="图片 6">
            <a:extLst>
              <a:ext uri="{FF2B5EF4-FFF2-40B4-BE49-F238E27FC236}">
                <a16:creationId xmlns:a16="http://schemas.microsoft.com/office/drawing/2014/main" id="{956E91C9-E62C-62F0-BC27-65EF2B59939D}"/>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260BFE75-AB93-8081-4027-EDC31F67337A}"/>
              </a:ext>
            </a:extLst>
          </p:cNvPr>
          <p:cNvPicPr>
            <a:picLocks noChangeAspect="1"/>
          </p:cNvPicPr>
          <p:nvPr/>
        </p:nvPicPr>
        <p:blipFill>
          <a:blip r:embed="rId4" cstate="print">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2184" y="6108209"/>
            <a:ext cx="704451" cy="621204"/>
          </a:xfrm>
          <a:prstGeom prst="rect">
            <a:avLst/>
          </a:prstGeom>
        </p:spPr>
      </p:pic>
      <p:pic>
        <p:nvPicPr>
          <p:cNvPr id="4" name="图片 3">
            <a:extLst>
              <a:ext uri="{FF2B5EF4-FFF2-40B4-BE49-F238E27FC236}">
                <a16:creationId xmlns:a16="http://schemas.microsoft.com/office/drawing/2014/main" id="{4533F409-7AF2-7738-C45D-ADDC0C992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5" name="图片 4">
            <a:extLst>
              <a:ext uri="{FF2B5EF4-FFF2-40B4-BE49-F238E27FC236}">
                <a16:creationId xmlns:a16="http://schemas.microsoft.com/office/drawing/2014/main" id="{04915495-E497-C559-512B-5F59C7548598}"/>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6" name="图片 5">
            <a:extLst>
              <a:ext uri="{FF2B5EF4-FFF2-40B4-BE49-F238E27FC236}">
                <a16:creationId xmlns:a16="http://schemas.microsoft.com/office/drawing/2014/main" id="{824640ED-C55D-8D73-4EAB-DC295132A4F1}"/>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86444083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0C225C48-C16B-E760-3562-D3A3B9176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A8C2A5F4-62F8-0DE3-BF8E-7DB2909DE39B}"/>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958CF466-A791-1E6D-0D69-1A428A2442AE}"/>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75496986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bg1"/>
                </a:solidFill>
              </a:defRPr>
            </a:lvl1pPr>
          </a:lstStyle>
          <a:p>
            <a:pPr lvl="0"/>
            <a:endParaRPr lang="en-US" dirty="0"/>
          </a:p>
        </p:txBody>
      </p:sp>
      <p:pic>
        <p:nvPicPr>
          <p:cNvPr id="2" name="图片 1">
            <a:extLst>
              <a:ext uri="{FF2B5EF4-FFF2-40B4-BE49-F238E27FC236}">
                <a16:creationId xmlns:a16="http://schemas.microsoft.com/office/drawing/2014/main" id="{86A1F6E0-7672-8B72-B54A-4FF4F79B88B3}"/>
              </a:ext>
            </a:extLst>
          </p:cNvPr>
          <p:cNvPicPr>
            <a:picLocks noChangeAspect="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62985" y="1728206"/>
            <a:ext cx="3516518" cy="1579597"/>
          </a:xfrm>
          <a:prstGeom prst="rect">
            <a:avLst/>
          </a:prstGeom>
        </p:spPr>
      </p:pic>
    </p:spTree>
    <p:extLst>
      <p:ext uri="{BB962C8B-B14F-4D97-AF65-F5344CB8AC3E}">
        <p14:creationId xmlns:p14="http://schemas.microsoft.com/office/powerpoint/2010/main" val="3558699074"/>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13FA7-175B-60D2-A603-87F6078FFFE8}"/>
              </a:ext>
            </a:extLst>
          </p:cNvPr>
          <p:cNvSpPr>
            <a:spLocks noGrp="1"/>
          </p:cNvSpPr>
          <p:nvPr>
            <p:ph type="title"/>
          </p:nvPr>
        </p:nvSpPr>
        <p:spPr>
          <a:xfrm>
            <a:off x="866346" y="38910"/>
            <a:ext cx="10858500" cy="544945"/>
          </a:xfrm>
        </p:spPr>
        <p:txBody>
          <a:bodyPr/>
          <a:lstStyle>
            <a:lvl1pPr>
              <a:defRPr>
                <a:solidFill>
                  <a:schemeClr val="bg1"/>
                </a:solidFill>
              </a:defRPr>
            </a:lvl1pPr>
          </a:lstStyle>
          <a:p>
            <a:pPr lvl="0"/>
            <a:r>
              <a:rPr lang="zh-CN" altLang="en-US"/>
              <a:t>单击此处编辑母版标题样式</a:t>
            </a:r>
            <a:endParaRPr lang="en-US" dirty="0"/>
          </a:p>
        </p:txBody>
      </p:sp>
      <p:sp>
        <p:nvSpPr>
          <p:cNvPr id="3" name="Freeform 5">
            <a:extLst>
              <a:ext uri="{FF2B5EF4-FFF2-40B4-BE49-F238E27FC236}">
                <a16:creationId xmlns:a16="http://schemas.microsoft.com/office/drawing/2014/main" id="{456EF71C-7CBB-25F6-1517-2D5EC2A3DDD9}"/>
              </a:ext>
            </a:extLst>
          </p:cNvPr>
          <p:cNvSpPr>
            <a:spLocks noChangeAspect="1" noEditPoints="1"/>
          </p:cNvSpPr>
          <p:nvPr userDrawn="1"/>
        </p:nvSpPr>
        <p:spPr bwMode="black">
          <a:xfrm>
            <a:off x="467154" y="211088"/>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301245186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grpSp>
        <p:nvGrpSpPr>
          <p:cNvPr id="40" name="组合 39"/>
          <p:cNvGrpSpPr/>
          <p:nvPr/>
        </p:nvGrpSpPr>
        <p:grpSpPr>
          <a:xfrm>
            <a:off x="0" y="4980"/>
            <a:ext cx="12192000" cy="6857104"/>
            <a:chOff x="0" y="0"/>
            <a:chExt cx="12192000" cy="6857104"/>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pic>
        <p:nvPicPr>
          <p:cNvPr id="2" name="图片 1">
            <a:extLst>
              <a:ext uri="{FF2B5EF4-FFF2-40B4-BE49-F238E27FC236}">
                <a16:creationId xmlns:a16="http://schemas.microsoft.com/office/drawing/2014/main" id="{6249DE40-38DE-0B8C-A57E-BCDCCECD67F0}"/>
              </a:ext>
            </a:extLst>
          </p:cNvPr>
          <p:cNvPicPr>
            <a:picLocks noChangeAspect="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82CA119C-4E3E-E8FD-4491-4E0BECF11504}"/>
              </a:ext>
            </a:extLst>
          </p:cNvPr>
          <p:cNvPicPr>
            <a:picLocks noChangeAspect="1"/>
          </p:cNvPicPr>
          <p:nvPr/>
        </p:nvPicPr>
        <p:blipFill>
          <a:blip r:embed="rId6" cstate="print">
            <a:duotone>
              <a:prstClr val="black"/>
              <a:schemeClr val="accent3">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775" y="6236796"/>
            <a:ext cx="704451" cy="621204"/>
          </a:xfrm>
          <a:prstGeom prst="rect">
            <a:avLst/>
          </a:prstGeom>
        </p:spPr>
      </p:pic>
    </p:spTree>
    <p:extLst>
      <p:ext uri="{BB962C8B-B14F-4D97-AF65-F5344CB8AC3E}">
        <p14:creationId xmlns:p14="http://schemas.microsoft.com/office/powerpoint/2010/main" val="340844596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DDCD0-7537-A039-754A-F4224B0E3693}"/>
              </a:ext>
            </a:extLst>
          </p:cNvPr>
          <p:cNvSpPr>
            <a:spLocks noGrp="1"/>
          </p:cNvSpPr>
          <p:nvPr/>
        </p:nvSpPr>
        <p:spPr>
          <a:xfrm>
            <a:off x="899833"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3" name="标题 1">
            <a:extLst>
              <a:ext uri="{FF2B5EF4-FFF2-40B4-BE49-F238E27FC236}">
                <a16:creationId xmlns:a16="http://schemas.microsoft.com/office/drawing/2014/main" id="{1E9DDCD0-7537-A039-754A-F4224B0E3693}"/>
              </a:ext>
            </a:extLst>
          </p:cNvPr>
          <p:cNvSpPr>
            <a:spLocks noGrp="1"/>
          </p:cNvSpPr>
          <p:nvPr/>
        </p:nvSpPr>
        <p:spPr>
          <a:xfrm>
            <a:off x="947645"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175423023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3" name="文本占位符 12"/>
          <p:cNvSpPr>
            <a:spLocks noGrp="1"/>
          </p:cNvSpPr>
          <p:nvPr>
            <p:ph type="body" idx="1"/>
            <p:custDataLst>
              <p:tags r:id="rId1"/>
            </p:custDataLst>
          </p:nvPr>
        </p:nvSpPr>
        <p:spPr>
          <a:xfrm>
            <a:off x="569595" y="1253490"/>
            <a:ext cx="11052810" cy="4869180"/>
          </a:xfrm>
          <a:prstGeom prst="rect">
            <a:avLst/>
          </a:prstGeom>
        </p:spPr>
        <p:txBody>
          <a:bodyPr vert="horz" lIns="91440" tIns="45720" rIns="91440" bIns="45720" rtlCol="0">
            <a:norm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5" name="灯片编号占位符 4"/>
          <p:cNvSpPr>
            <a:spLocks noGrp="1"/>
          </p:cNvSpPr>
          <p:nvPr>
            <p:custDataLst>
              <p:tags r:id="rId2"/>
            </p:custDataLst>
          </p:nvPr>
        </p:nvSpPr>
        <p:spPr>
          <a:xfrm>
            <a:off x="8879205" y="637540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56FF76-7BF1-4E25-A0F5-B7CD95F22364}" type="slidenum">
              <a:rPr lang="zh-CN" altLang="en-US" smtClean="0">
                <a:solidFill>
                  <a:schemeClr val="bg1"/>
                </a:solidFill>
              </a:rPr>
              <a:t>‹#›</a:t>
            </a:fld>
            <a:endParaRPr lang="zh-CN" altLang="en-US" dirty="0">
              <a:solidFill>
                <a:schemeClr val="bg1"/>
              </a:solidFill>
            </a:endParaRPr>
          </a:p>
        </p:txBody>
      </p:sp>
      <p:sp>
        <p:nvSpPr>
          <p:cNvPr id="2" name="标题 1">
            <a:extLst>
              <a:ext uri="{FF2B5EF4-FFF2-40B4-BE49-F238E27FC236}">
                <a16:creationId xmlns:a16="http://schemas.microsoft.com/office/drawing/2014/main" id="{1E9DDCD0-7537-A039-754A-F4224B0E3693}"/>
              </a:ext>
            </a:extLst>
          </p:cNvPr>
          <p:cNvSpPr>
            <a:spLocks noGrp="1"/>
          </p:cNvSpPr>
          <p:nvPr/>
        </p:nvSpPr>
        <p:spPr>
          <a:xfrm>
            <a:off x="935691" y="-22304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solidFill>
                <a:schemeClr val="bg1"/>
              </a:solidFill>
            </a:endParaRPr>
          </a:p>
        </p:txBody>
      </p:sp>
      <p:sp>
        <p:nvSpPr>
          <p:cNvPr id="3" name="标题 1">
            <a:extLst>
              <a:ext uri="{FF2B5EF4-FFF2-40B4-BE49-F238E27FC236}">
                <a16:creationId xmlns:a16="http://schemas.microsoft.com/office/drawing/2014/main" id="{6B53A706-3FC5-5A68-F4A8-893D3CC075CB}"/>
              </a:ext>
            </a:extLst>
          </p:cNvPr>
          <p:cNvSpPr>
            <a:spLocks noGrp="1"/>
          </p:cNvSpPr>
          <p:nvPr>
            <p:ph type="title"/>
          </p:nvPr>
        </p:nvSpPr>
        <p:spPr>
          <a:xfrm>
            <a:off x="866346" y="38910"/>
            <a:ext cx="10858500" cy="544945"/>
          </a:xfrm>
        </p:spPr>
        <p:txBody>
          <a:bodyPr/>
          <a:lstStyle>
            <a:lvl1pPr>
              <a:defRPr>
                <a:solidFill>
                  <a:schemeClr val="bg1"/>
                </a:solidFill>
              </a:defRPr>
            </a:lvl1pPr>
          </a:lstStyle>
          <a:p>
            <a:pPr lvl="0"/>
            <a:r>
              <a:rPr lang="zh-CN" altLang="en-US"/>
              <a:t>单击此处编辑母版标题样式</a:t>
            </a:r>
            <a:endParaRPr lang="en-US" dirty="0"/>
          </a:p>
        </p:txBody>
      </p:sp>
      <p:sp>
        <p:nvSpPr>
          <p:cNvPr id="4" name="Freeform 5">
            <a:extLst>
              <a:ext uri="{FF2B5EF4-FFF2-40B4-BE49-F238E27FC236}">
                <a16:creationId xmlns:a16="http://schemas.microsoft.com/office/drawing/2014/main" id="{EBFC0C0C-6C3E-3AD2-1F95-21CF58DADB17}"/>
              </a:ext>
            </a:extLst>
          </p:cNvPr>
          <p:cNvSpPr>
            <a:spLocks noChangeAspect="1" noEditPoints="1"/>
          </p:cNvSpPr>
          <p:nvPr userDrawn="1"/>
        </p:nvSpPr>
        <p:spPr bwMode="black">
          <a:xfrm>
            <a:off x="467154" y="227013"/>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3218877399"/>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31029"/>
            <a:ext cx="10858500" cy="1028700"/>
          </a:xfrm>
        </p:spPr>
        <p:txBody>
          <a:bodyPr/>
          <a:lstStyle/>
          <a:p>
            <a:r>
              <a:rPr lang="zh-CN" altLang="en-US"/>
              <a:t>单击此处编辑母版标题样式</a:t>
            </a:r>
          </a:p>
        </p:txBody>
      </p:sp>
      <p:sp>
        <p:nvSpPr>
          <p:cNvPr id="3" name="内容占位符 2"/>
          <p:cNvSpPr>
            <a:spLocks noGrp="1"/>
          </p:cNvSpPr>
          <p:nvPr>
            <p:ph sz="half" idx="1"/>
          </p:nvPr>
        </p:nvSpPr>
        <p:spPr>
          <a:xfrm>
            <a:off x="609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F6F2EA8-7B5B-4764-E02B-4ECB4538780A}" type="datetimeFigureOut">
              <a:rPr lang="zh-CN" altLang="en-US" smtClean="0"/>
              <a:t>2026/9/18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81C52D-B4E5-4EAF-F8F0-08BBB827BB93}" type="slidenum">
              <a:rPr lang="zh-CN" altLang="en-US" smtClean="0"/>
              <a:t>‹#›</a:t>
            </a:fld>
            <a:endParaRPr lang="zh-CN" altLang="en-US"/>
          </a:p>
        </p:txBody>
      </p:sp>
    </p:spTree>
    <p:extLst>
      <p:ext uri="{BB962C8B-B14F-4D97-AF65-F5344CB8AC3E}">
        <p14:creationId xmlns:p14="http://schemas.microsoft.com/office/powerpoint/2010/main" val="1795215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 No Background">
    <p:spTree>
      <p:nvGrpSpPr>
        <p:cNvPr id="1" name=""/>
        <p:cNvGrpSpPr/>
        <p:nvPr/>
      </p:nvGrpSpPr>
      <p:grpSpPr>
        <a:xfrm>
          <a:off x="0" y="0"/>
          <a:ext cx="0" cy="0"/>
          <a:chOff x="0" y="0"/>
          <a:chExt cx="0" cy="0"/>
        </a:xfrm>
      </p:grpSpPr>
      <p:sp>
        <p:nvSpPr>
          <p:cNvPr id="10" name="Title 28"/>
          <p:cNvSpPr>
            <a:spLocks noGrp="1"/>
          </p:cNvSpPr>
          <p:nvPr>
            <p:ph type="title"/>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bg1"/>
                </a:solidFill>
                <a:latin typeface="Arial" pitchFamily="34" charset="0"/>
                <a:ea typeface="+mn-ea"/>
                <a:cs typeface="Arial" pitchFamily="34" charset="0"/>
              </a:defRPr>
            </a:lvl1pPr>
          </a:lstStyle>
          <a:p>
            <a:endParaRPr lang="en-US" dirty="0"/>
          </a:p>
        </p:txBody>
      </p:sp>
      <p:sp>
        <p:nvSpPr>
          <p:cNvPr id="22"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450" indent="-171450">
              <a:lnSpc>
                <a:spcPct val="90000"/>
              </a:lnSpc>
              <a:spcBef>
                <a:spcPts val="600"/>
              </a:spcBef>
              <a:buClrTx/>
              <a:buFont typeface="Arial" panose="020B0604020202020204" pitchFamily="34" charset="0"/>
              <a:buChar char="•"/>
              <a:defRPr sz="2400">
                <a:solidFill>
                  <a:schemeClr val="bg1"/>
                </a:solidFill>
                <a:latin typeface="Arial" pitchFamily="34" charset="0"/>
                <a:cs typeface="Arial" pitchFamily="34" charset="0"/>
              </a:defRPr>
            </a:lvl1pPr>
            <a:lvl2pPr marL="609493" indent="-228560">
              <a:lnSpc>
                <a:spcPct val="90000"/>
              </a:lnSpc>
              <a:spcBef>
                <a:spcPts val="600"/>
              </a:spcBef>
              <a:buClrTx/>
              <a:buFont typeface="Arial" pitchFamily="34" charset="0"/>
              <a:buChar char="–"/>
              <a:defRPr sz="2000">
                <a:solidFill>
                  <a:schemeClr val="bg1"/>
                </a:solidFill>
                <a:latin typeface="Arial" pitchFamily="34" charset="0"/>
                <a:cs typeface="Arial" pitchFamily="34" charset="0"/>
              </a:defRPr>
            </a:lvl2pPr>
            <a:lvl3pPr marL="835938" indent="-150258">
              <a:lnSpc>
                <a:spcPct val="90000"/>
              </a:lnSpc>
              <a:spcBef>
                <a:spcPts val="600"/>
              </a:spcBef>
              <a:buClrTx/>
              <a:buFont typeface="Arial" panose="020B0604020202020204" pitchFamily="34" charset="0"/>
              <a:buChar char="-"/>
              <a:defRPr sz="2000">
                <a:solidFill>
                  <a:schemeClr val="bg1"/>
                </a:solidFill>
                <a:latin typeface="Arial" pitchFamily="34" charset="0"/>
                <a:cs typeface="Arial" pitchFamily="34" charset="0"/>
              </a:defRPr>
            </a:lvl3pPr>
            <a:lvl4pPr marL="1147033" indent="-156606">
              <a:lnSpc>
                <a:spcPct val="90000"/>
              </a:lnSpc>
              <a:spcBef>
                <a:spcPts val="600"/>
              </a:spcBef>
              <a:buClrTx/>
              <a:buFont typeface="Arial" panose="020B0604020202020204" pitchFamily="34" charset="0"/>
              <a:buChar char="-"/>
              <a:defRPr sz="2000">
                <a:solidFill>
                  <a:schemeClr val="bg1"/>
                </a:solidFill>
                <a:latin typeface="Arial" pitchFamily="34" charset="0"/>
                <a:cs typeface="Arial" pitchFamily="34" charset="0"/>
              </a:defRPr>
            </a:lvl4pPr>
            <a:lvl5pPr marL="1445431" indent="-150258">
              <a:lnSpc>
                <a:spcPct val="90000"/>
              </a:lnSpc>
              <a:spcBef>
                <a:spcPts val="600"/>
              </a:spcBef>
              <a:buClrTx/>
              <a:buFont typeface="Arial" panose="020B0604020202020204" pitchFamily="34" charset="0"/>
              <a:buChar char="-"/>
              <a:defRPr sz="20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endParaRPr lang="en-US" dirty="0"/>
          </a:p>
        </p:txBody>
      </p:sp>
      <p:sp>
        <p:nvSpPr>
          <p:cNvPr id="6" name="Freeform 5">
            <a:extLst>
              <a:ext uri="{FF2B5EF4-FFF2-40B4-BE49-F238E27FC236}">
                <a16:creationId xmlns:a16="http://schemas.microsoft.com/office/drawing/2014/main" id="{8C261849-EED4-439D-9D86-D00B5DA1B6C8}"/>
              </a:ext>
            </a:extLst>
          </p:cNvPr>
          <p:cNvSpPr>
            <a:spLocks noChangeAspect="1" noEditPoints="1"/>
          </p:cNvSpPr>
          <p:nvPr/>
        </p:nvSpPr>
        <p:spPr bwMode="black">
          <a:xfrm>
            <a:off x="205409" y="423409"/>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8" name="TextBox slide number">
            <a:extLst>
              <a:ext uri="{FF2B5EF4-FFF2-40B4-BE49-F238E27FC236}">
                <a16:creationId xmlns:a16="http://schemas.microsoft.com/office/drawing/2014/main" id="{C14F407B-25FF-40AD-A010-7F4E0497654A}"/>
              </a:ext>
            </a:extLst>
          </p:cNvPr>
          <p:cNvSpPr txBox="1"/>
          <p:nvPr/>
        </p:nvSpPr>
        <p:spPr bwMode="white">
          <a:xfrm>
            <a:off x="11751760" y="6395208"/>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dirty="0">
              <a:solidFill>
                <a:schemeClr val="tx1"/>
              </a:solidFill>
            </a:endParaRPr>
          </a:p>
        </p:txBody>
      </p:sp>
    </p:spTree>
    <p:extLst>
      <p:ext uri="{BB962C8B-B14F-4D97-AF65-F5344CB8AC3E}">
        <p14:creationId xmlns:p14="http://schemas.microsoft.com/office/powerpoint/2010/main" val="35024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_空白">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EF5-5DA5-9F91-63DD-0168D8E3EB8B}"/>
              </a:ext>
            </a:extLst>
          </p:cNvPr>
          <p:cNvSpPr>
            <a:spLocks noGrp="1"/>
          </p:cNvSpPr>
          <p:nvPr>
            <p:ph type="title"/>
          </p:nvPr>
        </p:nvSpPr>
        <p:spPr>
          <a:xfrm>
            <a:off x="897323" y="86740"/>
            <a:ext cx="10714759" cy="457201"/>
          </a:xfrm>
          <a:prstGeom prst="rect">
            <a:avLst/>
          </a:prstGeom>
        </p:spPr>
        <p:txBody>
          <a:bodyPr/>
          <a:lstStyle>
            <a:lvl1pPr>
              <a:defRPr>
                <a:solidFill>
                  <a:schemeClr val="bg1"/>
                </a:solidFill>
                <a:latin typeface="+mj-ea"/>
                <a:ea typeface="+mj-ea"/>
              </a:defRPr>
            </a:lvl1pPr>
          </a:lstStyle>
          <a:p>
            <a:r>
              <a:rPr lang="zh-CN" altLang="en-US"/>
              <a:t>单击此处编辑母版标题样式</a:t>
            </a:r>
            <a:endParaRPr lang="zh-CN" altLang="en-US" dirty="0"/>
          </a:p>
        </p:txBody>
      </p:sp>
      <p:sp>
        <p:nvSpPr>
          <p:cNvPr id="3" name="Freeform 5">
            <a:extLst>
              <a:ext uri="{FF2B5EF4-FFF2-40B4-BE49-F238E27FC236}">
                <a16:creationId xmlns:a16="http://schemas.microsoft.com/office/drawing/2014/main" id="{84B77ACE-BA20-4CD3-D192-5DCF340577ED}"/>
              </a:ext>
            </a:extLst>
          </p:cNvPr>
          <p:cNvSpPr>
            <a:spLocks noChangeAspect="1" noEditPoints="1"/>
          </p:cNvSpPr>
          <p:nvPr userDrawn="1"/>
        </p:nvSpPr>
        <p:spPr bwMode="black">
          <a:xfrm>
            <a:off x="479598" y="215046"/>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366964991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B42509E-12FE-156B-B1FC-818C4EC59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p:nvPr>
        </p:nvSpPr>
        <p:spPr>
          <a:xfrm>
            <a:off x="1027460" y="2767054"/>
            <a:ext cx="5200650" cy="1794141"/>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bg1"/>
                </a:solidFill>
              </a:defRPr>
            </a:lvl1pPr>
          </a:lstStyle>
          <a:p>
            <a:pPr lvl="0"/>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F90B7826-24A7-BC3C-73C9-9F5F7B19EAE5}"/>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0BDE140C-EF3F-E22F-4A92-E3E962B8277F}"/>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45224525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C2C7C2A-E334-E5BD-47CD-7B7479086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p:nvPr>
        </p:nvSpPr>
        <p:spPr>
          <a:xfrm>
            <a:off x="1029470" y="1862477"/>
            <a:ext cx="5200650" cy="2605695"/>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bg1"/>
                </a:solidFill>
              </a:defRPr>
            </a:lvl1pPr>
          </a:lstStyle>
          <a:p>
            <a:pPr lvl="0"/>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74BF5D31-C802-5511-E1A1-34DAF124960F}"/>
              </a:ext>
            </a:extLst>
          </p:cNvPr>
          <p:cNvPicPr>
            <a:picLocks noChangeAspect="1"/>
          </p:cNvPicPr>
          <p:nvPr/>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D51DAAEB-A801-F029-2DA0-673028BC1641}"/>
              </a:ext>
            </a:extLst>
          </p:cNvPr>
          <p:cNvPicPr>
            <a:picLocks noChangeAspect="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200413186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a:prstGeom prst="rect">
            <a:avLst/>
          </a:prstGeo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2B64EF90-A043-CF53-4A64-26B4932B7055}"/>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7FF88E22-8B91-66CE-8127-F4DF49D0C47F}"/>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405692607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_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bg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endParaRPr lang="zh-CN" altLang="en-US" dirty="0"/>
          </a:p>
        </p:txBody>
      </p:sp>
      <p:pic>
        <p:nvPicPr>
          <p:cNvPr id="2" name="图片 1">
            <a:extLst>
              <a:ext uri="{FF2B5EF4-FFF2-40B4-BE49-F238E27FC236}">
                <a16:creationId xmlns:a16="http://schemas.microsoft.com/office/drawing/2014/main" id="{1D90DB62-1BC7-5189-C42C-3D9961ED2577}"/>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3" name="图片 2">
            <a:extLst>
              <a:ext uri="{FF2B5EF4-FFF2-40B4-BE49-F238E27FC236}">
                <a16:creationId xmlns:a16="http://schemas.microsoft.com/office/drawing/2014/main" id="{0C6513E3-AF68-087D-8BA6-B5B4CB4517E2}"/>
              </a:ext>
            </a:extLst>
          </p:cNvPr>
          <p:cNvPicPr>
            <a:picLocks noChangeAspect="1"/>
          </p:cNvPicPr>
          <p:nvPr/>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64369602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1_末尾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80324D-53AD-EC4E-B92F-83312C80E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Grit</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7" name="图片 6">
            <a:extLst>
              <a:ext uri="{FF2B5EF4-FFF2-40B4-BE49-F238E27FC236}">
                <a16:creationId xmlns:a16="http://schemas.microsoft.com/office/drawing/2014/main" id="{ACA91101-6551-CFAC-38BE-CAD07DFA046C}"/>
              </a:ext>
            </a:extLst>
          </p:cNvPr>
          <p:cNvPicPr>
            <a:picLocks noChangeAspect="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4" name="图片 3">
            <a:extLst>
              <a:ext uri="{FF2B5EF4-FFF2-40B4-BE49-F238E27FC236}">
                <a16:creationId xmlns:a16="http://schemas.microsoft.com/office/drawing/2014/main" id="{16367A13-8D37-4D16-02BF-867DB1639451}"/>
              </a:ext>
            </a:extLst>
          </p:cNvPr>
          <p:cNvPicPr>
            <a:picLocks noChangeAspect="1"/>
          </p:cNvPicPr>
          <p:nvPr/>
        </p:nvPicPr>
        <p:blipFill>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0BEF51FA-017F-F0D1-9466-B21881B7CA77}"/>
              </a:ext>
            </a:extLst>
          </p:cNvPr>
          <p:cNvPicPr>
            <a:picLocks noChangeAspect="1"/>
          </p:cNvPicPr>
          <p:nvPr/>
        </p:nvPicPr>
        <p:blipFill>
          <a:blip r:embed="rId7"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4017083800"/>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4594541" y="1855139"/>
            <a:ext cx="6749372" cy="2587173"/>
          </a:xfrm>
          <a:prstGeom prst="rect">
            <a:avLst/>
          </a:prstGeom>
        </p:spPr>
        <p:txBody>
          <a:bodyPr wrap="square" anchor="b">
            <a:normAutofit/>
          </a:bodyPr>
          <a:lstStyle>
            <a:lvl1pPr algn="ctr">
              <a:lnSpc>
                <a:spcPct val="100000"/>
              </a:lnSpc>
              <a:defRPr sz="5400">
                <a:ln w="19050">
                  <a:noFill/>
                </a:ln>
                <a:solidFill>
                  <a:schemeClr val="bg1"/>
                </a:solidFill>
              </a:defRPr>
            </a:lvl1pPr>
          </a:lstStyle>
          <a:p>
            <a:pPr lvl="0"/>
            <a:endParaRPr lang="en-US" dirty="0"/>
          </a:p>
        </p:txBody>
      </p:sp>
      <p:pic>
        <p:nvPicPr>
          <p:cNvPr id="3" name="图片 2">
            <a:extLst>
              <a:ext uri="{FF2B5EF4-FFF2-40B4-BE49-F238E27FC236}">
                <a16:creationId xmlns:a16="http://schemas.microsoft.com/office/drawing/2014/main" id="{28F19448-DCD7-2BCE-82BA-95A656302291}"/>
              </a:ext>
            </a:extLst>
          </p:cNvPr>
          <p:cNvPicPr>
            <a:picLocks noChangeAspect="1"/>
          </p:cNvPicPr>
          <p:nvPr/>
        </p:nvPicPr>
        <p:blipFill>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
        <p:nvSpPr>
          <p:cNvPr id="4" name="文本框 3">
            <a:extLst>
              <a:ext uri="{FF2B5EF4-FFF2-40B4-BE49-F238E27FC236}">
                <a16:creationId xmlns:a16="http://schemas.microsoft.com/office/drawing/2014/main" id="{7C0BEDAE-EB8C-24D6-C6AF-B8C73A0C8E8B}"/>
              </a:ext>
            </a:extLst>
          </p:cNvPr>
          <p:cNvSpPr txBox="1"/>
          <p:nvPr/>
        </p:nvSpPr>
        <p:spPr>
          <a:xfrm>
            <a:off x="1104756" y="2579023"/>
            <a:ext cx="1946564" cy="1107996"/>
          </a:xfrm>
          <a:prstGeom prst="rect">
            <a:avLst/>
          </a:prstGeom>
          <a:noFill/>
        </p:spPr>
        <p:txBody>
          <a:bodyPr wrap="square" rtlCol="0">
            <a:spAutoFit/>
          </a:bodyPr>
          <a:lstStyle/>
          <a:p>
            <a:r>
              <a:rPr lang="en-US" altLang="zh-CN" sz="6600" b="1" dirty="0">
                <a:solidFill>
                  <a:schemeClr val="bg1"/>
                </a:solidFill>
                <a:latin typeface="+mj-ea"/>
                <a:ea typeface="+mj-ea"/>
              </a:rPr>
              <a:t>IPC</a:t>
            </a:r>
            <a:endParaRPr lang="zh-CN" altLang="en-US" sz="6600" b="1" dirty="0">
              <a:solidFill>
                <a:schemeClr val="bg1"/>
              </a:solidFill>
              <a:latin typeface="+mj-ea"/>
              <a:ea typeface="+mj-ea"/>
            </a:endParaRPr>
          </a:p>
        </p:txBody>
      </p:sp>
    </p:spTree>
    <p:extLst>
      <p:ext uri="{BB962C8B-B14F-4D97-AF65-F5344CB8AC3E}">
        <p14:creationId xmlns:p14="http://schemas.microsoft.com/office/powerpoint/2010/main" val="19954387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5" name="矩形 4"/>
          <p:cNvSpPr/>
          <p:nvPr/>
        </p:nvSpPr>
        <p:spPr>
          <a:xfrm>
            <a:off x="0" y="6729413"/>
            <a:ext cx="12192000" cy="128587"/>
          </a:xfrm>
          <a:prstGeom prst="rect">
            <a:avLst/>
          </a:prstGeom>
          <a:gradFill>
            <a:gsLst>
              <a:gs pos="0">
                <a:schemeClr val="accent2"/>
              </a:gs>
              <a:gs pos="100000">
                <a:schemeClr val="accent1"/>
              </a:gs>
            </a:gsLst>
            <a:lin ang="10800000" scaled="1"/>
          </a:gradFill>
          <a:ln w="19050">
            <a:noFill/>
            <a:round/>
          </a:ln>
        </p:spPr>
        <p:txBody>
          <a:bodyPr vert="horz" wrap="square" lIns="91440" tIns="45720" rIns="91440" bIns="45720" numCol="1" spcCol="0" rtlCol="0" fromWordArt="0" anchor="ctr" anchorCtr="1" forceAA="0" compatLnSpc="1">
            <a:noAutofit/>
          </a:bodyPr>
          <a:lstStyle/>
          <a:p>
            <a:pPr lvl="0" algn="ctr"/>
            <a:endParaRPr lang="zh-CN" altLang="en-US" sz="1200" b="1">
              <a:solidFill>
                <a:schemeClr val="tx1"/>
              </a:solidFill>
            </a:endParaRPr>
          </a:p>
        </p:txBody>
      </p:sp>
      <p:sp>
        <p:nvSpPr>
          <p:cNvPr id="2" name="标题 1">
            <a:extLst>
              <a:ext uri="{FF2B5EF4-FFF2-40B4-BE49-F238E27FC236}">
                <a16:creationId xmlns:a16="http://schemas.microsoft.com/office/drawing/2014/main" id="{37B4B32B-9275-30B2-210F-C8DF270B0BB5}"/>
              </a:ext>
            </a:extLst>
          </p:cNvPr>
          <p:cNvSpPr>
            <a:spLocks noGrp="1"/>
          </p:cNvSpPr>
          <p:nvPr>
            <p:ph type="title"/>
          </p:nvPr>
        </p:nvSpPr>
        <p:spPr>
          <a:xfrm>
            <a:off x="866346" y="38910"/>
            <a:ext cx="10858500" cy="544945"/>
          </a:xfrm>
        </p:spPr>
        <p:txBody>
          <a:bodyPr/>
          <a:lstStyle>
            <a:lvl1pPr>
              <a:defRPr>
                <a:solidFill>
                  <a:schemeClr val="bg1"/>
                </a:solidFill>
              </a:defRPr>
            </a:lvl1pPr>
          </a:lstStyle>
          <a:p>
            <a:pPr lvl="0"/>
            <a:r>
              <a:rPr lang="zh-CN" altLang="en-US"/>
              <a:t>单击此处编辑母版标题样式</a:t>
            </a:r>
            <a:endParaRPr lang="en-US" dirty="0"/>
          </a:p>
        </p:txBody>
      </p:sp>
    </p:spTree>
    <p:extLst>
      <p:ext uri="{BB962C8B-B14F-4D97-AF65-F5344CB8AC3E}">
        <p14:creationId xmlns:p14="http://schemas.microsoft.com/office/powerpoint/2010/main" val="4239117087"/>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6_标题幻灯片">
    <p:spTree>
      <p:nvGrpSpPr>
        <p:cNvPr id="1" name=""/>
        <p:cNvGrpSpPr/>
        <p:nvPr/>
      </p:nvGrpSpPr>
      <p:grpSpPr>
        <a:xfrm>
          <a:off x="0" y="0"/>
          <a:ext cx="0" cy="0"/>
          <a:chOff x="0" y="0"/>
          <a:chExt cx="0" cy="0"/>
        </a:xfrm>
      </p:grpSpPr>
      <p:grpSp>
        <p:nvGrpSpPr>
          <p:cNvPr id="40" name="组合 39"/>
          <p:cNvGrpSpPr/>
          <p:nvPr/>
        </p:nvGrpSpPr>
        <p:grpSpPr>
          <a:xfrm>
            <a:off x="0" y="12450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bg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bg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grpSp>
      </p:grpSp>
      <p:sp>
        <p:nvSpPr>
          <p:cNvPr id="3" name="标题 4">
            <a:extLst>
              <a:ext uri="{FF2B5EF4-FFF2-40B4-BE49-F238E27FC236}">
                <a16:creationId xmlns:a16="http://schemas.microsoft.com/office/drawing/2014/main" id="{B5D391BF-A023-49D2-B62C-E02AC8635D69}"/>
              </a:ext>
            </a:extLst>
          </p:cNvPr>
          <p:cNvSpPr>
            <a:spLocks noGrp="1"/>
          </p:cNvSpPr>
          <p:nvPr>
            <p:ph type="ctrTitle"/>
          </p:nvPr>
        </p:nvSpPr>
        <p:spPr>
          <a:xfrm>
            <a:off x="4556922" y="1839434"/>
            <a:ext cx="6749372" cy="2587173"/>
          </a:xfrm>
          <a:prstGeom prst="rect">
            <a:avLst/>
          </a:prstGeom>
        </p:spPr>
        <p:txBody>
          <a:bodyPr wrap="square" anchor="b">
            <a:normAutofit/>
          </a:bodyPr>
          <a:lstStyle>
            <a:lvl1pPr algn="ctr">
              <a:lnSpc>
                <a:spcPct val="100000"/>
              </a:lnSpc>
              <a:defRPr sz="5400">
                <a:ln w="19050">
                  <a:noFill/>
                </a:ln>
                <a:solidFill>
                  <a:schemeClr val="bg1"/>
                </a:solidFill>
              </a:defRPr>
            </a:lvl1pPr>
          </a:lstStyle>
          <a:p>
            <a:pPr lvl="0"/>
            <a:endParaRPr lang="en-US" dirty="0"/>
          </a:p>
        </p:txBody>
      </p:sp>
      <p:sp>
        <p:nvSpPr>
          <p:cNvPr id="5" name="文本框 4">
            <a:extLst>
              <a:ext uri="{FF2B5EF4-FFF2-40B4-BE49-F238E27FC236}">
                <a16:creationId xmlns:a16="http://schemas.microsoft.com/office/drawing/2014/main" id="{FD9C0D61-6364-EB58-4CE8-074F803A783D}"/>
              </a:ext>
            </a:extLst>
          </p:cNvPr>
          <p:cNvSpPr txBox="1"/>
          <p:nvPr/>
        </p:nvSpPr>
        <p:spPr>
          <a:xfrm>
            <a:off x="1104756" y="2579023"/>
            <a:ext cx="1946564" cy="1107996"/>
          </a:xfrm>
          <a:prstGeom prst="rect">
            <a:avLst/>
          </a:prstGeom>
          <a:noFill/>
        </p:spPr>
        <p:txBody>
          <a:bodyPr wrap="square" rtlCol="0">
            <a:spAutoFit/>
          </a:bodyPr>
          <a:lstStyle/>
          <a:p>
            <a:r>
              <a:rPr lang="en-US" altLang="zh-CN" sz="6600" b="1" dirty="0">
                <a:solidFill>
                  <a:schemeClr val="bg1"/>
                </a:solidFill>
                <a:latin typeface="+mj-ea"/>
                <a:ea typeface="+mj-ea"/>
              </a:rPr>
              <a:t>IPC</a:t>
            </a:r>
            <a:endParaRPr lang="zh-CN" altLang="en-US" sz="6600" b="1" dirty="0">
              <a:solidFill>
                <a:schemeClr val="bg1"/>
              </a:solidFill>
              <a:latin typeface="+mj-ea"/>
              <a:ea typeface="+mj-ea"/>
            </a:endParaRPr>
          </a:p>
        </p:txBody>
      </p:sp>
      <p:pic>
        <p:nvPicPr>
          <p:cNvPr id="2" name="图片 1">
            <a:extLst>
              <a:ext uri="{FF2B5EF4-FFF2-40B4-BE49-F238E27FC236}">
                <a16:creationId xmlns:a16="http://schemas.microsoft.com/office/drawing/2014/main" id="{6249DE40-38DE-0B8C-A57E-BCDCCECD67F0}"/>
              </a:ext>
            </a:extLst>
          </p:cNvPr>
          <p:cNvPicPr>
            <a:picLocks noChangeAspect="1"/>
          </p:cNvPicPr>
          <p:nvPr/>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82CA119C-4E3E-E8FD-4491-4E0BECF11504}"/>
              </a:ext>
            </a:extLst>
          </p:cNvPr>
          <p:cNvPicPr>
            <a:picLocks noChangeAspect="1"/>
          </p:cNvPicPr>
          <p:nvPr/>
        </p:nvPicPr>
        <p:blipFill>
          <a:blip r:embed="rId6" cstate="print">
            <a:duotone>
              <a:prstClr val="black"/>
              <a:schemeClr val="accent3">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775" y="6236796"/>
            <a:ext cx="704451" cy="621204"/>
          </a:xfrm>
          <a:prstGeom prst="rect">
            <a:avLst/>
          </a:prstGeom>
        </p:spPr>
      </p:pic>
    </p:spTree>
    <p:extLst>
      <p:ext uri="{BB962C8B-B14F-4D97-AF65-F5344CB8AC3E}">
        <p14:creationId xmlns:p14="http://schemas.microsoft.com/office/powerpoint/2010/main" val="423935198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DDCD0-7537-A039-754A-F4224B0E3693}"/>
              </a:ext>
            </a:extLst>
          </p:cNvPr>
          <p:cNvSpPr>
            <a:spLocks noGrp="1"/>
          </p:cNvSpPr>
          <p:nvPr/>
        </p:nvSpPr>
        <p:spPr>
          <a:xfrm>
            <a:off x="899833"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3" name="标题 1">
            <a:extLst>
              <a:ext uri="{FF2B5EF4-FFF2-40B4-BE49-F238E27FC236}">
                <a16:creationId xmlns:a16="http://schemas.microsoft.com/office/drawing/2014/main" id="{1E9DDCD0-7537-A039-754A-F4224B0E3693}"/>
              </a:ext>
            </a:extLst>
          </p:cNvPr>
          <p:cNvSpPr>
            <a:spLocks noGrp="1"/>
          </p:cNvSpPr>
          <p:nvPr/>
        </p:nvSpPr>
        <p:spPr>
          <a:xfrm>
            <a:off x="947645"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4" name="标题 1">
            <a:extLst>
              <a:ext uri="{FF2B5EF4-FFF2-40B4-BE49-F238E27FC236}">
                <a16:creationId xmlns:a16="http://schemas.microsoft.com/office/drawing/2014/main" id="{B2CE976B-FC69-B8D0-64A9-BB4A07AD76E3}"/>
              </a:ext>
            </a:extLst>
          </p:cNvPr>
          <p:cNvSpPr>
            <a:spLocks noGrp="1"/>
          </p:cNvSpPr>
          <p:nvPr>
            <p:ph type="title"/>
          </p:nvPr>
        </p:nvSpPr>
        <p:spPr>
          <a:xfrm>
            <a:off x="866346" y="38910"/>
            <a:ext cx="10858500" cy="544945"/>
          </a:xfrm>
        </p:spPr>
        <p:txBody>
          <a:bodyPr/>
          <a:lstStyle>
            <a:lvl1pPr>
              <a:defRPr>
                <a:solidFill>
                  <a:schemeClr val="bg1"/>
                </a:solidFill>
              </a:defRPr>
            </a:lvl1pPr>
          </a:lstStyle>
          <a:p>
            <a:pPr lvl="0"/>
            <a:r>
              <a:rPr lang="zh-CN" altLang="en-US"/>
              <a:t>单击此处编辑母版标题样式</a:t>
            </a:r>
            <a:endParaRPr lang="en-US" dirty="0"/>
          </a:p>
        </p:txBody>
      </p:sp>
      <p:sp>
        <p:nvSpPr>
          <p:cNvPr id="5" name="Freeform 5">
            <a:extLst>
              <a:ext uri="{FF2B5EF4-FFF2-40B4-BE49-F238E27FC236}">
                <a16:creationId xmlns:a16="http://schemas.microsoft.com/office/drawing/2014/main" id="{BA8955C1-5A03-34F5-7CD4-1E41FAB935E3}"/>
              </a:ext>
            </a:extLst>
          </p:cNvPr>
          <p:cNvSpPr>
            <a:spLocks noChangeAspect="1" noEditPoints="1"/>
          </p:cNvSpPr>
          <p:nvPr userDrawn="1"/>
        </p:nvSpPr>
        <p:spPr bwMode="black">
          <a:xfrm>
            <a:off x="467154" y="251546"/>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37845185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4_空白">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EF5-5DA5-9F91-63DD-0168D8E3EB8B}"/>
              </a:ext>
            </a:extLst>
          </p:cNvPr>
          <p:cNvSpPr>
            <a:spLocks noGrp="1"/>
          </p:cNvSpPr>
          <p:nvPr>
            <p:ph type="title"/>
          </p:nvPr>
        </p:nvSpPr>
        <p:spPr>
          <a:xfrm>
            <a:off x="886690" y="187035"/>
            <a:ext cx="10714759" cy="457201"/>
          </a:xfrm>
          <a:prstGeom prst="rect">
            <a:avLst/>
          </a:prstGeom>
        </p:spPr>
        <p:txBody>
          <a:bodyPr/>
          <a:lstStyle>
            <a:lvl1pPr>
              <a:defRPr>
                <a:solidFill>
                  <a:schemeClr val="bg1"/>
                </a:solidFill>
                <a:latin typeface="+mj-ea"/>
                <a:ea typeface="+mj-ea"/>
              </a:defRPr>
            </a:lvl1pPr>
          </a:lstStyle>
          <a:p>
            <a:r>
              <a:rPr lang="zh-CN" altLang="en-US"/>
              <a:t>单击此处编辑母版标题样式</a:t>
            </a:r>
            <a:endParaRPr lang="zh-CN" altLang="en-US" dirty="0"/>
          </a:p>
        </p:txBody>
      </p:sp>
      <p:sp>
        <p:nvSpPr>
          <p:cNvPr id="3" name="Freeform 5">
            <a:extLst>
              <a:ext uri="{FF2B5EF4-FFF2-40B4-BE49-F238E27FC236}">
                <a16:creationId xmlns:a16="http://schemas.microsoft.com/office/drawing/2014/main" id="{09424A39-B2D4-A668-FF90-82E213E3B74A}"/>
              </a:ext>
            </a:extLst>
          </p:cNvPr>
          <p:cNvSpPr>
            <a:spLocks noChangeAspect="1" noEditPoints="1"/>
          </p:cNvSpPr>
          <p:nvPr userDrawn="1"/>
        </p:nvSpPr>
        <p:spPr bwMode="black">
          <a:xfrm>
            <a:off x="490231" y="352555"/>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1647081222"/>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15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4905AFD-ACF0-4E34-6AFC-2D718EFE13E2}" type="datetimeFigureOut">
              <a:rPr lang="zh-CN" altLang="en-US" smtClean="0"/>
              <a:t>2026/9/18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ED2F50-6A59-4B39-4460-E4EE5AB741CE}" type="slidenum">
              <a:rPr lang="zh-CN" altLang="en-US" smtClean="0"/>
              <a:t>‹#›</a:t>
            </a:fld>
            <a:endParaRPr lang="zh-CN" altLang="en-US"/>
          </a:p>
        </p:txBody>
      </p:sp>
    </p:spTree>
    <p:extLst>
      <p:ext uri="{BB962C8B-B14F-4D97-AF65-F5344CB8AC3E}">
        <p14:creationId xmlns:p14="http://schemas.microsoft.com/office/powerpoint/2010/main" val="2947187092"/>
      </p:ext>
      <p:ext uri="{F753900F-2F24-4D0D-19BA-8529155F4135}"/>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3D959-C098-4EEE-2796-8D6343C0154B}" type="datetimeFigureOut">
              <a:rPr lang="zh-CN" altLang="en-US" smtClean="0"/>
              <a:t>2026/9/18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96B864-C823-4C20-519E-8FB2C6BA360D}" type="slidenum">
              <a:rPr lang="zh-CN" altLang="en-US" smtClean="0"/>
              <a:t>‹#›</a:t>
            </a:fld>
            <a:endParaRPr lang="zh-CN" altLang="en-US"/>
          </a:p>
        </p:txBody>
      </p:sp>
    </p:spTree>
    <p:extLst>
      <p:ext uri="{BB962C8B-B14F-4D97-AF65-F5344CB8AC3E}">
        <p14:creationId xmlns:p14="http://schemas.microsoft.com/office/powerpoint/2010/main" val="1891260540"/>
      </p:ext>
      <p:ext uri="{15EE4F42-8644-4B43-4B46-C703E53EEC53}"/>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BE0DAE40-464B-542A-F3CA-72C57176C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0452" cy="7039661"/>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96A4A0C-29EC-8C3E-D594-13ECAD0B33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Rectangle 3">
            <a:extLst>
              <a:ext uri="{FF2B5EF4-FFF2-40B4-BE49-F238E27FC236}">
                <a16:creationId xmlns:a16="http://schemas.microsoft.com/office/drawing/2014/main" id="{A1C87679-80C6-AE99-8DAA-AABF3C22FC41}"/>
              </a:ext>
            </a:extLst>
          </p:cNvPr>
          <p:cNvSpPr/>
          <p:nvPr userDrawn="1"/>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11">
            <a:extLst>
              <a:ext uri="{FF2B5EF4-FFF2-40B4-BE49-F238E27FC236}">
                <a16:creationId xmlns:a16="http://schemas.microsoft.com/office/drawing/2014/main" id="{066661E8-8677-3293-5AAC-326D368AABAB}"/>
              </a:ext>
            </a:extLst>
          </p:cNvPr>
          <p:cNvSpPr/>
          <p:nvPr userDrawn="1"/>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Straight Connector 13">
            <a:extLst>
              <a:ext uri="{FF2B5EF4-FFF2-40B4-BE49-F238E27FC236}">
                <a16:creationId xmlns:a16="http://schemas.microsoft.com/office/drawing/2014/main" id="{DC9115AD-2831-67A5-AD90-EEEFA56EA9EF}"/>
              </a:ext>
            </a:extLst>
          </p:cNvPr>
          <p:cNvCxnSpPr>
            <a:cxnSpLocks/>
          </p:cNvCxnSpPr>
          <p:nvPr userDrawn="1"/>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1114C14-9BAA-470F-E3EF-5D0EA90EE792}"/>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0C8A08A5-2F8F-C0CD-6BE3-8EF426240607}"/>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468070631"/>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1C2BD55-C666-8B43-19FA-C2F61102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4160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r>
              <a:rPr lang="zh-CN" altLang="en-US"/>
              <a:t>单击此处编辑母版文本样式</a:t>
            </a:r>
          </a:p>
        </p:txBody>
      </p:sp>
    </p:spTree>
    <p:extLst>
      <p:ext uri="{BB962C8B-B14F-4D97-AF65-F5344CB8AC3E}">
        <p14:creationId xmlns:p14="http://schemas.microsoft.com/office/powerpoint/2010/main" val="197834832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5B30-EAE6-475D-9E77-B9C4E87F9C88}"/>
              </a:ext>
            </a:extLst>
          </p:cNvPr>
          <p:cNvSpPr>
            <a:spLocks noGrp="1"/>
          </p:cNvSpPr>
          <p:nvPr>
            <p:ph type="title" hasCustomPrompt="1"/>
          </p:nvPr>
        </p:nvSpPr>
        <p:spPr>
          <a:xfrm>
            <a:off x="1055988" y="-399021"/>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1898786050"/>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D1C7A1-2043-1669-5F8A-7B227BD7D30A}"/>
              </a:ext>
            </a:extLst>
          </p:cNvPr>
          <p:cNvSpPr>
            <a:spLocks noGrp="1"/>
          </p:cNvSpPr>
          <p:nvPr>
            <p:ph type="title" hasCustomPrompt="1"/>
          </p:nvPr>
        </p:nvSpPr>
        <p:spPr>
          <a:xfrm>
            <a:off x="825329" y="-427905"/>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4234555638"/>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末尾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8C971A2-91C0-0F12-DA53-E6784B322847}"/>
              </a:ext>
            </a:extLst>
          </p:cNvPr>
          <p:cNvPicPr>
            <a:picLocks noChangeAspect="1"/>
          </p:cNvPicPr>
          <p:nvPr/>
        </p:nvPicPr>
        <p:blipFill>
          <a:blip r:embed="rId2"/>
          <a:stretch>
            <a:fillRect/>
          </a:stretch>
        </p:blipFill>
        <p:spPr>
          <a:xfrm>
            <a:off x="7620000" y="13546"/>
            <a:ext cx="4576460" cy="6844454"/>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Speaker name and title</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2" name="图片 1">
            <a:extLst>
              <a:ext uri="{FF2B5EF4-FFF2-40B4-BE49-F238E27FC236}">
                <a16:creationId xmlns:a16="http://schemas.microsoft.com/office/drawing/2014/main" id="{0808FB89-916C-2617-605B-3A71B8F3D4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5B3BDEC6-F771-C16C-C365-03B2262F7C40}"/>
              </a:ext>
            </a:extLst>
          </p:cNvPr>
          <p:cNvPicPr>
            <a:picLocks noChangeAspect="1"/>
          </p:cNvPicPr>
          <p:nvPr userDrawn="1"/>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5" name="图片 4">
            <a:extLst>
              <a:ext uri="{FF2B5EF4-FFF2-40B4-BE49-F238E27FC236}">
                <a16:creationId xmlns:a16="http://schemas.microsoft.com/office/drawing/2014/main" id="{18B5EE46-E2B2-EBF2-F5AC-5322A677557F}"/>
              </a:ext>
            </a:extLst>
          </p:cNvPr>
          <p:cNvPicPr>
            <a:picLocks noChangeAspect="1"/>
          </p:cNvPicPr>
          <p:nvPr userDrawn="1"/>
        </p:nvPicPr>
        <p:blipFill>
          <a:blip r:embed="rId6" cstate="print">
            <a:duotone>
              <a:prstClr val="black"/>
              <a:schemeClr val="tx2">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7" name="图片 6">
            <a:extLst>
              <a:ext uri="{FF2B5EF4-FFF2-40B4-BE49-F238E27FC236}">
                <a16:creationId xmlns:a16="http://schemas.microsoft.com/office/drawing/2014/main" id="{B23BCB1D-48BB-8E7F-1E38-42BFFA9E944D}"/>
              </a:ext>
            </a:extLst>
          </p:cNvPr>
          <p:cNvPicPr>
            <a:picLocks noChangeAspect="1"/>
          </p:cNvPicPr>
          <p:nvPr userDrawn="1"/>
        </p:nvPicPr>
        <p:blipFill>
          <a:blip r:embed="rId8"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479889367"/>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2_标题幻灯片">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3" name="标题 4">
            <a:extLst>
              <a:ext uri="{FF2B5EF4-FFF2-40B4-BE49-F238E27FC236}">
                <a16:creationId xmlns:a16="http://schemas.microsoft.com/office/drawing/2014/main" id="{B5D391BF-A023-49D2-B62C-E02AC8635D69}"/>
              </a:ext>
            </a:extLst>
          </p:cNvPr>
          <p:cNvSpPr>
            <a:spLocks noGrp="1"/>
          </p:cNvSpPr>
          <p:nvPr>
            <p:ph type="ctrTitle" hasCustomPrompt="1"/>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pic>
        <p:nvPicPr>
          <p:cNvPr id="5" name="图片 4">
            <a:extLst>
              <a:ext uri="{FF2B5EF4-FFF2-40B4-BE49-F238E27FC236}">
                <a16:creationId xmlns:a16="http://schemas.microsoft.com/office/drawing/2014/main" id="{57ED4568-4D8D-7CE6-DBD3-61776C004218}"/>
              </a:ext>
            </a:extLst>
          </p:cNvPr>
          <p:cNvPicPr>
            <a:picLocks noChangeAspect="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45185" y="2818989"/>
            <a:ext cx="2178398" cy="978522"/>
          </a:xfrm>
          <a:prstGeom prst="rect">
            <a:avLst/>
          </a:prstGeom>
        </p:spPr>
      </p:pic>
    </p:spTree>
    <p:extLst>
      <p:ext uri="{BB962C8B-B14F-4D97-AF65-F5344CB8AC3E}">
        <p14:creationId xmlns:p14="http://schemas.microsoft.com/office/powerpoint/2010/main" val="2273151669"/>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202FDAE-0095-6CC0-EC3F-208D75966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标题 1"/>
          <p:cNvSpPr>
            <a:spLocks noGrp="1"/>
          </p:cNvSpPr>
          <p:nvPr>
            <p:ph type="title" hasCustomPrompt="1"/>
          </p:nvPr>
        </p:nvSpPr>
        <p:spPr>
          <a:xfrm>
            <a:off x="660400" y="1500189"/>
            <a:ext cx="2519061" cy="864515"/>
          </a:xfrm>
          <a:prstGeom prst="rect">
            <a:avLst/>
          </a:prstGeom>
          <a:noFill/>
        </p:spPr>
        <p:txBody>
          <a:bodyPr anchor="t" anchorCtr="0">
            <a:normAutofit/>
          </a:bodyPr>
          <a:lstStyle>
            <a:lvl1pPr algn="r">
              <a:defRPr sz="2800">
                <a:solidFill>
                  <a:srgbClr val="FFFFFF"/>
                </a:solidFill>
              </a:defRPr>
            </a:lvl1pPr>
          </a:lstStyle>
          <a:p>
            <a:pPr lvl="0"/>
            <a:r>
              <a:rPr lang="en-US"/>
              <a:t>Agenda</a:t>
            </a:r>
          </a:p>
        </p:txBody>
      </p:sp>
      <p:sp>
        <p:nvSpPr>
          <p:cNvPr id="3" name="内容占位符 2"/>
          <p:cNvSpPr>
            <a:spLocks noGrp="1"/>
          </p:cNvSpPr>
          <p:nvPr>
            <p:ph sz="quarter" idx="1" hasCustomPrompt="1"/>
          </p:nvPr>
        </p:nvSpPr>
        <p:spPr>
          <a:xfrm>
            <a:off x="3839860" y="1500189"/>
            <a:ext cx="7679039" cy="427831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7" name="图片 6">
            <a:extLst>
              <a:ext uri="{FF2B5EF4-FFF2-40B4-BE49-F238E27FC236}">
                <a16:creationId xmlns:a16="http://schemas.microsoft.com/office/drawing/2014/main" id="{956E91C9-E62C-62F0-BC27-65EF2B59939D}"/>
              </a:ext>
            </a:extLst>
          </p:cNvPr>
          <p:cNvPicPr>
            <a:picLocks noChangeAspect="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260BFE75-AB93-8081-4027-EDC31F67337A}"/>
              </a:ext>
            </a:extLst>
          </p:cNvPr>
          <p:cNvPicPr>
            <a:picLocks noChangeAspect="1"/>
          </p:cNvPicPr>
          <p:nvPr/>
        </p:nvPicPr>
        <p:blipFill>
          <a:blip r:embed="rId4" cstate="print">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2184" y="6108209"/>
            <a:ext cx="704451" cy="621204"/>
          </a:xfrm>
          <a:prstGeom prst="rect">
            <a:avLst/>
          </a:prstGeom>
        </p:spPr>
      </p:pic>
      <p:pic>
        <p:nvPicPr>
          <p:cNvPr id="4" name="图片 3">
            <a:extLst>
              <a:ext uri="{FF2B5EF4-FFF2-40B4-BE49-F238E27FC236}">
                <a16:creationId xmlns:a16="http://schemas.microsoft.com/office/drawing/2014/main" id="{4533F409-7AF2-7738-C45D-ADDC0C9922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5" name="图片 4">
            <a:extLst>
              <a:ext uri="{FF2B5EF4-FFF2-40B4-BE49-F238E27FC236}">
                <a16:creationId xmlns:a16="http://schemas.microsoft.com/office/drawing/2014/main" id="{04915495-E497-C559-512B-5F59C7548598}"/>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6" name="图片 5">
            <a:extLst>
              <a:ext uri="{FF2B5EF4-FFF2-40B4-BE49-F238E27FC236}">
                <a16:creationId xmlns:a16="http://schemas.microsoft.com/office/drawing/2014/main" id="{824640ED-C55D-8D73-4EAB-DC295132A4F1}"/>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3489681536"/>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0C225C48-C16B-E760-3562-D3A3B9176E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A8C2A5F4-62F8-0DE3-BF8E-7DB2909DE39B}"/>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958CF466-A791-1E6D-0D69-1A428A2442AE}"/>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605908907"/>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8" name="标题 4">
            <a:extLst>
              <a:ext uri="{FF2B5EF4-FFF2-40B4-BE49-F238E27FC236}">
                <a16:creationId xmlns:a16="http://schemas.microsoft.com/office/drawing/2014/main" id="{D4E51AF3-4B86-C068-61E8-F89039CF3D69}"/>
              </a:ext>
            </a:extLst>
          </p:cNvPr>
          <p:cNvSpPr>
            <a:spLocks noGrp="1"/>
          </p:cNvSpPr>
          <p:nvPr>
            <p:ph type="ctrTitle" hasCustomPrompt="1"/>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pic>
        <p:nvPicPr>
          <p:cNvPr id="2" name="图片 1">
            <a:extLst>
              <a:ext uri="{FF2B5EF4-FFF2-40B4-BE49-F238E27FC236}">
                <a16:creationId xmlns:a16="http://schemas.microsoft.com/office/drawing/2014/main" id="{86A1F6E0-7672-8B72-B54A-4FF4F79B88B3}"/>
              </a:ext>
            </a:extLst>
          </p:cNvPr>
          <p:cNvPicPr>
            <a:picLocks noChangeAspect="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62985" y="1728206"/>
            <a:ext cx="3516518" cy="1579597"/>
          </a:xfrm>
          <a:prstGeom prst="rect">
            <a:avLst/>
          </a:prstGeom>
        </p:spPr>
      </p:pic>
    </p:spTree>
    <p:extLst>
      <p:ext uri="{BB962C8B-B14F-4D97-AF65-F5344CB8AC3E}">
        <p14:creationId xmlns:p14="http://schemas.microsoft.com/office/powerpoint/2010/main" val="3649798767"/>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空白">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1E9DDCD0-7537-A039-754A-F4224B0E3693}"/>
              </a:ext>
            </a:extLst>
          </p:cNvPr>
          <p:cNvSpPr>
            <a:spLocks noGrp="1"/>
          </p:cNvSpPr>
          <p:nvPr>
            <p:ph type="title"/>
          </p:nvPr>
        </p:nvSpPr>
        <p:spPr>
          <a:xfrm>
            <a:off x="866346" y="-316256"/>
            <a:ext cx="10858500" cy="900112"/>
          </a:xfrm>
        </p:spPr>
        <p:txBody>
          <a:bodyPr/>
          <a:lstStyle>
            <a:lvl1pPr>
              <a:defRPr/>
            </a:lvl1pPr>
          </a:lstStyle>
          <a:p>
            <a:pPr lvl="0"/>
            <a:endParaRPr lang="en-US" dirty="0"/>
          </a:p>
        </p:txBody>
      </p:sp>
    </p:spTree>
    <p:extLst>
      <p:ext uri="{BB962C8B-B14F-4D97-AF65-F5344CB8AC3E}">
        <p14:creationId xmlns:p14="http://schemas.microsoft.com/office/powerpoint/2010/main" val="715488868"/>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grpSp>
        <p:nvGrpSpPr>
          <p:cNvPr id="40" name="组合 39"/>
          <p:cNvGrpSpPr/>
          <p:nvPr userDrawn="1"/>
        </p:nvGrpSpPr>
        <p:grpSpPr>
          <a:xfrm>
            <a:off x="0" y="12450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3" name="标题 4">
            <a:extLst>
              <a:ext uri="{FF2B5EF4-FFF2-40B4-BE49-F238E27FC236}">
                <a16:creationId xmlns:a16="http://schemas.microsoft.com/office/drawing/2014/main" id="{B5D391BF-A023-49D2-B62C-E02AC8635D69}"/>
              </a:ext>
            </a:extLst>
          </p:cNvPr>
          <p:cNvSpPr>
            <a:spLocks noGrp="1"/>
          </p:cNvSpPr>
          <p:nvPr>
            <p:ph type="ctrTitle" hasCustomPrompt="1"/>
          </p:nvPr>
        </p:nvSpPr>
        <p:spPr>
          <a:xfrm>
            <a:off x="4556922" y="1839434"/>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sp>
        <p:nvSpPr>
          <p:cNvPr id="5" name="文本框 4">
            <a:extLst>
              <a:ext uri="{FF2B5EF4-FFF2-40B4-BE49-F238E27FC236}">
                <a16:creationId xmlns:a16="http://schemas.microsoft.com/office/drawing/2014/main" id="{FD9C0D61-6364-EB58-4CE8-074F803A783D}"/>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pic>
        <p:nvPicPr>
          <p:cNvPr id="2" name="图片 1">
            <a:extLst>
              <a:ext uri="{FF2B5EF4-FFF2-40B4-BE49-F238E27FC236}">
                <a16:creationId xmlns:a16="http://schemas.microsoft.com/office/drawing/2014/main" id="{6249DE40-38DE-0B8C-A57E-BCDCCECD67F0}"/>
              </a:ext>
            </a:extLst>
          </p:cNvPr>
          <p:cNvPicPr>
            <a:picLocks noChangeAspect="1"/>
          </p:cNvPicPr>
          <p:nvPr userDrawn="1"/>
        </p:nvPicPr>
        <p:blipFill>
          <a:blip r:embed="rId5"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82CA119C-4E3E-E8FD-4491-4E0BECF11504}"/>
              </a:ext>
            </a:extLst>
          </p:cNvPr>
          <p:cNvPicPr>
            <a:picLocks noChangeAspect="1"/>
          </p:cNvPicPr>
          <p:nvPr userDrawn="1"/>
        </p:nvPicPr>
        <p:blipFill>
          <a:blip r:embed="rId6" cstate="print">
            <a:duotone>
              <a:prstClr val="black"/>
              <a:schemeClr val="accent3">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775" y="6236796"/>
            <a:ext cx="704451" cy="621204"/>
          </a:xfrm>
          <a:prstGeom prst="rect">
            <a:avLst/>
          </a:prstGeom>
        </p:spPr>
      </p:pic>
    </p:spTree>
    <p:extLst>
      <p:ext uri="{BB962C8B-B14F-4D97-AF65-F5344CB8AC3E}">
        <p14:creationId xmlns:p14="http://schemas.microsoft.com/office/powerpoint/2010/main" val="261047101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DDCD0-7537-A039-754A-F4224B0E3693}"/>
              </a:ext>
            </a:extLst>
          </p:cNvPr>
          <p:cNvSpPr>
            <a:spLocks noGrp="1"/>
          </p:cNvSpPr>
          <p:nvPr userDrawn="1"/>
        </p:nvSpPr>
        <p:spPr>
          <a:xfrm>
            <a:off x="899833"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3" name="标题 1">
            <a:extLst>
              <a:ext uri="{FF2B5EF4-FFF2-40B4-BE49-F238E27FC236}">
                <a16:creationId xmlns:a16="http://schemas.microsoft.com/office/drawing/2014/main" id="{1E9DDCD0-7537-A039-754A-F4224B0E3693}"/>
              </a:ext>
            </a:extLst>
          </p:cNvPr>
          <p:cNvSpPr>
            <a:spLocks noGrp="1"/>
          </p:cNvSpPr>
          <p:nvPr userDrawn="1"/>
        </p:nvSpPr>
        <p:spPr>
          <a:xfrm>
            <a:off x="947645"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982924575"/>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3" name="文本占位符 12"/>
          <p:cNvSpPr>
            <a:spLocks noGrp="1"/>
          </p:cNvSpPr>
          <p:nvPr>
            <p:ph type="body" idx="1"/>
            <p:custDataLst>
              <p:tags r:id="rId1"/>
            </p:custDataLst>
          </p:nvPr>
        </p:nvSpPr>
        <p:spPr>
          <a:xfrm>
            <a:off x="569595" y="1253490"/>
            <a:ext cx="11052810" cy="4869180"/>
          </a:xfrm>
          <a:prstGeom prst="rect">
            <a:avLst/>
          </a:prstGeom>
        </p:spPr>
        <p:txBody>
          <a:bodyPr vert="horz" lIns="91440" tIns="45720" rIns="91440" bIns="45720" rtlCol="0">
            <a:normAutofit/>
          </a:bodyPr>
          <a:lstStyle>
            <a:lvl1pPr marL="0" indent="0">
              <a:buNone/>
              <a:defRPr sz="1400">
                <a:solidFill>
                  <a:schemeClr val="tx1"/>
                </a:solidFill>
              </a:defRPr>
            </a:lvl1pPr>
            <a:lvl2pPr marL="457200" indent="0">
              <a:buNone/>
              <a:defRPr sz="1400">
                <a:solidFill>
                  <a:schemeClr val="tx1"/>
                </a:solidFill>
              </a:defRPr>
            </a:lvl2pPr>
            <a:lvl3pPr marL="914400" indent="0">
              <a:buNone/>
              <a:defRPr sz="1400">
                <a:solidFill>
                  <a:schemeClr val="tx1"/>
                </a:solidFill>
              </a:defRPr>
            </a:lvl3pPr>
            <a:lvl4pPr marL="1371600" indent="0">
              <a:buNone/>
              <a:defRPr sz="1400">
                <a:solidFill>
                  <a:schemeClr val="tx1"/>
                </a:solidFill>
              </a:defRPr>
            </a:lvl4pPr>
            <a:lvl5pPr marL="1828800" indent="0">
              <a:buNone/>
              <a:defRPr sz="1400">
                <a:solidFill>
                  <a:schemeClr val="tx1"/>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灯片编号占位符 4"/>
          <p:cNvSpPr>
            <a:spLocks noGrp="1"/>
          </p:cNvSpPr>
          <p:nvPr userDrawn="1">
            <p:custDataLst>
              <p:tags r:id="rId2"/>
            </p:custDataLst>
          </p:nvPr>
        </p:nvSpPr>
        <p:spPr>
          <a:xfrm>
            <a:off x="8879205" y="637540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56FF76-7BF1-4E25-A0F5-B7CD95F22364}" type="slidenum">
              <a:rPr lang="zh-CN" altLang="en-US" smtClean="0"/>
              <a:t>‹#›</a:t>
            </a:fld>
            <a:endParaRPr lang="zh-CN" altLang="en-US" dirty="0"/>
          </a:p>
        </p:txBody>
      </p:sp>
      <p:sp>
        <p:nvSpPr>
          <p:cNvPr id="2" name="标题 1">
            <a:extLst>
              <a:ext uri="{FF2B5EF4-FFF2-40B4-BE49-F238E27FC236}">
                <a16:creationId xmlns:a16="http://schemas.microsoft.com/office/drawing/2014/main" id="{1E9DDCD0-7537-A039-754A-F4224B0E3693}"/>
              </a:ext>
            </a:extLst>
          </p:cNvPr>
          <p:cNvSpPr>
            <a:spLocks noGrp="1"/>
          </p:cNvSpPr>
          <p:nvPr userDrawn="1"/>
        </p:nvSpPr>
        <p:spPr>
          <a:xfrm>
            <a:off x="935691" y="-22304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762789389"/>
      </p:ext>
    </p:extLst>
  </p:cSld>
  <p:clrMapOvr>
    <a:masterClrMapping/>
  </p:clrMapOvr>
  <p:transition spd="slow"/>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31029"/>
            <a:ext cx="10858500" cy="1028700"/>
          </a:xfrm>
        </p:spPr>
        <p:txBody>
          <a:bodyPr/>
          <a:lstStyle/>
          <a:p>
            <a:r>
              <a:rPr lang="zh-CN" altLang="en-US"/>
              <a:t>单击此处编辑母版标题样式</a:t>
            </a:r>
          </a:p>
        </p:txBody>
      </p:sp>
      <p:sp>
        <p:nvSpPr>
          <p:cNvPr id="3" name="内容占位符 2"/>
          <p:cNvSpPr>
            <a:spLocks noGrp="1"/>
          </p:cNvSpPr>
          <p:nvPr>
            <p:ph sz="half" idx="1"/>
          </p:nvPr>
        </p:nvSpPr>
        <p:spPr>
          <a:xfrm>
            <a:off x="609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defTabSz="609585" fontAlgn="base">
              <a:spcBef>
                <a:spcPct val="0"/>
              </a:spcBef>
              <a:spcAft>
                <a:spcPct val="0"/>
              </a:spcAft>
              <a:defRPr/>
            </a:pPr>
            <a:endParaRPr kumimoji="1" lang="zh-CN" altLang="en-US" dirty="0"/>
          </a:p>
        </p:txBody>
      </p:sp>
      <p:sp>
        <p:nvSpPr>
          <p:cNvPr id="6" name="页脚占位符 5"/>
          <p:cNvSpPr>
            <a:spLocks noGrp="1"/>
          </p:cNvSpPr>
          <p:nvPr>
            <p:ph type="ftr" sz="quarter" idx="11"/>
          </p:nvPr>
        </p:nvSpPr>
        <p:spPr/>
        <p:txBody>
          <a:bodyPr/>
          <a:lstStyle/>
          <a:p>
            <a:pPr defTabSz="609585">
              <a:defRPr/>
            </a:pPr>
            <a:endParaRPr kumimoji="1" lang="zh-CN" altLang="en-US" dirty="0"/>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t>‹#›</a:t>
            </a:fld>
            <a:endParaRPr lang="zh-CN" altLang="en-US" dirty="0">
              <a:latin typeface="Calibri" panose="020F0502020204030204" pitchFamily="34" charset="0"/>
            </a:endParaRPr>
          </a:p>
        </p:txBody>
      </p:sp>
    </p:spTree>
    <p:extLst>
      <p:ext uri="{BB962C8B-B14F-4D97-AF65-F5344CB8AC3E}">
        <p14:creationId xmlns:p14="http://schemas.microsoft.com/office/powerpoint/2010/main" val="3639121821"/>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Content - No Background">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450" indent="-171450">
              <a:lnSpc>
                <a:spcPct val="90000"/>
              </a:lnSpc>
              <a:spcBef>
                <a:spcPts val="6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6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Freeform 5">
            <a:extLst>
              <a:ext uri="{FF2B5EF4-FFF2-40B4-BE49-F238E27FC236}">
                <a16:creationId xmlns:a16="http://schemas.microsoft.com/office/drawing/2014/main" id="{8C261849-EED4-439D-9D86-D00B5DA1B6C8}"/>
              </a:ext>
            </a:extLst>
          </p:cNvPr>
          <p:cNvSpPr>
            <a:spLocks noChangeAspect="1" noEditPoints="1"/>
          </p:cNvSpPr>
          <p:nvPr userDrawn="1"/>
        </p:nvSpPr>
        <p:spPr bwMode="black">
          <a:xfrm>
            <a:off x="205409" y="423409"/>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8" name="TextBox slide number">
            <a:extLst>
              <a:ext uri="{FF2B5EF4-FFF2-40B4-BE49-F238E27FC236}">
                <a16:creationId xmlns:a16="http://schemas.microsoft.com/office/drawing/2014/main" id="{C14F407B-25FF-40AD-A010-7F4E0497654A}"/>
              </a:ext>
            </a:extLst>
          </p:cNvPr>
          <p:cNvSpPr txBox="1"/>
          <p:nvPr userDrawn="1"/>
        </p:nvSpPr>
        <p:spPr bwMode="white">
          <a:xfrm>
            <a:off x="11751760" y="6395208"/>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dirty="0">
              <a:solidFill>
                <a:schemeClr val="tx1"/>
              </a:solidFill>
            </a:endParaRPr>
          </a:p>
        </p:txBody>
      </p:sp>
    </p:spTree>
    <p:extLst>
      <p:ext uri="{BB962C8B-B14F-4D97-AF65-F5344CB8AC3E}">
        <p14:creationId xmlns:p14="http://schemas.microsoft.com/office/powerpoint/2010/main" val="1708988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EF5-5DA5-9F91-63DD-0168D8E3EB8B}"/>
              </a:ext>
            </a:extLst>
          </p:cNvPr>
          <p:cNvSpPr>
            <a:spLocks noGrp="1"/>
          </p:cNvSpPr>
          <p:nvPr>
            <p:ph type="title"/>
          </p:nvPr>
        </p:nvSpPr>
        <p:spPr>
          <a:xfrm>
            <a:off x="886690" y="187035"/>
            <a:ext cx="10714759" cy="457201"/>
          </a:xfrm>
          <a:prstGeom prst="rect">
            <a:avLst/>
          </a:prstGeom>
        </p:spPr>
        <p:txBody>
          <a:bodyPr/>
          <a:lstStyle>
            <a:lvl1pPr>
              <a:defRPr>
                <a:solidFill>
                  <a:schemeClr val="tx1"/>
                </a:solidFill>
                <a:latin typeface="+mj-ea"/>
                <a:ea typeface="+mj-ea"/>
              </a:defRPr>
            </a:lvl1pPr>
          </a:lstStyle>
          <a:p>
            <a:endParaRPr lang="zh-CN" altLang="en-US" dirty="0"/>
          </a:p>
        </p:txBody>
      </p:sp>
    </p:spTree>
    <p:extLst>
      <p:ext uri="{BB962C8B-B14F-4D97-AF65-F5344CB8AC3E}">
        <p14:creationId xmlns:p14="http://schemas.microsoft.com/office/powerpoint/2010/main" val="1478717214"/>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B42509E-12FE-156B-B1FC-818C4EC59F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Rectangle 3">
            <a:extLst>
              <a:ext uri="{FF2B5EF4-FFF2-40B4-BE49-F238E27FC236}">
                <a16:creationId xmlns:a16="http://schemas.microsoft.com/office/drawing/2014/main" id="{12F37E50-CF33-4241-AF80-F4953C679288}"/>
              </a:ext>
            </a:extLst>
          </p:cNvPr>
          <p:cNvSpPr/>
          <p:nvPr userDrawn="1"/>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userDrawn="1"/>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userDrawn="1"/>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F90B7826-24A7-BC3C-73C9-9F5F7B19EAE5}"/>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0BDE140C-EF3F-E22F-4A92-E3E962B8277F}"/>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500787434"/>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C2C7C2A-E334-E5BD-47CD-7B7479086E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74BF5D31-C802-5511-E1A1-34DAF124960F}"/>
              </a:ext>
            </a:extLst>
          </p:cNvPr>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D51DAAEB-A801-F029-2DA0-673028BC1641}"/>
              </a:ext>
            </a:extLst>
          </p:cNvPr>
          <p:cNvPicPr>
            <a:picLocks noChangeAspect="1"/>
          </p:cNvPicPr>
          <p:nvPr userDrawn="1"/>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321232419"/>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a:prstGeom prst="rect">
            <a:avLst/>
          </a:prstGeom>
        </p:spPr>
        <p:txBody>
          <a:bodyPr anchor="t">
            <a:normAutofit/>
          </a:bodyPr>
          <a:lstStyle>
            <a:lvl1pPr algn="ctr">
              <a:defRPr sz="4400" b="1" cap="all">
                <a:solidFill>
                  <a:schemeClr val="accent1"/>
                </a:solidFill>
              </a:defRPr>
            </a:lvl1pPr>
          </a:lstStyle>
          <a:p>
            <a:endParaRPr lang="zh-CN" altLang="en-US" dirty="0"/>
          </a:p>
        </p:txBody>
      </p:sp>
      <p:pic>
        <p:nvPicPr>
          <p:cNvPr id="3" name="图片 2">
            <a:extLst>
              <a:ext uri="{FF2B5EF4-FFF2-40B4-BE49-F238E27FC236}">
                <a16:creationId xmlns:a16="http://schemas.microsoft.com/office/drawing/2014/main" id="{2B64EF90-A043-CF53-4A64-26B4932B7055}"/>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7FF88E22-8B91-66CE-8127-F4DF49D0C47F}"/>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61304524"/>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endParaRPr lang="zh-CN" altLang="en-US" dirty="0"/>
          </a:p>
        </p:txBody>
      </p:sp>
      <p:pic>
        <p:nvPicPr>
          <p:cNvPr id="2" name="图片 1">
            <a:extLst>
              <a:ext uri="{FF2B5EF4-FFF2-40B4-BE49-F238E27FC236}">
                <a16:creationId xmlns:a16="http://schemas.microsoft.com/office/drawing/2014/main" id="{1D90DB62-1BC7-5189-C42C-3D9961ED2577}"/>
              </a:ext>
            </a:extLst>
          </p:cNvPr>
          <p:cNvPicPr>
            <a:picLocks noChangeAspect="1"/>
          </p:cNvPicPr>
          <p:nvPr userDrawn="1"/>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3" name="图片 2">
            <a:extLst>
              <a:ext uri="{FF2B5EF4-FFF2-40B4-BE49-F238E27FC236}">
                <a16:creationId xmlns:a16="http://schemas.microsoft.com/office/drawing/2014/main" id="{0C6513E3-AF68-087D-8BA6-B5B4CB4517E2}"/>
              </a:ext>
            </a:extLst>
          </p:cNvPr>
          <p:cNvPicPr>
            <a:picLocks noChangeAspect="1"/>
          </p:cNvPicPr>
          <p:nvPr userDrawn="1"/>
        </p:nvPicPr>
        <p:blipFill>
          <a:blip r:embed="rId4" cstate="print">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505984140"/>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末尾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80324D-53AD-EC4E-B92F-83312C80ED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Grit</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7" name="图片 6">
            <a:extLst>
              <a:ext uri="{FF2B5EF4-FFF2-40B4-BE49-F238E27FC236}">
                <a16:creationId xmlns:a16="http://schemas.microsoft.com/office/drawing/2014/main" id="{ACA91101-6551-CFAC-38BE-CAD07DFA046C}"/>
              </a:ext>
            </a:extLst>
          </p:cNvPr>
          <p:cNvPicPr>
            <a:picLocks noChangeAspect="1"/>
          </p:cNvPicPr>
          <p:nvPr userDrawn="1"/>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4" name="图片 3">
            <a:extLst>
              <a:ext uri="{FF2B5EF4-FFF2-40B4-BE49-F238E27FC236}">
                <a16:creationId xmlns:a16="http://schemas.microsoft.com/office/drawing/2014/main" id="{16367A13-8D37-4D16-02BF-867DB1639451}"/>
              </a:ext>
            </a:extLst>
          </p:cNvPr>
          <p:cNvPicPr>
            <a:picLocks noChangeAspect="1"/>
          </p:cNvPicPr>
          <p:nvPr userDrawn="1"/>
        </p:nvPicPr>
        <p:blipFill>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0BEF51FA-017F-F0D1-9466-B21881B7CA77}"/>
              </a:ext>
            </a:extLst>
          </p:cNvPr>
          <p:cNvPicPr>
            <a:picLocks noChangeAspect="1"/>
          </p:cNvPicPr>
          <p:nvPr userDrawn="1"/>
        </p:nvPicPr>
        <p:blipFill>
          <a:blip r:embed="rId7"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3076991752"/>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userDrawn="1"/>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userDrawn="1"/>
          </p:nvGrpSpPr>
          <p:grpSpPr>
            <a:xfrm rot="16200000">
              <a:off x="10661887" y="5765801"/>
              <a:ext cx="783772" cy="783772"/>
              <a:chOff x="9052852" y="3572185"/>
              <a:chExt cx="344753" cy="344753"/>
            </a:xfrm>
          </p:grpSpPr>
          <p:grpSp>
            <p:nvGrpSpPr>
              <p:cNvPr id="55" name="组合 54"/>
              <p:cNvGrpSpPr/>
              <p:nvPr userDrawn="1"/>
            </p:nvGrpSpPr>
            <p:grpSpPr>
              <a:xfrm flipV="1">
                <a:off x="9052852" y="3572185"/>
                <a:ext cx="344753" cy="344753"/>
                <a:chOff x="2909263" y="4352415"/>
                <a:chExt cx="93625" cy="93625"/>
              </a:xfrm>
            </p:grpSpPr>
            <p:sp>
              <p:nvSpPr>
                <p:cNvPr id="57" name="椭圆 56"/>
                <p:cNvSpPr/>
                <p:nvPr userDrawn="1"/>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userDrawn="1"/>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4594541" y="1855139"/>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endParaRPr lang="en-US" dirty="0"/>
          </a:p>
        </p:txBody>
      </p:sp>
      <p:pic>
        <p:nvPicPr>
          <p:cNvPr id="3" name="图片 2">
            <a:extLst>
              <a:ext uri="{FF2B5EF4-FFF2-40B4-BE49-F238E27FC236}">
                <a16:creationId xmlns:a16="http://schemas.microsoft.com/office/drawing/2014/main" id="{28F19448-DCD7-2BCE-82BA-95A656302291}"/>
              </a:ext>
            </a:extLst>
          </p:cNvPr>
          <p:cNvPicPr>
            <a:picLocks noChangeAspect="1"/>
          </p:cNvPicPr>
          <p:nvPr userDrawn="1"/>
        </p:nvPicPr>
        <p:blipFill>
          <a:blip r:embed="rId5" cstate="print">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
        <p:nvSpPr>
          <p:cNvPr id="4" name="文本框 3">
            <a:extLst>
              <a:ext uri="{FF2B5EF4-FFF2-40B4-BE49-F238E27FC236}">
                <a16:creationId xmlns:a16="http://schemas.microsoft.com/office/drawing/2014/main" id="{7C0BEDAE-EB8C-24D6-C6AF-B8C73A0C8E8B}"/>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spTree>
    <p:extLst>
      <p:ext uri="{BB962C8B-B14F-4D97-AF65-F5344CB8AC3E}">
        <p14:creationId xmlns:p14="http://schemas.microsoft.com/office/powerpoint/2010/main" val="2288861376"/>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5" name="矩形 4"/>
          <p:cNvSpPr/>
          <p:nvPr/>
        </p:nvSpPr>
        <p:spPr>
          <a:xfrm>
            <a:off x="0" y="6729413"/>
            <a:ext cx="12192000" cy="128587"/>
          </a:xfrm>
          <a:prstGeom prst="rect">
            <a:avLst/>
          </a:prstGeom>
          <a:gradFill>
            <a:gsLst>
              <a:gs pos="0">
                <a:schemeClr val="accent2"/>
              </a:gs>
              <a:gs pos="100000">
                <a:schemeClr val="accent1"/>
              </a:gs>
            </a:gsLst>
            <a:lin ang="10800000" scaled="1"/>
          </a:gradFill>
          <a:ln w="19050">
            <a:noFill/>
            <a:round/>
          </a:ln>
        </p:spPr>
        <p:txBody>
          <a:bodyPr vert="horz" wrap="square" lIns="91440" tIns="45720" rIns="91440" bIns="45720" numCol="1" spcCol="0" rtlCol="0" fromWordArt="0" anchor="ctr" anchorCtr="1" forceAA="0" compatLnSpc="1">
            <a:noAutofit/>
          </a:bodyPr>
          <a:lstStyle/>
          <a:p>
            <a:pPr lvl="0" algn="ctr"/>
            <a:endParaRPr lang="zh-CN" altLang="en-US" sz="1200" b="1">
              <a:solidFill>
                <a:schemeClr val="tx1"/>
              </a:solidFill>
            </a:endParaRPr>
          </a:p>
        </p:txBody>
      </p:sp>
    </p:spTree>
    <p:extLst>
      <p:ext uri="{BB962C8B-B14F-4D97-AF65-F5344CB8AC3E}">
        <p14:creationId xmlns:p14="http://schemas.microsoft.com/office/powerpoint/2010/main" val="3086574996"/>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endParaRPr lang="en-US" dirty="0"/>
          </a:p>
        </p:txBody>
      </p:sp>
    </p:spTree>
    <p:extLst>
      <p:ext uri="{BB962C8B-B14F-4D97-AF65-F5344CB8AC3E}">
        <p14:creationId xmlns:p14="http://schemas.microsoft.com/office/powerpoint/2010/main" val="1899546681"/>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6_标题幻灯片">
    <p:spTree>
      <p:nvGrpSpPr>
        <p:cNvPr id="1" name=""/>
        <p:cNvGrpSpPr/>
        <p:nvPr/>
      </p:nvGrpSpPr>
      <p:grpSpPr>
        <a:xfrm>
          <a:off x="0" y="0"/>
          <a:ext cx="0" cy="0"/>
          <a:chOff x="0" y="0"/>
          <a:chExt cx="0" cy="0"/>
        </a:xfrm>
      </p:grpSpPr>
      <p:grpSp>
        <p:nvGrpSpPr>
          <p:cNvPr id="40" name="组合 39"/>
          <p:cNvGrpSpPr/>
          <p:nvPr userDrawn="1"/>
        </p:nvGrpSpPr>
        <p:grpSpPr>
          <a:xfrm>
            <a:off x="-1" y="16077"/>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sp>
        <p:nvSpPr>
          <p:cNvPr id="3" name="标题 4">
            <a:extLst>
              <a:ext uri="{FF2B5EF4-FFF2-40B4-BE49-F238E27FC236}">
                <a16:creationId xmlns:a16="http://schemas.microsoft.com/office/drawing/2014/main" id="{B5D391BF-A023-49D2-B62C-E02AC8635D69}"/>
              </a:ext>
            </a:extLst>
          </p:cNvPr>
          <p:cNvSpPr>
            <a:spLocks noGrp="1"/>
          </p:cNvSpPr>
          <p:nvPr>
            <p:ph type="ctrTitle"/>
          </p:nvPr>
        </p:nvSpPr>
        <p:spPr>
          <a:xfrm>
            <a:off x="2379779" y="201904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endParaRPr lang="en-US" dirty="0"/>
          </a:p>
        </p:txBody>
      </p:sp>
      <p:pic>
        <p:nvPicPr>
          <p:cNvPr id="2" name="图片 1">
            <a:extLst>
              <a:ext uri="{FF2B5EF4-FFF2-40B4-BE49-F238E27FC236}">
                <a16:creationId xmlns:a16="http://schemas.microsoft.com/office/drawing/2014/main" id="{6249DE40-38DE-0B8C-A57E-BCDCCECD67F0}"/>
              </a:ext>
            </a:extLst>
          </p:cNvPr>
          <p:cNvPicPr>
            <a:picLocks noChangeAspect="1"/>
          </p:cNvPicPr>
          <p:nvPr userDrawn="1"/>
        </p:nvPicPr>
        <p:blipFill>
          <a:blip r:embed="rId5">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82CA119C-4E3E-E8FD-4491-4E0BECF11504}"/>
              </a:ext>
            </a:extLst>
          </p:cNvPr>
          <p:cNvPicPr>
            <a:picLocks noChangeAspect="1"/>
          </p:cNvPicPr>
          <p:nvPr userDrawn="1"/>
        </p:nvPicPr>
        <p:blipFill>
          <a:blip r:embed="rId6">
            <a:duotone>
              <a:prstClr val="black"/>
              <a:schemeClr val="accent3">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775" y="6236796"/>
            <a:ext cx="704451" cy="621204"/>
          </a:xfrm>
          <a:prstGeom prst="rect">
            <a:avLst/>
          </a:prstGeom>
        </p:spPr>
      </p:pic>
    </p:spTree>
    <p:extLst>
      <p:ext uri="{BB962C8B-B14F-4D97-AF65-F5344CB8AC3E}">
        <p14:creationId xmlns:p14="http://schemas.microsoft.com/office/powerpoint/2010/main" val="92674102"/>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B42509E-12FE-156B-B1FC-818C4EC59F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Rectangle 3">
            <a:extLst>
              <a:ext uri="{FF2B5EF4-FFF2-40B4-BE49-F238E27FC236}">
                <a16:creationId xmlns:a16="http://schemas.microsoft.com/office/drawing/2014/main" id="{12F37E50-CF33-4241-AF80-F4953C679288}"/>
              </a:ext>
            </a:extLst>
          </p:cNvPr>
          <p:cNvSpPr/>
          <p:nvPr userDrawn="1"/>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userDrawn="1"/>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userDrawn="1"/>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F90B7826-24A7-BC3C-73C9-9F5F7B19EAE5}"/>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0BDE140C-EF3F-E22F-4A92-E3E962B8277F}"/>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13353348"/>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8_标题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C2C7C2A-E334-E5BD-47CD-7B7479086E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74BF5D31-C802-5511-E1A1-34DAF124960F}"/>
              </a:ext>
            </a:extLst>
          </p:cNvPr>
          <p:cNvPicPr>
            <a:picLocks noChangeAspect="1"/>
          </p:cNvPicPr>
          <p:nvPr userDrawn="1"/>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D51DAAEB-A801-F029-2DA0-673028BC1641}"/>
              </a:ext>
            </a:extLst>
          </p:cNvPr>
          <p:cNvPicPr>
            <a:picLocks noChangeAspect="1"/>
          </p:cNvPicPr>
          <p:nvPr userDrawn="1"/>
        </p:nvPicPr>
        <p:blipFill>
          <a:blip r:embed="rId5">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4284021625"/>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a:prstGeom prst="rect">
            <a:avLst/>
          </a:prstGeom>
        </p:spPr>
        <p:txBody>
          <a:bodyPr anchor="t">
            <a:normAutofit/>
          </a:bodyPr>
          <a:lstStyle>
            <a:lvl1pPr algn="ctr">
              <a:defRPr sz="4400" b="1" cap="all">
                <a:solidFill>
                  <a:schemeClr val="accent1"/>
                </a:solidFill>
              </a:defRPr>
            </a:lvl1pPr>
          </a:lstStyle>
          <a:p>
            <a:endParaRPr lang="zh-CN" altLang="en-US" dirty="0"/>
          </a:p>
        </p:txBody>
      </p:sp>
      <p:pic>
        <p:nvPicPr>
          <p:cNvPr id="3" name="图片 2">
            <a:extLst>
              <a:ext uri="{FF2B5EF4-FFF2-40B4-BE49-F238E27FC236}">
                <a16:creationId xmlns:a16="http://schemas.microsoft.com/office/drawing/2014/main" id="{2B64EF90-A043-CF53-4A64-26B4932B7055}"/>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7FF88E22-8B91-66CE-8127-F4DF49D0C47F}"/>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590810268"/>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endParaRPr lang="zh-CN" altLang="en-US" dirty="0"/>
          </a:p>
        </p:txBody>
      </p:sp>
      <p:pic>
        <p:nvPicPr>
          <p:cNvPr id="2" name="图片 1">
            <a:extLst>
              <a:ext uri="{FF2B5EF4-FFF2-40B4-BE49-F238E27FC236}">
                <a16:creationId xmlns:a16="http://schemas.microsoft.com/office/drawing/2014/main" id="{1D90DB62-1BC7-5189-C42C-3D9961ED2577}"/>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3" name="图片 2">
            <a:extLst>
              <a:ext uri="{FF2B5EF4-FFF2-40B4-BE49-F238E27FC236}">
                <a16:creationId xmlns:a16="http://schemas.microsoft.com/office/drawing/2014/main" id="{0C6513E3-AF68-087D-8BA6-B5B4CB4517E2}"/>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86134165"/>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2_末尾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80324D-53AD-EC4E-B92F-83312C80ED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Grit</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7" name="图片 6">
            <a:extLst>
              <a:ext uri="{FF2B5EF4-FFF2-40B4-BE49-F238E27FC236}">
                <a16:creationId xmlns:a16="http://schemas.microsoft.com/office/drawing/2014/main" id="{ACA91101-6551-CFAC-38BE-CAD07DFA046C}"/>
              </a:ext>
            </a:extLst>
          </p:cNvPr>
          <p:cNvPicPr>
            <a:picLocks noChangeAspect="1"/>
          </p:cNvPicPr>
          <p:nvPr userDrawn="1"/>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4" name="图片 3">
            <a:extLst>
              <a:ext uri="{FF2B5EF4-FFF2-40B4-BE49-F238E27FC236}">
                <a16:creationId xmlns:a16="http://schemas.microsoft.com/office/drawing/2014/main" id="{16367A13-8D37-4D16-02BF-867DB1639451}"/>
              </a:ext>
            </a:extLst>
          </p:cNvPr>
          <p:cNvPicPr>
            <a:picLocks noChangeAspect="1"/>
          </p:cNvPicPr>
          <p:nvPr userDrawn="1"/>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0BEF51FA-017F-F0D1-9466-B21881B7CA77}"/>
              </a:ext>
            </a:extLst>
          </p:cNvPr>
          <p:cNvPicPr>
            <a:picLocks noChangeAspect="1"/>
          </p:cNvPicPr>
          <p:nvPr userDrawn="1"/>
        </p:nvPicPr>
        <p:blipFill>
          <a:blip r:embed="rId7">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2727243262"/>
      </p:ext>
    </p:extLst>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userDrawn="1"/>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userDrawn="1"/>
          </p:nvGrpSpPr>
          <p:grpSpPr>
            <a:xfrm rot="16200000">
              <a:off x="10661887" y="5765801"/>
              <a:ext cx="783772" cy="783772"/>
              <a:chOff x="9052852" y="3572185"/>
              <a:chExt cx="344753" cy="344753"/>
            </a:xfrm>
          </p:grpSpPr>
          <p:grpSp>
            <p:nvGrpSpPr>
              <p:cNvPr id="55" name="组合 54"/>
              <p:cNvGrpSpPr/>
              <p:nvPr userDrawn="1"/>
            </p:nvGrpSpPr>
            <p:grpSpPr>
              <a:xfrm flipV="1">
                <a:off x="9052852" y="3572185"/>
                <a:ext cx="344753" cy="344753"/>
                <a:chOff x="2909263" y="4352415"/>
                <a:chExt cx="93625" cy="93625"/>
              </a:xfrm>
            </p:grpSpPr>
            <p:sp>
              <p:nvSpPr>
                <p:cNvPr id="57" name="椭圆 56"/>
                <p:cNvSpPr/>
                <p:nvPr userDrawn="1"/>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userDrawn="1"/>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 name="标题 4">
            <a:extLst>
              <a:ext uri="{FF2B5EF4-FFF2-40B4-BE49-F238E27FC236}">
                <a16:creationId xmlns:a16="http://schemas.microsoft.com/office/drawing/2014/main" id="{D4E51AF3-4B86-C068-61E8-F89039CF3D69}"/>
              </a:ext>
            </a:extLst>
          </p:cNvPr>
          <p:cNvSpPr>
            <a:spLocks noGrp="1"/>
          </p:cNvSpPr>
          <p:nvPr>
            <p:ph type="ctrTitle"/>
          </p:nvPr>
        </p:nvSpPr>
        <p:spPr>
          <a:xfrm>
            <a:off x="4400350" y="19701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endParaRPr lang="en-US" dirty="0"/>
          </a:p>
        </p:txBody>
      </p:sp>
      <p:pic>
        <p:nvPicPr>
          <p:cNvPr id="3" name="图片 2">
            <a:extLst>
              <a:ext uri="{FF2B5EF4-FFF2-40B4-BE49-F238E27FC236}">
                <a16:creationId xmlns:a16="http://schemas.microsoft.com/office/drawing/2014/main" id="{28F19448-DCD7-2BCE-82BA-95A656302291}"/>
              </a:ext>
            </a:extLst>
          </p:cNvPr>
          <p:cNvPicPr>
            <a:picLocks noChangeAspect="1"/>
          </p:cNvPicPr>
          <p:nvPr userDrawn="1"/>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
        <p:nvSpPr>
          <p:cNvPr id="4" name="文本框 3">
            <a:extLst>
              <a:ext uri="{FF2B5EF4-FFF2-40B4-BE49-F238E27FC236}">
                <a16:creationId xmlns:a16="http://schemas.microsoft.com/office/drawing/2014/main" id="{7C0BEDAE-EB8C-24D6-C6AF-B8C73A0C8E8B}"/>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spTree>
    <p:extLst>
      <p:ext uri="{BB962C8B-B14F-4D97-AF65-F5344CB8AC3E}">
        <p14:creationId xmlns:p14="http://schemas.microsoft.com/office/powerpoint/2010/main" val="3768796934"/>
      </p:ext>
    </p:extLst>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66301"/>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BE0DAE40-464B-542A-F3CA-72C57176C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0452" cy="7039661"/>
          </a:xfrm>
          <a:prstGeom prst="rect">
            <a:avLst/>
          </a:prstGeom>
        </p:spPr>
      </p:pic>
      <p:sp>
        <p:nvSpPr>
          <p:cNvPr id="2" name="Rectangle 3">
            <a:extLst>
              <a:ext uri="{FF2B5EF4-FFF2-40B4-BE49-F238E27FC236}">
                <a16:creationId xmlns:a16="http://schemas.microsoft.com/office/drawing/2014/main" id="{12F37E50-CF33-4241-AF80-F4953C679288}"/>
              </a:ext>
            </a:extLst>
          </p:cNvPr>
          <p:cNvSpPr/>
          <p:nvPr/>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96A4A0C-29EC-8C3E-D594-13ECAD0B33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Rectangle 3">
            <a:extLst>
              <a:ext uri="{FF2B5EF4-FFF2-40B4-BE49-F238E27FC236}">
                <a16:creationId xmlns:a16="http://schemas.microsoft.com/office/drawing/2014/main" id="{A1C87679-80C6-AE99-8DAA-AABF3C22FC41}"/>
              </a:ext>
            </a:extLst>
          </p:cNvPr>
          <p:cNvSpPr/>
          <p:nvPr userDrawn="1"/>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11">
            <a:extLst>
              <a:ext uri="{FF2B5EF4-FFF2-40B4-BE49-F238E27FC236}">
                <a16:creationId xmlns:a16="http://schemas.microsoft.com/office/drawing/2014/main" id="{066661E8-8677-3293-5AAC-326D368AABAB}"/>
              </a:ext>
            </a:extLst>
          </p:cNvPr>
          <p:cNvSpPr/>
          <p:nvPr userDrawn="1"/>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Straight Connector 13">
            <a:extLst>
              <a:ext uri="{FF2B5EF4-FFF2-40B4-BE49-F238E27FC236}">
                <a16:creationId xmlns:a16="http://schemas.microsoft.com/office/drawing/2014/main" id="{DC9115AD-2831-67A5-AD90-EEEFA56EA9EF}"/>
              </a:ext>
            </a:extLst>
          </p:cNvPr>
          <p:cNvCxnSpPr>
            <a:cxnSpLocks/>
          </p:cNvCxnSpPr>
          <p:nvPr userDrawn="1"/>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1114C14-9BAA-470F-E3EF-5D0EA90EE792}"/>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0C8A08A5-2F8F-C0CD-6BE3-8EF426240607}"/>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450699890"/>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1C2BD55-C666-8B43-19FA-C2F61102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6544300"/>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r>
              <a:rPr lang="zh-CN" altLang="en-US"/>
              <a:t>单击此处编辑母版文本样式</a:t>
            </a:r>
          </a:p>
        </p:txBody>
      </p:sp>
    </p:spTree>
    <p:extLst>
      <p:ext uri="{BB962C8B-B14F-4D97-AF65-F5344CB8AC3E}">
        <p14:creationId xmlns:p14="http://schemas.microsoft.com/office/powerpoint/2010/main" val="1238666900"/>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5B30-EAE6-475D-9E77-B9C4E87F9C88}"/>
              </a:ext>
            </a:extLst>
          </p:cNvPr>
          <p:cNvSpPr>
            <a:spLocks noGrp="1"/>
          </p:cNvSpPr>
          <p:nvPr>
            <p:ph type="title" hasCustomPrompt="1"/>
          </p:nvPr>
        </p:nvSpPr>
        <p:spPr>
          <a:xfrm>
            <a:off x="1055988" y="-399021"/>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4239653479"/>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D1C7A1-2043-1669-5F8A-7B227BD7D30A}"/>
              </a:ext>
            </a:extLst>
          </p:cNvPr>
          <p:cNvSpPr>
            <a:spLocks noGrp="1"/>
          </p:cNvSpPr>
          <p:nvPr>
            <p:ph type="title" hasCustomPrompt="1"/>
          </p:nvPr>
        </p:nvSpPr>
        <p:spPr>
          <a:xfrm>
            <a:off x="825329" y="-427905"/>
            <a:ext cx="10858500" cy="1028700"/>
          </a:xfrm>
        </p:spPr>
        <p:txBody>
          <a:bodyPr/>
          <a:lstStyle>
            <a:lvl1pPr>
              <a:defRPr>
                <a:solidFill>
                  <a:schemeClr val="tx1"/>
                </a:solidFill>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788536594"/>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末尾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8C971A2-91C0-0F12-DA53-E6784B322847}"/>
              </a:ext>
            </a:extLst>
          </p:cNvPr>
          <p:cNvPicPr>
            <a:picLocks noChangeAspect="1"/>
          </p:cNvPicPr>
          <p:nvPr/>
        </p:nvPicPr>
        <p:blipFill>
          <a:blip r:embed="rId2"/>
          <a:stretch>
            <a:fillRect/>
          </a:stretch>
        </p:blipFill>
        <p:spPr>
          <a:xfrm>
            <a:off x="7620000" y="13546"/>
            <a:ext cx="4576460" cy="6844454"/>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Speaker name and title</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2" name="图片 1">
            <a:extLst>
              <a:ext uri="{FF2B5EF4-FFF2-40B4-BE49-F238E27FC236}">
                <a16:creationId xmlns:a16="http://schemas.microsoft.com/office/drawing/2014/main" id="{0808FB89-916C-2617-605B-3A71B8F3D4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5B3BDEC6-F771-C16C-C365-03B2262F7C40}"/>
              </a:ext>
            </a:extLst>
          </p:cNvPr>
          <p:cNvPicPr>
            <a:picLocks noChangeAspect="1"/>
          </p:cNvPicPr>
          <p:nvPr userDrawn="1"/>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5" name="图片 4">
            <a:extLst>
              <a:ext uri="{FF2B5EF4-FFF2-40B4-BE49-F238E27FC236}">
                <a16:creationId xmlns:a16="http://schemas.microsoft.com/office/drawing/2014/main" id="{18B5EE46-E2B2-EBF2-F5AC-5322A677557F}"/>
              </a:ext>
            </a:extLst>
          </p:cNvPr>
          <p:cNvPicPr>
            <a:picLocks noChangeAspect="1"/>
          </p:cNvPicPr>
          <p:nvPr userDrawn="1"/>
        </p:nvPicPr>
        <p:blipFill>
          <a:blip r:embed="rId6">
            <a:duotone>
              <a:prstClr val="black"/>
              <a:schemeClr val="tx2">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7" name="图片 6">
            <a:extLst>
              <a:ext uri="{FF2B5EF4-FFF2-40B4-BE49-F238E27FC236}">
                <a16:creationId xmlns:a16="http://schemas.microsoft.com/office/drawing/2014/main" id="{B23BCB1D-48BB-8E7F-1E38-42BFFA9E944D}"/>
              </a:ext>
            </a:extLst>
          </p:cNvPr>
          <p:cNvPicPr>
            <a:picLocks noChangeAspect="1"/>
          </p:cNvPicPr>
          <p:nvPr userDrawn="1"/>
        </p:nvPicPr>
        <p:blipFill>
          <a:blip r:embed="rId8">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835422770"/>
      </p:ext>
    </p:extLst>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2_标题幻灯片">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3" name="标题 4">
            <a:extLst>
              <a:ext uri="{FF2B5EF4-FFF2-40B4-BE49-F238E27FC236}">
                <a16:creationId xmlns:a16="http://schemas.microsoft.com/office/drawing/2014/main" id="{B5D391BF-A023-49D2-B62C-E02AC8635D69}"/>
              </a:ext>
            </a:extLst>
          </p:cNvPr>
          <p:cNvSpPr>
            <a:spLocks noGrp="1"/>
          </p:cNvSpPr>
          <p:nvPr>
            <p:ph type="ctrTitle" hasCustomPrompt="1"/>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pic>
        <p:nvPicPr>
          <p:cNvPr id="5" name="图片 4">
            <a:extLst>
              <a:ext uri="{FF2B5EF4-FFF2-40B4-BE49-F238E27FC236}">
                <a16:creationId xmlns:a16="http://schemas.microsoft.com/office/drawing/2014/main" id="{57ED4568-4D8D-7CE6-DBD3-61776C004218}"/>
              </a:ext>
            </a:extLst>
          </p:cNvPr>
          <p:cNvPicPr>
            <a:picLocks noChangeAspect="1"/>
          </p:cNvPicPr>
          <p:nvPr/>
        </p:nvPicPr>
        <p:blipFill>
          <a:blip r:embed="rId5">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45185" y="2818989"/>
            <a:ext cx="2178398" cy="978522"/>
          </a:xfrm>
          <a:prstGeom prst="rect">
            <a:avLst/>
          </a:prstGeom>
        </p:spPr>
      </p:pic>
    </p:spTree>
    <p:extLst>
      <p:ext uri="{BB962C8B-B14F-4D97-AF65-F5344CB8AC3E}">
        <p14:creationId xmlns:p14="http://schemas.microsoft.com/office/powerpoint/2010/main" val="1506774442"/>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202FDAE-0095-6CC0-EC3F-208D75966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标题 1"/>
          <p:cNvSpPr>
            <a:spLocks noGrp="1"/>
          </p:cNvSpPr>
          <p:nvPr>
            <p:ph type="title" hasCustomPrompt="1"/>
          </p:nvPr>
        </p:nvSpPr>
        <p:spPr>
          <a:xfrm>
            <a:off x="660400" y="1500189"/>
            <a:ext cx="2519061" cy="864515"/>
          </a:xfrm>
          <a:prstGeom prst="rect">
            <a:avLst/>
          </a:prstGeom>
          <a:noFill/>
        </p:spPr>
        <p:txBody>
          <a:bodyPr anchor="t" anchorCtr="0">
            <a:normAutofit/>
          </a:bodyPr>
          <a:lstStyle>
            <a:lvl1pPr algn="r">
              <a:defRPr sz="2800">
                <a:solidFill>
                  <a:srgbClr val="FFFFFF"/>
                </a:solidFill>
              </a:defRPr>
            </a:lvl1pPr>
          </a:lstStyle>
          <a:p>
            <a:pPr lvl="0"/>
            <a:r>
              <a:rPr lang="en-US"/>
              <a:t>Agenda</a:t>
            </a:r>
          </a:p>
        </p:txBody>
      </p:sp>
      <p:sp>
        <p:nvSpPr>
          <p:cNvPr id="3" name="内容占位符 2"/>
          <p:cNvSpPr>
            <a:spLocks noGrp="1"/>
          </p:cNvSpPr>
          <p:nvPr>
            <p:ph sz="quarter" idx="1" hasCustomPrompt="1"/>
          </p:nvPr>
        </p:nvSpPr>
        <p:spPr>
          <a:xfrm>
            <a:off x="3839860" y="1500189"/>
            <a:ext cx="7679039" cy="427831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7" name="图片 6">
            <a:extLst>
              <a:ext uri="{FF2B5EF4-FFF2-40B4-BE49-F238E27FC236}">
                <a16:creationId xmlns:a16="http://schemas.microsoft.com/office/drawing/2014/main" id="{956E91C9-E62C-62F0-BC27-65EF2B59939D}"/>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260BFE75-AB93-8081-4027-EDC31F67337A}"/>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2184" y="6108209"/>
            <a:ext cx="704451" cy="621204"/>
          </a:xfrm>
          <a:prstGeom prst="rect">
            <a:avLst/>
          </a:prstGeom>
        </p:spPr>
      </p:pic>
      <p:pic>
        <p:nvPicPr>
          <p:cNvPr id="4" name="图片 3">
            <a:extLst>
              <a:ext uri="{FF2B5EF4-FFF2-40B4-BE49-F238E27FC236}">
                <a16:creationId xmlns:a16="http://schemas.microsoft.com/office/drawing/2014/main" id="{4533F409-7AF2-7738-C45D-ADDC0C9922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5" name="图片 4">
            <a:extLst>
              <a:ext uri="{FF2B5EF4-FFF2-40B4-BE49-F238E27FC236}">
                <a16:creationId xmlns:a16="http://schemas.microsoft.com/office/drawing/2014/main" id="{04915495-E497-C559-512B-5F59C7548598}"/>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6" name="图片 5">
            <a:extLst>
              <a:ext uri="{FF2B5EF4-FFF2-40B4-BE49-F238E27FC236}">
                <a16:creationId xmlns:a16="http://schemas.microsoft.com/office/drawing/2014/main" id="{824640ED-C55D-8D73-4EAB-DC295132A4F1}"/>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3808532770"/>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p:spPr>
        <p:txBody>
          <a:bodyPr anchor="t">
            <a:normAutofit/>
          </a:bodyPr>
          <a:lstStyle>
            <a:lvl1pPr algn="ctr">
              <a:defRPr sz="4400" b="1" cap="all">
                <a:solidFill>
                  <a:schemeClr val="accent1"/>
                </a:solidFill>
              </a:defRPr>
            </a:lvl1pPr>
          </a:lstStyle>
          <a:p>
            <a:r>
              <a:rPr lang="zh-CN" altLang="en-US"/>
              <a:t>单击此处编辑母版标题样式</a:t>
            </a:r>
            <a:endParaRPr lang="zh-CN" altLang="en-US" dirty="0"/>
          </a:p>
        </p:txBody>
      </p:sp>
      <p:pic>
        <p:nvPicPr>
          <p:cNvPr id="3" name="图片 2">
            <a:extLst>
              <a:ext uri="{FF2B5EF4-FFF2-40B4-BE49-F238E27FC236}">
                <a16:creationId xmlns:a16="http://schemas.microsoft.com/office/drawing/2014/main" id="{0C225C48-C16B-E760-3562-D3A3B9176E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pic>
        <p:nvPicPr>
          <p:cNvPr id="4" name="图片 3">
            <a:extLst>
              <a:ext uri="{FF2B5EF4-FFF2-40B4-BE49-F238E27FC236}">
                <a16:creationId xmlns:a16="http://schemas.microsoft.com/office/drawing/2014/main" id="{A8C2A5F4-62F8-0DE3-BF8E-7DB2909DE39B}"/>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958CF466-A791-1E6D-0D69-1A428A2442AE}"/>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079701571"/>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9" name="副标题 8"/>
          <p:cNvSpPr>
            <a:spLocks noGrp="1"/>
          </p:cNvSpPr>
          <p:nvPr>
            <p:ph type="subTitle" sz="quarter" idx="1" hasCustomPrompt="1"/>
          </p:nvPr>
        </p:nvSpPr>
        <p:spPr>
          <a:xfrm>
            <a:off x="660400" y="4043221"/>
            <a:ext cx="5645151" cy="58865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18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660400" y="5497551"/>
            <a:ext cx="5645151"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文本占位符 6"/>
          <p:cNvSpPr>
            <a:spLocks noGrp="1"/>
          </p:cNvSpPr>
          <p:nvPr>
            <p:ph type="body" sz="quarter" idx="14" hasCustomPrompt="1"/>
          </p:nvPr>
        </p:nvSpPr>
        <p:spPr>
          <a:xfrm>
            <a:off x="660400" y="5857101"/>
            <a:ext cx="5645151"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
        <p:nvSpPr>
          <p:cNvPr id="8" name="标题 4">
            <a:extLst>
              <a:ext uri="{FF2B5EF4-FFF2-40B4-BE49-F238E27FC236}">
                <a16:creationId xmlns:a16="http://schemas.microsoft.com/office/drawing/2014/main" id="{D4E51AF3-4B86-C068-61E8-F89039CF3D69}"/>
              </a:ext>
            </a:extLst>
          </p:cNvPr>
          <p:cNvSpPr>
            <a:spLocks noGrp="1"/>
          </p:cNvSpPr>
          <p:nvPr>
            <p:ph type="ctrTitle" hasCustomPrompt="1"/>
          </p:nvPr>
        </p:nvSpPr>
        <p:spPr>
          <a:xfrm>
            <a:off x="3879504" y="1210338"/>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pic>
        <p:nvPicPr>
          <p:cNvPr id="2" name="图片 1">
            <a:extLst>
              <a:ext uri="{FF2B5EF4-FFF2-40B4-BE49-F238E27FC236}">
                <a16:creationId xmlns:a16="http://schemas.microsoft.com/office/drawing/2014/main" id="{86A1F6E0-7672-8B72-B54A-4FF4F79B88B3}"/>
              </a:ext>
            </a:extLst>
          </p:cNvPr>
          <p:cNvPicPr>
            <a:picLocks noChangeAspect="1"/>
          </p:cNvPicPr>
          <p:nvPr/>
        </p:nvPicPr>
        <p:blipFill>
          <a:blip r:embed="rId5">
            <a:duotone>
              <a:schemeClr val="bg2">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62985" y="1728206"/>
            <a:ext cx="3516518" cy="1579597"/>
          </a:xfrm>
          <a:prstGeom prst="rect">
            <a:avLst/>
          </a:prstGeom>
        </p:spPr>
      </p:pic>
    </p:spTree>
    <p:extLst>
      <p:ext uri="{BB962C8B-B14F-4D97-AF65-F5344CB8AC3E}">
        <p14:creationId xmlns:p14="http://schemas.microsoft.com/office/powerpoint/2010/main" val="100086450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空白">
    <p:spTree>
      <p:nvGrpSpPr>
        <p:cNvPr id="1" name=""/>
        <p:cNvGrpSpPr/>
        <p:nvPr/>
      </p:nvGrpSpPr>
      <p:grpSpPr>
        <a:xfrm>
          <a:off x="0" y="0"/>
          <a:ext cx="0" cy="0"/>
          <a:chOff x="0" y="0"/>
          <a:chExt cx="0" cy="0"/>
        </a:xfrm>
      </p:grpSpPr>
      <p:sp>
        <p:nvSpPr>
          <p:cNvPr id="5" name="矩形 4"/>
          <p:cNvSpPr/>
          <p:nvPr/>
        </p:nvSpPr>
        <p:spPr>
          <a:xfrm>
            <a:off x="0" y="6729413"/>
            <a:ext cx="12192000" cy="128587"/>
          </a:xfrm>
          <a:prstGeom prst="rect">
            <a:avLst/>
          </a:prstGeom>
          <a:gradFill>
            <a:gsLst>
              <a:gs pos="0">
                <a:schemeClr val="accent2"/>
              </a:gs>
              <a:gs pos="100000">
                <a:schemeClr val="accent1"/>
              </a:gs>
            </a:gsLst>
            <a:lin ang="10800000" scaled="1"/>
          </a:gradFill>
          <a:ln w="19050">
            <a:noFill/>
            <a:round/>
          </a:ln>
        </p:spPr>
        <p:txBody>
          <a:bodyPr vert="horz" wrap="square" lIns="91440" tIns="45720" rIns="91440" bIns="45720" numCol="1" spcCol="0" rtlCol="0" fromWordArt="0" anchor="ctr" anchorCtr="1" forceAA="0" compatLnSpc="1">
            <a:noAutofit/>
          </a:bodyPr>
          <a:lstStyle/>
          <a:p>
            <a:pPr lvl="0" algn="ctr"/>
            <a:endParaRPr lang="zh-CN" altLang="en-US" sz="1200" b="1">
              <a:solidFill>
                <a:schemeClr val="tx1"/>
              </a:solidFill>
            </a:endParaRPr>
          </a:p>
        </p:txBody>
      </p:sp>
      <p:sp>
        <p:nvSpPr>
          <p:cNvPr id="6" name="标题 1">
            <a:extLst>
              <a:ext uri="{FF2B5EF4-FFF2-40B4-BE49-F238E27FC236}">
                <a16:creationId xmlns:a16="http://schemas.microsoft.com/office/drawing/2014/main" id="{1E9DDCD0-7537-A039-754A-F4224B0E3693}"/>
              </a:ext>
            </a:extLst>
          </p:cNvPr>
          <p:cNvSpPr>
            <a:spLocks noGrp="1"/>
          </p:cNvSpPr>
          <p:nvPr>
            <p:ph type="title"/>
          </p:nvPr>
        </p:nvSpPr>
        <p:spPr>
          <a:xfrm>
            <a:off x="866346" y="-316256"/>
            <a:ext cx="10858500" cy="900112"/>
          </a:xfrm>
        </p:spPr>
        <p:txBody>
          <a:bodyPr/>
          <a:lstStyle>
            <a:lvl1pPr>
              <a:defRPr/>
            </a:lvl1pPr>
          </a:lstStyle>
          <a:p>
            <a:pPr lvl="0"/>
            <a:endParaRPr lang="en-US" dirty="0"/>
          </a:p>
        </p:txBody>
      </p:sp>
    </p:spTree>
    <p:extLst>
      <p:ext uri="{BB962C8B-B14F-4D97-AF65-F5344CB8AC3E}">
        <p14:creationId xmlns:p14="http://schemas.microsoft.com/office/powerpoint/2010/main" val="660633909"/>
      </p:ext>
    </p:extLst>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grpSp>
        <p:nvGrpSpPr>
          <p:cNvPr id="40" name="组合 39"/>
          <p:cNvGrpSpPr/>
          <p:nvPr userDrawn="1"/>
        </p:nvGrpSpPr>
        <p:grpSpPr>
          <a:xfrm>
            <a:off x="0" y="124500"/>
            <a:ext cx="12192001" cy="6858001"/>
            <a:chOff x="0" y="0"/>
            <a:chExt cx="12192001" cy="6858001"/>
          </a:xfrm>
        </p:grpSpPr>
        <p:sp>
          <p:nvSpPr>
            <p:cNvPr id="26" name="任意多边形: 形状 25"/>
            <p:cNvSpPr/>
            <p:nvPr/>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rot="16200000">
              <a:off x="10661887" y="5765801"/>
              <a:ext cx="783772" cy="783772"/>
              <a:chOff x="9052852" y="3572185"/>
              <a:chExt cx="344753" cy="344753"/>
            </a:xfrm>
          </p:grpSpPr>
          <p:grpSp>
            <p:nvGrpSpPr>
              <p:cNvPr id="55" name="组合 54"/>
              <p:cNvGrpSpPr/>
              <p:nvPr/>
            </p:nvGrpSpPr>
            <p:grpSpPr>
              <a:xfrm flipV="1">
                <a:off x="9052852" y="3572185"/>
                <a:ext cx="344753" cy="344753"/>
                <a:chOff x="2909263" y="4352415"/>
                <a:chExt cx="93625" cy="93625"/>
              </a:xfrm>
            </p:grpSpPr>
            <p:sp>
              <p:nvSpPr>
                <p:cNvPr id="57" name="椭圆 56"/>
                <p:cNvSpPr/>
                <p:nvPr/>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3" name="标题 4">
            <a:extLst>
              <a:ext uri="{FF2B5EF4-FFF2-40B4-BE49-F238E27FC236}">
                <a16:creationId xmlns:a16="http://schemas.microsoft.com/office/drawing/2014/main" id="{B5D391BF-A023-49D2-B62C-E02AC8635D69}"/>
              </a:ext>
            </a:extLst>
          </p:cNvPr>
          <p:cNvSpPr>
            <a:spLocks noGrp="1"/>
          </p:cNvSpPr>
          <p:nvPr>
            <p:ph type="ctrTitle" hasCustomPrompt="1"/>
          </p:nvPr>
        </p:nvSpPr>
        <p:spPr>
          <a:xfrm>
            <a:off x="4556922" y="1839434"/>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dirty="0"/>
              <a:t>Intelligent Planning     &amp; </a:t>
            </a:r>
            <a:br>
              <a:rPr lang="en-US" dirty="0"/>
            </a:br>
            <a:r>
              <a:rPr lang="en-US" dirty="0"/>
              <a:t>Control Tower</a:t>
            </a:r>
          </a:p>
        </p:txBody>
      </p:sp>
      <p:sp>
        <p:nvSpPr>
          <p:cNvPr id="5" name="文本框 4">
            <a:extLst>
              <a:ext uri="{FF2B5EF4-FFF2-40B4-BE49-F238E27FC236}">
                <a16:creationId xmlns:a16="http://schemas.microsoft.com/office/drawing/2014/main" id="{FD9C0D61-6364-EB58-4CE8-074F803A783D}"/>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pic>
        <p:nvPicPr>
          <p:cNvPr id="2" name="图片 1">
            <a:extLst>
              <a:ext uri="{FF2B5EF4-FFF2-40B4-BE49-F238E27FC236}">
                <a16:creationId xmlns:a16="http://schemas.microsoft.com/office/drawing/2014/main" id="{6249DE40-38DE-0B8C-A57E-BCDCCECD67F0}"/>
              </a:ext>
            </a:extLst>
          </p:cNvPr>
          <p:cNvPicPr>
            <a:picLocks noChangeAspect="1"/>
          </p:cNvPicPr>
          <p:nvPr userDrawn="1"/>
        </p:nvPicPr>
        <p:blipFill>
          <a:blip r:embed="rId5">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82CA119C-4E3E-E8FD-4491-4E0BECF11504}"/>
              </a:ext>
            </a:extLst>
          </p:cNvPr>
          <p:cNvPicPr>
            <a:picLocks noChangeAspect="1"/>
          </p:cNvPicPr>
          <p:nvPr userDrawn="1"/>
        </p:nvPicPr>
        <p:blipFill>
          <a:blip r:embed="rId6">
            <a:duotone>
              <a:prstClr val="black"/>
              <a:schemeClr val="accent3">
                <a:tint val="45000"/>
                <a:satMod val="400000"/>
              </a:schemeClr>
            </a:duotone>
            <a:extLst>
              <a:ext uri="{BEBA8EAE-BF5A-486C-A8C5-ECC9F3942E4B}">
                <a14:imgProps xmlns:a14="http://schemas.microsoft.com/office/drawing/2010/main">
                  <a14:imgLayer r:embed="rId7">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9775" y="6236796"/>
            <a:ext cx="704451" cy="621204"/>
          </a:xfrm>
          <a:prstGeom prst="rect">
            <a:avLst/>
          </a:prstGeom>
        </p:spPr>
      </p:pic>
    </p:spTree>
    <p:extLst>
      <p:ext uri="{BB962C8B-B14F-4D97-AF65-F5344CB8AC3E}">
        <p14:creationId xmlns:p14="http://schemas.microsoft.com/office/powerpoint/2010/main" val="1570529524"/>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DDCD0-7537-A039-754A-F4224B0E3693}"/>
              </a:ext>
            </a:extLst>
          </p:cNvPr>
          <p:cNvSpPr>
            <a:spLocks noGrp="1"/>
          </p:cNvSpPr>
          <p:nvPr userDrawn="1"/>
        </p:nvSpPr>
        <p:spPr>
          <a:xfrm>
            <a:off x="899833"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
        <p:nvSpPr>
          <p:cNvPr id="3" name="标题 1">
            <a:extLst>
              <a:ext uri="{FF2B5EF4-FFF2-40B4-BE49-F238E27FC236}">
                <a16:creationId xmlns:a16="http://schemas.microsoft.com/office/drawing/2014/main" id="{1E9DDCD0-7537-A039-754A-F4224B0E3693}"/>
              </a:ext>
            </a:extLst>
          </p:cNvPr>
          <p:cNvSpPr>
            <a:spLocks noGrp="1"/>
          </p:cNvSpPr>
          <p:nvPr userDrawn="1"/>
        </p:nvSpPr>
        <p:spPr>
          <a:xfrm>
            <a:off x="947645" y="-26030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1726558574"/>
      </p:ext>
    </p:extLst>
  </p:cSld>
  <p:clrMapOvr>
    <a:overrideClrMapping bg1="lt1" tx1="dk1" bg2="lt2" tx2="dk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3" name="文本占位符 12"/>
          <p:cNvSpPr>
            <a:spLocks noGrp="1"/>
          </p:cNvSpPr>
          <p:nvPr>
            <p:ph type="body" idx="1"/>
            <p:custDataLst>
              <p:tags r:id="rId1"/>
            </p:custDataLst>
          </p:nvPr>
        </p:nvSpPr>
        <p:spPr>
          <a:xfrm>
            <a:off x="569595" y="1253490"/>
            <a:ext cx="11052810" cy="4869180"/>
          </a:xfrm>
          <a:prstGeom prst="rect">
            <a:avLst/>
          </a:prstGeom>
        </p:spPr>
        <p:txBody>
          <a:bodyPr vert="horz" lIns="91440" tIns="45720" rIns="91440" bIns="45720" rtlCol="0">
            <a:normAutofit/>
          </a:bodyPr>
          <a:lstStyle>
            <a:lvl1pPr marL="0" indent="0">
              <a:buNone/>
              <a:defRPr sz="1400">
                <a:solidFill>
                  <a:schemeClr val="tx1"/>
                </a:solidFill>
              </a:defRPr>
            </a:lvl1pPr>
            <a:lvl2pPr marL="457200" indent="0">
              <a:buNone/>
              <a:defRPr sz="1400">
                <a:solidFill>
                  <a:schemeClr val="tx1"/>
                </a:solidFill>
              </a:defRPr>
            </a:lvl2pPr>
            <a:lvl3pPr marL="914400" indent="0">
              <a:buNone/>
              <a:defRPr sz="1400">
                <a:solidFill>
                  <a:schemeClr val="tx1"/>
                </a:solidFill>
              </a:defRPr>
            </a:lvl3pPr>
            <a:lvl4pPr marL="1371600" indent="0">
              <a:buNone/>
              <a:defRPr sz="1400">
                <a:solidFill>
                  <a:schemeClr val="tx1"/>
                </a:solidFill>
              </a:defRPr>
            </a:lvl4pPr>
            <a:lvl5pPr marL="1828800" indent="0">
              <a:buNone/>
              <a:defRPr sz="1400">
                <a:solidFill>
                  <a:schemeClr val="tx1"/>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灯片编号占位符 4"/>
          <p:cNvSpPr>
            <a:spLocks noGrp="1"/>
          </p:cNvSpPr>
          <p:nvPr userDrawn="1">
            <p:custDataLst>
              <p:tags r:id="rId2"/>
            </p:custDataLst>
          </p:nvPr>
        </p:nvSpPr>
        <p:spPr>
          <a:xfrm>
            <a:off x="8879205" y="637540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56FF76-7BF1-4E25-A0F5-B7CD95F22364}" type="slidenum">
              <a:rPr lang="zh-CN" altLang="en-US" smtClean="0"/>
              <a:t>‹#›</a:t>
            </a:fld>
            <a:endParaRPr lang="zh-CN" altLang="en-US" dirty="0"/>
          </a:p>
        </p:txBody>
      </p:sp>
      <p:sp>
        <p:nvSpPr>
          <p:cNvPr id="2" name="标题 1">
            <a:extLst>
              <a:ext uri="{FF2B5EF4-FFF2-40B4-BE49-F238E27FC236}">
                <a16:creationId xmlns:a16="http://schemas.microsoft.com/office/drawing/2014/main" id="{1E9DDCD0-7537-A039-754A-F4224B0E3693}"/>
              </a:ext>
            </a:extLst>
          </p:cNvPr>
          <p:cNvSpPr>
            <a:spLocks noGrp="1"/>
          </p:cNvSpPr>
          <p:nvPr userDrawn="1"/>
        </p:nvSpPr>
        <p:spPr>
          <a:xfrm>
            <a:off x="935691" y="-223043"/>
            <a:ext cx="10858500" cy="900112"/>
          </a:xfrm>
          <a:prstGeom prst="rect">
            <a:avLst/>
          </a:prstGeom>
        </p:spPr>
        <p:txBody>
          <a:bodyPr vert="horz" lIns="91440" tIns="45720" rIns="91440" bIns="45720" rtlCol="0" anchor="b">
            <a:normAutofit/>
          </a:bodyPr>
          <a:lst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a:lstStyle>
          <a:p>
            <a:pPr lvl="0"/>
            <a:endParaRPr lang="en-US" dirty="0"/>
          </a:p>
        </p:txBody>
      </p:sp>
    </p:spTree>
    <p:extLst>
      <p:ext uri="{BB962C8B-B14F-4D97-AF65-F5344CB8AC3E}">
        <p14:creationId xmlns:p14="http://schemas.microsoft.com/office/powerpoint/2010/main" val="221640246"/>
      </p:ext>
    </p:extLst>
  </p:cSld>
  <p:clrMapOvr>
    <a:masterClrMapping/>
  </p:clrMapOvr>
  <p:transition spd="slow"/>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31029"/>
            <a:ext cx="10858500" cy="1028700"/>
          </a:xfrm>
        </p:spPr>
        <p:txBody>
          <a:bodyPr/>
          <a:lstStyle/>
          <a:p>
            <a:r>
              <a:rPr lang="zh-CN" altLang="en-US"/>
              <a:t>单击此处编辑母版标题样式</a:t>
            </a:r>
          </a:p>
        </p:txBody>
      </p:sp>
      <p:sp>
        <p:nvSpPr>
          <p:cNvPr id="3" name="内容占位符 2"/>
          <p:cNvSpPr>
            <a:spLocks noGrp="1"/>
          </p:cNvSpPr>
          <p:nvPr>
            <p:ph sz="half" idx="1"/>
          </p:nvPr>
        </p:nvSpPr>
        <p:spPr>
          <a:xfrm>
            <a:off x="609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200151"/>
            <a:ext cx="5384800" cy="33940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defTabSz="609585" fontAlgn="base">
              <a:spcBef>
                <a:spcPct val="0"/>
              </a:spcBef>
              <a:spcAft>
                <a:spcPct val="0"/>
              </a:spcAft>
              <a:defRPr/>
            </a:pPr>
            <a:endParaRPr kumimoji="1" lang="zh-CN" altLang="en-US" dirty="0"/>
          </a:p>
        </p:txBody>
      </p:sp>
      <p:sp>
        <p:nvSpPr>
          <p:cNvPr id="6" name="页脚占位符 5"/>
          <p:cNvSpPr>
            <a:spLocks noGrp="1"/>
          </p:cNvSpPr>
          <p:nvPr>
            <p:ph type="ftr" sz="quarter" idx="11"/>
          </p:nvPr>
        </p:nvSpPr>
        <p:spPr/>
        <p:txBody>
          <a:bodyPr/>
          <a:lstStyle/>
          <a:p>
            <a:pPr defTabSz="609585">
              <a:defRPr/>
            </a:pPr>
            <a:endParaRPr kumimoji="1" lang="zh-CN" altLang="en-US" dirty="0"/>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t>‹#›</a:t>
            </a:fld>
            <a:endParaRPr lang="zh-CN" altLang="en-US" dirty="0">
              <a:latin typeface="Calibri" panose="020F0502020204030204" pitchFamily="34" charset="0"/>
            </a:endParaRPr>
          </a:p>
        </p:txBody>
      </p:sp>
    </p:spTree>
    <p:extLst>
      <p:ext uri="{BB962C8B-B14F-4D97-AF65-F5344CB8AC3E}">
        <p14:creationId xmlns:p14="http://schemas.microsoft.com/office/powerpoint/2010/main" val="824534664"/>
      </p:ext>
    </p:extLst>
  </p:cSld>
  <p:clrMapOvr>
    <a:overrideClrMapping bg1="lt1" tx1="dk1" bg2="lt2" tx2="dk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and Content - No Background">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987" rtl="0" eaLnBrk="1" latinLnBrk="0" hangingPunct="1">
              <a:lnSpc>
                <a:spcPct val="100000"/>
              </a:lnSpc>
              <a:spcBef>
                <a:spcPct val="0"/>
              </a:spcBef>
              <a:buNone/>
              <a:tabLst>
                <a:tab pos="1218987" algn="l"/>
              </a:tabLst>
              <a:defRPr lang="en-US" sz="3600" kern="1200" cap="none" spc="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450" indent="-171450">
              <a:lnSpc>
                <a:spcPct val="90000"/>
              </a:lnSpc>
              <a:spcBef>
                <a:spcPts val="600"/>
              </a:spcBef>
              <a:buClrTx/>
              <a:buFont typeface="Arial" panose="020B0604020202020204" pitchFamily="34" charset="0"/>
              <a:buChar char="•"/>
              <a:defRPr sz="2400">
                <a:solidFill>
                  <a:schemeClr val="tx1"/>
                </a:solidFill>
                <a:latin typeface="Arial" pitchFamily="34" charset="0"/>
                <a:cs typeface="Arial" pitchFamily="34" charset="0"/>
              </a:defRPr>
            </a:lvl1pPr>
            <a:lvl2pPr marL="609493" indent="-228560">
              <a:lnSpc>
                <a:spcPct val="90000"/>
              </a:lnSpc>
              <a:spcBef>
                <a:spcPts val="600"/>
              </a:spcBef>
              <a:buClrTx/>
              <a:buFont typeface="Arial" pitchFamily="34" charset="0"/>
              <a:buChar char="–"/>
              <a:defRPr sz="2000">
                <a:solidFill>
                  <a:schemeClr val="tx1"/>
                </a:solidFill>
                <a:latin typeface="Arial" pitchFamily="34" charset="0"/>
                <a:cs typeface="Arial" pitchFamily="34" charset="0"/>
              </a:defRPr>
            </a:lvl2pPr>
            <a:lvl3pPr marL="835938"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3pPr>
            <a:lvl4pPr marL="1147033" indent="-156606">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4pPr>
            <a:lvl5pPr marL="1445431" indent="-150258">
              <a:lnSpc>
                <a:spcPct val="90000"/>
              </a:lnSpc>
              <a:spcBef>
                <a:spcPts val="600"/>
              </a:spcBef>
              <a:buClrTx/>
              <a:buFont typeface="Arial" panose="020B0604020202020204" pitchFamily="34" charset="0"/>
              <a:buChar char="-"/>
              <a:defRPr sz="20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Freeform 5">
            <a:extLst>
              <a:ext uri="{FF2B5EF4-FFF2-40B4-BE49-F238E27FC236}">
                <a16:creationId xmlns:a16="http://schemas.microsoft.com/office/drawing/2014/main" id="{8C261849-EED4-439D-9D86-D00B5DA1B6C8}"/>
              </a:ext>
            </a:extLst>
          </p:cNvPr>
          <p:cNvSpPr>
            <a:spLocks noChangeAspect="1" noEditPoints="1"/>
          </p:cNvSpPr>
          <p:nvPr userDrawn="1"/>
        </p:nvSpPr>
        <p:spPr bwMode="black">
          <a:xfrm>
            <a:off x="205409" y="423409"/>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8" name="TextBox slide number">
            <a:extLst>
              <a:ext uri="{FF2B5EF4-FFF2-40B4-BE49-F238E27FC236}">
                <a16:creationId xmlns:a16="http://schemas.microsoft.com/office/drawing/2014/main" id="{C14F407B-25FF-40AD-A010-7F4E0497654A}"/>
              </a:ext>
            </a:extLst>
          </p:cNvPr>
          <p:cNvSpPr txBox="1"/>
          <p:nvPr userDrawn="1"/>
        </p:nvSpPr>
        <p:spPr bwMode="white">
          <a:xfrm>
            <a:off x="11751760" y="6395208"/>
            <a:ext cx="440239"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b="0" smtClean="0">
                <a:solidFill>
                  <a:schemeClr val="tx1"/>
                </a:solidFill>
              </a:rPr>
              <a:pPr lvl="0" algn="ctr"/>
              <a:t>‹#›</a:t>
            </a:fld>
            <a:endParaRPr lang="en-US" sz="1000" b="0" dirty="0">
              <a:solidFill>
                <a:schemeClr val="tx1"/>
              </a:solidFill>
            </a:endParaRPr>
          </a:p>
        </p:txBody>
      </p:sp>
    </p:spTree>
    <p:extLst>
      <p:ext uri="{BB962C8B-B14F-4D97-AF65-F5344CB8AC3E}">
        <p14:creationId xmlns:p14="http://schemas.microsoft.com/office/powerpoint/2010/main" val="2490518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EF5-5DA5-9F91-63DD-0168D8E3EB8B}"/>
              </a:ext>
            </a:extLst>
          </p:cNvPr>
          <p:cNvSpPr>
            <a:spLocks noGrp="1"/>
          </p:cNvSpPr>
          <p:nvPr>
            <p:ph type="title"/>
          </p:nvPr>
        </p:nvSpPr>
        <p:spPr>
          <a:xfrm>
            <a:off x="886690" y="187035"/>
            <a:ext cx="10714759" cy="457201"/>
          </a:xfrm>
          <a:prstGeom prst="rect">
            <a:avLst/>
          </a:prstGeom>
        </p:spPr>
        <p:txBody>
          <a:bodyPr/>
          <a:lstStyle>
            <a:lvl1pPr>
              <a:defRPr>
                <a:solidFill>
                  <a:schemeClr val="tx1"/>
                </a:solidFill>
                <a:latin typeface="+mj-ea"/>
                <a:ea typeface="+mj-ea"/>
              </a:defRPr>
            </a:lvl1pPr>
          </a:lstStyle>
          <a:p>
            <a:endParaRPr lang="zh-CN" altLang="en-US" dirty="0"/>
          </a:p>
        </p:txBody>
      </p:sp>
    </p:spTree>
    <p:extLst>
      <p:ext uri="{BB962C8B-B14F-4D97-AF65-F5344CB8AC3E}">
        <p14:creationId xmlns:p14="http://schemas.microsoft.com/office/powerpoint/2010/main" val="1824212916"/>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B42509E-12FE-156B-B1FC-818C4EC59F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Rectangle 3">
            <a:extLst>
              <a:ext uri="{FF2B5EF4-FFF2-40B4-BE49-F238E27FC236}">
                <a16:creationId xmlns:a16="http://schemas.microsoft.com/office/drawing/2014/main" id="{12F37E50-CF33-4241-AF80-F4953C679288}"/>
              </a:ext>
            </a:extLst>
          </p:cNvPr>
          <p:cNvSpPr/>
          <p:nvPr userDrawn="1"/>
        </p:nvSpPr>
        <p:spPr>
          <a:xfrm>
            <a:off x="7088746" y="0"/>
            <a:ext cx="593599" cy="41592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11">
            <a:extLst>
              <a:ext uri="{FF2B5EF4-FFF2-40B4-BE49-F238E27FC236}">
                <a16:creationId xmlns:a16="http://schemas.microsoft.com/office/drawing/2014/main" id="{0F60084F-F637-4FA4-BE35-D702CF6DAA6A}"/>
              </a:ext>
            </a:extLst>
          </p:cNvPr>
          <p:cNvSpPr/>
          <p:nvPr userDrawn="1"/>
        </p:nvSpPr>
        <p:spPr>
          <a:xfrm>
            <a:off x="7385545" y="3911100"/>
            <a:ext cx="593599" cy="2946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itle 1">
            <a:extLst>
              <a:ext uri="{FF2B5EF4-FFF2-40B4-BE49-F238E27FC236}">
                <a16:creationId xmlns:a16="http://schemas.microsoft.com/office/drawing/2014/main" id="{2869597B-F909-5F67-0679-C0ADB832BB0C}"/>
              </a:ext>
            </a:extLst>
          </p:cNvPr>
          <p:cNvSpPr>
            <a:spLocks noGrp="1"/>
          </p:cNvSpPr>
          <p:nvPr>
            <p:ph type="ctrTitle" hasCustomPrompt="1"/>
          </p:nvPr>
        </p:nvSpPr>
        <p:spPr>
          <a:xfrm>
            <a:off x="1027460" y="2767054"/>
            <a:ext cx="5200650" cy="1794141"/>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cxnSp>
        <p:nvCxnSpPr>
          <p:cNvPr id="8" name="Straight Connector 13">
            <a:extLst>
              <a:ext uri="{FF2B5EF4-FFF2-40B4-BE49-F238E27FC236}">
                <a16:creationId xmlns:a16="http://schemas.microsoft.com/office/drawing/2014/main" id="{A7BE3E13-E4E5-2397-0174-77949629B0D5}"/>
              </a:ext>
            </a:extLst>
          </p:cNvPr>
          <p:cNvCxnSpPr>
            <a:cxnSpLocks/>
          </p:cNvCxnSpPr>
          <p:nvPr userDrawn="1"/>
        </p:nvCxnSpPr>
        <p:spPr>
          <a:xfrm flipV="1">
            <a:off x="949310" y="2458825"/>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F90B7826-24A7-BC3C-73C9-9F5F7B19EAE5}"/>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5" name="图片 4">
            <a:extLst>
              <a:ext uri="{FF2B5EF4-FFF2-40B4-BE49-F238E27FC236}">
                <a16:creationId xmlns:a16="http://schemas.microsoft.com/office/drawing/2014/main" id="{0BDE140C-EF3F-E22F-4A92-E3E962B8277F}"/>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716829347"/>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C2C7C2A-E334-E5BD-47CD-7B7479086E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Title 1">
            <a:extLst>
              <a:ext uri="{FF2B5EF4-FFF2-40B4-BE49-F238E27FC236}">
                <a16:creationId xmlns:a16="http://schemas.microsoft.com/office/drawing/2014/main" id="{53FD368F-863D-4527-8F6D-CEC87B7E23EE}"/>
              </a:ext>
            </a:extLst>
          </p:cNvPr>
          <p:cNvSpPr>
            <a:spLocks noGrp="1"/>
          </p:cNvSpPr>
          <p:nvPr>
            <p:ph type="ctrTitle" hasCustomPrompt="1"/>
          </p:nvPr>
        </p:nvSpPr>
        <p:spPr>
          <a:xfrm>
            <a:off x="1029470" y="1862477"/>
            <a:ext cx="5200650" cy="2605695"/>
          </a:xfrm>
          <a:prstGeom prst="rect">
            <a:avLst/>
          </a:prstGeom>
          <a:noFill/>
          <a:ln>
            <a:noFill/>
          </a:ln>
        </p:spPr>
        <p:txBody>
          <a:bodyPr vert="horz" wrap="square" lIns="91440" tIns="45720" rIns="91440" bIns="45720" rtlCol="0" anchor="b">
            <a:noAutofit/>
          </a:bodyPr>
          <a:lstStyle>
            <a:lvl1pPr algn="ctr">
              <a:defRPr lang="zh-CN" altLang="en-US" sz="4400" i="0" dirty="0">
                <a:solidFill>
                  <a:schemeClr val="tx1"/>
                </a:solidFill>
              </a:defRPr>
            </a:lvl1pPr>
          </a:lstStyle>
          <a:p>
            <a:pPr lvl="0"/>
            <a:r>
              <a:rPr lang="en-US" altLang="zh-CN" dirty="0"/>
              <a:t>Click to edit Master title style </a:t>
            </a:r>
            <a:endParaRPr lang="zh-CN" altLang="en-US" dirty="0"/>
          </a:p>
        </p:txBody>
      </p:sp>
      <p:sp>
        <p:nvSpPr>
          <p:cNvPr id="4" name="Rectangle 3">
            <a:extLst>
              <a:ext uri="{FF2B5EF4-FFF2-40B4-BE49-F238E27FC236}">
                <a16:creationId xmlns:a16="http://schemas.microsoft.com/office/drawing/2014/main" id="{12F37E50-CF33-4241-AF80-F4953C679288}"/>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0F60084F-F637-4FA4-BE35-D702CF6DAA6A}"/>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Straight Connector 13">
            <a:extLst>
              <a:ext uri="{FF2B5EF4-FFF2-40B4-BE49-F238E27FC236}">
                <a16:creationId xmlns:a16="http://schemas.microsoft.com/office/drawing/2014/main" id="{DC3C8D67-DBD4-4831-B956-FBC1F2BA8C47}"/>
              </a:ext>
            </a:extLst>
          </p:cNvPr>
          <p:cNvCxnSpPr>
            <a:cxnSpLocks/>
          </p:cNvCxnSpPr>
          <p:nvPr/>
        </p:nvCxnSpPr>
        <p:spPr>
          <a:xfrm flipV="1">
            <a:off x="957262" y="1862477"/>
            <a:ext cx="0" cy="2530778"/>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74BF5D31-C802-5511-E1A1-34DAF124960F}"/>
              </a:ext>
            </a:extLst>
          </p:cNvPr>
          <p:cNvPicPr>
            <a:picLocks noChangeAspect="1"/>
          </p:cNvPicPr>
          <p:nvPr userDrawn="1"/>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D51DAAEB-A801-F029-2DA0-673028BC1641}"/>
              </a:ext>
            </a:extLst>
          </p:cNvPr>
          <p:cNvPicPr>
            <a:picLocks noChangeAspect="1"/>
          </p:cNvPicPr>
          <p:nvPr userDrawn="1"/>
        </p:nvPicPr>
        <p:blipFill>
          <a:blip r:embed="rId5">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86180690"/>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4B5FBE3-2983-7A7E-EDBF-7AD37AC20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2" name="标题 1"/>
          <p:cNvSpPr>
            <a:spLocks noGrp="1"/>
          </p:cNvSpPr>
          <p:nvPr>
            <p:ph type="title"/>
          </p:nvPr>
        </p:nvSpPr>
        <p:spPr>
          <a:xfrm>
            <a:off x="788155" y="2458832"/>
            <a:ext cx="10363200" cy="1362075"/>
          </a:xfrm>
          <a:prstGeom prst="rect">
            <a:avLst/>
          </a:prstGeom>
        </p:spPr>
        <p:txBody>
          <a:bodyPr anchor="t">
            <a:normAutofit/>
          </a:bodyPr>
          <a:lstStyle>
            <a:lvl1pPr algn="ctr">
              <a:defRPr sz="4400" b="1" cap="all">
                <a:solidFill>
                  <a:schemeClr val="accent1"/>
                </a:solidFill>
              </a:defRPr>
            </a:lvl1pPr>
          </a:lstStyle>
          <a:p>
            <a:endParaRPr lang="zh-CN" altLang="en-US" dirty="0"/>
          </a:p>
        </p:txBody>
      </p:sp>
      <p:pic>
        <p:nvPicPr>
          <p:cNvPr id="3" name="图片 2">
            <a:extLst>
              <a:ext uri="{FF2B5EF4-FFF2-40B4-BE49-F238E27FC236}">
                <a16:creationId xmlns:a16="http://schemas.microsoft.com/office/drawing/2014/main" id="{2B64EF90-A043-CF53-4A64-26B4932B7055}"/>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4" name="图片 3">
            <a:extLst>
              <a:ext uri="{FF2B5EF4-FFF2-40B4-BE49-F238E27FC236}">
                <a16:creationId xmlns:a16="http://schemas.microsoft.com/office/drawing/2014/main" id="{7FF88E22-8B91-66CE-8127-F4DF49D0C47F}"/>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759372510"/>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9F9ABC-0F7B-6DEB-6195-893CD20C7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5" name="Text Placeholder 4">
            <a:extLst>
              <a:ext uri="{FF2B5EF4-FFF2-40B4-BE49-F238E27FC236}">
                <a16:creationId xmlns:a16="http://schemas.microsoft.com/office/drawing/2014/main" id="{7AF4A77F-477A-42CF-AB01-C5164F0848BA}"/>
              </a:ext>
            </a:extLst>
          </p:cNvPr>
          <p:cNvSpPr>
            <a:spLocks noGrp="1"/>
          </p:cNvSpPr>
          <p:nvPr>
            <p:ph type="body" sz="quarter" idx="10"/>
          </p:nvPr>
        </p:nvSpPr>
        <p:spPr>
          <a:xfrm>
            <a:off x="3447433" y="3111089"/>
            <a:ext cx="4607238" cy="794990"/>
          </a:xfrm>
        </p:spPr>
        <p:txBody>
          <a:bodyPr wrap="none">
            <a:noAutofit/>
          </a:bodyPr>
          <a:lstStyle>
            <a:lvl1pPr marL="0" indent="0" algn="ctr">
              <a:buNone/>
              <a:defRPr sz="4400" b="1" i="0">
                <a:solidFill>
                  <a:schemeClr val="tx1"/>
                </a:solidFill>
                <a:latin typeface="+mj-lt"/>
              </a:defRPr>
            </a:lvl1pPr>
            <a:lvl2pPr marL="457166" indent="0">
              <a:buNone/>
              <a:defRPr b="1">
                <a:solidFill>
                  <a:schemeClr val="bg1"/>
                </a:solidFill>
              </a:defRPr>
            </a:lvl2pPr>
            <a:lvl3pPr marL="914330" indent="0">
              <a:buNone/>
              <a:defRPr b="1">
                <a:solidFill>
                  <a:schemeClr val="bg1"/>
                </a:solidFill>
              </a:defRPr>
            </a:lvl3pPr>
            <a:lvl4pPr marL="1371496" indent="0">
              <a:buNone/>
              <a:defRPr b="1">
                <a:solidFill>
                  <a:schemeClr val="bg1"/>
                </a:solidFill>
              </a:defRPr>
            </a:lvl4pPr>
            <a:lvl5pPr marL="1828663" indent="0">
              <a:buNone/>
              <a:defRPr b="1">
                <a:solidFill>
                  <a:schemeClr val="bg1"/>
                </a:solidFill>
              </a:defRPr>
            </a:lvl5pPr>
          </a:lstStyle>
          <a:p>
            <a:pPr lvl="0"/>
            <a:endParaRPr lang="zh-CN" altLang="en-US" dirty="0"/>
          </a:p>
        </p:txBody>
      </p:sp>
      <p:pic>
        <p:nvPicPr>
          <p:cNvPr id="2" name="图片 1">
            <a:extLst>
              <a:ext uri="{FF2B5EF4-FFF2-40B4-BE49-F238E27FC236}">
                <a16:creationId xmlns:a16="http://schemas.microsoft.com/office/drawing/2014/main" id="{1D90DB62-1BC7-5189-C42C-3D9961ED2577}"/>
              </a:ext>
            </a:extLst>
          </p:cNvPr>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3" name="图片 2">
            <a:extLst>
              <a:ext uri="{FF2B5EF4-FFF2-40B4-BE49-F238E27FC236}">
                <a16:creationId xmlns:a16="http://schemas.microsoft.com/office/drawing/2014/main" id="{0C6513E3-AF68-087D-8BA6-B5B4CB4517E2}"/>
              </a:ext>
            </a:extLst>
          </p:cNvPr>
          <p:cNvPicPr>
            <a:picLocks noChangeAspect="1"/>
          </p:cNvPicPr>
          <p:nvPr userDrawn="1"/>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1149246842"/>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末尾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80324D-53AD-EC4E-B92F-83312C80ED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610" y="0"/>
            <a:ext cx="12192000" cy="7007940"/>
          </a:xfrm>
          <a:prstGeom prst="rect">
            <a:avLst/>
          </a:prstGeom>
        </p:spPr>
      </p:pic>
      <p:sp>
        <p:nvSpPr>
          <p:cNvPr id="14" name="Rectangle 13">
            <a:extLst>
              <a:ext uri="{FF2B5EF4-FFF2-40B4-BE49-F238E27FC236}">
                <a16:creationId xmlns:a16="http://schemas.microsoft.com/office/drawing/2014/main" id="{4129C334-CACA-4BE1-A84C-41F6820FF127}"/>
              </a:ext>
            </a:extLst>
          </p:cNvPr>
          <p:cNvSpPr/>
          <p:nvPr/>
        </p:nvSpPr>
        <p:spPr>
          <a:xfrm>
            <a:off x="7026401" y="0"/>
            <a:ext cx="593599" cy="426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a:extLst>
              <a:ext uri="{FF2B5EF4-FFF2-40B4-BE49-F238E27FC236}">
                <a16:creationId xmlns:a16="http://schemas.microsoft.com/office/drawing/2014/main" id="{6907BCD2-9008-43D6-B003-96C575232D66}"/>
              </a:ext>
            </a:extLst>
          </p:cNvPr>
          <p:cNvSpPr/>
          <p:nvPr/>
        </p:nvSpPr>
        <p:spPr>
          <a:xfrm>
            <a:off x="7323200" y="3911100"/>
            <a:ext cx="593599" cy="2959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Freeform: Shape 10">
            <a:extLst>
              <a:ext uri="{FF2B5EF4-FFF2-40B4-BE49-F238E27FC236}">
                <a16:creationId xmlns:a16="http://schemas.microsoft.com/office/drawing/2014/main" id="{0A271160-581E-4BCE-BACF-7271659F1D01}"/>
              </a:ext>
            </a:extLst>
          </p:cNvPr>
          <p:cNvSpPr/>
          <p:nvPr/>
        </p:nvSpPr>
        <p:spPr>
          <a:xfrm>
            <a:off x="12191319" y="0"/>
            <a:ext cx="684" cy="13546"/>
          </a:xfrm>
          <a:custGeom>
            <a:avLst/>
            <a:gdLst>
              <a:gd name="connsiteX0" fmla="*/ 0 w 684"/>
              <a:gd name="connsiteY0" fmla="*/ 0 h 13546"/>
              <a:gd name="connsiteX1" fmla="*/ 684 w 684"/>
              <a:gd name="connsiteY1" fmla="*/ 0 h 13546"/>
              <a:gd name="connsiteX2" fmla="*/ 684 w 684"/>
              <a:gd name="connsiteY2" fmla="*/ 13546 h 13546"/>
              <a:gd name="connsiteX3" fmla="*/ 0 w 684"/>
              <a:gd name="connsiteY3" fmla="*/ 0 h 13546"/>
            </a:gdLst>
            <a:ahLst/>
            <a:cxnLst>
              <a:cxn ang="0">
                <a:pos x="connsiteX0" y="connsiteY0"/>
              </a:cxn>
              <a:cxn ang="0">
                <a:pos x="connsiteX1" y="connsiteY1"/>
              </a:cxn>
              <a:cxn ang="0">
                <a:pos x="connsiteX2" y="connsiteY2"/>
              </a:cxn>
              <a:cxn ang="0">
                <a:pos x="connsiteX3" y="connsiteY3"/>
              </a:cxn>
            </a:cxnLst>
            <a:rect l="l" t="t" r="r" b="b"/>
            <a:pathLst>
              <a:path w="684" h="13546">
                <a:moveTo>
                  <a:pt x="0" y="0"/>
                </a:moveTo>
                <a:lnTo>
                  <a:pt x="684" y="0"/>
                </a:lnTo>
                <a:lnTo>
                  <a:pt x="684" y="13546"/>
                </a:lnTo>
                <a:lnTo>
                  <a:pt x="0" y="0"/>
                </a:lnTo>
                <a:close/>
              </a:path>
            </a:pathLst>
          </a:custGeom>
          <a:solidFill>
            <a:schemeClr val="bg1"/>
          </a:solidFill>
          <a:ln w="14015" cap="flat">
            <a:noFill/>
            <a:prstDash val="solid"/>
            <a:miter/>
          </a:ln>
        </p:spPr>
        <p:txBody>
          <a:bodyPr wrap="square" rtlCol="0" anchor="ctr">
            <a:noAutofit/>
          </a:bodyPr>
          <a:lstStyle/>
          <a:p>
            <a:endParaRPr lang="zh-CN" altLang="en-US" sz="1800">
              <a:solidFill>
                <a:schemeClr val="tx1"/>
              </a:solidFill>
            </a:endParaRPr>
          </a:p>
        </p:txBody>
      </p:sp>
      <p:sp>
        <p:nvSpPr>
          <p:cNvPr id="27" name="Text Placeholder 26">
            <a:extLst>
              <a:ext uri="{FF2B5EF4-FFF2-40B4-BE49-F238E27FC236}">
                <a16:creationId xmlns:a16="http://schemas.microsoft.com/office/drawing/2014/main" id="{FEA7D86A-A334-4E0C-B01B-43F345A176DE}"/>
              </a:ext>
            </a:extLst>
          </p:cNvPr>
          <p:cNvSpPr>
            <a:spLocks noGrp="1"/>
          </p:cNvSpPr>
          <p:nvPr>
            <p:ph type="body" sz="quarter" idx="12" hasCustomPrompt="1"/>
          </p:nvPr>
        </p:nvSpPr>
        <p:spPr>
          <a:xfrm>
            <a:off x="8314441" y="6082576"/>
            <a:ext cx="3204458" cy="230832"/>
          </a:xfrm>
        </p:spPr>
        <p:txBody>
          <a:bodyPr vert="horz" wrap="none" lIns="91440" tIns="45720" rIns="91440" bIns="45720" rtlCol="0" anchor="ctr">
            <a:noAutofit/>
          </a:bodyPr>
          <a:lstStyle>
            <a:lvl1pPr>
              <a:defRPr lang="en-US" altLang="zh-CN" sz="1600" b="1" dirty="0">
                <a:ln>
                  <a:noFill/>
                </a:ln>
                <a:solidFill>
                  <a:schemeClr val="accent1"/>
                </a:solidFill>
                <a:latin typeface="+mj-lt"/>
                <a:ea typeface="+mj-ea"/>
                <a:cs typeface="+mj-cs"/>
              </a:defRPr>
            </a:lvl1pPr>
          </a:lstStyle>
          <a:p>
            <a:pPr marL="228573" marR="0" lvl="0" indent="-228573" algn="r" defTabSz="914332" rtl="0" eaLnBrk="1" fontAlgn="auto" latinLnBrk="0" hangingPunct="1">
              <a:lnSpc>
                <a:spcPct val="90000"/>
              </a:lnSpc>
              <a:spcBef>
                <a:spcPct val="0"/>
              </a:spcBef>
              <a:spcAft>
                <a:spcPts val="0"/>
              </a:spcAft>
              <a:buClrTx/>
              <a:buSzTx/>
              <a:buFont typeface="Arial" panose="020B0604020202020204" pitchFamily="34" charset="0"/>
              <a:buNone/>
              <a:tabLst/>
              <a:defRPr/>
            </a:pPr>
            <a:r>
              <a:rPr lang="en-US" altLang="zh-CN" dirty="0"/>
              <a:t>Grit</a:t>
            </a:r>
          </a:p>
        </p:txBody>
      </p:sp>
      <p:sp>
        <p:nvSpPr>
          <p:cNvPr id="3" name="Text Placeholder 2">
            <a:extLst>
              <a:ext uri="{FF2B5EF4-FFF2-40B4-BE49-F238E27FC236}">
                <a16:creationId xmlns:a16="http://schemas.microsoft.com/office/drawing/2014/main" id="{FC1A48BB-A1A1-4744-B0D3-FD4F42C33B9B}"/>
              </a:ext>
            </a:extLst>
          </p:cNvPr>
          <p:cNvSpPr>
            <a:spLocks noGrp="1"/>
          </p:cNvSpPr>
          <p:nvPr>
            <p:ph type="body" sz="quarter" idx="13" hasCustomPrompt="1"/>
          </p:nvPr>
        </p:nvSpPr>
        <p:spPr>
          <a:xfrm>
            <a:off x="714723" y="2737247"/>
            <a:ext cx="5842001" cy="1383506"/>
          </a:xfrm>
        </p:spPr>
        <p:txBody>
          <a:bodyPr vert="horz" lIns="91440" tIns="45720" rIns="91440" bIns="45720" rtlCol="0" anchor="b">
            <a:noAutofit/>
          </a:bodyPr>
          <a:lstStyle>
            <a:lvl1pPr algn="l">
              <a:defRPr lang="en-US" altLang="zh-CN" sz="8000" b="1" i="0" dirty="0">
                <a:solidFill>
                  <a:srgbClr val="FFFFFF"/>
                </a:solidFill>
                <a:latin typeface="+mj-lt"/>
                <a:ea typeface="+mj-ea"/>
                <a:cs typeface="+mj-cs"/>
              </a:defRPr>
            </a:lvl1pPr>
          </a:lstStyle>
          <a:p>
            <a:pPr lvl="0">
              <a:spcBef>
                <a:spcPct val="0"/>
              </a:spcBef>
              <a:buNone/>
            </a:pPr>
            <a:r>
              <a:rPr lang="en-US" altLang="zh-CN" dirty="0"/>
              <a:t>Thank you</a:t>
            </a:r>
          </a:p>
        </p:txBody>
      </p:sp>
      <p:pic>
        <p:nvPicPr>
          <p:cNvPr id="7" name="图片 6">
            <a:extLst>
              <a:ext uri="{FF2B5EF4-FFF2-40B4-BE49-F238E27FC236}">
                <a16:creationId xmlns:a16="http://schemas.microsoft.com/office/drawing/2014/main" id="{ACA91101-6551-CFAC-38BE-CAD07DFA046C}"/>
              </a:ext>
            </a:extLst>
          </p:cNvPr>
          <p:cNvPicPr>
            <a:picLocks noChangeAspect="1"/>
          </p:cNvPicPr>
          <p:nvPr userDrawn="1"/>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colorTemperature colorTemp="4700"/>
                    </a14:imgEffect>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13598" y="2801933"/>
            <a:ext cx="3516518" cy="1579597"/>
          </a:xfrm>
          <a:prstGeom prst="rect">
            <a:avLst/>
          </a:prstGeom>
        </p:spPr>
      </p:pic>
      <p:pic>
        <p:nvPicPr>
          <p:cNvPr id="4" name="图片 3">
            <a:extLst>
              <a:ext uri="{FF2B5EF4-FFF2-40B4-BE49-F238E27FC236}">
                <a16:creationId xmlns:a16="http://schemas.microsoft.com/office/drawing/2014/main" id="{16367A13-8D37-4D16-02BF-867DB1639451}"/>
              </a:ext>
            </a:extLst>
          </p:cNvPr>
          <p:cNvPicPr>
            <a:picLocks noChangeAspect="1"/>
          </p:cNvPicPr>
          <p:nvPr userDrawn="1"/>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pic>
        <p:nvPicPr>
          <p:cNvPr id="5" name="图片 4">
            <a:extLst>
              <a:ext uri="{FF2B5EF4-FFF2-40B4-BE49-F238E27FC236}">
                <a16:creationId xmlns:a16="http://schemas.microsoft.com/office/drawing/2014/main" id="{0BEF51FA-017F-F0D1-9466-B21881B7CA77}"/>
              </a:ext>
            </a:extLst>
          </p:cNvPr>
          <p:cNvPicPr>
            <a:picLocks noChangeAspect="1"/>
          </p:cNvPicPr>
          <p:nvPr userDrawn="1"/>
        </p:nvPicPr>
        <p:blipFill>
          <a:blip r:embed="rId7">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spTree>
    <p:extLst>
      <p:ext uri="{BB962C8B-B14F-4D97-AF65-F5344CB8AC3E}">
        <p14:creationId xmlns:p14="http://schemas.microsoft.com/office/powerpoint/2010/main" val="636288098"/>
      </p:ext>
    </p:extLst>
  </p:cSld>
  <p:clrMapOvr>
    <a:overrideClrMapping bg1="lt1" tx1="dk1" bg2="lt2" tx2="dk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grpSp>
        <p:nvGrpSpPr>
          <p:cNvPr id="40" name="组合 39"/>
          <p:cNvGrpSpPr/>
          <p:nvPr/>
        </p:nvGrpSpPr>
        <p:grpSpPr>
          <a:xfrm>
            <a:off x="0" y="0"/>
            <a:ext cx="12192001" cy="6858001"/>
            <a:chOff x="0" y="0"/>
            <a:chExt cx="12192001" cy="6858001"/>
          </a:xfrm>
        </p:grpSpPr>
        <p:sp>
          <p:nvSpPr>
            <p:cNvPr id="26" name="任意多边形: 形状 25"/>
            <p:cNvSpPr/>
            <p:nvPr userDrawn="1"/>
          </p:nvSpPr>
          <p:spPr>
            <a:xfrm>
              <a:off x="0" y="0"/>
              <a:ext cx="12192000" cy="685710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blipFill>
              <a:blip r:embed="rId2"/>
              <a:srcRect/>
              <a:stretch>
                <a:fillRect l="-1743" t="-5000" r="-7815" b="-455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9" name="组合 18"/>
            <p:cNvGrpSpPr/>
            <p:nvPr/>
          </p:nvGrpSpPr>
          <p:grpSpPr>
            <a:xfrm>
              <a:off x="885134" y="580078"/>
              <a:ext cx="544078" cy="349250"/>
              <a:chOff x="765175" y="637358"/>
              <a:chExt cx="544078" cy="349250"/>
            </a:xfrm>
          </p:grpSpPr>
          <p:sp>
            <p:nvSpPr>
              <p:cNvPr id="17" name="椭圆 16"/>
              <p:cNvSpPr/>
              <p:nvPr/>
            </p:nvSpPr>
            <p:spPr>
              <a:xfrm>
                <a:off x="960003" y="637358"/>
                <a:ext cx="349250" cy="349250"/>
              </a:xfrm>
              <a:prstGeom prst="ellipse">
                <a:avLst/>
              </a:prstGeom>
              <a:solidFill>
                <a:schemeClr val="tx1">
                  <a:alpha val="40000"/>
                </a:schemeClr>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8" name="椭圆 17"/>
              <p:cNvSpPr/>
              <p:nvPr/>
            </p:nvSpPr>
            <p:spPr>
              <a:xfrm>
                <a:off x="765175" y="637358"/>
                <a:ext cx="349250" cy="3492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
          <p:nvSpPr>
            <p:cNvPr id="13" name="矩形 12"/>
            <p:cNvSpPr/>
            <p:nvPr/>
          </p:nvSpPr>
          <p:spPr>
            <a:xfrm>
              <a:off x="5276850" y="580079"/>
              <a:ext cx="6915151" cy="6277922"/>
            </a:xfrm>
            <a:prstGeom prst="rect">
              <a:avLst/>
            </a:prstGeom>
            <a:gradFill flip="none" rotWithShape="1">
              <a:gsLst>
                <a:gs pos="44000">
                  <a:schemeClr val="accent2">
                    <a:alpha val="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11166929" y="615338"/>
              <a:ext cx="278730" cy="278730"/>
            </a:xfrm>
            <a:prstGeom prst="rect">
              <a:avLst/>
            </a:prstGeom>
          </p:spPr>
        </p:pic>
        <p:grpSp>
          <p:nvGrpSpPr>
            <p:cNvPr id="28" name="组合 27"/>
            <p:cNvGrpSpPr/>
            <p:nvPr/>
          </p:nvGrpSpPr>
          <p:grpSpPr>
            <a:xfrm>
              <a:off x="784226" y="3880347"/>
              <a:ext cx="2587624" cy="0"/>
              <a:chOff x="660401" y="4533900"/>
              <a:chExt cx="2587624" cy="0"/>
            </a:xfrm>
          </p:grpSpPr>
          <p:cxnSp>
            <p:nvCxnSpPr>
              <p:cNvPr id="29" name="直接连接符 28"/>
              <p:cNvCxnSpPr>
                <a:cxnSpLocks/>
              </p:cNvCxnSpPr>
              <p:nvPr/>
            </p:nvCxnSpPr>
            <p:spPr>
              <a:xfrm>
                <a:off x="660401" y="4533900"/>
                <a:ext cx="2587624" cy="0"/>
              </a:xfrm>
              <a:prstGeom prst="line">
                <a:avLst/>
              </a:prstGeom>
              <a:ln w="50800" cap="rnd">
                <a:solidFill>
                  <a:schemeClr val="accent1">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660401" y="4533900"/>
                <a:ext cx="1225549" cy="0"/>
              </a:xfrm>
              <a:prstGeom prst="line">
                <a:avLst/>
              </a:prstGeom>
              <a:ln w="50800" cap="rnd">
                <a:gradFill>
                  <a:gsLst>
                    <a:gs pos="0">
                      <a:schemeClr val="accent1"/>
                    </a:gs>
                    <a:gs pos="76000">
                      <a:schemeClr val="accent3"/>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userDrawn="1"/>
          </p:nvGrpSpPr>
          <p:grpSpPr>
            <a:xfrm rot="16200000">
              <a:off x="10661887" y="5765801"/>
              <a:ext cx="783772" cy="783772"/>
              <a:chOff x="9052852" y="3572185"/>
              <a:chExt cx="344753" cy="344753"/>
            </a:xfrm>
          </p:grpSpPr>
          <p:grpSp>
            <p:nvGrpSpPr>
              <p:cNvPr id="55" name="组合 54"/>
              <p:cNvGrpSpPr/>
              <p:nvPr userDrawn="1"/>
            </p:nvGrpSpPr>
            <p:grpSpPr>
              <a:xfrm flipV="1">
                <a:off x="9052852" y="3572185"/>
                <a:ext cx="344753" cy="344753"/>
                <a:chOff x="2909263" y="4352415"/>
                <a:chExt cx="93625" cy="93625"/>
              </a:xfrm>
            </p:grpSpPr>
            <p:sp>
              <p:nvSpPr>
                <p:cNvPr id="57" name="椭圆 56"/>
                <p:cNvSpPr/>
                <p:nvPr userDrawn="1"/>
              </p:nvSpPr>
              <p:spPr>
                <a:xfrm>
                  <a:off x="2909263" y="4352415"/>
                  <a:ext cx="93625" cy="93625"/>
                </a:xfrm>
                <a:prstGeom prst="ellipse">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921417" y="4364569"/>
                  <a:ext cx="69317" cy="69317"/>
                </a:xfrm>
                <a:prstGeom prst="ellipse">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等腰三角形 55"/>
              <p:cNvSpPr/>
              <p:nvPr userDrawn="1"/>
            </p:nvSpPr>
            <p:spPr>
              <a:xfrm rot="10800000">
                <a:off x="9183117" y="3718921"/>
                <a:ext cx="78701" cy="6784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 name="标题 4">
            <a:extLst>
              <a:ext uri="{FF2B5EF4-FFF2-40B4-BE49-F238E27FC236}">
                <a16:creationId xmlns:a16="http://schemas.microsoft.com/office/drawing/2014/main" id="{D4E51AF3-4B86-C068-61E8-F89039CF3D69}"/>
              </a:ext>
            </a:extLst>
          </p:cNvPr>
          <p:cNvSpPr>
            <a:spLocks noGrp="1"/>
          </p:cNvSpPr>
          <p:nvPr>
            <p:ph type="ctrTitle" hasCustomPrompt="1"/>
          </p:nvPr>
        </p:nvSpPr>
        <p:spPr>
          <a:xfrm>
            <a:off x="4594541" y="1855139"/>
            <a:ext cx="6749372" cy="2587173"/>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altLang="zh-CN" dirty="0"/>
              <a:t>Intelligent Planning     &amp; </a:t>
            </a:r>
            <a:br>
              <a:rPr lang="en-US" altLang="zh-CN" dirty="0"/>
            </a:br>
            <a:r>
              <a:rPr lang="en-US" altLang="zh-CN" dirty="0"/>
              <a:t>Control Tower</a:t>
            </a:r>
            <a:endParaRPr lang="en-US" dirty="0"/>
          </a:p>
        </p:txBody>
      </p:sp>
      <p:pic>
        <p:nvPicPr>
          <p:cNvPr id="3" name="图片 2">
            <a:extLst>
              <a:ext uri="{FF2B5EF4-FFF2-40B4-BE49-F238E27FC236}">
                <a16:creationId xmlns:a16="http://schemas.microsoft.com/office/drawing/2014/main" id="{28F19448-DCD7-2BCE-82BA-95A656302291}"/>
              </a:ext>
            </a:extLst>
          </p:cNvPr>
          <p:cNvPicPr>
            <a:picLocks noChangeAspect="1"/>
          </p:cNvPicPr>
          <p:nvPr userDrawn="1"/>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
        <p:nvSpPr>
          <p:cNvPr id="4" name="文本框 3">
            <a:extLst>
              <a:ext uri="{FF2B5EF4-FFF2-40B4-BE49-F238E27FC236}">
                <a16:creationId xmlns:a16="http://schemas.microsoft.com/office/drawing/2014/main" id="{7C0BEDAE-EB8C-24D6-C6AF-B8C73A0C8E8B}"/>
              </a:ext>
            </a:extLst>
          </p:cNvPr>
          <p:cNvSpPr txBox="1"/>
          <p:nvPr userDrawn="1"/>
        </p:nvSpPr>
        <p:spPr>
          <a:xfrm>
            <a:off x="1104756" y="2579023"/>
            <a:ext cx="1946564" cy="1107996"/>
          </a:xfrm>
          <a:prstGeom prst="rect">
            <a:avLst/>
          </a:prstGeom>
          <a:noFill/>
        </p:spPr>
        <p:txBody>
          <a:bodyPr wrap="square" rtlCol="0">
            <a:spAutoFit/>
          </a:bodyPr>
          <a:lstStyle/>
          <a:p>
            <a:r>
              <a:rPr lang="en-US" altLang="zh-CN" sz="6600" b="1" dirty="0">
                <a:latin typeface="+mj-ea"/>
                <a:ea typeface="+mj-ea"/>
              </a:rPr>
              <a:t>IPC</a:t>
            </a:r>
            <a:endParaRPr lang="zh-CN" altLang="en-US" sz="6600" b="1" dirty="0">
              <a:latin typeface="+mj-ea"/>
              <a:ea typeface="+mj-ea"/>
            </a:endParaRPr>
          </a:p>
        </p:txBody>
      </p:sp>
      <p:pic>
        <p:nvPicPr>
          <p:cNvPr id="2" name="图片 1">
            <a:extLst>
              <a:ext uri="{FF2B5EF4-FFF2-40B4-BE49-F238E27FC236}">
                <a16:creationId xmlns:a16="http://schemas.microsoft.com/office/drawing/2014/main" id="{0BEF51FA-017F-F0D1-9466-B21881B7CA77}"/>
              </a:ext>
            </a:extLst>
          </p:cNvPr>
          <p:cNvPicPr>
            <a:picLocks noChangeAspect="1"/>
          </p:cNvPicPr>
          <p:nvPr userDrawn="1"/>
        </p:nvPicPr>
        <p:blipFill>
          <a:blip r:embed="rId7">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627437" y="3167173"/>
            <a:ext cx="937127" cy="523654"/>
          </a:xfrm>
          <a:prstGeom prst="rect">
            <a:avLst/>
          </a:prstGeom>
        </p:spPr>
      </p:pic>
      <p:pic>
        <p:nvPicPr>
          <p:cNvPr id="5" name="图片 4">
            <a:extLst>
              <a:ext uri="{FF2B5EF4-FFF2-40B4-BE49-F238E27FC236}">
                <a16:creationId xmlns:a16="http://schemas.microsoft.com/office/drawing/2014/main" id="{0BEF51FA-017F-F0D1-9466-B21881B7CA77}"/>
              </a:ext>
            </a:extLst>
          </p:cNvPr>
          <p:cNvPicPr>
            <a:picLocks noChangeAspect="1"/>
          </p:cNvPicPr>
          <p:nvPr userDrawn="1"/>
        </p:nvPicPr>
        <p:blipFill>
          <a:blip r:embed="rId7">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779837" y="3319573"/>
            <a:ext cx="937127" cy="523654"/>
          </a:xfrm>
          <a:prstGeom prst="rect">
            <a:avLst/>
          </a:prstGeom>
        </p:spPr>
      </p:pic>
    </p:spTree>
    <p:extLst>
      <p:ext uri="{BB962C8B-B14F-4D97-AF65-F5344CB8AC3E}">
        <p14:creationId xmlns:p14="http://schemas.microsoft.com/office/powerpoint/2010/main" val="565208091"/>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5" name="矩形 4"/>
          <p:cNvSpPr/>
          <p:nvPr/>
        </p:nvSpPr>
        <p:spPr>
          <a:xfrm>
            <a:off x="0" y="6729413"/>
            <a:ext cx="12192000" cy="128587"/>
          </a:xfrm>
          <a:prstGeom prst="rect">
            <a:avLst/>
          </a:prstGeom>
          <a:gradFill>
            <a:gsLst>
              <a:gs pos="0">
                <a:schemeClr val="accent2"/>
              </a:gs>
              <a:gs pos="100000">
                <a:schemeClr val="accent1"/>
              </a:gs>
            </a:gsLst>
            <a:lin ang="10800000" scaled="1"/>
          </a:gradFill>
          <a:ln w="19050">
            <a:noFill/>
            <a:round/>
          </a:ln>
        </p:spPr>
        <p:txBody>
          <a:bodyPr vert="horz" wrap="square" lIns="91440" tIns="45720" rIns="91440" bIns="45720" numCol="1" spcCol="0" rtlCol="0" fromWordArt="0" anchor="ctr" anchorCtr="1" forceAA="0" compatLnSpc="1">
            <a:noAutofit/>
          </a:bodyPr>
          <a:lstStyle/>
          <a:p>
            <a:pPr lvl="0" algn="ctr"/>
            <a:endParaRPr lang="zh-CN" altLang="en-US" sz="1200" b="1">
              <a:solidFill>
                <a:schemeClr val="tx1"/>
              </a:solidFill>
            </a:endParaRPr>
          </a:p>
        </p:txBody>
      </p:sp>
    </p:spTree>
    <p:extLst>
      <p:ext uri="{BB962C8B-B14F-4D97-AF65-F5344CB8AC3E}">
        <p14:creationId xmlns:p14="http://schemas.microsoft.com/office/powerpoint/2010/main" val="13476276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microsoft.com/office/2007/relationships/hdphoto" Target="../media/hdphoto1.wdp"/><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microsoft.com/office/2007/relationships/hdphoto" Target="../media/hdphoto2.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28"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21" Type="http://schemas.openxmlformats.org/officeDocument/2006/relationships/slideLayout" Target="../slideLayouts/slideLayout42.xml"/><Relationship Id="rId34" Type="http://schemas.microsoft.com/office/2007/relationships/hdphoto" Target="../media/hdphoto6.wdp"/><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image" Target="../media/image12.png"/><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image" Target="../media/image13.png"/><Relationship Id="rId37" Type="http://schemas.microsoft.com/office/2007/relationships/hdphoto" Target="../media/hdphoto2.wdp"/><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image" Target="../media/image5.png"/><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image" Target="../media/image1.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theme" Target="../theme/theme2.xml"/><Relationship Id="rId35" Type="http://schemas.openxmlformats.org/officeDocument/2006/relationships/image" Target="../media/image14.png"/><Relationship Id="rId8" Type="http://schemas.openxmlformats.org/officeDocument/2006/relationships/slideLayout" Target="../slideLayouts/slideLayout29.xml"/><Relationship Id="rId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image" Target="../media/image14.png"/><Relationship Id="rId21" Type="http://schemas.openxmlformats.org/officeDocument/2006/relationships/slideLayout" Target="../slideLayouts/slideLayout71.xml"/><Relationship Id="rId34" Type="http://schemas.openxmlformats.org/officeDocument/2006/relationships/theme" Target="../theme/theme3.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29" Type="http://schemas.openxmlformats.org/officeDocument/2006/relationships/slideLayout" Target="../slideLayouts/slideLayout79.xml"/><Relationship Id="rId41" Type="http://schemas.microsoft.com/office/2007/relationships/hdphoto" Target="../media/hdphoto2.wdp"/><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image" Target="../media/image12.png"/><Relationship Id="rId40" Type="http://schemas.openxmlformats.org/officeDocument/2006/relationships/image" Target="../media/image5.png"/><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image" Target="../media/image13.png"/><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image" Target="../media/image1.png"/><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microsoft.com/office/2007/relationships/hdphoto" Target="../media/hdphoto6.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image" Target="../media/image1.png"/><Relationship Id="rId3" Type="http://schemas.openxmlformats.org/officeDocument/2006/relationships/slideLayout" Target="../slideLayouts/slideLayout86.xml"/><Relationship Id="rId21" Type="http://schemas.openxmlformats.org/officeDocument/2006/relationships/slideLayout" Target="../slideLayouts/slideLayout104.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theme" Target="../theme/theme4.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microsoft.com/office/2007/relationships/hdphoto" Target="../media/hdphoto1.wdp"/><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microsoft.com/office/2007/relationships/hdphoto" Target="../media/hdphoto2.wdp"/><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image" Target="../media/image3.png"/><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image" Target="../media/image5.png"/><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image" Target="../media/image2.png"/><Relationship Id="rId3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0142082-29B4-9D0B-D573-AE6BA6A27FD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61F18504-D86E-411A-B171-2A74DE296A53}"/>
              </a:ext>
            </a:extLst>
          </p:cNvPr>
          <p:cNvSpPr>
            <a:spLocks noGrp="1"/>
          </p:cNvSpPr>
          <p:nvPr>
            <p:ph type="title"/>
          </p:nvPr>
        </p:nvSpPr>
        <p:spPr>
          <a:xfrm>
            <a:off x="590058" y="159041"/>
            <a:ext cx="10858500"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Text Placeholder 2">
            <a:extLst>
              <a:ext uri="{FF2B5EF4-FFF2-40B4-BE49-F238E27FC236}">
                <a16:creationId xmlns:a16="http://schemas.microsoft.com/office/drawing/2014/main" id="{468A4509-A6D7-41B5-BE28-213FB58E8B74}"/>
              </a:ext>
            </a:extLst>
          </p:cNvPr>
          <p:cNvSpPr>
            <a:spLocks noGrp="1"/>
          </p:cNvSpPr>
          <p:nvPr>
            <p:ph type="body" idx="1"/>
          </p:nvPr>
        </p:nvSpPr>
        <p:spPr>
          <a:xfrm>
            <a:off x="660403"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2" name="Slide Number Placeholder 11">
            <a:extLst>
              <a:ext uri="{FF2B5EF4-FFF2-40B4-BE49-F238E27FC236}">
                <a16:creationId xmlns:a16="http://schemas.microsoft.com/office/drawing/2014/main" id="{7E8030F2-F0B4-4140-B9B5-8B5B27074E99}"/>
              </a:ext>
            </a:extLst>
          </p:cNvPr>
          <p:cNvSpPr>
            <a:spLocks noGrp="1"/>
          </p:cNvSpPr>
          <p:nvPr>
            <p:ph type="sldNum" sz="quarter" idx="4"/>
          </p:nvPr>
        </p:nvSpPr>
        <p:spPr>
          <a:xfrm>
            <a:off x="8971305" y="6235706"/>
            <a:ext cx="2547595" cy="206381"/>
          </a:xfrm>
          <a:prstGeom prst="rect">
            <a:avLst/>
          </a:prstGeom>
        </p:spPr>
        <p:txBody>
          <a:bodyPr vert="horz" lIns="91440" tIns="45720" rIns="91440" bIns="45720" rtlCol="0" anchor="ctr"/>
          <a:lstStyle>
            <a:lvl1pPr algn="r">
              <a:defRPr sz="900">
                <a:solidFill>
                  <a:schemeClr val="tx1">
                    <a:lumMod val="50000"/>
                    <a:lumOff val="50000"/>
                  </a:schemeClr>
                </a:solidFill>
              </a:defRPr>
            </a:lvl1pPr>
          </a:lstStyle>
          <a:p>
            <a:fld id="{6B6D5FF2-B339-4F0C-9123-47E0DF76EF31}" type="slidenum">
              <a:rPr lang="zh-CN" altLang="en-US" smtClean="0"/>
              <a:t>‹#›</a:t>
            </a:fld>
            <a:endParaRPr lang="zh-CN" altLang="en-US"/>
          </a:p>
        </p:txBody>
      </p:sp>
      <p:pic>
        <p:nvPicPr>
          <p:cNvPr id="5" name="图片 4">
            <a:extLst>
              <a:ext uri="{FF2B5EF4-FFF2-40B4-BE49-F238E27FC236}">
                <a16:creationId xmlns:a16="http://schemas.microsoft.com/office/drawing/2014/main" id="{AE5356A1-47D2-987D-AC26-2D06BE54AE48}"/>
              </a:ext>
            </a:extLst>
          </p:cNvPr>
          <p:cNvPicPr>
            <a:picLocks noChangeAspect="1"/>
          </p:cNvPicPr>
          <p:nvPr/>
        </p:nvPicPr>
        <p:blipFill>
          <a:blip r:embed="rId2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6" name="图片 5">
            <a:extLst>
              <a:ext uri="{FF2B5EF4-FFF2-40B4-BE49-F238E27FC236}">
                <a16:creationId xmlns:a16="http://schemas.microsoft.com/office/drawing/2014/main" id="{F7528938-7FFB-09DD-2A23-51B011B235FA}"/>
              </a:ext>
            </a:extLst>
          </p:cNvPr>
          <p:cNvPicPr>
            <a:picLocks noChangeAspect="1"/>
          </p:cNvPicPr>
          <p:nvPr/>
        </p:nvPicPr>
        <p:blipFill>
          <a:blip r:embed="rId25">
            <a:duotone>
              <a:prstClr val="black"/>
              <a:schemeClr val="accent2">
                <a:tint val="45000"/>
                <a:satMod val="400000"/>
              </a:schemeClr>
            </a:duotone>
            <a:extLst>
              <a:ext uri="{BEBA8EAE-BF5A-486C-A8C5-ECC9F3942E4B}">
                <a14:imgProps xmlns:a14="http://schemas.microsoft.com/office/drawing/2010/main">
                  <a14:imgLayer r:embed="rId2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7" name="图片 6">
            <a:extLst>
              <a:ext uri="{FF2B5EF4-FFF2-40B4-BE49-F238E27FC236}">
                <a16:creationId xmlns:a16="http://schemas.microsoft.com/office/drawing/2014/main" id="{ED6B830F-AAEC-E345-AF62-7FB6503317BA}"/>
              </a:ext>
            </a:extLst>
          </p:cNvPr>
          <p:cNvPicPr>
            <a:picLocks noChangeAspect="1"/>
          </p:cNvPicPr>
          <p:nvPr/>
        </p:nvPicPr>
        <p:blipFill>
          <a:blip r:embed="rId2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5A611822-F66C-22F6-9A49-C1DA5C40B2E0}"/>
              </a:ext>
            </a:extLst>
          </p:cNvPr>
          <p:cNvPicPr>
            <a:picLocks noChangeAspect="1"/>
          </p:cNvPicPr>
          <p:nvPr/>
        </p:nvPicPr>
        <p:blipFill>
          <a:blip r:embed="rId27">
            <a:duotone>
              <a:prstClr val="black"/>
              <a:schemeClr val="accent2">
                <a:tint val="45000"/>
                <a:satMod val="400000"/>
              </a:schemeClr>
            </a:duotone>
            <a:extLst>
              <a:ext uri="{BEBA8EAE-BF5A-486C-A8C5-ECC9F3942E4B}">
                <a14:imgProps xmlns:a14="http://schemas.microsoft.com/office/drawing/2010/main">
                  <a14:imgLayer r:embed="rId26">
                    <a14:imgEffect>
                      <a14:artisticChalkSketch/>
                    </a14:imgEffect>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4" name="图片 3">
            <a:extLst>
              <a:ext uri="{FF2B5EF4-FFF2-40B4-BE49-F238E27FC236}">
                <a16:creationId xmlns:a16="http://schemas.microsoft.com/office/drawing/2014/main" id="{0657A9E2-8405-9B01-775D-E4CEE8D672A3}"/>
              </a:ext>
            </a:extLst>
          </p:cNvPr>
          <p:cNvPicPr>
            <a:picLocks noChangeAspect="1"/>
          </p:cNvPicPr>
          <p:nvPr/>
        </p:nvPicPr>
        <p:blipFill>
          <a:blip r:embed="rId28">
            <a:extLst>
              <a:ext uri="{BEBA8EAE-BF5A-486C-A8C5-ECC9F3942E4B}">
                <a14:imgProps xmlns:a14="http://schemas.microsoft.com/office/drawing/2010/main">
                  <a14:imgLayer r:embed="rId29">
                    <a14:imgEffect>
                      <a14:brightnessContrast bright="-55000" contrast="-18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effectLst>
            <a:glow>
              <a:schemeClr val="accent1">
                <a:alpha val="3000"/>
              </a:schemeClr>
            </a:glow>
          </a:effectLst>
        </p:spPr>
      </p:pic>
      <p:sp>
        <p:nvSpPr>
          <p:cNvPr id="9" name="Title 1">
            <a:extLst>
              <a:ext uri="{FF2B5EF4-FFF2-40B4-BE49-F238E27FC236}">
                <a16:creationId xmlns:a16="http://schemas.microsoft.com/office/drawing/2014/main" id="{44324555-208A-6585-0A74-4343401EB456}"/>
              </a:ext>
            </a:extLst>
          </p:cNvPr>
          <p:cNvSpPr txBox="1">
            <a:spLocks/>
          </p:cNvSpPr>
          <p:nvPr/>
        </p:nvSpPr>
        <p:spPr>
          <a:xfrm>
            <a:off x="942284" y="173332"/>
            <a:ext cx="10659165" cy="456068"/>
          </a:xfrm>
          <a:prstGeom prst="rect">
            <a:avLst/>
          </a:prstGeom>
        </p:spPr>
        <p:txBody>
          <a:bodyPr/>
          <a:lstStyle>
            <a:lvl1pPr algn="l" defTabSz="914332" rtl="0" eaLnBrk="1" latinLnBrk="0" hangingPunct="1">
              <a:lnSpc>
                <a:spcPct val="90000"/>
              </a:lnSpc>
              <a:spcBef>
                <a:spcPct val="0"/>
              </a:spcBef>
              <a:buNone/>
              <a:defRPr sz="2400" b="1" kern="1200">
                <a:solidFill>
                  <a:schemeClr val="tx1"/>
                </a:solidFill>
                <a:latin typeface="+mj-ea"/>
                <a:ea typeface="+mj-ea"/>
                <a:cs typeface="+mj-cs"/>
              </a:defRPr>
            </a:lvl1pPr>
          </a:lstStyle>
          <a:p>
            <a:endParaRPr lang="zh-CN" altLang="en-US" dirty="0"/>
          </a:p>
        </p:txBody>
      </p:sp>
      <p:pic>
        <p:nvPicPr>
          <p:cNvPr id="10" name="图片 9">
            <a:extLst>
              <a:ext uri="{FF2B5EF4-FFF2-40B4-BE49-F238E27FC236}">
                <a16:creationId xmlns:a16="http://schemas.microsoft.com/office/drawing/2014/main" id="{03167F2B-6063-A3CE-1073-CA914266C4F0}"/>
              </a:ext>
            </a:extLst>
          </p:cNvPr>
          <p:cNvPicPr>
            <a:picLocks noChangeAspect="1"/>
          </p:cNvPicPr>
          <p:nvPr/>
        </p:nvPicPr>
        <p:blipFill>
          <a:blip r:embed="rId2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A5ADFFD0-BAC5-7526-C476-4439DF1489CC}"/>
              </a:ext>
            </a:extLst>
          </p:cNvPr>
          <p:cNvPicPr>
            <a:picLocks noChangeAspect="1"/>
          </p:cNvPicPr>
          <p:nvPr/>
        </p:nvPicPr>
        <p:blipFill>
          <a:blip r:embed="rId25">
            <a:duotone>
              <a:prstClr val="black"/>
              <a:schemeClr val="tx2">
                <a:tint val="45000"/>
                <a:satMod val="400000"/>
              </a:schemeClr>
            </a:duotone>
            <a:extLst>
              <a:ext uri="{BEBA8EAE-BF5A-486C-A8C5-ECC9F3942E4B}">
                <a14:imgProps xmlns:a14="http://schemas.microsoft.com/office/drawing/2010/main">
                  <a14:imgLayer r:embed="rId26">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756556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786" r:id="rId21"/>
  </p:sldLayoutIdLst>
  <p:txStyles>
    <p:title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0142082-29B4-9D0B-D573-AE6BA6A27FDB}"/>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61F18504-D86E-411A-B171-2A74DE296A53}"/>
              </a:ext>
            </a:extLst>
          </p:cNvPr>
          <p:cNvSpPr>
            <a:spLocks noGrp="1"/>
          </p:cNvSpPr>
          <p:nvPr>
            <p:ph type="title"/>
          </p:nvPr>
        </p:nvSpPr>
        <p:spPr>
          <a:xfrm>
            <a:off x="590058" y="159041"/>
            <a:ext cx="10858500"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Text Placeholder 2">
            <a:extLst>
              <a:ext uri="{FF2B5EF4-FFF2-40B4-BE49-F238E27FC236}">
                <a16:creationId xmlns:a16="http://schemas.microsoft.com/office/drawing/2014/main" id="{468A4509-A6D7-41B5-BE28-213FB58E8B74}"/>
              </a:ext>
            </a:extLst>
          </p:cNvPr>
          <p:cNvSpPr>
            <a:spLocks noGrp="1"/>
          </p:cNvSpPr>
          <p:nvPr>
            <p:ph type="body" idx="1"/>
          </p:nvPr>
        </p:nvSpPr>
        <p:spPr>
          <a:xfrm>
            <a:off x="660403"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2" name="Slide Number Placeholder 11">
            <a:extLst>
              <a:ext uri="{FF2B5EF4-FFF2-40B4-BE49-F238E27FC236}">
                <a16:creationId xmlns:a16="http://schemas.microsoft.com/office/drawing/2014/main" id="{7E8030F2-F0B4-4140-B9B5-8B5B27074E99}"/>
              </a:ext>
            </a:extLst>
          </p:cNvPr>
          <p:cNvSpPr>
            <a:spLocks noGrp="1"/>
          </p:cNvSpPr>
          <p:nvPr>
            <p:ph type="sldNum" sz="quarter" idx="4"/>
          </p:nvPr>
        </p:nvSpPr>
        <p:spPr>
          <a:xfrm>
            <a:off x="8971305" y="6235706"/>
            <a:ext cx="2547595" cy="206381"/>
          </a:xfrm>
          <a:prstGeom prst="rect">
            <a:avLst/>
          </a:prstGeom>
        </p:spPr>
        <p:txBody>
          <a:bodyPr vert="horz" lIns="91440" tIns="45720" rIns="91440" bIns="45720" rtlCol="0" anchor="ctr"/>
          <a:lstStyle>
            <a:lvl1pPr algn="r">
              <a:defRPr sz="900">
                <a:solidFill>
                  <a:schemeClr val="tx1">
                    <a:lumMod val="50000"/>
                    <a:lumOff val="50000"/>
                  </a:schemeClr>
                </a:solidFill>
              </a:defRPr>
            </a:lvl1pPr>
          </a:lstStyle>
          <a:p>
            <a:fld id="{4581C52D-B4E5-4EAF-F8F0-08BBB827BB93}" type="slidenum">
              <a:rPr lang="zh-CN" altLang="en-US" smtClean="0"/>
              <a:t>‹#›</a:t>
            </a:fld>
            <a:endParaRPr lang="zh-CN" altLang="en-US"/>
          </a:p>
        </p:txBody>
      </p:sp>
      <p:pic>
        <p:nvPicPr>
          <p:cNvPr id="5" name="图片 4">
            <a:extLst>
              <a:ext uri="{FF2B5EF4-FFF2-40B4-BE49-F238E27FC236}">
                <a16:creationId xmlns:a16="http://schemas.microsoft.com/office/drawing/2014/main" id="{AE5356A1-47D2-987D-AC26-2D06BE54AE48}"/>
              </a:ext>
            </a:extLst>
          </p:cNvPr>
          <p:cNvPicPr>
            <a:picLocks noChangeAspect="1"/>
          </p:cNvPicPr>
          <p:nvPr/>
        </p:nvPicPr>
        <p:blipFill>
          <a:blip r:embed="rId32"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6" name="图片 5">
            <a:extLst>
              <a:ext uri="{FF2B5EF4-FFF2-40B4-BE49-F238E27FC236}">
                <a16:creationId xmlns:a16="http://schemas.microsoft.com/office/drawing/2014/main" id="{F7528938-7FFB-09DD-2A23-51B011B235FA}"/>
              </a:ext>
            </a:extLst>
          </p:cNvPr>
          <p:cNvPicPr>
            <a:picLocks noChangeAspect="1"/>
          </p:cNvPicPr>
          <p:nvPr/>
        </p:nvPicPr>
        <p:blipFill>
          <a:blip r:embed="rId33" cstate="print">
            <a:duotone>
              <a:prstClr val="black"/>
              <a:schemeClr val="accent2">
                <a:tint val="45000"/>
                <a:satMod val="400000"/>
              </a:schemeClr>
            </a:duotone>
            <a:extLst>
              <a:ext uri="{BEBA8EAE-BF5A-486C-A8C5-ECC9F3942E4B}">
                <a14:imgProps xmlns:a14="http://schemas.microsoft.com/office/drawing/2010/main">
                  <a14:imgLayer r:embed="rId3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7" name="图片 6">
            <a:extLst>
              <a:ext uri="{FF2B5EF4-FFF2-40B4-BE49-F238E27FC236}">
                <a16:creationId xmlns:a16="http://schemas.microsoft.com/office/drawing/2014/main" id="{ED6B830F-AAEC-E345-AF62-7FB6503317BA}"/>
              </a:ext>
            </a:extLst>
          </p:cNvPr>
          <p:cNvPicPr>
            <a:picLocks noChangeAspect="1"/>
          </p:cNvPicPr>
          <p:nvPr/>
        </p:nvPicPr>
        <p:blipFill>
          <a:blip r:embed="rId32"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5A611822-F66C-22F6-9A49-C1DA5C40B2E0}"/>
              </a:ext>
            </a:extLst>
          </p:cNvPr>
          <p:cNvPicPr>
            <a:picLocks noChangeAspect="1"/>
          </p:cNvPicPr>
          <p:nvPr/>
        </p:nvPicPr>
        <p:blipFill>
          <a:blip r:embed="rId35" cstate="print">
            <a:duotone>
              <a:prstClr val="black"/>
              <a:schemeClr val="accent2">
                <a:tint val="45000"/>
                <a:satMod val="400000"/>
              </a:schemeClr>
            </a:duotone>
            <a:extLst>
              <a:ext uri="{BEBA8EAE-BF5A-486C-A8C5-ECC9F3942E4B}">
                <a14:imgProps xmlns:a14="http://schemas.microsoft.com/office/drawing/2010/main">
                  <a14:imgLayer r:embed="rId34">
                    <a14:imgEffect>
                      <a14:artisticChalkSketch/>
                    </a14:imgEffect>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4" name="图片 3">
            <a:extLst>
              <a:ext uri="{FF2B5EF4-FFF2-40B4-BE49-F238E27FC236}">
                <a16:creationId xmlns:a16="http://schemas.microsoft.com/office/drawing/2014/main" id="{0657A9E2-8405-9B01-775D-E4CEE8D672A3}"/>
              </a:ext>
            </a:extLst>
          </p:cNvPr>
          <p:cNvPicPr>
            <a:picLocks noChangeAspect="1"/>
          </p:cNvPicPr>
          <p:nvPr/>
        </p:nvPicPr>
        <p:blipFill>
          <a:blip r:embed="rId36">
            <a:extLst>
              <a:ext uri="{BEBA8EAE-BF5A-486C-A8C5-ECC9F3942E4B}">
                <a14:imgProps xmlns:a14="http://schemas.microsoft.com/office/drawing/2010/main">
                  <a14:imgLayer r:embed="rId37">
                    <a14:imgEffect>
                      <a14:brightnessContrast bright="-55000" contrast="-18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effectLst>
            <a:glow>
              <a:schemeClr val="accent1">
                <a:alpha val="3000"/>
              </a:schemeClr>
            </a:glow>
          </a:effectLst>
        </p:spPr>
      </p:pic>
      <p:sp>
        <p:nvSpPr>
          <p:cNvPr id="9" name="Title 1">
            <a:extLst>
              <a:ext uri="{FF2B5EF4-FFF2-40B4-BE49-F238E27FC236}">
                <a16:creationId xmlns:a16="http://schemas.microsoft.com/office/drawing/2014/main" id="{44324555-208A-6585-0A74-4343401EB456}"/>
              </a:ext>
            </a:extLst>
          </p:cNvPr>
          <p:cNvSpPr txBox="1">
            <a:spLocks/>
          </p:cNvSpPr>
          <p:nvPr/>
        </p:nvSpPr>
        <p:spPr>
          <a:xfrm>
            <a:off x="942284" y="173332"/>
            <a:ext cx="10659165" cy="456068"/>
          </a:xfrm>
          <a:prstGeom prst="rect">
            <a:avLst/>
          </a:prstGeom>
        </p:spPr>
        <p:txBody>
          <a:bodyPr/>
          <a:lstStyle>
            <a:lvl1pPr algn="l" defTabSz="914332" rtl="0" eaLnBrk="1" latinLnBrk="0" hangingPunct="1">
              <a:lnSpc>
                <a:spcPct val="90000"/>
              </a:lnSpc>
              <a:spcBef>
                <a:spcPct val="0"/>
              </a:spcBef>
              <a:buNone/>
              <a:defRPr sz="2400" b="1" kern="1200">
                <a:solidFill>
                  <a:schemeClr val="tx1"/>
                </a:solidFill>
                <a:latin typeface="+mj-ea"/>
                <a:ea typeface="+mj-ea"/>
                <a:cs typeface="+mj-cs"/>
              </a:defRPr>
            </a:lvl1pPr>
          </a:lstStyle>
          <a:p>
            <a:endParaRPr lang="zh-CN" altLang="en-US" dirty="0"/>
          </a:p>
        </p:txBody>
      </p:sp>
      <p:pic>
        <p:nvPicPr>
          <p:cNvPr id="10" name="图片 9">
            <a:extLst>
              <a:ext uri="{FF2B5EF4-FFF2-40B4-BE49-F238E27FC236}">
                <a16:creationId xmlns:a16="http://schemas.microsoft.com/office/drawing/2014/main" id="{03167F2B-6063-A3CE-1073-CA914266C4F0}"/>
              </a:ext>
            </a:extLst>
          </p:cNvPr>
          <p:cNvPicPr>
            <a:picLocks noChangeAspect="1"/>
          </p:cNvPicPr>
          <p:nvPr/>
        </p:nvPicPr>
        <p:blipFill>
          <a:blip r:embed="rId32"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A5ADFFD0-BAC5-7526-C476-4439DF1489CC}"/>
              </a:ext>
            </a:extLst>
          </p:cNvPr>
          <p:cNvPicPr>
            <a:picLocks noChangeAspect="1"/>
          </p:cNvPicPr>
          <p:nvPr/>
        </p:nvPicPr>
        <p:blipFill>
          <a:blip r:embed="rId33" cstate="print">
            <a:duotone>
              <a:prstClr val="black"/>
              <a:schemeClr val="tx2">
                <a:tint val="45000"/>
                <a:satMod val="400000"/>
              </a:schemeClr>
            </a:duotone>
            <a:extLst>
              <a:ext uri="{BEBA8EAE-BF5A-486C-A8C5-ECC9F3942E4B}">
                <a14:imgProps xmlns:a14="http://schemas.microsoft.com/office/drawing/2010/main">
                  <a14:imgLayer r:embed="rId34">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41533424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Lst>
  <p:txStyles>
    <p:title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0142082-29B4-9D0B-D573-AE6BA6A27FDB}"/>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61F18504-D86E-411A-B171-2A74DE296A53}"/>
              </a:ext>
            </a:extLst>
          </p:cNvPr>
          <p:cNvSpPr>
            <a:spLocks noGrp="1"/>
          </p:cNvSpPr>
          <p:nvPr>
            <p:ph type="title"/>
          </p:nvPr>
        </p:nvSpPr>
        <p:spPr>
          <a:xfrm>
            <a:off x="590058" y="159041"/>
            <a:ext cx="10858500"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Text Placeholder 2">
            <a:extLst>
              <a:ext uri="{FF2B5EF4-FFF2-40B4-BE49-F238E27FC236}">
                <a16:creationId xmlns:a16="http://schemas.microsoft.com/office/drawing/2014/main" id="{468A4509-A6D7-41B5-BE28-213FB58E8B74}"/>
              </a:ext>
            </a:extLst>
          </p:cNvPr>
          <p:cNvSpPr>
            <a:spLocks noGrp="1"/>
          </p:cNvSpPr>
          <p:nvPr>
            <p:ph type="body" idx="1"/>
          </p:nvPr>
        </p:nvSpPr>
        <p:spPr>
          <a:xfrm>
            <a:off x="660403"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2" name="Slide Number Placeholder 11">
            <a:extLst>
              <a:ext uri="{FF2B5EF4-FFF2-40B4-BE49-F238E27FC236}">
                <a16:creationId xmlns:a16="http://schemas.microsoft.com/office/drawing/2014/main" id="{7E8030F2-F0B4-4140-B9B5-8B5B27074E99}"/>
              </a:ext>
            </a:extLst>
          </p:cNvPr>
          <p:cNvSpPr>
            <a:spLocks noGrp="1"/>
          </p:cNvSpPr>
          <p:nvPr>
            <p:ph type="sldNum" sz="quarter" idx="4"/>
          </p:nvPr>
        </p:nvSpPr>
        <p:spPr>
          <a:xfrm>
            <a:off x="8971305" y="6235706"/>
            <a:ext cx="2547595" cy="206381"/>
          </a:xfrm>
          <a:prstGeom prst="rect">
            <a:avLst/>
          </a:prstGeom>
        </p:spPr>
        <p:txBody>
          <a:bodyPr vert="horz" lIns="91440" tIns="45720" rIns="91440" bIns="45720" rtlCol="0" anchor="ctr"/>
          <a:lstStyle>
            <a:lvl1pPr algn="r">
              <a:defRPr sz="900">
                <a:solidFill>
                  <a:schemeClr val="tx1">
                    <a:lumMod val="50000"/>
                    <a:lumOff val="50000"/>
                  </a:schemeClr>
                </a:solidFill>
              </a:defRPr>
            </a:lvl1pPr>
          </a:lstStyle>
          <a:p>
            <a:pPr>
              <a:defRPr/>
            </a:pPr>
            <a:fld id="{3FCA2A2F-A418-4FAB-8005-AC0FFB5BB2EB}" type="slidenum">
              <a:rPr lang="zh-CN" altLang="en-US" smtClean="0"/>
              <a:pPr>
                <a:defRPr/>
              </a:pPr>
              <a:t>‹#›</a:t>
            </a:fld>
            <a:endParaRPr lang="zh-CN" altLang="en-US"/>
          </a:p>
        </p:txBody>
      </p:sp>
      <p:pic>
        <p:nvPicPr>
          <p:cNvPr id="5" name="图片 4">
            <a:extLst>
              <a:ext uri="{FF2B5EF4-FFF2-40B4-BE49-F238E27FC236}">
                <a16:creationId xmlns:a16="http://schemas.microsoft.com/office/drawing/2014/main" id="{AE5356A1-47D2-987D-AC26-2D06BE54AE48}"/>
              </a:ext>
            </a:extLst>
          </p:cNvPr>
          <p:cNvPicPr>
            <a:picLocks noChangeAspect="1"/>
          </p:cNvPicPr>
          <p:nvPr/>
        </p:nvPicPr>
        <p:blipFill>
          <a:blip r:embed="rId36"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6" name="图片 5">
            <a:extLst>
              <a:ext uri="{FF2B5EF4-FFF2-40B4-BE49-F238E27FC236}">
                <a16:creationId xmlns:a16="http://schemas.microsoft.com/office/drawing/2014/main" id="{F7528938-7FFB-09DD-2A23-51B011B235FA}"/>
              </a:ext>
            </a:extLst>
          </p:cNvPr>
          <p:cNvPicPr>
            <a:picLocks noChangeAspect="1"/>
          </p:cNvPicPr>
          <p:nvPr/>
        </p:nvPicPr>
        <p:blipFill>
          <a:blip r:embed="rId37" cstate="print">
            <a:duotone>
              <a:prstClr val="black"/>
              <a:schemeClr val="accent2">
                <a:tint val="45000"/>
                <a:satMod val="400000"/>
              </a:schemeClr>
            </a:duotone>
            <a:extLst>
              <a:ext uri="{BEBA8EAE-BF5A-486C-A8C5-ECC9F3942E4B}">
                <a14:imgProps xmlns:a14="http://schemas.microsoft.com/office/drawing/2010/main">
                  <a14:imgLayer r:embed="rId38">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7" name="图片 6">
            <a:extLst>
              <a:ext uri="{FF2B5EF4-FFF2-40B4-BE49-F238E27FC236}">
                <a16:creationId xmlns:a16="http://schemas.microsoft.com/office/drawing/2014/main" id="{ED6B830F-AAEC-E345-AF62-7FB6503317BA}"/>
              </a:ext>
            </a:extLst>
          </p:cNvPr>
          <p:cNvPicPr>
            <a:picLocks noChangeAspect="1"/>
          </p:cNvPicPr>
          <p:nvPr/>
        </p:nvPicPr>
        <p:blipFill>
          <a:blip r:embed="rId36"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5A611822-F66C-22F6-9A49-C1DA5C40B2E0}"/>
              </a:ext>
            </a:extLst>
          </p:cNvPr>
          <p:cNvPicPr>
            <a:picLocks noChangeAspect="1"/>
          </p:cNvPicPr>
          <p:nvPr/>
        </p:nvPicPr>
        <p:blipFill>
          <a:blip r:embed="rId39" cstate="print">
            <a:duotone>
              <a:prstClr val="black"/>
              <a:schemeClr val="accent2">
                <a:tint val="45000"/>
                <a:satMod val="400000"/>
              </a:schemeClr>
            </a:duotone>
            <a:extLst>
              <a:ext uri="{BEBA8EAE-BF5A-486C-A8C5-ECC9F3942E4B}">
                <a14:imgProps xmlns:a14="http://schemas.microsoft.com/office/drawing/2010/main">
                  <a14:imgLayer r:embed="rId38">
                    <a14:imgEffect>
                      <a14:artisticChalkSketch/>
                    </a14:imgEffect>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4" name="图片 3">
            <a:extLst>
              <a:ext uri="{FF2B5EF4-FFF2-40B4-BE49-F238E27FC236}">
                <a16:creationId xmlns:a16="http://schemas.microsoft.com/office/drawing/2014/main" id="{0657A9E2-8405-9B01-775D-E4CEE8D672A3}"/>
              </a:ext>
            </a:extLst>
          </p:cNvPr>
          <p:cNvPicPr>
            <a:picLocks noChangeAspect="1"/>
          </p:cNvPicPr>
          <p:nvPr userDrawn="1"/>
        </p:nvPicPr>
        <p:blipFill>
          <a:blip r:embed="rId40">
            <a:extLst>
              <a:ext uri="{BEBA8EAE-BF5A-486C-A8C5-ECC9F3942E4B}">
                <a14:imgProps xmlns:a14="http://schemas.microsoft.com/office/drawing/2010/main">
                  <a14:imgLayer r:embed="rId41">
                    <a14:imgEffect>
                      <a14:brightnessContrast bright="-55000" contrast="-18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effectLst>
            <a:glow>
              <a:schemeClr val="accent1">
                <a:alpha val="3000"/>
              </a:schemeClr>
            </a:glow>
          </a:effectLst>
        </p:spPr>
      </p:pic>
      <p:sp>
        <p:nvSpPr>
          <p:cNvPr id="9" name="Title 1">
            <a:extLst>
              <a:ext uri="{FF2B5EF4-FFF2-40B4-BE49-F238E27FC236}">
                <a16:creationId xmlns:a16="http://schemas.microsoft.com/office/drawing/2014/main" id="{44324555-208A-6585-0A74-4343401EB456}"/>
              </a:ext>
            </a:extLst>
          </p:cNvPr>
          <p:cNvSpPr txBox="1">
            <a:spLocks/>
          </p:cNvSpPr>
          <p:nvPr userDrawn="1"/>
        </p:nvSpPr>
        <p:spPr>
          <a:xfrm>
            <a:off x="942284" y="173332"/>
            <a:ext cx="10659165" cy="456068"/>
          </a:xfrm>
          <a:prstGeom prst="rect">
            <a:avLst/>
          </a:prstGeom>
        </p:spPr>
        <p:txBody>
          <a:bodyPr/>
          <a:lstStyle>
            <a:lvl1pPr algn="l" defTabSz="914332" rtl="0" eaLnBrk="1" latinLnBrk="0" hangingPunct="1">
              <a:lnSpc>
                <a:spcPct val="90000"/>
              </a:lnSpc>
              <a:spcBef>
                <a:spcPct val="0"/>
              </a:spcBef>
              <a:buNone/>
              <a:defRPr sz="2400" b="1" kern="1200">
                <a:solidFill>
                  <a:schemeClr val="tx1"/>
                </a:solidFill>
                <a:latin typeface="+mj-ea"/>
                <a:ea typeface="+mj-ea"/>
                <a:cs typeface="+mj-cs"/>
              </a:defRPr>
            </a:lvl1pPr>
          </a:lstStyle>
          <a:p>
            <a:endParaRPr lang="zh-CN" altLang="en-US" dirty="0"/>
          </a:p>
        </p:txBody>
      </p:sp>
      <p:pic>
        <p:nvPicPr>
          <p:cNvPr id="10" name="图片 9">
            <a:extLst>
              <a:ext uri="{FF2B5EF4-FFF2-40B4-BE49-F238E27FC236}">
                <a16:creationId xmlns:a16="http://schemas.microsoft.com/office/drawing/2014/main" id="{03167F2B-6063-A3CE-1073-CA914266C4F0}"/>
              </a:ext>
            </a:extLst>
          </p:cNvPr>
          <p:cNvPicPr>
            <a:picLocks noChangeAspect="1"/>
          </p:cNvPicPr>
          <p:nvPr userDrawn="1"/>
        </p:nvPicPr>
        <p:blipFill>
          <a:blip r:embed="rId36"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A5ADFFD0-BAC5-7526-C476-4439DF1489CC}"/>
              </a:ext>
            </a:extLst>
          </p:cNvPr>
          <p:cNvPicPr>
            <a:picLocks noChangeAspect="1"/>
          </p:cNvPicPr>
          <p:nvPr userDrawn="1"/>
        </p:nvPicPr>
        <p:blipFill>
          <a:blip r:embed="rId37" cstate="print">
            <a:duotone>
              <a:prstClr val="black"/>
              <a:schemeClr val="tx2">
                <a:tint val="45000"/>
                <a:satMod val="400000"/>
              </a:schemeClr>
            </a:duotone>
            <a:extLst>
              <a:ext uri="{BEBA8EAE-BF5A-486C-A8C5-ECC9F3942E4B}">
                <a14:imgProps xmlns:a14="http://schemas.microsoft.com/office/drawing/2010/main">
                  <a14:imgLayer r:embed="rId38">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2104593367"/>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691" r:id="rId25"/>
    <p:sldLayoutId id="2147483693" r:id="rId26"/>
    <p:sldLayoutId id="2147483699" r:id="rId27"/>
    <p:sldLayoutId id="2147483700" r:id="rId28"/>
    <p:sldLayoutId id="2147483701" r:id="rId29"/>
    <p:sldLayoutId id="2147483702" r:id="rId30"/>
    <p:sldLayoutId id="2147483703" r:id="rId31"/>
    <p:sldLayoutId id="2147483704" r:id="rId32"/>
    <p:sldLayoutId id="2147483705" r:id="rId33"/>
  </p:sldLayoutIdLst>
  <p:txStyles>
    <p:title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0142082-29B4-9D0B-D573-AE6BA6A27FDB}"/>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61F18504-D86E-411A-B171-2A74DE296A53}"/>
              </a:ext>
            </a:extLst>
          </p:cNvPr>
          <p:cNvSpPr>
            <a:spLocks noGrp="1"/>
          </p:cNvSpPr>
          <p:nvPr>
            <p:ph type="title"/>
          </p:nvPr>
        </p:nvSpPr>
        <p:spPr>
          <a:xfrm>
            <a:off x="590058" y="159041"/>
            <a:ext cx="10858500"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Text Placeholder 2">
            <a:extLst>
              <a:ext uri="{FF2B5EF4-FFF2-40B4-BE49-F238E27FC236}">
                <a16:creationId xmlns:a16="http://schemas.microsoft.com/office/drawing/2014/main" id="{468A4509-A6D7-41B5-BE28-213FB58E8B74}"/>
              </a:ext>
            </a:extLst>
          </p:cNvPr>
          <p:cNvSpPr>
            <a:spLocks noGrp="1"/>
          </p:cNvSpPr>
          <p:nvPr>
            <p:ph type="body" idx="1"/>
          </p:nvPr>
        </p:nvSpPr>
        <p:spPr>
          <a:xfrm>
            <a:off x="660403"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2" name="Slide Number Placeholder 11">
            <a:extLst>
              <a:ext uri="{FF2B5EF4-FFF2-40B4-BE49-F238E27FC236}">
                <a16:creationId xmlns:a16="http://schemas.microsoft.com/office/drawing/2014/main" id="{7E8030F2-F0B4-4140-B9B5-8B5B27074E99}"/>
              </a:ext>
            </a:extLst>
          </p:cNvPr>
          <p:cNvSpPr>
            <a:spLocks noGrp="1"/>
          </p:cNvSpPr>
          <p:nvPr>
            <p:ph type="sldNum" sz="quarter" idx="4"/>
          </p:nvPr>
        </p:nvSpPr>
        <p:spPr>
          <a:xfrm>
            <a:off x="8971305" y="6235706"/>
            <a:ext cx="2547595" cy="206381"/>
          </a:xfrm>
          <a:prstGeom prst="rect">
            <a:avLst/>
          </a:prstGeom>
        </p:spPr>
        <p:txBody>
          <a:bodyPr vert="horz" lIns="91440" tIns="45720" rIns="91440" bIns="45720" rtlCol="0" anchor="ctr"/>
          <a:lstStyle>
            <a:lvl1pPr algn="r">
              <a:defRPr sz="900">
                <a:solidFill>
                  <a:schemeClr val="tx1">
                    <a:lumMod val="50000"/>
                    <a:lumOff val="50000"/>
                  </a:schemeClr>
                </a:solidFill>
              </a:defRPr>
            </a:lvl1pPr>
          </a:lstStyle>
          <a:p>
            <a:pPr>
              <a:defRPr/>
            </a:pPr>
            <a:fld id="{3FCA2A2F-A418-4FAB-8005-AC0FFB5BB2EB}" type="slidenum">
              <a:rPr lang="zh-CN" altLang="en-US" smtClean="0"/>
              <a:pPr>
                <a:defRPr/>
              </a:pPr>
              <a:t>‹#›</a:t>
            </a:fld>
            <a:endParaRPr lang="zh-CN" altLang="en-US"/>
          </a:p>
        </p:txBody>
      </p:sp>
      <p:pic>
        <p:nvPicPr>
          <p:cNvPr id="5" name="图片 4">
            <a:extLst>
              <a:ext uri="{FF2B5EF4-FFF2-40B4-BE49-F238E27FC236}">
                <a16:creationId xmlns:a16="http://schemas.microsoft.com/office/drawing/2014/main" id="{AE5356A1-47D2-987D-AC26-2D06BE54AE48}"/>
              </a:ext>
            </a:extLst>
          </p:cNvPr>
          <p:cNvPicPr>
            <a:picLocks noChangeAspect="1"/>
          </p:cNvPicPr>
          <p:nvPr/>
        </p:nvPicPr>
        <p:blipFill>
          <a:blip r:embed="rId27">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6" name="图片 5">
            <a:extLst>
              <a:ext uri="{FF2B5EF4-FFF2-40B4-BE49-F238E27FC236}">
                <a16:creationId xmlns:a16="http://schemas.microsoft.com/office/drawing/2014/main" id="{F7528938-7FFB-09DD-2A23-51B011B235FA}"/>
              </a:ext>
            </a:extLst>
          </p:cNvPr>
          <p:cNvPicPr>
            <a:picLocks noChangeAspect="1"/>
          </p:cNvPicPr>
          <p:nvPr/>
        </p:nvPicPr>
        <p:blipFill>
          <a:blip r:embed="rId28">
            <a:duotone>
              <a:prstClr val="black"/>
              <a:schemeClr val="accent2">
                <a:tint val="45000"/>
                <a:satMod val="400000"/>
              </a:schemeClr>
            </a:duotone>
            <a:extLst>
              <a:ext uri="{BEBA8EAE-BF5A-486C-A8C5-ECC9F3942E4B}">
                <a14:imgProps xmlns:a14="http://schemas.microsoft.com/office/drawing/2010/main">
                  <a14:imgLayer r:embed="rId29">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7" name="图片 6">
            <a:extLst>
              <a:ext uri="{FF2B5EF4-FFF2-40B4-BE49-F238E27FC236}">
                <a16:creationId xmlns:a16="http://schemas.microsoft.com/office/drawing/2014/main" id="{ED6B830F-AAEC-E345-AF62-7FB6503317BA}"/>
              </a:ext>
            </a:extLst>
          </p:cNvPr>
          <p:cNvPicPr>
            <a:picLocks noChangeAspect="1"/>
          </p:cNvPicPr>
          <p:nvPr/>
        </p:nvPicPr>
        <p:blipFill>
          <a:blip r:embed="rId27">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1063036" y="125824"/>
            <a:ext cx="937127" cy="523654"/>
          </a:xfrm>
          <a:prstGeom prst="rect">
            <a:avLst/>
          </a:prstGeom>
        </p:spPr>
      </p:pic>
      <p:pic>
        <p:nvPicPr>
          <p:cNvPr id="8" name="图片 7">
            <a:extLst>
              <a:ext uri="{FF2B5EF4-FFF2-40B4-BE49-F238E27FC236}">
                <a16:creationId xmlns:a16="http://schemas.microsoft.com/office/drawing/2014/main" id="{5A611822-F66C-22F6-9A49-C1DA5C40B2E0}"/>
              </a:ext>
            </a:extLst>
          </p:cNvPr>
          <p:cNvPicPr>
            <a:picLocks noChangeAspect="1"/>
          </p:cNvPicPr>
          <p:nvPr/>
        </p:nvPicPr>
        <p:blipFill>
          <a:blip r:embed="rId30">
            <a:duotone>
              <a:prstClr val="black"/>
              <a:schemeClr val="accent2">
                <a:tint val="45000"/>
                <a:satMod val="400000"/>
              </a:schemeClr>
            </a:duotone>
            <a:extLst>
              <a:ext uri="{BEBA8EAE-BF5A-486C-A8C5-ECC9F3942E4B}">
                <a14:imgProps xmlns:a14="http://schemas.microsoft.com/office/drawing/2010/main">
                  <a14:imgLayer r:embed="rId29">
                    <a14:imgEffect>
                      <a14:artisticChalkSketch/>
                    </a14:imgEffect>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7833" y="5969805"/>
            <a:ext cx="704451" cy="621204"/>
          </a:xfrm>
          <a:prstGeom prst="rect">
            <a:avLst/>
          </a:prstGeom>
        </p:spPr>
      </p:pic>
      <p:pic>
        <p:nvPicPr>
          <p:cNvPr id="4" name="图片 3">
            <a:extLst>
              <a:ext uri="{FF2B5EF4-FFF2-40B4-BE49-F238E27FC236}">
                <a16:creationId xmlns:a16="http://schemas.microsoft.com/office/drawing/2014/main" id="{0657A9E2-8405-9B01-775D-E4CEE8D672A3}"/>
              </a:ext>
            </a:extLst>
          </p:cNvPr>
          <p:cNvPicPr>
            <a:picLocks noChangeAspect="1"/>
          </p:cNvPicPr>
          <p:nvPr userDrawn="1"/>
        </p:nvPicPr>
        <p:blipFill>
          <a:blip r:embed="rId31">
            <a:extLst>
              <a:ext uri="{BEBA8EAE-BF5A-486C-A8C5-ECC9F3942E4B}">
                <a14:imgProps xmlns:a14="http://schemas.microsoft.com/office/drawing/2010/main">
                  <a14:imgLayer r:embed="rId32">
                    <a14:imgEffect>
                      <a14:brightnessContrast bright="-55000" contrast="-18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effectLst>
            <a:glow>
              <a:schemeClr val="accent1">
                <a:alpha val="3000"/>
              </a:schemeClr>
            </a:glow>
          </a:effectLst>
        </p:spPr>
      </p:pic>
      <p:sp>
        <p:nvSpPr>
          <p:cNvPr id="9" name="Title 1">
            <a:extLst>
              <a:ext uri="{FF2B5EF4-FFF2-40B4-BE49-F238E27FC236}">
                <a16:creationId xmlns:a16="http://schemas.microsoft.com/office/drawing/2014/main" id="{44324555-208A-6585-0A74-4343401EB456}"/>
              </a:ext>
            </a:extLst>
          </p:cNvPr>
          <p:cNvSpPr txBox="1">
            <a:spLocks/>
          </p:cNvSpPr>
          <p:nvPr userDrawn="1"/>
        </p:nvSpPr>
        <p:spPr>
          <a:xfrm>
            <a:off x="942284" y="173332"/>
            <a:ext cx="10659165" cy="456068"/>
          </a:xfrm>
          <a:prstGeom prst="rect">
            <a:avLst/>
          </a:prstGeom>
        </p:spPr>
        <p:txBody>
          <a:bodyPr/>
          <a:lstStyle>
            <a:lvl1pPr algn="l" defTabSz="914332" rtl="0" eaLnBrk="1" latinLnBrk="0" hangingPunct="1">
              <a:lnSpc>
                <a:spcPct val="90000"/>
              </a:lnSpc>
              <a:spcBef>
                <a:spcPct val="0"/>
              </a:spcBef>
              <a:buNone/>
              <a:defRPr sz="2400" b="1" kern="1200">
                <a:solidFill>
                  <a:schemeClr val="tx1"/>
                </a:solidFill>
                <a:latin typeface="+mj-ea"/>
                <a:ea typeface="+mj-ea"/>
                <a:cs typeface="+mj-cs"/>
              </a:defRPr>
            </a:lvl1pPr>
          </a:lstStyle>
          <a:p>
            <a:endParaRPr lang="zh-CN" altLang="en-US" dirty="0"/>
          </a:p>
        </p:txBody>
      </p:sp>
      <p:pic>
        <p:nvPicPr>
          <p:cNvPr id="10" name="图片 9">
            <a:extLst>
              <a:ext uri="{FF2B5EF4-FFF2-40B4-BE49-F238E27FC236}">
                <a16:creationId xmlns:a16="http://schemas.microsoft.com/office/drawing/2014/main" id="{03167F2B-6063-A3CE-1073-CA914266C4F0}"/>
              </a:ext>
            </a:extLst>
          </p:cNvPr>
          <p:cNvPicPr>
            <a:picLocks noChangeAspect="1"/>
          </p:cNvPicPr>
          <p:nvPr userDrawn="1"/>
        </p:nvPicPr>
        <p:blipFill>
          <a:blip r:embed="rId27">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1063036" y="105746"/>
            <a:ext cx="937127" cy="523654"/>
          </a:xfrm>
          <a:prstGeom prst="rect">
            <a:avLst/>
          </a:prstGeom>
        </p:spPr>
      </p:pic>
      <p:pic>
        <p:nvPicPr>
          <p:cNvPr id="11" name="图片 10">
            <a:extLst>
              <a:ext uri="{FF2B5EF4-FFF2-40B4-BE49-F238E27FC236}">
                <a16:creationId xmlns:a16="http://schemas.microsoft.com/office/drawing/2014/main" id="{A5ADFFD0-BAC5-7526-C476-4439DF1489CC}"/>
              </a:ext>
            </a:extLst>
          </p:cNvPr>
          <p:cNvPicPr>
            <a:picLocks noChangeAspect="1"/>
          </p:cNvPicPr>
          <p:nvPr userDrawn="1"/>
        </p:nvPicPr>
        <p:blipFill>
          <a:blip r:embed="rId28">
            <a:duotone>
              <a:prstClr val="black"/>
              <a:schemeClr val="tx2">
                <a:tint val="45000"/>
                <a:satMod val="400000"/>
              </a:schemeClr>
            </a:duotone>
            <a:extLst>
              <a:ext uri="{BEBA8EAE-BF5A-486C-A8C5-ECC9F3942E4B}">
                <a14:imgProps xmlns:a14="http://schemas.microsoft.com/office/drawing/2010/main">
                  <a14:imgLayer r:embed="rId29">
                    <a14:imgEffect>
                      <a14:artisticPhotocopy/>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8992" y="6077755"/>
            <a:ext cx="704451" cy="621204"/>
          </a:xfrm>
          <a:prstGeom prst="rect">
            <a:avLst/>
          </a:prstGeom>
        </p:spPr>
      </p:pic>
    </p:spTree>
    <p:extLst>
      <p:ext uri="{BB962C8B-B14F-4D97-AF65-F5344CB8AC3E}">
        <p14:creationId xmlns:p14="http://schemas.microsoft.com/office/powerpoint/2010/main" val="360410584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Lst>
  <p:txStyles>
    <p:titleStyle>
      <a:lvl1pPr algn="l" defTabSz="914332"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diagramQuickStyle" Target="../diagrams/quickStyle1.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diagramLayout" Target="../diagrams/layout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diagramData" Target="../diagrams/data1.xml"/><Relationship Id="rId5" Type="http://schemas.openxmlformats.org/officeDocument/2006/relationships/tags" Target="../tags/tag13.xml"/><Relationship Id="rId15" Type="http://schemas.microsoft.com/office/2007/relationships/diagramDrawing" Target="../diagrams/drawing1.xml"/><Relationship Id="rId10" Type="http://schemas.openxmlformats.org/officeDocument/2006/relationships/slideLayout" Target="../slideLayouts/slideLayout55.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tags" Target="../tags/tag50.xml"/><Relationship Id="rId3" Type="http://schemas.openxmlformats.org/officeDocument/2006/relationships/tags" Target="../tags/tag35.xml"/><Relationship Id="rId21" Type="http://schemas.openxmlformats.org/officeDocument/2006/relationships/tags" Target="../tags/tag53.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 Type="http://schemas.openxmlformats.org/officeDocument/2006/relationships/tags" Target="../tags/tag34.xml"/><Relationship Id="rId16" Type="http://schemas.openxmlformats.org/officeDocument/2006/relationships/tags" Target="../tags/tag48.xml"/><Relationship Id="rId20" Type="http://schemas.openxmlformats.org/officeDocument/2006/relationships/tags" Target="../tags/tag52.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slideLayout" Target="../slideLayouts/slideLayout4.xml"/><Relationship Id="rId10" Type="http://schemas.openxmlformats.org/officeDocument/2006/relationships/tags" Target="../tags/tag42.xml"/><Relationship Id="rId19" Type="http://schemas.openxmlformats.org/officeDocument/2006/relationships/tags" Target="../tags/tag51.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s>
</file>

<file path=ppt/slides/_rels/slide14.xml.rels><?xml version="1.0" encoding="UTF-8" standalone="yes"?>
<Relationships xmlns="http://schemas.openxmlformats.org/package/2006/relationships"><Relationship Id="rId3" Type="http://schemas.openxmlformats.org/officeDocument/2006/relationships/tags" Target="../tags/tag57.xml"/><Relationship Id="rId7" Type="http://schemas.openxmlformats.org/officeDocument/2006/relationships/slideLayout" Target="../slideLayouts/slideLayout4.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s>
</file>

<file path=ppt/slides/_rels/slide15.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slideLayout" Target="../slideLayouts/slideLayout4.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s/_rels/slide16.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slideLayout" Target="../slideLayouts/slideLayout4.xml"/><Relationship Id="rId4" Type="http://schemas.openxmlformats.org/officeDocument/2006/relationships/tags" Target="../tags/tag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3" Type="http://schemas.openxmlformats.org/officeDocument/2006/relationships/tags" Target="../tags/tag77.xml"/><Relationship Id="rId7" Type="http://schemas.openxmlformats.org/officeDocument/2006/relationships/slideLayout" Target="../slideLayouts/slideLayout4.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0.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slideLayout" Target="../slideLayouts/slideLayout4.xml"/><Relationship Id="rId5" Type="http://schemas.openxmlformats.org/officeDocument/2006/relationships/tags" Target="../tags/tag85.xml"/><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slideLayout" Target="../slideLayouts/slideLayout4.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s>
</file>

<file path=ppt/slides/_rels/slide35.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slideLayout" Target="../slideLayouts/slideLayout4.xml"/><Relationship Id="rId5" Type="http://schemas.openxmlformats.org/officeDocument/2006/relationships/tags" Target="../tags/tag101.xml"/><Relationship Id="rId4" Type="http://schemas.openxmlformats.org/officeDocument/2006/relationships/tags" Target="../tags/tag100.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slideLayout" Target="../slideLayouts/slideLayout4.xml"/><Relationship Id="rId4" Type="http://schemas.openxmlformats.org/officeDocument/2006/relationships/tags" Target="../tags/tag10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slideLayout" Target="../slideLayouts/slideLayout4.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6.xml.rels><?xml version="1.0" encoding="UTF-8" standalone="yes"?>
<Relationships xmlns="http://schemas.openxmlformats.org/package/2006/relationships"><Relationship Id="rId8" Type="http://schemas.openxmlformats.org/officeDocument/2006/relationships/diagramLayout" Target="../diagrams/layout16.xml"/><Relationship Id="rId13" Type="http://schemas.openxmlformats.org/officeDocument/2006/relationships/diagramLayout" Target="../diagrams/layout17.xml"/><Relationship Id="rId3" Type="http://schemas.openxmlformats.org/officeDocument/2006/relationships/diagramLayout" Target="../diagrams/layout15.xml"/><Relationship Id="rId7" Type="http://schemas.openxmlformats.org/officeDocument/2006/relationships/diagramData" Target="../diagrams/data16.xml"/><Relationship Id="rId12" Type="http://schemas.openxmlformats.org/officeDocument/2006/relationships/diagramData" Target="../diagrams/data17.xml"/><Relationship Id="rId2" Type="http://schemas.openxmlformats.org/officeDocument/2006/relationships/diagramData" Target="../diagrams/data15.xml"/><Relationship Id="rId16" Type="http://schemas.microsoft.com/office/2007/relationships/diagramDrawing" Target="../diagrams/drawing17.xml"/><Relationship Id="rId1" Type="http://schemas.openxmlformats.org/officeDocument/2006/relationships/slideLayout" Target="../slideLayouts/slideLayout4.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5" Type="http://schemas.openxmlformats.org/officeDocument/2006/relationships/diagramColors" Target="../diagrams/colors17.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 Id="rId14" Type="http://schemas.openxmlformats.org/officeDocument/2006/relationships/diagramQuickStyle" Target="../diagrams/quickStyle17.xml"/></Relationships>
</file>

<file path=ppt/slides/_rels/slide47.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slideLayout" Target="../slideLayouts/slideLayout4.xml"/><Relationship Id="rId4" Type="http://schemas.openxmlformats.org/officeDocument/2006/relationships/tags" Target="../tags/tag115.xml"/><Relationship Id="rId9" Type="http://schemas.openxmlformats.org/officeDocument/2006/relationships/tags" Target="../tags/tag120.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microsoft.com/office/2007/relationships/diagramDrawing" Target="../diagrams/drawing18.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diagramColors" Target="../diagrams/colors18.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diagramQuickStyle" Target="../diagrams/quickStyle18.xml"/><Relationship Id="rId5" Type="http://schemas.openxmlformats.org/officeDocument/2006/relationships/tags" Target="../tags/tag125.xml"/><Relationship Id="rId10" Type="http://schemas.openxmlformats.org/officeDocument/2006/relationships/diagramLayout" Target="../diagrams/layout18.xml"/><Relationship Id="rId4" Type="http://schemas.openxmlformats.org/officeDocument/2006/relationships/tags" Target="../tags/tag124.xml"/><Relationship Id="rId9" Type="http://schemas.openxmlformats.org/officeDocument/2006/relationships/diagramData" Target="../diagrams/data18.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tags" Target="../tags/tag140.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6" Type="http://schemas.openxmlformats.org/officeDocument/2006/relationships/slideLayout" Target="../slideLayouts/slideLayout4.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tags" Target="../tags/tag14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tags" Target="../tags/tag1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8" Type="http://schemas.microsoft.com/office/2007/relationships/hdphoto" Target="../media/hdphoto9.wdp"/><Relationship Id="rId3" Type="http://schemas.openxmlformats.org/officeDocument/2006/relationships/diagramLayout" Target="../diagrams/layout22.xml"/><Relationship Id="rId7" Type="http://schemas.openxmlformats.org/officeDocument/2006/relationships/image" Target="../media/image17.png"/><Relationship Id="rId2" Type="http://schemas.openxmlformats.org/officeDocument/2006/relationships/diagramData" Target="../diagrams/data22.xml"/><Relationship Id="rId1" Type="http://schemas.openxmlformats.org/officeDocument/2006/relationships/slideLayout" Target="../slideLayouts/slideLayout25.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7.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tags" Target="../tags/tag155.xml"/><Relationship Id="rId18" Type="http://schemas.openxmlformats.org/officeDocument/2006/relationships/tags" Target="../tags/tag160.xml"/><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tags" Target="../tags/tag154.xml"/><Relationship Id="rId17" Type="http://schemas.openxmlformats.org/officeDocument/2006/relationships/tags" Target="../tags/tag159.xml"/><Relationship Id="rId2" Type="http://schemas.openxmlformats.org/officeDocument/2006/relationships/tags" Target="../tags/tag144.xml"/><Relationship Id="rId16" Type="http://schemas.openxmlformats.org/officeDocument/2006/relationships/tags" Target="../tags/tag158.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5" Type="http://schemas.openxmlformats.org/officeDocument/2006/relationships/tags" Target="../tags/tag147.xml"/><Relationship Id="rId15" Type="http://schemas.openxmlformats.org/officeDocument/2006/relationships/tags" Target="../tags/tag157.xml"/><Relationship Id="rId10" Type="http://schemas.openxmlformats.org/officeDocument/2006/relationships/tags" Target="../tags/tag152.xml"/><Relationship Id="rId19" Type="http://schemas.openxmlformats.org/officeDocument/2006/relationships/slideLayout" Target="../slideLayouts/slideLayout25.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tags" Target="../tags/tag156.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8" Type="http://schemas.openxmlformats.org/officeDocument/2006/relationships/tags" Target="../tags/tag168.xml"/><Relationship Id="rId3" Type="http://schemas.openxmlformats.org/officeDocument/2006/relationships/tags" Target="../tags/tag163.xml"/><Relationship Id="rId7" Type="http://schemas.openxmlformats.org/officeDocument/2006/relationships/tags" Target="../tags/tag167.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slideLayout" Target="../slideLayouts/slideLayout25.xml"/><Relationship Id="rId5" Type="http://schemas.openxmlformats.org/officeDocument/2006/relationships/tags" Target="../tags/tag165.xml"/><Relationship Id="rId10" Type="http://schemas.openxmlformats.org/officeDocument/2006/relationships/tags" Target="../tags/tag170.xml"/><Relationship Id="rId4" Type="http://schemas.openxmlformats.org/officeDocument/2006/relationships/tags" Target="../tags/tag164.xml"/><Relationship Id="rId9" Type="http://schemas.openxmlformats.org/officeDocument/2006/relationships/tags" Target="../tags/tag169.xml"/></Relationships>
</file>

<file path=ppt/slides/_rels/slide60.xml.rels><?xml version="1.0" encoding="UTF-8" standalone="yes"?>
<Relationships xmlns="http://schemas.openxmlformats.org/package/2006/relationships"><Relationship Id="rId8" Type="http://schemas.openxmlformats.org/officeDocument/2006/relationships/tags" Target="../tags/tag178.xml"/><Relationship Id="rId3" Type="http://schemas.openxmlformats.org/officeDocument/2006/relationships/tags" Target="../tags/tag173.xml"/><Relationship Id="rId7" Type="http://schemas.openxmlformats.org/officeDocument/2006/relationships/tags" Target="../tags/tag177.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slideLayout" Target="../slideLayouts/slideLayout25.xml"/><Relationship Id="rId5" Type="http://schemas.openxmlformats.org/officeDocument/2006/relationships/tags" Target="../tags/tag175.xml"/><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5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65.xml.rels><?xml version="1.0" encoding="UTF-8" standalone="yes"?>
<Relationships xmlns="http://schemas.openxmlformats.org/package/2006/relationships"><Relationship Id="rId8" Type="http://schemas.openxmlformats.org/officeDocument/2006/relationships/tags" Target="../tags/tag188.xml"/><Relationship Id="rId3" Type="http://schemas.openxmlformats.org/officeDocument/2006/relationships/tags" Target="../tags/tag183.xml"/><Relationship Id="rId7" Type="http://schemas.openxmlformats.org/officeDocument/2006/relationships/tags" Target="../tags/tag187.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slideLayout" Target="../slideLayouts/slideLayout63.xml"/><Relationship Id="rId5" Type="http://schemas.openxmlformats.org/officeDocument/2006/relationships/tags" Target="../tags/tag185.xml"/><Relationship Id="rId10" Type="http://schemas.openxmlformats.org/officeDocument/2006/relationships/tags" Target="../tags/tag190.xml"/><Relationship Id="rId4" Type="http://schemas.openxmlformats.org/officeDocument/2006/relationships/tags" Target="../tags/tag184.xml"/><Relationship Id="rId9" Type="http://schemas.openxmlformats.org/officeDocument/2006/relationships/tags" Target="../tags/tag189.xml"/></Relationships>
</file>

<file path=ppt/slides/_rels/slide66.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tags" Target="../tags/tag203.xml"/><Relationship Id="rId3" Type="http://schemas.openxmlformats.org/officeDocument/2006/relationships/tags" Target="../tags/tag193.xml"/><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slideLayout" Target="../slideLayouts/slideLayout63.xml"/><Relationship Id="rId2" Type="http://schemas.openxmlformats.org/officeDocument/2006/relationships/tags" Target="../tags/tag192.xml"/><Relationship Id="rId16" Type="http://schemas.openxmlformats.org/officeDocument/2006/relationships/tags" Target="../tags/tag206.xml"/><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tags" Target="../tags/tag201.xml"/><Relationship Id="rId5" Type="http://schemas.openxmlformats.org/officeDocument/2006/relationships/tags" Target="../tags/tag195.xml"/><Relationship Id="rId15" Type="http://schemas.openxmlformats.org/officeDocument/2006/relationships/tags" Target="../tags/tag205.xml"/><Relationship Id="rId10" Type="http://schemas.openxmlformats.org/officeDocument/2006/relationships/tags" Target="../tags/tag200.xml"/><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tags" Target="../tags/tag20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0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08.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09.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0.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4.xml"/><Relationship Id="rId1" Type="http://schemas.openxmlformats.org/officeDocument/2006/relationships/tags" Target="../tags/tag21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4.xml"/><Relationship Id="rId1" Type="http://schemas.openxmlformats.org/officeDocument/2006/relationships/tags" Target="../tags/tag214.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5.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6.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tags" Target="../tags/tag2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6.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tags" Target="../tags/tag231.xml"/><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tags" Target="../tags/tag230.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tags" Target="../tags/tag229.xml"/><Relationship Id="rId5" Type="http://schemas.openxmlformats.org/officeDocument/2006/relationships/tags" Target="../tags/tag223.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 Id="rId14" Type="http://schemas.openxmlformats.org/officeDocument/2006/relationships/slideLayout" Target="../slideLayouts/slideLayout5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54.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7.xml"/><Relationship Id="rId1" Type="http://schemas.openxmlformats.org/officeDocument/2006/relationships/slideLayout" Target="../slideLayouts/slideLayout54.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10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6.xml.rels><?xml version="1.0" encoding="UTF-8" standalone="yes"?>
<Relationships xmlns="http://schemas.openxmlformats.org/package/2006/relationships"><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slideLayout" Target="../slideLayouts/slideLayout54.xml"/><Relationship Id="rId5" Type="http://schemas.openxmlformats.org/officeDocument/2006/relationships/tags" Target="../tags/tag236.xml"/><Relationship Id="rId4" Type="http://schemas.openxmlformats.org/officeDocument/2006/relationships/tags" Target="../tags/tag235.xml"/></Relationships>
</file>

<file path=ppt/slides/_rels/slide10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5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9.xml.rels><?xml version="1.0" encoding="UTF-8" standalone="yes"?>
<Relationships xmlns="http://schemas.openxmlformats.org/package/2006/relationships"><Relationship Id="rId8" Type="http://schemas.openxmlformats.org/officeDocument/2006/relationships/tags" Target="../tags/tag244.xml"/><Relationship Id="rId3" Type="http://schemas.openxmlformats.org/officeDocument/2006/relationships/tags" Target="../tags/tag239.xml"/><Relationship Id="rId7" Type="http://schemas.openxmlformats.org/officeDocument/2006/relationships/tags" Target="../tags/tag243.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slideLayout" Target="../slideLayouts/slideLayout54.xml"/><Relationship Id="rId5" Type="http://schemas.openxmlformats.org/officeDocument/2006/relationships/tags" Target="../tags/tag241.xml"/><Relationship Id="rId10" Type="http://schemas.openxmlformats.org/officeDocument/2006/relationships/tags" Target="../tags/tag246.xml"/><Relationship Id="rId4" Type="http://schemas.openxmlformats.org/officeDocument/2006/relationships/tags" Target="../tags/tag240.xml"/><Relationship Id="rId9" Type="http://schemas.openxmlformats.org/officeDocument/2006/relationships/tags" Target="../tags/tag24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2.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tags" Target="../tags/tag259.xml"/><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tags" Target="../tags/tag258.xml"/><Relationship Id="rId2" Type="http://schemas.openxmlformats.org/officeDocument/2006/relationships/tags" Target="../tags/tag248.xml"/><Relationship Id="rId16" Type="http://schemas.openxmlformats.org/officeDocument/2006/relationships/slideLayout" Target="../slideLayouts/slideLayout54.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tags" Target="../tags/tag257.xml"/><Relationship Id="rId5" Type="http://schemas.openxmlformats.org/officeDocument/2006/relationships/tags" Target="../tags/tag251.xml"/><Relationship Id="rId15" Type="http://schemas.openxmlformats.org/officeDocument/2006/relationships/tags" Target="../tags/tag261.xml"/><Relationship Id="rId10" Type="http://schemas.openxmlformats.org/officeDocument/2006/relationships/tags" Target="../tags/tag256.xml"/><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tags" Target="../tags/tag260.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5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19.xml.rels><?xml version="1.0" encoding="UTF-8" standalone="yes"?>
<Relationships xmlns="http://schemas.openxmlformats.org/package/2006/relationships"><Relationship Id="rId8" Type="http://schemas.openxmlformats.org/officeDocument/2006/relationships/tags" Target="../tags/tag269.xml"/><Relationship Id="rId3" Type="http://schemas.openxmlformats.org/officeDocument/2006/relationships/tags" Target="../tags/tag264.xml"/><Relationship Id="rId7" Type="http://schemas.openxmlformats.org/officeDocument/2006/relationships/tags" Target="../tags/tag268.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9" Type="http://schemas.openxmlformats.org/officeDocument/2006/relationships/slideLayout" Target="../slideLayouts/slideLayout5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5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12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54.xml"/></Relationships>
</file>

<file path=ppt/slides/_rels/slide123.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tags" Target="../tags/tag272.xml"/><Relationship Id="rId7" Type="http://schemas.openxmlformats.org/officeDocument/2006/relationships/tags" Target="../tags/tag276.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8.xml.rels><?xml version="1.0" encoding="UTF-8" standalone="yes"?>
<Relationships xmlns="http://schemas.openxmlformats.org/package/2006/relationships"><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 Id="rId5" Type="http://schemas.openxmlformats.org/officeDocument/2006/relationships/slideLayout" Target="../slideLayouts/slideLayout54.xml"/><Relationship Id="rId4" Type="http://schemas.openxmlformats.org/officeDocument/2006/relationships/tags" Target="../tags/tag28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5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5.xml.rels><?xml version="1.0" encoding="UTF-8" standalone="yes"?>
<Relationships xmlns="http://schemas.openxmlformats.org/package/2006/relationships"><Relationship Id="rId8" Type="http://schemas.openxmlformats.org/officeDocument/2006/relationships/tags" Target="../tags/tag288.xml"/><Relationship Id="rId13" Type="http://schemas.openxmlformats.org/officeDocument/2006/relationships/tags" Target="../tags/tag293.xml"/><Relationship Id="rId18" Type="http://schemas.openxmlformats.org/officeDocument/2006/relationships/slideLayout" Target="../slideLayouts/slideLayout54.xml"/><Relationship Id="rId3" Type="http://schemas.openxmlformats.org/officeDocument/2006/relationships/tags" Target="../tags/tag283.xml"/><Relationship Id="rId7" Type="http://schemas.openxmlformats.org/officeDocument/2006/relationships/tags" Target="../tags/tag287.xml"/><Relationship Id="rId12" Type="http://schemas.openxmlformats.org/officeDocument/2006/relationships/tags" Target="../tags/tag292.xml"/><Relationship Id="rId17" Type="http://schemas.openxmlformats.org/officeDocument/2006/relationships/tags" Target="../tags/tag297.xml"/><Relationship Id="rId2" Type="http://schemas.openxmlformats.org/officeDocument/2006/relationships/tags" Target="../tags/tag282.xml"/><Relationship Id="rId16" Type="http://schemas.openxmlformats.org/officeDocument/2006/relationships/tags" Target="../tags/tag296.xml"/><Relationship Id="rId1" Type="http://schemas.openxmlformats.org/officeDocument/2006/relationships/tags" Target="../tags/tag281.xml"/><Relationship Id="rId6" Type="http://schemas.openxmlformats.org/officeDocument/2006/relationships/tags" Target="../tags/tag286.xml"/><Relationship Id="rId11" Type="http://schemas.openxmlformats.org/officeDocument/2006/relationships/tags" Target="../tags/tag291.xml"/><Relationship Id="rId5" Type="http://schemas.openxmlformats.org/officeDocument/2006/relationships/tags" Target="../tags/tag285.xml"/><Relationship Id="rId15" Type="http://schemas.openxmlformats.org/officeDocument/2006/relationships/tags" Target="../tags/tag295.xml"/><Relationship Id="rId10" Type="http://schemas.openxmlformats.org/officeDocument/2006/relationships/tags" Target="../tags/tag290.xml"/><Relationship Id="rId4" Type="http://schemas.openxmlformats.org/officeDocument/2006/relationships/tags" Target="../tags/tag284.xml"/><Relationship Id="rId9" Type="http://schemas.openxmlformats.org/officeDocument/2006/relationships/tags" Target="../tags/tag289.xml"/><Relationship Id="rId14" Type="http://schemas.openxmlformats.org/officeDocument/2006/relationships/tags" Target="../tags/tag294.xml"/></Relationships>
</file>

<file path=ppt/slides/_rels/slide136.xml.rels><?xml version="1.0" encoding="UTF-8" standalone="yes"?>
<Relationships xmlns="http://schemas.openxmlformats.org/package/2006/relationships"><Relationship Id="rId8" Type="http://schemas.openxmlformats.org/officeDocument/2006/relationships/tags" Target="../tags/tag305.xml"/><Relationship Id="rId13" Type="http://schemas.openxmlformats.org/officeDocument/2006/relationships/tags" Target="../tags/tag310.xml"/><Relationship Id="rId18" Type="http://schemas.openxmlformats.org/officeDocument/2006/relationships/slideLayout" Target="../slideLayouts/slideLayout54.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tags" Target="../tags/tag309.xml"/><Relationship Id="rId17" Type="http://schemas.openxmlformats.org/officeDocument/2006/relationships/tags" Target="../tags/tag314.xml"/><Relationship Id="rId2" Type="http://schemas.openxmlformats.org/officeDocument/2006/relationships/tags" Target="../tags/tag299.xml"/><Relationship Id="rId16" Type="http://schemas.openxmlformats.org/officeDocument/2006/relationships/tags" Target="../tags/tag313.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tags" Target="../tags/tag308.xml"/><Relationship Id="rId5" Type="http://schemas.openxmlformats.org/officeDocument/2006/relationships/tags" Target="../tags/tag302.xml"/><Relationship Id="rId15" Type="http://schemas.openxmlformats.org/officeDocument/2006/relationships/tags" Target="../tags/tag312.xml"/><Relationship Id="rId10" Type="http://schemas.openxmlformats.org/officeDocument/2006/relationships/tags" Target="../tags/tag307.xml"/><Relationship Id="rId4" Type="http://schemas.openxmlformats.org/officeDocument/2006/relationships/tags" Target="../tags/tag301.xml"/><Relationship Id="rId9" Type="http://schemas.openxmlformats.org/officeDocument/2006/relationships/tags" Target="../tags/tag306.xml"/><Relationship Id="rId14" Type="http://schemas.openxmlformats.org/officeDocument/2006/relationships/tags" Target="../tags/tag311.xml"/></Relationships>
</file>

<file path=ppt/slides/_rels/slide137.xml.rels><?xml version="1.0" encoding="UTF-8" standalone="yes"?>
<Relationships xmlns="http://schemas.openxmlformats.org/package/2006/relationships"><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 Id="rId5" Type="http://schemas.openxmlformats.org/officeDocument/2006/relationships/slideLayout" Target="../slideLayouts/slideLayout54.xml"/><Relationship Id="rId4" Type="http://schemas.openxmlformats.org/officeDocument/2006/relationships/tags" Target="../tags/tag31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9.xml.rels><?xml version="1.0" encoding="UTF-8" standalone="yes"?>
<Relationships xmlns="http://schemas.openxmlformats.org/package/2006/relationships"><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 Id="rId5" Type="http://schemas.openxmlformats.org/officeDocument/2006/relationships/slideLayout" Target="../slideLayouts/slideLayout54.xml"/><Relationship Id="rId4" Type="http://schemas.openxmlformats.org/officeDocument/2006/relationships/tags" Target="../tags/tag3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1.xml.rels><?xml version="1.0" encoding="UTF-8" standalone="yes"?>
<Relationships xmlns="http://schemas.openxmlformats.org/package/2006/relationships"><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 Id="rId5" Type="http://schemas.openxmlformats.org/officeDocument/2006/relationships/slideLayout" Target="../slideLayouts/slideLayout54.xml"/><Relationship Id="rId4" Type="http://schemas.openxmlformats.org/officeDocument/2006/relationships/tags" Target="../tags/tag326.xml"/></Relationships>
</file>

<file path=ppt/slides/_rels/slide142.xml.rels><?xml version="1.0" encoding="UTF-8" standalone="yes"?>
<Relationships xmlns="http://schemas.openxmlformats.org/package/2006/relationships"><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 Id="rId5" Type="http://schemas.openxmlformats.org/officeDocument/2006/relationships/slideLayout" Target="../slideLayouts/slideLayout54.xml"/><Relationship Id="rId4" Type="http://schemas.openxmlformats.org/officeDocument/2006/relationships/tags" Target="../tags/tag330.xml"/></Relationships>
</file>

<file path=ppt/slides/_rels/slide143.xml.rels><?xml version="1.0" encoding="UTF-8" standalone="yes"?>
<Relationships xmlns="http://schemas.openxmlformats.org/package/2006/relationships"><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tags" Target="../tags/tag331.xml"/><Relationship Id="rId5" Type="http://schemas.openxmlformats.org/officeDocument/2006/relationships/slideLayout" Target="../slideLayouts/slideLayout54.xml"/><Relationship Id="rId4" Type="http://schemas.openxmlformats.org/officeDocument/2006/relationships/tags" Target="../tags/tag334.xml"/></Relationships>
</file>

<file path=ppt/slides/_rels/slide144.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5" Type="http://schemas.openxmlformats.org/officeDocument/2006/relationships/slideLayout" Target="../slideLayouts/slideLayout54.xml"/><Relationship Id="rId4" Type="http://schemas.openxmlformats.org/officeDocument/2006/relationships/tags" Target="../tags/tag33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54.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54.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57.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10.xml"/><Relationship Id="rId1" Type="http://schemas.openxmlformats.org/officeDocument/2006/relationships/slideLayout" Target="../slideLayouts/slideLayout87.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158.xml.rels><?xml version="1.0" encoding="UTF-8" standalone="yes"?>
<Relationships xmlns="http://schemas.openxmlformats.org/package/2006/relationships"><Relationship Id="rId8" Type="http://schemas.openxmlformats.org/officeDocument/2006/relationships/tags" Target="../tags/tag346.xml"/><Relationship Id="rId13" Type="http://schemas.openxmlformats.org/officeDocument/2006/relationships/tags" Target="../tags/tag351.xml"/><Relationship Id="rId18" Type="http://schemas.openxmlformats.org/officeDocument/2006/relationships/slideLayout" Target="../slideLayouts/slideLayout87.xml"/><Relationship Id="rId3" Type="http://schemas.openxmlformats.org/officeDocument/2006/relationships/tags" Target="../tags/tag341.xml"/><Relationship Id="rId7" Type="http://schemas.openxmlformats.org/officeDocument/2006/relationships/tags" Target="../tags/tag345.xml"/><Relationship Id="rId12" Type="http://schemas.openxmlformats.org/officeDocument/2006/relationships/tags" Target="../tags/tag350.xml"/><Relationship Id="rId17" Type="http://schemas.openxmlformats.org/officeDocument/2006/relationships/tags" Target="../tags/tag355.xml"/><Relationship Id="rId2" Type="http://schemas.openxmlformats.org/officeDocument/2006/relationships/tags" Target="../tags/tag340.xml"/><Relationship Id="rId16" Type="http://schemas.openxmlformats.org/officeDocument/2006/relationships/tags" Target="../tags/tag354.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tags" Target="../tags/tag349.xml"/><Relationship Id="rId5" Type="http://schemas.openxmlformats.org/officeDocument/2006/relationships/tags" Target="../tags/tag343.xml"/><Relationship Id="rId15" Type="http://schemas.openxmlformats.org/officeDocument/2006/relationships/tags" Target="../tags/tag353.xml"/><Relationship Id="rId10" Type="http://schemas.openxmlformats.org/officeDocument/2006/relationships/tags" Target="../tags/tag348.xml"/><Relationship Id="rId19" Type="http://schemas.openxmlformats.org/officeDocument/2006/relationships/image" Target="../media/image28.emf"/><Relationship Id="rId4" Type="http://schemas.openxmlformats.org/officeDocument/2006/relationships/tags" Target="../tags/tag342.xml"/><Relationship Id="rId9" Type="http://schemas.openxmlformats.org/officeDocument/2006/relationships/tags" Target="../tags/tag347.xml"/><Relationship Id="rId14" Type="http://schemas.openxmlformats.org/officeDocument/2006/relationships/tags" Target="../tags/tag352.xml"/></Relationships>
</file>

<file path=ppt/slides/_rels/slide159.xml.rels><?xml version="1.0" encoding="UTF-8" standalone="yes"?>
<Relationships xmlns="http://schemas.openxmlformats.org/package/2006/relationships"><Relationship Id="rId8" Type="http://schemas.openxmlformats.org/officeDocument/2006/relationships/diagramLayout" Target="../diagrams/layout33.xml"/><Relationship Id="rId13" Type="http://schemas.openxmlformats.org/officeDocument/2006/relationships/diagramLayout" Target="../diagrams/layout34.xml"/><Relationship Id="rId18" Type="http://schemas.openxmlformats.org/officeDocument/2006/relationships/diagramLayout" Target="../diagrams/layout35.xml"/><Relationship Id="rId26" Type="http://schemas.microsoft.com/office/2007/relationships/diagramDrawing" Target="../diagrams/drawing36.xml"/><Relationship Id="rId3" Type="http://schemas.openxmlformats.org/officeDocument/2006/relationships/diagramLayout" Target="../diagrams/layout32.xml"/><Relationship Id="rId21" Type="http://schemas.microsoft.com/office/2007/relationships/diagramDrawing" Target="../diagrams/drawing35.xml"/><Relationship Id="rId7" Type="http://schemas.openxmlformats.org/officeDocument/2006/relationships/diagramData" Target="../diagrams/data33.xml"/><Relationship Id="rId12" Type="http://schemas.openxmlformats.org/officeDocument/2006/relationships/diagramData" Target="../diagrams/data34.xml"/><Relationship Id="rId17" Type="http://schemas.openxmlformats.org/officeDocument/2006/relationships/diagramData" Target="../diagrams/data35.xml"/><Relationship Id="rId25" Type="http://schemas.openxmlformats.org/officeDocument/2006/relationships/diagramColors" Target="../diagrams/colors36.xml"/><Relationship Id="rId2" Type="http://schemas.openxmlformats.org/officeDocument/2006/relationships/diagramData" Target="../diagrams/data32.xml"/><Relationship Id="rId16" Type="http://schemas.microsoft.com/office/2007/relationships/diagramDrawing" Target="../diagrams/drawing34.xml"/><Relationship Id="rId20" Type="http://schemas.openxmlformats.org/officeDocument/2006/relationships/diagramColors" Target="../diagrams/colors35.xml"/><Relationship Id="rId29" Type="http://schemas.openxmlformats.org/officeDocument/2006/relationships/diagramQuickStyle" Target="../diagrams/quickStyle37.xml"/><Relationship Id="rId1" Type="http://schemas.openxmlformats.org/officeDocument/2006/relationships/slideLayout" Target="../slideLayouts/slideLayout54.xml"/><Relationship Id="rId6" Type="http://schemas.microsoft.com/office/2007/relationships/diagramDrawing" Target="../diagrams/drawing32.xml"/><Relationship Id="rId11" Type="http://schemas.microsoft.com/office/2007/relationships/diagramDrawing" Target="../diagrams/drawing33.xml"/><Relationship Id="rId24" Type="http://schemas.openxmlformats.org/officeDocument/2006/relationships/diagramQuickStyle" Target="../diagrams/quickStyle36.xml"/><Relationship Id="rId32" Type="http://schemas.openxmlformats.org/officeDocument/2006/relationships/image" Target="../media/image29.png"/><Relationship Id="rId5" Type="http://schemas.openxmlformats.org/officeDocument/2006/relationships/diagramColors" Target="../diagrams/colors32.xml"/><Relationship Id="rId15" Type="http://schemas.openxmlformats.org/officeDocument/2006/relationships/diagramColors" Target="../diagrams/colors34.xml"/><Relationship Id="rId23" Type="http://schemas.openxmlformats.org/officeDocument/2006/relationships/diagramLayout" Target="../diagrams/layout36.xml"/><Relationship Id="rId28" Type="http://schemas.openxmlformats.org/officeDocument/2006/relationships/diagramLayout" Target="../diagrams/layout37.xml"/><Relationship Id="rId10" Type="http://schemas.openxmlformats.org/officeDocument/2006/relationships/diagramColors" Target="../diagrams/colors33.xml"/><Relationship Id="rId19" Type="http://schemas.openxmlformats.org/officeDocument/2006/relationships/diagramQuickStyle" Target="../diagrams/quickStyle35.xml"/><Relationship Id="rId31" Type="http://schemas.microsoft.com/office/2007/relationships/diagramDrawing" Target="../diagrams/drawing37.xml"/><Relationship Id="rId4" Type="http://schemas.openxmlformats.org/officeDocument/2006/relationships/diagramQuickStyle" Target="../diagrams/quickStyle32.xml"/><Relationship Id="rId9" Type="http://schemas.openxmlformats.org/officeDocument/2006/relationships/diagramQuickStyle" Target="../diagrams/quickStyle33.xml"/><Relationship Id="rId14" Type="http://schemas.openxmlformats.org/officeDocument/2006/relationships/diagramQuickStyle" Target="../diagrams/quickStyle34.xml"/><Relationship Id="rId22" Type="http://schemas.openxmlformats.org/officeDocument/2006/relationships/diagramData" Target="../diagrams/data36.xml"/><Relationship Id="rId27" Type="http://schemas.openxmlformats.org/officeDocument/2006/relationships/diagramData" Target="../diagrams/data37.xml"/><Relationship Id="rId30" Type="http://schemas.openxmlformats.org/officeDocument/2006/relationships/diagramColors" Target="../diagrams/colors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62D594-89BF-E1A7-627F-660B4CBF3904}"/>
              </a:ext>
            </a:extLst>
          </p:cNvPr>
          <p:cNvSpPr>
            <a:spLocks noGrp="1"/>
          </p:cNvSpPr>
          <p:nvPr>
            <p:ph type="ctrTitle"/>
          </p:nvPr>
        </p:nvSpPr>
        <p:spPr>
          <a:xfrm>
            <a:off x="454163" y="1161662"/>
            <a:ext cx="11515059" cy="3469543"/>
          </a:xfrm>
        </p:spPr>
        <p:txBody>
          <a:bodyPr>
            <a:noAutofit/>
          </a:bodyPr>
          <a:lstStyle/>
          <a:p>
            <a:r>
              <a:rPr lang="zh-CN" altLang="en-US" dirty="0">
                <a:latin typeface="Arial" panose="020B0604020202020204" pitchFamily="34" charset="0"/>
                <a:ea typeface="微软雅黑" panose="020B0503020204020204" pitchFamily="34" charset="-122"/>
              </a:rPr>
              <a:t>价值链管理从经验走向科学</a:t>
            </a:r>
            <a:br>
              <a:rPr lang="en-US" altLang="zh-CN" sz="4800" dirty="0">
                <a:latin typeface="Arial" panose="020B0604020202020204" pitchFamily="34" charset="0"/>
                <a:ea typeface="微软雅黑" panose="020B0503020204020204" pitchFamily="34" charset="-122"/>
              </a:rPr>
            </a:br>
            <a:br>
              <a:rPr lang="en-US" altLang="zh-CN" sz="4400" dirty="0">
                <a:solidFill>
                  <a:schemeClr val="bg2">
                    <a:lumMod val="10000"/>
                    <a:lumOff val="90000"/>
                  </a:schemeClr>
                </a:solidFill>
                <a:latin typeface="Arial" panose="020B0604020202020204" pitchFamily="34" charset="0"/>
                <a:ea typeface="微软雅黑" panose="020B0503020204020204" pitchFamily="34" charset="-122"/>
              </a:rPr>
            </a:br>
            <a:r>
              <a:rPr lang="zh-CN" altLang="en-US" sz="4400" dirty="0">
                <a:solidFill>
                  <a:schemeClr val="bg2">
                    <a:lumMod val="10000"/>
                    <a:lumOff val="90000"/>
                  </a:schemeClr>
                </a:solidFill>
                <a:latin typeface="Arial" panose="020B0604020202020204" pitchFamily="34" charset="0"/>
                <a:ea typeface="微软雅黑" panose="020B0503020204020204" pitchFamily="34" charset="-122"/>
              </a:rPr>
              <a:t>开放复杂巨系统的治理法则</a:t>
            </a:r>
            <a:endParaRPr lang="zh-CN" altLang="en-US" sz="4800" dirty="0">
              <a:solidFill>
                <a:schemeClr val="bg2">
                  <a:lumMod val="10000"/>
                  <a:lumOff val="90000"/>
                </a:schemeClr>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37165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BC61A1-1345-75AD-CEFC-C08EFDAD154B}"/>
              </a:ext>
            </a:extLst>
          </p:cNvPr>
          <p:cNvSpPr>
            <a:spLocks noGrp="1"/>
          </p:cNvSpPr>
          <p:nvPr>
            <p:ph type="title"/>
          </p:nvPr>
        </p:nvSpPr>
        <p:spPr/>
        <p:txBody>
          <a:bodyPr/>
          <a:lstStyle/>
          <a:p>
            <a:r>
              <a:rPr lang="zh-CN" altLang="en-US" b="1" dirty="0">
                <a:effectLst/>
                <a:latin typeface="+mn-ea"/>
                <a:ea typeface="+mn-ea"/>
              </a:rPr>
              <a:t>规模不经济的世纪悖论</a:t>
            </a:r>
            <a:endParaRPr lang="zh-CN" altLang="en-US" dirty="0">
              <a:latin typeface="+mn-ea"/>
              <a:ea typeface="+mn-ea"/>
            </a:endParaRPr>
          </a:p>
        </p:txBody>
      </p:sp>
      <p:grpSp>
        <p:nvGrpSpPr>
          <p:cNvPr id="11" name="组合 10">
            <a:extLst>
              <a:ext uri="{FF2B5EF4-FFF2-40B4-BE49-F238E27FC236}">
                <a16:creationId xmlns:a16="http://schemas.microsoft.com/office/drawing/2014/main" id="{D86B0E29-A3A7-1ABD-4781-9711866C72E8}"/>
              </a:ext>
            </a:extLst>
          </p:cNvPr>
          <p:cNvGrpSpPr>
            <a:grpSpLocks noChangeAspect="1"/>
          </p:cNvGrpSpPr>
          <p:nvPr>
            <p:custDataLst>
              <p:tags r:id="rId1"/>
            </p:custDataLst>
          </p:nvPr>
        </p:nvGrpSpPr>
        <p:grpSpPr>
          <a:xfrm>
            <a:off x="825329" y="2189977"/>
            <a:ext cx="11318841" cy="3733746"/>
            <a:chOff x="1060346" y="1660841"/>
            <a:chExt cx="10071308" cy="3132697"/>
          </a:xfrm>
        </p:grpSpPr>
        <p:grpSp>
          <p:nvGrpSpPr>
            <p:cNvPr id="12" name="组合 11">
              <a:extLst>
                <a:ext uri="{FF2B5EF4-FFF2-40B4-BE49-F238E27FC236}">
                  <a16:creationId xmlns:a16="http://schemas.microsoft.com/office/drawing/2014/main" id="{D462FA0B-691C-77F4-79E8-7107DACB3D36}"/>
                </a:ext>
              </a:extLst>
            </p:cNvPr>
            <p:cNvGrpSpPr/>
            <p:nvPr/>
          </p:nvGrpSpPr>
          <p:grpSpPr>
            <a:xfrm>
              <a:off x="1060346" y="1660841"/>
              <a:ext cx="4521408" cy="3132697"/>
              <a:chOff x="1060346" y="1660841"/>
              <a:chExt cx="4521408" cy="3132697"/>
            </a:xfrm>
          </p:grpSpPr>
          <p:sp>
            <p:nvSpPr>
              <p:cNvPr id="18" name="1">
                <a:extLst>
                  <a:ext uri="{FF2B5EF4-FFF2-40B4-BE49-F238E27FC236}">
                    <a16:creationId xmlns:a16="http://schemas.microsoft.com/office/drawing/2014/main" id="{D1BE170E-56F3-4DED-59B1-113F33FD95E0}"/>
                  </a:ext>
                </a:extLst>
              </p:cNvPr>
              <p:cNvSpPr/>
              <p:nvPr>
                <p:custDataLst>
                  <p:tags r:id="rId6"/>
                </p:custDataLst>
              </p:nvPr>
            </p:nvSpPr>
            <p:spPr>
              <a:xfrm>
                <a:off x="1188472" y="1795470"/>
                <a:ext cx="4393282" cy="2998068"/>
              </a:xfrm>
              <a:prstGeom prst="roundRect">
                <a:avLst>
                  <a:gd name="adj" fmla="val 740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latin typeface="+mn-ea"/>
                </a:endParaRPr>
              </a:p>
            </p:txBody>
          </p:sp>
          <p:sp>
            <p:nvSpPr>
              <p:cNvPr id="19" name="1">
                <a:extLst>
                  <a:ext uri="{FF2B5EF4-FFF2-40B4-BE49-F238E27FC236}">
                    <a16:creationId xmlns:a16="http://schemas.microsoft.com/office/drawing/2014/main" id="{1C500FFE-8EF4-CBC1-71BC-B8EE7EDA1B27}"/>
                  </a:ext>
                </a:extLst>
              </p:cNvPr>
              <p:cNvSpPr/>
              <p:nvPr>
                <p:custDataLst>
                  <p:tags r:id="rId7"/>
                </p:custDataLst>
              </p:nvPr>
            </p:nvSpPr>
            <p:spPr>
              <a:xfrm>
                <a:off x="1060346" y="1660841"/>
                <a:ext cx="2269409" cy="341868"/>
              </a:xfrm>
              <a:prstGeom prst="round2DiagRect">
                <a:avLst>
                  <a:gd name="adj1" fmla="val 50000"/>
                  <a:gd name="adj2" fmla="val 0"/>
                </a:avLst>
              </a:prstGeom>
              <a:solidFill>
                <a:schemeClr val="tx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latin typeface="+mn-ea"/>
                </a:endParaRPr>
              </a:p>
            </p:txBody>
          </p:sp>
          <p:sp>
            <p:nvSpPr>
              <p:cNvPr id="20" name="Title-1">
                <a:extLst>
                  <a:ext uri="{FF2B5EF4-FFF2-40B4-BE49-F238E27FC236}">
                    <a16:creationId xmlns:a16="http://schemas.microsoft.com/office/drawing/2014/main" id="{B8F9E979-E61B-0E4B-A490-6151843246CA}"/>
                  </a:ext>
                </a:extLst>
              </p:cNvPr>
              <p:cNvSpPr txBox="1"/>
              <p:nvPr>
                <p:custDataLst>
                  <p:tags r:id="rId8"/>
                </p:custDataLst>
              </p:nvPr>
            </p:nvSpPr>
            <p:spPr>
              <a:xfrm>
                <a:off x="1188472" y="1695131"/>
                <a:ext cx="2141283" cy="307577"/>
              </a:xfrm>
              <a:prstGeom prst="rect">
                <a:avLst/>
              </a:prstGeom>
              <a:noFill/>
            </p:spPr>
            <p:txBody>
              <a:bodyPr wrap="square" rtlCol="0">
                <a:noAutofit/>
              </a:bodyPr>
              <a:lstStyle/>
              <a:p>
                <a:r>
                  <a:rPr lang="zh-CN" altLang="en-US" b="1" dirty="0">
                    <a:latin typeface="+mn-ea"/>
                  </a:rPr>
                  <a:t>局部幻觉</a:t>
                </a:r>
              </a:p>
            </p:txBody>
          </p:sp>
          <p:sp>
            <p:nvSpPr>
              <p:cNvPr id="21" name="Body-1">
                <a:extLst>
                  <a:ext uri="{FF2B5EF4-FFF2-40B4-BE49-F238E27FC236}">
                    <a16:creationId xmlns:a16="http://schemas.microsoft.com/office/drawing/2014/main" id="{C7FEE474-26AC-F329-094C-8A1061AD1280}"/>
                  </a:ext>
                </a:extLst>
              </p:cNvPr>
              <p:cNvSpPr>
                <a:spLocks/>
              </p:cNvSpPr>
              <p:nvPr>
                <p:custDataLst>
                  <p:tags r:id="rId9"/>
                </p:custDataLst>
              </p:nvPr>
            </p:nvSpPr>
            <p:spPr>
              <a:xfrm>
                <a:off x="1435071" y="1881450"/>
                <a:ext cx="3992530" cy="272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lang="zh-CN" altLang="en-US" sz="1400" dirty="0">
                    <a:solidFill>
                      <a:schemeClr val="tx1">
                        <a:lumMod val="85000"/>
                      </a:schemeClr>
                    </a:solidFill>
                    <a:latin typeface="+mn-ea"/>
                  </a:rPr>
                  <a:t>全球花了</a:t>
                </a:r>
                <a:r>
                  <a:rPr kumimoji="0" lang="zh-CN" altLang="en-US" sz="2000" b="1" i="0" u="none" strike="noStrike" kern="1200" cap="none" spc="0" normalizeH="0" baseline="0" noProof="0" dirty="0">
                    <a:ln>
                      <a:noFill/>
                    </a:ln>
                    <a:solidFill>
                      <a:srgbClr val="00D4FF"/>
                    </a:solidFill>
                    <a:effectLst/>
                    <a:uLnTx/>
                    <a:uFillTx/>
                    <a:latin typeface="+mn-ea"/>
                    <a:cs typeface="+mn-cs"/>
                  </a:rPr>
                  <a:t>几百亿美元</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买</a:t>
                </a:r>
                <a:r>
                  <a:rPr kumimoji="0" lang="en-US" altLang="zh-CN" sz="1600" i="0" u="none" strike="noStrike" kern="1200" cap="none" spc="0" normalizeH="0" baseline="0" noProof="0" dirty="0">
                    <a:ln>
                      <a:noFill/>
                    </a:ln>
                    <a:solidFill>
                      <a:schemeClr val="tx1">
                        <a:lumMod val="85000"/>
                      </a:schemeClr>
                    </a:solidFill>
                    <a:effectLst/>
                    <a:uLnTx/>
                    <a:uFillTx/>
                    <a:latin typeface="+mn-ea"/>
                    <a:cs typeface="+mn-cs"/>
                  </a:rPr>
                  <a:t>ERP/SCM</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，请</a:t>
                </a:r>
                <a:r>
                  <a:rPr kumimoji="0" lang="zh-CN" altLang="en-US" sz="2000" b="1" i="0" u="none" strike="noStrike" kern="1200" cap="none" spc="0" normalizeH="0" baseline="0" noProof="0" dirty="0">
                    <a:ln>
                      <a:noFill/>
                    </a:ln>
                    <a:solidFill>
                      <a:srgbClr val="00D4FF"/>
                    </a:solidFill>
                    <a:effectLst/>
                    <a:uLnTx/>
                    <a:uFillTx/>
                    <a:latin typeface="+mn-ea"/>
                    <a:cs typeface="+mn-cs"/>
                  </a:rPr>
                  <a:t>最贵</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咨询团队画流程图</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系统上线，</a:t>
                </a:r>
                <a:r>
                  <a:rPr kumimoji="0" lang="zh-CN" altLang="en-US" sz="2000" b="1" i="0" u="none" strike="noStrike" kern="1200" cap="none" spc="0" normalizeH="0" baseline="0" noProof="0" dirty="0">
                    <a:ln>
                      <a:noFill/>
                    </a:ln>
                    <a:solidFill>
                      <a:srgbClr val="00D4FF"/>
                    </a:solidFill>
                    <a:effectLst/>
                    <a:uLnTx/>
                    <a:uFillTx/>
                    <a:latin typeface="+mn-ea"/>
                    <a:cs typeface="+mn-cs"/>
                  </a:rPr>
                  <a:t>庆功</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会开，红酒碰，所有人升职加薪</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业务和咨询公司画流程图，</a:t>
                </a:r>
                <a:r>
                  <a:rPr kumimoji="0" lang="en-US" altLang="zh-CN" sz="1600" i="0" u="none" strike="noStrike" kern="1200" cap="none" spc="0" normalizeH="0" baseline="0" noProof="0" dirty="0">
                    <a:ln>
                      <a:noFill/>
                    </a:ln>
                    <a:solidFill>
                      <a:schemeClr val="tx1">
                        <a:lumMod val="85000"/>
                      </a:schemeClr>
                    </a:solidFill>
                    <a:effectLst/>
                    <a:uLnTx/>
                    <a:uFillTx/>
                    <a:latin typeface="+mn-ea"/>
                    <a:cs typeface="+mn-cs"/>
                  </a:rPr>
                  <a:t>IT</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配置系统写代码，架构画框架，顾问讲方法论</a:t>
                </a:r>
                <a:r>
                  <a:rPr lang="zh-CN" altLang="en-US" sz="1600" dirty="0">
                    <a:solidFill>
                      <a:schemeClr val="tx1">
                        <a:lumMod val="85000"/>
                      </a:schemeClr>
                    </a:solidFill>
                    <a:latin typeface="+mn-ea"/>
                  </a:rPr>
                  <a:t>来</a:t>
                </a:r>
                <a:r>
                  <a:rPr lang="zh-CN" altLang="en-US" sz="2000" b="1" dirty="0">
                    <a:solidFill>
                      <a:srgbClr val="00D4FF"/>
                    </a:solidFill>
                    <a:latin typeface="+mn-ea"/>
                  </a:rPr>
                  <a:t>协作。</a:t>
                </a:r>
                <a:endParaRPr kumimoji="0" lang="zh-CN" altLang="en-US" sz="1600" b="1" i="0" u="none" strike="noStrike" kern="1200" cap="none" spc="0" normalizeH="0" baseline="0" noProof="0" dirty="0">
                  <a:ln>
                    <a:noFill/>
                  </a:ln>
                  <a:solidFill>
                    <a:srgbClr val="00D4FF"/>
                  </a:solidFill>
                  <a:effectLst/>
                  <a:uLnTx/>
                  <a:uFillTx/>
                  <a:latin typeface="+mn-ea"/>
                  <a:cs typeface="+mn-cs"/>
                </a:endParaRP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2000" b="1" i="0" u="none" strike="noStrike" kern="1200" cap="none" spc="0" normalizeH="0" baseline="0" noProof="0" dirty="0">
                    <a:ln>
                      <a:noFill/>
                    </a:ln>
                    <a:solidFill>
                      <a:srgbClr val="00D4FF"/>
                    </a:solidFill>
                    <a:effectLst/>
                    <a:uLnTx/>
                    <a:uFillTx/>
                    <a:latin typeface="+mn-ea"/>
                    <a:cs typeface="+mn-cs"/>
                  </a:rPr>
                  <a:t>控制塔</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大屏图表</a:t>
                </a:r>
                <a:r>
                  <a:rPr kumimoji="0" lang="zh-CN" altLang="en-US" sz="2000" b="1" i="0" u="none" strike="noStrike" kern="1200" cap="none" spc="0" normalizeH="0" baseline="0" noProof="0" dirty="0">
                    <a:ln>
                      <a:noFill/>
                    </a:ln>
                    <a:solidFill>
                      <a:srgbClr val="00D4FF"/>
                    </a:solidFill>
                    <a:effectLst/>
                    <a:uLnTx/>
                    <a:uFillTx/>
                    <a:latin typeface="+mn-ea"/>
                    <a:cs typeface="+mn-cs"/>
                  </a:rPr>
                  <a:t>漂亮</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，每个部门</a:t>
                </a:r>
                <a:r>
                  <a:rPr kumimoji="0" lang="en-US" altLang="zh-CN" sz="1600" i="0" u="none" strike="noStrike" kern="1200" cap="none" spc="0" normalizeH="0" baseline="0" noProof="0" dirty="0">
                    <a:ln>
                      <a:noFill/>
                    </a:ln>
                    <a:solidFill>
                      <a:schemeClr val="tx1">
                        <a:lumMod val="85000"/>
                      </a:schemeClr>
                    </a:solidFill>
                    <a:effectLst/>
                    <a:uLnTx/>
                    <a:uFillTx/>
                    <a:latin typeface="+mn-ea"/>
                    <a:cs typeface="+mn-cs"/>
                  </a:rPr>
                  <a:t>KPI</a:t>
                </a: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都是绿的，甚至很漂亮</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600" i="0" u="none" strike="noStrike" kern="1200" cap="none" spc="0" normalizeH="0" baseline="0" noProof="0" dirty="0">
                    <a:ln>
                      <a:noFill/>
                    </a:ln>
                    <a:solidFill>
                      <a:schemeClr val="tx1">
                        <a:lumMod val="85000"/>
                      </a:schemeClr>
                    </a:solidFill>
                    <a:effectLst/>
                    <a:uLnTx/>
                    <a:uFillTx/>
                    <a:latin typeface="+mn-ea"/>
                    <a:cs typeface="+mn-cs"/>
                  </a:rPr>
                  <a:t>战略规划</a:t>
                </a:r>
                <a:r>
                  <a:rPr kumimoji="0" lang="en-US" altLang="zh-CN" sz="2000" b="1" i="0" u="none" strike="noStrike" kern="1200" cap="none" spc="0" normalizeH="0" baseline="0" noProof="0" dirty="0">
                    <a:ln>
                      <a:noFill/>
                    </a:ln>
                    <a:solidFill>
                      <a:srgbClr val="00D4FF"/>
                    </a:solidFill>
                    <a:effectLst/>
                    <a:uLnTx/>
                    <a:uFillTx/>
                    <a:latin typeface="+mn-ea"/>
                    <a:cs typeface="+mn-cs"/>
                  </a:rPr>
                  <a:t>PPT</a:t>
                </a:r>
                <a:r>
                  <a:rPr kumimoji="0" lang="zh-CN" altLang="en-US" sz="2000" b="1" i="0" u="none" strike="noStrike" kern="1200" cap="none" spc="0" normalizeH="0" baseline="0" noProof="0" dirty="0">
                    <a:ln>
                      <a:noFill/>
                    </a:ln>
                    <a:solidFill>
                      <a:srgbClr val="00D4FF"/>
                    </a:solidFill>
                    <a:effectLst/>
                    <a:uLnTx/>
                    <a:uFillTx/>
                    <a:latin typeface="+mn-ea"/>
                    <a:cs typeface="+mn-cs"/>
                  </a:rPr>
                  <a:t>漂漂亮亮</a:t>
                </a:r>
                <a:endParaRPr kumimoji="0" lang="en-GB" altLang="zh-CN" sz="1600" b="1" i="0" u="none" strike="noStrike" kern="1200" cap="none" spc="0" normalizeH="0" baseline="0" noProof="0" dirty="0">
                  <a:ln>
                    <a:noFill/>
                  </a:ln>
                  <a:solidFill>
                    <a:srgbClr val="00D4FF"/>
                  </a:solidFill>
                  <a:effectLst/>
                  <a:uLnTx/>
                  <a:uFillTx/>
                  <a:latin typeface="+mn-ea"/>
                  <a:cs typeface="+mn-cs"/>
                </a:endParaRPr>
              </a:p>
            </p:txBody>
          </p:sp>
        </p:grpSp>
        <p:grpSp>
          <p:nvGrpSpPr>
            <p:cNvPr id="13" name="组合 12">
              <a:extLst>
                <a:ext uri="{FF2B5EF4-FFF2-40B4-BE49-F238E27FC236}">
                  <a16:creationId xmlns:a16="http://schemas.microsoft.com/office/drawing/2014/main" id="{6179D7CB-978F-1864-2B3A-3CDEECDCB3AF}"/>
                </a:ext>
              </a:extLst>
            </p:cNvPr>
            <p:cNvGrpSpPr/>
            <p:nvPr/>
          </p:nvGrpSpPr>
          <p:grpSpPr>
            <a:xfrm>
              <a:off x="6542161" y="1660841"/>
              <a:ext cx="4589493" cy="3132697"/>
              <a:chOff x="6542161" y="1660841"/>
              <a:chExt cx="4589493" cy="3132697"/>
            </a:xfrm>
          </p:grpSpPr>
          <p:sp>
            <p:nvSpPr>
              <p:cNvPr id="14" name="2">
                <a:extLst>
                  <a:ext uri="{FF2B5EF4-FFF2-40B4-BE49-F238E27FC236}">
                    <a16:creationId xmlns:a16="http://schemas.microsoft.com/office/drawing/2014/main" id="{5AEDC058-5A88-26FD-3DE7-19FADC518B57}"/>
                  </a:ext>
                </a:extLst>
              </p:cNvPr>
              <p:cNvSpPr/>
              <p:nvPr>
                <p:custDataLst>
                  <p:tags r:id="rId2"/>
                </p:custDataLst>
              </p:nvPr>
            </p:nvSpPr>
            <p:spPr>
              <a:xfrm>
                <a:off x="6738372" y="1795470"/>
                <a:ext cx="4393282" cy="2998068"/>
              </a:xfrm>
              <a:prstGeom prst="roundRect">
                <a:avLst>
                  <a:gd name="adj" fmla="val 740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latin typeface="+mn-ea"/>
                </a:endParaRPr>
              </a:p>
            </p:txBody>
          </p:sp>
          <p:sp>
            <p:nvSpPr>
              <p:cNvPr id="15" name="2">
                <a:extLst>
                  <a:ext uri="{FF2B5EF4-FFF2-40B4-BE49-F238E27FC236}">
                    <a16:creationId xmlns:a16="http://schemas.microsoft.com/office/drawing/2014/main" id="{C5120911-77EA-4F8A-5C7F-49C788A999D3}"/>
                  </a:ext>
                </a:extLst>
              </p:cNvPr>
              <p:cNvSpPr/>
              <p:nvPr>
                <p:custDataLst>
                  <p:tags r:id="rId3"/>
                </p:custDataLst>
              </p:nvPr>
            </p:nvSpPr>
            <p:spPr>
              <a:xfrm>
                <a:off x="6610246" y="1660841"/>
                <a:ext cx="2269409" cy="341868"/>
              </a:xfrm>
              <a:prstGeom prst="round2DiagRect">
                <a:avLst>
                  <a:gd name="adj1" fmla="val 50000"/>
                  <a:gd name="adj2" fmla="val 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latin typeface="+mn-ea"/>
                </a:endParaRPr>
              </a:p>
            </p:txBody>
          </p:sp>
          <p:sp>
            <p:nvSpPr>
              <p:cNvPr id="16" name="Title-2">
                <a:extLst>
                  <a:ext uri="{FF2B5EF4-FFF2-40B4-BE49-F238E27FC236}">
                    <a16:creationId xmlns:a16="http://schemas.microsoft.com/office/drawing/2014/main" id="{84D5A76A-23CB-67D6-F9D1-861709F9E63D}"/>
                  </a:ext>
                </a:extLst>
              </p:cNvPr>
              <p:cNvSpPr txBox="1"/>
              <p:nvPr>
                <p:custDataLst>
                  <p:tags r:id="rId4"/>
                </p:custDataLst>
              </p:nvPr>
            </p:nvSpPr>
            <p:spPr>
              <a:xfrm>
                <a:off x="6738372" y="1695131"/>
                <a:ext cx="2141283" cy="369332"/>
              </a:xfrm>
              <a:prstGeom prst="rect">
                <a:avLst/>
              </a:prstGeom>
              <a:noFill/>
            </p:spPr>
            <p:txBody>
              <a:bodyPr wrap="square" rtlCol="0">
                <a:noAutofit/>
              </a:bodyPr>
              <a:lstStyle/>
              <a:p>
                <a:r>
                  <a:rPr lang="zh-CN" altLang="zh-CN" sz="1800" b="1" i="0" kern="1200" dirty="0">
                    <a:latin typeface="+mn-ea"/>
                  </a:rPr>
                  <a:t>全局崩塌</a:t>
                </a:r>
                <a:endParaRPr lang="zh-CN" altLang="en-US" b="1" dirty="0">
                  <a:latin typeface="+mn-ea"/>
                </a:endParaRPr>
              </a:p>
            </p:txBody>
          </p:sp>
          <p:sp>
            <p:nvSpPr>
              <p:cNvPr id="17" name="Body-2">
                <a:extLst>
                  <a:ext uri="{FF2B5EF4-FFF2-40B4-BE49-F238E27FC236}">
                    <a16:creationId xmlns:a16="http://schemas.microsoft.com/office/drawing/2014/main" id="{F5074DB9-D1EC-FCF2-5075-EFA281F83552}"/>
                  </a:ext>
                </a:extLst>
              </p:cNvPr>
              <p:cNvSpPr>
                <a:spLocks/>
              </p:cNvSpPr>
              <p:nvPr>
                <p:custDataLst>
                  <p:tags r:id="rId5"/>
                </p:custDataLst>
              </p:nvPr>
            </p:nvSpPr>
            <p:spPr>
              <a:xfrm>
                <a:off x="6542161" y="1952395"/>
                <a:ext cx="4393282" cy="272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1">
                  <a:buChar char="•"/>
                </a:pPr>
                <a:r>
                  <a:rPr lang="zh-CN" altLang="en-US" b="0" i="0" dirty="0">
                    <a:solidFill>
                      <a:schemeClr val="tx1"/>
                    </a:solidFill>
                    <a:latin typeface="+mn-ea"/>
                  </a:rPr>
                  <a:t>工厂依然</a:t>
                </a:r>
                <a:r>
                  <a:rPr lang="zh-CN" altLang="zh-CN" b="0" i="0" dirty="0">
                    <a:solidFill>
                      <a:schemeClr val="tx1"/>
                    </a:solidFill>
                    <a:latin typeface="+mn-ea"/>
                  </a:rPr>
                  <a:t>退回</a:t>
                </a:r>
                <a:r>
                  <a:rPr lang="en-US" altLang="zh-CN" b="0" i="0" dirty="0">
                    <a:solidFill>
                      <a:schemeClr val="tx1"/>
                    </a:solidFill>
                    <a:latin typeface="+mn-ea"/>
                  </a:rPr>
                  <a:t>Excel</a:t>
                </a:r>
                <a:r>
                  <a:rPr lang="zh-CN" altLang="zh-CN" sz="2000" b="1" i="0" dirty="0">
                    <a:solidFill>
                      <a:srgbClr val="C00000"/>
                    </a:solidFill>
                    <a:latin typeface="+mn-ea"/>
                  </a:rPr>
                  <a:t>手工对账</a:t>
                </a:r>
                <a:endParaRPr lang="en-US" altLang="zh-CN" b="1" i="0" dirty="0">
                  <a:solidFill>
                    <a:srgbClr val="C00000"/>
                  </a:solidFill>
                  <a:latin typeface="+mn-ea"/>
                </a:endParaRPr>
              </a:p>
              <a:p>
                <a:pPr marL="742950" lvl="1" indent="-285750">
                  <a:buFont typeface="Arial" panose="020B0604020202020204" pitchFamily="34" charset="0"/>
                  <a:buChar char="•"/>
                </a:pPr>
                <a:endParaRPr lang="zh-CN" altLang="zh-CN" dirty="0">
                  <a:solidFill>
                    <a:srgbClr val="C00000"/>
                  </a:solidFill>
                  <a:latin typeface="+mn-ea"/>
                </a:endParaRPr>
              </a:p>
              <a:p>
                <a:pPr lvl="1">
                  <a:buChar char="•"/>
                </a:pPr>
                <a:endParaRPr lang="en-US" altLang="zh-CN" b="0" i="0" dirty="0">
                  <a:solidFill>
                    <a:srgbClr val="C00000"/>
                  </a:solidFill>
                  <a:latin typeface="+mn-ea"/>
                </a:endParaRPr>
              </a:p>
              <a:p>
                <a:pPr lvl="1">
                  <a:buChar char="•"/>
                </a:pPr>
                <a:r>
                  <a:rPr lang="zh-CN" altLang="en-US" b="0" i="0" dirty="0">
                    <a:solidFill>
                      <a:schemeClr val="tx1"/>
                    </a:solidFill>
                    <a:latin typeface="+mn-ea"/>
                  </a:rPr>
                  <a:t>那套系统依然躺在服务器里，</a:t>
                </a:r>
                <a:r>
                  <a:rPr lang="zh-CN" altLang="en-US" sz="2000" b="1" i="0" dirty="0">
                    <a:solidFill>
                      <a:srgbClr val="C00000"/>
                    </a:solidFill>
                    <a:latin typeface="+mn-ea"/>
                  </a:rPr>
                  <a:t>跑不出来</a:t>
                </a:r>
                <a:endParaRPr lang="en-US" altLang="zh-CN" b="1" i="0" dirty="0">
                  <a:solidFill>
                    <a:srgbClr val="C00000"/>
                  </a:solidFill>
                  <a:latin typeface="+mn-ea"/>
                </a:endParaRPr>
              </a:p>
              <a:p>
                <a:pPr lvl="1">
                  <a:buChar char="•"/>
                </a:pPr>
                <a:endParaRPr lang="zh-CN" altLang="en-US" dirty="0">
                  <a:solidFill>
                    <a:srgbClr val="C00000"/>
                  </a:solidFill>
                  <a:latin typeface="+mn-ea"/>
                </a:endParaRPr>
              </a:p>
              <a:p>
                <a:pPr lvl="1"/>
                <a:endParaRPr lang="en-US" altLang="zh-CN" b="0" i="0" dirty="0">
                  <a:solidFill>
                    <a:srgbClr val="C00000"/>
                  </a:solidFill>
                  <a:latin typeface="+mn-ea"/>
                </a:endParaRPr>
              </a:p>
              <a:p>
                <a:pPr lvl="1">
                  <a:buChar char="•"/>
                </a:pPr>
                <a:r>
                  <a:rPr lang="zh-CN" altLang="en-US" b="0" i="0" dirty="0">
                    <a:solidFill>
                      <a:schemeClr val="tx1"/>
                    </a:solidFill>
                    <a:latin typeface="+mn-ea"/>
                  </a:rPr>
                  <a:t>最后，</a:t>
                </a:r>
                <a:r>
                  <a:rPr lang="zh-CN" altLang="en-US" sz="2000" b="1" i="0" dirty="0">
                    <a:solidFill>
                      <a:srgbClr val="C00000"/>
                    </a:solidFill>
                    <a:latin typeface="+mn-ea"/>
                  </a:rPr>
                  <a:t>互相甩锅</a:t>
                </a:r>
                <a:endParaRPr lang="en-US" altLang="zh-CN" b="1" dirty="0">
                  <a:solidFill>
                    <a:srgbClr val="C00000"/>
                  </a:solidFill>
                  <a:latin typeface="+mn-ea"/>
                </a:endParaRPr>
              </a:p>
              <a:p>
                <a:pPr lvl="1">
                  <a:buChar char="•"/>
                </a:pPr>
                <a:endParaRPr lang="en-US" altLang="zh-CN" b="0" i="0" dirty="0">
                  <a:solidFill>
                    <a:srgbClr val="C00000"/>
                  </a:solidFill>
                  <a:latin typeface="+mn-ea"/>
                </a:endParaRPr>
              </a:p>
              <a:p>
                <a:pPr lvl="1">
                  <a:buChar char="•"/>
                </a:pPr>
                <a:r>
                  <a:rPr lang="zh-CN" altLang="en-US" b="0" i="0" dirty="0">
                    <a:solidFill>
                      <a:schemeClr val="tx1"/>
                    </a:solidFill>
                    <a:latin typeface="+mn-ea"/>
                  </a:rPr>
                  <a:t>但预测、归因、权衡方案全是</a:t>
                </a:r>
                <a:r>
                  <a:rPr lang="zh-CN" altLang="en-US" sz="2000" b="1" i="0" dirty="0">
                    <a:solidFill>
                      <a:srgbClr val="C00000"/>
                    </a:solidFill>
                    <a:latin typeface="+mn-ea"/>
                  </a:rPr>
                  <a:t>人填</a:t>
                </a:r>
                <a:endParaRPr lang="en-US" altLang="zh-CN" b="1" i="0" dirty="0">
                  <a:solidFill>
                    <a:srgbClr val="C00000"/>
                  </a:solidFill>
                  <a:latin typeface="+mn-ea"/>
                </a:endParaRPr>
              </a:p>
              <a:p>
                <a:pPr marL="742950" lvl="1" indent="-285750">
                  <a:buFont typeface="Arial" panose="020B0604020202020204" pitchFamily="34" charset="0"/>
                  <a:buChar char="•"/>
                </a:pPr>
                <a:endParaRPr lang="zh-CN" altLang="en-US" dirty="0">
                  <a:solidFill>
                    <a:srgbClr val="C00000"/>
                  </a:solidFill>
                  <a:latin typeface="+mn-ea"/>
                </a:endParaRPr>
              </a:p>
              <a:p>
                <a:pPr lvl="1">
                  <a:buChar char="•"/>
                </a:pPr>
                <a:r>
                  <a:rPr lang="zh-CN" altLang="en-US" b="0" i="0" dirty="0">
                    <a:solidFill>
                      <a:schemeClr val="tx1"/>
                    </a:solidFill>
                    <a:latin typeface="+mn-ea"/>
                  </a:rPr>
                  <a:t>执行端以“停产”“违约”</a:t>
                </a:r>
                <a:r>
                  <a:rPr lang="zh-CN" altLang="en-US" sz="2000" b="1" i="0" dirty="0">
                    <a:solidFill>
                      <a:srgbClr val="C00000"/>
                    </a:solidFill>
                    <a:latin typeface="+mn-ea"/>
                  </a:rPr>
                  <a:t>炸出来</a:t>
                </a:r>
                <a:endParaRPr lang="zh-CN" altLang="en-US" b="1" dirty="0">
                  <a:solidFill>
                    <a:srgbClr val="C00000"/>
                  </a:solidFill>
                  <a:latin typeface="+mn-ea"/>
                </a:endParaRPr>
              </a:p>
            </p:txBody>
          </p:sp>
        </p:grpSp>
      </p:grpSp>
      <p:graphicFrame>
        <p:nvGraphicFramePr>
          <p:cNvPr id="23" name="图示 22">
            <a:extLst>
              <a:ext uri="{FF2B5EF4-FFF2-40B4-BE49-F238E27FC236}">
                <a16:creationId xmlns:a16="http://schemas.microsoft.com/office/drawing/2014/main" id="{5016BBB3-5C13-3826-8E54-4789EA0E1240}"/>
              </a:ext>
            </a:extLst>
          </p:cNvPr>
          <p:cNvGraphicFramePr/>
          <p:nvPr>
            <p:extLst>
              <p:ext uri="{D42A27DB-BD31-4B8C-83A1-F6EECF244321}">
                <p14:modId xmlns:p14="http://schemas.microsoft.com/office/powerpoint/2010/main" val="1891582076"/>
              </p:ext>
            </p:extLst>
          </p:nvPr>
        </p:nvGraphicFramePr>
        <p:xfrm>
          <a:off x="825329" y="633734"/>
          <a:ext cx="11192161" cy="145869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24" name="文本框 23">
            <a:extLst>
              <a:ext uri="{FF2B5EF4-FFF2-40B4-BE49-F238E27FC236}">
                <a16:creationId xmlns:a16="http://schemas.microsoft.com/office/drawing/2014/main" id="{6502267A-F3E9-B468-E7DC-664387515BD4}"/>
              </a:ext>
            </a:extLst>
          </p:cNvPr>
          <p:cNvSpPr txBox="1"/>
          <p:nvPr/>
        </p:nvSpPr>
        <p:spPr>
          <a:xfrm>
            <a:off x="2948959" y="5977185"/>
            <a:ext cx="7090572" cy="830997"/>
          </a:xfrm>
          <a:prstGeom prst="rect">
            <a:avLst/>
          </a:prstGeom>
          <a:noFill/>
        </p:spPr>
        <p:txBody>
          <a:bodyPr wrap="square" rtlCol="0">
            <a:spAutoFit/>
          </a:bodyPr>
          <a:lstStyle/>
          <a:p>
            <a:r>
              <a:rPr lang="zh-CN" altLang="en-US" sz="2400" b="1" dirty="0">
                <a:solidFill>
                  <a:srgbClr val="00D4FF"/>
                </a:solidFill>
                <a:latin typeface="+mn-ea"/>
              </a:rPr>
              <a:t>几十年来</a:t>
            </a:r>
            <a:r>
              <a:rPr lang="zh-CN" altLang="en-US" dirty="0">
                <a:latin typeface="+mn-ea"/>
              </a:rPr>
              <a:t>，技术、概念层出不穷。</a:t>
            </a:r>
            <a:endParaRPr lang="en-US" altLang="zh-CN" dirty="0">
              <a:latin typeface="+mn-ea"/>
            </a:endParaRPr>
          </a:p>
          <a:p>
            <a:r>
              <a:rPr lang="zh-CN" altLang="en-US" dirty="0">
                <a:latin typeface="+mn-ea"/>
              </a:rPr>
              <a:t>然而，银弹一直没有出现，价值链管理还在</a:t>
            </a:r>
            <a:r>
              <a:rPr lang="zh-CN" altLang="en-US" sz="2400" b="1" dirty="0">
                <a:solidFill>
                  <a:srgbClr val="00D4FF"/>
                </a:solidFill>
                <a:latin typeface="+mn-ea"/>
              </a:rPr>
              <a:t>原地转圈圈</a:t>
            </a:r>
            <a:r>
              <a:rPr lang="zh-CN" altLang="en-US" dirty="0">
                <a:latin typeface="+mn-ea"/>
              </a:rPr>
              <a:t>。</a:t>
            </a:r>
          </a:p>
        </p:txBody>
      </p:sp>
    </p:spTree>
    <p:extLst>
      <p:ext uri="{BB962C8B-B14F-4D97-AF65-F5344CB8AC3E}">
        <p14:creationId xmlns:p14="http://schemas.microsoft.com/office/powerpoint/2010/main" val="220598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586F1-8686-52EA-8937-6C7660C34E33}"/>
              </a:ext>
            </a:extLst>
          </p:cNvPr>
          <p:cNvSpPr>
            <a:spLocks noGrp="1"/>
          </p:cNvSpPr>
          <p:nvPr>
            <p:ph type="title"/>
          </p:nvPr>
        </p:nvSpPr>
        <p:spPr/>
        <p:txBody>
          <a:bodyPr/>
          <a:lstStyle/>
          <a:p>
            <a:r>
              <a:rPr lang="zh-CN" altLang="en-US" sz="2800" dirty="0">
                <a:solidFill>
                  <a:srgbClr val="00D4FF"/>
                </a:solidFill>
                <a:latin typeface="+mn-ea"/>
                <a:ea typeface="+mn-ea"/>
              </a:rPr>
              <a:t>彼岸可达</a:t>
            </a:r>
            <a:r>
              <a:rPr lang="en-US" altLang="zh-CN" dirty="0">
                <a:latin typeface="+mn-ea"/>
                <a:ea typeface="+mn-ea"/>
              </a:rPr>
              <a:t>——</a:t>
            </a:r>
            <a:r>
              <a:rPr lang="zh-CN" altLang="en-US" dirty="0">
                <a:latin typeface="+mn-ea"/>
                <a:ea typeface="+mn-ea"/>
              </a:rPr>
              <a:t>联想及其</a:t>
            </a:r>
            <a:r>
              <a:rPr lang="en-US" altLang="zh-CN" dirty="0">
                <a:latin typeface="+mn-ea"/>
                <a:ea typeface="+mn-ea"/>
              </a:rPr>
              <a:t>ODM</a:t>
            </a:r>
            <a:r>
              <a:rPr lang="zh-CN" altLang="en-US" dirty="0">
                <a:latin typeface="+mn-ea"/>
                <a:ea typeface="+mn-ea"/>
              </a:rPr>
              <a:t>的</a:t>
            </a:r>
            <a:r>
              <a:rPr lang="zh-CN" altLang="en-US" sz="2800" dirty="0">
                <a:solidFill>
                  <a:srgbClr val="00D4FF"/>
                </a:solidFill>
                <a:latin typeface="+mn-ea"/>
                <a:ea typeface="+mn-ea"/>
              </a:rPr>
              <a:t>批量实例</a:t>
            </a:r>
            <a:endParaRPr lang="zh-CN" altLang="en-US" dirty="0">
              <a:solidFill>
                <a:srgbClr val="00D4FF"/>
              </a:solidFill>
              <a:latin typeface="+mn-ea"/>
              <a:ea typeface="+mn-ea"/>
            </a:endParaRPr>
          </a:p>
        </p:txBody>
      </p:sp>
      <p:sp>
        <p:nvSpPr>
          <p:cNvPr id="74" name="1">
            <a:extLst>
              <a:ext uri="{FF2B5EF4-FFF2-40B4-BE49-F238E27FC236}">
                <a16:creationId xmlns:a16="http://schemas.microsoft.com/office/drawing/2014/main" id="{EA4F385D-5769-8441-5BCE-7AD285E37D6A}"/>
              </a:ext>
            </a:extLst>
          </p:cNvPr>
          <p:cNvSpPr/>
          <p:nvPr>
            <p:custDataLst>
              <p:tags r:id="rId1"/>
            </p:custDataLst>
          </p:nvPr>
        </p:nvSpPr>
        <p:spPr>
          <a:xfrm>
            <a:off x="991383" y="964093"/>
            <a:ext cx="4592826" cy="5506281"/>
          </a:xfrm>
          <a:prstGeom prst="roundRect">
            <a:avLst>
              <a:gd name="adj" fmla="val 8223"/>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1">
            <a:extLst>
              <a:ext uri="{FF2B5EF4-FFF2-40B4-BE49-F238E27FC236}">
                <a16:creationId xmlns:a16="http://schemas.microsoft.com/office/drawing/2014/main" id="{486F97CE-533C-6720-0BC1-C78A53CE3848}"/>
              </a:ext>
            </a:extLst>
          </p:cNvPr>
          <p:cNvSpPr/>
          <p:nvPr>
            <p:custDataLst>
              <p:tags r:id="rId2"/>
            </p:custDataLst>
          </p:nvPr>
        </p:nvSpPr>
        <p:spPr>
          <a:xfrm rot="5400000">
            <a:off x="6055086" y="3513765"/>
            <a:ext cx="628351" cy="406934"/>
          </a:xfrm>
          <a:prstGeom prst="triangle">
            <a:avLst/>
          </a:prstGeom>
          <a:solidFill>
            <a:schemeClr val="tx2">
              <a:lumMod val="50000"/>
              <a:lumOff val="50000"/>
            </a:schemeClr>
          </a:solidFill>
          <a:ln w="254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cs typeface="+mn-ea"/>
            </a:endParaRPr>
          </a:p>
        </p:txBody>
      </p:sp>
      <p:sp>
        <p:nvSpPr>
          <p:cNvPr id="76" name="Title-1">
            <a:extLst>
              <a:ext uri="{FF2B5EF4-FFF2-40B4-BE49-F238E27FC236}">
                <a16:creationId xmlns:a16="http://schemas.microsoft.com/office/drawing/2014/main" id="{10A907C3-61B3-2014-AD8E-E6903455E47E}"/>
              </a:ext>
            </a:extLst>
          </p:cNvPr>
          <p:cNvSpPr txBox="1"/>
          <p:nvPr>
            <p:custDataLst>
              <p:tags r:id="rId3"/>
            </p:custDataLst>
          </p:nvPr>
        </p:nvSpPr>
        <p:spPr>
          <a:xfrm>
            <a:off x="1003063" y="1083674"/>
            <a:ext cx="4485411" cy="640911"/>
          </a:xfrm>
          <a:prstGeom prst="rect">
            <a:avLst/>
          </a:prstGeom>
          <a:noFill/>
        </p:spPr>
        <p:txBody>
          <a:bodyPr wrap="square" rtlCol="0">
            <a:noAutofit/>
          </a:bodyPr>
          <a:lstStyle/>
          <a:p>
            <a:r>
              <a:rPr lang="en-US" altLang="zh-CN" b="1" dirty="0">
                <a:solidFill>
                  <a:srgbClr val="00D4FF"/>
                </a:solidFill>
                <a:latin typeface="Arial" panose="020B0604020202020204" pitchFamily="34" charset="0"/>
                <a:ea typeface="微软雅黑" panose="020B0503020204020204" pitchFamily="34" charset="-122"/>
              </a:rPr>
              <a:t>BTO/ATO/CTO</a:t>
            </a:r>
            <a:r>
              <a:rPr lang="zh-CN" altLang="en-US" b="1" dirty="0">
                <a:solidFill>
                  <a:schemeClr val="tx2">
                    <a:lumMod val="75000"/>
                    <a:lumOff val="25000"/>
                  </a:schemeClr>
                </a:solidFill>
                <a:latin typeface="Arial" panose="020B0604020202020204" pitchFamily="34" charset="0"/>
                <a:ea typeface="微软雅黑" panose="020B0503020204020204" pitchFamily="34" charset="-122"/>
              </a:rPr>
              <a:t>（按单生产</a:t>
            </a:r>
            <a:r>
              <a:rPr lang="en-US" altLang="zh-CN" b="1" dirty="0">
                <a:solidFill>
                  <a:schemeClr val="tx2">
                    <a:lumMod val="75000"/>
                    <a:lumOff val="25000"/>
                  </a:schemeClr>
                </a:solidFill>
                <a:latin typeface="Arial" panose="020B0604020202020204" pitchFamily="34" charset="0"/>
                <a:ea typeface="微软雅黑" panose="020B0503020204020204" pitchFamily="34" charset="-122"/>
              </a:rPr>
              <a:t>/</a:t>
            </a:r>
            <a:r>
              <a:rPr lang="zh-CN" altLang="en-US" b="1" dirty="0">
                <a:solidFill>
                  <a:schemeClr val="tx2">
                    <a:lumMod val="75000"/>
                    <a:lumOff val="25000"/>
                  </a:schemeClr>
                </a:solidFill>
                <a:latin typeface="Arial" panose="020B0604020202020204" pitchFamily="34" charset="0"/>
                <a:ea typeface="微软雅黑" panose="020B0503020204020204" pitchFamily="34" charset="-122"/>
              </a:rPr>
              <a:t>装配</a:t>
            </a:r>
            <a:r>
              <a:rPr lang="en-US" altLang="zh-CN" b="1" dirty="0">
                <a:solidFill>
                  <a:schemeClr val="tx2">
                    <a:lumMod val="75000"/>
                    <a:lumOff val="25000"/>
                  </a:schemeClr>
                </a:solidFill>
                <a:latin typeface="Arial" panose="020B0604020202020204" pitchFamily="34" charset="0"/>
                <a:ea typeface="微软雅黑" panose="020B0503020204020204" pitchFamily="34" charset="-122"/>
              </a:rPr>
              <a:t>/</a:t>
            </a:r>
            <a:r>
              <a:rPr lang="zh-CN" altLang="en-US" b="1" dirty="0">
                <a:solidFill>
                  <a:schemeClr val="tx2">
                    <a:lumMod val="75000"/>
                    <a:lumOff val="25000"/>
                  </a:schemeClr>
                </a:solidFill>
                <a:latin typeface="Arial" panose="020B0604020202020204" pitchFamily="34" charset="0"/>
                <a:ea typeface="微软雅黑" panose="020B0503020204020204" pitchFamily="34" charset="-122"/>
              </a:rPr>
              <a:t>按配置组装）模式下，</a:t>
            </a:r>
            <a:r>
              <a:rPr lang="en-US" altLang="zh-CN" sz="2000" b="1" dirty="0">
                <a:solidFill>
                  <a:srgbClr val="00D4FF"/>
                </a:solidFill>
                <a:latin typeface="Arial" panose="020B0604020202020204" pitchFamily="34" charset="0"/>
                <a:ea typeface="微软雅黑" panose="020B0503020204020204" pitchFamily="34" charset="-122"/>
              </a:rPr>
              <a:t>80%~85% </a:t>
            </a:r>
            <a:r>
              <a:rPr lang="zh-CN" altLang="en-US" sz="2000" b="1" dirty="0">
                <a:solidFill>
                  <a:srgbClr val="00D4FF"/>
                </a:solidFill>
                <a:latin typeface="Arial" panose="020B0604020202020204" pitchFamily="34" charset="0"/>
                <a:ea typeface="微软雅黑" panose="020B0503020204020204" pitchFamily="34" charset="-122"/>
              </a:rPr>
              <a:t>以上为 </a:t>
            </a:r>
            <a:r>
              <a:rPr lang="en-US" altLang="zh-CN" sz="2000" b="1" dirty="0">
                <a:solidFill>
                  <a:srgbClr val="00D4FF"/>
                </a:solidFill>
                <a:latin typeface="Arial" panose="020B0604020202020204" pitchFamily="34" charset="0"/>
                <a:ea typeface="微软雅黑" panose="020B0503020204020204" pitchFamily="34" charset="-122"/>
              </a:rPr>
              <a:t>5 </a:t>
            </a:r>
            <a:r>
              <a:rPr lang="zh-CN" altLang="en-US" sz="2000" b="1" dirty="0">
                <a:solidFill>
                  <a:srgbClr val="00D4FF"/>
                </a:solidFill>
                <a:latin typeface="Arial" panose="020B0604020202020204" pitchFamily="34" charset="0"/>
                <a:ea typeface="微软雅黑" panose="020B0503020204020204" pitchFamily="34" charset="-122"/>
              </a:rPr>
              <a:t>台</a:t>
            </a:r>
            <a:r>
              <a:rPr lang="zh-CN" altLang="en-US" b="1" dirty="0">
                <a:solidFill>
                  <a:schemeClr val="tx2">
                    <a:lumMod val="75000"/>
                    <a:lumOff val="25000"/>
                  </a:schemeClr>
                </a:solidFill>
                <a:latin typeface="Arial" panose="020B0604020202020204" pitchFamily="34" charset="0"/>
                <a:ea typeface="微软雅黑" panose="020B0503020204020204" pitchFamily="34" charset="-122"/>
              </a:rPr>
              <a:t>以下多品种、多配置、小批量的价值链模式。</a:t>
            </a:r>
          </a:p>
        </p:txBody>
      </p:sp>
      <p:sp>
        <p:nvSpPr>
          <p:cNvPr id="77" name="Body-1">
            <a:extLst>
              <a:ext uri="{FF2B5EF4-FFF2-40B4-BE49-F238E27FC236}">
                <a16:creationId xmlns:a16="http://schemas.microsoft.com/office/drawing/2014/main" id="{E6CBA4F1-1053-3958-670A-A35EA868F538}"/>
              </a:ext>
            </a:extLst>
          </p:cNvPr>
          <p:cNvSpPr>
            <a:spLocks/>
          </p:cNvSpPr>
          <p:nvPr>
            <p:custDataLst>
              <p:tags r:id="rId4"/>
            </p:custDataLst>
          </p:nvPr>
        </p:nvSpPr>
        <p:spPr>
          <a:xfrm>
            <a:off x="1120265" y="2151677"/>
            <a:ext cx="4271319" cy="27531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通过“承诺就要兑现”的刚性逻辑，利用算力化解纵向断点与横向孤岛，验证了“</a:t>
            </a:r>
            <a:r>
              <a:rPr kumimoji="0" lang="en-US"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One Plan”</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计划在业务泥潭中的可行性。</a:t>
            </a:r>
          </a:p>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1"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实现 </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95% </a:t>
            </a:r>
            <a:r>
              <a:rPr kumimoji="0" lang="zh-CN" altLang="en-US"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以上</a:t>
            </a:r>
            <a:r>
              <a:rPr kumimoji="0" lang="zh-CN" altLang="en-US" sz="1400" b="1"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的</a:t>
            </a:r>
            <a:r>
              <a:rPr kumimoji="0" lang="zh-CN" altLang="en-US"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自主决策</a:t>
            </a:r>
            <a:r>
              <a:rPr kumimoji="0" lang="zh-CN" altLang="en-US" sz="1400" b="1"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，驱动从需求感知、交期实时更新、供应商协同补货、生产计划、工单下达、调度、</a:t>
            </a:r>
            <a:r>
              <a:rPr kumimoji="0" lang="en-US" altLang="zh-CN" sz="1400" b="1"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Call</a:t>
            </a:r>
            <a:r>
              <a:rPr kumimoji="0" lang="zh-CN" altLang="en-US" sz="1400" b="1"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料到产线、到成品发货的全流程无缝运转，排除了人工干预引发的逻辑扭曲 </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极限响应：</a:t>
            </a:r>
            <a:r>
              <a:rPr kumimoji="0" lang="en-US"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48</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小时内交期应答率 </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&gt;98% </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极致交付：订单无延迟交付率达 </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95%</a:t>
            </a:r>
            <a:r>
              <a:rPr kumimoji="0" lang="en-US"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极致 </a:t>
            </a:r>
            <a:r>
              <a:rPr kumimoji="0" lang="en-US"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JIT</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82%</a:t>
            </a:r>
            <a:r>
              <a:rPr kumimoji="0" lang="en-US" altLang="zh-CN"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订单无提前发货，精准规避库存堆积 。</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资本效率：可建成库存（</a:t>
            </a:r>
            <a:r>
              <a:rPr kumimoji="0" lang="en-US"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ATB</a:t>
            </a: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a:t>
            </a:r>
            <a:r>
              <a:rPr kumimoji="0" lang="zh-CN" altLang="en-US"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周转率提升 </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15%~25%</a:t>
            </a:r>
            <a:r>
              <a:rPr kumimoji="0" lang="zh-CN" altLang="en-US"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，整体周转提升 </a:t>
            </a:r>
            <a:r>
              <a:rPr kumimoji="0" lang="en-US" altLang="zh-CN" sz="16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20%</a:t>
            </a:r>
            <a:endParaRPr kumimoji="0" lang="en-US" altLang="zh-CN" sz="14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endParaRPr>
          </a:p>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预见、原因分析、权衡方案的控制塔。</a:t>
            </a:r>
            <a:endParaRPr kumimoji="0" lang="en-GB" altLang="zh-CN" sz="14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endParaRPr>
          </a:p>
        </p:txBody>
      </p:sp>
      <p:grpSp>
        <p:nvGrpSpPr>
          <p:cNvPr id="69" name="组合 68">
            <a:extLst>
              <a:ext uri="{FF2B5EF4-FFF2-40B4-BE49-F238E27FC236}">
                <a16:creationId xmlns:a16="http://schemas.microsoft.com/office/drawing/2014/main" id="{8360A623-115C-F140-6B99-DD4850BF1946}"/>
              </a:ext>
            </a:extLst>
          </p:cNvPr>
          <p:cNvGrpSpPr/>
          <p:nvPr/>
        </p:nvGrpSpPr>
        <p:grpSpPr>
          <a:xfrm>
            <a:off x="6745186" y="964093"/>
            <a:ext cx="4625179" cy="5506279"/>
            <a:chOff x="5243994" y="1842473"/>
            <a:chExt cx="2586984" cy="3173053"/>
          </a:xfrm>
        </p:grpSpPr>
        <p:sp>
          <p:nvSpPr>
            <p:cNvPr id="70" name="2">
              <a:extLst>
                <a:ext uri="{FF2B5EF4-FFF2-40B4-BE49-F238E27FC236}">
                  <a16:creationId xmlns:a16="http://schemas.microsoft.com/office/drawing/2014/main" id="{6E0A3499-B60B-A651-F68C-53CE2FBB3044}"/>
                </a:ext>
              </a:extLst>
            </p:cNvPr>
            <p:cNvSpPr/>
            <p:nvPr>
              <p:custDataLst>
                <p:tags r:id="rId5"/>
              </p:custDataLst>
            </p:nvPr>
          </p:nvSpPr>
          <p:spPr>
            <a:xfrm>
              <a:off x="5243994" y="1842473"/>
              <a:ext cx="2586984" cy="3173053"/>
            </a:xfrm>
            <a:custGeom>
              <a:avLst/>
              <a:gdLst>
                <a:gd name="connsiteX0" fmla="*/ 194130 w 2485028"/>
                <a:gd name="connsiteY0" fmla="*/ 0 h 3572433"/>
                <a:gd name="connsiteX1" fmla="*/ 2290898 w 2485028"/>
                <a:gd name="connsiteY1" fmla="*/ 0 h 3572433"/>
                <a:gd name="connsiteX2" fmla="*/ 2485028 w 2485028"/>
                <a:gd name="connsiteY2" fmla="*/ 194130 h 3572433"/>
                <a:gd name="connsiteX3" fmla="*/ 2485028 w 2485028"/>
                <a:gd name="connsiteY3" fmla="*/ 3378303 h 3572433"/>
                <a:gd name="connsiteX4" fmla="*/ 2290898 w 2485028"/>
                <a:gd name="connsiteY4" fmla="*/ 3572433 h 3572433"/>
                <a:gd name="connsiteX5" fmla="*/ 194130 w 2485028"/>
                <a:gd name="connsiteY5" fmla="*/ 3572433 h 3572433"/>
                <a:gd name="connsiteX6" fmla="*/ 0 w 2485028"/>
                <a:gd name="connsiteY6" fmla="*/ 3378303 h 3572433"/>
                <a:gd name="connsiteX7" fmla="*/ 0 w 2485028"/>
                <a:gd name="connsiteY7" fmla="*/ 2060413 h 3572433"/>
                <a:gd name="connsiteX8" fmla="*/ 293370 w 2485028"/>
                <a:gd name="connsiteY8" fmla="*/ 1793166 h 3572433"/>
                <a:gd name="connsiteX9" fmla="*/ 0 w 2485028"/>
                <a:gd name="connsiteY9" fmla="*/ 1525919 h 3572433"/>
                <a:gd name="connsiteX10" fmla="*/ 0 w 2485028"/>
                <a:gd name="connsiteY10" fmla="*/ 194130 h 3572433"/>
                <a:gd name="connsiteX11" fmla="*/ 194130 w 2485028"/>
                <a:gd name="connsiteY11" fmla="*/ 0 h 357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5028" h="3572433">
                  <a:moveTo>
                    <a:pt x="194130" y="0"/>
                  </a:moveTo>
                  <a:lnTo>
                    <a:pt x="2290898" y="0"/>
                  </a:lnTo>
                  <a:cubicBezTo>
                    <a:pt x="2398113" y="0"/>
                    <a:pt x="2485028" y="86915"/>
                    <a:pt x="2485028" y="194130"/>
                  </a:cubicBezTo>
                  <a:lnTo>
                    <a:pt x="2485028" y="3378303"/>
                  </a:lnTo>
                  <a:cubicBezTo>
                    <a:pt x="2485028" y="3485518"/>
                    <a:pt x="2398113" y="3572433"/>
                    <a:pt x="2290898" y="3572433"/>
                  </a:cubicBezTo>
                  <a:lnTo>
                    <a:pt x="194130" y="3572433"/>
                  </a:lnTo>
                  <a:cubicBezTo>
                    <a:pt x="86915" y="3572433"/>
                    <a:pt x="0" y="3485518"/>
                    <a:pt x="0" y="3378303"/>
                  </a:cubicBezTo>
                  <a:lnTo>
                    <a:pt x="0" y="2060413"/>
                  </a:lnTo>
                  <a:lnTo>
                    <a:pt x="293370" y="1793166"/>
                  </a:lnTo>
                  <a:lnTo>
                    <a:pt x="0" y="1525919"/>
                  </a:lnTo>
                  <a:lnTo>
                    <a:pt x="0" y="194130"/>
                  </a:lnTo>
                  <a:cubicBezTo>
                    <a:pt x="0" y="86915"/>
                    <a:pt x="86915" y="0"/>
                    <a:pt x="194130" y="0"/>
                  </a:cubicBezTo>
                  <a:close/>
                </a:path>
              </a:pathLst>
            </a:cu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Title-2">
              <a:extLst>
                <a:ext uri="{FF2B5EF4-FFF2-40B4-BE49-F238E27FC236}">
                  <a16:creationId xmlns:a16="http://schemas.microsoft.com/office/drawing/2014/main" id="{D5A92454-1587-26B8-8DF2-F35063C4DBFD}"/>
                </a:ext>
              </a:extLst>
            </p:cNvPr>
            <p:cNvSpPr txBox="1"/>
            <p:nvPr>
              <p:custDataLst>
                <p:tags r:id="rId6"/>
              </p:custDataLst>
            </p:nvPr>
          </p:nvSpPr>
          <p:spPr>
            <a:xfrm>
              <a:off x="5653354" y="3001676"/>
              <a:ext cx="2061315" cy="369332"/>
            </a:xfrm>
            <a:prstGeom prst="rect">
              <a:avLst/>
            </a:prstGeom>
            <a:noFill/>
          </p:spPr>
          <p:txBody>
            <a:bodyPr wrap="square" rtlCol="0">
              <a:noAutofit/>
            </a:bodyPr>
            <a:lstStyle/>
            <a:p>
              <a:pPr marL="285750" indent="-285750">
                <a:buFont typeface="Arial" panose="020B0604020202020204" pitchFamily="34" charset="0"/>
                <a:buChar char="•"/>
              </a:pPr>
              <a:r>
                <a:rPr lang="zh-CN" altLang="en-US" b="1" dirty="0">
                  <a:latin typeface="Arial" panose="020B0604020202020204" pitchFamily="34" charset="0"/>
                  <a:ea typeface="微软雅黑" panose="020B0503020204020204" pitchFamily="34" charset="-122"/>
                </a:rPr>
                <a:t>计划</a:t>
              </a: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执行</a:t>
              </a: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反馈的闭环</a:t>
              </a:r>
              <a:endParaRPr lang="en-US" altLang="zh-CN" b="1" dirty="0">
                <a:latin typeface="Arial" panose="020B0604020202020204" pitchFamily="34" charset="0"/>
                <a:ea typeface="微软雅黑" panose="020B0503020204020204" pitchFamily="34" charset="-122"/>
              </a:endParaRPr>
            </a:p>
            <a:p>
              <a:pPr marL="285750" indent="-285750">
                <a:buFont typeface="Arial" panose="020B0604020202020204" pitchFamily="34" charset="0"/>
                <a:buChar char="•"/>
              </a:pPr>
              <a:r>
                <a:rPr lang="en-US" altLang="zh-CN" b="1" dirty="0">
                  <a:solidFill>
                    <a:schemeClr val="tx2">
                      <a:lumMod val="50000"/>
                    </a:schemeClr>
                  </a:solidFill>
                  <a:latin typeface="Arial" panose="020B0604020202020204" pitchFamily="34" charset="0"/>
                  <a:ea typeface="微软雅黑" panose="020B0503020204020204" pitchFamily="34" charset="-122"/>
                </a:rPr>
                <a:t>Gartner</a:t>
              </a:r>
              <a:r>
                <a:rPr lang="zh-CN" altLang="en-US" b="1" dirty="0">
                  <a:solidFill>
                    <a:schemeClr val="tx2">
                      <a:lumMod val="50000"/>
                    </a:schemeClr>
                  </a:solidFill>
                  <a:latin typeface="Arial" panose="020B0604020202020204" pitchFamily="34" charset="0"/>
                  <a:ea typeface="微软雅黑" panose="020B0503020204020204" pitchFamily="34" charset="-122"/>
                </a:rPr>
                <a:t>数字化成熟度最高级自主决策</a:t>
              </a:r>
              <a:endParaRPr lang="en-US" altLang="zh-CN" b="1" dirty="0">
                <a:solidFill>
                  <a:schemeClr val="tx2">
                    <a:lumMod val="50000"/>
                  </a:schemeClr>
                </a:solidFill>
                <a:latin typeface="Arial" panose="020B0604020202020204" pitchFamily="34" charset="0"/>
                <a:ea typeface="微软雅黑" panose="020B0503020204020204" pitchFamily="34" charset="-122"/>
              </a:endParaRPr>
            </a:p>
            <a:p>
              <a:pPr marL="285750" indent="-285750">
                <a:buFont typeface="Arial" panose="020B0604020202020204" pitchFamily="34" charset="0"/>
                <a:buChar char="•"/>
              </a:pPr>
              <a:r>
                <a:rPr lang="zh-CN" altLang="en-US" b="1" dirty="0">
                  <a:latin typeface="Arial" panose="020B0604020202020204" pitchFamily="34" charset="0"/>
                  <a:ea typeface="微软雅黑" panose="020B0503020204020204" pitchFamily="34" charset="-122"/>
                </a:rPr>
                <a:t>系统与复杂性科学的可计算</a:t>
              </a:r>
              <a:endParaRPr lang="en-US" altLang="zh-CN" b="1" dirty="0">
                <a:latin typeface="Arial" panose="020B0604020202020204" pitchFamily="34" charset="0"/>
                <a:ea typeface="微软雅黑" panose="020B0503020204020204" pitchFamily="34" charset="-122"/>
              </a:endParaRPr>
            </a:p>
            <a:p>
              <a:pPr marL="285750" indent="-285750">
                <a:buFont typeface="Arial" panose="020B0604020202020204" pitchFamily="34" charset="0"/>
                <a:buChar char="•"/>
              </a:pPr>
              <a:r>
                <a:rPr lang="zh-CN" altLang="en-US" b="1" dirty="0">
                  <a:solidFill>
                    <a:schemeClr val="tx2">
                      <a:lumMod val="50000"/>
                    </a:schemeClr>
                  </a:solidFill>
                  <a:latin typeface="Arial" panose="020B0604020202020204" pitchFamily="34" charset="0"/>
                  <a:ea typeface="微软雅黑" panose="020B0503020204020204" pitchFamily="34" charset="-122"/>
                </a:rPr>
                <a:t>计划和控制体系是人类要打造的最复杂的物理</a:t>
              </a:r>
              <a:r>
                <a:rPr lang="en-US" altLang="zh-CN" b="1" dirty="0">
                  <a:solidFill>
                    <a:schemeClr val="tx2">
                      <a:lumMod val="50000"/>
                    </a:schemeClr>
                  </a:solidFill>
                  <a:latin typeface="Arial" panose="020B0604020202020204" pitchFamily="34" charset="0"/>
                  <a:ea typeface="微软雅黑" panose="020B0503020204020204" pitchFamily="34" charset="-122"/>
                </a:rPr>
                <a:t>AI</a:t>
              </a:r>
              <a:r>
                <a:rPr lang="zh-CN" altLang="en-US" b="1" dirty="0">
                  <a:solidFill>
                    <a:schemeClr val="tx2">
                      <a:lumMod val="50000"/>
                    </a:schemeClr>
                  </a:solidFill>
                  <a:latin typeface="Arial" panose="020B0604020202020204" pitchFamily="34" charset="0"/>
                  <a:ea typeface="微软雅黑" panose="020B0503020204020204" pitchFamily="34" charset="-122"/>
                </a:rPr>
                <a:t>之一</a:t>
              </a:r>
            </a:p>
          </p:txBody>
        </p:sp>
      </p:grpSp>
    </p:spTree>
    <p:extLst>
      <p:ext uri="{BB962C8B-B14F-4D97-AF65-F5344CB8AC3E}">
        <p14:creationId xmlns:p14="http://schemas.microsoft.com/office/powerpoint/2010/main" val="232645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p:bldP spid="7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379C27-C57A-149B-5785-3C3FF4871D45}"/>
              </a:ext>
            </a:extLst>
          </p:cNvPr>
          <p:cNvSpPr>
            <a:spLocks noGrp="1"/>
          </p:cNvSpPr>
          <p:nvPr>
            <p:ph type="title"/>
          </p:nvPr>
        </p:nvSpPr>
        <p:spPr/>
        <p:txBody>
          <a:bodyPr/>
          <a:lstStyle/>
          <a:p>
            <a:r>
              <a:rPr lang="zh-CN" altLang="en-US" b="1" i="0" dirty="0">
                <a:effectLst/>
                <a:latin typeface="Arial" panose="020B0604020202020204" pitchFamily="34" charset="0"/>
                <a:ea typeface="微软雅黑" panose="020B0503020204020204" pitchFamily="34" charset="-122"/>
              </a:rPr>
              <a:t>为什么偏偏是联想</a:t>
            </a:r>
            <a:r>
              <a:rPr lang="zh-CN" altLang="en-US" dirty="0">
                <a:latin typeface="Arial" panose="020B0604020202020204" pitchFamily="34" charset="0"/>
                <a:ea typeface="微软雅黑" panose="020B0503020204020204" pitchFamily="34" charset="-122"/>
              </a:rPr>
              <a:t>系</a:t>
            </a:r>
            <a:r>
              <a:rPr lang="zh-CN" altLang="en-US" b="1" i="0" dirty="0">
                <a:effectLst/>
                <a:latin typeface="Arial" panose="020B0604020202020204" pitchFamily="34" charset="0"/>
                <a:ea typeface="微软雅黑" panose="020B0503020204020204" pitchFamily="34" charset="-122"/>
              </a:rPr>
              <a:t>，</a:t>
            </a:r>
            <a:r>
              <a:rPr lang="zh-CN" altLang="en-US" sz="3200" b="1" i="0" dirty="0">
                <a:solidFill>
                  <a:srgbClr val="00D4FF"/>
                </a:solidFill>
                <a:effectLst/>
                <a:latin typeface="Arial" panose="020B0604020202020204" pitchFamily="34" charset="0"/>
                <a:ea typeface="微软雅黑" panose="020B0503020204020204" pitchFamily="34" charset="-122"/>
              </a:rPr>
              <a:t>孤本</a:t>
            </a:r>
            <a:r>
              <a:rPr lang="zh-CN" altLang="en-US" b="1" i="0" dirty="0">
                <a:effectLst/>
                <a:latin typeface="Arial" panose="020B0604020202020204" pitchFamily="34" charset="0"/>
                <a:ea typeface="微软雅黑" panose="020B0503020204020204" pitchFamily="34" charset="-122"/>
              </a:rPr>
              <a:t>般把这道题解开了？</a:t>
            </a:r>
            <a:endParaRPr lang="zh-CN" altLang="en-US" dirty="0">
              <a:latin typeface="Arial" panose="020B0604020202020204" pitchFamily="34" charset="0"/>
              <a:ea typeface="微软雅黑" panose="020B0503020204020204" pitchFamily="34" charset="-122"/>
            </a:endParaRPr>
          </a:p>
        </p:txBody>
      </p:sp>
      <p:graphicFrame>
        <p:nvGraphicFramePr>
          <p:cNvPr id="18" name="图示 17">
            <a:extLst>
              <a:ext uri="{FF2B5EF4-FFF2-40B4-BE49-F238E27FC236}">
                <a16:creationId xmlns:a16="http://schemas.microsoft.com/office/drawing/2014/main" id="{15C0BCA9-22FD-6163-CA42-3A84F9CD1459}"/>
              </a:ext>
            </a:extLst>
          </p:cNvPr>
          <p:cNvGraphicFramePr/>
          <p:nvPr>
            <p:extLst>
              <p:ext uri="{D42A27DB-BD31-4B8C-83A1-F6EECF244321}">
                <p14:modId xmlns:p14="http://schemas.microsoft.com/office/powerpoint/2010/main" val="3443367762"/>
              </p:ext>
            </p:extLst>
          </p:nvPr>
        </p:nvGraphicFramePr>
        <p:xfrm>
          <a:off x="2095575" y="2133599"/>
          <a:ext cx="6945012" cy="32058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489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graphicEl>
                                              <a:dgm id="{0DFDE5A1-E632-412A-82C7-3F63FE136BE6}"/>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graphicEl>
                                              <a:dgm id="{B0350AC4-3EC0-4834-9230-26AC566BE521}"/>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graphicEl>
                                              <a:dgm id="{61583878-4506-4C29-9CCD-C4A282DD19EA}"/>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graphicEl>
                                              <a:dgm id="{F64672BA-D8F7-474D-BDC5-46CC11937B46}"/>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graphicEl>
                                              <a:dgm id="{D33F321F-75DB-463C-ADA7-BC976918136F}"/>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graphicEl>
                                              <a:dgm id="{A87A7CE8-7D2D-4C0D-9C6A-9A58D85754BF}"/>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graphicEl>
                                              <a:dgm id="{465784A9-1DDB-4DAB-8F37-0FB3F3253F7E}"/>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graphicEl>
                                              <a:dgm id="{B6667180-9CE0-4652-BF73-511CF6D79F8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2AF81-DDED-10E8-41E9-8CD89FBFCA68}"/>
              </a:ext>
            </a:extLst>
          </p:cNvPr>
          <p:cNvSpPr>
            <a:spLocks noGrp="1"/>
          </p:cNvSpPr>
          <p:nvPr>
            <p:ph type="title"/>
          </p:nvPr>
        </p:nvSpPr>
        <p:spPr/>
        <p:txBody>
          <a:bodyPr/>
          <a:lstStyle/>
          <a:p>
            <a:r>
              <a:rPr lang="zh-CN" altLang="en-US" dirty="0"/>
              <a:t>定性到定量</a:t>
            </a:r>
            <a:r>
              <a:rPr lang="en-US" altLang="zh-CN" dirty="0"/>
              <a:t>——</a:t>
            </a:r>
            <a:r>
              <a:rPr lang="zh-CN" altLang="en-US" dirty="0"/>
              <a:t>从范式到方案</a:t>
            </a:r>
          </a:p>
        </p:txBody>
      </p:sp>
      <p:graphicFrame>
        <p:nvGraphicFramePr>
          <p:cNvPr id="4" name="图示 3">
            <a:extLst>
              <a:ext uri="{FF2B5EF4-FFF2-40B4-BE49-F238E27FC236}">
                <a16:creationId xmlns:a16="http://schemas.microsoft.com/office/drawing/2014/main" id="{A34FE6D4-A469-0403-3E20-8899277ABAE5}"/>
              </a:ext>
            </a:extLst>
          </p:cNvPr>
          <p:cNvGraphicFramePr/>
          <p:nvPr>
            <p:extLst>
              <p:ext uri="{D42A27DB-BD31-4B8C-83A1-F6EECF244321}">
                <p14:modId xmlns:p14="http://schemas.microsoft.com/office/powerpoint/2010/main" val="1385407495"/>
              </p:ext>
            </p:extLst>
          </p:nvPr>
        </p:nvGraphicFramePr>
        <p:xfrm>
          <a:off x="2286783" y="2313790"/>
          <a:ext cx="6637447" cy="20089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a:extLst>
              <a:ext uri="{FF2B5EF4-FFF2-40B4-BE49-F238E27FC236}">
                <a16:creationId xmlns:a16="http://schemas.microsoft.com/office/drawing/2014/main" id="{BC0ED490-77CD-0796-45E1-9FB1F22DF002}"/>
              </a:ext>
            </a:extLst>
          </p:cNvPr>
          <p:cNvSpPr txBox="1"/>
          <p:nvPr/>
        </p:nvSpPr>
        <p:spPr>
          <a:xfrm>
            <a:off x="2212240" y="874643"/>
            <a:ext cx="8100391" cy="1015663"/>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方案和方法论，只是自洽的</a:t>
            </a:r>
            <a:r>
              <a:rPr lang="zh-CN" altLang="en-US" sz="1600" b="1" dirty="0">
                <a:solidFill>
                  <a:srgbClr val="00D4FF"/>
                </a:solidFill>
              </a:rPr>
              <a:t>“</a:t>
            </a:r>
            <a:r>
              <a:rPr lang="zh-CN" altLang="en-US" sz="2000" b="1" dirty="0">
                <a:solidFill>
                  <a:srgbClr val="00D4FF"/>
                </a:solidFill>
              </a:rPr>
              <a:t>实践</a:t>
            </a:r>
            <a:r>
              <a:rPr lang="zh-CN" altLang="en-US" sz="1600" b="1" dirty="0">
                <a:solidFill>
                  <a:srgbClr val="00D4FF"/>
                </a:solidFill>
              </a:rPr>
              <a:t>”</a:t>
            </a:r>
            <a:r>
              <a:rPr lang="zh-CN" altLang="en-US" dirty="0"/>
              <a:t>，</a:t>
            </a:r>
            <a:r>
              <a:rPr lang="zh-CN" altLang="en-US" sz="2000" b="1" dirty="0">
                <a:solidFill>
                  <a:srgbClr val="00D4FF"/>
                </a:solidFill>
              </a:rPr>
              <a:t>不能证真</a:t>
            </a:r>
            <a:r>
              <a:rPr lang="zh-CN" altLang="en-US" dirty="0"/>
              <a:t>也</a:t>
            </a:r>
            <a:r>
              <a:rPr lang="zh-CN" altLang="en-US" sz="2000" b="1" dirty="0">
                <a:solidFill>
                  <a:srgbClr val="00D4FF"/>
                </a:solidFill>
              </a:rPr>
              <a:t>不能证伪</a:t>
            </a:r>
            <a:r>
              <a:rPr lang="zh-CN" altLang="en-US" dirty="0"/>
              <a:t>。</a:t>
            </a:r>
          </a:p>
          <a:p>
            <a:pPr marL="285750" indent="-285750">
              <a:buFont typeface="Arial" panose="020B0604020202020204" pitchFamily="34" charset="0"/>
              <a:buChar char="•"/>
            </a:pPr>
            <a:r>
              <a:rPr lang="zh-CN" altLang="en-US" dirty="0"/>
              <a:t>真正值得追问的，是什么是</a:t>
            </a:r>
            <a:r>
              <a:rPr lang="zh-CN" altLang="en-US" sz="2000" b="1" dirty="0">
                <a:solidFill>
                  <a:srgbClr val="00D4FF"/>
                </a:solidFill>
              </a:rPr>
              <a:t>偶然</a:t>
            </a:r>
            <a:r>
              <a:rPr lang="zh-CN" altLang="en-US" dirty="0"/>
              <a:t>，什么是</a:t>
            </a:r>
            <a:r>
              <a:rPr lang="zh-CN" altLang="en-US" sz="2000" b="1" dirty="0">
                <a:solidFill>
                  <a:srgbClr val="00D4FF"/>
                </a:solidFill>
              </a:rPr>
              <a:t>必然</a:t>
            </a:r>
            <a:r>
              <a:rPr lang="zh-CN" altLang="en-US" dirty="0"/>
              <a:t>。</a:t>
            </a:r>
          </a:p>
          <a:p>
            <a:pPr marL="285750" indent="-285750">
              <a:buFont typeface="Arial" panose="020B0604020202020204" pitchFamily="34" charset="0"/>
              <a:buChar char="•"/>
            </a:pPr>
            <a:r>
              <a:rPr lang="zh-CN" altLang="en-US" dirty="0"/>
              <a:t>搞清楚这个，才能</a:t>
            </a:r>
            <a:r>
              <a:rPr lang="zh-CN" altLang="en-US" sz="2000" b="1" dirty="0">
                <a:solidFill>
                  <a:srgbClr val="00D4FF"/>
                </a:solidFill>
              </a:rPr>
              <a:t>可复制</a:t>
            </a:r>
            <a:r>
              <a:rPr lang="zh-CN" altLang="en-US" dirty="0"/>
              <a:t>、</a:t>
            </a:r>
            <a:r>
              <a:rPr lang="zh-CN" altLang="en-US" sz="2000" b="1" dirty="0">
                <a:solidFill>
                  <a:srgbClr val="00D4FF"/>
                </a:solidFill>
              </a:rPr>
              <a:t>可折叠周期</a:t>
            </a:r>
            <a:r>
              <a:rPr lang="zh-CN" altLang="en-US" dirty="0"/>
              <a:t>。</a:t>
            </a:r>
          </a:p>
        </p:txBody>
      </p:sp>
      <p:sp>
        <p:nvSpPr>
          <p:cNvPr id="8" name="文本框 7">
            <a:extLst>
              <a:ext uri="{FF2B5EF4-FFF2-40B4-BE49-F238E27FC236}">
                <a16:creationId xmlns:a16="http://schemas.microsoft.com/office/drawing/2014/main" id="{0EAA7EC9-472F-454D-5B9F-290817885F7A}"/>
              </a:ext>
            </a:extLst>
          </p:cNvPr>
          <p:cNvSpPr txBox="1"/>
          <p:nvPr/>
        </p:nvSpPr>
        <p:spPr>
          <a:xfrm>
            <a:off x="2286783" y="5386723"/>
            <a:ext cx="7020753" cy="830997"/>
          </a:xfrm>
          <a:prstGeom prst="rect">
            <a:avLst/>
          </a:prstGeom>
          <a:noFill/>
        </p:spPr>
        <p:txBody>
          <a:bodyPr wrap="square">
            <a:spAutoFit/>
          </a:bodyPr>
          <a:lstStyle/>
          <a:p>
            <a:r>
              <a:rPr lang="zh-CN" altLang="en-US" dirty="0"/>
              <a:t>先看</a:t>
            </a:r>
            <a:r>
              <a:rPr lang="zh-CN" altLang="en-US" sz="2400" b="1" dirty="0">
                <a:solidFill>
                  <a:srgbClr val="00D4FF"/>
                </a:solidFill>
              </a:rPr>
              <a:t>范式</a:t>
            </a:r>
            <a:r>
              <a:rPr lang="zh-CN" altLang="en-US" dirty="0"/>
              <a:t>：</a:t>
            </a:r>
            <a:r>
              <a:rPr lang="zh-CN" altLang="en-US" sz="2400" b="1" dirty="0">
                <a:solidFill>
                  <a:srgbClr val="00D4FF"/>
                </a:solidFill>
              </a:rPr>
              <a:t>重新定义问题</a:t>
            </a:r>
            <a:r>
              <a:rPr lang="zh-CN" altLang="en-US" dirty="0"/>
              <a:t>解决问题，才能打造计划与控制体系。</a:t>
            </a:r>
          </a:p>
          <a:p>
            <a:r>
              <a:rPr lang="zh-CN" altLang="en-US" dirty="0"/>
              <a:t>再看</a:t>
            </a:r>
            <a:r>
              <a:rPr lang="zh-CN" altLang="en-US" sz="2400" b="1" dirty="0">
                <a:solidFill>
                  <a:srgbClr val="00D4FF"/>
                </a:solidFill>
              </a:rPr>
              <a:t>方案</a:t>
            </a:r>
            <a:r>
              <a:rPr lang="zh-CN" altLang="en-US" dirty="0"/>
              <a:t>：如何让业务</a:t>
            </a:r>
            <a:r>
              <a:rPr lang="zh-CN" altLang="en-US" sz="2400" b="1" dirty="0">
                <a:solidFill>
                  <a:srgbClr val="00D4FF"/>
                </a:solidFill>
              </a:rPr>
              <a:t>可计算</a:t>
            </a:r>
            <a:r>
              <a:rPr lang="zh-CN" altLang="en-US" dirty="0"/>
              <a:t>，在</a:t>
            </a:r>
            <a:r>
              <a:rPr lang="zh-CN" altLang="en-US" sz="2400" b="1" dirty="0">
                <a:solidFill>
                  <a:srgbClr val="00D4FF"/>
                </a:solidFill>
              </a:rPr>
              <a:t>有限步数</a:t>
            </a:r>
            <a:r>
              <a:rPr lang="zh-CN" altLang="en-US" dirty="0"/>
              <a:t>内收敛到</a:t>
            </a:r>
            <a:r>
              <a:rPr lang="zh-CN" altLang="en-US" sz="2400" b="1" dirty="0">
                <a:solidFill>
                  <a:srgbClr val="00D4FF"/>
                </a:solidFill>
              </a:rPr>
              <a:t>最优</a:t>
            </a:r>
            <a:r>
              <a:rPr lang="zh-CN" altLang="en-US" dirty="0"/>
              <a:t>。</a:t>
            </a:r>
          </a:p>
        </p:txBody>
      </p:sp>
    </p:spTree>
    <p:extLst>
      <p:ext uri="{BB962C8B-B14F-4D97-AF65-F5344CB8AC3E}">
        <p14:creationId xmlns:p14="http://schemas.microsoft.com/office/powerpoint/2010/main" val="418230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4E50928-04D6-C5C0-B1B6-46E7CD8F4952}"/>
              </a:ext>
            </a:extLst>
          </p:cNvPr>
          <p:cNvSpPr>
            <a:spLocks noGrp="1"/>
          </p:cNvSpPr>
          <p:nvPr>
            <p:ph type="ctrTitle"/>
          </p:nvPr>
        </p:nvSpPr>
        <p:spPr>
          <a:xfrm>
            <a:off x="3954036" y="1638123"/>
            <a:ext cx="6749372" cy="2587173"/>
          </a:xfrm>
        </p:spPr>
        <p:txBody>
          <a:bodyPr>
            <a:normAutofit/>
          </a:bodyPr>
          <a:lstStyle/>
          <a:p>
            <a:r>
              <a:rPr lang="en-US" altLang="zh-CN" sz="4400" b="1" i="0" dirty="0">
                <a:solidFill>
                  <a:schemeClr val="tx1"/>
                </a:solidFill>
                <a:effectLst/>
                <a:latin typeface="Arial" panose="020B0604020202020204" pitchFamily="34" charset="0"/>
                <a:ea typeface="微软雅黑" panose="020B0503020204020204" pitchFamily="34" charset="-122"/>
              </a:rPr>
              <a:t>THE PHYSICS OF VALUE CHAIN</a:t>
            </a:r>
            <a:br>
              <a:rPr lang="en-US" altLang="zh-CN" sz="4400" b="1" i="0" dirty="0">
                <a:solidFill>
                  <a:schemeClr val="tx1"/>
                </a:solidFill>
                <a:effectLst/>
                <a:latin typeface="Arial" panose="020B0604020202020204" pitchFamily="34" charset="0"/>
                <a:ea typeface="微软雅黑" panose="020B0503020204020204" pitchFamily="34" charset="-122"/>
              </a:rPr>
            </a:br>
            <a:r>
              <a:rPr lang="zh-CN" altLang="en-US" sz="4400" dirty="0">
                <a:solidFill>
                  <a:schemeClr val="tx1"/>
                </a:solidFill>
                <a:latin typeface="Arial" panose="020B0604020202020204" pitchFamily="34" charset="0"/>
                <a:ea typeface="微软雅黑" panose="020B0503020204020204" pitchFamily="34" charset="-122"/>
              </a:rPr>
              <a:t>价值链物理学</a:t>
            </a:r>
          </a:p>
        </p:txBody>
      </p:sp>
    </p:spTree>
    <p:extLst>
      <p:ext uri="{BB962C8B-B14F-4D97-AF65-F5344CB8AC3E}">
        <p14:creationId xmlns:p14="http://schemas.microsoft.com/office/powerpoint/2010/main" val="370441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1CABDC-1AD4-D3F9-D78A-0AB90D4FBD48}"/>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问题的定义和解决</a:t>
            </a:r>
            <a:r>
              <a:rPr lang="en-US" altLang="zh-CN" dirty="0">
                <a:latin typeface="Arial" panose="020B0604020202020204" pitchFamily="34" charset="0"/>
                <a:ea typeface="微软雅黑" panose="020B0503020204020204" pitchFamily="34" charset="-122"/>
              </a:rPr>
              <a:t>——</a:t>
            </a:r>
            <a:r>
              <a:rPr lang="zh-CN" altLang="en-US" sz="2800" dirty="0">
                <a:solidFill>
                  <a:srgbClr val="00D4FF"/>
                </a:solidFill>
                <a:latin typeface="Arial" panose="020B0604020202020204" pitchFamily="34" charset="0"/>
                <a:ea typeface="微软雅黑" panose="020B0503020204020204" pitchFamily="34" charset="-122"/>
              </a:rPr>
              <a:t>范式</a:t>
            </a:r>
            <a:r>
              <a:rPr lang="zh-CN" altLang="en-US" dirty="0">
                <a:latin typeface="Arial" panose="020B0604020202020204" pitchFamily="34" charset="0"/>
                <a:ea typeface="微软雅黑" panose="020B0503020204020204" pitchFamily="34" charset="-122"/>
              </a:rPr>
              <a:t>对么？</a:t>
            </a:r>
          </a:p>
        </p:txBody>
      </p:sp>
      <p:sp>
        <p:nvSpPr>
          <p:cNvPr id="4" name="文本框 3">
            <a:extLst>
              <a:ext uri="{FF2B5EF4-FFF2-40B4-BE49-F238E27FC236}">
                <a16:creationId xmlns:a16="http://schemas.microsoft.com/office/drawing/2014/main" id="{6E611B2A-94C7-F7CA-BEBF-25BCAE0AD03A}"/>
              </a:ext>
            </a:extLst>
          </p:cNvPr>
          <p:cNvSpPr txBox="1"/>
          <p:nvPr/>
        </p:nvSpPr>
        <p:spPr>
          <a:xfrm>
            <a:off x="1404256" y="1120676"/>
            <a:ext cx="9693729" cy="4678204"/>
          </a:xfrm>
          <a:prstGeom prst="rect">
            <a:avLst/>
          </a:prstGeom>
          <a:noFill/>
        </p:spPr>
        <p:txBody>
          <a:bodyPr wrap="square">
            <a:spAutoFit/>
          </a:bodyPr>
          <a:lstStyle/>
          <a:p>
            <a:r>
              <a:rPr lang="zh-CN" altLang="en-US" sz="2000" dirty="0">
                <a:latin typeface="Arial" panose="020B0604020202020204" pitchFamily="34" charset="0"/>
                <a:ea typeface="微软雅黑" panose="020B0503020204020204" pitchFamily="34" charset="-122"/>
              </a:rPr>
              <a:t>回到原点，所有人其实都</a:t>
            </a:r>
            <a:r>
              <a:rPr lang="zh-CN" altLang="en-US" sz="2800" b="1" dirty="0">
                <a:solidFill>
                  <a:srgbClr val="00D4FF"/>
                </a:solidFill>
                <a:latin typeface="Arial" panose="020B0604020202020204" pitchFamily="34" charset="0"/>
                <a:ea typeface="微软雅黑" panose="020B0503020204020204" pitchFamily="34" charset="-122"/>
              </a:rPr>
              <a:t>没真正回答</a:t>
            </a:r>
            <a:r>
              <a:rPr lang="zh-CN" altLang="en-US" sz="2000" dirty="0">
                <a:latin typeface="Arial" panose="020B0604020202020204" pitchFamily="34" charset="0"/>
                <a:ea typeface="微软雅黑" panose="020B0503020204020204" pitchFamily="34" charset="-122"/>
              </a:rPr>
              <a:t>清楚这</a:t>
            </a:r>
            <a:r>
              <a:rPr lang="zh-CN" altLang="en-US" sz="2800" b="1" dirty="0">
                <a:solidFill>
                  <a:srgbClr val="00D4FF"/>
                </a:solidFill>
                <a:latin typeface="Arial" panose="020B0604020202020204" pitchFamily="34" charset="0"/>
                <a:ea typeface="微软雅黑" panose="020B0503020204020204" pitchFamily="34" charset="-122"/>
              </a:rPr>
              <a:t>八个问题</a:t>
            </a:r>
            <a:r>
              <a:rPr lang="zh-CN" altLang="en-US" sz="2000" b="0" i="0" dirty="0">
                <a:effectLst/>
                <a:latin typeface="Arial" panose="020B0604020202020204" pitchFamily="34" charset="0"/>
                <a:ea typeface="微软雅黑" panose="020B0503020204020204" pitchFamily="34" charset="-122"/>
              </a:rPr>
              <a:t>：</a:t>
            </a:r>
            <a:endParaRPr lang="en-US" altLang="zh-CN" sz="2000" dirty="0">
              <a:latin typeface="Arial" panose="020B0604020202020204" pitchFamily="34" charset="0"/>
              <a:ea typeface="微软雅黑" panose="020B0503020204020204" pitchFamily="34" charset="-122"/>
            </a:endParaRP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价值链管理这个业务的</a:t>
            </a:r>
            <a:r>
              <a:rPr lang="zh-CN" altLang="zh-CN" sz="2800" b="1" dirty="0">
                <a:solidFill>
                  <a:srgbClr val="00D4FF"/>
                </a:solidFill>
                <a:latin typeface="Arial" panose="020B0604020202020204" pitchFamily="34" charset="0"/>
                <a:ea typeface="微软雅黑" panose="020B0503020204020204" pitchFamily="34" charset="-122"/>
              </a:rPr>
              <a:t>目的</a:t>
            </a:r>
            <a:r>
              <a:rPr lang="zh-CN" altLang="zh-CN" sz="2000" dirty="0">
                <a:latin typeface="Arial" panose="020B0604020202020204" pitchFamily="34" charset="0"/>
                <a:ea typeface="微软雅黑" panose="020B0503020204020204" pitchFamily="34" charset="-122"/>
              </a:rPr>
              <a:t>到底是什么？</a:t>
            </a: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我们面临的核心</a:t>
            </a:r>
            <a:r>
              <a:rPr lang="zh-CN" altLang="zh-CN" sz="2800" b="1" dirty="0">
                <a:solidFill>
                  <a:srgbClr val="00D4FF"/>
                </a:solidFill>
                <a:latin typeface="Arial" panose="020B0604020202020204" pitchFamily="34" charset="0"/>
                <a:ea typeface="微软雅黑" panose="020B0503020204020204" pitchFamily="34" charset="-122"/>
              </a:rPr>
              <a:t>问题</a:t>
            </a:r>
            <a:r>
              <a:rPr lang="zh-CN" altLang="zh-CN" sz="2000" dirty="0">
                <a:latin typeface="Arial" panose="020B0604020202020204" pitchFamily="34" charset="0"/>
                <a:ea typeface="微软雅黑" panose="020B0503020204020204" pitchFamily="34" charset="-122"/>
              </a:rPr>
              <a:t>，其</a:t>
            </a:r>
            <a:r>
              <a:rPr lang="zh-CN" altLang="zh-CN" sz="2800" b="1" dirty="0">
                <a:solidFill>
                  <a:srgbClr val="00D4FF"/>
                </a:solidFill>
                <a:latin typeface="Arial" panose="020B0604020202020204" pitchFamily="34" charset="0"/>
                <a:ea typeface="微软雅黑" panose="020B0503020204020204" pitchFamily="34" charset="-122"/>
              </a:rPr>
              <a:t>本质</a:t>
            </a:r>
            <a:r>
              <a:rPr lang="zh-CN" altLang="zh-CN" sz="2000" dirty="0">
                <a:latin typeface="Arial" panose="020B0604020202020204" pitchFamily="34" charset="0"/>
                <a:ea typeface="微软雅黑" panose="020B0503020204020204" pitchFamily="34" charset="-122"/>
              </a:rPr>
              <a:t>到底是什么？</a:t>
            </a: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跨越这一客观问题的</a:t>
            </a:r>
            <a:r>
              <a:rPr lang="zh-CN" altLang="zh-CN" sz="2800" b="1" dirty="0">
                <a:solidFill>
                  <a:srgbClr val="00D4FF"/>
                </a:solidFill>
                <a:latin typeface="Arial" panose="020B0604020202020204" pitchFamily="34" charset="0"/>
                <a:ea typeface="微软雅黑" panose="020B0503020204020204" pitchFamily="34" charset="-122"/>
              </a:rPr>
              <a:t>方案</a:t>
            </a:r>
            <a:r>
              <a:rPr lang="zh-CN" altLang="en-US" sz="2800" b="1" dirty="0">
                <a:solidFill>
                  <a:srgbClr val="00D4FF"/>
                </a:solidFill>
                <a:latin typeface="Arial" panose="020B0604020202020204" pitchFamily="34" charset="0"/>
                <a:ea typeface="微软雅黑" panose="020B0503020204020204" pitchFamily="34" charset="-122"/>
              </a:rPr>
              <a:t>本质</a:t>
            </a:r>
            <a:r>
              <a:rPr lang="zh-CN" altLang="zh-CN" sz="2000" dirty="0">
                <a:latin typeface="Arial" panose="020B0604020202020204" pitchFamily="34" charset="0"/>
                <a:ea typeface="微软雅黑" panose="020B0503020204020204" pitchFamily="34" charset="-122"/>
              </a:rPr>
              <a:t>是什么？</a:t>
            </a: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产生方案的</a:t>
            </a:r>
            <a:r>
              <a:rPr lang="zh-CN" altLang="zh-CN" sz="2800" b="1" dirty="0">
                <a:solidFill>
                  <a:srgbClr val="00D4FF"/>
                </a:solidFill>
                <a:latin typeface="Arial" panose="020B0604020202020204" pitchFamily="34" charset="0"/>
                <a:ea typeface="微软雅黑" panose="020B0503020204020204" pitchFamily="34" charset="-122"/>
              </a:rPr>
              <a:t>核心能力</a:t>
            </a:r>
            <a:r>
              <a:rPr lang="zh-CN" altLang="zh-CN" sz="2000" dirty="0">
                <a:latin typeface="Arial" panose="020B0604020202020204" pitchFamily="34" charset="0"/>
                <a:ea typeface="微软雅黑" panose="020B0503020204020204" pitchFamily="34" charset="-122"/>
              </a:rPr>
              <a:t>是什么？</a:t>
            </a:r>
            <a:endParaRPr lang="en-US" altLang="zh-CN" sz="2000" dirty="0">
              <a:latin typeface="Arial" panose="020B0604020202020204" pitchFamily="34" charset="0"/>
              <a:ea typeface="微软雅黑" panose="020B0503020204020204" pitchFamily="34" charset="-122"/>
            </a:endParaRP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孕育并运转</a:t>
            </a:r>
            <a:r>
              <a:rPr lang="zh-CN" altLang="en-US" sz="2000" dirty="0">
                <a:latin typeface="Arial" panose="020B0604020202020204" pitchFamily="34" charset="0"/>
                <a:ea typeface="微软雅黑" panose="020B0503020204020204" pitchFamily="34" charset="-122"/>
              </a:rPr>
              <a:t>计划体系</a:t>
            </a:r>
            <a:r>
              <a:rPr lang="zh-CN" altLang="zh-CN" sz="2000" dirty="0">
                <a:latin typeface="Arial" panose="020B0604020202020204" pitchFamily="34" charset="0"/>
                <a:ea typeface="微软雅黑" panose="020B0503020204020204" pitchFamily="34" charset="-122"/>
              </a:rPr>
              <a:t>的</a:t>
            </a:r>
            <a:r>
              <a:rPr lang="zh-CN" altLang="zh-CN" sz="2800" b="1" dirty="0">
                <a:solidFill>
                  <a:srgbClr val="00D4FF"/>
                </a:solidFill>
                <a:latin typeface="Arial" panose="020B0604020202020204" pitchFamily="34" charset="0"/>
                <a:ea typeface="微软雅黑" panose="020B0503020204020204" pitchFamily="34" charset="-122"/>
              </a:rPr>
              <a:t>协作机制</a:t>
            </a:r>
            <a:r>
              <a:rPr lang="zh-CN" altLang="zh-CN" sz="2000" dirty="0">
                <a:latin typeface="Arial" panose="020B0604020202020204" pitchFamily="34" charset="0"/>
                <a:ea typeface="微软雅黑" panose="020B0503020204020204" pitchFamily="34" charset="-122"/>
              </a:rPr>
              <a:t>是什么？</a:t>
            </a:r>
          </a:p>
          <a:p>
            <a:pPr marL="914400" lvl="3" indent="-400050">
              <a:buFont typeface="+mj-lt"/>
              <a:buAutoNum type="arabicPeriod"/>
            </a:pPr>
            <a:r>
              <a:rPr lang="zh-CN" altLang="en-US" sz="2000" dirty="0">
                <a:latin typeface="Arial" panose="020B0604020202020204" pitchFamily="34" charset="0"/>
                <a:ea typeface="微软雅黑" panose="020B0503020204020204" pitchFamily="34" charset="-122"/>
              </a:rPr>
              <a:t>计划和控制体系</a:t>
            </a:r>
            <a:r>
              <a:rPr lang="zh-CN" altLang="zh-CN" sz="2000" dirty="0">
                <a:latin typeface="Arial" panose="020B0604020202020204" pitchFamily="34" charset="0"/>
                <a:ea typeface="微软雅黑" panose="020B0503020204020204" pitchFamily="34" charset="-122"/>
              </a:rPr>
              <a:t>落地的</a:t>
            </a:r>
            <a:r>
              <a:rPr lang="zh-CN" altLang="zh-CN" sz="2800" b="1" dirty="0">
                <a:solidFill>
                  <a:srgbClr val="00D4FF"/>
                </a:solidFill>
                <a:latin typeface="Arial" panose="020B0604020202020204" pitchFamily="34" charset="0"/>
                <a:ea typeface="微软雅黑" panose="020B0503020204020204" pitchFamily="34" charset="-122"/>
              </a:rPr>
              <a:t>路径</a:t>
            </a:r>
            <a:r>
              <a:rPr lang="zh-CN" altLang="zh-CN" sz="2000" dirty="0">
                <a:latin typeface="Arial" panose="020B0604020202020204" pitchFamily="34" charset="0"/>
                <a:ea typeface="微软雅黑" panose="020B0503020204020204" pitchFamily="34" charset="-122"/>
              </a:rPr>
              <a:t>是什么？</a:t>
            </a:r>
            <a:endParaRPr lang="en-US" altLang="zh-CN" sz="2000" dirty="0">
              <a:latin typeface="Arial" panose="020B0604020202020204" pitchFamily="34" charset="0"/>
              <a:ea typeface="微软雅黑" panose="020B0503020204020204" pitchFamily="34" charset="-122"/>
            </a:endParaRPr>
          </a:p>
          <a:p>
            <a:pPr marL="914400" lvl="3" indent="-400050">
              <a:buFont typeface="+mj-lt"/>
              <a:buAutoNum type="arabicPeriod"/>
            </a:pPr>
            <a:r>
              <a:rPr lang="zh-CN" altLang="zh-CN" sz="2000" dirty="0">
                <a:latin typeface="Arial" panose="020B0604020202020204" pitchFamily="34" charset="0"/>
                <a:ea typeface="微软雅黑" panose="020B0503020204020204" pitchFamily="34" charset="-122"/>
              </a:rPr>
              <a:t>推动</a:t>
            </a:r>
            <a:r>
              <a:rPr lang="zh-CN" altLang="en-US" sz="2000" dirty="0">
                <a:latin typeface="Arial" panose="020B0604020202020204" pitchFamily="34" charset="0"/>
                <a:ea typeface="微软雅黑" panose="020B0503020204020204" pitchFamily="34" charset="-122"/>
              </a:rPr>
              <a:t>计划和控制体系</a:t>
            </a:r>
            <a:r>
              <a:rPr lang="zh-CN" altLang="zh-CN" sz="2000" dirty="0">
                <a:latin typeface="Arial" panose="020B0604020202020204" pitchFamily="34" charset="0"/>
                <a:ea typeface="微软雅黑" panose="020B0503020204020204" pitchFamily="34" charset="-122"/>
              </a:rPr>
              <a:t>落地的</a:t>
            </a:r>
            <a:r>
              <a:rPr lang="zh-CN" altLang="en-US" sz="2800" b="1" dirty="0">
                <a:solidFill>
                  <a:srgbClr val="00D4FF"/>
                </a:solidFill>
                <a:latin typeface="Arial" panose="020B0604020202020204" pitchFamily="34" charset="0"/>
                <a:ea typeface="微软雅黑" panose="020B0503020204020204" pitchFamily="34" charset="-122"/>
              </a:rPr>
              <a:t>推动</a:t>
            </a:r>
            <a:r>
              <a:rPr lang="zh-CN" altLang="zh-CN" sz="2800" b="1" dirty="0">
                <a:solidFill>
                  <a:srgbClr val="00D4FF"/>
                </a:solidFill>
                <a:latin typeface="Arial" panose="020B0604020202020204" pitchFamily="34" charset="0"/>
                <a:ea typeface="微软雅黑" panose="020B0503020204020204" pitchFamily="34" charset="-122"/>
              </a:rPr>
              <a:t>力</a:t>
            </a:r>
            <a:r>
              <a:rPr lang="zh-CN" altLang="zh-CN" sz="2000" dirty="0">
                <a:latin typeface="Arial" panose="020B0604020202020204" pitchFamily="34" charset="0"/>
                <a:ea typeface="微软雅黑" panose="020B0503020204020204" pitchFamily="34" charset="-122"/>
              </a:rPr>
              <a:t>是什么？</a:t>
            </a:r>
            <a:endParaRPr lang="en-US" altLang="zh-CN" sz="2000" dirty="0">
              <a:latin typeface="Arial" panose="020B0604020202020204" pitchFamily="34" charset="0"/>
              <a:ea typeface="微软雅黑" panose="020B0503020204020204" pitchFamily="34" charset="-122"/>
            </a:endParaRPr>
          </a:p>
          <a:p>
            <a:pPr marL="914400" lvl="3" indent="-400050">
              <a:buFont typeface="+mj-lt"/>
              <a:buAutoNum type="arabicPeriod"/>
            </a:pPr>
            <a:r>
              <a:rPr lang="zh-CN" altLang="en-US" sz="2000" dirty="0">
                <a:latin typeface="Arial" panose="020B0604020202020204" pitchFamily="34" charset="0"/>
                <a:ea typeface="微软雅黑" panose="020B0503020204020204" pitchFamily="34" charset="-122"/>
              </a:rPr>
              <a:t>如何让其生生不息地</a:t>
            </a:r>
            <a:r>
              <a:rPr lang="zh-CN" altLang="en-US" sz="2800" b="1" dirty="0">
                <a:solidFill>
                  <a:srgbClr val="00D4FF"/>
                </a:solidFill>
                <a:latin typeface="Arial" panose="020B0604020202020204" pitchFamily="34" charset="0"/>
                <a:ea typeface="微软雅黑" panose="020B0503020204020204" pitchFamily="34" charset="-122"/>
              </a:rPr>
              <a:t>进化</a:t>
            </a:r>
            <a:r>
              <a:rPr lang="zh-CN" altLang="en-US" sz="2000" dirty="0">
                <a:latin typeface="Arial" panose="020B0604020202020204" pitchFamily="34" charset="0"/>
                <a:ea typeface="微软雅黑" panose="020B0503020204020204" pitchFamily="34" charset="-122"/>
              </a:rPr>
              <a:t>？</a:t>
            </a:r>
            <a:endParaRPr lang="zh-CN" altLang="zh-CN" sz="2000" dirty="0">
              <a:latin typeface="Arial" panose="020B0604020202020204" pitchFamily="34" charset="0"/>
              <a:ea typeface="微软雅黑" panose="020B0503020204020204" pitchFamily="34" charset="-122"/>
            </a:endParaRPr>
          </a:p>
          <a:p>
            <a:endParaRPr lang="en-US" altLang="zh-CN" dirty="0">
              <a:latin typeface="Arial" panose="020B0604020202020204" pitchFamily="34" charset="0"/>
              <a:ea typeface="微软雅黑" panose="020B0503020204020204" pitchFamily="34" charset="-122"/>
            </a:endParaRPr>
          </a:p>
          <a:p>
            <a:r>
              <a:rPr lang="zh-CN" altLang="en-US" sz="2800" b="1" i="0" dirty="0">
                <a:solidFill>
                  <a:srgbClr val="00D4FF"/>
                </a:solidFill>
                <a:effectLst/>
                <a:latin typeface="Arial" panose="020B0604020202020204" pitchFamily="34" charset="0"/>
                <a:ea typeface="微软雅黑" panose="020B0503020204020204" pitchFamily="34" charset="-122"/>
              </a:rPr>
              <a:t>这八个问题，</a:t>
            </a:r>
            <a:r>
              <a:rPr lang="zh-CN" altLang="en-US" sz="2000" b="1" i="0" dirty="0">
                <a:effectLst/>
                <a:latin typeface="Arial" panose="020B0604020202020204" pitchFamily="34" charset="0"/>
                <a:ea typeface="微软雅黑" panose="020B0503020204020204" pitchFamily="34" charset="-122"/>
              </a:rPr>
              <a:t>过去的数字化转型</a:t>
            </a:r>
            <a:r>
              <a:rPr lang="zh-CN" altLang="en-US" sz="2800" b="1" i="0" dirty="0">
                <a:solidFill>
                  <a:srgbClr val="00D4FF"/>
                </a:solidFill>
                <a:effectLst/>
                <a:latin typeface="Arial" panose="020B0604020202020204" pitchFamily="34" charset="0"/>
                <a:ea typeface="微软雅黑" panose="020B0503020204020204" pitchFamily="34" charset="-122"/>
              </a:rPr>
              <a:t>从未真正回答清楚。</a:t>
            </a:r>
            <a:endParaRPr lang="zh-CN" altLang="en-US" sz="2800" b="1" dirty="0">
              <a:solidFill>
                <a:srgbClr val="00D4FF"/>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4313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1ACE07-8EE1-7C0C-C22B-A99B4ABD38EA}"/>
              </a:ext>
            </a:extLst>
          </p:cNvPr>
          <p:cNvSpPr>
            <a:spLocks noGrp="1"/>
          </p:cNvSpPr>
          <p:nvPr>
            <p:ph type="title"/>
          </p:nvPr>
        </p:nvSpPr>
        <p:spPr/>
        <p:txBody>
          <a:bodyPr/>
          <a:lstStyle/>
          <a:p>
            <a:r>
              <a:rPr lang="zh-CN" altLang="en-US" dirty="0"/>
              <a:t>目的论</a:t>
            </a:r>
            <a:r>
              <a:rPr lang="en-US" altLang="zh-CN" dirty="0"/>
              <a:t>——</a:t>
            </a:r>
            <a:r>
              <a:rPr lang="zh-CN" altLang="en-US" dirty="0"/>
              <a:t>价值链管理的本源追问（</a:t>
            </a:r>
            <a:r>
              <a:rPr lang="zh-CN" altLang="en-US" sz="3200" dirty="0">
                <a:solidFill>
                  <a:srgbClr val="00D4FF"/>
                </a:solidFill>
              </a:rPr>
              <a:t>计划为什么存在</a:t>
            </a:r>
            <a:r>
              <a:rPr lang="zh-CN" altLang="en-US" dirty="0"/>
              <a:t>）</a:t>
            </a:r>
          </a:p>
        </p:txBody>
      </p:sp>
      <p:grpSp>
        <p:nvGrpSpPr>
          <p:cNvPr id="32" name="组合 31">
            <a:extLst>
              <a:ext uri="{FF2B5EF4-FFF2-40B4-BE49-F238E27FC236}">
                <a16:creationId xmlns:a16="http://schemas.microsoft.com/office/drawing/2014/main" id="{A51FB59B-9112-DF74-EFD7-6679D7EC6730}"/>
              </a:ext>
            </a:extLst>
          </p:cNvPr>
          <p:cNvGrpSpPr/>
          <p:nvPr/>
        </p:nvGrpSpPr>
        <p:grpSpPr>
          <a:xfrm>
            <a:off x="1328076" y="1894115"/>
            <a:ext cx="8338438" cy="2226131"/>
            <a:chOff x="1670397" y="1543144"/>
            <a:chExt cx="4811171" cy="514145"/>
          </a:xfrm>
        </p:grpSpPr>
        <p:sp>
          <p:nvSpPr>
            <p:cNvPr id="39" name="Title-1">
              <a:extLst>
                <a:ext uri="{FF2B5EF4-FFF2-40B4-BE49-F238E27FC236}">
                  <a16:creationId xmlns:a16="http://schemas.microsoft.com/office/drawing/2014/main" id="{FE0AD393-C8CA-54F8-B088-A461A0F0DDF8}"/>
                </a:ext>
              </a:extLst>
            </p:cNvPr>
            <p:cNvSpPr txBox="1"/>
            <p:nvPr>
              <p:custDataLst>
                <p:tags r:id="rId1"/>
              </p:custDataLst>
            </p:nvPr>
          </p:nvSpPr>
          <p:spPr>
            <a:xfrm>
              <a:off x="1670397" y="1543144"/>
              <a:ext cx="4811171" cy="2634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srgbClr val="00D4FF"/>
                  </a:solidFill>
                  <a:effectLst/>
                  <a:uLnTx/>
                  <a:uFillTx/>
                  <a:latin typeface="微软雅黑" panose="020B0503020204020204" pitchFamily="34" charset="-122"/>
                  <a:ea typeface="微软雅黑" panose="020B0503020204020204" pitchFamily="34" charset="-122"/>
                  <a:cs typeface="+mn-cs"/>
                </a:rPr>
                <a:t>最早</a:t>
              </a:r>
              <a:r>
                <a:rPr kumimoji="0" lang="zh-CN" altLang="en-US" sz="2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，计划工作出现是为了这</a:t>
              </a:r>
              <a:r>
                <a:rPr kumimoji="0" lang="zh-CN" altLang="en-US" sz="3200" b="1" i="0" u="none" strike="noStrike" kern="0" cap="none" spc="0" normalizeH="0" baseline="0" noProof="0" dirty="0">
                  <a:ln>
                    <a:noFill/>
                  </a:ln>
                  <a:solidFill>
                    <a:srgbClr val="00D4FF"/>
                  </a:solidFill>
                  <a:effectLst/>
                  <a:uLnTx/>
                  <a:uFillTx/>
                  <a:latin typeface="微软雅黑" panose="020B0503020204020204" pitchFamily="34" charset="-122"/>
                  <a:ea typeface="微软雅黑" panose="020B0503020204020204" pitchFamily="34" charset="-122"/>
                  <a:cs typeface="+mn-cs"/>
                </a:rPr>
                <a:t>四个基本问题：</a:t>
              </a:r>
              <a:endParaRPr kumimoji="0" lang="zh-CN" altLang="en-US" sz="2400" b="1" i="0" u="none" strike="noStrike" kern="0" cap="none" spc="0" normalizeH="0" baseline="0" noProof="0" dirty="0">
                <a:ln>
                  <a:noFill/>
                </a:ln>
                <a:solidFill>
                  <a:srgbClr val="00D4FF"/>
                </a:solidFill>
                <a:effectLst/>
                <a:uLnTx/>
                <a:uFillTx/>
                <a:latin typeface="微软雅黑" panose="020B0503020204020204" pitchFamily="34" charset="-122"/>
                <a:ea typeface="微软雅黑" panose="020B0503020204020204" pitchFamily="34" charset="-122"/>
                <a:cs typeface="+mn-cs"/>
              </a:endParaRPr>
            </a:p>
          </p:txBody>
        </p:sp>
        <p:sp>
          <p:nvSpPr>
            <p:cNvPr id="40" name="Body-1">
              <a:extLst>
                <a:ext uri="{FF2B5EF4-FFF2-40B4-BE49-F238E27FC236}">
                  <a16:creationId xmlns:a16="http://schemas.microsoft.com/office/drawing/2014/main" id="{0E95C2A8-97E1-2F1D-EB17-39F9913875B5}"/>
                </a:ext>
              </a:extLst>
            </p:cNvPr>
            <p:cNvSpPr/>
            <p:nvPr>
              <p:custDataLst>
                <p:tags r:id="rId2"/>
              </p:custDataLst>
            </p:nvPr>
          </p:nvSpPr>
          <p:spPr>
            <a:xfrm>
              <a:off x="1843121" y="1689496"/>
              <a:ext cx="4363945" cy="367793"/>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要什么 </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What ] </a:t>
              </a:r>
            </a:p>
            <a:p>
              <a:pPr defTabSz="913765">
                <a:lnSpc>
                  <a:spcPct val="130000"/>
                </a:lnSpc>
                <a:buSzPct val="100000"/>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在哪 </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Where ] </a:t>
              </a:r>
            </a:p>
            <a:p>
              <a:pPr defTabSz="913765">
                <a:lnSpc>
                  <a:spcPct val="130000"/>
                </a:lnSpc>
                <a:buSzPct val="100000"/>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何时 </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When ] </a:t>
              </a:r>
            </a:p>
            <a:p>
              <a:pPr defTabSz="913765">
                <a:lnSpc>
                  <a:spcPct val="130000"/>
                </a:lnSpc>
                <a:buSzPct val="100000"/>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多少 </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How many ]</a:t>
              </a:r>
              <a:endParaRPr kumimoji="0" lang="en-GB"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1372854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93799-8CFF-7C3E-D03C-D6A1300B137E}"/>
              </a:ext>
            </a:extLst>
          </p:cNvPr>
          <p:cNvSpPr>
            <a:spLocks noGrp="1"/>
          </p:cNvSpPr>
          <p:nvPr>
            <p:ph type="title"/>
          </p:nvPr>
        </p:nvSpPr>
        <p:spPr/>
        <p:txBody>
          <a:bodyPr/>
          <a:lstStyle/>
          <a:p>
            <a:r>
              <a:rPr lang="zh-CN" altLang="en-US" dirty="0"/>
              <a:t>目的论</a:t>
            </a:r>
            <a:r>
              <a:rPr lang="en-US" altLang="zh-CN" dirty="0"/>
              <a:t>——</a:t>
            </a:r>
            <a:r>
              <a:rPr lang="zh-CN" altLang="en-US" dirty="0"/>
              <a:t>价值链断裂（</a:t>
            </a:r>
            <a:r>
              <a:rPr lang="en-US" altLang="zh-CN" dirty="0"/>
              <a:t>C/P/D</a:t>
            </a:r>
            <a:r>
              <a:rPr lang="zh-CN" altLang="en-US" dirty="0"/>
              <a:t>的天然裂痕）</a:t>
            </a:r>
          </a:p>
        </p:txBody>
      </p:sp>
      <p:sp>
        <p:nvSpPr>
          <p:cNvPr id="4" name="文本框 3">
            <a:extLst>
              <a:ext uri="{FF2B5EF4-FFF2-40B4-BE49-F238E27FC236}">
                <a16:creationId xmlns:a16="http://schemas.microsoft.com/office/drawing/2014/main" id="{25870EA2-F530-FC74-FA56-62003CFF8C15}"/>
              </a:ext>
            </a:extLst>
          </p:cNvPr>
          <p:cNvSpPr txBox="1"/>
          <p:nvPr/>
        </p:nvSpPr>
        <p:spPr>
          <a:xfrm>
            <a:off x="1632856" y="1125172"/>
            <a:ext cx="7843157" cy="830997"/>
          </a:xfrm>
          <a:prstGeom prst="rect">
            <a:avLst/>
          </a:prstGeom>
          <a:noFill/>
        </p:spPr>
        <p:txBody>
          <a:bodyPr wrap="square">
            <a:spAutoFit/>
          </a:bodyPr>
          <a:lstStyle/>
          <a:p>
            <a:r>
              <a:rPr lang="zh-CN" altLang="en-US" sz="2400" b="1" i="0" dirty="0">
                <a:solidFill>
                  <a:srgbClr val="00D4FF"/>
                </a:solidFill>
                <a:effectLst/>
                <a:latin typeface="quote-cjk-patch"/>
              </a:rPr>
              <a:t>后来</a:t>
            </a:r>
            <a:r>
              <a:rPr lang="zh-CN" altLang="en-US" b="0" i="0" dirty="0">
                <a:solidFill>
                  <a:srgbClr val="00D4FF"/>
                </a:solidFill>
                <a:effectLst/>
                <a:latin typeface="quote-cjk-patch"/>
              </a:rPr>
              <a:t>，</a:t>
            </a:r>
            <a:r>
              <a:rPr lang="zh-CN" altLang="en-US" sz="2400" b="1" i="0" dirty="0">
                <a:solidFill>
                  <a:srgbClr val="00D4FF"/>
                </a:solidFill>
                <a:effectLst/>
                <a:latin typeface="quote-cjk-patch"/>
              </a:rPr>
              <a:t>供应链</a:t>
            </a:r>
            <a:r>
              <a:rPr lang="zh-CN" altLang="en-US" b="0" i="0" dirty="0">
                <a:effectLst/>
                <a:latin typeface="quote-cjk-patch"/>
              </a:rPr>
              <a:t>乃至</a:t>
            </a:r>
            <a:r>
              <a:rPr lang="zh-CN" altLang="en-US" sz="2400" b="1" i="0" dirty="0">
                <a:solidFill>
                  <a:srgbClr val="00D4FF"/>
                </a:solidFill>
                <a:effectLst/>
                <a:latin typeface="quote-cjk-patch"/>
              </a:rPr>
              <a:t>价值链</a:t>
            </a:r>
            <a:r>
              <a:rPr lang="zh-CN" altLang="en-US" b="0" i="0" dirty="0">
                <a:effectLst/>
                <a:latin typeface="quote-cjk-patch"/>
              </a:rPr>
              <a:t>概念出现了。</a:t>
            </a:r>
            <a:endParaRPr lang="en-US" altLang="zh-CN" b="0" i="0" dirty="0">
              <a:effectLst/>
              <a:latin typeface="quote-cjk-patch"/>
            </a:endParaRPr>
          </a:p>
          <a:p>
            <a:r>
              <a:rPr lang="zh-CN" altLang="en-US" b="0" i="0" dirty="0">
                <a:effectLst/>
                <a:latin typeface="quote-cjk-patch"/>
              </a:rPr>
              <a:t>企业不再只看物料和产能，而是看整条</a:t>
            </a:r>
            <a:r>
              <a:rPr lang="zh-CN" altLang="en-US" sz="2400" b="1" i="0" dirty="0">
                <a:solidFill>
                  <a:srgbClr val="00D4FF"/>
                </a:solidFill>
                <a:effectLst/>
                <a:latin typeface="quote-cjk-patch"/>
              </a:rPr>
              <a:t>链</a:t>
            </a:r>
            <a:r>
              <a:rPr lang="zh-CN" altLang="en-US" b="0" i="0" dirty="0">
                <a:effectLst/>
                <a:latin typeface="quote-cjk-patch"/>
              </a:rPr>
              <a:t>更准确的说是</a:t>
            </a:r>
            <a:r>
              <a:rPr lang="zh-CN" altLang="en-US" sz="2400" b="1" i="0" dirty="0">
                <a:solidFill>
                  <a:srgbClr val="00D4FF"/>
                </a:solidFill>
                <a:effectLst/>
                <a:latin typeface="quote-cjk-patch"/>
              </a:rPr>
              <a:t>网络</a:t>
            </a:r>
            <a:r>
              <a:rPr lang="zh-CN" altLang="en-US" b="0" i="0" dirty="0">
                <a:effectLst/>
                <a:latin typeface="quote-cjk-patch"/>
              </a:rPr>
              <a:t>：</a:t>
            </a:r>
            <a:endParaRPr lang="zh-CN" altLang="en-US" dirty="0"/>
          </a:p>
        </p:txBody>
      </p:sp>
      <p:graphicFrame>
        <p:nvGraphicFramePr>
          <p:cNvPr id="5" name="表格 4">
            <a:extLst>
              <a:ext uri="{FF2B5EF4-FFF2-40B4-BE49-F238E27FC236}">
                <a16:creationId xmlns:a16="http://schemas.microsoft.com/office/drawing/2014/main" id="{DF56C9FF-FB0A-42F3-4695-B4F20EBE41A9}"/>
              </a:ext>
            </a:extLst>
          </p:cNvPr>
          <p:cNvGraphicFramePr>
            <a:graphicFrameLocks noGrp="1"/>
          </p:cNvGraphicFramePr>
          <p:nvPr>
            <p:extLst>
              <p:ext uri="{D42A27DB-BD31-4B8C-83A1-F6EECF244321}">
                <p14:modId xmlns:p14="http://schemas.microsoft.com/office/powerpoint/2010/main" val="2847741505"/>
              </p:ext>
            </p:extLst>
          </p:nvPr>
        </p:nvGraphicFramePr>
        <p:xfrm>
          <a:off x="1556658" y="2219399"/>
          <a:ext cx="8398329" cy="1752600"/>
        </p:xfrm>
        <a:graphic>
          <a:graphicData uri="http://schemas.openxmlformats.org/drawingml/2006/table">
            <a:tbl>
              <a:tblPr/>
              <a:tblGrid>
                <a:gridCol w="2799443">
                  <a:extLst>
                    <a:ext uri="{9D8B030D-6E8A-4147-A177-3AD203B41FA5}">
                      <a16:colId xmlns:a16="http://schemas.microsoft.com/office/drawing/2014/main" val="2035376612"/>
                    </a:ext>
                  </a:extLst>
                </a:gridCol>
                <a:gridCol w="2799443">
                  <a:extLst>
                    <a:ext uri="{9D8B030D-6E8A-4147-A177-3AD203B41FA5}">
                      <a16:colId xmlns:a16="http://schemas.microsoft.com/office/drawing/2014/main" val="4168827567"/>
                    </a:ext>
                  </a:extLst>
                </a:gridCol>
                <a:gridCol w="2799443">
                  <a:extLst>
                    <a:ext uri="{9D8B030D-6E8A-4147-A177-3AD203B41FA5}">
                      <a16:colId xmlns:a16="http://schemas.microsoft.com/office/drawing/2014/main" val="3115891238"/>
                    </a:ext>
                  </a:extLst>
                </a:gridCol>
              </a:tblGrid>
              <a:tr h="0">
                <a:tc>
                  <a:txBody>
                    <a:bodyPr/>
                    <a:lstStyle/>
                    <a:p>
                      <a:pPr algn="l"/>
                      <a:r>
                        <a:rPr lang="zh-CN" altLang="en-US" b="1">
                          <a:solidFill>
                            <a:srgbClr val="FFFFFF"/>
                          </a:solidFill>
                          <a:effectLst/>
                          <a:latin typeface="quote-cjk-patch"/>
                        </a:rPr>
                        <a:t>环节</a:t>
                      </a:r>
                    </a:p>
                  </a:txBody>
                  <a:tcPr marR="76200" marT="47625" marB="47625" anchor="ctr">
                    <a:lnL>
                      <a:noFill/>
                    </a:lnL>
                    <a:lnR>
                      <a:noFill/>
                    </a:lnR>
                    <a:lnT>
                      <a:solidFill>
                        <a:srgbClr val="9A3B3B"/>
                      </a:solidFill>
                      <a:prstDash val="solid"/>
                    </a:lnT>
                    <a:lnB>
                      <a:solidFill>
                        <a:srgbClr val="9A3B3B"/>
                      </a:solidFill>
                      <a:prstDash val="solid"/>
                    </a:lnB>
                    <a:solidFill>
                      <a:srgbClr val="9A3B3B"/>
                    </a:solidFill>
                  </a:tcPr>
                </a:tc>
                <a:tc>
                  <a:txBody>
                    <a:bodyPr/>
                    <a:lstStyle/>
                    <a:p>
                      <a:pPr algn="l"/>
                      <a:r>
                        <a:rPr lang="zh-CN" altLang="en-US" b="1">
                          <a:solidFill>
                            <a:srgbClr val="FFFFFF"/>
                          </a:solidFill>
                          <a:effectLst/>
                          <a:latin typeface="quote-cjk-patch"/>
                        </a:rPr>
                        <a:t>职能</a:t>
                      </a:r>
                    </a:p>
                  </a:txBody>
                  <a:tcPr marL="76200" marR="76200" marT="47625" marB="47625" anchor="ctr">
                    <a:lnL>
                      <a:noFill/>
                    </a:lnL>
                    <a:lnR>
                      <a:noFill/>
                    </a:lnR>
                    <a:lnT>
                      <a:solidFill>
                        <a:srgbClr val="9A3B3B"/>
                      </a:solidFill>
                      <a:prstDash val="solid"/>
                    </a:lnT>
                    <a:lnB>
                      <a:solidFill>
                        <a:srgbClr val="9A3B3B"/>
                      </a:solidFill>
                      <a:prstDash val="solid"/>
                    </a:lnB>
                    <a:solidFill>
                      <a:srgbClr val="9A3B3B"/>
                    </a:solidFill>
                  </a:tcPr>
                </a:tc>
                <a:tc>
                  <a:txBody>
                    <a:bodyPr/>
                    <a:lstStyle/>
                    <a:p>
                      <a:pPr algn="l"/>
                      <a:r>
                        <a:rPr lang="zh-CN" altLang="en-US" b="1">
                          <a:solidFill>
                            <a:srgbClr val="FFFFFF"/>
                          </a:solidFill>
                          <a:effectLst/>
                          <a:latin typeface="quote-cjk-patch"/>
                        </a:rPr>
                        <a:t>物理本质</a:t>
                      </a:r>
                    </a:p>
                  </a:txBody>
                  <a:tcPr marL="76200" marR="76200" marT="47625" marB="47625" anchor="ctr">
                    <a:lnL>
                      <a:noFill/>
                    </a:lnL>
                    <a:lnR>
                      <a:noFill/>
                    </a:lnR>
                    <a:lnT>
                      <a:solidFill>
                        <a:srgbClr val="9A3B3B"/>
                      </a:solidFill>
                      <a:prstDash val="solid"/>
                    </a:lnT>
                    <a:lnB>
                      <a:solidFill>
                        <a:srgbClr val="9A3B3B"/>
                      </a:solidFill>
                      <a:prstDash val="solid"/>
                    </a:lnB>
                    <a:solidFill>
                      <a:srgbClr val="9A3B3B"/>
                    </a:solidFill>
                  </a:tcPr>
                </a:tc>
                <a:extLst>
                  <a:ext uri="{0D108BD9-81ED-4DB2-BD59-A6C34878D82A}">
                    <a16:rowId xmlns:a16="http://schemas.microsoft.com/office/drawing/2014/main" val="3037876335"/>
                  </a:ext>
                </a:extLst>
              </a:tr>
              <a:tr h="0">
                <a:tc>
                  <a:txBody>
                    <a:bodyPr/>
                    <a:lstStyle/>
                    <a:p>
                      <a:r>
                        <a:rPr lang="zh-CN" altLang="en-US" b="0">
                          <a:solidFill>
                            <a:srgbClr val="000000"/>
                          </a:solidFill>
                          <a:effectLst/>
                          <a:latin typeface="quote-cjk-patch"/>
                        </a:rPr>
                        <a:t>研发</a:t>
                      </a:r>
                    </a:p>
                  </a:txBody>
                  <a:tcPr marR="76200" marT="47625" marB="47625" anchor="ctr">
                    <a:lnL>
                      <a:noFill/>
                    </a:lnL>
                    <a:lnR>
                      <a:noFill/>
                    </a:lnR>
                    <a:lnT>
                      <a:solidFill>
                        <a:srgbClr val="9A3B3B"/>
                      </a:solidFill>
                      <a:prstDash val="solid"/>
                    </a:lnT>
                    <a:lnB>
                      <a:solidFill>
                        <a:srgbClr val="9A3B3B"/>
                      </a:solidFill>
                      <a:prstDash val="solid"/>
                    </a:lnB>
                    <a:solidFill>
                      <a:srgbClr val="EEEEEE"/>
                    </a:solidFill>
                  </a:tcPr>
                </a:tc>
                <a:tc>
                  <a:txBody>
                    <a:bodyPr/>
                    <a:lstStyle/>
                    <a:p>
                      <a:r>
                        <a:rPr lang="zh-CN" altLang="en-US" b="0">
                          <a:solidFill>
                            <a:srgbClr val="000000"/>
                          </a:solidFill>
                          <a:effectLst/>
                          <a:latin typeface="quote-cjk-patch"/>
                        </a:rPr>
                        <a:t>定义和创造价值</a:t>
                      </a:r>
                    </a:p>
                  </a:txBody>
                  <a:tcPr marL="76200" marR="76200" marT="47625" marB="47625" anchor="ctr">
                    <a:lnL>
                      <a:noFill/>
                    </a:lnL>
                    <a:lnR>
                      <a:noFill/>
                    </a:lnR>
                    <a:lnT>
                      <a:solidFill>
                        <a:srgbClr val="9A3B3B"/>
                      </a:solidFill>
                      <a:prstDash val="solid"/>
                    </a:lnT>
                    <a:lnB>
                      <a:solidFill>
                        <a:srgbClr val="9A3B3B"/>
                      </a:solidFill>
                      <a:prstDash val="solid"/>
                    </a:lnB>
                    <a:solidFill>
                      <a:srgbClr val="EEEEEE"/>
                    </a:solidFill>
                  </a:tcPr>
                </a:tc>
                <a:tc>
                  <a:txBody>
                    <a:bodyPr/>
                    <a:lstStyle/>
                    <a:p>
                      <a:r>
                        <a:rPr lang="en-US" b="0">
                          <a:solidFill>
                            <a:srgbClr val="000000"/>
                          </a:solidFill>
                          <a:effectLst/>
                          <a:latin typeface="quote-cjk-patch"/>
                        </a:rPr>
                        <a:t>C（Creation）</a:t>
                      </a:r>
                    </a:p>
                  </a:txBody>
                  <a:tcPr marL="76200" marT="47625" marB="47625" anchor="ctr">
                    <a:lnL>
                      <a:noFill/>
                    </a:lnL>
                    <a:lnR>
                      <a:noFill/>
                    </a:lnR>
                    <a:lnT>
                      <a:solidFill>
                        <a:srgbClr val="9A3B3B"/>
                      </a:solidFill>
                      <a:prstDash val="solid"/>
                    </a:lnT>
                    <a:lnB>
                      <a:solidFill>
                        <a:srgbClr val="9A3B3B"/>
                      </a:solidFill>
                      <a:prstDash val="solid"/>
                    </a:lnB>
                    <a:solidFill>
                      <a:srgbClr val="EEEEEE"/>
                    </a:solidFill>
                  </a:tcPr>
                </a:tc>
                <a:extLst>
                  <a:ext uri="{0D108BD9-81ED-4DB2-BD59-A6C34878D82A}">
                    <a16:rowId xmlns:a16="http://schemas.microsoft.com/office/drawing/2014/main" val="1514588886"/>
                  </a:ext>
                </a:extLst>
              </a:tr>
              <a:tr h="0">
                <a:tc>
                  <a:txBody>
                    <a:bodyPr/>
                    <a:lstStyle/>
                    <a:p>
                      <a:r>
                        <a:rPr lang="zh-CN" altLang="en-US" b="0">
                          <a:solidFill>
                            <a:srgbClr val="000000"/>
                          </a:solidFill>
                          <a:effectLst/>
                          <a:latin typeface="quote-cjk-patch"/>
                        </a:rPr>
                        <a:t>营销</a:t>
                      </a:r>
                      <a:r>
                        <a:rPr lang="en-US" altLang="zh-CN" b="0">
                          <a:solidFill>
                            <a:srgbClr val="000000"/>
                          </a:solidFill>
                          <a:effectLst/>
                          <a:latin typeface="quote-cjk-patch"/>
                        </a:rPr>
                        <a:t>/</a:t>
                      </a:r>
                      <a:r>
                        <a:rPr lang="zh-CN" altLang="en-US" b="0">
                          <a:solidFill>
                            <a:srgbClr val="000000"/>
                          </a:solidFill>
                          <a:effectLst/>
                          <a:latin typeface="quote-cjk-patch"/>
                        </a:rPr>
                        <a:t>销售</a:t>
                      </a:r>
                    </a:p>
                  </a:txBody>
                  <a:tcPr marR="76200" marT="47625" marB="47625" anchor="ctr">
                    <a:lnL>
                      <a:noFill/>
                    </a:lnL>
                    <a:lnR>
                      <a:noFill/>
                    </a:lnR>
                    <a:lnT>
                      <a:solidFill>
                        <a:srgbClr val="9A3B3B"/>
                      </a:solidFill>
                      <a:prstDash val="solid"/>
                    </a:lnT>
                    <a:lnB>
                      <a:solidFill>
                        <a:srgbClr val="9A3B3B"/>
                      </a:solidFill>
                      <a:prstDash val="solid"/>
                    </a:lnB>
                    <a:solidFill>
                      <a:srgbClr val="FFFFFF"/>
                    </a:solidFill>
                  </a:tcPr>
                </a:tc>
                <a:tc>
                  <a:txBody>
                    <a:bodyPr/>
                    <a:lstStyle/>
                    <a:p>
                      <a:r>
                        <a:rPr lang="zh-CN" altLang="en-US" b="0">
                          <a:solidFill>
                            <a:srgbClr val="000000"/>
                          </a:solidFill>
                          <a:effectLst/>
                          <a:latin typeface="quote-cjk-patch"/>
                        </a:rPr>
                        <a:t>承诺价值给客户和市场</a:t>
                      </a:r>
                    </a:p>
                  </a:txBody>
                  <a:tcPr marL="76200" marR="76200" marT="47625" marB="47625" anchor="ctr">
                    <a:lnL>
                      <a:noFill/>
                    </a:lnL>
                    <a:lnR>
                      <a:noFill/>
                    </a:lnR>
                    <a:lnT>
                      <a:solidFill>
                        <a:srgbClr val="9A3B3B"/>
                      </a:solidFill>
                      <a:prstDash val="solid"/>
                    </a:lnT>
                    <a:lnB>
                      <a:solidFill>
                        <a:srgbClr val="9A3B3B"/>
                      </a:solidFill>
                      <a:prstDash val="solid"/>
                    </a:lnB>
                    <a:solidFill>
                      <a:srgbClr val="FFFFFF"/>
                    </a:solidFill>
                  </a:tcPr>
                </a:tc>
                <a:tc>
                  <a:txBody>
                    <a:bodyPr/>
                    <a:lstStyle/>
                    <a:p>
                      <a:r>
                        <a:rPr lang="en-US" b="0">
                          <a:solidFill>
                            <a:srgbClr val="000000"/>
                          </a:solidFill>
                          <a:effectLst/>
                          <a:latin typeface="quote-cjk-patch"/>
                        </a:rPr>
                        <a:t>P（Promise）</a:t>
                      </a:r>
                    </a:p>
                  </a:txBody>
                  <a:tcPr marL="76200" marT="47625" marB="47625" anchor="ctr">
                    <a:lnL>
                      <a:noFill/>
                    </a:lnL>
                    <a:lnR>
                      <a:noFill/>
                    </a:lnR>
                    <a:lnT>
                      <a:solidFill>
                        <a:srgbClr val="9A3B3B"/>
                      </a:solidFill>
                      <a:prstDash val="solid"/>
                    </a:lnT>
                    <a:lnB>
                      <a:solidFill>
                        <a:srgbClr val="9A3B3B"/>
                      </a:solidFill>
                      <a:prstDash val="solid"/>
                    </a:lnB>
                    <a:solidFill>
                      <a:srgbClr val="FFFFFF"/>
                    </a:solidFill>
                  </a:tcPr>
                </a:tc>
                <a:extLst>
                  <a:ext uri="{0D108BD9-81ED-4DB2-BD59-A6C34878D82A}">
                    <a16:rowId xmlns:a16="http://schemas.microsoft.com/office/drawing/2014/main" val="2841281945"/>
                  </a:ext>
                </a:extLst>
              </a:tr>
              <a:tr h="0">
                <a:tc>
                  <a:txBody>
                    <a:bodyPr/>
                    <a:lstStyle/>
                    <a:p>
                      <a:r>
                        <a:rPr lang="zh-CN" altLang="en-US" b="0">
                          <a:solidFill>
                            <a:srgbClr val="000000"/>
                          </a:solidFill>
                          <a:effectLst/>
                          <a:latin typeface="quote-cjk-patch"/>
                        </a:rPr>
                        <a:t>供应链</a:t>
                      </a:r>
                    </a:p>
                  </a:txBody>
                  <a:tcPr marR="76200" marT="47625" marB="47625" anchor="ctr">
                    <a:lnL>
                      <a:noFill/>
                    </a:lnL>
                    <a:lnR>
                      <a:noFill/>
                    </a:lnR>
                    <a:lnT>
                      <a:solidFill>
                        <a:srgbClr val="9A3B3B"/>
                      </a:solidFill>
                      <a:prstDash val="solid"/>
                    </a:lnT>
                    <a:lnB>
                      <a:solidFill>
                        <a:srgbClr val="9A3B3B"/>
                      </a:solidFill>
                      <a:prstDash val="solid"/>
                    </a:lnB>
                    <a:solidFill>
                      <a:srgbClr val="EEEEEE"/>
                    </a:solidFill>
                  </a:tcPr>
                </a:tc>
                <a:tc>
                  <a:txBody>
                    <a:bodyPr/>
                    <a:lstStyle/>
                    <a:p>
                      <a:r>
                        <a:rPr lang="zh-CN" altLang="en-US" b="0">
                          <a:solidFill>
                            <a:srgbClr val="000000"/>
                          </a:solidFill>
                          <a:effectLst/>
                          <a:latin typeface="quote-cjk-patch"/>
                        </a:rPr>
                        <a:t>采购、仓储、生产、物流、质量</a:t>
                      </a:r>
                    </a:p>
                  </a:txBody>
                  <a:tcPr marL="76200" marR="76200" marT="47625" marB="47625" anchor="ctr">
                    <a:lnL>
                      <a:noFill/>
                    </a:lnL>
                    <a:lnR>
                      <a:noFill/>
                    </a:lnR>
                    <a:lnT>
                      <a:solidFill>
                        <a:srgbClr val="9A3B3B"/>
                      </a:solidFill>
                      <a:prstDash val="solid"/>
                    </a:lnT>
                    <a:lnB>
                      <a:solidFill>
                        <a:srgbClr val="9A3B3B"/>
                      </a:solidFill>
                      <a:prstDash val="solid"/>
                    </a:lnB>
                    <a:solidFill>
                      <a:srgbClr val="EEEEEE"/>
                    </a:solidFill>
                  </a:tcPr>
                </a:tc>
                <a:tc>
                  <a:txBody>
                    <a:bodyPr/>
                    <a:lstStyle/>
                    <a:p>
                      <a:r>
                        <a:rPr lang="en-US" b="0" dirty="0" err="1">
                          <a:solidFill>
                            <a:srgbClr val="000000"/>
                          </a:solidFill>
                          <a:effectLst/>
                          <a:latin typeface="quote-cjk-patch"/>
                        </a:rPr>
                        <a:t>D（Delivery</a:t>
                      </a:r>
                      <a:r>
                        <a:rPr lang="en-US" b="0" dirty="0">
                          <a:solidFill>
                            <a:srgbClr val="000000"/>
                          </a:solidFill>
                          <a:effectLst/>
                          <a:latin typeface="quote-cjk-patch"/>
                        </a:rPr>
                        <a:t>）</a:t>
                      </a:r>
                    </a:p>
                  </a:txBody>
                  <a:tcPr marL="76200" marT="47625" marB="47625" anchor="ctr">
                    <a:lnL>
                      <a:noFill/>
                    </a:lnL>
                    <a:lnR>
                      <a:noFill/>
                    </a:lnR>
                    <a:lnT>
                      <a:solidFill>
                        <a:srgbClr val="9A3B3B"/>
                      </a:solidFill>
                      <a:prstDash val="solid"/>
                    </a:lnT>
                    <a:lnB>
                      <a:solidFill>
                        <a:srgbClr val="9A3B3B"/>
                      </a:solidFill>
                      <a:prstDash val="solid"/>
                    </a:lnB>
                    <a:solidFill>
                      <a:srgbClr val="EEEEEE"/>
                    </a:solidFill>
                  </a:tcPr>
                </a:tc>
                <a:extLst>
                  <a:ext uri="{0D108BD9-81ED-4DB2-BD59-A6C34878D82A}">
                    <a16:rowId xmlns:a16="http://schemas.microsoft.com/office/drawing/2014/main" val="357485741"/>
                  </a:ext>
                </a:extLst>
              </a:tr>
            </a:tbl>
          </a:graphicData>
        </a:graphic>
      </p:graphicFrame>
      <p:sp>
        <p:nvSpPr>
          <p:cNvPr id="7" name="文本框 6">
            <a:extLst>
              <a:ext uri="{FF2B5EF4-FFF2-40B4-BE49-F238E27FC236}">
                <a16:creationId xmlns:a16="http://schemas.microsoft.com/office/drawing/2014/main" id="{BD1B64B0-534D-02F4-CFD2-C10601884FBA}"/>
              </a:ext>
            </a:extLst>
          </p:cNvPr>
          <p:cNvSpPr txBox="1"/>
          <p:nvPr/>
        </p:nvSpPr>
        <p:spPr>
          <a:xfrm>
            <a:off x="1496786" y="4235229"/>
            <a:ext cx="9296400" cy="738664"/>
          </a:xfrm>
          <a:prstGeom prst="rect">
            <a:avLst/>
          </a:prstGeom>
          <a:noFill/>
        </p:spPr>
        <p:txBody>
          <a:bodyPr wrap="square">
            <a:spAutoFit/>
          </a:bodyPr>
          <a:lstStyle/>
          <a:p>
            <a:r>
              <a:rPr lang="zh-CN" altLang="en-US" b="0" i="0" dirty="0">
                <a:effectLst/>
                <a:latin typeface="quote-cjk-patch"/>
              </a:rPr>
              <a:t>这三段，每一段都有</a:t>
            </a:r>
            <a:r>
              <a:rPr lang="zh-CN" altLang="en-US" sz="2400" b="1" i="0" dirty="0">
                <a:solidFill>
                  <a:srgbClr val="00D4FF"/>
                </a:solidFill>
                <a:effectLst/>
                <a:latin typeface="quote-cjk-patch"/>
              </a:rPr>
              <a:t>自己的（局部的）</a:t>
            </a:r>
            <a:r>
              <a:rPr lang="zh-CN" altLang="en-US" b="0" i="0" dirty="0">
                <a:effectLst/>
                <a:latin typeface="quote-cjk-patch"/>
              </a:rPr>
              <a:t>目标、</a:t>
            </a:r>
            <a:r>
              <a:rPr lang="en-US" altLang="zh-CN" b="0" i="0" dirty="0">
                <a:effectLst/>
                <a:latin typeface="quote-cjk-patch"/>
              </a:rPr>
              <a:t>KPI</a:t>
            </a:r>
            <a:r>
              <a:rPr lang="zh-CN" altLang="en-US" b="0" i="0" dirty="0">
                <a:effectLst/>
                <a:latin typeface="quote-cjk-patch"/>
              </a:rPr>
              <a:t>、逻辑。</a:t>
            </a:r>
            <a:endParaRPr lang="en-US" altLang="zh-CN" b="0" i="0" dirty="0">
              <a:effectLst/>
              <a:latin typeface="quote-cjk-patch"/>
            </a:endParaRPr>
          </a:p>
          <a:p>
            <a:r>
              <a:rPr lang="zh-CN" altLang="en-US" b="0" i="0" dirty="0">
                <a:effectLst/>
                <a:latin typeface="quote-cjk-patch"/>
              </a:rPr>
              <a:t>它们之间的链条是断的。</a:t>
            </a:r>
            <a:endParaRPr lang="zh-CN" altLang="en-US" dirty="0"/>
          </a:p>
        </p:txBody>
      </p:sp>
      <p:sp>
        <p:nvSpPr>
          <p:cNvPr id="9" name="文本框 8">
            <a:extLst>
              <a:ext uri="{FF2B5EF4-FFF2-40B4-BE49-F238E27FC236}">
                <a16:creationId xmlns:a16="http://schemas.microsoft.com/office/drawing/2014/main" id="{DF21CC14-77A2-1124-5078-7F06F9BBE896}"/>
              </a:ext>
            </a:extLst>
          </p:cNvPr>
          <p:cNvSpPr txBox="1"/>
          <p:nvPr/>
        </p:nvSpPr>
        <p:spPr>
          <a:xfrm>
            <a:off x="2405744" y="5600015"/>
            <a:ext cx="7549243" cy="738664"/>
          </a:xfrm>
          <a:prstGeom prst="rect">
            <a:avLst/>
          </a:prstGeom>
          <a:noFill/>
        </p:spPr>
        <p:txBody>
          <a:bodyPr wrap="square">
            <a:spAutoFit/>
          </a:bodyPr>
          <a:lstStyle/>
          <a:p>
            <a:r>
              <a:rPr lang="zh-CN" altLang="en-US" b="0" i="0" dirty="0">
                <a:effectLst/>
                <a:latin typeface="quote-cjk-patch"/>
              </a:rPr>
              <a:t>研发要创新，销售要签单，供应链要保交付。</a:t>
            </a:r>
            <a:endParaRPr lang="en-US" altLang="zh-CN" b="0" i="0" dirty="0">
              <a:effectLst/>
              <a:latin typeface="quote-cjk-patch"/>
            </a:endParaRPr>
          </a:p>
          <a:p>
            <a:r>
              <a:rPr lang="zh-CN" altLang="en-US" b="0" i="0" dirty="0">
                <a:effectLst/>
                <a:latin typeface="quote-cjk-patch"/>
              </a:rPr>
              <a:t>方向不同，天然</a:t>
            </a:r>
            <a:r>
              <a:rPr lang="zh-CN" altLang="en-US" sz="2400" b="1" i="0" dirty="0">
                <a:solidFill>
                  <a:srgbClr val="00D4FF"/>
                </a:solidFill>
                <a:effectLst/>
                <a:latin typeface="quote-cjk-patch"/>
              </a:rPr>
              <a:t>断裂。</a:t>
            </a:r>
            <a:endParaRPr lang="zh-CN" altLang="en-US" b="1" dirty="0">
              <a:solidFill>
                <a:srgbClr val="00D4FF"/>
              </a:solidFill>
            </a:endParaRPr>
          </a:p>
        </p:txBody>
      </p:sp>
    </p:spTree>
    <p:extLst>
      <p:ext uri="{BB962C8B-B14F-4D97-AF65-F5344CB8AC3E}">
        <p14:creationId xmlns:p14="http://schemas.microsoft.com/office/powerpoint/2010/main" val="346512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6AF90-EAED-241C-746D-DB3CC35BC81B}"/>
              </a:ext>
            </a:extLst>
          </p:cNvPr>
          <p:cNvSpPr>
            <a:spLocks noGrp="1"/>
          </p:cNvSpPr>
          <p:nvPr>
            <p:ph type="title"/>
          </p:nvPr>
        </p:nvSpPr>
        <p:spPr/>
        <p:txBody>
          <a:bodyPr/>
          <a:lstStyle/>
          <a:p>
            <a:r>
              <a:rPr lang="zh-CN" altLang="en-US" dirty="0"/>
              <a:t>目的论</a:t>
            </a:r>
            <a:r>
              <a:rPr lang="en-US" altLang="zh-CN" dirty="0"/>
              <a:t>——</a:t>
            </a:r>
            <a:r>
              <a:rPr lang="zh-CN" altLang="en-US" b="0" i="0" dirty="0">
                <a:effectLst/>
                <a:latin typeface="quote-cjk-patch"/>
              </a:rPr>
              <a:t>协同（</a:t>
            </a:r>
            <a:r>
              <a:rPr lang="en-US" altLang="zh-CN" b="0" i="0" dirty="0">
                <a:effectLst/>
                <a:latin typeface="quote-cjk-patch"/>
              </a:rPr>
              <a:t>Orchestration</a:t>
            </a:r>
            <a:r>
              <a:rPr lang="zh-CN" altLang="en-US" b="0" i="0" dirty="0">
                <a:effectLst/>
                <a:latin typeface="quote-cjk-patch"/>
              </a:rPr>
              <a:t>）陷阱（越协越乱）</a:t>
            </a:r>
            <a:endParaRPr lang="zh-CN" altLang="en-US" dirty="0"/>
          </a:p>
        </p:txBody>
      </p:sp>
      <p:sp>
        <p:nvSpPr>
          <p:cNvPr id="4" name="文本框 3">
            <a:extLst>
              <a:ext uri="{FF2B5EF4-FFF2-40B4-BE49-F238E27FC236}">
                <a16:creationId xmlns:a16="http://schemas.microsoft.com/office/drawing/2014/main" id="{D51F276E-2023-8677-DFBF-6D2189714E11}"/>
              </a:ext>
            </a:extLst>
          </p:cNvPr>
          <p:cNvSpPr txBox="1"/>
          <p:nvPr/>
        </p:nvSpPr>
        <p:spPr>
          <a:xfrm>
            <a:off x="1883228" y="2307772"/>
            <a:ext cx="7821386" cy="2031325"/>
          </a:xfrm>
          <a:prstGeom prst="rect">
            <a:avLst/>
          </a:prstGeom>
          <a:noFill/>
        </p:spPr>
        <p:txBody>
          <a:bodyPr wrap="square">
            <a:spAutoFit/>
          </a:bodyPr>
          <a:lstStyle/>
          <a:p>
            <a:pPr algn="l"/>
            <a:r>
              <a:rPr lang="zh-CN" altLang="en-US" b="0" i="0" dirty="0">
                <a:effectLst/>
                <a:latin typeface="+mj-ea"/>
                <a:ea typeface="+mj-ea"/>
              </a:rPr>
              <a:t>断裂怎么办？需要协同协奏。</a:t>
            </a:r>
          </a:p>
          <a:p>
            <a:pPr algn="l"/>
            <a:r>
              <a:rPr lang="zh-CN" altLang="en-US" b="0" i="0" dirty="0">
                <a:effectLst/>
                <a:latin typeface="+mj-ea"/>
                <a:ea typeface="+mj-ea"/>
              </a:rPr>
              <a:t>但协同协作过程中，问题反而更严重了。</a:t>
            </a:r>
          </a:p>
          <a:p>
            <a:pPr algn="l"/>
            <a:r>
              <a:rPr lang="zh-CN" altLang="en-US" b="0" i="0" dirty="0">
                <a:effectLst/>
                <a:latin typeface="+mj-ea"/>
                <a:ea typeface="+mj-ea"/>
              </a:rPr>
              <a:t>每个部门都在做对自己最有利的事，方向不同，</a:t>
            </a:r>
            <a:r>
              <a:rPr lang="zh-CN" altLang="en-US" sz="2400" b="1" i="0" dirty="0">
                <a:solidFill>
                  <a:srgbClr val="00D4FF"/>
                </a:solidFill>
                <a:effectLst/>
                <a:latin typeface="+mj-ea"/>
                <a:ea typeface="+mj-ea"/>
              </a:rPr>
              <a:t>矢量对消</a:t>
            </a:r>
            <a:r>
              <a:rPr lang="zh-CN" altLang="en-US" b="0" i="0" dirty="0">
                <a:effectLst/>
                <a:latin typeface="+mj-ea"/>
                <a:ea typeface="+mj-ea"/>
              </a:rPr>
              <a:t>。</a:t>
            </a:r>
          </a:p>
          <a:p>
            <a:pPr algn="l"/>
            <a:r>
              <a:rPr lang="zh-CN" altLang="en-US" b="0" i="0" dirty="0">
                <a:effectLst/>
                <a:latin typeface="+mj-ea"/>
                <a:ea typeface="+mj-ea"/>
              </a:rPr>
              <a:t>公式：</a:t>
            </a:r>
            <a:r>
              <a:rPr lang="en-US" altLang="zh-CN" sz="2400" b="1" i="0" dirty="0">
                <a:solidFill>
                  <a:srgbClr val="00D4FF"/>
                </a:solidFill>
                <a:effectLst/>
                <a:latin typeface="+mj-ea"/>
                <a:ea typeface="+mj-ea"/>
              </a:rPr>
              <a:t>Q = Σ‖Vᵢ‖ − ‖ΣVᵢ‖ ≥ 0</a:t>
            </a:r>
          </a:p>
          <a:p>
            <a:pPr algn="l"/>
            <a:r>
              <a:rPr lang="zh-CN" altLang="en-US" b="0" i="0" dirty="0">
                <a:effectLst/>
                <a:latin typeface="+mj-ea"/>
                <a:ea typeface="+mj-ea"/>
              </a:rPr>
              <a:t>你投入</a:t>
            </a:r>
            <a:r>
              <a:rPr lang="en-US" altLang="zh-CN" b="0" i="0" dirty="0">
                <a:effectLst/>
                <a:latin typeface="+mj-ea"/>
                <a:ea typeface="+mj-ea"/>
              </a:rPr>
              <a:t>100</a:t>
            </a:r>
            <a:r>
              <a:rPr lang="zh-CN" altLang="en-US" b="0" i="0" dirty="0">
                <a:effectLst/>
                <a:latin typeface="+mj-ea"/>
                <a:ea typeface="+mj-ea"/>
              </a:rPr>
              <a:t>份力气，真正推动公司向前的可能只有</a:t>
            </a:r>
            <a:r>
              <a:rPr lang="en-US" altLang="zh-CN" b="0" i="0" dirty="0">
                <a:effectLst/>
                <a:latin typeface="+mj-ea"/>
                <a:ea typeface="+mj-ea"/>
              </a:rPr>
              <a:t>30</a:t>
            </a:r>
            <a:r>
              <a:rPr lang="zh-CN" altLang="en-US" b="0" i="0" dirty="0">
                <a:effectLst/>
                <a:latin typeface="+mj-ea"/>
                <a:ea typeface="+mj-ea"/>
              </a:rPr>
              <a:t>份，剩下</a:t>
            </a:r>
            <a:r>
              <a:rPr lang="en-US" altLang="zh-CN" b="0" i="0" dirty="0">
                <a:effectLst/>
                <a:latin typeface="+mj-ea"/>
                <a:ea typeface="+mj-ea"/>
              </a:rPr>
              <a:t>70</a:t>
            </a:r>
            <a:r>
              <a:rPr lang="zh-CN" altLang="en-US" b="0" i="0" dirty="0">
                <a:effectLst/>
                <a:latin typeface="+mj-ea"/>
                <a:ea typeface="+mj-ea"/>
              </a:rPr>
              <a:t>份全变成了内耗</a:t>
            </a:r>
            <a:r>
              <a:rPr lang="zh-CN" altLang="en-US" sz="2400" b="1" i="0" dirty="0">
                <a:solidFill>
                  <a:srgbClr val="00D4FF"/>
                </a:solidFill>
                <a:effectLst/>
                <a:latin typeface="+mj-ea"/>
                <a:ea typeface="+mj-ea"/>
              </a:rPr>
              <a:t>废热</a:t>
            </a:r>
            <a:r>
              <a:rPr lang="zh-CN" altLang="en-US" b="0" i="0" dirty="0">
                <a:effectLst/>
                <a:latin typeface="+mj-ea"/>
                <a:ea typeface="+mj-ea"/>
              </a:rPr>
              <a:t>。</a:t>
            </a:r>
          </a:p>
        </p:txBody>
      </p:sp>
      <p:sp>
        <p:nvSpPr>
          <p:cNvPr id="6" name="文本框 5">
            <a:extLst>
              <a:ext uri="{FF2B5EF4-FFF2-40B4-BE49-F238E27FC236}">
                <a16:creationId xmlns:a16="http://schemas.microsoft.com/office/drawing/2014/main" id="{B6A0E8AD-C7E9-0F8B-3131-B25D4765AE06}"/>
              </a:ext>
            </a:extLst>
          </p:cNvPr>
          <p:cNvSpPr txBox="1"/>
          <p:nvPr/>
        </p:nvSpPr>
        <p:spPr>
          <a:xfrm>
            <a:off x="1943098" y="5037754"/>
            <a:ext cx="8888188" cy="461665"/>
          </a:xfrm>
          <a:prstGeom prst="rect">
            <a:avLst/>
          </a:prstGeom>
          <a:noFill/>
        </p:spPr>
        <p:txBody>
          <a:bodyPr wrap="square">
            <a:spAutoFit/>
          </a:bodyPr>
          <a:lstStyle/>
          <a:p>
            <a:r>
              <a:rPr lang="zh-CN" altLang="en-US" b="0" i="0" dirty="0">
                <a:effectLst/>
                <a:latin typeface="quote-cjk-patch"/>
              </a:rPr>
              <a:t>协同协奏（</a:t>
            </a:r>
            <a:r>
              <a:rPr lang="en-US" altLang="zh-CN" b="0" i="0" dirty="0">
                <a:effectLst/>
                <a:latin typeface="quote-cjk-patch"/>
              </a:rPr>
              <a:t>Orchestration</a:t>
            </a:r>
            <a:r>
              <a:rPr lang="zh-CN" altLang="en-US" b="0" i="0" dirty="0">
                <a:effectLst/>
                <a:latin typeface="quote-cjk-patch"/>
              </a:rPr>
              <a:t>），</a:t>
            </a:r>
            <a:r>
              <a:rPr lang="zh-CN" altLang="en-US" dirty="0"/>
              <a:t>本身不是目的。</a:t>
            </a:r>
            <a:r>
              <a:rPr lang="zh-CN" altLang="en-US" b="0" i="0" dirty="0">
                <a:effectLst/>
                <a:latin typeface="quote-cjk-patch"/>
              </a:rPr>
              <a:t>协同协奏</a:t>
            </a:r>
            <a:r>
              <a:rPr lang="zh-CN" altLang="en-US" dirty="0"/>
              <a:t>需要</a:t>
            </a:r>
            <a:r>
              <a:rPr lang="zh-CN" altLang="en-US" sz="2400" b="1" dirty="0">
                <a:solidFill>
                  <a:srgbClr val="00D4FF"/>
                </a:solidFill>
              </a:rPr>
              <a:t>统御</a:t>
            </a:r>
            <a:r>
              <a:rPr lang="zh-CN" altLang="en-US" b="0" i="0" dirty="0">
                <a:effectLst/>
                <a:latin typeface="quote-cjk-patch"/>
              </a:rPr>
              <a:t>（</a:t>
            </a:r>
            <a:r>
              <a:rPr lang="en-US" altLang="zh-CN" b="0" i="0" dirty="0">
                <a:effectLst/>
                <a:latin typeface="quote-cjk-patch"/>
              </a:rPr>
              <a:t>Orchestration</a:t>
            </a:r>
            <a:r>
              <a:rPr lang="zh-CN" altLang="en-US" b="0" i="0" dirty="0">
                <a:effectLst/>
                <a:latin typeface="quote-cjk-patch"/>
              </a:rPr>
              <a:t>）</a:t>
            </a:r>
            <a:r>
              <a:rPr lang="zh-CN" altLang="en-US" dirty="0"/>
              <a:t>。</a:t>
            </a:r>
            <a:endParaRPr lang="en-US" altLang="zh-CN" dirty="0"/>
          </a:p>
        </p:txBody>
      </p:sp>
    </p:spTree>
    <p:extLst>
      <p:ext uri="{BB962C8B-B14F-4D97-AF65-F5344CB8AC3E}">
        <p14:creationId xmlns:p14="http://schemas.microsoft.com/office/powerpoint/2010/main" val="1419718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E239E-4E2D-F854-1497-44A15DF88B71}"/>
              </a:ext>
            </a:extLst>
          </p:cNvPr>
          <p:cNvSpPr>
            <a:spLocks noGrp="1"/>
          </p:cNvSpPr>
          <p:nvPr>
            <p:ph type="title"/>
          </p:nvPr>
        </p:nvSpPr>
        <p:spPr/>
        <p:txBody>
          <a:bodyPr/>
          <a:lstStyle/>
          <a:p>
            <a:r>
              <a:rPr lang="zh-CN" altLang="en-US" dirty="0"/>
              <a:t>目的论</a:t>
            </a:r>
            <a:r>
              <a:rPr lang="en-US" altLang="zh-CN" dirty="0"/>
              <a:t>——</a:t>
            </a:r>
            <a:r>
              <a:rPr lang="zh-CN" altLang="en-US" dirty="0"/>
              <a:t>推论</a:t>
            </a:r>
          </a:p>
        </p:txBody>
      </p:sp>
      <p:grpSp>
        <p:nvGrpSpPr>
          <p:cNvPr id="5" name="组合 4">
            <a:extLst>
              <a:ext uri="{FF2B5EF4-FFF2-40B4-BE49-F238E27FC236}">
                <a16:creationId xmlns:a16="http://schemas.microsoft.com/office/drawing/2014/main" id="{38977C6F-69FB-8D39-E406-5DF7ECCEE280}"/>
              </a:ext>
            </a:extLst>
          </p:cNvPr>
          <p:cNvGrpSpPr>
            <a:grpSpLocks noChangeAspect="1"/>
          </p:cNvGrpSpPr>
          <p:nvPr>
            <p:custDataLst>
              <p:tags r:id="rId1"/>
            </p:custDataLst>
          </p:nvPr>
        </p:nvGrpSpPr>
        <p:grpSpPr>
          <a:xfrm>
            <a:off x="902601" y="1576310"/>
            <a:ext cx="11102585" cy="4346641"/>
            <a:chOff x="1173024" y="1343603"/>
            <a:chExt cx="4866638" cy="4342530"/>
          </a:xfrm>
        </p:grpSpPr>
        <p:grpSp>
          <p:nvGrpSpPr>
            <p:cNvPr id="6" name="组合 5">
              <a:extLst>
                <a:ext uri="{FF2B5EF4-FFF2-40B4-BE49-F238E27FC236}">
                  <a16:creationId xmlns:a16="http://schemas.microsoft.com/office/drawing/2014/main" id="{77A99A4B-BDFE-8EA1-97F4-9A1D6C05572B}"/>
                </a:ext>
              </a:extLst>
            </p:cNvPr>
            <p:cNvGrpSpPr/>
            <p:nvPr/>
          </p:nvGrpSpPr>
          <p:grpSpPr>
            <a:xfrm>
              <a:off x="1173024" y="1343603"/>
              <a:ext cx="4866638" cy="1309868"/>
              <a:chOff x="908629" y="1251241"/>
              <a:chExt cx="4866638" cy="1309868"/>
            </a:xfrm>
          </p:grpSpPr>
          <p:sp>
            <p:nvSpPr>
              <p:cNvPr id="17" name="1">
                <a:extLst>
                  <a:ext uri="{FF2B5EF4-FFF2-40B4-BE49-F238E27FC236}">
                    <a16:creationId xmlns:a16="http://schemas.microsoft.com/office/drawing/2014/main" id="{923809DA-5827-6D89-23D3-A45F478DE4EF}"/>
                  </a:ext>
                </a:extLst>
              </p:cNvPr>
              <p:cNvSpPr/>
              <p:nvPr/>
            </p:nvSpPr>
            <p:spPr>
              <a:xfrm>
                <a:off x="908629" y="1251241"/>
                <a:ext cx="4866638" cy="1224000"/>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latin typeface="+mj-ea"/>
                  <a:ea typeface="+mj-ea"/>
                  <a:cs typeface="+mn-ea"/>
                  <a:sym typeface="+mn-lt"/>
                </a:endParaRPr>
              </a:p>
            </p:txBody>
          </p:sp>
          <p:sp>
            <p:nvSpPr>
              <p:cNvPr id="19" name="Title-1">
                <a:extLst>
                  <a:ext uri="{FF2B5EF4-FFF2-40B4-BE49-F238E27FC236}">
                    <a16:creationId xmlns:a16="http://schemas.microsoft.com/office/drawing/2014/main" id="{32796CE5-C9B7-85CB-0DAD-8ED649C811B1}"/>
                  </a:ext>
                </a:extLst>
              </p:cNvPr>
              <p:cNvSpPr txBox="1"/>
              <p:nvPr>
                <p:custDataLst>
                  <p:tags r:id="rId6"/>
                </p:custDataLst>
              </p:nvPr>
            </p:nvSpPr>
            <p:spPr>
              <a:xfrm>
                <a:off x="1298645" y="1419894"/>
                <a:ext cx="3595938" cy="38751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00D4FF"/>
                    </a:solidFill>
                    <a:effectLst/>
                    <a:uLnTx/>
                    <a:uFillTx/>
                    <a:latin typeface="+mj-ea"/>
                    <a:ea typeface="+mj-ea"/>
                    <a:cs typeface="+mn-cs"/>
                  </a:rPr>
                  <a:t>推论一：非线性摩擦导致规模不经济与</a:t>
                </a:r>
                <a:r>
                  <a:rPr kumimoji="0" lang="en-US" altLang="zh-CN" sz="2400" b="1" i="0" u="none" strike="noStrike" kern="0" cap="none" spc="0" normalizeH="0" baseline="0" noProof="0" dirty="0">
                    <a:ln>
                      <a:noFill/>
                    </a:ln>
                    <a:solidFill>
                      <a:srgbClr val="00D4FF"/>
                    </a:solidFill>
                    <a:effectLst/>
                    <a:uLnTx/>
                    <a:uFillTx/>
                    <a:latin typeface="+mj-ea"/>
                    <a:ea typeface="+mj-ea"/>
                    <a:cs typeface="+mn-cs"/>
                  </a:rPr>
                  <a:t>ROIC</a:t>
                </a:r>
                <a:r>
                  <a:rPr kumimoji="0" lang="zh-CN" altLang="en-US" sz="2400" b="1" i="0" u="none" strike="noStrike" kern="0" cap="none" spc="0" normalizeH="0" baseline="0" noProof="0" dirty="0">
                    <a:ln>
                      <a:noFill/>
                    </a:ln>
                    <a:solidFill>
                      <a:srgbClr val="00D4FF"/>
                    </a:solidFill>
                    <a:effectLst/>
                    <a:uLnTx/>
                    <a:uFillTx/>
                    <a:latin typeface="+mj-ea"/>
                    <a:ea typeface="+mj-ea"/>
                    <a:cs typeface="+mn-cs"/>
                  </a:rPr>
                  <a:t>衰减。</a:t>
                </a:r>
              </a:p>
            </p:txBody>
          </p:sp>
          <p:sp>
            <p:nvSpPr>
              <p:cNvPr id="20" name="Body-1">
                <a:extLst>
                  <a:ext uri="{FF2B5EF4-FFF2-40B4-BE49-F238E27FC236}">
                    <a16:creationId xmlns:a16="http://schemas.microsoft.com/office/drawing/2014/main" id="{EE88676C-1F8C-9A85-9076-A8A9431B9663}"/>
                  </a:ext>
                </a:extLst>
              </p:cNvPr>
              <p:cNvSpPr/>
              <p:nvPr>
                <p:custDataLst>
                  <p:tags r:id="rId7"/>
                </p:custDataLst>
              </p:nvPr>
            </p:nvSpPr>
            <p:spPr>
              <a:xfrm>
                <a:off x="1298645" y="1862705"/>
                <a:ext cx="4363945"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mj-ea"/>
                    <a:ea typeface="+mj-ea"/>
                    <a:cs typeface="+mn-cs"/>
                  </a:rPr>
                  <a:t>→ 不统御，</a:t>
                </a:r>
                <a:r>
                  <a:rPr kumimoji="0" lang="zh-CN" altLang="en-US" b="1" i="0" u="none" strike="noStrike" kern="1200" cap="none" spc="0" normalizeH="0" baseline="0" noProof="0" dirty="0">
                    <a:ln>
                      <a:noFill/>
                    </a:ln>
                    <a:solidFill>
                      <a:srgbClr val="00D4FF"/>
                    </a:solidFill>
                    <a:effectLst/>
                    <a:uLnTx/>
                    <a:uFillTx/>
                    <a:latin typeface="+mj-ea"/>
                    <a:ea typeface="+mj-ea"/>
                    <a:cs typeface="+mn-cs"/>
                  </a:rPr>
                  <a:t>规模越大，内耗越大</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a:t>
                </a:r>
                <a:endParaRPr kumimoji="0" lang="en-GB" altLang="zh-CN" sz="1400" b="0" i="0" u="none" strike="noStrike" kern="1200" cap="none" spc="0" normalizeH="0" baseline="0" noProof="0" dirty="0">
                  <a:ln>
                    <a:noFill/>
                  </a:ln>
                  <a:solidFill>
                    <a:schemeClr val="tx1"/>
                  </a:solidFill>
                  <a:effectLst/>
                  <a:uLnTx/>
                  <a:uFillTx/>
                  <a:latin typeface="+mj-ea"/>
                  <a:ea typeface="+mj-ea"/>
                  <a:cs typeface="+mn-cs"/>
                </a:endParaRPr>
              </a:p>
            </p:txBody>
          </p:sp>
        </p:grpSp>
        <p:grpSp>
          <p:nvGrpSpPr>
            <p:cNvPr id="7" name="组合 6">
              <a:extLst>
                <a:ext uri="{FF2B5EF4-FFF2-40B4-BE49-F238E27FC236}">
                  <a16:creationId xmlns:a16="http://schemas.microsoft.com/office/drawing/2014/main" id="{8F432AF8-9FA9-F099-D5E2-389C5A3AB95B}"/>
                </a:ext>
              </a:extLst>
            </p:cNvPr>
            <p:cNvGrpSpPr/>
            <p:nvPr/>
          </p:nvGrpSpPr>
          <p:grpSpPr>
            <a:xfrm>
              <a:off x="1173024" y="2817000"/>
              <a:ext cx="4866638" cy="1301662"/>
              <a:chOff x="908629" y="2724638"/>
              <a:chExt cx="4866638" cy="1301662"/>
            </a:xfrm>
          </p:grpSpPr>
          <p:sp>
            <p:nvSpPr>
              <p:cNvPr id="13" name="2">
                <a:extLst>
                  <a:ext uri="{FF2B5EF4-FFF2-40B4-BE49-F238E27FC236}">
                    <a16:creationId xmlns:a16="http://schemas.microsoft.com/office/drawing/2014/main" id="{7D4B9A75-711C-7B73-1630-1B7793478C52}"/>
                  </a:ext>
                </a:extLst>
              </p:cNvPr>
              <p:cNvSpPr/>
              <p:nvPr/>
            </p:nvSpPr>
            <p:spPr>
              <a:xfrm>
                <a:off x="908629" y="2724638"/>
                <a:ext cx="4866638" cy="1301662"/>
              </a:xfrm>
              <a:prstGeom prst="roundRect">
                <a:avLst>
                  <a:gd name="adj" fmla="val 9100"/>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endParaRPr kumimoji="1" lang="en-US" altLang="zh-CN" sz="1200" dirty="0">
                  <a:solidFill>
                    <a:schemeClr val="tx1"/>
                  </a:solidFill>
                  <a:latin typeface="+mj-ea"/>
                  <a:ea typeface="+mj-ea"/>
                  <a:cs typeface="+mn-ea"/>
                  <a:sym typeface="+mn-lt"/>
                </a:endParaRPr>
              </a:p>
            </p:txBody>
          </p:sp>
          <p:sp>
            <p:nvSpPr>
              <p:cNvPr id="15" name="Title-2">
                <a:extLst>
                  <a:ext uri="{FF2B5EF4-FFF2-40B4-BE49-F238E27FC236}">
                    <a16:creationId xmlns:a16="http://schemas.microsoft.com/office/drawing/2014/main" id="{2F160E54-6D1A-E158-8DE3-55D82DA41B04}"/>
                  </a:ext>
                </a:extLst>
              </p:cNvPr>
              <p:cNvSpPr txBox="1"/>
              <p:nvPr>
                <p:custDataLst>
                  <p:tags r:id="rId4"/>
                </p:custDataLst>
              </p:nvPr>
            </p:nvSpPr>
            <p:spPr>
              <a:xfrm>
                <a:off x="1298645" y="2758024"/>
                <a:ext cx="3129684" cy="357617"/>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00D4FF"/>
                    </a:solidFill>
                    <a:effectLst/>
                    <a:uLnTx/>
                    <a:uFillTx/>
                    <a:latin typeface="+mj-ea"/>
                    <a:ea typeface="+mj-ea"/>
                    <a:cs typeface="+mn-cs"/>
                  </a:rPr>
                  <a:t>推论二：脱离</a:t>
                </a:r>
                <a:r>
                  <a:rPr kumimoji="0" lang="en-US" altLang="zh-CN" sz="2400" b="1" i="0" u="none" strike="noStrike" kern="0" cap="none" spc="0" normalizeH="0" baseline="0" noProof="0" dirty="0">
                    <a:ln>
                      <a:noFill/>
                    </a:ln>
                    <a:solidFill>
                      <a:srgbClr val="00D4FF"/>
                    </a:solidFill>
                    <a:effectLst/>
                    <a:uLnTx/>
                    <a:uFillTx/>
                    <a:latin typeface="+mj-ea"/>
                    <a:ea typeface="+mj-ea"/>
                    <a:cs typeface="+mn-cs"/>
                  </a:rPr>
                  <a:t>Π</a:t>
                </a:r>
                <a:r>
                  <a:rPr kumimoji="0" lang="zh-CN" altLang="en-US" sz="2400" b="1" i="0" u="none" strike="noStrike" kern="0" cap="none" spc="0" normalizeH="0" baseline="0" noProof="0" dirty="0">
                    <a:ln>
                      <a:noFill/>
                    </a:ln>
                    <a:solidFill>
                      <a:srgbClr val="00D4FF"/>
                    </a:solidFill>
                    <a:effectLst/>
                    <a:uLnTx/>
                    <a:uFillTx/>
                    <a:latin typeface="+mj-ea"/>
                    <a:ea typeface="+mj-ea"/>
                    <a:cs typeface="+mn-cs"/>
                  </a:rPr>
                  <a:t>的局部极值转化为全局耗散。</a:t>
                </a:r>
              </a:p>
            </p:txBody>
          </p:sp>
          <p:sp>
            <p:nvSpPr>
              <p:cNvPr id="16" name="Body-2">
                <a:extLst>
                  <a:ext uri="{FF2B5EF4-FFF2-40B4-BE49-F238E27FC236}">
                    <a16:creationId xmlns:a16="http://schemas.microsoft.com/office/drawing/2014/main" id="{60025756-7553-3C9C-EA60-E6F88C911F74}"/>
                  </a:ext>
                </a:extLst>
              </p:cNvPr>
              <p:cNvSpPr/>
              <p:nvPr>
                <p:custDataLst>
                  <p:tags r:id="rId5"/>
                </p:custDataLst>
              </p:nvPr>
            </p:nvSpPr>
            <p:spPr>
              <a:xfrm>
                <a:off x="1298645" y="3155473"/>
                <a:ext cx="4363945"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mj-ea"/>
                    <a:ea typeface="+mj-ea"/>
                    <a:cs typeface="+mn-cs"/>
                  </a:rPr>
                  <a:t>→ 不统御，部门</a:t>
                </a:r>
                <a:r>
                  <a:rPr kumimoji="0" lang="en-US" altLang="zh-CN" sz="1400" b="0" i="0" u="none" strike="noStrike" kern="1200" cap="none" spc="0" normalizeH="0" baseline="0" noProof="0" dirty="0">
                    <a:ln>
                      <a:noFill/>
                    </a:ln>
                    <a:solidFill>
                      <a:schemeClr val="tx1"/>
                    </a:solidFill>
                    <a:effectLst/>
                    <a:uLnTx/>
                    <a:uFillTx/>
                    <a:latin typeface="+mj-ea"/>
                    <a:ea typeface="+mj-ea"/>
                    <a:cs typeface="+mn-cs"/>
                  </a:rPr>
                  <a:t>KPI</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漂亮，全局</a:t>
                </a:r>
                <a:r>
                  <a:rPr kumimoji="0" lang="zh-CN" altLang="en-US" b="1" i="0" u="none" strike="noStrike" kern="1200" cap="none" spc="0" normalizeH="0" baseline="0" noProof="0" dirty="0">
                    <a:ln>
                      <a:noFill/>
                    </a:ln>
                    <a:solidFill>
                      <a:srgbClr val="00D4FF"/>
                    </a:solidFill>
                    <a:effectLst/>
                    <a:uLnTx/>
                    <a:uFillTx/>
                    <a:latin typeface="+mj-ea"/>
                    <a:ea typeface="+mj-ea"/>
                    <a:cs typeface="+mn-cs"/>
                  </a:rPr>
                  <a:t>库存高企</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a:t>
                </a:r>
                <a:r>
                  <a:rPr kumimoji="0" lang="zh-CN" altLang="en-US" b="1" i="0" u="none" strike="noStrike" kern="1200" cap="none" spc="0" normalizeH="0" baseline="0" noProof="0" dirty="0">
                    <a:ln>
                      <a:noFill/>
                    </a:ln>
                    <a:solidFill>
                      <a:srgbClr val="00D4FF"/>
                    </a:solidFill>
                    <a:effectLst/>
                    <a:uLnTx/>
                    <a:uFillTx/>
                    <a:latin typeface="+mj-ea"/>
                    <a:ea typeface="+mj-ea"/>
                    <a:cs typeface="+mn-cs"/>
                  </a:rPr>
                  <a:t>现金流失血</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a:t>
                </a:r>
              </a:p>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mj-ea"/>
                    <a:ea typeface="+mj-ea"/>
                    <a:cs typeface="+mn-cs"/>
                  </a:rPr>
                  <a:t>→ </a:t>
                </a:r>
                <a:r>
                  <a:rPr kumimoji="0" lang="zh-CN" altLang="en-US" b="1" i="0" u="none" strike="noStrike" kern="1200" cap="none" spc="0" normalizeH="0" baseline="0" noProof="0" dirty="0">
                    <a:ln>
                      <a:noFill/>
                    </a:ln>
                    <a:solidFill>
                      <a:srgbClr val="00D4FF"/>
                    </a:solidFill>
                    <a:effectLst/>
                    <a:uLnTx/>
                    <a:uFillTx/>
                    <a:latin typeface="+mj-ea"/>
                    <a:ea typeface="+mj-ea"/>
                    <a:cs typeface="+mn-cs"/>
                  </a:rPr>
                  <a:t>多智能体与自组织</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的所谓协同，正是脱离</a:t>
                </a:r>
                <a:r>
                  <a:rPr kumimoji="0" lang="en-US" altLang="zh-CN" sz="1400" b="0" i="0" u="none" strike="noStrike" kern="1200" cap="none" spc="0" normalizeH="0" baseline="0" noProof="0" dirty="0">
                    <a:ln>
                      <a:noFill/>
                    </a:ln>
                    <a:solidFill>
                      <a:schemeClr val="tx1"/>
                    </a:solidFill>
                    <a:effectLst/>
                    <a:uLnTx/>
                    <a:uFillTx/>
                    <a:latin typeface="+mj-ea"/>
                    <a:ea typeface="+mj-ea"/>
                    <a:cs typeface="+mn-cs"/>
                  </a:rPr>
                  <a:t>Π</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的局部极值博弈。物理结局：</a:t>
                </a:r>
                <a:r>
                  <a:rPr kumimoji="0" lang="zh-CN" altLang="en-US" sz="2000" b="1" i="0" u="none" strike="noStrike" kern="1200" cap="none" spc="0" normalizeH="0" baseline="0" noProof="0" dirty="0">
                    <a:ln>
                      <a:noFill/>
                    </a:ln>
                    <a:solidFill>
                      <a:srgbClr val="00D4FF"/>
                    </a:solidFill>
                    <a:effectLst/>
                    <a:uLnTx/>
                    <a:uFillTx/>
                    <a:latin typeface="+mj-ea"/>
                    <a:ea typeface="+mj-ea"/>
                    <a:cs typeface="+mn-cs"/>
                  </a:rPr>
                  <a:t>纳什均衡，集体布朗运动</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a:t>
                </a:r>
                <a:endParaRPr kumimoji="0" lang="en-GB" altLang="zh-CN" sz="1400" b="0" i="0" u="none" strike="noStrike" kern="1200" cap="none" spc="0" normalizeH="0" baseline="0" noProof="0" dirty="0">
                  <a:ln>
                    <a:noFill/>
                  </a:ln>
                  <a:solidFill>
                    <a:schemeClr val="tx1"/>
                  </a:solidFill>
                  <a:effectLst/>
                  <a:uLnTx/>
                  <a:uFillTx/>
                  <a:latin typeface="+mj-ea"/>
                  <a:ea typeface="+mj-ea"/>
                  <a:cs typeface="+mn-cs"/>
                </a:endParaRPr>
              </a:p>
            </p:txBody>
          </p:sp>
        </p:grpSp>
        <p:grpSp>
          <p:nvGrpSpPr>
            <p:cNvPr id="8" name="组合 7">
              <a:extLst>
                <a:ext uri="{FF2B5EF4-FFF2-40B4-BE49-F238E27FC236}">
                  <a16:creationId xmlns:a16="http://schemas.microsoft.com/office/drawing/2014/main" id="{245D909F-43AD-C3E6-A0F4-856D466F5C37}"/>
                </a:ext>
              </a:extLst>
            </p:cNvPr>
            <p:cNvGrpSpPr/>
            <p:nvPr/>
          </p:nvGrpSpPr>
          <p:grpSpPr>
            <a:xfrm>
              <a:off x="1173024" y="4290398"/>
              <a:ext cx="4866638" cy="1395735"/>
              <a:chOff x="908629" y="4198036"/>
              <a:chExt cx="4866638" cy="1395735"/>
            </a:xfrm>
          </p:grpSpPr>
          <p:sp>
            <p:nvSpPr>
              <p:cNvPr id="9" name="3">
                <a:extLst>
                  <a:ext uri="{FF2B5EF4-FFF2-40B4-BE49-F238E27FC236}">
                    <a16:creationId xmlns:a16="http://schemas.microsoft.com/office/drawing/2014/main" id="{8BCF64D4-785E-3553-E47E-9549DB18F1BA}"/>
                  </a:ext>
                </a:extLst>
              </p:cNvPr>
              <p:cNvSpPr/>
              <p:nvPr/>
            </p:nvSpPr>
            <p:spPr>
              <a:xfrm>
                <a:off x="908629" y="4198036"/>
                <a:ext cx="4866638" cy="1224000"/>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endParaRPr kumimoji="1" lang="en-US" altLang="zh-CN" sz="1200" dirty="0">
                  <a:solidFill>
                    <a:schemeClr val="tx1"/>
                  </a:solidFill>
                  <a:latin typeface="+mj-ea"/>
                  <a:ea typeface="+mj-ea"/>
                  <a:cs typeface="+mn-ea"/>
                  <a:sym typeface="+mn-lt"/>
                </a:endParaRPr>
              </a:p>
            </p:txBody>
          </p:sp>
          <p:sp>
            <p:nvSpPr>
              <p:cNvPr id="11" name="Title-3">
                <a:extLst>
                  <a:ext uri="{FF2B5EF4-FFF2-40B4-BE49-F238E27FC236}">
                    <a16:creationId xmlns:a16="http://schemas.microsoft.com/office/drawing/2014/main" id="{0A3EA3E7-79E2-872F-82FA-CB4F9DB7720A}"/>
                  </a:ext>
                </a:extLst>
              </p:cNvPr>
              <p:cNvSpPr txBox="1"/>
              <p:nvPr>
                <p:custDataLst>
                  <p:tags r:id="rId2"/>
                </p:custDataLst>
              </p:nvPr>
            </p:nvSpPr>
            <p:spPr>
              <a:xfrm>
                <a:off x="1298645" y="4304621"/>
                <a:ext cx="2596425" cy="27960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00D4FF"/>
                    </a:solidFill>
                    <a:effectLst/>
                    <a:uLnTx/>
                    <a:uFillTx/>
                    <a:latin typeface="+mj-ea"/>
                    <a:ea typeface="+mj-ea"/>
                    <a:cs typeface="+mn-cs"/>
                  </a:rPr>
                  <a:t>推论三：战略偏离导致低效做功。</a:t>
                </a:r>
              </a:p>
            </p:txBody>
          </p:sp>
          <p:sp>
            <p:nvSpPr>
              <p:cNvPr id="12" name="Body-3">
                <a:extLst>
                  <a:ext uri="{FF2B5EF4-FFF2-40B4-BE49-F238E27FC236}">
                    <a16:creationId xmlns:a16="http://schemas.microsoft.com/office/drawing/2014/main" id="{A5CFA085-68F3-2EDF-3892-422911DF6989}"/>
                  </a:ext>
                </a:extLst>
              </p:cNvPr>
              <p:cNvSpPr/>
              <p:nvPr>
                <p:custDataLst>
                  <p:tags r:id="rId3"/>
                </p:custDataLst>
              </p:nvPr>
            </p:nvSpPr>
            <p:spPr>
              <a:xfrm>
                <a:off x="1298645" y="4895367"/>
                <a:ext cx="4363945"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mj-ea"/>
                    <a:ea typeface="+mj-ea"/>
                    <a:cs typeface="+mn-cs"/>
                  </a:rPr>
                  <a:t>→ 不统御，执行方向与战略正交，局部高效</a:t>
                </a:r>
                <a:r>
                  <a:rPr kumimoji="0" lang="zh-CN" altLang="en-US" sz="2000" b="1" i="0" u="none" strike="noStrike" kern="1200" cap="none" spc="0" normalizeH="0" baseline="0" noProof="0" dirty="0">
                    <a:ln>
                      <a:noFill/>
                    </a:ln>
                    <a:solidFill>
                      <a:srgbClr val="00D4FF"/>
                    </a:solidFill>
                    <a:effectLst/>
                    <a:uLnTx/>
                    <a:uFillTx/>
                    <a:latin typeface="+mj-ea"/>
                    <a:ea typeface="+mj-ea"/>
                    <a:cs typeface="+mn-cs"/>
                  </a:rPr>
                  <a:t>无法</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转化为</a:t>
                </a:r>
                <a:r>
                  <a:rPr kumimoji="0" lang="zh-CN" altLang="en-US" sz="2000" b="1" i="0" u="none" strike="noStrike" kern="1200" cap="none" spc="0" normalizeH="0" baseline="0" noProof="0" dirty="0">
                    <a:ln>
                      <a:noFill/>
                    </a:ln>
                    <a:solidFill>
                      <a:srgbClr val="00D4FF"/>
                    </a:solidFill>
                    <a:effectLst/>
                    <a:uLnTx/>
                    <a:uFillTx/>
                    <a:latin typeface="+mj-ea"/>
                    <a:ea typeface="+mj-ea"/>
                    <a:cs typeface="+mn-cs"/>
                  </a:rPr>
                  <a:t>战略位移</a:t>
                </a:r>
                <a:r>
                  <a:rPr kumimoji="0" lang="zh-CN" altLang="en-US" sz="1400" b="0" i="0" u="none" strike="noStrike" kern="1200" cap="none" spc="0" normalizeH="0" baseline="0" noProof="0" dirty="0">
                    <a:ln>
                      <a:noFill/>
                    </a:ln>
                    <a:solidFill>
                      <a:schemeClr val="tx1"/>
                    </a:solidFill>
                    <a:effectLst/>
                    <a:uLnTx/>
                    <a:uFillTx/>
                    <a:latin typeface="+mj-ea"/>
                    <a:ea typeface="+mj-ea"/>
                    <a:cs typeface="+mn-cs"/>
                  </a:rPr>
                  <a:t>。</a:t>
                </a:r>
                <a:endParaRPr kumimoji="0" lang="en-GB" altLang="zh-CN" sz="1400" b="0" i="0" u="none" strike="noStrike" kern="1200" cap="none" spc="0" normalizeH="0" baseline="0" noProof="0" dirty="0">
                  <a:ln>
                    <a:noFill/>
                  </a:ln>
                  <a:solidFill>
                    <a:schemeClr val="tx1"/>
                  </a:solidFill>
                  <a:effectLst/>
                  <a:uLnTx/>
                  <a:uFillTx/>
                  <a:latin typeface="+mj-ea"/>
                  <a:ea typeface="+mj-ea"/>
                  <a:cs typeface="+mn-cs"/>
                </a:endParaRPr>
              </a:p>
            </p:txBody>
          </p:sp>
        </p:grpSp>
      </p:grpSp>
    </p:spTree>
    <p:extLst>
      <p:ext uri="{BB962C8B-B14F-4D97-AF65-F5344CB8AC3E}">
        <p14:creationId xmlns:p14="http://schemas.microsoft.com/office/powerpoint/2010/main" val="827881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58227F-D2A9-AAA3-5DB5-8841A242602D}"/>
              </a:ext>
            </a:extLst>
          </p:cNvPr>
          <p:cNvSpPr>
            <a:spLocks noGrp="1"/>
          </p:cNvSpPr>
          <p:nvPr>
            <p:ph type="title"/>
          </p:nvPr>
        </p:nvSpPr>
        <p:spPr/>
        <p:txBody>
          <a:bodyPr/>
          <a:lstStyle/>
          <a:p>
            <a:r>
              <a:rPr lang="zh-CN" altLang="en-US" dirty="0"/>
              <a:t>目的论</a:t>
            </a:r>
            <a:r>
              <a:rPr lang="en-US" altLang="zh-CN" dirty="0"/>
              <a:t>——</a:t>
            </a:r>
            <a:r>
              <a:rPr lang="zh-CN" altLang="en-US" dirty="0"/>
              <a:t>全域统御</a:t>
            </a:r>
          </a:p>
        </p:txBody>
      </p:sp>
      <p:sp>
        <p:nvSpPr>
          <p:cNvPr id="4" name="文本框 3">
            <a:extLst>
              <a:ext uri="{FF2B5EF4-FFF2-40B4-BE49-F238E27FC236}">
                <a16:creationId xmlns:a16="http://schemas.microsoft.com/office/drawing/2014/main" id="{3ACEFFAA-D3DB-F9FB-7980-70AF22D5A80D}"/>
              </a:ext>
            </a:extLst>
          </p:cNvPr>
          <p:cNvSpPr txBox="1"/>
          <p:nvPr/>
        </p:nvSpPr>
        <p:spPr>
          <a:xfrm>
            <a:off x="1170213" y="1522175"/>
            <a:ext cx="10619015" cy="3508653"/>
          </a:xfrm>
          <a:prstGeom prst="rect">
            <a:avLst/>
          </a:prstGeom>
          <a:noFill/>
        </p:spPr>
        <p:txBody>
          <a:bodyPr wrap="square">
            <a:spAutoFit/>
          </a:bodyPr>
          <a:lstStyle/>
          <a:p>
            <a:r>
              <a:rPr lang="zh-CN" altLang="en-US" dirty="0"/>
              <a:t>协同协作需要统御。这就是价值链管理的目的。</a:t>
            </a:r>
          </a:p>
          <a:p>
            <a:endParaRPr lang="zh-CN" altLang="en-US" dirty="0"/>
          </a:p>
          <a:p>
            <a:r>
              <a:rPr lang="zh-CN" altLang="en-US" dirty="0"/>
              <a:t>通过计划和控制，把研发（</a:t>
            </a:r>
            <a:r>
              <a:rPr lang="en-US" altLang="zh-CN" dirty="0"/>
              <a:t>C</a:t>
            </a:r>
            <a:r>
              <a:rPr lang="zh-CN" altLang="en-US" dirty="0"/>
              <a:t>）、营销（</a:t>
            </a:r>
            <a:r>
              <a:rPr lang="en-US" altLang="zh-CN" dirty="0"/>
              <a:t>P</a:t>
            </a:r>
            <a:r>
              <a:rPr lang="zh-CN" altLang="en-US" dirty="0"/>
              <a:t>）、交付（</a:t>
            </a:r>
            <a:r>
              <a:rPr lang="en-US" altLang="zh-CN" dirty="0"/>
              <a:t>D</a:t>
            </a:r>
            <a:r>
              <a:rPr lang="zh-CN" altLang="en-US" dirty="0"/>
              <a:t>）的无序碰撞，强行收敛到老板战略意志（</a:t>
            </a:r>
            <a:r>
              <a:rPr lang="en-US" altLang="zh-CN" dirty="0"/>
              <a:t>M</a:t>
            </a:r>
            <a:r>
              <a:rPr lang="zh-CN" altLang="en-US" dirty="0"/>
              <a:t>）的方向上。</a:t>
            </a:r>
          </a:p>
          <a:p>
            <a:endParaRPr lang="zh-CN" altLang="en-US" dirty="0"/>
          </a:p>
          <a:p>
            <a:r>
              <a:rPr lang="zh-CN" altLang="en-US" dirty="0"/>
              <a:t>核心方程：</a:t>
            </a:r>
            <a:r>
              <a:rPr lang="en-US" altLang="zh-CN" sz="2400" b="1" dirty="0">
                <a:solidFill>
                  <a:srgbClr val="00D4FF"/>
                </a:solidFill>
              </a:rPr>
              <a:t>V = M · Π [ C ⊗ P ⊗ D ]</a:t>
            </a:r>
          </a:p>
          <a:p>
            <a:endParaRPr lang="en-US" altLang="zh-CN" dirty="0"/>
          </a:p>
          <a:p>
            <a:r>
              <a:rPr lang="en-US" altLang="zh-CN" dirty="0"/>
              <a:t>M</a:t>
            </a:r>
            <a:r>
              <a:rPr lang="zh-CN" altLang="en-US" dirty="0"/>
              <a:t>：老板的战略意志</a:t>
            </a:r>
          </a:p>
          <a:p>
            <a:endParaRPr lang="zh-CN" altLang="en-US" dirty="0"/>
          </a:p>
          <a:p>
            <a:r>
              <a:rPr lang="en-US" altLang="zh-CN" dirty="0"/>
              <a:t>Π</a:t>
            </a:r>
            <a:r>
              <a:rPr lang="zh-CN" altLang="en-US" dirty="0"/>
              <a:t>：统御算符（计划与控制工作的本体）</a:t>
            </a:r>
          </a:p>
          <a:p>
            <a:endParaRPr lang="zh-CN" altLang="en-US" dirty="0"/>
          </a:p>
          <a:p>
            <a:r>
              <a:rPr lang="en-US" altLang="zh-CN" dirty="0"/>
              <a:t>C ⊗ P ⊗ D</a:t>
            </a:r>
            <a:r>
              <a:rPr lang="zh-CN" altLang="en-US" dirty="0"/>
              <a:t>：研发、营销、交付的强耦合张量积</a:t>
            </a:r>
          </a:p>
        </p:txBody>
      </p:sp>
      <p:sp>
        <p:nvSpPr>
          <p:cNvPr id="6" name="文本框 5">
            <a:extLst>
              <a:ext uri="{FF2B5EF4-FFF2-40B4-BE49-F238E27FC236}">
                <a16:creationId xmlns:a16="http://schemas.microsoft.com/office/drawing/2014/main" id="{882B35EA-341C-3495-6733-348267A1BA9A}"/>
              </a:ext>
            </a:extLst>
          </p:cNvPr>
          <p:cNvSpPr txBox="1"/>
          <p:nvPr/>
        </p:nvSpPr>
        <p:spPr>
          <a:xfrm>
            <a:off x="2879271" y="5646325"/>
            <a:ext cx="6819900" cy="830997"/>
          </a:xfrm>
          <a:prstGeom prst="rect">
            <a:avLst/>
          </a:prstGeom>
          <a:noFill/>
        </p:spPr>
        <p:txBody>
          <a:bodyPr wrap="square">
            <a:spAutoFit/>
          </a:bodyPr>
          <a:lstStyle/>
          <a:p>
            <a:r>
              <a:rPr lang="zh-CN" altLang="en-US" dirty="0"/>
              <a:t>计划和控制存在的目的，不是排产，不是监控，是</a:t>
            </a:r>
            <a:r>
              <a:rPr lang="zh-CN" altLang="en-US" sz="2400" b="1" dirty="0">
                <a:solidFill>
                  <a:srgbClr val="00D4FF"/>
                </a:solidFill>
              </a:rPr>
              <a:t>全域统御</a:t>
            </a:r>
            <a:r>
              <a:rPr lang="zh-CN" altLang="en-US" dirty="0"/>
              <a:t>。</a:t>
            </a:r>
            <a:endParaRPr lang="en-US" altLang="zh-CN" dirty="0"/>
          </a:p>
          <a:p>
            <a:r>
              <a:rPr lang="zh-CN" altLang="en-US" sz="2400" b="1" dirty="0">
                <a:solidFill>
                  <a:srgbClr val="00D4FF"/>
                </a:solidFill>
              </a:rPr>
              <a:t>统御算符</a:t>
            </a:r>
            <a:r>
              <a:rPr lang="en-US" altLang="zh-CN" sz="2400" b="1" dirty="0">
                <a:solidFill>
                  <a:srgbClr val="00D4FF"/>
                </a:solidFill>
              </a:rPr>
              <a:t>Π</a:t>
            </a:r>
            <a:r>
              <a:rPr lang="zh-CN" altLang="en-US" dirty="0"/>
              <a:t>，就是</a:t>
            </a:r>
            <a:r>
              <a:rPr lang="zh-CN" altLang="en-US" sz="2400" b="1" dirty="0">
                <a:solidFill>
                  <a:srgbClr val="00D4FF"/>
                </a:solidFill>
              </a:rPr>
              <a:t>钱学森的综合集成的形式化</a:t>
            </a:r>
            <a:r>
              <a:rPr lang="zh-CN" altLang="en-US" dirty="0"/>
              <a:t>。</a:t>
            </a:r>
          </a:p>
        </p:txBody>
      </p:sp>
    </p:spTree>
    <p:extLst>
      <p:ext uri="{BB962C8B-B14F-4D97-AF65-F5344CB8AC3E}">
        <p14:creationId xmlns:p14="http://schemas.microsoft.com/office/powerpoint/2010/main" val="1690424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762225-A994-B047-EE69-CFADF423EB36}"/>
              </a:ext>
            </a:extLst>
          </p:cNvPr>
          <p:cNvSpPr>
            <a:spLocks noGrp="1"/>
          </p:cNvSpPr>
          <p:nvPr>
            <p:ph type="title"/>
          </p:nvPr>
        </p:nvSpPr>
        <p:spPr/>
        <p:txBody>
          <a:bodyPr/>
          <a:lstStyle/>
          <a:p>
            <a:r>
              <a:rPr lang="zh-CN" altLang="en-US" b="1" i="0" dirty="0">
                <a:effectLst/>
                <a:latin typeface="quote-cjk-patch"/>
              </a:rPr>
              <a:t>本质论</a:t>
            </a:r>
            <a:r>
              <a:rPr lang="en-US" altLang="zh-CN" dirty="0"/>
              <a:t>——</a:t>
            </a:r>
            <a:r>
              <a:rPr lang="zh-CN" altLang="en-US" b="1" i="0" dirty="0">
                <a:effectLst/>
                <a:latin typeface="quote-cjk-patch"/>
              </a:rPr>
              <a:t>价值链的世界观</a:t>
            </a:r>
            <a:r>
              <a:rPr lang="zh-CN" altLang="en-US" dirty="0">
                <a:latin typeface="quote-cjk-patch"/>
              </a:rPr>
              <a:t>是非独立同分布</a:t>
            </a:r>
            <a:r>
              <a:rPr lang="zh-CN" altLang="en-US" b="1" i="0" dirty="0">
                <a:effectLst/>
                <a:latin typeface="quote-cjk-patch"/>
              </a:rPr>
              <a:t>（</a:t>
            </a:r>
            <a:r>
              <a:rPr lang="en-US" altLang="zh-CN" b="1" i="0" dirty="0">
                <a:effectLst/>
                <a:latin typeface="quote-cjk-patch"/>
              </a:rPr>
              <a:t>Non IID</a:t>
            </a:r>
            <a:r>
              <a:rPr lang="zh-CN" altLang="en-US" b="1" i="0" dirty="0">
                <a:effectLst/>
                <a:latin typeface="quote-cjk-patch"/>
              </a:rPr>
              <a:t>）</a:t>
            </a:r>
            <a:endParaRPr lang="zh-CN" altLang="en-US" dirty="0"/>
          </a:p>
        </p:txBody>
      </p:sp>
      <p:grpSp>
        <p:nvGrpSpPr>
          <p:cNvPr id="65" name="组合 64">
            <a:extLst>
              <a:ext uri="{FF2B5EF4-FFF2-40B4-BE49-F238E27FC236}">
                <a16:creationId xmlns:a16="http://schemas.microsoft.com/office/drawing/2014/main" id="{ED71B955-01EF-B225-D749-FE3B418F0E7B}"/>
              </a:ext>
            </a:extLst>
          </p:cNvPr>
          <p:cNvGrpSpPr>
            <a:grpSpLocks noChangeAspect="1"/>
          </p:cNvGrpSpPr>
          <p:nvPr>
            <p:custDataLst>
              <p:tags r:id="rId1"/>
            </p:custDataLst>
          </p:nvPr>
        </p:nvGrpSpPr>
        <p:grpSpPr>
          <a:xfrm>
            <a:off x="1055988" y="801263"/>
            <a:ext cx="9421586" cy="2746616"/>
            <a:chOff x="716311" y="1278305"/>
            <a:chExt cx="10759379" cy="2773062"/>
          </a:xfrm>
        </p:grpSpPr>
        <p:grpSp>
          <p:nvGrpSpPr>
            <p:cNvPr id="66" name="组合 65">
              <a:extLst>
                <a:ext uri="{FF2B5EF4-FFF2-40B4-BE49-F238E27FC236}">
                  <a16:creationId xmlns:a16="http://schemas.microsoft.com/office/drawing/2014/main" id="{6433EC76-8AEB-D969-B7E7-68A8F49E09A4}"/>
                </a:ext>
              </a:extLst>
            </p:cNvPr>
            <p:cNvGrpSpPr/>
            <p:nvPr/>
          </p:nvGrpSpPr>
          <p:grpSpPr>
            <a:xfrm>
              <a:off x="716311" y="1278305"/>
              <a:ext cx="5181486" cy="1244734"/>
              <a:chOff x="716311" y="1278305"/>
              <a:chExt cx="5181486" cy="1244734"/>
            </a:xfrm>
          </p:grpSpPr>
          <p:sp>
            <p:nvSpPr>
              <p:cNvPr id="79" name="1">
                <a:extLst>
                  <a:ext uri="{FF2B5EF4-FFF2-40B4-BE49-F238E27FC236}">
                    <a16:creationId xmlns:a16="http://schemas.microsoft.com/office/drawing/2014/main" id="{181FC3A3-A75A-0590-C57F-CFAACEE4D56A}"/>
                  </a:ext>
                </a:extLst>
              </p:cNvPr>
              <p:cNvSpPr/>
              <p:nvPr/>
            </p:nvSpPr>
            <p:spPr>
              <a:xfrm>
                <a:off x="716311" y="1278305"/>
                <a:ext cx="5181486" cy="1244734"/>
              </a:xfrm>
              <a:prstGeom prst="roundRect">
                <a:avLst>
                  <a:gd name="adj" fmla="val 6364"/>
                </a:avLst>
              </a:prstGeom>
              <a:solidFill>
                <a:schemeClr val="bg1"/>
              </a:solidFill>
              <a:ln w="9525">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mn-ea"/>
                </a:endParaRPr>
              </a:p>
            </p:txBody>
          </p:sp>
          <p:sp>
            <p:nvSpPr>
              <p:cNvPr id="80" name="Title-1">
                <a:extLst>
                  <a:ext uri="{FF2B5EF4-FFF2-40B4-BE49-F238E27FC236}">
                    <a16:creationId xmlns:a16="http://schemas.microsoft.com/office/drawing/2014/main" id="{BE8F35A0-09C4-A705-E493-29366BFC4B83}"/>
                  </a:ext>
                </a:extLst>
              </p:cNvPr>
              <p:cNvSpPr txBox="1"/>
              <p:nvPr>
                <p:custDataLst>
                  <p:tags r:id="rId21"/>
                </p:custDataLst>
              </p:nvPr>
            </p:nvSpPr>
            <p:spPr>
              <a:xfrm>
                <a:off x="998141" y="1411669"/>
                <a:ext cx="2703954" cy="263420"/>
              </a:xfrm>
              <a:prstGeom prst="rect">
                <a:avLst/>
              </a:prstGeom>
              <a:noFill/>
              <a:effectLst/>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effectLst/>
                    <a:uLnTx/>
                    <a:uFillTx/>
                    <a:latin typeface="+mn-ea"/>
                    <a:cs typeface="+mn-cs"/>
                  </a:rPr>
                  <a:t>一个共识案例</a:t>
                </a:r>
                <a:endParaRPr kumimoji="0" lang="zh-CN" altLang="en-US" sz="1600" b="1" i="0" u="none" strike="noStrike" kern="0" cap="none" spc="0" normalizeH="0" baseline="0" noProof="0" dirty="0">
                  <a:ln>
                    <a:noFill/>
                  </a:ln>
                  <a:effectLst/>
                  <a:uLnTx/>
                  <a:uFillTx/>
                  <a:latin typeface="+mn-ea"/>
                  <a:cs typeface="+mn-cs"/>
                </a:endParaRPr>
              </a:p>
            </p:txBody>
          </p:sp>
          <p:sp>
            <p:nvSpPr>
              <p:cNvPr id="81" name="Body-1">
                <a:extLst>
                  <a:ext uri="{FF2B5EF4-FFF2-40B4-BE49-F238E27FC236}">
                    <a16:creationId xmlns:a16="http://schemas.microsoft.com/office/drawing/2014/main" id="{3F074AC9-5A6D-8586-5AE4-F37C76EC1371}"/>
                  </a:ext>
                </a:extLst>
              </p:cNvPr>
              <p:cNvSpPr/>
              <p:nvPr>
                <p:custDataLst>
                  <p:tags r:id="rId22"/>
                </p:custDataLst>
              </p:nvPr>
            </p:nvSpPr>
            <p:spPr>
              <a:xfrm>
                <a:off x="998140" y="1691271"/>
                <a:ext cx="4799454"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en-US" altLang="zh-CN" sz="1200" b="0" i="0" u="none" strike="noStrike" kern="1200" cap="none" spc="0" normalizeH="0" baseline="0" noProof="0">
                    <a:ln>
                      <a:noFill/>
                    </a:ln>
                    <a:solidFill>
                      <a:schemeClr val="tx1"/>
                    </a:solidFill>
                    <a:effectLst/>
                    <a:uLnTx/>
                    <a:uFillTx/>
                    <a:latin typeface="+mn-ea"/>
                    <a:cs typeface="+mn-cs"/>
                  </a:rPr>
                  <a:t>2021</a:t>
                </a:r>
                <a:r>
                  <a:rPr kumimoji="0" lang="zh-CN" altLang="en-US" sz="1200" b="0" i="0" u="none" strike="noStrike" kern="1200" cap="none" spc="0" normalizeH="0" baseline="0" noProof="0">
                    <a:ln>
                      <a:noFill/>
                    </a:ln>
                    <a:solidFill>
                      <a:schemeClr val="tx1"/>
                    </a:solidFill>
                    <a:effectLst/>
                    <a:uLnTx/>
                    <a:uFillTx/>
                    <a:latin typeface="+mn-ea"/>
                    <a:cs typeface="+mn-cs"/>
                  </a:rPr>
                  <a:t>年，一颗几块钱的芯片，卡住了全球几百万辆汽车的生产。车企停产，</a:t>
                </a:r>
                <a:r>
                  <a:rPr kumimoji="0" lang="en-US" altLang="zh-CN" sz="1200" b="0" i="0" u="none" strike="noStrike" kern="1200" cap="none" spc="0" normalizeH="0" baseline="0" noProof="0">
                    <a:ln>
                      <a:noFill/>
                    </a:ln>
                    <a:solidFill>
                      <a:schemeClr val="tx1"/>
                    </a:solidFill>
                    <a:effectLst/>
                    <a:uLnTx/>
                    <a:uFillTx/>
                    <a:latin typeface="+mn-ea"/>
                    <a:cs typeface="+mn-cs"/>
                  </a:rPr>
                  <a:t>4S</a:t>
                </a:r>
                <a:r>
                  <a:rPr kumimoji="0" lang="zh-CN" altLang="en-US" sz="1200" b="0" i="0" u="none" strike="noStrike" kern="1200" cap="none" spc="0" normalizeH="0" baseline="0" noProof="0">
                    <a:ln>
                      <a:noFill/>
                    </a:ln>
                    <a:solidFill>
                      <a:schemeClr val="tx1"/>
                    </a:solidFill>
                    <a:effectLst/>
                    <a:uLnTx/>
                    <a:uFillTx/>
                    <a:latin typeface="+mn-ea"/>
                    <a:cs typeface="+mn-cs"/>
                  </a:rPr>
                  <a:t>店无车可卖，二手车价格暴涨。</a:t>
                </a:r>
                <a:endParaRPr kumimoji="0" lang="en-GB" altLang="zh-CN" sz="1200" b="0" i="0" u="none" strike="noStrike" kern="1200" cap="none" spc="0" normalizeH="0" baseline="0" noProof="0" dirty="0">
                  <a:ln>
                    <a:noFill/>
                  </a:ln>
                  <a:solidFill>
                    <a:schemeClr val="tx1"/>
                  </a:solidFill>
                  <a:effectLst/>
                  <a:uLnTx/>
                  <a:uFillTx/>
                  <a:latin typeface="+mn-ea"/>
                  <a:cs typeface="+mn-cs"/>
                </a:endParaRPr>
              </a:p>
            </p:txBody>
          </p:sp>
        </p:grpSp>
        <p:grpSp>
          <p:nvGrpSpPr>
            <p:cNvPr id="67" name="组合 66">
              <a:extLst>
                <a:ext uri="{FF2B5EF4-FFF2-40B4-BE49-F238E27FC236}">
                  <a16:creationId xmlns:a16="http://schemas.microsoft.com/office/drawing/2014/main" id="{6986E4FC-5198-4431-E22E-9D20E1CA15AC}"/>
                </a:ext>
              </a:extLst>
            </p:cNvPr>
            <p:cNvGrpSpPr/>
            <p:nvPr/>
          </p:nvGrpSpPr>
          <p:grpSpPr>
            <a:xfrm>
              <a:off x="716311" y="2806633"/>
              <a:ext cx="5181486" cy="1244734"/>
              <a:chOff x="716311" y="2806633"/>
              <a:chExt cx="5181486" cy="1244734"/>
            </a:xfrm>
          </p:grpSpPr>
          <p:sp>
            <p:nvSpPr>
              <p:cNvPr id="76" name="3">
                <a:extLst>
                  <a:ext uri="{FF2B5EF4-FFF2-40B4-BE49-F238E27FC236}">
                    <a16:creationId xmlns:a16="http://schemas.microsoft.com/office/drawing/2014/main" id="{6000C032-FB64-FB55-0529-9A273C8FC800}"/>
                  </a:ext>
                </a:extLst>
              </p:cNvPr>
              <p:cNvSpPr/>
              <p:nvPr/>
            </p:nvSpPr>
            <p:spPr>
              <a:xfrm>
                <a:off x="716311" y="2806633"/>
                <a:ext cx="5181486" cy="1244734"/>
              </a:xfrm>
              <a:prstGeom prst="roundRect">
                <a:avLst>
                  <a:gd name="adj" fmla="val 6364"/>
                </a:avLst>
              </a:prstGeom>
              <a:solidFill>
                <a:schemeClr val="bg1"/>
              </a:solidFill>
              <a:ln w="9525">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mn-ea"/>
                </a:endParaRPr>
              </a:p>
            </p:txBody>
          </p:sp>
          <p:sp>
            <p:nvSpPr>
              <p:cNvPr id="77" name="Title-3">
                <a:extLst>
                  <a:ext uri="{FF2B5EF4-FFF2-40B4-BE49-F238E27FC236}">
                    <a16:creationId xmlns:a16="http://schemas.microsoft.com/office/drawing/2014/main" id="{4C55EB53-A3F6-537D-0160-77161381B53B}"/>
                  </a:ext>
                </a:extLst>
              </p:cNvPr>
              <p:cNvSpPr txBox="1"/>
              <p:nvPr>
                <p:custDataLst>
                  <p:tags r:id="rId19"/>
                </p:custDataLst>
              </p:nvPr>
            </p:nvSpPr>
            <p:spPr>
              <a:xfrm>
                <a:off x="998141" y="2939997"/>
                <a:ext cx="2703954" cy="263420"/>
              </a:xfrm>
              <a:prstGeom prst="rect">
                <a:avLst/>
              </a:prstGeom>
              <a:noFill/>
              <a:effectLst/>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effectLst/>
                    <a:uLnTx/>
                    <a:uFillTx/>
                    <a:latin typeface="+mn-ea"/>
                    <a:cs typeface="+mn-cs"/>
                  </a:rPr>
                  <a:t>什么叫同分布？</a:t>
                </a:r>
                <a:endParaRPr kumimoji="0" lang="zh-CN" altLang="en-US" sz="1600" b="1" i="0" u="none" strike="noStrike" kern="0" cap="none" spc="0" normalizeH="0" baseline="0" noProof="0" dirty="0">
                  <a:ln>
                    <a:noFill/>
                  </a:ln>
                  <a:effectLst/>
                  <a:uLnTx/>
                  <a:uFillTx/>
                  <a:latin typeface="+mn-ea"/>
                  <a:cs typeface="+mn-cs"/>
                </a:endParaRPr>
              </a:p>
            </p:txBody>
          </p:sp>
          <p:sp>
            <p:nvSpPr>
              <p:cNvPr id="78" name="Body-3">
                <a:extLst>
                  <a:ext uri="{FF2B5EF4-FFF2-40B4-BE49-F238E27FC236}">
                    <a16:creationId xmlns:a16="http://schemas.microsoft.com/office/drawing/2014/main" id="{68CCF26B-03F3-1B3A-859D-FBABDCAB1132}"/>
                  </a:ext>
                </a:extLst>
              </p:cNvPr>
              <p:cNvSpPr/>
              <p:nvPr>
                <p:custDataLst>
                  <p:tags r:id="rId20"/>
                </p:custDataLst>
              </p:nvPr>
            </p:nvSpPr>
            <p:spPr>
              <a:xfrm>
                <a:off x="998140" y="3219599"/>
                <a:ext cx="4799454"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200" b="0" i="0" u="none" strike="noStrike" kern="1200" cap="none" spc="0" normalizeH="0" baseline="0" noProof="0">
                    <a:ln>
                      <a:noFill/>
                    </a:ln>
                    <a:solidFill>
                      <a:schemeClr val="tx1"/>
                    </a:solidFill>
                    <a:effectLst/>
                    <a:uLnTx/>
                    <a:uFillTx/>
                    <a:latin typeface="+mn-ea"/>
                    <a:cs typeface="+mn-cs"/>
                  </a:rPr>
                  <a:t>两个节点在概率上遵循相同的规律。比如供应商</a:t>
                </a:r>
                <a:r>
                  <a:rPr kumimoji="0" lang="en-US" altLang="zh-CN" sz="1200" b="0" i="0" u="none" strike="noStrike" kern="1200" cap="none" spc="0" normalizeH="0" baseline="0" noProof="0">
                    <a:ln>
                      <a:noFill/>
                    </a:ln>
                    <a:solidFill>
                      <a:schemeClr val="tx1"/>
                    </a:solidFill>
                    <a:effectLst/>
                    <a:uLnTx/>
                    <a:uFillTx/>
                    <a:latin typeface="+mn-ea"/>
                    <a:cs typeface="+mn-cs"/>
                  </a:rPr>
                  <a:t>A</a:t>
                </a:r>
                <a:r>
                  <a:rPr kumimoji="0" lang="zh-CN" altLang="en-US" sz="1200" b="0" i="0" u="none" strike="noStrike" kern="1200" cap="none" spc="0" normalizeH="0" baseline="0" noProof="0">
                    <a:ln>
                      <a:noFill/>
                    </a:ln>
                    <a:solidFill>
                      <a:schemeClr val="tx1"/>
                    </a:solidFill>
                    <a:effectLst/>
                    <a:uLnTx/>
                    <a:uFillTx/>
                    <a:latin typeface="+mn-ea"/>
                    <a:cs typeface="+mn-cs"/>
                  </a:rPr>
                  <a:t>和供应商</a:t>
                </a:r>
                <a:r>
                  <a:rPr kumimoji="0" lang="en-US" altLang="zh-CN" sz="1200" b="0" i="0" u="none" strike="noStrike" kern="1200" cap="none" spc="0" normalizeH="0" baseline="0" noProof="0">
                    <a:ln>
                      <a:noFill/>
                    </a:ln>
                    <a:solidFill>
                      <a:schemeClr val="tx1"/>
                    </a:solidFill>
                    <a:effectLst/>
                    <a:uLnTx/>
                    <a:uFillTx/>
                    <a:latin typeface="+mn-ea"/>
                    <a:cs typeface="+mn-cs"/>
                  </a:rPr>
                  <a:t>B</a:t>
                </a:r>
                <a:r>
                  <a:rPr kumimoji="0" lang="zh-CN" altLang="en-US" sz="1200" b="0" i="0" u="none" strike="noStrike" kern="1200" cap="none" spc="0" normalizeH="0" baseline="0" noProof="0">
                    <a:ln>
                      <a:noFill/>
                    </a:ln>
                    <a:solidFill>
                      <a:schemeClr val="tx1"/>
                    </a:solidFill>
                    <a:effectLst/>
                    <a:uLnTx/>
                    <a:uFillTx/>
                    <a:latin typeface="+mn-ea"/>
                    <a:cs typeface="+mn-cs"/>
                  </a:rPr>
                  <a:t>，交货延迟的概率分布完全一样。</a:t>
                </a:r>
                <a:endParaRPr kumimoji="0" lang="en-GB" altLang="zh-CN" sz="1200" b="0" i="0" u="none" strike="noStrike" kern="1200" cap="none" spc="0" normalizeH="0" baseline="0" noProof="0" dirty="0">
                  <a:ln>
                    <a:noFill/>
                  </a:ln>
                  <a:solidFill>
                    <a:schemeClr val="tx1"/>
                  </a:solidFill>
                  <a:effectLst/>
                  <a:uLnTx/>
                  <a:uFillTx/>
                  <a:latin typeface="+mn-ea"/>
                  <a:cs typeface="+mn-cs"/>
                </a:endParaRPr>
              </a:p>
            </p:txBody>
          </p:sp>
        </p:grpSp>
        <p:grpSp>
          <p:nvGrpSpPr>
            <p:cNvPr id="68" name="组合 67">
              <a:extLst>
                <a:ext uri="{FF2B5EF4-FFF2-40B4-BE49-F238E27FC236}">
                  <a16:creationId xmlns:a16="http://schemas.microsoft.com/office/drawing/2014/main" id="{7F7664CD-9249-693C-763F-85FEE181A163}"/>
                </a:ext>
              </a:extLst>
            </p:cNvPr>
            <p:cNvGrpSpPr/>
            <p:nvPr/>
          </p:nvGrpSpPr>
          <p:grpSpPr>
            <a:xfrm>
              <a:off x="6294204" y="1278305"/>
              <a:ext cx="5181486" cy="1244734"/>
              <a:chOff x="6294204" y="1278305"/>
              <a:chExt cx="5181486" cy="1244734"/>
            </a:xfrm>
          </p:grpSpPr>
          <p:sp>
            <p:nvSpPr>
              <p:cNvPr id="73" name="2">
                <a:extLst>
                  <a:ext uri="{FF2B5EF4-FFF2-40B4-BE49-F238E27FC236}">
                    <a16:creationId xmlns:a16="http://schemas.microsoft.com/office/drawing/2014/main" id="{80E60626-8C81-EF0F-008E-B7DB3239D157}"/>
                  </a:ext>
                </a:extLst>
              </p:cNvPr>
              <p:cNvSpPr/>
              <p:nvPr/>
            </p:nvSpPr>
            <p:spPr>
              <a:xfrm>
                <a:off x="6294204" y="1278305"/>
                <a:ext cx="5181486" cy="1244734"/>
              </a:xfrm>
              <a:prstGeom prst="roundRect">
                <a:avLst>
                  <a:gd name="adj" fmla="val 6364"/>
                </a:avLst>
              </a:prstGeom>
              <a:solidFill>
                <a:schemeClr val="bg1"/>
              </a:solidFill>
              <a:ln w="9525">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mn-ea"/>
                </a:endParaRPr>
              </a:p>
            </p:txBody>
          </p:sp>
          <p:sp>
            <p:nvSpPr>
              <p:cNvPr id="74" name="Title-2">
                <a:extLst>
                  <a:ext uri="{FF2B5EF4-FFF2-40B4-BE49-F238E27FC236}">
                    <a16:creationId xmlns:a16="http://schemas.microsoft.com/office/drawing/2014/main" id="{D7035D2A-8A87-671A-C3C7-32376B75D2D6}"/>
                  </a:ext>
                </a:extLst>
              </p:cNvPr>
              <p:cNvSpPr txBox="1"/>
              <p:nvPr>
                <p:custDataLst>
                  <p:tags r:id="rId17"/>
                </p:custDataLst>
              </p:nvPr>
            </p:nvSpPr>
            <p:spPr>
              <a:xfrm>
                <a:off x="6576034" y="1411669"/>
                <a:ext cx="2703954" cy="263420"/>
              </a:xfrm>
              <a:prstGeom prst="rect">
                <a:avLst/>
              </a:prstGeom>
              <a:noFill/>
              <a:effectLst/>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effectLst/>
                    <a:uLnTx/>
                    <a:uFillTx/>
                    <a:latin typeface="+mn-ea"/>
                    <a:cs typeface="+mn-cs"/>
                  </a:rPr>
                  <a:t>什么叫独立？</a:t>
                </a:r>
                <a:br>
                  <a:rPr kumimoji="0" lang="zh-CN" altLang="en-US" sz="1600" b="1" i="0" u="none" strike="noStrike" kern="0" cap="none" spc="0" normalizeH="0" baseline="0" noProof="0">
                    <a:ln>
                      <a:noFill/>
                    </a:ln>
                    <a:effectLst/>
                    <a:uLnTx/>
                    <a:uFillTx/>
                    <a:latin typeface="+mn-ea"/>
                    <a:cs typeface="+mn-cs"/>
                  </a:rPr>
                </a:br>
                <a:endParaRPr kumimoji="0" lang="zh-CN" altLang="en-US" sz="1600" b="1" i="0" u="none" strike="noStrike" kern="0" cap="none" spc="0" normalizeH="0" baseline="0" noProof="0" dirty="0">
                  <a:ln>
                    <a:noFill/>
                  </a:ln>
                  <a:effectLst/>
                  <a:uLnTx/>
                  <a:uFillTx/>
                  <a:latin typeface="+mn-ea"/>
                  <a:cs typeface="+mn-cs"/>
                </a:endParaRPr>
              </a:p>
            </p:txBody>
          </p:sp>
          <p:sp>
            <p:nvSpPr>
              <p:cNvPr id="75" name="Body-2">
                <a:extLst>
                  <a:ext uri="{FF2B5EF4-FFF2-40B4-BE49-F238E27FC236}">
                    <a16:creationId xmlns:a16="http://schemas.microsoft.com/office/drawing/2014/main" id="{FC42C710-B261-23B8-7BCB-B335148950B6}"/>
                  </a:ext>
                </a:extLst>
              </p:cNvPr>
              <p:cNvSpPr/>
              <p:nvPr>
                <p:custDataLst>
                  <p:tags r:id="rId18"/>
                </p:custDataLst>
              </p:nvPr>
            </p:nvSpPr>
            <p:spPr>
              <a:xfrm>
                <a:off x="6576033" y="1691271"/>
                <a:ext cx="4799454"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200" b="0" i="0" u="none" strike="noStrike" kern="1200" cap="none" spc="0" normalizeH="0" baseline="0" noProof="0">
                    <a:ln>
                      <a:noFill/>
                    </a:ln>
                    <a:solidFill>
                      <a:schemeClr val="tx1"/>
                    </a:solidFill>
                    <a:effectLst/>
                    <a:uLnTx/>
                    <a:uFillTx/>
                    <a:latin typeface="+mn-ea"/>
                    <a:cs typeface="+mn-cs"/>
                  </a:rPr>
                  <a:t>两个节点互不影响。一个节点出问题，不改变另一个节点的状态。。</a:t>
                </a:r>
                <a:endParaRPr kumimoji="0" lang="en-GB" altLang="zh-CN" sz="1200" b="0" i="0" u="none" strike="noStrike" kern="1200" cap="none" spc="0" normalizeH="0" baseline="0" noProof="0" dirty="0">
                  <a:ln>
                    <a:noFill/>
                  </a:ln>
                  <a:solidFill>
                    <a:schemeClr val="tx1"/>
                  </a:solidFill>
                  <a:effectLst/>
                  <a:uLnTx/>
                  <a:uFillTx/>
                  <a:latin typeface="+mn-ea"/>
                  <a:cs typeface="+mn-cs"/>
                </a:endParaRPr>
              </a:p>
            </p:txBody>
          </p:sp>
        </p:grpSp>
        <p:grpSp>
          <p:nvGrpSpPr>
            <p:cNvPr id="69" name="组合 68">
              <a:extLst>
                <a:ext uri="{FF2B5EF4-FFF2-40B4-BE49-F238E27FC236}">
                  <a16:creationId xmlns:a16="http://schemas.microsoft.com/office/drawing/2014/main" id="{082F9C16-C914-D5F4-FFF0-CF6DEA3C7C4F}"/>
                </a:ext>
              </a:extLst>
            </p:cNvPr>
            <p:cNvGrpSpPr/>
            <p:nvPr/>
          </p:nvGrpSpPr>
          <p:grpSpPr>
            <a:xfrm>
              <a:off x="6294204" y="2806633"/>
              <a:ext cx="5181486" cy="1244734"/>
              <a:chOff x="6294204" y="2806633"/>
              <a:chExt cx="5181486" cy="1244734"/>
            </a:xfrm>
          </p:grpSpPr>
          <p:sp>
            <p:nvSpPr>
              <p:cNvPr id="70" name="4">
                <a:extLst>
                  <a:ext uri="{FF2B5EF4-FFF2-40B4-BE49-F238E27FC236}">
                    <a16:creationId xmlns:a16="http://schemas.microsoft.com/office/drawing/2014/main" id="{0B5A8BFE-2F33-9315-F728-A555CF69373F}"/>
                  </a:ext>
                </a:extLst>
              </p:cNvPr>
              <p:cNvSpPr/>
              <p:nvPr/>
            </p:nvSpPr>
            <p:spPr>
              <a:xfrm>
                <a:off x="6294204" y="2806633"/>
                <a:ext cx="5181486" cy="1244734"/>
              </a:xfrm>
              <a:prstGeom prst="roundRect">
                <a:avLst>
                  <a:gd name="adj" fmla="val 6364"/>
                </a:avLst>
              </a:prstGeom>
              <a:solidFill>
                <a:schemeClr val="bg1"/>
              </a:solidFill>
              <a:ln w="9525">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mn-ea"/>
                </a:endParaRPr>
              </a:p>
            </p:txBody>
          </p:sp>
          <p:sp>
            <p:nvSpPr>
              <p:cNvPr id="71" name="Title-4">
                <a:extLst>
                  <a:ext uri="{FF2B5EF4-FFF2-40B4-BE49-F238E27FC236}">
                    <a16:creationId xmlns:a16="http://schemas.microsoft.com/office/drawing/2014/main" id="{C3BBD514-6DB3-9FA2-E106-1592A58A5992}"/>
                  </a:ext>
                </a:extLst>
              </p:cNvPr>
              <p:cNvSpPr txBox="1"/>
              <p:nvPr>
                <p:custDataLst>
                  <p:tags r:id="rId15"/>
                </p:custDataLst>
              </p:nvPr>
            </p:nvSpPr>
            <p:spPr>
              <a:xfrm>
                <a:off x="6576034" y="2939997"/>
                <a:ext cx="2703954" cy="263420"/>
              </a:xfrm>
              <a:prstGeom prst="rect">
                <a:avLst/>
              </a:prstGeom>
              <a:noFill/>
              <a:effectLst/>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i="0" dirty="0">
                    <a:effectLst/>
                    <a:latin typeface="+mn-ea"/>
                  </a:rPr>
                  <a:t>现实</a:t>
                </a:r>
                <a:endParaRPr kumimoji="0" lang="zh-CN" altLang="en-US" sz="1600" b="1" i="0" u="none" strike="noStrike" kern="0" cap="none" spc="0" normalizeH="0" baseline="0" noProof="0" dirty="0">
                  <a:ln>
                    <a:noFill/>
                  </a:ln>
                  <a:effectLst/>
                  <a:uLnTx/>
                  <a:uFillTx/>
                  <a:latin typeface="+mn-ea"/>
                  <a:cs typeface="+mn-cs"/>
                </a:endParaRPr>
              </a:p>
            </p:txBody>
          </p:sp>
          <p:sp>
            <p:nvSpPr>
              <p:cNvPr id="72" name="Body-4">
                <a:extLst>
                  <a:ext uri="{FF2B5EF4-FFF2-40B4-BE49-F238E27FC236}">
                    <a16:creationId xmlns:a16="http://schemas.microsoft.com/office/drawing/2014/main" id="{EE8D69A9-C47E-428D-2405-04569825177B}"/>
                  </a:ext>
                </a:extLst>
              </p:cNvPr>
              <p:cNvSpPr/>
              <p:nvPr>
                <p:custDataLst>
                  <p:tags r:id="rId16"/>
                </p:custDataLst>
              </p:nvPr>
            </p:nvSpPr>
            <p:spPr>
              <a:xfrm>
                <a:off x="6620053" y="3176026"/>
                <a:ext cx="4799454"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zh-CN" altLang="en-US" sz="1200" b="0" i="0" dirty="0">
                    <a:solidFill>
                      <a:schemeClr val="tx1"/>
                    </a:solidFill>
                    <a:effectLst/>
                    <a:latin typeface="+mn-ea"/>
                  </a:rPr>
                  <a:t>芯片和车企高度耦合，一个节点出问题，沿网络级联放大。而且每个节点表现各异：有的交期稳定，有的波动剧烈；有的良率高，有的良率低。</a:t>
                </a:r>
                <a:endParaRPr lang="en-US" altLang="zh-CN" sz="1200" b="0" i="0" dirty="0">
                  <a:solidFill>
                    <a:schemeClr val="tx1"/>
                  </a:solidFill>
                  <a:effectLst/>
                  <a:latin typeface="+mn-ea"/>
                </a:endParaRPr>
              </a:p>
              <a:p>
                <a:r>
                  <a:rPr lang="zh-CN" altLang="en-US" sz="1200" b="1" i="0" dirty="0">
                    <a:solidFill>
                      <a:schemeClr val="tx1"/>
                    </a:solidFill>
                    <a:effectLst/>
                    <a:latin typeface="+mn-ea"/>
                  </a:rPr>
                  <a:t>这就是 </a:t>
                </a:r>
                <a:r>
                  <a:rPr lang="en-US" altLang="zh-CN" sz="1200" b="1" i="0" dirty="0">
                    <a:solidFill>
                      <a:schemeClr val="tx1"/>
                    </a:solidFill>
                    <a:effectLst/>
                    <a:latin typeface="+mn-ea"/>
                  </a:rPr>
                  <a:t>Non-IID</a:t>
                </a:r>
                <a:r>
                  <a:rPr lang="zh-CN" altLang="en-US" sz="1200" b="1" i="0" dirty="0">
                    <a:solidFill>
                      <a:schemeClr val="tx1"/>
                    </a:solidFill>
                    <a:effectLst/>
                    <a:latin typeface="+mn-ea"/>
                  </a:rPr>
                  <a:t>：非独立、非同分布。</a:t>
                </a:r>
                <a:endParaRPr lang="zh-CN" altLang="en-US" sz="1200" b="0" i="0" dirty="0">
                  <a:solidFill>
                    <a:schemeClr val="tx1"/>
                  </a:solidFill>
                  <a:effectLst/>
                  <a:latin typeface="+mn-ea"/>
                </a:endParaRPr>
              </a:p>
              <a:p>
                <a:pPr algn="l"/>
                <a:endParaRPr lang="zh-CN" altLang="en-US" sz="1200" b="0" i="0" dirty="0">
                  <a:solidFill>
                    <a:schemeClr val="tx1"/>
                  </a:solidFill>
                  <a:effectLst/>
                  <a:latin typeface="+mn-ea"/>
                </a:endParaRPr>
              </a:p>
            </p:txBody>
          </p:sp>
        </p:grpSp>
      </p:grpSp>
      <p:sp>
        <p:nvSpPr>
          <p:cNvPr id="83" name="文本框 82">
            <a:extLst>
              <a:ext uri="{FF2B5EF4-FFF2-40B4-BE49-F238E27FC236}">
                <a16:creationId xmlns:a16="http://schemas.microsoft.com/office/drawing/2014/main" id="{F5BD83BE-4734-7E1F-3872-7813D3EDFA3A}"/>
              </a:ext>
            </a:extLst>
          </p:cNvPr>
          <p:cNvSpPr txBox="1"/>
          <p:nvPr/>
        </p:nvSpPr>
        <p:spPr>
          <a:xfrm>
            <a:off x="2539030" y="5957882"/>
            <a:ext cx="8763273" cy="677108"/>
          </a:xfrm>
          <a:prstGeom prst="rect">
            <a:avLst/>
          </a:prstGeom>
          <a:noFill/>
        </p:spPr>
        <p:txBody>
          <a:bodyPr wrap="square">
            <a:spAutoFit/>
          </a:bodyPr>
          <a:lstStyle/>
          <a:p>
            <a:r>
              <a:rPr lang="zh-CN" altLang="en-US" dirty="0"/>
              <a:t>这三类工具，地基都是</a:t>
            </a:r>
            <a:r>
              <a:rPr lang="en-US" altLang="zh-CN" dirty="0"/>
              <a:t>IID</a:t>
            </a:r>
            <a:r>
              <a:rPr lang="zh-CN" altLang="en-US" dirty="0"/>
              <a:t>。但价值链是</a:t>
            </a:r>
            <a:r>
              <a:rPr lang="en-US" altLang="zh-CN" dirty="0"/>
              <a:t>Non-IID</a:t>
            </a:r>
            <a:r>
              <a:rPr lang="zh-CN" altLang="en-US" dirty="0"/>
              <a:t>。</a:t>
            </a:r>
            <a:endParaRPr lang="en-US" altLang="zh-CN" dirty="0"/>
          </a:p>
          <a:p>
            <a:r>
              <a:rPr lang="zh-CN" altLang="en-US" sz="2000" b="1" dirty="0">
                <a:solidFill>
                  <a:srgbClr val="00D4FF"/>
                </a:solidFill>
              </a:rPr>
              <a:t>局部也许可用，全局必然失效。</a:t>
            </a:r>
          </a:p>
        </p:txBody>
      </p:sp>
      <p:grpSp>
        <p:nvGrpSpPr>
          <p:cNvPr id="109" name="组合 108">
            <a:extLst>
              <a:ext uri="{FF2B5EF4-FFF2-40B4-BE49-F238E27FC236}">
                <a16:creationId xmlns:a16="http://schemas.microsoft.com/office/drawing/2014/main" id="{DEB019F6-0474-D504-D0EA-51148DE4AD2F}"/>
              </a:ext>
            </a:extLst>
          </p:cNvPr>
          <p:cNvGrpSpPr>
            <a:grpSpLocks noChangeAspect="1"/>
          </p:cNvGrpSpPr>
          <p:nvPr>
            <p:custDataLst>
              <p:tags r:id="rId2"/>
            </p:custDataLst>
          </p:nvPr>
        </p:nvGrpSpPr>
        <p:grpSpPr>
          <a:xfrm>
            <a:off x="1092034" y="3824815"/>
            <a:ext cx="9297796" cy="1798909"/>
            <a:chOff x="1447102" y="957898"/>
            <a:chExt cx="9297796" cy="2298700"/>
          </a:xfrm>
        </p:grpSpPr>
        <p:grpSp>
          <p:nvGrpSpPr>
            <p:cNvPr id="110" name="组合 109">
              <a:extLst>
                <a:ext uri="{FF2B5EF4-FFF2-40B4-BE49-F238E27FC236}">
                  <a16:creationId xmlns:a16="http://schemas.microsoft.com/office/drawing/2014/main" id="{D9037055-FA33-6FC5-274C-BB06AA85542B}"/>
                </a:ext>
              </a:extLst>
            </p:cNvPr>
            <p:cNvGrpSpPr/>
            <p:nvPr/>
          </p:nvGrpSpPr>
          <p:grpSpPr>
            <a:xfrm>
              <a:off x="1447102" y="957898"/>
              <a:ext cx="2734646" cy="2298700"/>
              <a:chOff x="1447102" y="957898"/>
              <a:chExt cx="2734646" cy="2298700"/>
            </a:xfrm>
          </p:grpSpPr>
          <p:sp>
            <p:nvSpPr>
              <p:cNvPr id="123" name="1">
                <a:extLst>
                  <a:ext uri="{FF2B5EF4-FFF2-40B4-BE49-F238E27FC236}">
                    <a16:creationId xmlns:a16="http://schemas.microsoft.com/office/drawing/2014/main" id="{7DCEAF8F-14DE-F1EB-B09F-B6B13EF89FA2}"/>
                  </a:ext>
                </a:extLst>
              </p:cNvPr>
              <p:cNvSpPr/>
              <p:nvPr>
                <p:custDataLst>
                  <p:tags r:id="rId11"/>
                </p:custDataLst>
              </p:nvPr>
            </p:nvSpPr>
            <p:spPr>
              <a:xfrm>
                <a:off x="1447102" y="957898"/>
                <a:ext cx="2734646" cy="22987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 name="1">
                <a:extLst>
                  <a:ext uri="{FF2B5EF4-FFF2-40B4-BE49-F238E27FC236}">
                    <a16:creationId xmlns:a16="http://schemas.microsoft.com/office/drawing/2014/main" id="{034DCF37-511F-BB38-0506-DD8772C01435}"/>
                  </a:ext>
                </a:extLst>
              </p:cNvPr>
              <p:cNvCxnSpPr>
                <a:cxnSpLocks/>
              </p:cNvCxnSpPr>
              <p:nvPr>
                <p:custDataLst>
                  <p:tags r:id="rId12"/>
                </p:custDataLst>
              </p:nvPr>
            </p:nvCxnSpPr>
            <p:spPr>
              <a:xfrm>
                <a:off x="1680940" y="1141971"/>
                <a:ext cx="114036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25" name="Title-1">
                <a:extLst>
                  <a:ext uri="{FF2B5EF4-FFF2-40B4-BE49-F238E27FC236}">
                    <a16:creationId xmlns:a16="http://schemas.microsoft.com/office/drawing/2014/main" id="{DFCA78A3-D119-EB7C-5666-D942B070FC07}"/>
                  </a:ext>
                </a:extLst>
              </p:cNvPr>
              <p:cNvSpPr txBox="1"/>
              <p:nvPr>
                <p:custDataLst>
                  <p:tags r:id="rId13"/>
                </p:custDataLst>
              </p:nvPr>
            </p:nvSpPr>
            <p:spPr>
              <a:xfrm>
                <a:off x="1586825" y="1302111"/>
                <a:ext cx="2455200" cy="369332"/>
              </a:xfrm>
              <a:prstGeom prst="rect">
                <a:avLst/>
              </a:prstGeom>
              <a:noFill/>
            </p:spPr>
            <p:txBody>
              <a:bodyPr wrap="square" rtlCol="0">
                <a:noAutofit/>
              </a:bodyPr>
              <a:lstStyle/>
              <a:p>
                <a:r>
                  <a:rPr lang="zh-CN" altLang="en-US" b="1">
                    <a:solidFill>
                      <a:schemeClr val="bg1"/>
                    </a:solidFill>
                    <a:latin typeface="quote-cjk-patch"/>
                    <a:ea typeface="微软雅黑" panose="020B0503020204020204" pitchFamily="34" charset="-122"/>
                  </a:rPr>
                  <a:t>统计学</a:t>
                </a:r>
                <a:endParaRPr lang="zh-CN" altLang="en-US" b="1" dirty="0">
                  <a:solidFill>
                    <a:schemeClr val="bg1"/>
                  </a:solidFill>
                  <a:latin typeface="quote-cjk-patch"/>
                  <a:ea typeface="微软雅黑" panose="020B0503020204020204" pitchFamily="34" charset="-122"/>
                </a:endParaRPr>
              </a:p>
            </p:txBody>
          </p:sp>
          <p:sp>
            <p:nvSpPr>
              <p:cNvPr id="126" name="Body-1">
                <a:extLst>
                  <a:ext uri="{FF2B5EF4-FFF2-40B4-BE49-F238E27FC236}">
                    <a16:creationId xmlns:a16="http://schemas.microsoft.com/office/drawing/2014/main" id="{4139639F-03FB-0453-F01E-B8B4535D0552}"/>
                  </a:ext>
                </a:extLst>
              </p:cNvPr>
              <p:cNvSpPr>
                <a:spLocks/>
              </p:cNvSpPr>
              <p:nvPr>
                <p:custDataLst>
                  <p:tags r:id="rId14"/>
                </p:custDataLst>
              </p:nvPr>
            </p:nvSpPr>
            <p:spPr>
              <a:xfrm>
                <a:off x="1586825" y="1551881"/>
                <a:ext cx="2455200" cy="12307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大数定律、中心极限定理，都要求样本独立同分布。没有</a:t>
                </a:r>
                <a:r>
                  <a:rPr kumimoji="0" lang="en-US" altLang="zh-CN"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IID</a:t>
                </a:r>
                <a:r>
                  <a:rPr kumimoji="0" lang="zh-CN" altLang="en-US"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，置信区间、假设检验全部失效。</a:t>
                </a:r>
                <a:endParaRPr kumimoji="0" lang="en-GB" altLang="zh-CN" sz="1400" b="0" i="0" u="none" strike="noStrike" kern="1200" cap="none" spc="0" normalizeH="0" baseline="0" noProof="0" dirty="0">
                  <a:ln>
                    <a:noFill/>
                  </a:ln>
                  <a:solidFill>
                    <a:schemeClr val="bg1"/>
                  </a:solidFill>
                  <a:effectLst/>
                  <a:uLnTx/>
                  <a:uFillTx/>
                  <a:latin typeface="quote-cjk-patch"/>
                  <a:ea typeface="微软雅黑" panose="020B0503020204020204" pitchFamily="34" charset="-122"/>
                  <a:cs typeface="+mn-cs"/>
                </a:endParaRPr>
              </a:p>
            </p:txBody>
          </p:sp>
        </p:grpSp>
        <p:grpSp>
          <p:nvGrpSpPr>
            <p:cNvPr id="111" name="组合 110">
              <a:extLst>
                <a:ext uri="{FF2B5EF4-FFF2-40B4-BE49-F238E27FC236}">
                  <a16:creationId xmlns:a16="http://schemas.microsoft.com/office/drawing/2014/main" id="{87B97F38-DC15-7674-14C4-8494E64AD02F}"/>
                </a:ext>
              </a:extLst>
            </p:cNvPr>
            <p:cNvGrpSpPr/>
            <p:nvPr/>
          </p:nvGrpSpPr>
          <p:grpSpPr>
            <a:xfrm>
              <a:off x="4728677" y="957898"/>
              <a:ext cx="2734646" cy="2298700"/>
              <a:chOff x="1447102" y="957898"/>
              <a:chExt cx="2734646" cy="2298700"/>
            </a:xfrm>
          </p:grpSpPr>
          <p:sp>
            <p:nvSpPr>
              <p:cNvPr id="118" name="2">
                <a:extLst>
                  <a:ext uri="{FF2B5EF4-FFF2-40B4-BE49-F238E27FC236}">
                    <a16:creationId xmlns:a16="http://schemas.microsoft.com/office/drawing/2014/main" id="{F5E3933B-CC8F-9520-AABE-F0493F6AE28A}"/>
                  </a:ext>
                </a:extLst>
              </p:cNvPr>
              <p:cNvSpPr/>
              <p:nvPr>
                <p:custDataLst>
                  <p:tags r:id="rId7"/>
                </p:custDataLst>
              </p:nvPr>
            </p:nvSpPr>
            <p:spPr>
              <a:xfrm>
                <a:off x="1447102" y="957898"/>
                <a:ext cx="2734646" cy="22987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 name="2">
                <a:extLst>
                  <a:ext uri="{FF2B5EF4-FFF2-40B4-BE49-F238E27FC236}">
                    <a16:creationId xmlns:a16="http://schemas.microsoft.com/office/drawing/2014/main" id="{58D98E46-D05A-7C12-1AE2-B4AB3E629AEA}"/>
                  </a:ext>
                </a:extLst>
              </p:cNvPr>
              <p:cNvCxnSpPr>
                <a:cxnSpLocks/>
              </p:cNvCxnSpPr>
              <p:nvPr>
                <p:custDataLst>
                  <p:tags r:id="rId8"/>
                </p:custDataLst>
              </p:nvPr>
            </p:nvCxnSpPr>
            <p:spPr>
              <a:xfrm>
                <a:off x="1680940" y="1141971"/>
                <a:ext cx="114036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20" name="Title-2">
                <a:extLst>
                  <a:ext uri="{FF2B5EF4-FFF2-40B4-BE49-F238E27FC236}">
                    <a16:creationId xmlns:a16="http://schemas.microsoft.com/office/drawing/2014/main" id="{68886C66-AC64-345F-DAF3-2CA697A14D25}"/>
                  </a:ext>
                </a:extLst>
              </p:cNvPr>
              <p:cNvSpPr txBox="1"/>
              <p:nvPr>
                <p:custDataLst>
                  <p:tags r:id="rId9"/>
                </p:custDataLst>
              </p:nvPr>
            </p:nvSpPr>
            <p:spPr>
              <a:xfrm>
                <a:off x="1586825" y="1302111"/>
                <a:ext cx="2455200" cy="369332"/>
              </a:xfrm>
              <a:prstGeom prst="rect">
                <a:avLst/>
              </a:prstGeom>
              <a:noFill/>
            </p:spPr>
            <p:txBody>
              <a:bodyPr wrap="square" rtlCol="0">
                <a:noAutofit/>
              </a:bodyPr>
              <a:lstStyle/>
              <a:p>
                <a:r>
                  <a:rPr lang="zh-CN" altLang="en-US" b="1">
                    <a:solidFill>
                      <a:schemeClr val="bg1"/>
                    </a:solidFill>
                    <a:latin typeface="quote-cjk-patch"/>
                    <a:ea typeface="微软雅黑" panose="020B0503020204020204" pitchFamily="34" charset="-122"/>
                  </a:rPr>
                  <a:t>机器学习</a:t>
                </a:r>
                <a:endParaRPr lang="zh-CN" altLang="en-US" b="1" dirty="0">
                  <a:solidFill>
                    <a:schemeClr val="bg1"/>
                  </a:solidFill>
                  <a:latin typeface="quote-cjk-patch"/>
                  <a:ea typeface="微软雅黑" panose="020B0503020204020204" pitchFamily="34" charset="-122"/>
                </a:endParaRPr>
              </a:p>
            </p:txBody>
          </p:sp>
          <p:sp>
            <p:nvSpPr>
              <p:cNvPr id="121" name="Body-2">
                <a:extLst>
                  <a:ext uri="{FF2B5EF4-FFF2-40B4-BE49-F238E27FC236}">
                    <a16:creationId xmlns:a16="http://schemas.microsoft.com/office/drawing/2014/main" id="{A55DAA99-C0F6-3C3D-A0F3-B384320F21AC}"/>
                  </a:ext>
                </a:extLst>
              </p:cNvPr>
              <p:cNvSpPr>
                <a:spLocks/>
              </p:cNvSpPr>
              <p:nvPr>
                <p:custDataLst>
                  <p:tags r:id="rId10"/>
                </p:custDataLst>
              </p:nvPr>
            </p:nvSpPr>
            <p:spPr>
              <a:xfrm>
                <a:off x="1586825" y="1551881"/>
                <a:ext cx="2455200" cy="12307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训练集和测试集必须独立同分布，模型才能泛化。数据一旦变成</a:t>
                </a:r>
                <a:r>
                  <a:rPr kumimoji="0" lang="en-US" altLang="zh-CN"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Non-IID</a:t>
                </a:r>
                <a:r>
                  <a:rPr kumimoji="0" lang="zh-CN" altLang="en-US"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，模型产生幻觉、过拟合。</a:t>
                </a:r>
                <a:endParaRPr kumimoji="0" lang="en-GB" altLang="zh-CN" sz="1400" b="0" i="0" u="none" strike="noStrike" kern="1200" cap="none" spc="0" normalizeH="0" baseline="0" noProof="0" dirty="0">
                  <a:ln>
                    <a:noFill/>
                  </a:ln>
                  <a:solidFill>
                    <a:schemeClr val="bg1"/>
                  </a:solidFill>
                  <a:effectLst/>
                  <a:uLnTx/>
                  <a:uFillTx/>
                  <a:latin typeface="quote-cjk-patch"/>
                  <a:ea typeface="微软雅黑" panose="020B0503020204020204" pitchFamily="34" charset="-122"/>
                  <a:cs typeface="+mn-cs"/>
                </a:endParaRPr>
              </a:p>
            </p:txBody>
          </p:sp>
        </p:grpSp>
        <p:grpSp>
          <p:nvGrpSpPr>
            <p:cNvPr id="112" name="组合 111">
              <a:extLst>
                <a:ext uri="{FF2B5EF4-FFF2-40B4-BE49-F238E27FC236}">
                  <a16:creationId xmlns:a16="http://schemas.microsoft.com/office/drawing/2014/main" id="{39BD6CD7-9878-2706-01A7-53D23F659783}"/>
                </a:ext>
              </a:extLst>
            </p:cNvPr>
            <p:cNvGrpSpPr/>
            <p:nvPr/>
          </p:nvGrpSpPr>
          <p:grpSpPr>
            <a:xfrm>
              <a:off x="8010252" y="957898"/>
              <a:ext cx="2734646" cy="2298700"/>
              <a:chOff x="1447102" y="957898"/>
              <a:chExt cx="2734646" cy="2298700"/>
            </a:xfrm>
          </p:grpSpPr>
          <p:sp>
            <p:nvSpPr>
              <p:cNvPr id="113" name="3">
                <a:extLst>
                  <a:ext uri="{FF2B5EF4-FFF2-40B4-BE49-F238E27FC236}">
                    <a16:creationId xmlns:a16="http://schemas.microsoft.com/office/drawing/2014/main" id="{7EBF034B-47AC-C5C8-4A1C-D57D8A038F2E}"/>
                  </a:ext>
                </a:extLst>
              </p:cNvPr>
              <p:cNvSpPr/>
              <p:nvPr>
                <p:custDataLst>
                  <p:tags r:id="rId3"/>
                </p:custDataLst>
              </p:nvPr>
            </p:nvSpPr>
            <p:spPr>
              <a:xfrm>
                <a:off x="1447102" y="957898"/>
                <a:ext cx="2734646" cy="2298700"/>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 name="3">
                <a:extLst>
                  <a:ext uri="{FF2B5EF4-FFF2-40B4-BE49-F238E27FC236}">
                    <a16:creationId xmlns:a16="http://schemas.microsoft.com/office/drawing/2014/main" id="{18A93221-0871-3670-912A-46FFD120A216}"/>
                  </a:ext>
                </a:extLst>
              </p:cNvPr>
              <p:cNvCxnSpPr>
                <a:cxnSpLocks/>
              </p:cNvCxnSpPr>
              <p:nvPr>
                <p:custDataLst>
                  <p:tags r:id="rId4"/>
                </p:custDataLst>
              </p:nvPr>
            </p:nvCxnSpPr>
            <p:spPr>
              <a:xfrm>
                <a:off x="1680940" y="1141971"/>
                <a:ext cx="114036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5" name="Title-3">
                <a:extLst>
                  <a:ext uri="{FF2B5EF4-FFF2-40B4-BE49-F238E27FC236}">
                    <a16:creationId xmlns:a16="http://schemas.microsoft.com/office/drawing/2014/main" id="{729645AF-A262-9A3C-CE10-1A8B63B705C6}"/>
                  </a:ext>
                </a:extLst>
              </p:cNvPr>
              <p:cNvSpPr txBox="1"/>
              <p:nvPr>
                <p:custDataLst>
                  <p:tags r:id="rId5"/>
                </p:custDataLst>
              </p:nvPr>
            </p:nvSpPr>
            <p:spPr>
              <a:xfrm>
                <a:off x="1586825" y="1302111"/>
                <a:ext cx="2455200" cy="369332"/>
              </a:xfrm>
              <a:prstGeom prst="rect">
                <a:avLst/>
              </a:prstGeom>
              <a:noFill/>
            </p:spPr>
            <p:txBody>
              <a:bodyPr wrap="square" rtlCol="0">
                <a:noAutofit/>
              </a:bodyPr>
              <a:lstStyle/>
              <a:p>
                <a:r>
                  <a:rPr lang="zh-CN" altLang="en-US" b="1">
                    <a:solidFill>
                      <a:schemeClr val="bg1"/>
                    </a:solidFill>
                    <a:latin typeface="quote-cjk-patch"/>
                    <a:ea typeface="微软雅黑" panose="020B0503020204020204" pitchFamily="34" charset="-122"/>
                  </a:rPr>
                  <a:t>运筹学求解器</a:t>
                </a:r>
                <a:endParaRPr lang="zh-CN" altLang="en-US" b="1" dirty="0">
                  <a:solidFill>
                    <a:schemeClr val="bg1"/>
                  </a:solidFill>
                  <a:latin typeface="quote-cjk-patch"/>
                  <a:ea typeface="微软雅黑" panose="020B0503020204020204" pitchFamily="34" charset="-122"/>
                </a:endParaRPr>
              </a:p>
            </p:txBody>
          </p:sp>
          <p:sp>
            <p:nvSpPr>
              <p:cNvPr id="116" name="Body-3">
                <a:extLst>
                  <a:ext uri="{FF2B5EF4-FFF2-40B4-BE49-F238E27FC236}">
                    <a16:creationId xmlns:a16="http://schemas.microsoft.com/office/drawing/2014/main" id="{41FD8E2D-D6FD-A864-1216-4A41B88C4E66}"/>
                  </a:ext>
                </a:extLst>
              </p:cNvPr>
              <p:cNvSpPr>
                <a:spLocks/>
              </p:cNvSpPr>
              <p:nvPr>
                <p:custDataLst>
                  <p:tags r:id="rId6"/>
                </p:custDataLst>
              </p:nvPr>
            </p:nvSpPr>
            <p:spPr>
              <a:xfrm>
                <a:off x="1586825" y="1551881"/>
                <a:ext cx="2455200" cy="12307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chemeClr val="bg1"/>
                    </a:solidFill>
                    <a:effectLst/>
                    <a:uLnTx/>
                    <a:uFillTx/>
                    <a:latin typeface="quote-cjk-patch"/>
                    <a:ea typeface="微软雅黑" panose="020B0503020204020204" pitchFamily="34" charset="-122"/>
                    <a:cs typeface="+mn-cs"/>
                  </a:rPr>
                  <a:t>线性规划假设目标函数可加、约束可分解。这意味着各变量互相独立。但价值链的约束是强耦合的，解空间非凸。</a:t>
                </a:r>
                <a:endParaRPr kumimoji="0" lang="en-GB" altLang="zh-CN" sz="1400" b="0" i="0" u="none" strike="noStrike" kern="1200" cap="none" spc="0" normalizeH="0" baseline="0" noProof="0" dirty="0">
                  <a:ln>
                    <a:noFill/>
                  </a:ln>
                  <a:solidFill>
                    <a:schemeClr val="bg1"/>
                  </a:solidFill>
                  <a:effectLst/>
                  <a:uLnTx/>
                  <a:uFillTx/>
                  <a:latin typeface="quote-cjk-patch"/>
                  <a:ea typeface="微软雅黑" panose="020B0503020204020204" pitchFamily="34" charset="-122"/>
                  <a:cs typeface="+mn-cs"/>
                </a:endParaRPr>
              </a:p>
            </p:txBody>
          </p:sp>
        </p:grpSp>
      </p:grpSp>
    </p:spTree>
    <p:extLst>
      <p:ext uri="{BB962C8B-B14F-4D97-AF65-F5344CB8AC3E}">
        <p14:creationId xmlns:p14="http://schemas.microsoft.com/office/powerpoint/2010/main" val="3108736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7B885-399C-0268-D0D1-1E04ABF9B0A7}"/>
              </a:ext>
            </a:extLst>
          </p:cNvPr>
          <p:cNvSpPr>
            <a:spLocks noGrp="1"/>
          </p:cNvSpPr>
          <p:nvPr>
            <p:ph type="title"/>
          </p:nvPr>
        </p:nvSpPr>
        <p:spPr/>
        <p:txBody>
          <a:bodyPr/>
          <a:lstStyle/>
          <a:p>
            <a:r>
              <a:rPr lang="zh-CN" altLang="en-US" dirty="0"/>
              <a:t>本质论</a:t>
            </a:r>
            <a:r>
              <a:rPr lang="en-US" altLang="zh-CN" dirty="0"/>
              <a:t>——</a:t>
            </a:r>
            <a:r>
              <a:rPr lang="zh-CN" altLang="en-US" dirty="0"/>
              <a:t>从</a:t>
            </a:r>
            <a:r>
              <a:rPr lang="en-US" altLang="zh-CN" dirty="0"/>
              <a:t>Non-IID</a:t>
            </a:r>
            <a:r>
              <a:rPr lang="zh-CN" altLang="en-US" dirty="0"/>
              <a:t>到</a:t>
            </a:r>
            <a:r>
              <a:rPr lang="en-US" altLang="zh-CN" dirty="0"/>
              <a:t>N</a:t>
            </a:r>
            <a:r>
              <a:rPr lang="zh-CN" altLang="en-US" dirty="0"/>
              <a:t>！的统御复杂度</a:t>
            </a:r>
          </a:p>
        </p:txBody>
      </p:sp>
      <p:sp>
        <p:nvSpPr>
          <p:cNvPr id="98" name="文本框 97">
            <a:extLst>
              <a:ext uri="{FF2B5EF4-FFF2-40B4-BE49-F238E27FC236}">
                <a16:creationId xmlns:a16="http://schemas.microsoft.com/office/drawing/2014/main" id="{61294BAE-49DA-2A51-E8CA-AB0B5731B421}"/>
              </a:ext>
            </a:extLst>
          </p:cNvPr>
          <p:cNvSpPr txBox="1"/>
          <p:nvPr/>
        </p:nvSpPr>
        <p:spPr>
          <a:xfrm>
            <a:off x="2569029" y="5667056"/>
            <a:ext cx="8071552" cy="738664"/>
          </a:xfrm>
          <a:prstGeom prst="rect">
            <a:avLst/>
          </a:prstGeom>
          <a:noFill/>
        </p:spPr>
        <p:txBody>
          <a:bodyPr wrap="square">
            <a:spAutoFit/>
          </a:bodyPr>
          <a:lstStyle/>
          <a:p>
            <a:r>
              <a:rPr lang="zh-CN" altLang="en-US" dirty="0"/>
              <a:t>横向耦合让沟通成本平方级增长，纵向排列让解空间阶乘级爆炸。</a:t>
            </a:r>
            <a:endParaRPr lang="en-US" altLang="zh-CN" dirty="0"/>
          </a:p>
          <a:p>
            <a:r>
              <a:rPr lang="zh-CN" altLang="en-US" dirty="0"/>
              <a:t>两者叠加，</a:t>
            </a:r>
            <a:r>
              <a:rPr lang="zh-CN" altLang="en-US" sz="2400" b="1" dirty="0">
                <a:solidFill>
                  <a:srgbClr val="00D4FF"/>
                </a:solidFill>
                <a:latin typeface="+mj-ea"/>
                <a:ea typeface="+mj-ea"/>
              </a:rPr>
              <a:t>碳基算力（</a:t>
            </a:r>
            <a:r>
              <a:rPr lang="en-US" altLang="zh-CN" sz="2400" b="1" i="0" dirty="0">
                <a:solidFill>
                  <a:srgbClr val="00D4FF"/>
                </a:solidFill>
                <a:effectLst/>
                <a:latin typeface="+mj-ea"/>
                <a:ea typeface="+mj-ea"/>
              </a:rPr>
              <a:t>7±2</a:t>
            </a:r>
            <a:r>
              <a:rPr lang="zh-CN" altLang="en-US" sz="2400" b="1" dirty="0">
                <a:solidFill>
                  <a:srgbClr val="00D4FF"/>
                </a:solidFill>
                <a:latin typeface="+mj-ea"/>
                <a:ea typeface="+mj-ea"/>
              </a:rPr>
              <a:t>）无解</a:t>
            </a:r>
            <a:r>
              <a:rPr lang="zh-CN" altLang="en-US" dirty="0"/>
              <a:t>。</a:t>
            </a:r>
          </a:p>
        </p:txBody>
      </p:sp>
      <p:grpSp>
        <p:nvGrpSpPr>
          <p:cNvPr id="99" name="组合 98">
            <a:extLst>
              <a:ext uri="{FF2B5EF4-FFF2-40B4-BE49-F238E27FC236}">
                <a16:creationId xmlns:a16="http://schemas.microsoft.com/office/drawing/2014/main" id="{E5F14D14-5059-1103-4B6F-436AE893B7C2}"/>
              </a:ext>
            </a:extLst>
          </p:cNvPr>
          <p:cNvGrpSpPr>
            <a:grpSpLocks noChangeAspect="1"/>
          </p:cNvGrpSpPr>
          <p:nvPr>
            <p:custDataLst>
              <p:tags r:id="rId1"/>
            </p:custDataLst>
          </p:nvPr>
        </p:nvGrpSpPr>
        <p:grpSpPr>
          <a:xfrm>
            <a:off x="1464127" y="1237893"/>
            <a:ext cx="8507187" cy="3731435"/>
            <a:chOff x="910364" y="2817000"/>
            <a:chExt cx="5129298" cy="2396433"/>
          </a:xfrm>
        </p:grpSpPr>
        <p:grpSp>
          <p:nvGrpSpPr>
            <p:cNvPr id="100" name="组合 99">
              <a:extLst>
                <a:ext uri="{FF2B5EF4-FFF2-40B4-BE49-F238E27FC236}">
                  <a16:creationId xmlns:a16="http://schemas.microsoft.com/office/drawing/2014/main" id="{6F1C6A5D-3C45-0ECB-713F-EFEAA81886C6}"/>
                </a:ext>
              </a:extLst>
            </p:cNvPr>
            <p:cNvGrpSpPr/>
            <p:nvPr/>
          </p:nvGrpSpPr>
          <p:grpSpPr>
            <a:xfrm>
              <a:off x="910364" y="2817000"/>
              <a:ext cx="5129298" cy="1443900"/>
              <a:chOff x="645969" y="1251241"/>
              <a:chExt cx="5129298" cy="1443900"/>
            </a:xfrm>
          </p:grpSpPr>
          <p:sp>
            <p:nvSpPr>
              <p:cNvPr id="106" name="1">
                <a:extLst>
                  <a:ext uri="{FF2B5EF4-FFF2-40B4-BE49-F238E27FC236}">
                    <a16:creationId xmlns:a16="http://schemas.microsoft.com/office/drawing/2014/main" id="{7574FAA8-9C27-90F5-9F7E-67BBBA79E141}"/>
                  </a:ext>
                </a:extLst>
              </p:cNvPr>
              <p:cNvSpPr/>
              <p:nvPr/>
            </p:nvSpPr>
            <p:spPr>
              <a:xfrm>
                <a:off x="908629" y="1251241"/>
                <a:ext cx="4866638" cy="1443900"/>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cs typeface="+mn-ea"/>
                  <a:sym typeface="+mn-lt"/>
                </a:endParaRPr>
              </a:p>
            </p:txBody>
          </p:sp>
          <p:sp>
            <p:nvSpPr>
              <p:cNvPr id="107" name="Index-1">
                <a:extLst>
                  <a:ext uri="{FF2B5EF4-FFF2-40B4-BE49-F238E27FC236}">
                    <a16:creationId xmlns:a16="http://schemas.microsoft.com/office/drawing/2014/main" id="{E910FED7-D268-B5E7-98FE-46A904A957C7}"/>
                  </a:ext>
                </a:extLst>
              </p:cNvPr>
              <p:cNvSpPr txBox="1">
                <a:spLocks noChangeAspect="1"/>
              </p:cNvSpPr>
              <p:nvPr>
                <p:custDataLst>
                  <p:tags r:id="rId4"/>
                </p:custDataLst>
              </p:nvPr>
            </p:nvSpPr>
            <p:spPr>
              <a:xfrm>
                <a:off x="645969" y="1616787"/>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Microsoft YaHei" panose="020B0503020204020204" pitchFamily="34" charset="-122"/>
                  </a:defRPr>
                </a:lvl1pPr>
              </a:lstStyle>
              <a:p>
                <a:r>
                  <a:rPr lang="en-US" altLang="zh-CN" sz="1600" dirty="0">
                    <a:solidFill>
                      <a:schemeClr val="tx1"/>
                    </a:solidFill>
                    <a:latin typeface="+mn-lt"/>
                    <a:ea typeface="+mn-ea"/>
                    <a:cs typeface="+mn-ea"/>
                    <a:sym typeface="+mn-lt"/>
                  </a:rPr>
                  <a:t>01</a:t>
                </a:r>
                <a:endParaRPr lang="zh-CN" altLang="en-US" sz="1600" dirty="0">
                  <a:solidFill>
                    <a:schemeClr val="tx1"/>
                  </a:solidFill>
                  <a:latin typeface="+mn-lt"/>
                  <a:ea typeface="+mn-ea"/>
                  <a:cs typeface="+mn-ea"/>
                  <a:sym typeface="+mn-lt"/>
                </a:endParaRPr>
              </a:p>
            </p:txBody>
          </p:sp>
          <p:sp>
            <p:nvSpPr>
              <p:cNvPr id="108" name="Title-1">
                <a:extLst>
                  <a:ext uri="{FF2B5EF4-FFF2-40B4-BE49-F238E27FC236}">
                    <a16:creationId xmlns:a16="http://schemas.microsoft.com/office/drawing/2014/main" id="{EA430929-7A65-8187-A3CF-4771390AC4C3}"/>
                  </a:ext>
                </a:extLst>
              </p:cNvPr>
              <p:cNvSpPr txBox="1"/>
              <p:nvPr>
                <p:custDataLst>
                  <p:tags r:id="rId5"/>
                </p:custDataLst>
              </p:nvPr>
            </p:nvSpPr>
            <p:spPr>
              <a:xfrm>
                <a:off x="1089286" y="1298333"/>
                <a:ext cx="2458594" cy="2634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Non-IID</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导致两个叠加的复杂度：</a:t>
                </a:r>
              </a:p>
            </p:txBody>
          </p:sp>
          <p:sp>
            <p:nvSpPr>
              <p:cNvPr id="109" name="Body-1">
                <a:extLst>
                  <a:ext uri="{FF2B5EF4-FFF2-40B4-BE49-F238E27FC236}">
                    <a16:creationId xmlns:a16="http://schemas.microsoft.com/office/drawing/2014/main" id="{844DD50A-BD0C-0B56-42D7-A6C41B992360}"/>
                  </a:ext>
                </a:extLst>
              </p:cNvPr>
              <p:cNvSpPr/>
              <p:nvPr>
                <p:custDataLst>
                  <p:tags r:id="rId6"/>
                </p:custDataLst>
              </p:nvPr>
            </p:nvSpPr>
            <p:spPr>
              <a:xfrm>
                <a:off x="1298645" y="1457403"/>
                <a:ext cx="4363945" cy="1078030"/>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defTabSz="913765">
                  <a:lnSpc>
                    <a:spcPct val="130000"/>
                  </a:lnSpc>
                  <a:buSzPct val="100000"/>
                  <a:buFont typeface="Arial" panose="020B0604020202020204" pitchFamily="34" charset="0"/>
                  <a:buChar char="•"/>
                  <a:defRPr/>
                </a:pPr>
                <a:r>
                  <a:rPr kumimoji="0" lang="zh-CN" altLang="en-US" sz="1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横向耦合：</a:t>
                </a:r>
                <a:r>
                  <a:rPr kumimoji="0" lang="en-US" altLang="zh-CN" sz="1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O(N²)</a:t>
                </a:r>
              </a:p>
              <a:p>
                <a:pPr marL="742950" lvl="1" indent="-285750" defTabSz="913765">
                  <a:lnSpc>
                    <a:spcPct val="130000"/>
                  </a:lnSpc>
                  <a:buSzPct val="100000"/>
                  <a:buFont typeface="Arial" panose="020B0604020202020204" pitchFamily="34" charset="0"/>
                  <a:buChar char="•"/>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个节点两两耦合，连线数 </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 N × (N-1) ÷ 2</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a:t>
                </a:r>
              </a:p>
              <a:p>
                <a:pPr marL="742950" lvl="1" indent="-285750" defTabSz="913765">
                  <a:lnSpc>
                    <a:spcPct val="130000"/>
                  </a:lnSpc>
                  <a:buSzPct val="100000"/>
                  <a:buFont typeface="Arial" panose="020B0604020202020204" pitchFamily="34" charset="0"/>
                  <a:buChar char="•"/>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N=100</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4950</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条连线；</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N=1000</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499500</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条连线。</a:t>
                </a:r>
              </a:p>
              <a:p>
                <a:pPr marL="285750" indent="-285750" defTabSz="913765">
                  <a:lnSpc>
                    <a:spcPct val="130000"/>
                  </a:lnSpc>
                  <a:buSzPct val="100000"/>
                  <a:buFont typeface="Arial" panose="020B0604020202020204" pitchFamily="34" charset="0"/>
                  <a:buChar char="•"/>
                  <a:defRPr/>
                </a:pPr>
                <a:r>
                  <a:rPr kumimoji="0" lang="zh-CN" altLang="en-US" sz="1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纵向排列：趋向于</a:t>
                </a:r>
                <a:r>
                  <a:rPr kumimoji="0" lang="en-US" altLang="zh-CN" sz="1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p>
              <a:p>
                <a:pPr marL="742950" lvl="1" indent="-285750" defTabSz="913765">
                  <a:lnSpc>
                    <a:spcPct val="130000"/>
                  </a:lnSpc>
                  <a:buSzPct val="100000"/>
                  <a:buFont typeface="Arial" panose="020B0604020202020204" pitchFamily="34" charset="0"/>
                  <a:buChar char="•"/>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个需求竞争</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个资源，因为路径依赖和资源冲突，可行排列数趋向于</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a:t>
                </a:r>
              </a:p>
              <a:p>
                <a:pPr marL="742950" lvl="1" indent="-285750" defTabSz="913765">
                  <a:lnSpc>
                    <a:spcPct val="130000"/>
                  </a:lnSpc>
                  <a:buSzPct val="100000"/>
                  <a:buFont typeface="Arial" panose="020B0604020202020204" pitchFamily="34" charset="0"/>
                  <a:buChar char="•"/>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第一个需求有</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个选择，第二个只剩</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N-1</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个，第三个只剩</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N-2</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个，依次递减。</a:t>
                </a:r>
                <a:endParaRPr kumimoji="0" lang="en-GB"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grpSp>
        <p:grpSp>
          <p:nvGrpSpPr>
            <p:cNvPr id="101" name="组合 100">
              <a:extLst>
                <a:ext uri="{FF2B5EF4-FFF2-40B4-BE49-F238E27FC236}">
                  <a16:creationId xmlns:a16="http://schemas.microsoft.com/office/drawing/2014/main" id="{19AAA40D-089A-A0A1-5137-8D03491BEC9B}"/>
                </a:ext>
              </a:extLst>
            </p:cNvPr>
            <p:cNvGrpSpPr/>
            <p:nvPr/>
          </p:nvGrpSpPr>
          <p:grpSpPr>
            <a:xfrm>
              <a:off x="910364" y="4362420"/>
              <a:ext cx="5129298" cy="851013"/>
              <a:chOff x="6154073" y="1404008"/>
              <a:chExt cx="5129298" cy="851013"/>
            </a:xfrm>
          </p:grpSpPr>
          <p:sp>
            <p:nvSpPr>
              <p:cNvPr id="102" name="2">
                <a:extLst>
                  <a:ext uri="{FF2B5EF4-FFF2-40B4-BE49-F238E27FC236}">
                    <a16:creationId xmlns:a16="http://schemas.microsoft.com/office/drawing/2014/main" id="{12FAC5AA-212F-6558-D226-F029001FFF73}"/>
                  </a:ext>
                </a:extLst>
              </p:cNvPr>
              <p:cNvSpPr/>
              <p:nvPr/>
            </p:nvSpPr>
            <p:spPr>
              <a:xfrm>
                <a:off x="6416733" y="1404008"/>
                <a:ext cx="4866638" cy="851013"/>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cs typeface="+mn-ea"/>
                  <a:sym typeface="+mn-lt"/>
                </a:endParaRPr>
              </a:p>
            </p:txBody>
          </p:sp>
          <p:sp>
            <p:nvSpPr>
              <p:cNvPr id="103" name="Index-2">
                <a:extLst>
                  <a:ext uri="{FF2B5EF4-FFF2-40B4-BE49-F238E27FC236}">
                    <a16:creationId xmlns:a16="http://schemas.microsoft.com/office/drawing/2014/main" id="{01389676-88E9-17BA-56D3-E1BD39BD7B22}"/>
                  </a:ext>
                </a:extLst>
              </p:cNvPr>
              <p:cNvSpPr txBox="1">
                <a:spLocks noChangeAspect="1"/>
              </p:cNvSpPr>
              <p:nvPr>
                <p:custDataLst>
                  <p:tags r:id="rId2"/>
                </p:custDataLst>
              </p:nvPr>
            </p:nvSpPr>
            <p:spPr>
              <a:xfrm>
                <a:off x="6154073" y="1616787"/>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Microsoft YaHei" panose="020B0503020204020204" pitchFamily="34" charset="-122"/>
                  </a:defRPr>
                </a:lvl1pPr>
              </a:lstStyle>
              <a:p>
                <a:r>
                  <a:rPr lang="en-US" altLang="zh-CN" sz="1600" dirty="0">
                    <a:solidFill>
                      <a:schemeClr val="tx1"/>
                    </a:solidFill>
                    <a:latin typeface="+mn-lt"/>
                    <a:ea typeface="+mn-ea"/>
                    <a:cs typeface="+mn-ea"/>
                    <a:sym typeface="+mn-lt"/>
                  </a:rPr>
                  <a:t>02</a:t>
                </a:r>
                <a:endParaRPr lang="zh-CN" altLang="en-US" sz="1600" dirty="0">
                  <a:solidFill>
                    <a:schemeClr val="tx1"/>
                  </a:solidFill>
                  <a:latin typeface="+mn-lt"/>
                  <a:ea typeface="+mn-ea"/>
                  <a:cs typeface="+mn-ea"/>
                  <a:sym typeface="+mn-lt"/>
                </a:endParaRPr>
              </a:p>
            </p:txBody>
          </p:sp>
          <p:sp>
            <p:nvSpPr>
              <p:cNvPr id="104" name="Title-2">
                <a:extLst>
                  <a:ext uri="{FF2B5EF4-FFF2-40B4-BE49-F238E27FC236}">
                    <a16:creationId xmlns:a16="http://schemas.microsoft.com/office/drawing/2014/main" id="{E2797AC4-967C-E277-190C-0C71D8F78648}"/>
                  </a:ext>
                </a:extLst>
              </p:cNvPr>
              <p:cNvSpPr txBox="1"/>
              <p:nvPr>
                <p:custDataLst>
                  <p:tags r:id="rId3"/>
                </p:custDataLst>
              </p:nvPr>
            </p:nvSpPr>
            <p:spPr>
              <a:xfrm>
                <a:off x="6806750" y="1677301"/>
                <a:ext cx="3375682" cy="2634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两者叠加：横向耦合的</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O(N²) × </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纵向排列的</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N!</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，共同构成价值链的全局复杂度。</a:t>
                </a:r>
              </a:p>
            </p:txBody>
          </p:sp>
        </p:grpSp>
      </p:grpSp>
    </p:spTree>
    <p:extLst>
      <p:ext uri="{BB962C8B-B14F-4D97-AF65-F5344CB8AC3E}">
        <p14:creationId xmlns:p14="http://schemas.microsoft.com/office/powerpoint/2010/main" val="1277753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308A61-DEBD-3CFD-BA5F-554F7DC85FAB}"/>
              </a:ext>
            </a:extLst>
          </p:cNvPr>
          <p:cNvSpPr>
            <a:spLocks noGrp="1"/>
          </p:cNvSpPr>
          <p:nvPr>
            <p:ph type="title"/>
          </p:nvPr>
        </p:nvSpPr>
        <p:spPr/>
        <p:txBody>
          <a:bodyPr/>
          <a:lstStyle/>
          <a:p>
            <a:r>
              <a:rPr lang="zh-CN" altLang="en-US" dirty="0"/>
              <a:t>本质论</a:t>
            </a:r>
            <a:r>
              <a:rPr lang="en-US" altLang="zh-CN" dirty="0"/>
              <a:t>——</a:t>
            </a:r>
            <a:r>
              <a:rPr lang="zh-CN" altLang="en-US" dirty="0"/>
              <a:t>硅基代偿的必然性</a:t>
            </a:r>
          </a:p>
        </p:txBody>
      </p:sp>
      <p:grpSp>
        <p:nvGrpSpPr>
          <p:cNvPr id="5" name="组合 4">
            <a:extLst>
              <a:ext uri="{FF2B5EF4-FFF2-40B4-BE49-F238E27FC236}">
                <a16:creationId xmlns:a16="http://schemas.microsoft.com/office/drawing/2014/main" id="{FCAE76E2-F076-7709-E7DE-2058CCDB0394}"/>
              </a:ext>
            </a:extLst>
          </p:cNvPr>
          <p:cNvGrpSpPr>
            <a:grpSpLocks noChangeAspect="1"/>
          </p:cNvGrpSpPr>
          <p:nvPr>
            <p:custDataLst>
              <p:tags r:id="rId1"/>
            </p:custDataLst>
          </p:nvPr>
        </p:nvGrpSpPr>
        <p:grpSpPr>
          <a:xfrm>
            <a:off x="2226128" y="1230689"/>
            <a:ext cx="9087001" cy="3733860"/>
            <a:chOff x="675644" y="1047414"/>
            <a:chExt cx="5362273" cy="3733860"/>
          </a:xfrm>
        </p:grpSpPr>
        <p:grpSp>
          <p:nvGrpSpPr>
            <p:cNvPr id="6" name="组合 5">
              <a:extLst>
                <a:ext uri="{FF2B5EF4-FFF2-40B4-BE49-F238E27FC236}">
                  <a16:creationId xmlns:a16="http://schemas.microsoft.com/office/drawing/2014/main" id="{43089630-DCA7-AE98-0677-61002C84FF6F}"/>
                </a:ext>
              </a:extLst>
            </p:cNvPr>
            <p:cNvGrpSpPr>
              <a:grpSpLocks/>
            </p:cNvGrpSpPr>
            <p:nvPr/>
          </p:nvGrpSpPr>
          <p:grpSpPr>
            <a:xfrm>
              <a:off x="675644" y="2483126"/>
              <a:ext cx="5362273" cy="1045628"/>
              <a:chOff x="6278556" y="1747907"/>
              <a:chExt cx="5362273" cy="1045628"/>
            </a:xfrm>
          </p:grpSpPr>
          <p:sp>
            <p:nvSpPr>
              <p:cNvPr id="15" name="2">
                <a:extLst>
                  <a:ext uri="{FF2B5EF4-FFF2-40B4-BE49-F238E27FC236}">
                    <a16:creationId xmlns:a16="http://schemas.microsoft.com/office/drawing/2014/main" id="{8FB5EA21-351B-12F1-1FA8-62BAF17F90FA}"/>
                  </a:ext>
                </a:extLst>
              </p:cNvPr>
              <p:cNvSpPr/>
              <p:nvPr>
                <p:custDataLst>
                  <p:tags r:id="rId8"/>
                </p:custDataLst>
              </p:nvPr>
            </p:nvSpPr>
            <p:spPr>
              <a:xfrm>
                <a:off x="8012106" y="1747907"/>
                <a:ext cx="3524249" cy="104562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solidFill>
                    <a:schemeClr val="bg2"/>
                  </a:solidFill>
                </a:endParaRPr>
              </a:p>
            </p:txBody>
          </p:sp>
          <p:sp>
            <p:nvSpPr>
              <p:cNvPr id="16" name="Title-2">
                <a:extLst>
                  <a:ext uri="{FF2B5EF4-FFF2-40B4-BE49-F238E27FC236}">
                    <a16:creationId xmlns:a16="http://schemas.microsoft.com/office/drawing/2014/main" id="{BC579B70-6E2D-B8F0-6DDE-9467A7B612A5}"/>
                  </a:ext>
                </a:extLst>
              </p:cNvPr>
              <p:cNvSpPr/>
              <p:nvPr>
                <p:custDataLst>
                  <p:tags r:id="rId9"/>
                </p:custDataLst>
              </p:nvPr>
            </p:nvSpPr>
            <p:spPr>
              <a:xfrm>
                <a:off x="6278556" y="1747907"/>
                <a:ext cx="1733550" cy="1045628"/>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a:solidFill>
                      <a:schemeClr val="bg2"/>
                    </a:solidFill>
                    <a:latin typeface="Arial" panose="020B0604020202020204" pitchFamily="34" charset="0"/>
                    <a:ea typeface="微软雅黑" panose="020B0503020204020204" pitchFamily="34" charset="-122"/>
                  </a:rPr>
                  <a:t>碳基算力的物理边界已经被击穿：</a:t>
                </a:r>
                <a:endParaRPr lang="zh-CN" altLang="en-US" sz="2000" b="1" dirty="0">
                  <a:solidFill>
                    <a:schemeClr val="bg2"/>
                  </a:solidFill>
                  <a:latin typeface="Arial" panose="020B0604020202020204" pitchFamily="34" charset="0"/>
                  <a:ea typeface="微软雅黑" panose="020B0503020204020204" pitchFamily="34" charset="-122"/>
                </a:endParaRPr>
              </a:p>
            </p:txBody>
          </p:sp>
          <p:sp>
            <p:nvSpPr>
              <p:cNvPr id="17" name="Body-2">
                <a:extLst>
                  <a:ext uri="{FF2B5EF4-FFF2-40B4-BE49-F238E27FC236}">
                    <a16:creationId xmlns:a16="http://schemas.microsoft.com/office/drawing/2014/main" id="{9B1E41B4-1D40-D843-22C2-A9C3226BBC68}"/>
                  </a:ext>
                </a:extLst>
              </p:cNvPr>
              <p:cNvSpPr txBox="1"/>
              <p:nvPr>
                <p:custDataLst>
                  <p:tags r:id="rId10"/>
                </p:custDataLst>
              </p:nvPr>
            </p:nvSpPr>
            <p:spPr>
              <a:xfrm>
                <a:off x="8391942" y="1892036"/>
                <a:ext cx="3248887" cy="845616"/>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2"/>
                    </a:solidFill>
                    <a:ea typeface="微软雅黑" panose="020B0503020204020204" pitchFamily="34" charset="-122"/>
                  </a:rPr>
                  <a:t>加人没用（</a:t>
                </a:r>
                <a:r>
                  <a:rPr lang="en-US" altLang="zh-CN" b="1" dirty="0">
                    <a:solidFill>
                      <a:schemeClr val="bg2"/>
                    </a:solidFill>
                    <a:ea typeface="微软雅黑" panose="020B0503020204020204" pitchFamily="34" charset="-122"/>
                  </a:rPr>
                  <a:t>O(M²)</a:t>
                </a:r>
                <a:r>
                  <a:rPr lang="zh-CN" altLang="en-US" b="1" dirty="0">
                    <a:solidFill>
                      <a:schemeClr val="bg2"/>
                    </a:solidFill>
                    <a:ea typeface="微软雅黑" panose="020B0503020204020204" pitchFamily="34" charset="-122"/>
                  </a:rPr>
                  <a:t>追不上</a:t>
                </a:r>
                <a:r>
                  <a:rPr lang="en-US" altLang="zh-CN" b="1" dirty="0">
                    <a:solidFill>
                      <a:schemeClr val="bg2"/>
                    </a:solidFill>
                    <a:ea typeface="微软雅黑" panose="020B0503020204020204" pitchFamily="34" charset="-122"/>
                  </a:rPr>
                  <a:t>N!</a:t>
                </a:r>
                <a:r>
                  <a:rPr lang="zh-CN" altLang="en-US" b="1" dirty="0">
                    <a:solidFill>
                      <a:schemeClr val="bg2"/>
                    </a:solidFill>
                    <a:ea typeface="微软雅黑" panose="020B0503020204020204" pitchFamily="34" charset="-122"/>
                  </a:rPr>
                  <a:t>）</a:t>
                </a:r>
              </a:p>
              <a:p>
                <a:r>
                  <a:rPr lang="zh-CN" altLang="en-US" b="1" dirty="0">
                    <a:solidFill>
                      <a:schemeClr val="bg2"/>
                    </a:solidFill>
                    <a:ea typeface="微软雅黑" panose="020B0503020204020204" pitchFamily="34" charset="-122"/>
                  </a:rPr>
                  <a:t>加会没用（博弈让内耗更高）</a:t>
                </a:r>
              </a:p>
              <a:p>
                <a:r>
                  <a:rPr lang="zh-CN" altLang="en-US" b="1" dirty="0">
                    <a:solidFill>
                      <a:schemeClr val="bg2"/>
                    </a:solidFill>
                    <a:ea typeface="微软雅黑" panose="020B0503020204020204" pitchFamily="34" charset="-122"/>
                  </a:rPr>
                  <a:t>加</a:t>
                </a:r>
                <a:r>
                  <a:rPr lang="en-US" altLang="zh-CN" b="1" dirty="0">
                    <a:solidFill>
                      <a:schemeClr val="bg2"/>
                    </a:solidFill>
                    <a:ea typeface="微软雅黑" panose="020B0503020204020204" pitchFamily="34" charset="-122"/>
                  </a:rPr>
                  <a:t>Agent</a:t>
                </a:r>
                <a:r>
                  <a:rPr lang="zh-CN" altLang="en-US" b="1" dirty="0">
                    <a:solidFill>
                      <a:schemeClr val="bg2"/>
                    </a:solidFill>
                    <a:ea typeface="微软雅黑" panose="020B0503020204020204" pitchFamily="34" charset="-122"/>
                  </a:rPr>
                  <a:t>没用（没有</a:t>
                </a:r>
                <a:r>
                  <a:rPr lang="en-US" altLang="zh-CN" b="1" dirty="0">
                    <a:solidFill>
                      <a:schemeClr val="bg2"/>
                    </a:solidFill>
                    <a:ea typeface="微软雅黑" panose="020B0503020204020204" pitchFamily="34" charset="-122"/>
                  </a:rPr>
                  <a:t>Π</a:t>
                </a:r>
                <a:r>
                  <a:rPr lang="zh-CN" altLang="en-US" b="1" dirty="0">
                    <a:solidFill>
                      <a:schemeClr val="bg2"/>
                    </a:solidFill>
                    <a:ea typeface="微软雅黑" panose="020B0503020204020204" pitchFamily="34" charset="-122"/>
                  </a:rPr>
                  <a:t>，就是硅基版矢量对消）</a:t>
                </a:r>
                <a:endParaRPr lang="en-US" altLang="zh-CN" b="1" dirty="0">
                  <a:solidFill>
                    <a:schemeClr val="bg2"/>
                  </a:solidFill>
                  <a:ea typeface="微软雅黑" panose="020B0503020204020204" pitchFamily="34" charset="-122"/>
                </a:endParaRPr>
              </a:p>
            </p:txBody>
          </p:sp>
        </p:grpSp>
        <p:grpSp>
          <p:nvGrpSpPr>
            <p:cNvPr id="7" name="组合 6">
              <a:extLst>
                <a:ext uri="{FF2B5EF4-FFF2-40B4-BE49-F238E27FC236}">
                  <a16:creationId xmlns:a16="http://schemas.microsoft.com/office/drawing/2014/main" id="{ECF9C735-6E79-2609-1792-2D267A22BADB}"/>
                </a:ext>
              </a:extLst>
            </p:cNvPr>
            <p:cNvGrpSpPr>
              <a:grpSpLocks/>
            </p:cNvGrpSpPr>
            <p:nvPr/>
          </p:nvGrpSpPr>
          <p:grpSpPr>
            <a:xfrm>
              <a:off x="675644" y="1047414"/>
              <a:ext cx="5257799" cy="774187"/>
              <a:chOff x="675644" y="1747907"/>
              <a:chExt cx="5257799" cy="774187"/>
            </a:xfrm>
          </p:grpSpPr>
          <p:sp>
            <p:nvSpPr>
              <p:cNvPr id="12" name="1">
                <a:extLst>
                  <a:ext uri="{FF2B5EF4-FFF2-40B4-BE49-F238E27FC236}">
                    <a16:creationId xmlns:a16="http://schemas.microsoft.com/office/drawing/2014/main" id="{E6FAC869-C3A7-8048-CBB0-2A023F5AF9A8}"/>
                  </a:ext>
                </a:extLst>
              </p:cNvPr>
              <p:cNvSpPr/>
              <p:nvPr>
                <p:custDataLst>
                  <p:tags r:id="rId5"/>
                </p:custDataLst>
              </p:nvPr>
            </p:nvSpPr>
            <p:spPr>
              <a:xfrm>
                <a:off x="2409194" y="1747907"/>
                <a:ext cx="3524249" cy="7741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p>
            </p:txBody>
          </p:sp>
          <p:sp>
            <p:nvSpPr>
              <p:cNvPr id="13" name="Title-1">
                <a:extLst>
                  <a:ext uri="{FF2B5EF4-FFF2-40B4-BE49-F238E27FC236}">
                    <a16:creationId xmlns:a16="http://schemas.microsoft.com/office/drawing/2014/main" id="{C66BC0D0-5EC9-6E57-74C8-DFE7BFD5EFB0}"/>
                  </a:ext>
                </a:extLst>
              </p:cNvPr>
              <p:cNvSpPr/>
              <p:nvPr>
                <p:custDataLst>
                  <p:tags r:id="rId6"/>
                </p:custDataLst>
              </p:nvPr>
            </p:nvSpPr>
            <p:spPr>
              <a:xfrm>
                <a:off x="675644" y="1747907"/>
                <a:ext cx="1733550"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dirty="0">
                    <a:solidFill>
                      <a:srgbClr val="FFFFFF"/>
                    </a:solidFill>
                    <a:latin typeface="Arial" panose="020B0604020202020204" pitchFamily="34" charset="0"/>
                    <a:ea typeface="微软雅黑" panose="020B0503020204020204" pitchFamily="34" charset="-122"/>
                  </a:rPr>
                  <a:t>核心方程：</a:t>
                </a:r>
              </a:p>
            </p:txBody>
          </p:sp>
          <p:sp>
            <p:nvSpPr>
              <p:cNvPr id="14" name="Body-1">
                <a:extLst>
                  <a:ext uri="{FF2B5EF4-FFF2-40B4-BE49-F238E27FC236}">
                    <a16:creationId xmlns:a16="http://schemas.microsoft.com/office/drawing/2014/main" id="{9C1C1E57-B3F2-FD05-E8F8-CB6DDDD40A03}"/>
                  </a:ext>
                </a:extLst>
              </p:cNvPr>
              <p:cNvSpPr txBox="1"/>
              <p:nvPr>
                <p:custDataLst>
                  <p:tags r:id="rId7"/>
                </p:custDataLst>
              </p:nvPr>
            </p:nvSpPr>
            <p:spPr>
              <a:xfrm>
                <a:off x="2808469" y="1971461"/>
                <a:ext cx="2849612" cy="360612"/>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el-GR" altLang="zh-CN" sz="1600" b="1" dirty="0">
                    <a:solidFill>
                      <a:schemeClr val="accent1"/>
                    </a:solidFill>
                    <a:latin typeface="Arial" panose="020B0604020202020204" pitchFamily="34" charset="0"/>
                    <a:ea typeface="微软雅黑" panose="020B0503020204020204" pitchFamily="34" charset="-122"/>
                  </a:rPr>
                  <a:t>Σ(</a:t>
                </a:r>
                <a:r>
                  <a:rPr lang="en-US" altLang="zh-CN" sz="1600" b="1" dirty="0">
                    <a:solidFill>
                      <a:schemeClr val="accent1"/>
                    </a:solidFill>
                    <a:latin typeface="Arial" panose="020B0604020202020204" pitchFamily="34" charset="0"/>
                    <a:ea typeface="微软雅黑" panose="020B0503020204020204" pitchFamily="34" charset="-122"/>
                  </a:rPr>
                  <a:t>mᵢ · </a:t>
                </a:r>
                <a:r>
                  <a:rPr lang="el-GR" altLang="zh-CN" sz="1600" b="1" dirty="0">
                    <a:solidFill>
                      <a:schemeClr val="accent1"/>
                    </a:solidFill>
                    <a:latin typeface="Arial" panose="020B0604020202020204" pitchFamily="34" charset="0"/>
                    <a:ea typeface="微软雅黑" panose="020B0503020204020204" pitchFamily="34" charset="-122"/>
                  </a:rPr>
                  <a:t>π</a:t>
                </a:r>
                <a:r>
                  <a:rPr lang="en-US" altLang="zh-CN" sz="1600" b="1" dirty="0">
                    <a:solidFill>
                      <a:schemeClr val="accent1"/>
                    </a:solidFill>
                    <a:latin typeface="Arial" panose="020B0604020202020204" pitchFamily="34" charset="0"/>
                    <a:ea typeface="微软雅黑" panose="020B0503020204020204" pitchFamily="34" charset="-122"/>
                  </a:rPr>
                  <a:t>ᵢ[Sᵢ]) = </a:t>
                </a:r>
                <a:r>
                  <a:rPr lang="en-US" altLang="zh-CN" sz="1600" b="1" dirty="0" err="1">
                    <a:solidFill>
                      <a:schemeClr val="accent1"/>
                    </a:solidFill>
                    <a:latin typeface="Arial" panose="020B0604020202020204" pitchFamily="34" charset="0"/>
                    <a:ea typeface="微软雅黑" panose="020B0503020204020204" pitchFamily="34" charset="-122"/>
                  </a:rPr>
                  <a:t>Vchaos</a:t>
                </a:r>
                <a:r>
                  <a:rPr lang="en-US" altLang="zh-CN" sz="1600" b="1" dirty="0">
                    <a:solidFill>
                      <a:schemeClr val="accent1"/>
                    </a:solidFill>
                    <a:latin typeface="Arial" panose="020B0604020202020204" pitchFamily="34" charset="0"/>
                    <a:ea typeface="微软雅黑" panose="020B0503020204020204" pitchFamily="34" charset="-122"/>
                  </a:rPr>
                  <a:t> + Q</a:t>
                </a:r>
                <a:endParaRPr lang="en-US" altLang="zh-CN" dirty="0">
                  <a:solidFill>
                    <a:schemeClr val="accent1"/>
                  </a:solidFill>
                  <a:latin typeface="Arial" panose="020B0604020202020204" pitchFamily="34" charset="0"/>
                  <a:ea typeface="Microsoft YaHei" panose="020B0503020204020204" pitchFamily="34" charset="-122"/>
                </a:endParaRPr>
              </a:p>
            </p:txBody>
          </p:sp>
        </p:grpSp>
        <p:grpSp>
          <p:nvGrpSpPr>
            <p:cNvPr id="8" name="组合 7">
              <a:extLst>
                <a:ext uri="{FF2B5EF4-FFF2-40B4-BE49-F238E27FC236}">
                  <a16:creationId xmlns:a16="http://schemas.microsoft.com/office/drawing/2014/main" id="{AE9219D7-AC65-DA42-D73C-5EC57D35579F}"/>
                </a:ext>
              </a:extLst>
            </p:cNvPr>
            <p:cNvGrpSpPr/>
            <p:nvPr/>
          </p:nvGrpSpPr>
          <p:grpSpPr>
            <a:xfrm>
              <a:off x="675644" y="4007087"/>
              <a:ext cx="5257799" cy="774187"/>
              <a:chOff x="675644" y="3271868"/>
              <a:chExt cx="5257799" cy="774187"/>
            </a:xfrm>
          </p:grpSpPr>
          <p:sp>
            <p:nvSpPr>
              <p:cNvPr id="9" name="3">
                <a:extLst>
                  <a:ext uri="{FF2B5EF4-FFF2-40B4-BE49-F238E27FC236}">
                    <a16:creationId xmlns:a16="http://schemas.microsoft.com/office/drawing/2014/main" id="{B771BE30-2E5C-E64B-6F34-D188C1FED1F8}"/>
                  </a:ext>
                </a:extLst>
              </p:cNvPr>
              <p:cNvSpPr/>
              <p:nvPr>
                <p:custDataLst>
                  <p:tags r:id="rId2"/>
                </p:custDataLst>
              </p:nvPr>
            </p:nvSpPr>
            <p:spPr>
              <a:xfrm>
                <a:off x="2409194" y="3271868"/>
                <a:ext cx="3524249" cy="77418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p>
            </p:txBody>
          </p:sp>
          <p:sp>
            <p:nvSpPr>
              <p:cNvPr id="10" name="Title-3">
                <a:extLst>
                  <a:ext uri="{FF2B5EF4-FFF2-40B4-BE49-F238E27FC236}">
                    <a16:creationId xmlns:a16="http://schemas.microsoft.com/office/drawing/2014/main" id="{868C5313-DDCA-E853-0ADD-61424FE69146}"/>
                  </a:ext>
                </a:extLst>
              </p:cNvPr>
              <p:cNvSpPr/>
              <p:nvPr>
                <p:custDataLst>
                  <p:tags r:id="rId3"/>
                </p:custDataLst>
              </p:nvPr>
            </p:nvSpPr>
            <p:spPr>
              <a:xfrm>
                <a:off x="675644" y="3271868"/>
                <a:ext cx="1733550"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dirty="0">
                    <a:solidFill>
                      <a:srgbClr val="FFFFFF"/>
                    </a:solidFill>
                    <a:latin typeface="Arial" panose="020B0604020202020204" pitchFamily="34" charset="0"/>
                    <a:ea typeface="微软雅黑" panose="020B0503020204020204" pitchFamily="34" charset="-122"/>
                  </a:rPr>
                  <a:t>唯一的破局解药：</a:t>
                </a:r>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11" name="Body-3">
                <a:extLst>
                  <a:ext uri="{FF2B5EF4-FFF2-40B4-BE49-F238E27FC236}">
                    <a16:creationId xmlns:a16="http://schemas.microsoft.com/office/drawing/2014/main" id="{D0C77104-FF02-A428-4628-D4DEB59C88FC}"/>
                  </a:ext>
                </a:extLst>
              </p:cNvPr>
              <p:cNvSpPr txBox="1"/>
              <p:nvPr>
                <p:custDataLst>
                  <p:tags r:id="rId4"/>
                </p:custDataLst>
              </p:nvPr>
            </p:nvSpPr>
            <p:spPr>
              <a:xfrm>
                <a:off x="2784169" y="3494685"/>
                <a:ext cx="2849614" cy="328551"/>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a:solidFill>
                      <a:schemeClr val="bg2"/>
                    </a:solidFill>
                    <a:latin typeface="Arial" panose="020B0604020202020204" pitchFamily="34" charset="0"/>
                    <a:ea typeface="微软雅黑" panose="020B0503020204020204" pitchFamily="34" charset="-122"/>
                  </a:rPr>
                  <a:t>人机协同，硅基代偿。</a:t>
                </a:r>
                <a:r>
                  <a:rPr lang="zh-CN" altLang="en-US" dirty="0">
                    <a:solidFill>
                      <a:schemeClr val="bg2"/>
                    </a:solidFill>
                  </a:rPr>
                  <a:t>。</a:t>
                </a:r>
                <a:endParaRPr lang="en-US" altLang="zh-CN" dirty="0">
                  <a:solidFill>
                    <a:schemeClr val="bg2"/>
                  </a:solidFill>
                </a:endParaRPr>
              </a:p>
            </p:txBody>
          </p:sp>
        </p:grpSp>
      </p:grpSp>
      <p:sp>
        <p:nvSpPr>
          <p:cNvPr id="19" name="文本框 18">
            <a:extLst>
              <a:ext uri="{FF2B5EF4-FFF2-40B4-BE49-F238E27FC236}">
                <a16:creationId xmlns:a16="http://schemas.microsoft.com/office/drawing/2014/main" id="{39064549-1F62-CBB0-A36E-1CA900CAE5F3}"/>
              </a:ext>
            </a:extLst>
          </p:cNvPr>
          <p:cNvSpPr txBox="1"/>
          <p:nvPr/>
        </p:nvSpPr>
        <p:spPr>
          <a:xfrm>
            <a:off x="2846614" y="5616450"/>
            <a:ext cx="6934199" cy="830997"/>
          </a:xfrm>
          <a:prstGeom prst="rect">
            <a:avLst/>
          </a:prstGeom>
          <a:noFill/>
        </p:spPr>
        <p:txBody>
          <a:bodyPr wrap="square">
            <a:spAutoFit/>
          </a:bodyPr>
          <a:lstStyle/>
          <a:p>
            <a:r>
              <a:rPr lang="zh-CN" altLang="en-US" sz="2400" b="1" dirty="0">
                <a:solidFill>
                  <a:srgbClr val="00D4FF"/>
                </a:solidFill>
              </a:rPr>
              <a:t>不是</a:t>
            </a:r>
            <a:r>
              <a:rPr lang="zh-CN" altLang="en-US" dirty="0"/>
              <a:t>管理者</a:t>
            </a:r>
            <a:r>
              <a:rPr lang="zh-CN" altLang="en-US" sz="2400" b="1" dirty="0">
                <a:solidFill>
                  <a:srgbClr val="00D4FF"/>
                </a:solidFill>
              </a:rPr>
              <a:t>态度问题</a:t>
            </a:r>
            <a:r>
              <a:rPr lang="zh-CN" altLang="en-US" dirty="0"/>
              <a:t>，是碳基算力在</a:t>
            </a:r>
            <a:r>
              <a:rPr lang="en-US" altLang="zh-CN" dirty="0"/>
              <a:t>N!</a:t>
            </a:r>
            <a:r>
              <a:rPr lang="zh-CN" altLang="en-US" dirty="0"/>
              <a:t>面前的物理坍塌。</a:t>
            </a:r>
            <a:endParaRPr lang="en-US" altLang="zh-CN" dirty="0"/>
          </a:p>
          <a:p>
            <a:r>
              <a:rPr lang="en-US" altLang="zh-CN" dirty="0"/>
              <a:t>O(N!)</a:t>
            </a:r>
            <a:r>
              <a:rPr lang="zh-CN" altLang="en-US" dirty="0"/>
              <a:t>的物理坍塌，是</a:t>
            </a:r>
            <a:r>
              <a:rPr lang="zh-CN" altLang="en-US" sz="2400" b="1" dirty="0">
                <a:solidFill>
                  <a:srgbClr val="00D4FF"/>
                </a:solidFill>
              </a:rPr>
              <a:t>还原论失效</a:t>
            </a:r>
            <a:r>
              <a:rPr lang="zh-CN" altLang="en-US" dirty="0"/>
              <a:t>的数学证明。</a:t>
            </a:r>
          </a:p>
        </p:txBody>
      </p:sp>
    </p:spTree>
    <p:extLst>
      <p:ext uri="{BB962C8B-B14F-4D97-AF65-F5344CB8AC3E}">
        <p14:creationId xmlns:p14="http://schemas.microsoft.com/office/powerpoint/2010/main" val="4012808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64967-1159-8465-94FF-D86545EB9180}"/>
              </a:ext>
            </a:extLst>
          </p:cNvPr>
          <p:cNvSpPr>
            <a:spLocks noGrp="1"/>
          </p:cNvSpPr>
          <p:nvPr>
            <p:ph type="title"/>
          </p:nvPr>
        </p:nvSpPr>
        <p:spPr/>
        <p:txBody>
          <a:bodyPr/>
          <a:lstStyle/>
          <a:p>
            <a:r>
              <a:rPr lang="zh-CN" altLang="en-US" dirty="0">
                <a:latin typeface="+mn-ea"/>
                <a:ea typeface="+mn-ea"/>
              </a:rPr>
              <a:t>本质论</a:t>
            </a:r>
            <a:r>
              <a:rPr lang="en-US" altLang="zh-CN" dirty="0">
                <a:latin typeface="+mn-ea"/>
                <a:ea typeface="+mn-ea"/>
              </a:rPr>
              <a:t>——</a:t>
            </a:r>
            <a:r>
              <a:rPr lang="zh-CN" altLang="en-US" dirty="0">
                <a:latin typeface="+mn-ea"/>
                <a:ea typeface="+mn-ea"/>
              </a:rPr>
              <a:t>人才黑洞</a:t>
            </a:r>
          </a:p>
        </p:txBody>
      </p:sp>
      <p:grpSp>
        <p:nvGrpSpPr>
          <p:cNvPr id="5" name="组合 4">
            <a:extLst>
              <a:ext uri="{FF2B5EF4-FFF2-40B4-BE49-F238E27FC236}">
                <a16:creationId xmlns:a16="http://schemas.microsoft.com/office/drawing/2014/main" id="{A8872996-DA8B-7596-5A32-DD7B91F8F25B}"/>
              </a:ext>
            </a:extLst>
          </p:cNvPr>
          <p:cNvGrpSpPr>
            <a:grpSpLocks noChangeAspect="1"/>
          </p:cNvGrpSpPr>
          <p:nvPr>
            <p:custDataLst>
              <p:tags r:id="rId1"/>
            </p:custDataLst>
          </p:nvPr>
        </p:nvGrpSpPr>
        <p:grpSpPr>
          <a:xfrm>
            <a:off x="1007002" y="823609"/>
            <a:ext cx="10372454" cy="4510391"/>
            <a:chOff x="853214" y="1047611"/>
            <a:chExt cx="10372454" cy="5210781"/>
          </a:xfrm>
        </p:grpSpPr>
        <p:grpSp>
          <p:nvGrpSpPr>
            <p:cNvPr id="6" name="组合 0">
              <a:extLst>
                <a:ext uri="{FF2B5EF4-FFF2-40B4-BE49-F238E27FC236}">
                  <a16:creationId xmlns:a16="http://schemas.microsoft.com/office/drawing/2014/main" id="{4C1A3C37-81CB-C787-B36D-B2180E52B3F8}"/>
                </a:ext>
              </a:extLst>
            </p:cNvPr>
            <p:cNvGrpSpPr/>
            <p:nvPr/>
          </p:nvGrpSpPr>
          <p:grpSpPr>
            <a:xfrm>
              <a:off x="853214" y="1047611"/>
              <a:ext cx="10372454" cy="5210781"/>
              <a:chOff x="853214" y="1047611"/>
              <a:chExt cx="10372454" cy="5210781"/>
            </a:xfrm>
          </p:grpSpPr>
          <p:sp>
            <p:nvSpPr>
              <p:cNvPr id="13" name="0">
                <a:extLst>
                  <a:ext uri="{FF2B5EF4-FFF2-40B4-BE49-F238E27FC236}">
                    <a16:creationId xmlns:a16="http://schemas.microsoft.com/office/drawing/2014/main" id="{B993FE7A-CA09-3EF8-895F-25A240C6E0A3}"/>
                  </a:ext>
                </a:extLst>
              </p:cNvPr>
              <p:cNvSpPr/>
              <p:nvPr/>
            </p:nvSpPr>
            <p:spPr>
              <a:xfrm>
                <a:off x="5862574" y="1930172"/>
                <a:ext cx="5363094" cy="4091929"/>
              </a:xfrm>
              <a:custGeom>
                <a:avLst/>
                <a:gdLst>
                  <a:gd name="csX0" fmla="*/ 4119494 w 5363094"/>
                  <a:gd name="csY0" fmla="*/ 4091929 h 4091929"/>
                  <a:gd name="csX1" fmla="*/ 0 w 5363094"/>
                  <a:gd name="csY1" fmla="*/ 4091929 h 4091929"/>
                  <a:gd name="csX2" fmla="*/ 1243669 w 5363094"/>
                  <a:gd name="csY2" fmla="*/ 0 h 4091929"/>
                  <a:gd name="csX3" fmla="*/ 5363095 w 5363094"/>
                  <a:gd name="csY3" fmla="*/ 0 h 4091929"/>
                  <a:gd name="csX4" fmla="*/ 4119494 w 5363094"/>
                  <a:gd name="csY4" fmla="*/ 4091929 h 4091929"/>
                </a:gdLst>
                <a:ahLst/>
                <a:cxnLst>
                  <a:cxn ang="0">
                    <a:pos x="csX0" y="csY0"/>
                  </a:cxn>
                  <a:cxn ang="0">
                    <a:pos x="csX1" y="csY1"/>
                  </a:cxn>
                  <a:cxn ang="0">
                    <a:pos x="csX2" y="csY2"/>
                  </a:cxn>
                  <a:cxn ang="0">
                    <a:pos x="csX3" y="csY3"/>
                  </a:cxn>
                  <a:cxn ang="0">
                    <a:pos x="csX4" y="csY4"/>
                  </a:cxn>
                </a:cxnLst>
                <a:rect l="l" t="t" r="r" b="b"/>
                <a:pathLst>
                  <a:path w="5363094" h="4091929">
                    <a:moveTo>
                      <a:pt x="4119494" y="4091929"/>
                    </a:moveTo>
                    <a:lnTo>
                      <a:pt x="0" y="4091929"/>
                    </a:lnTo>
                    <a:lnTo>
                      <a:pt x="1243669" y="0"/>
                    </a:lnTo>
                    <a:lnTo>
                      <a:pt x="5363095" y="0"/>
                    </a:lnTo>
                    <a:lnTo>
                      <a:pt x="4119494" y="4091929"/>
                    </a:lnTo>
                    <a:close/>
                  </a:path>
                </a:pathLst>
              </a:custGeom>
              <a:gradFill>
                <a:gsLst>
                  <a:gs pos="100000">
                    <a:schemeClr val="accent2">
                      <a:lumMod val="10000"/>
                      <a:lumOff val="90000"/>
                      <a:alpha val="0"/>
                    </a:schemeClr>
                  </a:gs>
                  <a:gs pos="0">
                    <a:schemeClr val="accent2">
                      <a:lumMod val="40000"/>
                      <a:lumOff val="60000"/>
                    </a:schemeClr>
                  </a:gs>
                </a:gsLst>
                <a:lin ang="0" scaled="0"/>
              </a:gradFill>
              <a:ln w="25400" cap="flat">
                <a:gradFill>
                  <a:gsLst>
                    <a:gs pos="100000">
                      <a:schemeClr val="accent2">
                        <a:lumMod val="20000"/>
                        <a:lumOff val="80000"/>
                        <a:alpha val="0"/>
                      </a:schemeClr>
                    </a:gs>
                    <a:gs pos="0">
                      <a:schemeClr val="accent2"/>
                    </a:gs>
                  </a:gsLst>
                  <a:lin ang="0" scaled="0"/>
                </a:gradFill>
                <a:prstDash val="solid"/>
                <a:miter/>
              </a:ln>
            </p:spPr>
            <p:txBody>
              <a:bodyPr/>
              <a:lstStyle/>
              <a:p>
                <a:endParaRPr lang="zh-CN" altLang="en-US">
                  <a:latin typeface="+mn-ea"/>
                </a:endParaRPr>
              </a:p>
            </p:txBody>
          </p:sp>
          <p:sp>
            <p:nvSpPr>
              <p:cNvPr id="14" name="0">
                <a:extLst>
                  <a:ext uri="{FF2B5EF4-FFF2-40B4-BE49-F238E27FC236}">
                    <a16:creationId xmlns:a16="http://schemas.microsoft.com/office/drawing/2014/main" id="{4CE71C6E-8E4A-6678-7C3D-252D37ACA266}"/>
                  </a:ext>
                </a:extLst>
              </p:cNvPr>
              <p:cNvSpPr/>
              <p:nvPr/>
            </p:nvSpPr>
            <p:spPr>
              <a:xfrm>
                <a:off x="5666180" y="1716738"/>
                <a:ext cx="5363094" cy="4091929"/>
              </a:xfrm>
              <a:custGeom>
                <a:avLst/>
                <a:gdLst>
                  <a:gd name="csX0" fmla="*/ 4119494 w 5363094"/>
                  <a:gd name="csY0" fmla="*/ 4091929 h 4091929"/>
                  <a:gd name="csX1" fmla="*/ 0 w 5363094"/>
                  <a:gd name="csY1" fmla="*/ 4091929 h 4091929"/>
                  <a:gd name="csX2" fmla="*/ 1243669 w 5363094"/>
                  <a:gd name="csY2" fmla="*/ 0 h 4091929"/>
                  <a:gd name="csX3" fmla="*/ 5363095 w 5363094"/>
                  <a:gd name="csY3" fmla="*/ 0 h 4091929"/>
                  <a:gd name="csX4" fmla="*/ 4119494 w 5363094"/>
                  <a:gd name="csY4" fmla="*/ 4091929 h 4091929"/>
                </a:gdLst>
                <a:ahLst/>
                <a:cxnLst>
                  <a:cxn ang="0">
                    <a:pos x="csX0" y="csY0"/>
                  </a:cxn>
                  <a:cxn ang="0">
                    <a:pos x="csX1" y="csY1"/>
                  </a:cxn>
                  <a:cxn ang="0">
                    <a:pos x="csX2" y="csY2"/>
                  </a:cxn>
                  <a:cxn ang="0">
                    <a:pos x="csX3" y="csY3"/>
                  </a:cxn>
                  <a:cxn ang="0">
                    <a:pos x="csX4" y="csY4"/>
                  </a:cxn>
                </a:cxnLst>
                <a:rect l="l" t="t" r="r" b="b"/>
                <a:pathLst>
                  <a:path w="5363094" h="4091929">
                    <a:moveTo>
                      <a:pt x="4119494" y="4091929"/>
                    </a:moveTo>
                    <a:lnTo>
                      <a:pt x="0" y="4091929"/>
                    </a:lnTo>
                    <a:lnTo>
                      <a:pt x="1243669" y="0"/>
                    </a:lnTo>
                    <a:lnTo>
                      <a:pt x="5363095" y="0"/>
                    </a:lnTo>
                    <a:lnTo>
                      <a:pt x="4119494" y="4091929"/>
                    </a:lnTo>
                    <a:close/>
                  </a:path>
                </a:pathLst>
              </a:custGeom>
              <a:noFill/>
              <a:ln w="25400" cap="flat">
                <a:gradFill>
                  <a:gsLst>
                    <a:gs pos="75000">
                      <a:schemeClr val="accent2">
                        <a:lumMod val="20000"/>
                        <a:lumOff val="80000"/>
                        <a:alpha val="0"/>
                      </a:schemeClr>
                    </a:gs>
                    <a:gs pos="0">
                      <a:schemeClr val="accent2"/>
                    </a:gs>
                  </a:gsLst>
                  <a:lin ang="0" scaled="0"/>
                </a:gradFill>
                <a:prstDash val="solid"/>
                <a:miter/>
              </a:ln>
            </p:spPr>
            <p:txBody>
              <a:bodyPr/>
              <a:lstStyle/>
              <a:p>
                <a:endParaRPr lang="zh-CN" altLang="en-US">
                  <a:latin typeface="+mn-ea"/>
                </a:endParaRPr>
              </a:p>
            </p:txBody>
          </p:sp>
          <p:sp>
            <p:nvSpPr>
              <p:cNvPr id="15" name="0">
                <a:extLst>
                  <a:ext uri="{FF2B5EF4-FFF2-40B4-BE49-F238E27FC236}">
                    <a16:creationId xmlns:a16="http://schemas.microsoft.com/office/drawing/2014/main" id="{EA6A6AC2-D99F-5930-BB9F-7FD580A20301}"/>
                  </a:ext>
                </a:extLst>
              </p:cNvPr>
              <p:cNvSpPr/>
              <p:nvPr/>
            </p:nvSpPr>
            <p:spPr>
              <a:xfrm>
                <a:off x="853214" y="1268216"/>
                <a:ext cx="5363094" cy="4091929"/>
              </a:xfrm>
              <a:custGeom>
                <a:avLst/>
                <a:gdLst>
                  <a:gd name="csX0" fmla="*/ 4119494 w 5363094"/>
                  <a:gd name="csY0" fmla="*/ 4091929 h 4091929"/>
                  <a:gd name="csX1" fmla="*/ 0 w 5363094"/>
                  <a:gd name="csY1" fmla="*/ 4091929 h 4091929"/>
                  <a:gd name="csX2" fmla="*/ 1243669 w 5363094"/>
                  <a:gd name="csY2" fmla="*/ 0 h 4091929"/>
                  <a:gd name="csX3" fmla="*/ 5363095 w 5363094"/>
                  <a:gd name="csY3" fmla="*/ 0 h 4091929"/>
                  <a:gd name="csX4" fmla="*/ 4119494 w 5363094"/>
                  <a:gd name="csY4" fmla="*/ 4091929 h 4091929"/>
                </a:gdLst>
                <a:ahLst/>
                <a:cxnLst>
                  <a:cxn ang="0">
                    <a:pos x="csX0" y="csY0"/>
                  </a:cxn>
                  <a:cxn ang="0">
                    <a:pos x="csX1" y="csY1"/>
                  </a:cxn>
                  <a:cxn ang="0">
                    <a:pos x="csX2" y="csY2"/>
                  </a:cxn>
                  <a:cxn ang="0">
                    <a:pos x="csX3" y="csY3"/>
                  </a:cxn>
                  <a:cxn ang="0">
                    <a:pos x="csX4" y="csY4"/>
                  </a:cxn>
                </a:cxnLst>
                <a:rect l="l" t="t" r="r" b="b"/>
                <a:pathLst>
                  <a:path w="5363094" h="4091929">
                    <a:moveTo>
                      <a:pt x="4119494" y="4091929"/>
                    </a:moveTo>
                    <a:lnTo>
                      <a:pt x="0" y="4091929"/>
                    </a:lnTo>
                    <a:lnTo>
                      <a:pt x="1243669" y="0"/>
                    </a:lnTo>
                    <a:lnTo>
                      <a:pt x="5363095" y="0"/>
                    </a:lnTo>
                    <a:lnTo>
                      <a:pt x="4119494" y="4091929"/>
                    </a:lnTo>
                    <a:close/>
                  </a:path>
                </a:pathLst>
              </a:custGeom>
              <a:gradFill>
                <a:gsLst>
                  <a:gs pos="0">
                    <a:schemeClr val="accent1">
                      <a:alpha val="0"/>
                      <a:lumMod val="10000"/>
                      <a:lumOff val="90000"/>
                    </a:schemeClr>
                  </a:gs>
                  <a:gs pos="100000">
                    <a:schemeClr val="accent1">
                      <a:lumMod val="40000"/>
                      <a:lumOff val="60000"/>
                    </a:schemeClr>
                  </a:gs>
                </a:gsLst>
                <a:lin ang="0" scaled="0"/>
              </a:gradFill>
              <a:ln w="25400" cap="flat">
                <a:gradFill>
                  <a:gsLst>
                    <a:gs pos="0">
                      <a:schemeClr val="accent1">
                        <a:alpha val="0"/>
                        <a:lumMod val="20000"/>
                        <a:lumOff val="80000"/>
                      </a:schemeClr>
                    </a:gs>
                    <a:gs pos="100000">
                      <a:schemeClr val="accent1"/>
                    </a:gs>
                  </a:gsLst>
                  <a:lin ang="0" scaled="0"/>
                </a:gradFill>
                <a:prstDash val="solid"/>
                <a:miter/>
              </a:ln>
            </p:spPr>
            <p:txBody>
              <a:bodyPr/>
              <a:lstStyle/>
              <a:p>
                <a:endParaRPr lang="zh-CN" altLang="en-US">
                  <a:latin typeface="+mn-ea"/>
                </a:endParaRPr>
              </a:p>
            </p:txBody>
          </p:sp>
          <p:sp>
            <p:nvSpPr>
              <p:cNvPr id="16" name="0">
                <a:extLst>
                  <a:ext uri="{FF2B5EF4-FFF2-40B4-BE49-F238E27FC236}">
                    <a16:creationId xmlns:a16="http://schemas.microsoft.com/office/drawing/2014/main" id="{F77DC167-07F4-200B-2567-4619F54B7B8D}"/>
                  </a:ext>
                </a:extLst>
              </p:cNvPr>
              <p:cNvSpPr/>
              <p:nvPr/>
            </p:nvSpPr>
            <p:spPr>
              <a:xfrm>
                <a:off x="998720" y="1537495"/>
                <a:ext cx="5363094" cy="4091929"/>
              </a:xfrm>
              <a:custGeom>
                <a:avLst/>
                <a:gdLst>
                  <a:gd name="csX0" fmla="*/ 4119494 w 5363094"/>
                  <a:gd name="csY0" fmla="*/ 4091929 h 4091929"/>
                  <a:gd name="csX1" fmla="*/ 0 w 5363094"/>
                  <a:gd name="csY1" fmla="*/ 4091929 h 4091929"/>
                  <a:gd name="csX2" fmla="*/ 1243669 w 5363094"/>
                  <a:gd name="csY2" fmla="*/ 0 h 4091929"/>
                  <a:gd name="csX3" fmla="*/ 5363095 w 5363094"/>
                  <a:gd name="csY3" fmla="*/ 0 h 4091929"/>
                  <a:gd name="csX4" fmla="*/ 4119494 w 5363094"/>
                  <a:gd name="csY4" fmla="*/ 4091929 h 4091929"/>
                </a:gdLst>
                <a:ahLst/>
                <a:cxnLst>
                  <a:cxn ang="0">
                    <a:pos x="csX0" y="csY0"/>
                  </a:cxn>
                  <a:cxn ang="0">
                    <a:pos x="csX1" y="csY1"/>
                  </a:cxn>
                  <a:cxn ang="0">
                    <a:pos x="csX2" y="csY2"/>
                  </a:cxn>
                  <a:cxn ang="0">
                    <a:pos x="csX3" y="csY3"/>
                  </a:cxn>
                  <a:cxn ang="0">
                    <a:pos x="csX4" y="csY4"/>
                  </a:cxn>
                </a:cxnLst>
                <a:rect l="l" t="t" r="r" b="b"/>
                <a:pathLst>
                  <a:path w="5363094" h="4091929">
                    <a:moveTo>
                      <a:pt x="4119494" y="4091929"/>
                    </a:moveTo>
                    <a:lnTo>
                      <a:pt x="0" y="4091929"/>
                    </a:lnTo>
                    <a:lnTo>
                      <a:pt x="1243669" y="0"/>
                    </a:lnTo>
                    <a:lnTo>
                      <a:pt x="5363095" y="0"/>
                    </a:lnTo>
                    <a:lnTo>
                      <a:pt x="4119494" y="4091929"/>
                    </a:lnTo>
                    <a:close/>
                  </a:path>
                </a:pathLst>
              </a:custGeom>
              <a:noFill/>
              <a:ln w="25400" cap="flat">
                <a:gradFill>
                  <a:gsLst>
                    <a:gs pos="25000">
                      <a:schemeClr val="accent1">
                        <a:alpha val="0"/>
                        <a:lumMod val="20000"/>
                        <a:lumOff val="80000"/>
                      </a:schemeClr>
                    </a:gs>
                    <a:gs pos="100000">
                      <a:schemeClr val="accent1"/>
                    </a:gs>
                  </a:gsLst>
                  <a:lin ang="0" scaled="0"/>
                </a:gradFill>
                <a:prstDash val="solid"/>
                <a:miter/>
              </a:ln>
            </p:spPr>
            <p:txBody>
              <a:bodyPr/>
              <a:lstStyle/>
              <a:p>
                <a:endParaRPr lang="zh-CN" altLang="en-US">
                  <a:latin typeface="+mn-ea"/>
                </a:endParaRPr>
              </a:p>
            </p:txBody>
          </p:sp>
          <p:sp>
            <p:nvSpPr>
              <p:cNvPr id="17" name="0">
                <a:extLst>
                  <a:ext uri="{FF2B5EF4-FFF2-40B4-BE49-F238E27FC236}">
                    <a16:creationId xmlns:a16="http://schemas.microsoft.com/office/drawing/2014/main" id="{3597F079-2610-4E9E-83E6-2976617B0197}"/>
                  </a:ext>
                </a:extLst>
              </p:cNvPr>
              <p:cNvSpPr/>
              <p:nvPr/>
            </p:nvSpPr>
            <p:spPr>
              <a:xfrm>
                <a:off x="5659739" y="3269410"/>
                <a:ext cx="1443009" cy="1034446"/>
              </a:xfrm>
              <a:custGeom>
                <a:avLst/>
                <a:gdLst>
                  <a:gd name="csX0" fmla="*/ 1612929 w 1682044"/>
                  <a:gd name="csY0" fmla="*/ 213 h 1205803"/>
                  <a:gd name="csX1" fmla="*/ 1682044 w 1682044"/>
                  <a:gd name="csY1" fmla="*/ 213 h 1205803"/>
                  <a:gd name="csX2" fmla="*/ 1539322 w 1682044"/>
                  <a:gd name="csY2" fmla="*/ 161971 h 1205803"/>
                  <a:gd name="csX3" fmla="*/ 1377644 w 1682044"/>
                  <a:gd name="csY3" fmla="*/ 332471 h 1205803"/>
                  <a:gd name="csX4" fmla="*/ 1137784 w 1682044"/>
                  <a:gd name="csY4" fmla="*/ 342765 h 1205803"/>
                  <a:gd name="csX5" fmla="*/ 905440 w 1682044"/>
                  <a:gd name="csY5" fmla="*/ 343255 h 1205803"/>
                  <a:gd name="csX6" fmla="*/ 876928 w 1682044"/>
                  <a:gd name="csY6" fmla="*/ 344491 h 1205803"/>
                  <a:gd name="csX7" fmla="*/ 852603 w 1682044"/>
                  <a:gd name="csY7" fmla="*/ 352889 h 1205803"/>
                  <a:gd name="csX8" fmla="*/ 852665 w 1682044"/>
                  <a:gd name="csY8" fmla="*/ 352814 h 1205803"/>
                  <a:gd name="csX9" fmla="*/ 852582 w 1682044"/>
                  <a:gd name="csY9" fmla="*/ 352896 h 1205803"/>
                  <a:gd name="csX10" fmla="*/ 852603 w 1682044"/>
                  <a:gd name="csY10" fmla="*/ 352889 h 1205803"/>
                  <a:gd name="csX11" fmla="*/ 833037 w 1682044"/>
                  <a:gd name="csY11" fmla="*/ 376475 h 1205803"/>
                  <a:gd name="csX12" fmla="*/ 823089 w 1682044"/>
                  <a:gd name="csY12" fmla="*/ 405345 h 1205803"/>
                  <a:gd name="csX13" fmla="*/ 867859 w 1682044"/>
                  <a:gd name="csY13" fmla="*/ 431732 h 1205803"/>
                  <a:gd name="csX14" fmla="*/ 1199791 w 1682044"/>
                  <a:gd name="csY14" fmla="*/ 433857 h 1205803"/>
                  <a:gd name="csX15" fmla="*/ 1453049 w 1682044"/>
                  <a:gd name="csY15" fmla="*/ 707784 h 1205803"/>
                  <a:gd name="csX16" fmla="*/ 995468 w 1682044"/>
                  <a:gd name="csY16" fmla="*/ 1193059 h 1205803"/>
                  <a:gd name="csX17" fmla="*/ 880277 w 1682044"/>
                  <a:gd name="csY17" fmla="*/ 1204415 h 1205803"/>
                  <a:gd name="csX18" fmla="*/ 72465 w 1682044"/>
                  <a:gd name="csY18" fmla="*/ 1205803 h 1205803"/>
                  <a:gd name="csX19" fmla="*/ 0 w 1682044"/>
                  <a:gd name="csY19" fmla="*/ 1205803 h 1205803"/>
                  <a:gd name="csX20" fmla="*/ 195336 w 1682044"/>
                  <a:gd name="csY20" fmla="*/ 870359 h 1205803"/>
                  <a:gd name="csX21" fmla="*/ 247623 w 1682044"/>
                  <a:gd name="csY21" fmla="*/ 852795 h 1205803"/>
                  <a:gd name="csX22" fmla="*/ 850703 w 1682044"/>
                  <a:gd name="csY22" fmla="*/ 852305 h 1205803"/>
                  <a:gd name="csX23" fmla="*/ 910586 w 1682044"/>
                  <a:gd name="csY23" fmla="*/ 846913 h 1205803"/>
                  <a:gd name="csX24" fmla="*/ 948738 w 1682044"/>
                  <a:gd name="csY24" fmla="*/ 807698 h 1205803"/>
                  <a:gd name="csX25" fmla="*/ 903397 w 1682044"/>
                  <a:gd name="csY25" fmla="*/ 776573 h 1205803"/>
                  <a:gd name="csX26" fmla="*/ 687720 w 1682044"/>
                  <a:gd name="csY26" fmla="*/ 775591 h 1205803"/>
                  <a:gd name="csX27" fmla="*/ 450392 w 1682044"/>
                  <a:gd name="csY27" fmla="*/ 493249 h 1205803"/>
                  <a:gd name="csX28" fmla="*/ 554064 w 1682044"/>
                  <a:gd name="csY28" fmla="*/ 216872 h 1205803"/>
                  <a:gd name="csX29" fmla="*/ 960013 w 1682044"/>
                  <a:gd name="csY29" fmla="*/ 376 h 1205803"/>
                  <a:gd name="csX30" fmla="*/ 1612929 w 1682044"/>
                  <a:gd name="csY30" fmla="*/ 213 h 12058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82044" h="1205803">
                    <a:moveTo>
                      <a:pt x="1612929" y="213"/>
                    </a:moveTo>
                    <a:lnTo>
                      <a:pt x="1682044" y="213"/>
                    </a:lnTo>
                    <a:cubicBezTo>
                      <a:pt x="1628043" y="61486"/>
                      <a:pt x="1583927" y="111892"/>
                      <a:pt x="1539322" y="161971"/>
                    </a:cubicBezTo>
                    <a:cubicBezTo>
                      <a:pt x="1486627" y="221120"/>
                      <a:pt x="1443736" y="303061"/>
                      <a:pt x="1377644" y="332471"/>
                    </a:cubicBezTo>
                    <a:cubicBezTo>
                      <a:pt x="1309591" y="362780"/>
                      <a:pt x="1218664" y="342112"/>
                      <a:pt x="1137784" y="342765"/>
                    </a:cubicBezTo>
                    <a:cubicBezTo>
                      <a:pt x="1060336" y="343419"/>
                      <a:pt x="982889" y="342357"/>
                      <a:pt x="905440" y="343255"/>
                    </a:cubicBezTo>
                    <a:cubicBezTo>
                      <a:pt x="896413" y="343379"/>
                      <a:pt x="886324" y="343337"/>
                      <a:pt x="876928" y="344491"/>
                    </a:cubicBezTo>
                    <a:lnTo>
                      <a:pt x="852603" y="352889"/>
                    </a:lnTo>
                    <a:lnTo>
                      <a:pt x="852665" y="352814"/>
                    </a:lnTo>
                    <a:lnTo>
                      <a:pt x="852582" y="352896"/>
                    </a:lnTo>
                    <a:lnTo>
                      <a:pt x="852603" y="352889"/>
                    </a:lnTo>
                    <a:lnTo>
                      <a:pt x="833037" y="376475"/>
                    </a:lnTo>
                    <a:cubicBezTo>
                      <a:pt x="827808" y="385778"/>
                      <a:pt x="824193" y="395951"/>
                      <a:pt x="823089" y="405345"/>
                    </a:cubicBezTo>
                    <a:cubicBezTo>
                      <a:pt x="822191" y="412697"/>
                      <a:pt x="851848" y="431323"/>
                      <a:pt x="867859" y="431732"/>
                    </a:cubicBezTo>
                    <a:cubicBezTo>
                      <a:pt x="978477" y="434347"/>
                      <a:pt x="1089174" y="433285"/>
                      <a:pt x="1199791" y="433857"/>
                    </a:cubicBezTo>
                    <a:cubicBezTo>
                      <a:pt x="1362694" y="434755"/>
                      <a:pt x="1464569" y="545045"/>
                      <a:pt x="1453049" y="707784"/>
                    </a:cubicBezTo>
                    <a:cubicBezTo>
                      <a:pt x="1435812" y="951402"/>
                      <a:pt x="1257796" y="1141018"/>
                      <a:pt x="995468" y="1193059"/>
                    </a:cubicBezTo>
                    <a:cubicBezTo>
                      <a:pt x="957726" y="1200574"/>
                      <a:pt x="918756" y="1204251"/>
                      <a:pt x="880277" y="1204415"/>
                    </a:cubicBezTo>
                    <a:cubicBezTo>
                      <a:pt x="611007" y="1205640"/>
                      <a:pt x="341735" y="1205476"/>
                      <a:pt x="72465" y="1205803"/>
                    </a:cubicBezTo>
                    <a:cubicBezTo>
                      <a:pt x="52531" y="1205803"/>
                      <a:pt x="32516" y="1205803"/>
                      <a:pt x="0" y="1205803"/>
                    </a:cubicBezTo>
                    <a:cubicBezTo>
                      <a:pt x="69034" y="1086118"/>
                      <a:pt x="130387" y="977135"/>
                      <a:pt x="195336" y="870359"/>
                    </a:cubicBezTo>
                    <a:cubicBezTo>
                      <a:pt x="202770" y="858187"/>
                      <a:pt x="229648" y="852876"/>
                      <a:pt x="247623" y="852795"/>
                    </a:cubicBezTo>
                    <a:cubicBezTo>
                      <a:pt x="448676" y="851733"/>
                      <a:pt x="649649" y="852468"/>
                      <a:pt x="850703" y="852305"/>
                    </a:cubicBezTo>
                    <a:cubicBezTo>
                      <a:pt x="870883" y="852223"/>
                      <a:pt x="893103" y="854510"/>
                      <a:pt x="910586" y="846913"/>
                    </a:cubicBezTo>
                    <a:cubicBezTo>
                      <a:pt x="926027" y="840132"/>
                      <a:pt x="936239" y="821259"/>
                      <a:pt x="948738" y="807698"/>
                    </a:cubicBezTo>
                    <a:cubicBezTo>
                      <a:pt x="933625" y="796832"/>
                      <a:pt x="919001" y="777308"/>
                      <a:pt x="903397" y="776573"/>
                    </a:cubicBezTo>
                    <a:cubicBezTo>
                      <a:pt x="831587" y="773141"/>
                      <a:pt x="759367" y="771180"/>
                      <a:pt x="687720" y="775591"/>
                    </a:cubicBezTo>
                    <a:cubicBezTo>
                      <a:pt x="507334" y="786620"/>
                      <a:pt x="413465" y="674044"/>
                      <a:pt x="450392" y="493249"/>
                    </a:cubicBezTo>
                    <a:cubicBezTo>
                      <a:pt x="469917" y="397666"/>
                      <a:pt x="503413" y="299466"/>
                      <a:pt x="554064" y="216872"/>
                    </a:cubicBezTo>
                    <a:cubicBezTo>
                      <a:pt x="643930" y="70308"/>
                      <a:pt x="786898" y="1030"/>
                      <a:pt x="960013" y="376"/>
                    </a:cubicBezTo>
                    <a:cubicBezTo>
                      <a:pt x="1177651" y="-359"/>
                      <a:pt x="1395290" y="213"/>
                      <a:pt x="1612929" y="213"/>
                    </a:cubicBezTo>
                    <a:close/>
                  </a:path>
                </a:pathLst>
              </a:custGeom>
              <a:gradFill flip="none" rotWithShape="1">
                <a:gsLst>
                  <a:gs pos="0">
                    <a:schemeClr val="accent2"/>
                  </a:gs>
                  <a:gs pos="100000">
                    <a:schemeClr val="accent2">
                      <a:lumMod val="75000"/>
                    </a:schemeClr>
                  </a:gs>
                </a:gsLst>
                <a:lin ang="18900000" scaled="1"/>
                <a:tileRect/>
              </a:gradFill>
              <a:ln w="0" cap="flat">
                <a:noFill/>
                <a:prstDash val="solid"/>
                <a:miter/>
              </a:ln>
              <a:effectLst>
                <a:outerShdw dist="50800" dir="2700000" algn="tl" rotWithShape="0">
                  <a:schemeClr val="accent2">
                    <a:alpha val="40000"/>
                  </a:schemeClr>
                </a:outerShdw>
              </a:effectLst>
            </p:spPr>
            <p:txBody>
              <a:bodyPr wrap="square">
                <a:noAutofit/>
              </a:bodyPr>
              <a:lstStyle/>
              <a:p>
                <a:endParaRPr lang="zh-CN" altLang="en-US">
                  <a:latin typeface="+mn-ea"/>
                </a:endParaRPr>
              </a:p>
            </p:txBody>
          </p:sp>
          <p:sp>
            <p:nvSpPr>
              <p:cNvPr id="18" name="0">
                <a:extLst>
                  <a:ext uri="{FF2B5EF4-FFF2-40B4-BE49-F238E27FC236}">
                    <a16:creationId xmlns:a16="http://schemas.microsoft.com/office/drawing/2014/main" id="{6DE11A96-EA2C-BF15-3D4C-DAACFFB27CA0}"/>
                  </a:ext>
                </a:extLst>
              </p:cNvPr>
              <p:cNvSpPr/>
              <p:nvPr/>
            </p:nvSpPr>
            <p:spPr>
              <a:xfrm>
                <a:off x="5125593" y="2773681"/>
                <a:ext cx="1447986" cy="1365421"/>
              </a:xfrm>
              <a:custGeom>
                <a:avLst/>
                <a:gdLst>
                  <a:gd name="csX0" fmla="*/ 912220 w 1687844"/>
                  <a:gd name="csY0" fmla="*/ 0 h 1591604"/>
                  <a:gd name="csX1" fmla="*/ 1683106 w 1687844"/>
                  <a:gd name="csY1" fmla="*/ 0 h 1591604"/>
                  <a:gd name="csX2" fmla="*/ 1687844 w 1687844"/>
                  <a:gd name="csY2" fmla="*/ 9559 h 1591604"/>
                  <a:gd name="csX3" fmla="*/ 1586215 w 1687844"/>
                  <a:gd name="csY3" fmla="*/ 68135 h 1591604"/>
                  <a:gd name="csX4" fmla="*/ 1290147 w 1687844"/>
                  <a:gd name="csY4" fmla="*/ 248111 h 1591604"/>
                  <a:gd name="csX5" fmla="*/ 1290066 w 1687844"/>
                  <a:gd name="csY5" fmla="*/ 247948 h 1591604"/>
                  <a:gd name="csX6" fmla="*/ 1118585 w 1687844"/>
                  <a:gd name="csY6" fmla="*/ 542790 h 1591604"/>
                  <a:gd name="csX7" fmla="*/ 570648 w 1687844"/>
                  <a:gd name="csY7" fmla="*/ 1535398 h 1591604"/>
                  <a:gd name="csX8" fmla="*/ 538460 w 1687844"/>
                  <a:gd name="csY8" fmla="*/ 1591604 h 1591604"/>
                  <a:gd name="csX9" fmla="*/ 523673 w 1687844"/>
                  <a:gd name="csY9" fmla="*/ 1545854 h 1591604"/>
                  <a:gd name="csX10" fmla="*/ 269679 w 1687844"/>
                  <a:gd name="csY10" fmla="*/ 390099 h 1591604"/>
                  <a:gd name="csX11" fmla="*/ 197623 w 1687844"/>
                  <a:gd name="csY11" fmla="*/ 280627 h 1591604"/>
                  <a:gd name="csX12" fmla="*/ 0 w 1687844"/>
                  <a:gd name="csY12" fmla="*/ 144684 h 1591604"/>
                  <a:gd name="csX13" fmla="*/ 670563 w 1687844"/>
                  <a:gd name="csY13" fmla="*/ 144684 h 1591604"/>
                  <a:gd name="csX14" fmla="*/ 627917 w 1687844"/>
                  <a:gd name="csY14" fmla="*/ 452515 h 1591604"/>
                  <a:gd name="csX15" fmla="*/ 626692 w 1687844"/>
                  <a:gd name="csY15" fmla="*/ 854297 h 1591604"/>
                  <a:gd name="csX16" fmla="*/ 647525 w 1687844"/>
                  <a:gd name="csY16" fmla="*/ 857074 h 1591604"/>
                  <a:gd name="csX17" fmla="*/ 668113 w 1687844"/>
                  <a:gd name="csY17" fmla="*/ 816716 h 1591604"/>
                  <a:gd name="csX18" fmla="*/ 956337 w 1687844"/>
                  <a:gd name="csY18" fmla="*/ 146154 h 1591604"/>
                  <a:gd name="csX19" fmla="*/ 930847 w 1687844"/>
                  <a:gd name="csY19" fmla="*/ 31617 h 1591604"/>
                  <a:gd name="csX20" fmla="*/ 904295 w 1687844"/>
                  <a:gd name="csY20" fmla="*/ 12336 h 1591604"/>
                  <a:gd name="csX21" fmla="*/ 912220 w 1687844"/>
                  <a:gd name="csY21" fmla="*/ 0 h 15916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87844" h="1591604">
                    <a:moveTo>
                      <a:pt x="912220" y="0"/>
                    </a:moveTo>
                    <a:lnTo>
                      <a:pt x="1683106" y="0"/>
                    </a:lnTo>
                    <a:cubicBezTo>
                      <a:pt x="1684739" y="3187"/>
                      <a:pt x="1686293" y="6372"/>
                      <a:pt x="1687844" y="9559"/>
                    </a:cubicBezTo>
                    <a:cubicBezTo>
                      <a:pt x="1654022" y="29084"/>
                      <a:pt x="1620038" y="48445"/>
                      <a:pt x="1586215" y="68135"/>
                    </a:cubicBezTo>
                    <a:cubicBezTo>
                      <a:pt x="1485892" y="126547"/>
                      <a:pt x="1368903" y="168457"/>
                      <a:pt x="1290147" y="248111"/>
                    </a:cubicBezTo>
                    <a:lnTo>
                      <a:pt x="1290066" y="247948"/>
                    </a:lnTo>
                    <a:cubicBezTo>
                      <a:pt x="1212699" y="326213"/>
                      <a:pt x="1173812" y="442793"/>
                      <a:pt x="1118585" y="542790"/>
                    </a:cubicBezTo>
                    <a:cubicBezTo>
                      <a:pt x="935831" y="873577"/>
                      <a:pt x="753321" y="1204528"/>
                      <a:pt x="570648" y="1535398"/>
                    </a:cubicBezTo>
                    <a:cubicBezTo>
                      <a:pt x="561825" y="1551328"/>
                      <a:pt x="552593" y="1567014"/>
                      <a:pt x="538460" y="1591604"/>
                    </a:cubicBezTo>
                    <a:cubicBezTo>
                      <a:pt x="531678" y="1570854"/>
                      <a:pt x="526531" y="1558600"/>
                      <a:pt x="523673" y="1545854"/>
                    </a:cubicBezTo>
                    <a:cubicBezTo>
                      <a:pt x="438546" y="1160739"/>
                      <a:pt x="353009" y="775623"/>
                      <a:pt x="269679" y="390099"/>
                    </a:cubicBezTo>
                    <a:cubicBezTo>
                      <a:pt x="259304" y="342062"/>
                      <a:pt x="241086" y="307095"/>
                      <a:pt x="197623" y="280627"/>
                    </a:cubicBezTo>
                    <a:cubicBezTo>
                      <a:pt x="133328" y="241412"/>
                      <a:pt x="73117" y="195499"/>
                      <a:pt x="0" y="144684"/>
                    </a:cubicBezTo>
                    <a:lnTo>
                      <a:pt x="670563" y="144684"/>
                    </a:lnTo>
                    <a:cubicBezTo>
                      <a:pt x="585190" y="237490"/>
                      <a:pt x="631757" y="348516"/>
                      <a:pt x="627917" y="452515"/>
                    </a:cubicBezTo>
                    <a:cubicBezTo>
                      <a:pt x="622935" y="586333"/>
                      <a:pt x="626692" y="720397"/>
                      <a:pt x="626692" y="854297"/>
                    </a:cubicBezTo>
                    <a:cubicBezTo>
                      <a:pt x="633637" y="855195"/>
                      <a:pt x="640581" y="856176"/>
                      <a:pt x="647525" y="857074"/>
                    </a:cubicBezTo>
                    <a:cubicBezTo>
                      <a:pt x="654387" y="843595"/>
                      <a:pt x="662149" y="830605"/>
                      <a:pt x="668113" y="816716"/>
                    </a:cubicBezTo>
                    <a:cubicBezTo>
                      <a:pt x="763860" y="593114"/>
                      <a:pt x="857728" y="368531"/>
                      <a:pt x="956337" y="146154"/>
                    </a:cubicBezTo>
                    <a:cubicBezTo>
                      <a:pt x="978558" y="95912"/>
                      <a:pt x="980927" y="60864"/>
                      <a:pt x="930847" y="31617"/>
                    </a:cubicBezTo>
                    <a:cubicBezTo>
                      <a:pt x="921453" y="26143"/>
                      <a:pt x="913119" y="18790"/>
                      <a:pt x="904295" y="12336"/>
                    </a:cubicBezTo>
                    <a:cubicBezTo>
                      <a:pt x="906992" y="8251"/>
                      <a:pt x="909605" y="4085"/>
                      <a:pt x="912220" y="0"/>
                    </a:cubicBezTo>
                    <a:close/>
                  </a:path>
                </a:pathLst>
              </a:custGeom>
              <a:gradFill flip="none" rotWithShape="1">
                <a:gsLst>
                  <a:gs pos="0">
                    <a:schemeClr val="accent1"/>
                  </a:gs>
                  <a:gs pos="100000">
                    <a:schemeClr val="accent1">
                      <a:lumMod val="75000"/>
                    </a:schemeClr>
                  </a:gs>
                </a:gsLst>
                <a:lin ang="18900000" scaled="1"/>
                <a:tileRect/>
              </a:gradFill>
              <a:ln w="0" cap="flat">
                <a:noFill/>
                <a:prstDash val="solid"/>
                <a:miter/>
              </a:ln>
              <a:effectLst>
                <a:outerShdw dist="50800" dir="2700000" algn="tl" rotWithShape="0">
                  <a:schemeClr val="accent1">
                    <a:lumMod val="60000"/>
                    <a:lumOff val="40000"/>
                    <a:alpha val="40000"/>
                  </a:schemeClr>
                </a:outerShdw>
              </a:effectLst>
            </p:spPr>
            <p:txBody>
              <a:bodyPr wrap="square">
                <a:noAutofit/>
              </a:bodyPr>
              <a:lstStyle/>
              <a:p>
                <a:endParaRPr lang="zh-CN" altLang="en-US">
                  <a:latin typeface="+mn-ea"/>
                </a:endParaRPr>
              </a:p>
            </p:txBody>
          </p:sp>
          <p:sp>
            <p:nvSpPr>
              <p:cNvPr id="19" name="0">
                <a:extLst>
                  <a:ext uri="{FF2B5EF4-FFF2-40B4-BE49-F238E27FC236}">
                    <a16:creationId xmlns:a16="http://schemas.microsoft.com/office/drawing/2014/main" id="{40361EFE-11F8-D6B9-31C1-C8913639B506}"/>
                  </a:ext>
                </a:extLst>
              </p:cNvPr>
              <p:cNvSpPr/>
              <p:nvPr/>
            </p:nvSpPr>
            <p:spPr>
              <a:xfrm>
                <a:off x="3835826" y="1047611"/>
                <a:ext cx="2218401" cy="572786"/>
              </a:xfrm>
              <a:custGeom>
                <a:avLst/>
                <a:gdLst>
                  <a:gd name="csX0" fmla="*/ 2139343 w 2139342"/>
                  <a:gd name="csY0" fmla="*/ 0 h 694714"/>
                  <a:gd name="csX1" fmla="*/ 211138 w 2139342"/>
                  <a:gd name="csY1" fmla="*/ 0 h 694714"/>
                  <a:gd name="csX2" fmla="*/ 0 w 2139342"/>
                  <a:gd name="csY2" fmla="*/ 694715 h 694714"/>
                  <a:gd name="csX3" fmla="*/ 1928205 w 2139342"/>
                  <a:gd name="csY3" fmla="*/ 694715 h 694714"/>
                  <a:gd name="csX4" fmla="*/ 2139343 w 2139342"/>
                  <a:gd name="csY4" fmla="*/ 0 h 694714"/>
                </a:gdLst>
                <a:ahLst/>
                <a:cxnLst>
                  <a:cxn ang="0">
                    <a:pos x="csX0" y="csY0"/>
                  </a:cxn>
                  <a:cxn ang="0">
                    <a:pos x="csX1" y="csY1"/>
                  </a:cxn>
                  <a:cxn ang="0">
                    <a:pos x="csX2" y="csY2"/>
                  </a:cxn>
                  <a:cxn ang="0">
                    <a:pos x="csX3" y="csY3"/>
                  </a:cxn>
                  <a:cxn ang="0">
                    <a:pos x="csX4" y="csY4"/>
                  </a:cxn>
                </a:cxnLst>
                <a:rect l="l" t="t" r="r" b="b"/>
                <a:pathLst>
                  <a:path w="2139342" h="694714">
                    <a:moveTo>
                      <a:pt x="2139343" y="0"/>
                    </a:moveTo>
                    <a:lnTo>
                      <a:pt x="211138" y="0"/>
                    </a:lnTo>
                    <a:lnTo>
                      <a:pt x="0" y="694715"/>
                    </a:lnTo>
                    <a:lnTo>
                      <a:pt x="1928205" y="694715"/>
                    </a:lnTo>
                    <a:lnTo>
                      <a:pt x="2139343" y="0"/>
                    </a:lnTo>
                    <a:close/>
                  </a:path>
                </a:pathLst>
              </a:custGeom>
              <a:gradFill>
                <a:gsLst>
                  <a:gs pos="0">
                    <a:schemeClr val="accent1">
                      <a:lumMod val="60000"/>
                      <a:lumOff val="40000"/>
                    </a:schemeClr>
                  </a:gs>
                  <a:gs pos="100000">
                    <a:schemeClr val="accent1"/>
                  </a:gs>
                </a:gsLst>
                <a:lin ang="0" scaled="0"/>
              </a:gradFill>
              <a:ln w="4092" cap="flat">
                <a:noFill/>
                <a:prstDash val="solid"/>
                <a:miter/>
              </a:ln>
            </p:spPr>
            <p:txBody>
              <a:bodyPr/>
              <a:lstStyle/>
              <a:p>
                <a:endParaRPr lang="zh-CN" altLang="en-US">
                  <a:latin typeface="+mn-ea"/>
                </a:endParaRPr>
              </a:p>
            </p:txBody>
          </p:sp>
          <p:sp>
            <p:nvSpPr>
              <p:cNvPr id="20" name="0">
                <a:extLst>
                  <a:ext uri="{FF2B5EF4-FFF2-40B4-BE49-F238E27FC236}">
                    <a16:creationId xmlns:a16="http://schemas.microsoft.com/office/drawing/2014/main" id="{F08FD36C-6CE0-2640-04E4-6B9A0E8C746A}"/>
                  </a:ext>
                </a:extLst>
              </p:cNvPr>
              <p:cNvSpPr txBox="1"/>
              <p:nvPr/>
            </p:nvSpPr>
            <p:spPr>
              <a:xfrm>
                <a:off x="3962801" y="1085291"/>
                <a:ext cx="1964450" cy="462241"/>
              </a:xfrm>
              <a:prstGeom prst="rect">
                <a:avLst/>
              </a:prstGeom>
              <a:noFill/>
              <a:ln>
                <a:noFill/>
              </a:ln>
              <a:effectLst>
                <a:outerShdw blurRad="254000" dist="114300" dir="2700000" sx="98000" sy="98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defPPr>
                <a:lvl1pPr algn="ctr">
                  <a:defRPr>
                    <a:solidFill>
                      <a:prstClr val="white"/>
                    </a:solidFill>
                    <a:latin typeface="OPPOSans R" panose="00020600040101010101" pitchFamily="18" charset="-122"/>
                    <a:ea typeface="OPPOSans R"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r>
                  <a:rPr lang="en-US" altLang="zh-CN" sz="2000" b="1" i="1" dirty="0">
                    <a:solidFill>
                      <a:schemeClr val="bg1"/>
                    </a:solidFill>
                    <a:latin typeface="+mn-ea"/>
                    <a:ea typeface="+mn-ea"/>
                    <a:sym typeface="+mn-ea"/>
                  </a:rPr>
                  <a:t>M</a:t>
                </a:r>
                <a:r>
                  <a:rPr lang="zh-CN" altLang="en-US" sz="2000" b="1" i="1" dirty="0">
                    <a:solidFill>
                      <a:schemeClr val="bg1"/>
                    </a:solidFill>
                    <a:latin typeface="+mn-ea"/>
                    <a:ea typeface="+mn-ea"/>
                    <a:sym typeface="+mn-ea"/>
                  </a:rPr>
                  <a:t>个碳基大脑：</a:t>
                </a:r>
              </a:p>
            </p:txBody>
          </p:sp>
          <p:sp>
            <p:nvSpPr>
              <p:cNvPr id="21" name="0">
                <a:extLst>
                  <a:ext uri="{FF2B5EF4-FFF2-40B4-BE49-F238E27FC236}">
                    <a16:creationId xmlns:a16="http://schemas.microsoft.com/office/drawing/2014/main" id="{690E5C6A-1939-2D2C-4E24-6F6E7D7985EB}"/>
                  </a:ext>
                </a:extLst>
              </p:cNvPr>
              <p:cNvSpPr/>
              <p:nvPr/>
            </p:nvSpPr>
            <p:spPr>
              <a:xfrm>
                <a:off x="6074876" y="5667817"/>
                <a:ext cx="1763870" cy="572786"/>
              </a:xfrm>
              <a:custGeom>
                <a:avLst/>
                <a:gdLst>
                  <a:gd name="csX0" fmla="*/ 2139343 w 2139342"/>
                  <a:gd name="csY0" fmla="*/ 0 h 694714"/>
                  <a:gd name="csX1" fmla="*/ 211138 w 2139342"/>
                  <a:gd name="csY1" fmla="*/ 0 h 694714"/>
                  <a:gd name="csX2" fmla="*/ 0 w 2139342"/>
                  <a:gd name="csY2" fmla="*/ 694715 h 694714"/>
                  <a:gd name="csX3" fmla="*/ 1928205 w 2139342"/>
                  <a:gd name="csY3" fmla="*/ 694715 h 694714"/>
                  <a:gd name="csX4" fmla="*/ 2139343 w 2139342"/>
                  <a:gd name="csY4" fmla="*/ 0 h 694714"/>
                </a:gdLst>
                <a:ahLst/>
                <a:cxnLst>
                  <a:cxn ang="0">
                    <a:pos x="csX0" y="csY0"/>
                  </a:cxn>
                  <a:cxn ang="0">
                    <a:pos x="csX1" y="csY1"/>
                  </a:cxn>
                  <a:cxn ang="0">
                    <a:pos x="csX2" y="csY2"/>
                  </a:cxn>
                  <a:cxn ang="0">
                    <a:pos x="csX3" y="csY3"/>
                  </a:cxn>
                  <a:cxn ang="0">
                    <a:pos x="csX4" y="csY4"/>
                  </a:cxn>
                </a:cxnLst>
                <a:rect l="l" t="t" r="r" b="b"/>
                <a:pathLst>
                  <a:path w="2139342" h="694714">
                    <a:moveTo>
                      <a:pt x="2139343" y="0"/>
                    </a:moveTo>
                    <a:lnTo>
                      <a:pt x="211138" y="0"/>
                    </a:lnTo>
                    <a:lnTo>
                      <a:pt x="0" y="694715"/>
                    </a:lnTo>
                    <a:lnTo>
                      <a:pt x="1928205" y="694715"/>
                    </a:lnTo>
                    <a:lnTo>
                      <a:pt x="2139343" y="0"/>
                    </a:lnTo>
                    <a:close/>
                  </a:path>
                </a:pathLst>
              </a:custGeom>
              <a:gradFill>
                <a:gsLst>
                  <a:gs pos="0">
                    <a:schemeClr val="accent2">
                      <a:lumMod val="60000"/>
                      <a:lumOff val="40000"/>
                    </a:schemeClr>
                  </a:gs>
                  <a:gs pos="100000">
                    <a:schemeClr val="accent2"/>
                  </a:gs>
                </a:gsLst>
                <a:lin ang="0" scaled="0"/>
              </a:gradFill>
              <a:ln w="4092" cap="flat">
                <a:noFill/>
                <a:prstDash val="solid"/>
                <a:miter/>
              </a:ln>
            </p:spPr>
            <p:txBody>
              <a:bodyPr/>
              <a:lstStyle/>
              <a:p>
                <a:endParaRPr lang="zh-CN" altLang="en-US">
                  <a:latin typeface="+mn-ea"/>
                </a:endParaRPr>
              </a:p>
            </p:txBody>
          </p:sp>
          <p:sp>
            <p:nvSpPr>
              <p:cNvPr id="22" name="0">
                <a:extLst>
                  <a:ext uri="{FF2B5EF4-FFF2-40B4-BE49-F238E27FC236}">
                    <a16:creationId xmlns:a16="http://schemas.microsoft.com/office/drawing/2014/main" id="{54AC6761-A7C7-0465-9A26-62AF4B026033}"/>
                  </a:ext>
                </a:extLst>
              </p:cNvPr>
              <p:cNvSpPr txBox="1"/>
              <p:nvPr/>
            </p:nvSpPr>
            <p:spPr>
              <a:xfrm>
                <a:off x="6216308" y="5703885"/>
                <a:ext cx="1368487" cy="497797"/>
              </a:xfrm>
              <a:prstGeom prst="rect">
                <a:avLst/>
              </a:prstGeom>
              <a:noFill/>
              <a:ln>
                <a:noFill/>
              </a:ln>
              <a:effectLst>
                <a:outerShdw blurRad="254000" dist="114300" dir="2700000" sx="98000" sy="98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defPPr>
                <a:lvl1pPr algn="ctr">
                  <a:defRPr>
                    <a:solidFill>
                      <a:prstClr val="white"/>
                    </a:solidFill>
                    <a:latin typeface="OPPOSans R" panose="00020600040101010101" pitchFamily="18" charset="-122"/>
                    <a:ea typeface="OPPOSans R"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200" b="1" i="1" dirty="0">
                    <a:solidFill>
                      <a:schemeClr val="bg1"/>
                    </a:solidFill>
                    <a:latin typeface="+mn-ea"/>
                    <a:ea typeface="+mn-ea"/>
                    <a:sym typeface="+mn-ea"/>
                  </a:rPr>
                  <a:t>结果</a:t>
                </a:r>
              </a:p>
            </p:txBody>
          </p:sp>
          <p:sp>
            <p:nvSpPr>
              <p:cNvPr id="23" name="0">
                <a:extLst>
                  <a:ext uri="{FF2B5EF4-FFF2-40B4-BE49-F238E27FC236}">
                    <a16:creationId xmlns:a16="http://schemas.microsoft.com/office/drawing/2014/main" id="{CD23260C-DB4C-06EB-BE8B-18F1272EF7D9}"/>
                  </a:ext>
                </a:extLst>
              </p:cNvPr>
              <p:cNvSpPr/>
              <p:nvPr/>
            </p:nvSpPr>
            <p:spPr>
              <a:xfrm>
                <a:off x="3671935" y="5808667"/>
                <a:ext cx="1394508" cy="226916"/>
              </a:xfrm>
              <a:custGeom>
                <a:avLst/>
                <a:gdLst>
                  <a:gd name="csX0" fmla="*/ 1394509 w 1394508"/>
                  <a:gd name="csY0" fmla="*/ 0 h 226916"/>
                  <a:gd name="csX1" fmla="*/ 68968 w 1394508"/>
                  <a:gd name="csY1" fmla="*/ 0 h 226916"/>
                  <a:gd name="csX2" fmla="*/ 0 w 1394508"/>
                  <a:gd name="csY2" fmla="*/ 226917 h 226916"/>
                  <a:gd name="csX3" fmla="*/ 1325540 w 1394508"/>
                  <a:gd name="csY3" fmla="*/ 226917 h 226916"/>
                  <a:gd name="csX4" fmla="*/ 1394509 w 1394508"/>
                  <a:gd name="csY4" fmla="*/ 0 h 226916"/>
                </a:gdLst>
                <a:ahLst/>
                <a:cxnLst>
                  <a:cxn ang="0">
                    <a:pos x="csX0" y="csY0"/>
                  </a:cxn>
                  <a:cxn ang="0">
                    <a:pos x="csX1" y="csY1"/>
                  </a:cxn>
                  <a:cxn ang="0">
                    <a:pos x="csX2" y="csY2"/>
                  </a:cxn>
                  <a:cxn ang="0">
                    <a:pos x="csX3" y="csY3"/>
                  </a:cxn>
                  <a:cxn ang="0">
                    <a:pos x="csX4" y="csY4"/>
                  </a:cxn>
                </a:cxnLst>
                <a:rect l="l" t="t" r="r" b="b"/>
                <a:pathLst>
                  <a:path w="1394508" h="226916">
                    <a:moveTo>
                      <a:pt x="1394509" y="0"/>
                    </a:moveTo>
                    <a:lnTo>
                      <a:pt x="68968" y="0"/>
                    </a:lnTo>
                    <a:lnTo>
                      <a:pt x="0" y="226917"/>
                    </a:lnTo>
                    <a:lnTo>
                      <a:pt x="1325540" y="226917"/>
                    </a:lnTo>
                    <a:lnTo>
                      <a:pt x="1394509" y="0"/>
                    </a:lnTo>
                    <a:close/>
                  </a:path>
                </a:pathLst>
              </a:custGeom>
              <a:gradFill>
                <a:gsLst>
                  <a:gs pos="0">
                    <a:schemeClr val="accent1">
                      <a:alpha val="0"/>
                      <a:lumMod val="10000"/>
                      <a:lumOff val="90000"/>
                    </a:schemeClr>
                  </a:gs>
                  <a:gs pos="100000">
                    <a:schemeClr val="accent1">
                      <a:lumMod val="40000"/>
                      <a:lumOff val="60000"/>
                    </a:schemeClr>
                  </a:gs>
                </a:gsLst>
                <a:lin ang="0" scaled="0"/>
              </a:gradFill>
              <a:ln w="25400" cap="flat">
                <a:noFill/>
                <a:prstDash val="solid"/>
                <a:miter/>
              </a:ln>
            </p:spPr>
            <p:txBody>
              <a:bodyPr/>
              <a:lstStyle/>
              <a:p>
                <a:endParaRPr lang="zh-CN" altLang="en-US">
                  <a:latin typeface="+mn-ea"/>
                </a:endParaRPr>
              </a:p>
            </p:txBody>
          </p:sp>
          <p:sp>
            <p:nvSpPr>
              <p:cNvPr id="24" name="0">
                <a:extLst>
                  <a:ext uri="{FF2B5EF4-FFF2-40B4-BE49-F238E27FC236}">
                    <a16:creationId xmlns:a16="http://schemas.microsoft.com/office/drawing/2014/main" id="{F16156A4-8265-F92F-2B84-148BA6B9E37A}"/>
                  </a:ext>
                </a:extLst>
              </p:cNvPr>
              <p:cNvSpPr/>
              <p:nvPr/>
            </p:nvSpPr>
            <p:spPr>
              <a:xfrm>
                <a:off x="3604125" y="6144923"/>
                <a:ext cx="1360013" cy="113469"/>
              </a:xfrm>
              <a:custGeom>
                <a:avLst/>
                <a:gdLst>
                  <a:gd name="csX0" fmla="*/ 1360014 w 1360013"/>
                  <a:gd name="csY0" fmla="*/ 0 h 113469"/>
                  <a:gd name="csX1" fmla="*/ 34473 w 1360013"/>
                  <a:gd name="csY1" fmla="*/ 0 h 113469"/>
                  <a:gd name="csX2" fmla="*/ 0 w 1360013"/>
                  <a:gd name="csY2" fmla="*/ 113469 h 113469"/>
                  <a:gd name="csX3" fmla="*/ 1325540 w 1360013"/>
                  <a:gd name="csY3" fmla="*/ 113469 h 113469"/>
                  <a:gd name="csX4" fmla="*/ 1360014 w 1360013"/>
                  <a:gd name="csY4" fmla="*/ 0 h 113469"/>
                </a:gdLst>
                <a:ahLst/>
                <a:cxnLst>
                  <a:cxn ang="0">
                    <a:pos x="csX0" y="csY0"/>
                  </a:cxn>
                  <a:cxn ang="0">
                    <a:pos x="csX1" y="csY1"/>
                  </a:cxn>
                  <a:cxn ang="0">
                    <a:pos x="csX2" y="csY2"/>
                  </a:cxn>
                  <a:cxn ang="0">
                    <a:pos x="csX3" y="csY3"/>
                  </a:cxn>
                  <a:cxn ang="0">
                    <a:pos x="csX4" y="csY4"/>
                  </a:cxn>
                </a:cxnLst>
                <a:rect l="l" t="t" r="r" b="b"/>
                <a:pathLst>
                  <a:path w="1360013" h="113469">
                    <a:moveTo>
                      <a:pt x="1360014" y="0"/>
                    </a:moveTo>
                    <a:lnTo>
                      <a:pt x="34473" y="0"/>
                    </a:lnTo>
                    <a:lnTo>
                      <a:pt x="0" y="113469"/>
                    </a:lnTo>
                    <a:lnTo>
                      <a:pt x="1325540" y="113469"/>
                    </a:lnTo>
                    <a:lnTo>
                      <a:pt x="1360014" y="0"/>
                    </a:lnTo>
                    <a:close/>
                  </a:path>
                </a:pathLst>
              </a:custGeom>
              <a:gradFill>
                <a:gsLst>
                  <a:gs pos="0">
                    <a:schemeClr val="accent1">
                      <a:alpha val="0"/>
                      <a:lumMod val="10000"/>
                      <a:lumOff val="90000"/>
                    </a:schemeClr>
                  </a:gs>
                  <a:gs pos="100000">
                    <a:schemeClr val="accent1">
                      <a:lumMod val="40000"/>
                      <a:lumOff val="60000"/>
                    </a:schemeClr>
                  </a:gs>
                </a:gsLst>
                <a:lin ang="0" scaled="0"/>
              </a:gradFill>
              <a:ln w="25400" cap="flat">
                <a:noFill/>
                <a:prstDash val="solid"/>
                <a:miter/>
              </a:ln>
            </p:spPr>
            <p:txBody>
              <a:bodyPr/>
              <a:lstStyle/>
              <a:p>
                <a:endParaRPr lang="zh-CN" altLang="en-US">
                  <a:latin typeface="+mn-ea"/>
                </a:endParaRPr>
              </a:p>
            </p:txBody>
          </p:sp>
          <p:sp>
            <p:nvSpPr>
              <p:cNvPr id="25" name="0">
                <a:extLst>
                  <a:ext uri="{FF2B5EF4-FFF2-40B4-BE49-F238E27FC236}">
                    <a16:creationId xmlns:a16="http://schemas.microsoft.com/office/drawing/2014/main" id="{8F50FAC2-6C05-A101-7394-5D28D3FCCD61}"/>
                  </a:ext>
                </a:extLst>
              </p:cNvPr>
              <p:cNvSpPr/>
              <p:nvPr/>
            </p:nvSpPr>
            <p:spPr>
              <a:xfrm>
                <a:off x="6972375" y="1266204"/>
                <a:ext cx="1394508" cy="226916"/>
              </a:xfrm>
              <a:custGeom>
                <a:avLst/>
                <a:gdLst>
                  <a:gd name="csX0" fmla="*/ 1394509 w 1394508"/>
                  <a:gd name="csY0" fmla="*/ 0 h 226916"/>
                  <a:gd name="csX1" fmla="*/ 68968 w 1394508"/>
                  <a:gd name="csY1" fmla="*/ 0 h 226916"/>
                  <a:gd name="csX2" fmla="*/ 0 w 1394508"/>
                  <a:gd name="csY2" fmla="*/ 226917 h 226916"/>
                  <a:gd name="csX3" fmla="*/ 1325540 w 1394508"/>
                  <a:gd name="csY3" fmla="*/ 226917 h 226916"/>
                  <a:gd name="csX4" fmla="*/ 1394509 w 1394508"/>
                  <a:gd name="csY4" fmla="*/ 0 h 226916"/>
                </a:gdLst>
                <a:ahLst/>
                <a:cxnLst>
                  <a:cxn ang="0">
                    <a:pos x="csX0" y="csY0"/>
                  </a:cxn>
                  <a:cxn ang="0">
                    <a:pos x="csX1" y="csY1"/>
                  </a:cxn>
                  <a:cxn ang="0">
                    <a:pos x="csX2" y="csY2"/>
                  </a:cxn>
                  <a:cxn ang="0">
                    <a:pos x="csX3" y="csY3"/>
                  </a:cxn>
                  <a:cxn ang="0">
                    <a:pos x="csX4" y="csY4"/>
                  </a:cxn>
                </a:cxnLst>
                <a:rect l="l" t="t" r="r" b="b"/>
                <a:pathLst>
                  <a:path w="1394508" h="226916">
                    <a:moveTo>
                      <a:pt x="1394509" y="0"/>
                    </a:moveTo>
                    <a:lnTo>
                      <a:pt x="68968" y="0"/>
                    </a:lnTo>
                    <a:lnTo>
                      <a:pt x="0" y="226917"/>
                    </a:lnTo>
                    <a:lnTo>
                      <a:pt x="1325540" y="226917"/>
                    </a:lnTo>
                    <a:lnTo>
                      <a:pt x="1394509" y="0"/>
                    </a:lnTo>
                    <a:close/>
                  </a:path>
                </a:pathLst>
              </a:custGeom>
              <a:gradFill>
                <a:gsLst>
                  <a:gs pos="100000">
                    <a:schemeClr val="accent2">
                      <a:lumMod val="10000"/>
                      <a:lumOff val="90000"/>
                      <a:alpha val="0"/>
                    </a:schemeClr>
                  </a:gs>
                  <a:gs pos="0">
                    <a:schemeClr val="accent2">
                      <a:lumMod val="40000"/>
                      <a:lumOff val="60000"/>
                    </a:schemeClr>
                  </a:gs>
                </a:gsLst>
                <a:lin ang="0" scaled="0"/>
              </a:gradFill>
              <a:ln w="25400" cap="flat">
                <a:noFill/>
                <a:prstDash val="solid"/>
                <a:miter/>
              </a:ln>
            </p:spPr>
            <p:txBody>
              <a:bodyPr/>
              <a:lstStyle/>
              <a:p>
                <a:endParaRPr lang="zh-CN" altLang="en-US">
                  <a:latin typeface="+mn-ea"/>
                </a:endParaRPr>
              </a:p>
            </p:txBody>
          </p:sp>
          <p:sp>
            <p:nvSpPr>
              <p:cNvPr id="26" name="0">
                <a:extLst>
                  <a:ext uri="{FF2B5EF4-FFF2-40B4-BE49-F238E27FC236}">
                    <a16:creationId xmlns:a16="http://schemas.microsoft.com/office/drawing/2014/main" id="{8FE1C4C7-A6F4-03D7-8DDA-EAD45B4B6FD1}"/>
                  </a:ext>
                </a:extLst>
              </p:cNvPr>
              <p:cNvSpPr/>
              <p:nvPr/>
            </p:nvSpPr>
            <p:spPr>
              <a:xfrm>
                <a:off x="7066796" y="1051476"/>
                <a:ext cx="1360013" cy="113469"/>
              </a:xfrm>
              <a:custGeom>
                <a:avLst/>
                <a:gdLst>
                  <a:gd name="csX0" fmla="*/ 1360014 w 1360013"/>
                  <a:gd name="csY0" fmla="*/ 0 h 113469"/>
                  <a:gd name="csX1" fmla="*/ 34473 w 1360013"/>
                  <a:gd name="csY1" fmla="*/ 0 h 113469"/>
                  <a:gd name="csX2" fmla="*/ 0 w 1360013"/>
                  <a:gd name="csY2" fmla="*/ 113469 h 113469"/>
                  <a:gd name="csX3" fmla="*/ 1325540 w 1360013"/>
                  <a:gd name="csY3" fmla="*/ 113469 h 113469"/>
                  <a:gd name="csX4" fmla="*/ 1360014 w 1360013"/>
                  <a:gd name="csY4" fmla="*/ 0 h 113469"/>
                </a:gdLst>
                <a:ahLst/>
                <a:cxnLst>
                  <a:cxn ang="0">
                    <a:pos x="csX0" y="csY0"/>
                  </a:cxn>
                  <a:cxn ang="0">
                    <a:pos x="csX1" y="csY1"/>
                  </a:cxn>
                  <a:cxn ang="0">
                    <a:pos x="csX2" y="csY2"/>
                  </a:cxn>
                  <a:cxn ang="0">
                    <a:pos x="csX3" y="csY3"/>
                  </a:cxn>
                  <a:cxn ang="0">
                    <a:pos x="csX4" y="csY4"/>
                  </a:cxn>
                </a:cxnLst>
                <a:rect l="l" t="t" r="r" b="b"/>
                <a:pathLst>
                  <a:path w="1360013" h="113469">
                    <a:moveTo>
                      <a:pt x="1360014" y="0"/>
                    </a:moveTo>
                    <a:lnTo>
                      <a:pt x="34473" y="0"/>
                    </a:lnTo>
                    <a:lnTo>
                      <a:pt x="0" y="113469"/>
                    </a:lnTo>
                    <a:lnTo>
                      <a:pt x="1325540" y="113469"/>
                    </a:lnTo>
                    <a:lnTo>
                      <a:pt x="1360014" y="0"/>
                    </a:lnTo>
                    <a:close/>
                  </a:path>
                </a:pathLst>
              </a:custGeom>
              <a:gradFill>
                <a:gsLst>
                  <a:gs pos="100000">
                    <a:schemeClr val="accent2">
                      <a:lumMod val="10000"/>
                      <a:lumOff val="90000"/>
                      <a:alpha val="0"/>
                    </a:schemeClr>
                  </a:gs>
                  <a:gs pos="0">
                    <a:schemeClr val="accent2">
                      <a:lumMod val="40000"/>
                      <a:lumOff val="60000"/>
                    </a:schemeClr>
                  </a:gs>
                </a:gsLst>
                <a:lin ang="0" scaled="0"/>
              </a:gradFill>
              <a:ln w="25400" cap="flat">
                <a:noFill/>
                <a:prstDash val="solid"/>
                <a:miter/>
              </a:ln>
            </p:spPr>
            <p:txBody>
              <a:bodyPr/>
              <a:lstStyle/>
              <a:p>
                <a:endParaRPr lang="zh-CN" altLang="en-US">
                  <a:latin typeface="+mn-ea"/>
                </a:endParaRPr>
              </a:p>
            </p:txBody>
          </p:sp>
        </p:grpSp>
        <p:grpSp>
          <p:nvGrpSpPr>
            <p:cNvPr id="7" name="组合 1">
              <a:extLst>
                <a:ext uri="{FF2B5EF4-FFF2-40B4-BE49-F238E27FC236}">
                  <a16:creationId xmlns:a16="http://schemas.microsoft.com/office/drawing/2014/main" id="{1F118A58-582B-91AE-1745-215BD89E072C}"/>
                </a:ext>
              </a:extLst>
            </p:cNvPr>
            <p:cNvGrpSpPr/>
            <p:nvPr/>
          </p:nvGrpSpPr>
          <p:grpSpPr>
            <a:xfrm>
              <a:off x="1802510" y="2476899"/>
              <a:ext cx="3229215" cy="2026744"/>
              <a:chOff x="1802510" y="2476899"/>
              <a:chExt cx="3229215" cy="2026744"/>
            </a:xfrm>
          </p:grpSpPr>
          <p:sp>
            <p:nvSpPr>
              <p:cNvPr id="11" name="Title-1">
                <a:extLst>
                  <a:ext uri="{FF2B5EF4-FFF2-40B4-BE49-F238E27FC236}">
                    <a16:creationId xmlns:a16="http://schemas.microsoft.com/office/drawing/2014/main" id="{C98D107D-1010-86DB-9F3A-E60CC4FBCD2B}"/>
                  </a:ext>
                </a:extLst>
              </p:cNvPr>
              <p:cNvSpPr txBox="1"/>
              <p:nvPr>
                <p:custDataLst>
                  <p:tags r:id="rId3"/>
                </p:custDataLst>
              </p:nvPr>
            </p:nvSpPr>
            <p:spPr>
              <a:xfrm>
                <a:off x="3456837" y="2759473"/>
                <a:ext cx="1290988" cy="426683"/>
              </a:xfrm>
              <a:prstGeom prst="rect">
                <a:avLst/>
              </a:prstGeom>
              <a:noFill/>
              <a:ln>
                <a:noFill/>
              </a:ln>
              <a:effectLst>
                <a:outerShdw blurRad="254000" dist="114300" dir="2700000" sx="98000" sy="98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defPPr>
                <a:lvl1pPr algn="ctr">
                  <a:defRPr>
                    <a:solidFill>
                      <a:prstClr val="white"/>
                    </a:solidFill>
                    <a:latin typeface="OPPOSans R" panose="00020600040101010101" pitchFamily="18" charset="-122"/>
                    <a:ea typeface="OPPOSans R"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endParaRPr lang="zh-CN" altLang="en-US" b="1" i="1" dirty="0">
                  <a:solidFill>
                    <a:schemeClr val="accent1"/>
                  </a:solidFill>
                  <a:latin typeface="+mn-ea"/>
                  <a:ea typeface="+mn-ea"/>
                  <a:sym typeface="+mn-ea"/>
                </a:endParaRPr>
              </a:p>
            </p:txBody>
          </p:sp>
          <p:sp>
            <p:nvSpPr>
              <p:cNvPr id="12" name="Body-1">
                <a:extLst>
                  <a:ext uri="{FF2B5EF4-FFF2-40B4-BE49-F238E27FC236}">
                    <a16:creationId xmlns:a16="http://schemas.microsoft.com/office/drawing/2014/main" id="{7CA717D0-E6AD-AFAD-CF26-C7CEAE7741E5}"/>
                  </a:ext>
                </a:extLst>
              </p:cNvPr>
              <p:cNvSpPr txBox="1"/>
              <p:nvPr>
                <p:custDataLst>
                  <p:tags r:id="rId4"/>
                </p:custDataLst>
              </p:nvPr>
            </p:nvSpPr>
            <p:spPr>
              <a:xfrm>
                <a:off x="1802510" y="2476899"/>
                <a:ext cx="3229215" cy="2026744"/>
              </a:xfrm>
              <a:prstGeom prst="rect">
                <a:avLst/>
              </a:prstGeom>
              <a:noFill/>
              <a:ln>
                <a:noFill/>
              </a:ln>
              <a:effectLst>
                <a:outerShdw blurRad="254000" dist="114300" dir="2700000" sx="98000" sy="98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defPPr>
                <a:lvl1pPr algn="ctr">
                  <a:defRPr>
                    <a:solidFill>
                      <a:prstClr val="white"/>
                    </a:solidFill>
                    <a:latin typeface="OPPOSans R" panose="00020600040101010101" pitchFamily="18" charset="-122"/>
                    <a:ea typeface="OPPOSans R"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1" i="1" dirty="0">
                    <a:solidFill>
                      <a:schemeClr val="tx1">
                        <a:lumMod val="85000"/>
                        <a:lumOff val="15000"/>
                      </a:schemeClr>
                    </a:solidFill>
                    <a:latin typeface="+mn-ea"/>
                    <a:ea typeface="+mn-ea"/>
                    <a:sym typeface="微软雅黑" panose="020B0503020204020204" pitchFamily="34" charset="-122"/>
                  </a:rPr>
                  <a:t>每个大脑算力线性，</a:t>
                </a:r>
                <a:r>
                  <a:rPr lang="en-US" altLang="zh-CN" b="1" i="1" dirty="0">
                    <a:solidFill>
                      <a:schemeClr val="tx1">
                        <a:lumMod val="85000"/>
                        <a:lumOff val="15000"/>
                      </a:schemeClr>
                    </a:solidFill>
                    <a:latin typeface="+mn-ea"/>
                    <a:ea typeface="+mn-ea"/>
                    <a:sym typeface="微软雅黑" panose="020B0503020204020204" pitchFamily="34" charset="-122"/>
                  </a:rPr>
                  <a:t>M</a:t>
                </a:r>
                <a:r>
                  <a:rPr lang="zh-CN" altLang="en-US" b="1" i="1" dirty="0">
                    <a:solidFill>
                      <a:schemeClr val="tx1">
                        <a:lumMod val="85000"/>
                        <a:lumOff val="15000"/>
                      </a:schemeClr>
                    </a:solidFill>
                    <a:latin typeface="+mn-ea"/>
                    <a:ea typeface="+mn-ea"/>
                    <a:sym typeface="微软雅黑" panose="020B0503020204020204" pitchFamily="34" charset="-122"/>
                  </a:rPr>
                  <a:t>个人加在一起</a:t>
                </a:r>
                <a:r>
                  <a:rPr lang="en-US" altLang="zh-CN" b="1" i="1" dirty="0">
                    <a:solidFill>
                      <a:schemeClr val="tx1">
                        <a:lumMod val="85000"/>
                        <a:lumOff val="15000"/>
                      </a:schemeClr>
                    </a:solidFill>
                    <a:latin typeface="+mn-ea"/>
                    <a:ea typeface="+mn-ea"/>
                    <a:sym typeface="微软雅黑" panose="020B0503020204020204" pitchFamily="34" charset="-122"/>
                  </a:rPr>
                  <a:t>O(M)</a:t>
                </a:r>
              </a:p>
              <a:p>
                <a:pPr algn="l"/>
                <a:r>
                  <a:rPr lang="zh-CN" altLang="en-US" b="1" i="1" dirty="0">
                    <a:solidFill>
                      <a:schemeClr val="tx1">
                        <a:lumMod val="85000"/>
                        <a:lumOff val="15000"/>
                      </a:schemeClr>
                    </a:solidFill>
                    <a:latin typeface="+mn-ea"/>
                    <a:ea typeface="+mn-ea"/>
                    <a:sym typeface="微软雅黑" panose="020B0503020204020204" pitchFamily="34" charset="-122"/>
                  </a:rPr>
                  <a:t>但他们被关进会议室，沟通通道</a:t>
                </a:r>
                <a:r>
                  <a:rPr lang="en-US" altLang="zh-CN" b="1" i="1" dirty="0">
                    <a:solidFill>
                      <a:schemeClr val="tx1">
                        <a:lumMod val="85000"/>
                        <a:lumOff val="15000"/>
                      </a:schemeClr>
                    </a:solidFill>
                    <a:latin typeface="+mn-ea"/>
                    <a:ea typeface="+mn-ea"/>
                    <a:sym typeface="微软雅黑" panose="020B0503020204020204" pitchFamily="34" charset="-122"/>
                  </a:rPr>
                  <a:t>O(M²)</a:t>
                </a:r>
              </a:p>
              <a:p>
                <a:pPr algn="l"/>
                <a:r>
                  <a:rPr lang="zh-CN" altLang="en-US" b="1" i="1" dirty="0">
                    <a:solidFill>
                      <a:schemeClr val="tx1">
                        <a:lumMod val="85000"/>
                        <a:lumOff val="15000"/>
                      </a:schemeClr>
                    </a:solidFill>
                    <a:latin typeface="+mn-ea"/>
                    <a:ea typeface="+mn-ea"/>
                    <a:sym typeface="微软雅黑" panose="020B0503020204020204" pitchFamily="34" charset="-122"/>
                  </a:rPr>
                  <a:t>还有博弈、信息不对称、隐藏动机，实际内耗远超</a:t>
                </a:r>
                <a:r>
                  <a:rPr lang="en-US" altLang="zh-CN" b="1" i="1" dirty="0">
                    <a:solidFill>
                      <a:schemeClr val="tx1">
                        <a:lumMod val="85000"/>
                        <a:lumOff val="15000"/>
                      </a:schemeClr>
                    </a:solidFill>
                    <a:latin typeface="+mn-ea"/>
                    <a:ea typeface="+mn-ea"/>
                    <a:sym typeface="微软雅黑" panose="020B0503020204020204" pitchFamily="34" charset="-122"/>
                  </a:rPr>
                  <a:t>O(M²)</a:t>
                </a:r>
                <a:endParaRPr lang="zh-CN" altLang="en-US" b="1" i="1" dirty="0">
                  <a:solidFill>
                    <a:schemeClr val="tx1">
                      <a:lumMod val="85000"/>
                      <a:lumOff val="15000"/>
                    </a:schemeClr>
                  </a:solidFill>
                  <a:latin typeface="+mn-ea"/>
                  <a:ea typeface="+mn-ea"/>
                  <a:sym typeface="微软雅黑" panose="020B0503020204020204" pitchFamily="34" charset="-122"/>
                </a:endParaRPr>
              </a:p>
            </p:txBody>
          </p:sp>
        </p:grpSp>
        <p:sp>
          <p:nvSpPr>
            <p:cNvPr id="10" name="Body-2">
              <a:extLst>
                <a:ext uri="{FF2B5EF4-FFF2-40B4-BE49-F238E27FC236}">
                  <a16:creationId xmlns:a16="http://schemas.microsoft.com/office/drawing/2014/main" id="{93156B7B-B95C-35CE-E3B7-070E40BB9742}"/>
                </a:ext>
              </a:extLst>
            </p:cNvPr>
            <p:cNvSpPr txBox="1"/>
            <p:nvPr>
              <p:custDataLst>
                <p:tags r:id="rId2"/>
              </p:custDataLst>
            </p:nvPr>
          </p:nvSpPr>
          <p:spPr>
            <a:xfrm>
              <a:off x="7173316" y="2890099"/>
              <a:ext cx="3229215" cy="1386720"/>
            </a:xfrm>
            <a:prstGeom prst="rect">
              <a:avLst/>
            </a:prstGeom>
            <a:noFill/>
            <a:ln>
              <a:noFill/>
            </a:ln>
            <a:effectLst>
              <a:outerShdw blurRad="254000" dist="114300" dir="2700000" sx="98000" sy="98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defPPr>
              <a:lvl1pPr algn="ctr">
                <a:defRPr>
                  <a:solidFill>
                    <a:prstClr val="white"/>
                  </a:solidFill>
                  <a:latin typeface="OPPOSans R" panose="00020600040101010101" pitchFamily="18" charset="-122"/>
                  <a:ea typeface="OPPOSans R"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b="1" i="1" dirty="0">
                  <a:solidFill>
                    <a:schemeClr val="tx1">
                      <a:lumMod val="85000"/>
                      <a:lumOff val="15000"/>
                    </a:schemeClr>
                  </a:solidFill>
                  <a:latin typeface="+mn-ea"/>
                  <a:ea typeface="+mn-ea"/>
                  <a:sym typeface="微软雅黑" panose="020B0503020204020204" pitchFamily="34" charset="-122"/>
                </a:rPr>
                <a:t>O(M²)</a:t>
              </a:r>
              <a:r>
                <a:rPr lang="zh-CN" altLang="en-US" b="1" i="1" dirty="0">
                  <a:solidFill>
                    <a:schemeClr val="tx1">
                      <a:lumMod val="85000"/>
                      <a:lumOff val="15000"/>
                    </a:schemeClr>
                  </a:solidFill>
                  <a:latin typeface="+mn-ea"/>
                  <a:ea typeface="+mn-ea"/>
                  <a:sym typeface="微软雅黑" panose="020B0503020204020204" pitchFamily="34" charset="-122"/>
                </a:rPr>
                <a:t>的沟通内耗，永远追不上</a:t>
              </a:r>
              <a:r>
                <a:rPr lang="en-US" altLang="zh-CN" b="1" i="1" dirty="0">
                  <a:solidFill>
                    <a:schemeClr val="tx1">
                      <a:lumMod val="85000"/>
                      <a:lumOff val="15000"/>
                    </a:schemeClr>
                  </a:solidFill>
                  <a:latin typeface="+mn-ea"/>
                  <a:ea typeface="+mn-ea"/>
                  <a:sym typeface="微软雅黑" panose="020B0503020204020204" pitchFamily="34" charset="-122"/>
                </a:rPr>
                <a:t>O(N!)</a:t>
              </a:r>
              <a:r>
                <a:rPr lang="zh-CN" altLang="en-US" b="1" i="1" dirty="0">
                  <a:solidFill>
                    <a:schemeClr val="tx1">
                      <a:lumMod val="85000"/>
                      <a:lumOff val="15000"/>
                    </a:schemeClr>
                  </a:solidFill>
                  <a:latin typeface="+mn-ea"/>
                  <a:ea typeface="+mn-ea"/>
                  <a:sym typeface="微软雅黑" panose="020B0503020204020204" pitchFamily="34" charset="-122"/>
                </a:rPr>
                <a:t>的业务变异</a:t>
              </a:r>
            </a:p>
            <a:p>
              <a:pPr algn="l"/>
              <a:r>
                <a:rPr lang="en-US" altLang="zh-CN" b="1" i="1" dirty="0">
                  <a:solidFill>
                    <a:schemeClr val="tx1">
                      <a:lumMod val="85000"/>
                      <a:lumOff val="15000"/>
                    </a:schemeClr>
                  </a:solidFill>
                  <a:latin typeface="+mn-ea"/>
                  <a:ea typeface="+mn-ea"/>
                  <a:sym typeface="微软雅黑" panose="020B0503020204020204" pitchFamily="34" charset="-122"/>
                </a:rPr>
                <a:t>N&gt;10</a:t>
              </a:r>
              <a:r>
                <a:rPr lang="zh-CN" altLang="en-US" b="1" i="1" dirty="0">
                  <a:solidFill>
                    <a:schemeClr val="tx1">
                      <a:lumMod val="85000"/>
                      <a:lumOff val="15000"/>
                    </a:schemeClr>
                  </a:solidFill>
                  <a:latin typeface="+mn-ea"/>
                  <a:ea typeface="+mn-ea"/>
                  <a:sym typeface="微软雅黑" panose="020B0503020204020204" pitchFamily="34" charset="-122"/>
                </a:rPr>
                <a:t>，已经击穿天花板</a:t>
              </a:r>
            </a:p>
            <a:p>
              <a:pPr algn="l"/>
              <a:r>
                <a:rPr lang="zh-CN" altLang="en-US" b="1" i="1" dirty="0">
                  <a:solidFill>
                    <a:schemeClr val="tx1">
                      <a:lumMod val="85000"/>
                      <a:lumOff val="15000"/>
                    </a:schemeClr>
                  </a:solidFill>
                  <a:latin typeface="+mn-ea"/>
                  <a:ea typeface="+mn-ea"/>
                  <a:sym typeface="微软雅黑" panose="020B0503020204020204" pitchFamily="34" charset="-122"/>
                </a:rPr>
                <a:t>往</a:t>
              </a:r>
              <a:r>
                <a:rPr lang="en-US" altLang="zh-CN" b="1" i="1" dirty="0">
                  <a:solidFill>
                    <a:schemeClr val="tx1">
                      <a:lumMod val="85000"/>
                      <a:lumOff val="15000"/>
                    </a:schemeClr>
                  </a:solidFill>
                  <a:latin typeface="+mn-ea"/>
                  <a:ea typeface="+mn-ea"/>
                  <a:sym typeface="微软雅黑" panose="020B0503020204020204" pitchFamily="34" charset="-122"/>
                </a:rPr>
                <a:t>N!</a:t>
              </a:r>
              <a:r>
                <a:rPr lang="zh-CN" altLang="en-US" b="1" i="1" dirty="0">
                  <a:solidFill>
                    <a:schemeClr val="tx1">
                      <a:lumMod val="85000"/>
                      <a:lumOff val="15000"/>
                    </a:schemeClr>
                  </a:solidFill>
                  <a:latin typeface="+mn-ea"/>
                  <a:ea typeface="+mn-ea"/>
                  <a:sym typeface="微软雅黑" panose="020B0503020204020204" pitchFamily="34" charset="-122"/>
                </a:rPr>
                <a:t>黑洞里加人，越加越乱</a:t>
              </a:r>
            </a:p>
          </p:txBody>
        </p:sp>
      </p:grpSp>
      <p:sp>
        <p:nvSpPr>
          <p:cNvPr id="28" name="文本框 27">
            <a:extLst>
              <a:ext uri="{FF2B5EF4-FFF2-40B4-BE49-F238E27FC236}">
                <a16:creationId xmlns:a16="http://schemas.microsoft.com/office/drawing/2014/main" id="{89C67EC7-3D75-2429-B8F4-42ABB75D5537}"/>
              </a:ext>
            </a:extLst>
          </p:cNvPr>
          <p:cNvSpPr txBox="1"/>
          <p:nvPr/>
        </p:nvSpPr>
        <p:spPr>
          <a:xfrm>
            <a:off x="2307771" y="5514352"/>
            <a:ext cx="6096000" cy="954107"/>
          </a:xfrm>
          <a:prstGeom prst="rect">
            <a:avLst/>
          </a:prstGeom>
          <a:noFill/>
        </p:spPr>
        <p:txBody>
          <a:bodyPr wrap="square">
            <a:spAutoFit/>
          </a:bodyPr>
          <a:lstStyle/>
          <a:p>
            <a:r>
              <a:rPr lang="zh-CN" altLang="en-US" dirty="0">
                <a:latin typeface="+mn-ea"/>
              </a:rPr>
              <a:t>多智能体与自组织的所谓协同，正是脱离</a:t>
            </a:r>
            <a:r>
              <a:rPr lang="en-US" altLang="zh-CN" dirty="0">
                <a:latin typeface="+mn-ea"/>
              </a:rPr>
              <a:t>Π</a:t>
            </a:r>
            <a:r>
              <a:rPr lang="zh-CN" altLang="en-US" dirty="0">
                <a:latin typeface="+mn-ea"/>
              </a:rPr>
              <a:t>的局部极值博弈。物理结局：纳什均衡，集体布朗运动。</a:t>
            </a:r>
            <a:endParaRPr lang="en-US" altLang="zh-CN" dirty="0">
              <a:latin typeface="+mn-ea"/>
            </a:endParaRPr>
          </a:p>
          <a:p>
            <a:r>
              <a:rPr lang="zh-CN" altLang="en-US" sz="2000" b="1" dirty="0">
                <a:solidFill>
                  <a:srgbClr val="00D4FF"/>
                </a:solidFill>
                <a:latin typeface="+mn-ea"/>
              </a:rPr>
              <a:t>加人没用</a:t>
            </a:r>
            <a:r>
              <a:rPr lang="zh-CN" altLang="en-US" dirty="0">
                <a:solidFill>
                  <a:srgbClr val="00D4FF"/>
                </a:solidFill>
                <a:latin typeface="+mn-ea"/>
              </a:rPr>
              <a:t>，</a:t>
            </a:r>
            <a:r>
              <a:rPr lang="zh-CN" altLang="en-US" sz="2000" b="1" dirty="0">
                <a:solidFill>
                  <a:srgbClr val="00D4FF"/>
                </a:solidFill>
                <a:latin typeface="+mn-ea"/>
              </a:rPr>
              <a:t>加</a:t>
            </a:r>
            <a:r>
              <a:rPr lang="en-US" altLang="zh-CN" sz="2000" b="1" dirty="0">
                <a:solidFill>
                  <a:srgbClr val="00D4FF"/>
                </a:solidFill>
                <a:latin typeface="+mn-ea"/>
              </a:rPr>
              <a:t>Agent</a:t>
            </a:r>
            <a:r>
              <a:rPr lang="zh-CN" altLang="en-US" sz="2000" b="1" dirty="0">
                <a:solidFill>
                  <a:srgbClr val="00D4FF"/>
                </a:solidFill>
                <a:latin typeface="+mn-ea"/>
              </a:rPr>
              <a:t>也没用</a:t>
            </a:r>
            <a:r>
              <a:rPr lang="zh-CN" altLang="en-US" dirty="0">
                <a:latin typeface="+mn-ea"/>
              </a:rPr>
              <a:t>。</a:t>
            </a:r>
          </a:p>
        </p:txBody>
      </p:sp>
    </p:spTree>
    <p:extLst>
      <p:ext uri="{BB962C8B-B14F-4D97-AF65-F5344CB8AC3E}">
        <p14:creationId xmlns:p14="http://schemas.microsoft.com/office/powerpoint/2010/main" val="71759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9E582-34E4-6A1A-BE33-93382F0ED7D0}"/>
              </a:ext>
            </a:extLst>
          </p:cNvPr>
          <p:cNvSpPr>
            <a:spLocks noGrp="1"/>
          </p:cNvSpPr>
          <p:nvPr>
            <p:ph type="title"/>
          </p:nvPr>
        </p:nvSpPr>
        <p:spPr/>
        <p:txBody>
          <a:bodyPr/>
          <a:lstStyle/>
          <a:p>
            <a:r>
              <a:rPr lang="zh-CN" altLang="en-US" dirty="0"/>
              <a:t>方案论</a:t>
            </a:r>
            <a:r>
              <a:rPr lang="en-US" altLang="zh-CN" dirty="0"/>
              <a:t>——</a:t>
            </a:r>
            <a:r>
              <a:rPr lang="zh-CN" altLang="en-US" dirty="0"/>
              <a:t>业务统御算符</a:t>
            </a:r>
            <a:r>
              <a:rPr lang="en-US" altLang="zh-CN" dirty="0"/>
              <a:t>Π</a:t>
            </a:r>
            <a:r>
              <a:rPr lang="zh-CN" altLang="en-US" dirty="0"/>
              <a:t>的物理本体</a:t>
            </a:r>
          </a:p>
        </p:txBody>
      </p:sp>
      <p:grpSp>
        <p:nvGrpSpPr>
          <p:cNvPr id="6" name="组合 5">
            <a:extLst>
              <a:ext uri="{FF2B5EF4-FFF2-40B4-BE49-F238E27FC236}">
                <a16:creationId xmlns:a16="http://schemas.microsoft.com/office/drawing/2014/main" id="{914D26EE-EEE2-F550-A321-3E7EAC19C58F}"/>
              </a:ext>
            </a:extLst>
          </p:cNvPr>
          <p:cNvGrpSpPr/>
          <p:nvPr/>
        </p:nvGrpSpPr>
        <p:grpSpPr>
          <a:xfrm>
            <a:off x="1894114" y="808496"/>
            <a:ext cx="7913914" cy="4291461"/>
            <a:chOff x="2318657" y="917354"/>
            <a:chExt cx="7913914" cy="4106444"/>
          </a:xfrm>
        </p:grpSpPr>
        <p:sp>
          <p:nvSpPr>
            <p:cNvPr id="7" name="任意多边形: 形状 6">
              <a:extLst>
                <a:ext uri="{FF2B5EF4-FFF2-40B4-BE49-F238E27FC236}">
                  <a16:creationId xmlns:a16="http://schemas.microsoft.com/office/drawing/2014/main" id="{EBE35426-DF40-B5DA-7A19-8F2A7F0658CC}"/>
                </a:ext>
              </a:extLst>
            </p:cNvPr>
            <p:cNvSpPr/>
            <p:nvPr/>
          </p:nvSpPr>
          <p:spPr>
            <a:xfrm>
              <a:off x="2318657" y="4086868"/>
              <a:ext cx="7913914" cy="520274"/>
            </a:xfrm>
            <a:custGeom>
              <a:avLst/>
              <a:gdLst>
                <a:gd name="connsiteX0" fmla="*/ 0 w 7913914"/>
                <a:gd name="connsiteY0" fmla="*/ 0 h 520274"/>
                <a:gd name="connsiteX1" fmla="*/ 7913914 w 7913914"/>
                <a:gd name="connsiteY1" fmla="*/ 0 h 520274"/>
                <a:gd name="connsiteX2" fmla="*/ 7913914 w 7913914"/>
                <a:gd name="connsiteY2" fmla="*/ 520274 h 520274"/>
                <a:gd name="connsiteX3" fmla="*/ 0 w 7913914"/>
                <a:gd name="connsiteY3" fmla="*/ 520274 h 520274"/>
                <a:gd name="connsiteX4" fmla="*/ 0 w 7913914"/>
                <a:gd name="connsiteY4" fmla="*/ 0 h 520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13914" h="520274">
                  <a:moveTo>
                    <a:pt x="0" y="0"/>
                  </a:moveTo>
                  <a:lnTo>
                    <a:pt x="7913914" y="0"/>
                  </a:lnTo>
                  <a:lnTo>
                    <a:pt x="7913914" y="520274"/>
                  </a:lnTo>
                  <a:lnTo>
                    <a:pt x="0" y="520274"/>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240" tIns="142240" rIns="142240" bIns="381566" numCol="1" spcCol="1270" anchor="ctr" anchorCtr="0">
              <a:noAutofit/>
            </a:bodyPr>
            <a:lstStyle/>
            <a:p>
              <a:pPr marL="0" lvl="0" indent="0" algn="ctr" defTabSz="889000">
                <a:lnSpc>
                  <a:spcPct val="90000"/>
                </a:lnSpc>
                <a:spcBef>
                  <a:spcPct val="0"/>
                </a:spcBef>
                <a:spcAft>
                  <a:spcPct val="35000"/>
                </a:spcAft>
                <a:buNone/>
              </a:pPr>
              <a:r>
                <a:rPr lang="zh-CN" sz="2000" b="1" kern="1200" dirty="0"/>
                <a:t>数据模型（</a:t>
              </a:r>
              <a:r>
                <a:rPr lang="en-US" sz="2000" b="1" kern="1200" dirty="0"/>
                <a:t>D</a:t>
              </a:r>
              <a:r>
                <a:rPr lang="zh-CN" sz="2000" b="1" kern="1200" dirty="0"/>
                <a:t>） </a:t>
              </a:r>
              <a:r>
                <a:rPr lang="en-US" sz="2000" b="1" kern="1200" dirty="0"/>
                <a:t>+ </a:t>
              </a:r>
              <a:r>
                <a:rPr lang="zh-CN" sz="2000" b="1" kern="1200" dirty="0"/>
                <a:t>业务算法（</a:t>
              </a:r>
              <a:r>
                <a:rPr lang="en-US" sz="2000" b="1" kern="1200" dirty="0"/>
                <a:t>A</a:t>
              </a:r>
              <a:r>
                <a:rPr lang="zh-CN" sz="2000" b="1" kern="1200" dirty="0"/>
                <a:t>）</a:t>
              </a:r>
            </a:p>
          </p:txBody>
        </p:sp>
        <p:sp>
          <p:nvSpPr>
            <p:cNvPr id="8" name="任意多边形: 形状 7">
              <a:extLst>
                <a:ext uri="{FF2B5EF4-FFF2-40B4-BE49-F238E27FC236}">
                  <a16:creationId xmlns:a16="http://schemas.microsoft.com/office/drawing/2014/main" id="{951441CD-CABB-5496-40D4-42C0CFCEEB20}"/>
                </a:ext>
              </a:extLst>
            </p:cNvPr>
            <p:cNvSpPr/>
            <p:nvPr/>
          </p:nvSpPr>
          <p:spPr>
            <a:xfrm>
              <a:off x="2318657" y="4357411"/>
              <a:ext cx="3956957" cy="666387"/>
            </a:xfrm>
            <a:custGeom>
              <a:avLst/>
              <a:gdLst>
                <a:gd name="connsiteX0" fmla="*/ 0 w 3956957"/>
                <a:gd name="connsiteY0" fmla="*/ 0 h 239326"/>
                <a:gd name="connsiteX1" fmla="*/ 3956957 w 3956957"/>
                <a:gd name="connsiteY1" fmla="*/ 0 h 239326"/>
                <a:gd name="connsiteX2" fmla="*/ 3956957 w 3956957"/>
                <a:gd name="connsiteY2" fmla="*/ 239326 h 239326"/>
                <a:gd name="connsiteX3" fmla="*/ 0 w 3956957"/>
                <a:gd name="connsiteY3" fmla="*/ 239326 h 239326"/>
                <a:gd name="connsiteX4" fmla="*/ 0 w 3956957"/>
                <a:gd name="connsiteY4" fmla="*/ 0 h 239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6957" h="239326">
                  <a:moveTo>
                    <a:pt x="0" y="0"/>
                  </a:moveTo>
                  <a:lnTo>
                    <a:pt x="3956957" y="0"/>
                  </a:lnTo>
                  <a:lnTo>
                    <a:pt x="3956957" y="239326"/>
                  </a:lnTo>
                  <a:lnTo>
                    <a:pt x="0" y="239326"/>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b="1" kern="1200" dirty="0">
                  <a:solidFill>
                    <a:schemeClr val="tx2">
                      <a:lumMod val="10000"/>
                    </a:schemeClr>
                  </a:solidFill>
                </a:rPr>
                <a:t>没有数据模型，算法高速推演便失去了物理抓地力</a:t>
              </a:r>
            </a:p>
          </p:txBody>
        </p:sp>
        <p:sp>
          <p:nvSpPr>
            <p:cNvPr id="9" name="任意多边形: 形状 8">
              <a:extLst>
                <a:ext uri="{FF2B5EF4-FFF2-40B4-BE49-F238E27FC236}">
                  <a16:creationId xmlns:a16="http://schemas.microsoft.com/office/drawing/2014/main" id="{4D7430BB-25E0-0B61-D403-D51EB267759F}"/>
                </a:ext>
              </a:extLst>
            </p:cNvPr>
            <p:cNvSpPr/>
            <p:nvPr/>
          </p:nvSpPr>
          <p:spPr>
            <a:xfrm>
              <a:off x="6275614" y="4357411"/>
              <a:ext cx="3956957" cy="666387"/>
            </a:xfrm>
            <a:custGeom>
              <a:avLst/>
              <a:gdLst>
                <a:gd name="connsiteX0" fmla="*/ 0 w 3956957"/>
                <a:gd name="connsiteY0" fmla="*/ 0 h 239326"/>
                <a:gd name="connsiteX1" fmla="*/ 3956957 w 3956957"/>
                <a:gd name="connsiteY1" fmla="*/ 0 h 239326"/>
                <a:gd name="connsiteX2" fmla="*/ 3956957 w 3956957"/>
                <a:gd name="connsiteY2" fmla="*/ 239326 h 239326"/>
                <a:gd name="connsiteX3" fmla="*/ 0 w 3956957"/>
                <a:gd name="connsiteY3" fmla="*/ 239326 h 239326"/>
                <a:gd name="connsiteX4" fmla="*/ 0 w 3956957"/>
                <a:gd name="connsiteY4" fmla="*/ 0 h 239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6957" h="239326">
                  <a:moveTo>
                    <a:pt x="0" y="0"/>
                  </a:moveTo>
                  <a:lnTo>
                    <a:pt x="3956957" y="0"/>
                  </a:lnTo>
                  <a:lnTo>
                    <a:pt x="3956957" y="239326"/>
                  </a:lnTo>
                  <a:lnTo>
                    <a:pt x="0" y="239326"/>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zh-CN" altLang="en-US" b="1" kern="1200" dirty="0">
                  <a:solidFill>
                    <a:schemeClr val="tx2">
                      <a:lumMod val="10000"/>
                    </a:schemeClr>
                  </a:solidFill>
                </a:rPr>
                <a:t>没有业务算法，数据模型只是一张静态的网</a:t>
              </a:r>
            </a:p>
          </p:txBody>
        </p:sp>
        <p:sp>
          <p:nvSpPr>
            <p:cNvPr id="10" name="任意多边形: 形状 9">
              <a:extLst>
                <a:ext uri="{FF2B5EF4-FFF2-40B4-BE49-F238E27FC236}">
                  <a16:creationId xmlns:a16="http://schemas.microsoft.com/office/drawing/2014/main" id="{7C8E38BE-7011-2CF9-2967-6278B4478793}"/>
                </a:ext>
              </a:extLst>
            </p:cNvPr>
            <p:cNvSpPr/>
            <p:nvPr/>
          </p:nvSpPr>
          <p:spPr>
            <a:xfrm rot="21600000">
              <a:off x="2318657" y="3294489"/>
              <a:ext cx="7913914" cy="800183"/>
            </a:xfrm>
            <a:custGeom>
              <a:avLst/>
              <a:gdLst>
                <a:gd name="connsiteX0" fmla="*/ 0 w 7913914"/>
                <a:gd name="connsiteY0" fmla="*/ 280248 h 800182"/>
                <a:gd name="connsiteX1" fmla="*/ 3856934 w 7913914"/>
                <a:gd name="connsiteY1" fmla="*/ 280248 h 800182"/>
                <a:gd name="connsiteX2" fmla="*/ 3856934 w 7913914"/>
                <a:gd name="connsiteY2" fmla="*/ 200046 h 800182"/>
                <a:gd name="connsiteX3" fmla="*/ 3756912 w 7913914"/>
                <a:gd name="connsiteY3" fmla="*/ 200046 h 800182"/>
                <a:gd name="connsiteX4" fmla="*/ 3956957 w 7913914"/>
                <a:gd name="connsiteY4" fmla="*/ 0 h 800182"/>
                <a:gd name="connsiteX5" fmla="*/ 4157003 w 7913914"/>
                <a:gd name="connsiteY5" fmla="*/ 200046 h 800182"/>
                <a:gd name="connsiteX6" fmla="*/ 4056980 w 7913914"/>
                <a:gd name="connsiteY6" fmla="*/ 200046 h 800182"/>
                <a:gd name="connsiteX7" fmla="*/ 4056980 w 7913914"/>
                <a:gd name="connsiteY7" fmla="*/ 280248 h 800182"/>
                <a:gd name="connsiteX8" fmla="*/ 7913914 w 7913914"/>
                <a:gd name="connsiteY8" fmla="*/ 280248 h 800182"/>
                <a:gd name="connsiteX9" fmla="*/ 7913914 w 7913914"/>
                <a:gd name="connsiteY9" fmla="*/ 800182 h 800182"/>
                <a:gd name="connsiteX10" fmla="*/ 0 w 7913914"/>
                <a:gd name="connsiteY10" fmla="*/ 800182 h 800182"/>
                <a:gd name="connsiteX11" fmla="*/ 0 w 7913914"/>
                <a:gd name="connsiteY11" fmla="*/ 280248 h 80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13914" h="800182">
                  <a:moveTo>
                    <a:pt x="7913914" y="519934"/>
                  </a:moveTo>
                  <a:lnTo>
                    <a:pt x="4056980" y="519934"/>
                  </a:lnTo>
                  <a:lnTo>
                    <a:pt x="4056980" y="600136"/>
                  </a:lnTo>
                  <a:lnTo>
                    <a:pt x="4157002" y="600136"/>
                  </a:lnTo>
                  <a:lnTo>
                    <a:pt x="3956957" y="800181"/>
                  </a:lnTo>
                  <a:lnTo>
                    <a:pt x="3756911" y="600136"/>
                  </a:lnTo>
                  <a:lnTo>
                    <a:pt x="3856934" y="600136"/>
                  </a:lnTo>
                  <a:lnTo>
                    <a:pt x="3856934" y="519934"/>
                  </a:lnTo>
                  <a:lnTo>
                    <a:pt x="0" y="519934"/>
                  </a:lnTo>
                  <a:lnTo>
                    <a:pt x="0" y="1"/>
                  </a:lnTo>
                  <a:lnTo>
                    <a:pt x="7913914" y="1"/>
                  </a:lnTo>
                  <a:lnTo>
                    <a:pt x="7913914" y="51993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239" tIns="142241" rIns="142240" bIns="422488" numCol="1" spcCol="1270" anchor="ctr" anchorCtr="0">
              <a:noAutofit/>
            </a:bodyPr>
            <a:lstStyle/>
            <a:p>
              <a:pPr marL="0" lvl="0" indent="0" algn="ctr" defTabSz="889000">
                <a:lnSpc>
                  <a:spcPct val="90000"/>
                </a:lnSpc>
                <a:spcBef>
                  <a:spcPct val="0"/>
                </a:spcBef>
                <a:spcAft>
                  <a:spcPct val="35000"/>
                </a:spcAft>
                <a:buNone/>
              </a:pPr>
              <a:r>
                <a:rPr lang="zh-CN" sz="2000" b="1" kern="1200"/>
                <a:t>而业务可计算的本体，就是统御算符</a:t>
              </a:r>
              <a:r>
                <a:rPr lang="en-US" sz="2000" b="1" kern="1200"/>
                <a:t>Π</a:t>
              </a:r>
              <a:r>
                <a:rPr lang="zh-CN" sz="2000" b="1" kern="1200"/>
                <a:t>的双螺旋结构：</a:t>
              </a:r>
            </a:p>
          </p:txBody>
        </p:sp>
        <p:sp>
          <p:nvSpPr>
            <p:cNvPr id="11" name="任意多边形: 形状 10">
              <a:extLst>
                <a:ext uri="{FF2B5EF4-FFF2-40B4-BE49-F238E27FC236}">
                  <a16:creationId xmlns:a16="http://schemas.microsoft.com/office/drawing/2014/main" id="{CC82B594-C306-D461-8EE1-DA1C9C761360}"/>
                </a:ext>
              </a:extLst>
            </p:cNvPr>
            <p:cNvSpPr/>
            <p:nvPr/>
          </p:nvSpPr>
          <p:spPr>
            <a:xfrm rot="21600000">
              <a:off x="2318657" y="2502111"/>
              <a:ext cx="7913914" cy="800184"/>
            </a:xfrm>
            <a:custGeom>
              <a:avLst/>
              <a:gdLst>
                <a:gd name="connsiteX0" fmla="*/ 0 w 7913914"/>
                <a:gd name="connsiteY0" fmla="*/ 280248 h 800182"/>
                <a:gd name="connsiteX1" fmla="*/ 3856934 w 7913914"/>
                <a:gd name="connsiteY1" fmla="*/ 280248 h 800182"/>
                <a:gd name="connsiteX2" fmla="*/ 3856934 w 7913914"/>
                <a:gd name="connsiteY2" fmla="*/ 200046 h 800182"/>
                <a:gd name="connsiteX3" fmla="*/ 3756912 w 7913914"/>
                <a:gd name="connsiteY3" fmla="*/ 200046 h 800182"/>
                <a:gd name="connsiteX4" fmla="*/ 3956957 w 7913914"/>
                <a:gd name="connsiteY4" fmla="*/ 0 h 800182"/>
                <a:gd name="connsiteX5" fmla="*/ 4157003 w 7913914"/>
                <a:gd name="connsiteY5" fmla="*/ 200046 h 800182"/>
                <a:gd name="connsiteX6" fmla="*/ 4056980 w 7913914"/>
                <a:gd name="connsiteY6" fmla="*/ 200046 h 800182"/>
                <a:gd name="connsiteX7" fmla="*/ 4056980 w 7913914"/>
                <a:gd name="connsiteY7" fmla="*/ 280248 h 800182"/>
                <a:gd name="connsiteX8" fmla="*/ 7913914 w 7913914"/>
                <a:gd name="connsiteY8" fmla="*/ 280248 h 800182"/>
                <a:gd name="connsiteX9" fmla="*/ 7913914 w 7913914"/>
                <a:gd name="connsiteY9" fmla="*/ 800182 h 800182"/>
                <a:gd name="connsiteX10" fmla="*/ 0 w 7913914"/>
                <a:gd name="connsiteY10" fmla="*/ 800182 h 800182"/>
                <a:gd name="connsiteX11" fmla="*/ 0 w 7913914"/>
                <a:gd name="connsiteY11" fmla="*/ 280248 h 80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13914" h="800182">
                  <a:moveTo>
                    <a:pt x="7913914" y="519934"/>
                  </a:moveTo>
                  <a:lnTo>
                    <a:pt x="4056980" y="519934"/>
                  </a:lnTo>
                  <a:lnTo>
                    <a:pt x="4056980" y="600136"/>
                  </a:lnTo>
                  <a:lnTo>
                    <a:pt x="4157002" y="600136"/>
                  </a:lnTo>
                  <a:lnTo>
                    <a:pt x="3956957" y="800181"/>
                  </a:lnTo>
                  <a:lnTo>
                    <a:pt x="3756911" y="600136"/>
                  </a:lnTo>
                  <a:lnTo>
                    <a:pt x="3856934" y="600136"/>
                  </a:lnTo>
                  <a:lnTo>
                    <a:pt x="3856934" y="519934"/>
                  </a:lnTo>
                  <a:lnTo>
                    <a:pt x="0" y="519934"/>
                  </a:lnTo>
                  <a:lnTo>
                    <a:pt x="0" y="1"/>
                  </a:lnTo>
                  <a:lnTo>
                    <a:pt x="7913914" y="1"/>
                  </a:lnTo>
                  <a:lnTo>
                    <a:pt x="7913914" y="51993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239" tIns="142241" rIns="142240" bIns="422489" numCol="1" spcCol="1270" anchor="ctr" anchorCtr="0">
              <a:noAutofit/>
            </a:bodyPr>
            <a:lstStyle/>
            <a:p>
              <a:pPr marL="0" lvl="0" indent="0" algn="ctr" defTabSz="889000">
                <a:lnSpc>
                  <a:spcPct val="90000"/>
                </a:lnSpc>
                <a:spcBef>
                  <a:spcPct val="0"/>
                </a:spcBef>
                <a:spcAft>
                  <a:spcPct val="35000"/>
                </a:spcAft>
                <a:buNone/>
              </a:pPr>
              <a:r>
                <a:rPr lang="zh-CN" sz="2000" b="1" kern="1200"/>
                <a:t>但人机协同的前提是</a:t>
              </a:r>
              <a:r>
                <a:rPr lang="en-US" sz="2000" b="1" kern="1200"/>
                <a:t>——</a:t>
              </a:r>
              <a:r>
                <a:rPr lang="zh-CN" sz="2000" b="1" kern="1200"/>
                <a:t>业务必须可计算。</a:t>
              </a:r>
            </a:p>
          </p:txBody>
        </p:sp>
        <p:sp>
          <p:nvSpPr>
            <p:cNvPr id="12" name="任意多边形: 形状 11">
              <a:extLst>
                <a:ext uri="{FF2B5EF4-FFF2-40B4-BE49-F238E27FC236}">
                  <a16:creationId xmlns:a16="http://schemas.microsoft.com/office/drawing/2014/main" id="{DD01B3F7-29E4-50A8-2869-63E6898299C0}"/>
                </a:ext>
              </a:extLst>
            </p:cNvPr>
            <p:cNvSpPr/>
            <p:nvPr/>
          </p:nvSpPr>
          <p:spPr>
            <a:xfrm rot="21600000">
              <a:off x="2318657" y="1709732"/>
              <a:ext cx="7913914" cy="800184"/>
            </a:xfrm>
            <a:custGeom>
              <a:avLst/>
              <a:gdLst>
                <a:gd name="connsiteX0" fmla="*/ 0 w 7913914"/>
                <a:gd name="connsiteY0" fmla="*/ 280248 h 800182"/>
                <a:gd name="connsiteX1" fmla="*/ 3856934 w 7913914"/>
                <a:gd name="connsiteY1" fmla="*/ 280248 h 800182"/>
                <a:gd name="connsiteX2" fmla="*/ 3856934 w 7913914"/>
                <a:gd name="connsiteY2" fmla="*/ 200046 h 800182"/>
                <a:gd name="connsiteX3" fmla="*/ 3756912 w 7913914"/>
                <a:gd name="connsiteY3" fmla="*/ 200046 h 800182"/>
                <a:gd name="connsiteX4" fmla="*/ 3956957 w 7913914"/>
                <a:gd name="connsiteY4" fmla="*/ 0 h 800182"/>
                <a:gd name="connsiteX5" fmla="*/ 4157003 w 7913914"/>
                <a:gd name="connsiteY5" fmla="*/ 200046 h 800182"/>
                <a:gd name="connsiteX6" fmla="*/ 4056980 w 7913914"/>
                <a:gd name="connsiteY6" fmla="*/ 200046 h 800182"/>
                <a:gd name="connsiteX7" fmla="*/ 4056980 w 7913914"/>
                <a:gd name="connsiteY7" fmla="*/ 280248 h 800182"/>
                <a:gd name="connsiteX8" fmla="*/ 7913914 w 7913914"/>
                <a:gd name="connsiteY8" fmla="*/ 280248 h 800182"/>
                <a:gd name="connsiteX9" fmla="*/ 7913914 w 7913914"/>
                <a:gd name="connsiteY9" fmla="*/ 800182 h 800182"/>
                <a:gd name="connsiteX10" fmla="*/ 0 w 7913914"/>
                <a:gd name="connsiteY10" fmla="*/ 800182 h 800182"/>
                <a:gd name="connsiteX11" fmla="*/ 0 w 7913914"/>
                <a:gd name="connsiteY11" fmla="*/ 280248 h 80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13914" h="800182">
                  <a:moveTo>
                    <a:pt x="7913914" y="519934"/>
                  </a:moveTo>
                  <a:lnTo>
                    <a:pt x="4056980" y="519934"/>
                  </a:lnTo>
                  <a:lnTo>
                    <a:pt x="4056980" y="600136"/>
                  </a:lnTo>
                  <a:lnTo>
                    <a:pt x="4157002" y="600136"/>
                  </a:lnTo>
                  <a:lnTo>
                    <a:pt x="3956957" y="800181"/>
                  </a:lnTo>
                  <a:lnTo>
                    <a:pt x="3756911" y="600136"/>
                  </a:lnTo>
                  <a:lnTo>
                    <a:pt x="3856934" y="600136"/>
                  </a:lnTo>
                  <a:lnTo>
                    <a:pt x="3856934" y="519934"/>
                  </a:lnTo>
                  <a:lnTo>
                    <a:pt x="0" y="519934"/>
                  </a:lnTo>
                  <a:lnTo>
                    <a:pt x="0" y="1"/>
                  </a:lnTo>
                  <a:lnTo>
                    <a:pt x="7913914" y="1"/>
                  </a:lnTo>
                  <a:lnTo>
                    <a:pt x="7913914" y="51993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239" tIns="142241" rIns="142240" bIns="422489" numCol="1" spcCol="1270" anchor="ctr" anchorCtr="0">
              <a:noAutofit/>
            </a:bodyPr>
            <a:lstStyle/>
            <a:p>
              <a:pPr marL="0" lvl="0" indent="0" algn="ctr" defTabSz="889000">
                <a:lnSpc>
                  <a:spcPct val="90000"/>
                </a:lnSpc>
                <a:spcBef>
                  <a:spcPct val="0"/>
                </a:spcBef>
                <a:spcAft>
                  <a:spcPct val="35000"/>
                </a:spcAft>
                <a:buNone/>
              </a:pPr>
              <a:r>
                <a:rPr lang="zh-CN" altLang="en-US" sz="2000" b="1" kern="1200"/>
                <a:t>唯一解药：人机协同，硅基代偿。</a:t>
              </a:r>
            </a:p>
          </p:txBody>
        </p:sp>
        <p:sp>
          <p:nvSpPr>
            <p:cNvPr id="13" name="任意多边形: 形状 12">
              <a:extLst>
                <a:ext uri="{FF2B5EF4-FFF2-40B4-BE49-F238E27FC236}">
                  <a16:creationId xmlns:a16="http://schemas.microsoft.com/office/drawing/2014/main" id="{1863A99C-2095-49C4-1123-40799D1B4399}"/>
                </a:ext>
              </a:extLst>
            </p:cNvPr>
            <p:cNvSpPr/>
            <p:nvPr/>
          </p:nvSpPr>
          <p:spPr>
            <a:xfrm rot="21600000">
              <a:off x="2318657" y="917354"/>
              <a:ext cx="7913914" cy="800184"/>
            </a:xfrm>
            <a:custGeom>
              <a:avLst/>
              <a:gdLst>
                <a:gd name="connsiteX0" fmla="*/ 0 w 7913914"/>
                <a:gd name="connsiteY0" fmla="*/ 280248 h 800182"/>
                <a:gd name="connsiteX1" fmla="*/ 3856934 w 7913914"/>
                <a:gd name="connsiteY1" fmla="*/ 280248 h 800182"/>
                <a:gd name="connsiteX2" fmla="*/ 3856934 w 7913914"/>
                <a:gd name="connsiteY2" fmla="*/ 200046 h 800182"/>
                <a:gd name="connsiteX3" fmla="*/ 3756912 w 7913914"/>
                <a:gd name="connsiteY3" fmla="*/ 200046 h 800182"/>
                <a:gd name="connsiteX4" fmla="*/ 3956957 w 7913914"/>
                <a:gd name="connsiteY4" fmla="*/ 0 h 800182"/>
                <a:gd name="connsiteX5" fmla="*/ 4157003 w 7913914"/>
                <a:gd name="connsiteY5" fmla="*/ 200046 h 800182"/>
                <a:gd name="connsiteX6" fmla="*/ 4056980 w 7913914"/>
                <a:gd name="connsiteY6" fmla="*/ 200046 h 800182"/>
                <a:gd name="connsiteX7" fmla="*/ 4056980 w 7913914"/>
                <a:gd name="connsiteY7" fmla="*/ 280248 h 800182"/>
                <a:gd name="connsiteX8" fmla="*/ 7913914 w 7913914"/>
                <a:gd name="connsiteY8" fmla="*/ 280248 h 800182"/>
                <a:gd name="connsiteX9" fmla="*/ 7913914 w 7913914"/>
                <a:gd name="connsiteY9" fmla="*/ 800182 h 800182"/>
                <a:gd name="connsiteX10" fmla="*/ 0 w 7913914"/>
                <a:gd name="connsiteY10" fmla="*/ 800182 h 800182"/>
                <a:gd name="connsiteX11" fmla="*/ 0 w 7913914"/>
                <a:gd name="connsiteY11" fmla="*/ 280248 h 80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13914" h="800182">
                  <a:moveTo>
                    <a:pt x="7913914" y="519934"/>
                  </a:moveTo>
                  <a:lnTo>
                    <a:pt x="4056980" y="519934"/>
                  </a:lnTo>
                  <a:lnTo>
                    <a:pt x="4056980" y="600136"/>
                  </a:lnTo>
                  <a:lnTo>
                    <a:pt x="4157002" y="600136"/>
                  </a:lnTo>
                  <a:lnTo>
                    <a:pt x="3956957" y="800181"/>
                  </a:lnTo>
                  <a:lnTo>
                    <a:pt x="3756911" y="600136"/>
                  </a:lnTo>
                  <a:lnTo>
                    <a:pt x="3856934" y="600136"/>
                  </a:lnTo>
                  <a:lnTo>
                    <a:pt x="3856934" y="519934"/>
                  </a:lnTo>
                  <a:lnTo>
                    <a:pt x="0" y="519934"/>
                  </a:lnTo>
                  <a:lnTo>
                    <a:pt x="0" y="1"/>
                  </a:lnTo>
                  <a:lnTo>
                    <a:pt x="7913914" y="1"/>
                  </a:lnTo>
                  <a:lnTo>
                    <a:pt x="7913914" y="51993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239" tIns="142240" rIns="142240" bIns="422489" numCol="1" spcCol="1270" anchor="ctr" anchorCtr="0">
              <a:noAutofit/>
            </a:bodyPr>
            <a:lstStyle/>
            <a:p>
              <a:pPr marL="0" lvl="0" indent="0" algn="ctr" defTabSz="889000">
                <a:lnSpc>
                  <a:spcPct val="90000"/>
                </a:lnSpc>
                <a:spcBef>
                  <a:spcPct val="0"/>
                </a:spcBef>
                <a:spcAft>
                  <a:spcPct val="35000"/>
                </a:spcAft>
                <a:buNone/>
              </a:pPr>
              <a:r>
                <a:rPr lang="zh-CN" sz="2000" b="1" kern="1200" dirty="0"/>
                <a:t>本质论已经证明：纯碳基管理在</a:t>
              </a:r>
              <a:r>
                <a:rPr lang="en-US" sz="2000" b="1" kern="1200" dirty="0"/>
                <a:t>N!</a:t>
              </a:r>
              <a:r>
                <a:rPr lang="zh-CN" sz="2000" b="1" kern="1200" dirty="0"/>
                <a:t>面前必然坍塌。</a:t>
              </a:r>
            </a:p>
          </p:txBody>
        </p:sp>
      </p:grpSp>
      <p:sp>
        <p:nvSpPr>
          <p:cNvPr id="15" name="文本框 14">
            <a:extLst>
              <a:ext uri="{FF2B5EF4-FFF2-40B4-BE49-F238E27FC236}">
                <a16:creationId xmlns:a16="http://schemas.microsoft.com/office/drawing/2014/main" id="{8135D281-18C3-7432-CBEE-A9CB07424A05}"/>
              </a:ext>
            </a:extLst>
          </p:cNvPr>
          <p:cNvSpPr txBox="1"/>
          <p:nvPr/>
        </p:nvSpPr>
        <p:spPr>
          <a:xfrm>
            <a:off x="1409946" y="5288340"/>
            <a:ext cx="10353367" cy="1569660"/>
          </a:xfrm>
          <a:prstGeom prst="rect">
            <a:avLst/>
          </a:prstGeom>
          <a:noFill/>
        </p:spPr>
        <p:txBody>
          <a:bodyPr wrap="square">
            <a:spAutoFit/>
          </a:bodyPr>
          <a:lstStyle/>
          <a:p>
            <a:r>
              <a:rPr lang="zh-CN" altLang="en-US" dirty="0"/>
              <a:t>计划和控制的本体，不是流程图，不是组织架构，是</a:t>
            </a:r>
            <a:r>
              <a:rPr lang="zh-CN" altLang="en-US" sz="2400" b="1" dirty="0">
                <a:solidFill>
                  <a:srgbClr val="00D4FF"/>
                </a:solidFill>
              </a:rPr>
              <a:t>数据模型与业务算法的双螺旋</a:t>
            </a:r>
            <a:endParaRPr lang="en-US" altLang="zh-CN" sz="2400" b="1" dirty="0">
              <a:solidFill>
                <a:srgbClr val="00D4FF"/>
              </a:solidFill>
            </a:endParaRPr>
          </a:p>
          <a:p>
            <a:r>
              <a:rPr lang="zh-CN" altLang="en-US" b="1" i="0" dirty="0">
                <a:effectLst/>
                <a:latin typeface="quote-cjk-patch"/>
              </a:rPr>
              <a:t>人</a:t>
            </a:r>
            <a:r>
              <a:rPr lang="zh-CN" altLang="en-US" b="0" i="0" dirty="0">
                <a:effectLst/>
                <a:latin typeface="quote-cjk-patch"/>
              </a:rPr>
              <a:t>：</a:t>
            </a:r>
            <a:r>
              <a:rPr lang="zh-CN" altLang="en-US" sz="2400" b="1" i="0" dirty="0">
                <a:solidFill>
                  <a:srgbClr val="00D4FF"/>
                </a:solidFill>
                <a:effectLst/>
                <a:latin typeface="quote-cjk-patch"/>
              </a:rPr>
              <a:t>设计</a:t>
            </a:r>
            <a:r>
              <a:rPr lang="zh-CN" altLang="en-US" b="0" i="0" dirty="0">
                <a:effectLst/>
                <a:latin typeface="quote-cjk-patch"/>
              </a:rPr>
              <a:t>数据模型，</a:t>
            </a:r>
            <a:r>
              <a:rPr lang="zh-CN" altLang="en-US" sz="2400" b="1" i="0" dirty="0">
                <a:solidFill>
                  <a:srgbClr val="00D4FF"/>
                </a:solidFill>
                <a:effectLst/>
                <a:latin typeface="quote-cjk-patch"/>
              </a:rPr>
              <a:t>设计</a:t>
            </a:r>
            <a:r>
              <a:rPr lang="zh-CN" altLang="en-US" b="0" i="0" dirty="0">
                <a:effectLst/>
                <a:latin typeface="quote-cjk-patch"/>
              </a:rPr>
              <a:t>业务算法。</a:t>
            </a:r>
            <a:br>
              <a:rPr lang="zh-CN" altLang="en-US" dirty="0"/>
            </a:br>
            <a:r>
              <a:rPr lang="zh-CN" altLang="en-US" b="1" i="0" dirty="0">
                <a:effectLst/>
                <a:latin typeface="quote-cjk-patch"/>
              </a:rPr>
              <a:t>机器</a:t>
            </a:r>
            <a:r>
              <a:rPr lang="zh-CN" altLang="en-US" b="0" i="0" dirty="0">
                <a:effectLst/>
                <a:latin typeface="quote-cjk-patch"/>
              </a:rPr>
              <a:t>：在模型和算法的基础上，</a:t>
            </a:r>
            <a:r>
              <a:rPr lang="zh-CN" altLang="en-US" sz="2400" b="1" i="0" dirty="0">
                <a:solidFill>
                  <a:srgbClr val="00D4FF"/>
                </a:solidFill>
                <a:effectLst/>
                <a:latin typeface="quote-cjk-patch"/>
              </a:rPr>
              <a:t>执行</a:t>
            </a:r>
            <a:r>
              <a:rPr lang="zh-CN" altLang="en-US" b="0" i="0" dirty="0">
                <a:effectLst/>
                <a:latin typeface="quote-cjk-patch"/>
              </a:rPr>
              <a:t>降维解算与自动反写</a:t>
            </a:r>
            <a:r>
              <a:rPr lang="zh-CN" altLang="en-US" b="0" i="0" dirty="0">
                <a:solidFill>
                  <a:srgbClr val="0F1115"/>
                </a:solidFill>
                <a:effectLst/>
                <a:latin typeface="quote-cjk-patch"/>
              </a:rPr>
              <a:t>。</a:t>
            </a:r>
            <a:endParaRPr lang="en-US" altLang="zh-CN" b="0" i="0" dirty="0">
              <a:solidFill>
                <a:srgbClr val="0F1115"/>
              </a:solidFill>
              <a:effectLst/>
              <a:latin typeface="quote-cjk-patch"/>
            </a:endParaRPr>
          </a:p>
          <a:p>
            <a:r>
              <a:rPr lang="zh-CN" altLang="en-US" dirty="0"/>
              <a:t>双螺旋就是</a:t>
            </a:r>
            <a:r>
              <a:rPr lang="zh-CN" altLang="en-US" sz="2400" b="1" dirty="0">
                <a:solidFill>
                  <a:srgbClr val="00D4FF"/>
                </a:solidFill>
              </a:rPr>
              <a:t>人机结合的形式化落地</a:t>
            </a:r>
            <a:r>
              <a:rPr lang="zh-CN" altLang="en-US" b="1" dirty="0">
                <a:solidFill>
                  <a:schemeClr val="accent1"/>
                </a:solidFill>
              </a:rPr>
              <a:t>。</a:t>
            </a:r>
          </a:p>
        </p:txBody>
      </p:sp>
    </p:spTree>
    <p:extLst>
      <p:ext uri="{BB962C8B-B14F-4D97-AF65-F5344CB8AC3E}">
        <p14:creationId xmlns:p14="http://schemas.microsoft.com/office/powerpoint/2010/main" val="2924070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B596E-845F-4DF3-BC03-0DA9D2E3BDAB}"/>
              </a:ext>
            </a:extLst>
          </p:cNvPr>
          <p:cNvSpPr>
            <a:spLocks noGrp="1"/>
          </p:cNvSpPr>
          <p:nvPr>
            <p:ph type="title"/>
          </p:nvPr>
        </p:nvSpPr>
        <p:spPr/>
        <p:txBody>
          <a:bodyPr/>
          <a:lstStyle/>
          <a:p>
            <a:r>
              <a:rPr lang="zh-CN" altLang="en-US" dirty="0"/>
              <a:t>方案论</a:t>
            </a:r>
            <a:r>
              <a:rPr lang="en-US" altLang="zh-CN" dirty="0"/>
              <a:t>——</a:t>
            </a:r>
            <a:r>
              <a:rPr lang="zh-CN" altLang="en-US" b="1" dirty="0">
                <a:effectLst/>
                <a:latin typeface="quote-cjk-patch"/>
              </a:rPr>
              <a:t>数据模型</a:t>
            </a:r>
            <a:r>
              <a:rPr lang="zh-CN" altLang="en-US" dirty="0">
                <a:latin typeface="quote-cjk-patch"/>
              </a:rPr>
              <a:t>（</a:t>
            </a:r>
            <a:r>
              <a:rPr lang="zh-CN" altLang="en-US" b="1" dirty="0">
                <a:effectLst/>
                <a:latin typeface="quote-cjk-patch"/>
              </a:rPr>
              <a:t>五维正交基元）</a:t>
            </a:r>
            <a:endParaRPr lang="zh-CN" altLang="en-US" dirty="0"/>
          </a:p>
        </p:txBody>
      </p:sp>
      <p:graphicFrame>
        <p:nvGraphicFramePr>
          <p:cNvPr id="5" name="图示 4">
            <a:extLst>
              <a:ext uri="{FF2B5EF4-FFF2-40B4-BE49-F238E27FC236}">
                <a16:creationId xmlns:a16="http://schemas.microsoft.com/office/drawing/2014/main" id="{0FA4F558-3E53-FC84-EA1A-2276DC2E250D}"/>
              </a:ext>
            </a:extLst>
          </p:cNvPr>
          <p:cNvGraphicFramePr/>
          <p:nvPr>
            <p:extLst>
              <p:ext uri="{D42A27DB-BD31-4B8C-83A1-F6EECF244321}">
                <p14:modId xmlns:p14="http://schemas.microsoft.com/office/powerpoint/2010/main" val="712807363"/>
              </p:ext>
            </p:extLst>
          </p:nvPr>
        </p:nvGraphicFramePr>
        <p:xfrm>
          <a:off x="2329542" y="874607"/>
          <a:ext cx="6096000"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a:extLst>
              <a:ext uri="{FF2B5EF4-FFF2-40B4-BE49-F238E27FC236}">
                <a16:creationId xmlns:a16="http://schemas.microsoft.com/office/drawing/2014/main" id="{90C6F511-4901-E1C3-25F4-E122DAA2E88D}"/>
              </a:ext>
            </a:extLst>
          </p:cNvPr>
          <p:cNvGraphicFramePr/>
          <p:nvPr>
            <p:extLst>
              <p:ext uri="{D42A27DB-BD31-4B8C-83A1-F6EECF244321}">
                <p14:modId xmlns:p14="http://schemas.microsoft.com/office/powerpoint/2010/main" val="1421178123"/>
              </p:ext>
            </p:extLst>
          </p:nvPr>
        </p:nvGraphicFramePr>
        <p:xfrm>
          <a:off x="2286000" y="2905933"/>
          <a:ext cx="6096000" cy="23973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文本框 9">
            <a:extLst>
              <a:ext uri="{FF2B5EF4-FFF2-40B4-BE49-F238E27FC236}">
                <a16:creationId xmlns:a16="http://schemas.microsoft.com/office/drawing/2014/main" id="{F6B91E76-50F4-51F6-04C7-4336D65286EF}"/>
              </a:ext>
            </a:extLst>
          </p:cNvPr>
          <p:cNvSpPr txBox="1"/>
          <p:nvPr/>
        </p:nvSpPr>
        <p:spPr>
          <a:xfrm>
            <a:off x="2514600" y="5805197"/>
            <a:ext cx="6096000" cy="461665"/>
          </a:xfrm>
          <a:prstGeom prst="rect">
            <a:avLst/>
          </a:prstGeom>
          <a:noFill/>
        </p:spPr>
        <p:txBody>
          <a:bodyPr wrap="square">
            <a:spAutoFit/>
          </a:bodyPr>
          <a:lstStyle/>
          <a:p>
            <a:r>
              <a:rPr lang="zh-CN" altLang="en-US" sz="2400" b="1" dirty="0">
                <a:solidFill>
                  <a:srgbClr val="00D4FF"/>
                </a:solidFill>
              </a:rPr>
              <a:t>没有五维</a:t>
            </a:r>
            <a:r>
              <a:rPr lang="zh-CN" altLang="en-US" dirty="0"/>
              <a:t>全息确权，一切业务方案都是</a:t>
            </a:r>
            <a:r>
              <a:rPr lang="zh-CN" altLang="en-US" sz="2400" b="1" dirty="0">
                <a:solidFill>
                  <a:srgbClr val="00D4FF"/>
                </a:solidFill>
              </a:rPr>
              <a:t>无源之水</a:t>
            </a:r>
            <a:r>
              <a:rPr lang="zh-CN" altLang="en-US" dirty="0"/>
              <a:t>。</a:t>
            </a:r>
          </a:p>
        </p:txBody>
      </p:sp>
    </p:spTree>
    <p:extLst>
      <p:ext uri="{BB962C8B-B14F-4D97-AF65-F5344CB8AC3E}">
        <p14:creationId xmlns:p14="http://schemas.microsoft.com/office/powerpoint/2010/main" val="1922079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12716-009D-0829-5FC5-32FE2D1B1E88}"/>
              </a:ext>
            </a:extLst>
          </p:cNvPr>
          <p:cNvSpPr>
            <a:spLocks noGrp="1"/>
          </p:cNvSpPr>
          <p:nvPr>
            <p:ph type="title"/>
          </p:nvPr>
        </p:nvSpPr>
        <p:spPr/>
        <p:txBody>
          <a:bodyPr/>
          <a:lstStyle/>
          <a:p>
            <a:r>
              <a:rPr lang="zh-CN" altLang="en-US" dirty="0"/>
              <a:t>方案论</a:t>
            </a:r>
            <a:r>
              <a:rPr lang="en-US" altLang="zh-CN" dirty="0"/>
              <a:t>——</a:t>
            </a:r>
            <a:r>
              <a:rPr lang="zh-CN" altLang="en-US" dirty="0"/>
              <a:t>业务算法的三层结构</a:t>
            </a:r>
          </a:p>
        </p:txBody>
      </p:sp>
      <p:graphicFrame>
        <p:nvGraphicFramePr>
          <p:cNvPr id="25" name="图示 24">
            <a:extLst>
              <a:ext uri="{FF2B5EF4-FFF2-40B4-BE49-F238E27FC236}">
                <a16:creationId xmlns:a16="http://schemas.microsoft.com/office/drawing/2014/main" id="{B9C21373-F7FD-C1FD-0154-8A0150966E72}"/>
              </a:ext>
            </a:extLst>
          </p:cNvPr>
          <p:cNvGraphicFramePr/>
          <p:nvPr>
            <p:extLst>
              <p:ext uri="{D42A27DB-BD31-4B8C-83A1-F6EECF244321}">
                <p14:modId xmlns:p14="http://schemas.microsoft.com/office/powerpoint/2010/main" val="459425509"/>
              </p:ext>
            </p:extLst>
          </p:nvPr>
        </p:nvGraphicFramePr>
        <p:xfrm>
          <a:off x="702091" y="832758"/>
          <a:ext cx="10929183" cy="4027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文本框 28">
            <a:extLst>
              <a:ext uri="{FF2B5EF4-FFF2-40B4-BE49-F238E27FC236}">
                <a16:creationId xmlns:a16="http://schemas.microsoft.com/office/drawing/2014/main" id="{E94426D4-F0A7-098E-524D-9B1E1C0520DC}"/>
              </a:ext>
            </a:extLst>
          </p:cNvPr>
          <p:cNvSpPr txBox="1"/>
          <p:nvPr/>
        </p:nvSpPr>
        <p:spPr>
          <a:xfrm>
            <a:off x="2046514" y="5425077"/>
            <a:ext cx="9122228" cy="1107996"/>
          </a:xfrm>
          <a:prstGeom prst="rect">
            <a:avLst/>
          </a:prstGeom>
          <a:noFill/>
        </p:spPr>
        <p:txBody>
          <a:bodyPr wrap="square">
            <a:spAutoFit/>
          </a:bodyPr>
          <a:lstStyle/>
          <a:p>
            <a:r>
              <a:rPr lang="zh-CN" altLang="en-US" dirty="0"/>
              <a:t>不是乘法穷举，是加法穷举。有限步数，逐步剪枝，收敛到最优。编排的实质，是把</a:t>
            </a:r>
            <a:endParaRPr lang="en-US" altLang="zh-CN" dirty="0"/>
          </a:p>
          <a:p>
            <a:r>
              <a:rPr lang="zh-CN" altLang="en-US" sz="2400" b="1" dirty="0">
                <a:solidFill>
                  <a:srgbClr val="00D4FF"/>
                </a:solidFill>
              </a:rPr>
              <a:t>乘法穷举变成加法穷举</a:t>
            </a:r>
            <a:r>
              <a:rPr lang="zh-CN" altLang="en-US" dirty="0"/>
              <a:t>。</a:t>
            </a:r>
            <a:endParaRPr lang="en-US" altLang="zh-CN" dirty="0"/>
          </a:p>
          <a:p>
            <a:r>
              <a:rPr lang="zh-CN" altLang="en-US" b="0" i="0" dirty="0">
                <a:effectLst/>
                <a:latin typeface="quote-cjk-patch"/>
              </a:rPr>
              <a:t>每一步是加法，但跑完所有步就是穷举。加法穷举，</a:t>
            </a:r>
            <a:r>
              <a:rPr lang="zh-CN" altLang="en-US" sz="2400" b="1" i="0" dirty="0">
                <a:solidFill>
                  <a:srgbClr val="00D4FF"/>
                </a:solidFill>
                <a:effectLst/>
                <a:latin typeface="quote-cjk-patch"/>
              </a:rPr>
              <a:t>碳基扛不住，硅基能跑</a:t>
            </a:r>
            <a:r>
              <a:rPr lang="zh-CN" altLang="en-US" b="0" i="0" dirty="0">
                <a:effectLst/>
                <a:latin typeface="quote-cjk-patch"/>
              </a:rPr>
              <a:t>。</a:t>
            </a:r>
            <a:endParaRPr lang="zh-CN" altLang="en-US" dirty="0"/>
          </a:p>
        </p:txBody>
      </p:sp>
    </p:spTree>
    <p:extLst>
      <p:ext uri="{BB962C8B-B14F-4D97-AF65-F5344CB8AC3E}">
        <p14:creationId xmlns:p14="http://schemas.microsoft.com/office/powerpoint/2010/main" val="3066866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73552-34BC-F3F5-7C0E-955C635F7507}"/>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第一重螺旋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降维感知的五维时空容器</a:t>
            </a:r>
          </a:p>
        </p:txBody>
      </p:sp>
      <p:sp>
        <p:nvSpPr>
          <p:cNvPr id="4" name="文本框 3">
            <a:extLst>
              <a:ext uri="{FF2B5EF4-FFF2-40B4-BE49-F238E27FC236}">
                <a16:creationId xmlns:a16="http://schemas.microsoft.com/office/drawing/2014/main" id="{BDF5C016-F9E7-9C87-8038-A61D5C6E49E0}"/>
              </a:ext>
            </a:extLst>
          </p:cNvPr>
          <p:cNvSpPr txBox="1"/>
          <p:nvPr/>
        </p:nvSpPr>
        <p:spPr>
          <a:xfrm>
            <a:off x="1010092" y="797442"/>
            <a:ext cx="10818628" cy="5984715"/>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zh-CN"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在价值链物理学中，数据模型绝不是一堆用于事后记账的静态表单。它是系统感知现实的全域雷达与底层账本。它的核心使命是：客观、严密地将物理世界与商业规则，一比一地映射进数字世界，构建一个没有任何歧义的</a:t>
            </a:r>
            <a:r>
              <a:rPr kumimoji="0" lang="en-US"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势能场</a:t>
            </a:r>
            <a:r>
              <a:rPr kumimoji="0" lang="en-US"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8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zh-CN" altLang="zh-CN" sz="18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这套数字容器，严格遵循以下五个维度的科学基元：</a:t>
            </a:r>
          </a:p>
          <a:p>
            <a:pPr marL="800100" lvl="1" indent="-342900">
              <a:lnSpc>
                <a:spcPct val="115000"/>
              </a:lnSpc>
              <a:spcAft>
                <a:spcPts val="800"/>
              </a:spcAft>
              <a:buAutoNum type="arabicPeriod"/>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节点 </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(Node)</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：三维平行的本体论质点空间 </a:t>
            </a:r>
            <a:endPar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lvl="1">
              <a:lnSpc>
                <a:spcPct val="115000"/>
              </a:lnSpc>
              <a:spcAft>
                <a:spcPts val="800"/>
              </a:spcAf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节点是价值链中承载价值、被动接受转换的最小单元。为了对抗</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N² </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复杂度并实现的</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权用分离</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，系统必须在三个相互正交、物理隔离但逻辑纠缠的宇宙中设立节点：</a:t>
            </a:r>
          </a:p>
          <a:p>
            <a:pPr marL="1200150" lvl="2" indent="-285750">
              <a:lnSpc>
                <a:spcPct val="115000"/>
              </a:lnSpc>
              <a:spcAft>
                <a:spcPts val="800"/>
              </a:spcAft>
              <a:buSzPts val="1000"/>
              <a:buFont typeface="Arial" panose="020B0604020202020204" pitchFamily="34" charset="0"/>
              <a:buChar char="•"/>
              <a:tabLst>
                <a:tab pos="457200" algn="l"/>
              </a:tabLs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物理学视界：它是界定物质实体</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是什么</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(What)”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以及</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在哪里</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(Where)”</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的绝对空间锚点。它只遵循牛顿力学，承载客观世界的重力与摩擦力。</a:t>
            </a:r>
          </a:p>
          <a:p>
            <a:pPr marL="1200150" lvl="2" indent="-285750">
              <a:lnSpc>
                <a:spcPct val="115000"/>
              </a:lnSpc>
              <a:spcAft>
                <a:spcPts val="800"/>
              </a:spcAft>
              <a:buSzPts val="1000"/>
              <a:buFont typeface="Arial" panose="020B0604020202020204" pitchFamily="34" charset="0"/>
              <a:buChar char="•"/>
              <a:tabLst>
                <a:tab pos="457200" algn="l"/>
              </a:tabLs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商业映射（三维质点分布）：</a:t>
            </a:r>
          </a:p>
          <a:p>
            <a:pPr marL="1200150" lvl="3" indent="-285750">
              <a:lnSpc>
                <a:spcPct val="115000"/>
              </a:lnSpc>
              <a:spcAft>
                <a:spcPts val="800"/>
              </a:spcAft>
              <a:buSzPts val="1000"/>
              <a:buFont typeface="Arial" panose="020B0604020202020204" pitchFamily="34" charset="0"/>
              <a:buChar char="•"/>
              <a:tabLst>
                <a:tab pos="914400" algn="l"/>
              </a:tabLs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物理节点</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(Physical Node)</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：具体的 </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SKU</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（精确到批次</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序列号）、机台设备、物理库位、工厂、供应商、渠道、客户等等。它们只反馈最冰冷的物理状态：</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我还能装多少？还能转多快？</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1200150" lvl="3" indent="-285750">
              <a:lnSpc>
                <a:spcPct val="115000"/>
              </a:lnSpc>
              <a:spcAft>
                <a:spcPts val="800"/>
              </a:spcAft>
              <a:buSzPts val="1000"/>
              <a:buFont typeface="Arial" panose="020B0604020202020204" pitchFamily="34" charset="0"/>
              <a:buChar char="•"/>
              <a:tabLst>
                <a:tab pos="914400" algn="l"/>
              </a:tabLs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契约节点</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(Commercial Node)</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：承载商业意图与违约边界的逻辑质点。如法人实体、业务单元</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(BU)</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、供应商、客户，以及虚拟的</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配额池</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(Allotment)”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。它们是博弈与主权的划定者。</a:t>
            </a:r>
          </a:p>
          <a:p>
            <a:pPr marL="1200150" lvl="3" indent="-285750">
              <a:lnSpc>
                <a:spcPct val="115000"/>
              </a:lnSpc>
              <a:spcAft>
                <a:spcPts val="800"/>
              </a:spcAft>
              <a:buSzPts val="1000"/>
              <a:buFont typeface="Arial" panose="020B0604020202020204" pitchFamily="34" charset="0"/>
              <a:buChar char="•"/>
              <a:tabLst>
                <a:tab pos="914400" algn="l"/>
              </a:tabLst>
            </a:pP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价值节点</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(Financial Node)</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：评估物理做功</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投入产出比</a:t>
            </a:r>
            <a:r>
              <a:rPr kumimoji="0" lang="en-US"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zh-CN"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的标量质点。如利润中心、成本中心、总账科目。它是动能转化为资产的蓄水池。</a:t>
            </a:r>
          </a:p>
        </p:txBody>
      </p:sp>
    </p:spTree>
    <p:extLst>
      <p:ext uri="{BB962C8B-B14F-4D97-AF65-F5344CB8AC3E}">
        <p14:creationId xmlns:p14="http://schemas.microsoft.com/office/powerpoint/2010/main" val="2651649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73552-34BC-F3F5-7C0E-955C635F7507}"/>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第一重螺旋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降维感知的五维时空容器（继续）</a:t>
            </a:r>
          </a:p>
        </p:txBody>
      </p:sp>
      <p:sp>
        <p:nvSpPr>
          <p:cNvPr id="4" name="文本框 3">
            <a:extLst>
              <a:ext uri="{FF2B5EF4-FFF2-40B4-BE49-F238E27FC236}">
                <a16:creationId xmlns:a16="http://schemas.microsoft.com/office/drawing/2014/main" id="{BDF5C016-F9E7-9C87-8038-A61D5C6E49E0}"/>
              </a:ext>
            </a:extLst>
          </p:cNvPr>
          <p:cNvSpPr txBox="1"/>
          <p:nvPr/>
        </p:nvSpPr>
        <p:spPr>
          <a:xfrm>
            <a:off x="792124" y="629679"/>
            <a:ext cx="10818628" cy="6113853"/>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2.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拓扑</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(Topology)</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endParaRPr>
          </a:p>
          <a:p>
            <a:pPr lvl="1">
              <a:lnSpc>
                <a:spcPct val="115000"/>
              </a:lnSpc>
              <a:spcAft>
                <a:spcPts val="800"/>
              </a:spcAf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三维关系流形与跨相映射矩阵</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节点是孤立的质点，而拓扑是赋予质点以</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意义</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的关系网络。在</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IPC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的三维质点空间中，拓扑客观规定了物质、责任与价值</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可以且只能</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沿着什么路径运动与聚合。它严格包含以下四重结构（三重同相轨道</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一重跨相桥梁）：</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lvl="1" indent="-285750">
              <a:lnSpc>
                <a:spcPct val="115000"/>
              </a:lnSpc>
              <a:spcAft>
                <a:spcPts val="800"/>
              </a:spcAft>
              <a:buSzPts val="1000"/>
              <a:buFont typeface="Arial" panose="020B0604020202020204" pitchFamily="34" charset="0"/>
              <a:buChar char="•"/>
              <a:tabLst>
                <a:tab pos="4572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物理拓扑</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(Physical Topology)</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：物质与能量的潜在轨道</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规定物理节点之间合法的组合、拆解与位移路径。</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BOM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与工艺路线</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规定了</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和</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在物理上能拼成</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（纵向因果），以及</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X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缺货时，</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Y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与</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Z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的物理组合是否为合法的替代（横向柔性）；</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实体物流网络</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规定了从东莞工厂到洛杉矶中转仓的合法物理运输路线。</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lvl="1" indent="-285750">
              <a:lnSpc>
                <a:spcPct val="115000"/>
              </a:lnSpc>
              <a:spcAft>
                <a:spcPts val="800"/>
              </a:spcAft>
              <a:buSzPts val="1000"/>
              <a:buFont typeface="Arial" panose="020B0604020202020204" pitchFamily="34" charset="0"/>
              <a:buChar char="•"/>
              <a:tabLst>
                <a:tab pos="4572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契约拓扑</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(Commercial Topology)</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：主权与意图的权力图谱</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规定契约节点（责任主体、意图容器）之间的从属、分配与交易链路。</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商业映射：组织与需求层级</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(Hierarchy)</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构成了预测从</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全球事业部</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分解到</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大区</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，再到</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特定客户组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的数学血脉；</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交易准入与配额网络</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规定了</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法人实体是否允许向</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供应商采购，以及某个</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总配额池</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如何向下切分为子配额。</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lvl="1" indent="-285750">
              <a:lnSpc>
                <a:spcPct val="115000"/>
              </a:lnSpc>
              <a:spcAft>
                <a:spcPts val="800"/>
              </a:spcAft>
              <a:buSzPts val="1000"/>
              <a:buFont typeface="Arial" panose="020B0604020202020204" pitchFamily="34" charset="0"/>
              <a:buChar char="•"/>
              <a:tabLst>
                <a:tab pos="4572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价值拓扑</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(Financial Topology)</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：财富的结转与汇总结构</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规定价值节点之间的成本流转与利润收敛规则。</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商业映射：财务科目树</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(Chart of Accounts)</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规定了资金如何在不同科目间合法结转；</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利润</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成本中心架构</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规定了底层车间的发生成本，最终沿着什么层级路径汇总到集团的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P&amp;L</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（损益表）上。</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lvl="1" indent="-285750">
              <a:lnSpc>
                <a:spcPct val="115000"/>
              </a:lnSpc>
              <a:spcAft>
                <a:spcPts val="800"/>
              </a:spcAft>
              <a:buSzPts val="1000"/>
              <a:buFont typeface="Arial" panose="020B0604020202020204" pitchFamily="34" charset="0"/>
              <a:buChar char="•"/>
              <a:tabLst>
                <a:tab pos="4572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跨维映射流形</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(Cross-Dimensional Mapping Manifold)</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：预设的正交桥梁</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前三个拓扑是平行的，而这个流形是垂直穿透这三个宇宙的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静态引力索</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200150" lvl="2" indent="-285750">
              <a:lnSpc>
                <a:spcPct val="115000"/>
              </a:lnSpc>
              <a:spcAft>
                <a:spcPts val="800"/>
              </a:spcAft>
              <a:buSzPts val="1000"/>
              <a:buFont typeface="Arial" panose="020B0604020202020204" pitchFamily="34" charset="0"/>
              <a:buChar char="•"/>
              <a:tabLst>
                <a:tab pos="914400" algn="l"/>
              </a:tabLst>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它预先定义了物理、契约、价值之间的对应法则。例如：预先在底层设定</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物理仓库</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X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的所有权属于法人</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，其发生的制造成本归属于成本中心</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Y”</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947695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AC931-804F-9523-0C2D-867E0C641F53}"/>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第一重螺旋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降维感知的五维时空容器（继续）</a:t>
            </a:r>
          </a:p>
        </p:txBody>
      </p:sp>
      <p:sp>
        <p:nvSpPr>
          <p:cNvPr id="4" name="文本框 3">
            <a:extLst>
              <a:ext uri="{FF2B5EF4-FFF2-40B4-BE49-F238E27FC236}">
                <a16:creationId xmlns:a16="http://schemas.microsoft.com/office/drawing/2014/main" id="{BFC9526E-BB5C-EADD-46E9-9C5C1DBFAEDE}"/>
              </a:ext>
            </a:extLst>
          </p:cNvPr>
          <p:cNvSpPr txBox="1"/>
          <p:nvPr/>
        </p:nvSpPr>
        <p:spPr>
          <a:xfrm>
            <a:off x="762000" y="985870"/>
            <a:ext cx="11430000" cy="4570097"/>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3.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状态跃迁</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(State Transition)</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Pegging </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网络的锁定与刚度</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(Causal Network Rigidity)</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en-US"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状态跃迁是执行“下游拉动上游”的因果动作。订单拉动工单，工单拉动物料预留。动作执行完，算出一张 </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Pegging </a:t>
            </a:r>
            <a:r>
              <a:rPr kumimoji="0" lang="zh-CN" altLang="en-US"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关系表。</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marR="0" lvl="2"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13716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软性因果</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(Soft Pegging / </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软预留</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基于宏观预测、低优订单形成的临时映射。为了全局最优，这层因果可以且必须被算法随时打破重组（如触发 </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SWAP </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资源置换</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）。它是保持系统极大柔性与进行</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时空套利</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的缓冲层。</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marR="0" lvl="2"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13716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刚性因果</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(Hard Pegging / </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绝对死锁</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基于</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已承诺交期</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(CTP)</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的订单、已下达车间的指令或强制性研发变更所形成的死锁。任何情况下绝对不可打破，是维系商业信用与物理常识的最终底盘。</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marR="0" lvl="2"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1371600" algn="l"/>
              </a:tabLst>
              <a:defRPr/>
            </a:pP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配额溯源（</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Tactical Pegging</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任何一笔微观执行单据，都必须溯源至其所属的战术配额（</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Allotment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）。如果特定区域的配额已耗尽，即便物理库房有货，系统也会触发约束警示。这种溯源确保了执行动作始终在战术计划的轨道内运行。</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71450" marR="0" lvl="0" indent="-1714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4.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约束</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(Constraints)</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endParaRPr>
          </a:p>
          <a:p>
            <a:pPr lvl="1">
              <a:lnSpc>
                <a:spcPct val="115000"/>
              </a:lnSpc>
              <a:spcAft>
                <a:spcPts val="800"/>
              </a:spcAf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物理极值边界与商业宪法防线</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业务流转绝非自由无序的布朗运动，它受制于多维空间的客观边界条件。在算法层，这些条件被编译为限制系统自由度的数学不等式，构成了系统在寻找全局最优解时的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难关（绝对壁垒）</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lvl="1" indent="-171450">
              <a:lnSpc>
                <a:spcPct val="115000"/>
              </a:lnSpc>
              <a:spcAft>
                <a:spcPts val="800"/>
              </a:spcAft>
              <a:buSzPts val="1000"/>
              <a:buFont typeface="Arial" panose="020B0604020202020204" pitchFamily="34" charset="0"/>
              <a:buChar char="•"/>
              <a:tabLst>
                <a:tab pos="4572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物理学视界（硬性自然重力）：</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作用于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物理质点空间</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。包括物质守恒限制（齐套性物理底线）、时空阻力（</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提前期</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Lead Time</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）、机台运转的绝对产能极值。这是算法绝对无法打破、只能绕行或妥协的自然界重力。</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lvl="1" indent="-171450">
              <a:lnSpc>
                <a:spcPct val="115000"/>
              </a:lnSpc>
              <a:spcAft>
                <a:spcPts val="800"/>
              </a:spcAft>
              <a:buSzPts val="1000"/>
              <a:buFont typeface="Arial" panose="020B0604020202020204" pitchFamily="34" charset="0"/>
              <a:buChar char="•"/>
              <a:tabLst>
                <a:tab pos="4572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商业映射（柔性立宪法则）：</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作用于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契约</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价值</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空间，是管理智慧的代码化封装。</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契约约束：</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核心大客户的战略配额红线、贸易合规排斥（黑白名单）、</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最小经济批量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(MOQ)</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价值约束：</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利润底线、预算池上限。</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96981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5F074C-B441-DB30-674E-390D876C414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第一重螺旋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降维感知的五维时空容器（继续）</a:t>
            </a:r>
          </a:p>
        </p:txBody>
      </p:sp>
      <p:sp>
        <p:nvSpPr>
          <p:cNvPr id="4" name="文本框 3">
            <a:extLst>
              <a:ext uri="{FF2B5EF4-FFF2-40B4-BE49-F238E27FC236}">
                <a16:creationId xmlns:a16="http://schemas.microsoft.com/office/drawing/2014/main" id="{A4C69377-42F1-EC47-A79D-5FF5F36E7BF1}"/>
              </a:ext>
            </a:extLst>
          </p:cNvPr>
          <p:cNvSpPr txBox="1"/>
          <p:nvPr/>
        </p:nvSpPr>
        <p:spPr>
          <a:xfrm>
            <a:off x="1055988" y="1251935"/>
            <a:ext cx="11121656" cy="4708084"/>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5.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状态矢量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(State Vector)</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：意愿张力、供给势能与因果网络刚度</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71450" marR="0" lvl="0" indent="-1714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系统需在任意时间切片下呈现完整的多维动力学状态。它是静态数据模型与动态算法引擎</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(Optimizer) </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交汇的</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动力学截屏</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71450" marR="0" lvl="0"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4572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物理学视界（场与力的相互作用）：</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意愿张力</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(Intent Tension)</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往往发源于</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契约节点</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，它是打破全网静止、制造出</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物理势能差</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的绝对引力源。张力并非单一维度，而是由不同密度的需求构成的</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引力频谱</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（弥散引力场、高密度引力点、高能脉冲）。</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供给势能</a:t>
            </a:r>
            <a:r>
              <a:rPr kumimoji="0" lang="en-US"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(Supply Potential)</a:t>
            </a: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驻留在</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物理节点</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中，是当前所具备的绝对物理质量（数量）与动量（速度与时间）。</a:t>
            </a:r>
            <a:endParaRPr kumimoji="0" lang="zh-CN" altLang="zh-CN" sz="105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marR="0" lvl="1"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914400" algn="l"/>
              </a:tabLst>
              <a:defRPr/>
            </a:pPr>
            <a:r>
              <a:rPr kumimoji="0" lang="zh-CN" altLang="zh-CN" sz="11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动力学坍缩：</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当</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供给势能</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受</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意愿张力</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的引力牵引，并成功穿透所有</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约束</a:t>
            </a:r>
            <a:r>
              <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(Constraints)”</a:t>
            </a:r>
            <a:r>
              <a:rPr kumimoji="0" lang="zh-CN"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时，概率云坍缩为跨越时空的确定性物理与契约连结。</a:t>
            </a:r>
            <a:endParaRPr kumimoji="0" lang="en-US" altLang="zh-CN" sz="11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endParaRPr>
          </a:p>
          <a:p>
            <a:pPr>
              <a:lnSpc>
                <a:spcPct val="115000"/>
              </a:lnSpc>
              <a:spcAft>
                <a:spcPts val="800"/>
              </a:spcAf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物理奇点引爆与三重正交动态投影</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实体的流转触发</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网络状态同步</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的离散事件。如果说拓扑是铺设好的静态轨道，那么跃迁就是扣下扳机、系统在三维宇宙中同时响应的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绝对奇点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。它是物理世界与商业世界完成</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晚期绑定</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(Late Binding)”</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的瞬间。</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lvl="1" indent="-171450">
              <a:lnSpc>
                <a:spcPct val="115000"/>
              </a:lnSpc>
              <a:spcAft>
                <a:spcPts val="800"/>
              </a:spcAft>
              <a:buSzPts val="1000"/>
              <a:buFont typeface="Arial" panose="020B0604020202020204" pitchFamily="34" charset="0"/>
              <a:buChar char="•"/>
              <a:tabLst>
                <a:tab pos="4572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物理学视界（绝对物理演化）：</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它包容两种物理运动：一是物理质点在时空坐标系中的单纯位移（如跨仓调拨）；二是物理质点在形态上发生的拓扑相变（如加工合并、拆解、形态突变与良率耗散）。此时，系统瞬间将物流与机台的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物理做功</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转化为系统的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内能</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628650" lvl="1" indent="-171450">
              <a:lnSpc>
                <a:spcPct val="115000"/>
              </a:lnSpc>
              <a:spcAft>
                <a:spcPts val="800"/>
              </a:spcAft>
              <a:buSzPts val="1000"/>
              <a:buFont typeface="Arial" panose="020B0604020202020204" pitchFamily="34" charset="0"/>
              <a:buChar char="•"/>
              <a:tabLst>
                <a:tab pos="4572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商业映射（三流的瞬间分离与高维确权）：</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当</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1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次物理做功发生的瞬间，系统算法必须顺着拓扑中的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跨维映射流形</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，瞬间完成</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1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3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的正交投影：</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lvl="2" indent="-171450">
              <a:lnSpc>
                <a:spcPct val="115000"/>
              </a:lnSpc>
              <a:spcAft>
                <a:spcPts val="800"/>
              </a:spcAft>
              <a:buSzPts val="1000"/>
              <a:buFont typeface="Arial" panose="020B0604020202020204" pitchFamily="34" charset="0"/>
              <a:buChar char="•"/>
              <a:tabLst>
                <a:tab pos="9144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物流投射</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(Physical Flow)</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物理质点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真实移动到物理质点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，保障底层交付的绝对真实摩擦力与速度。</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lvl="2" indent="-171450">
              <a:lnSpc>
                <a:spcPct val="115000"/>
              </a:lnSpc>
              <a:spcAft>
                <a:spcPts val="800"/>
              </a:spcAft>
              <a:buSzPts val="1000"/>
              <a:buFont typeface="Arial" panose="020B0604020202020204" pitchFamily="34" charset="0"/>
              <a:buChar char="•"/>
              <a:tabLst>
                <a:tab pos="9144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商流投射</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(Commercial Flow)</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物理的发送</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接收节点，绝不等于商业的结算主体。系统瞬间将物理动作投射到</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契约节点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上，完成责任与物权的强制交割。例如：物理上是</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借用</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的实物，但在契约空间瞬间记录为</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资源置换</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(SWAP)</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与未来提货权，实现的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权用分离</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1085850" lvl="2" indent="-171450">
              <a:lnSpc>
                <a:spcPct val="115000"/>
              </a:lnSpc>
              <a:spcAft>
                <a:spcPts val="800"/>
              </a:spcAft>
              <a:buSzPts val="1000"/>
              <a:buFont typeface="Arial" panose="020B0604020202020204" pitchFamily="34" charset="0"/>
              <a:buChar char="•"/>
              <a:tabLst>
                <a:tab pos="914400" algn="l"/>
              </a:tabLst>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资金流投射</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(Financial Flow)</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伴随物理维度的做功转化，系统在这一刻精准吸收物流费、采购溢价与制造成本，在</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价值节点（财务总账与利润中心）</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上完成从物理动能到财务资产的闭环确权。</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69678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F3134-9CF2-532F-CFE1-DE8050CD263F}"/>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第一重螺旋</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进阶</a:t>
            </a:r>
          </a:p>
        </p:txBody>
      </p:sp>
      <p:sp>
        <p:nvSpPr>
          <p:cNvPr id="4" name="文本框 3">
            <a:extLst>
              <a:ext uri="{FF2B5EF4-FFF2-40B4-BE49-F238E27FC236}">
                <a16:creationId xmlns:a16="http://schemas.microsoft.com/office/drawing/2014/main" id="{D3F4130F-0A47-23D4-DDA4-D200C039CDB1}"/>
              </a:ext>
            </a:extLst>
          </p:cNvPr>
          <p:cNvSpPr txBox="1"/>
          <p:nvPr/>
        </p:nvSpPr>
        <p:spPr>
          <a:xfrm>
            <a:off x="690494" y="1198521"/>
            <a:ext cx="11398725" cy="5307350"/>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前述的五个维度构建了与物理世界严格一比一同构的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数字镜像</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完成了客观严密的系统感知。然而，真正的商业价值在于治理（预测、规划与决策）。物理世界的直接映射往往过于微观和僵化，直接基于它们进行宏观推演，会导致算力坍塌。因此，必须在基础模型之上，主动创造出用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降维治理</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衍生本体</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1.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维度特征化：解耦实体的</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特征向量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与代数匹配引擎</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解决的痛点（组合爆炸）：</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传统范式下，产品个性化和合规要求会导致物料编码</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(SKU)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呈乘法级暴增。为了管理不同等级、产地的同一款芯片，传统系统必须建立无数个僵死的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SKU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和</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，最终导致数据库膨胀和管理失控。</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衍生本体的降维逻辑：</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我们将实体从单一的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SKU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编码中解放出来，拆解为一组独立的</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特征向量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(Feature Vector)</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zh-CN" altLang="zh-CN" sz="1200" b="0" i="1"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旧范式：</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一颗芯片被</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静态固化为</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“SKU: Chip-A”</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zh-CN" altLang="zh-CN" sz="1200" b="0" i="1"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新范式：</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这颗芯片被动态解构为特征集合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容量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512MB |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等级</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产地</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德国</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业务效能（代数匹配代替穷举）：</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系统引入关系代数（如</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EQ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绝对等于、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GE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大于等于、</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NE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排斥不等于）作为底层引擎。当订单需求如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需求容量</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GE(256MB) |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排斥产地</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NE(</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产线</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X) ]</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进入系统时，代数引擎极速进行特征匹配。这不仅消灭了编码膨胀，还能自动实现高等级降维替代、残值榨取。</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2.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计划</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：精准锚定解耦点</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(CODP) </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的概率集合</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解决的痛点（预测与执行的断层）：</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宏观预测永远是模糊的，微观车间执行必须是精确的。如果在高度定制化</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(CTO)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场景下试图精准预测几百种最终成品的具体销量，注定是一场灾难。</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衍生本体的降维逻辑：</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计划</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不是指导装配的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制造</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，而是前瞻性资源卡位的</a:t>
            </a: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概率模型</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。它精准设立在价值链的</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客户订单解耦点</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(CODP)”</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上</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界定哪里靠预测</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推</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，哪里靠订单</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拉</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zh-CN" altLang="zh-CN" sz="1200" b="0" i="1"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加法降维：</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计划员绝不预测</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4 x 5 x 3 = 60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种成品的具体销量，而是做一个总盘预测，并通过计划</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将</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乘法灾难</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拆解为</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加法概率</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（如动力</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消耗</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40%</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，内饰</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消耗</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50%</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）。管理对象瞬间被硬性压缩成底层组件的概率分配。</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业务效能：</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当真实的盲盒订单跨越解耦点时，概率云发生</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物理坍缩</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。具体订单精准消耗计划</a:t>
            </a:r>
            <a:r>
              <a:rPr kumimoji="0" lang="en-US"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BOM </a:t>
            </a:r>
            <a:r>
              <a:rPr kumimoji="0" lang="zh-CN" altLang="zh-CN" sz="12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中预留的额度，瞬间将宏观的不确定性，转化为底层确定的实物筹备指令。</a:t>
            </a:r>
            <a:endParaRPr kumimoji="0" lang="zh-CN" altLang="zh-CN" sz="11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81462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BC57B4-7843-EABA-2708-906FDBA4A5F8}"/>
              </a:ext>
            </a:extLst>
          </p:cNvPr>
          <p:cNvSpPr>
            <a:spLocks noGrp="1"/>
          </p:cNvSpPr>
          <p:nvPr>
            <p:ph type="title"/>
          </p:nvPr>
        </p:nvSpPr>
        <p:spPr/>
        <p:txBody>
          <a:bodyPr>
            <a:normAutofit/>
          </a:bodyPr>
          <a:lstStyle/>
          <a:p>
            <a:r>
              <a:rPr lang="zh-CN" altLang="zh-CN" b="1" kern="0" dirty="0">
                <a:effectLst/>
                <a:latin typeface="Arial" panose="020B0604020202020204" pitchFamily="34" charset="0"/>
                <a:ea typeface="微软雅黑" panose="020B0503020204020204" pitchFamily="34" charset="-122"/>
                <a:cs typeface="Arial" panose="020B0604020202020204" pitchFamily="34" charset="0"/>
              </a:rPr>
              <a:t>第二重螺旋：业务算法</a:t>
            </a:r>
            <a:r>
              <a:rPr lang="en-US" altLang="zh-CN" b="1" kern="0" dirty="0">
                <a:effectLst/>
                <a:latin typeface="Arial" panose="020B0604020202020204" pitchFamily="34" charset="0"/>
                <a:ea typeface="微软雅黑" panose="020B0503020204020204" pitchFamily="34" charset="-122"/>
                <a:cs typeface="Arial" panose="020B0604020202020204" pitchFamily="34" charset="0"/>
              </a:rPr>
              <a:t>——</a:t>
            </a:r>
            <a:r>
              <a:rPr lang="zh-CN" altLang="zh-CN" b="1" kern="0" dirty="0">
                <a:effectLst/>
                <a:latin typeface="Arial" panose="020B0604020202020204" pitchFamily="34" charset="0"/>
                <a:ea typeface="微软雅黑" panose="020B0503020204020204" pitchFamily="34" charset="-122"/>
                <a:cs typeface="Arial" panose="020B0604020202020204" pitchFamily="34" charset="0"/>
              </a:rPr>
              <a:t>驱动系统演化与宏观涌现的动力学引擎</a:t>
            </a:r>
            <a:endParaRPr lang="zh-CN" altLang="en-US" dirty="0">
              <a:latin typeface="Arial" panose="020B0604020202020204" pitchFamily="34" charset="0"/>
              <a:ea typeface="微软雅黑" panose="020B0503020204020204" pitchFamily="34" charset="-122"/>
            </a:endParaRPr>
          </a:p>
        </p:txBody>
      </p:sp>
      <p:sp>
        <p:nvSpPr>
          <p:cNvPr id="4" name="文本框 3">
            <a:extLst>
              <a:ext uri="{FF2B5EF4-FFF2-40B4-BE49-F238E27FC236}">
                <a16:creationId xmlns:a16="http://schemas.microsoft.com/office/drawing/2014/main" id="{4D057095-98EA-A5D4-FC4C-FCF5B7A51488}"/>
              </a:ext>
            </a:extLst>
          </p:cNvPr>
          <p:cNvSpPr txBox="1"/>
          <p:nvPr/>
        </p:nvSpPr>
        <p:spPr>
          <a:xfrm>
            <a:off x="1055988" y="873967"/>
            <a:ext cx="10798069" cy="5558316"/>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数据模型构建了</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动态势能场</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，而</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业务算法</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正是驱动这套复杂适应系统</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(CAS)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打破静止、发生状态跃迁的动力学引擎。它由微观到宏观的三层结构交织而成，通过高频推演，最终完成不可思议的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智能涌现</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1.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微观层：元算子</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(Meta-Algorithms) ——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转化法则的原子基元</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本质定义：</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系统中最底层的逻辑动词。它们与数据模型处于</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量子纠缠态</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依托数据模型的拓扑网络运行，执行最纯粹的运筹转化。</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业务表现：</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例如</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需求优先级排序</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网络拓扑展开</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齐套计算</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正向可用期推演</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(LTR)”</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等。这些元算子是死死咬合在五维数据模型上的物理齿轮。</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2.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中观层：算法的编排</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(Orchestration) ——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克服物理摩擦的高阶状态机</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本质定义：</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将游离算子组合起来的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编排</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，才是真正体现企业经营意志的中央控制台。它定义了算子的调用顺序、并发路径以及对现实约束的妥协逻辑。</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业务表现：</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现实中所有的高级业务动作都是编排的产物。一次极速的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交期承诺</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(CTP)”</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，底层其实是编排引擎连续调用了</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优先级排序</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-&gt;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拓扑展开</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-&gt;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齐套计算</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-&gt; LTR”</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得出的结果。</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3.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宏观层：能力的涌现</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(Emergence) —— IPC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体系的一体化降临</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本质定义：</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宏观业务系统绝不是生硬拼凑的代码，而是底层</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元算子</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 </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编排引擎</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在高频运转时，自然涌现出的功能幻象。</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业务表现：</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计划层级的涌现：</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引擎在宏观时间轴上无约束推演，涌现出</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智能业务规划</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(IBP)</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；撞击宏观产能瓶颈，涌现出</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智能战术规划</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(ITP, Integrated Tactical Planning,</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集成战术规划</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；下沉至微观车间与物理极值碰撞，涌现出</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详细执行排程</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(IOP</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Integrated Operational Planning, </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集成运营计划</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控制塔的涌现：</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当亿万次推演的数学逻辑强制收敛时，直接涌现出供需完美咬合的</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全域一盘棋</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(One Plan)”</a:t>
            </a:r>
            <a:r>
              <a:rPr kumimoji="0" lang="zh-CN"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。当这种闭环以极高频率运转，它天然具备全域可视与敏捷诊断的能力，这正是</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智能控制塔</a:t>
            </a:r>
            <a:r>
              <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 (Control Tower)”</a:t>
            </a:r>
            <a:r>
              <a:rPr kumimoji="0" lang="zh-CN"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rPr>
              <a:t>的绝对内核。</a:t>
            </a:r>
            <a:endParaRPr kumimoji="0" lang="zh-CN" altLang="zh-CN" sz="1200" b="0" i="0" u="none" strike="noStrike" kern="1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716455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6F5FC5-EE26-5A56-7654-92C3386D237A}"/>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重塑第一重螺旋的绝对闭环：动能物质化</a:t>
            </a:r>
          </a:p>
        </p:txBody>
      </p:sp>
      <p:sp>
        <p:nvSpPr>
          <p:cNvPr id="4" name="文本框 3">
            <a:extLst>
              <a:ext uri="{FF2B5EF4-FFF2-40B4-BE49-F238E27FC236}">
                <a16:creationId xmlns:a16="http://schemas.microsoft.com/office/drawing/2014/main" id="{D9EF0AD1-058C-BE1E-663B-4CC55CFD7B82}"/>
              </a:ext>
            </a:extLst>
          </p:cNvPr>
          <p:cNvSpPr txBox="1"/>
          <p:nvPr/>
        </p:nvSpPr>
        <p:spPr>
          <a:xfrm>
            <a:off x="696433" y="772573"/>
            <a:ext cx="10494333" cy="59093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当业务算法在内存中完成了高频的动力学推演，其转化出的磅礴“动能”必须瞬间坍缩、凝固为绝对静止的底层数字实体，去驱动车间的轰鸣与跨国货轮的起航。</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如果说“第一重螺旋”构建的基础数据模型，是系统对物理世界的“全域感知（蓄积静态势能）”；那么此刻算法引擎对现实世界完成的“绝对做功（释放动能）”，</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其的物理途径，就是对“第一重螺旋”进行强制覆写。</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系统的意志通过强制反写（</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Write-Back</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），直接改变了现实的拓扑结构与状态空间。算法的终点，即是新数据模型的起点。这种动能的物质化，精准表现为以下四重对“第一重螺旋”的降维反写：</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宏观共识的沉淀（</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IBP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层的战略输出）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-&gt;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重构</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状态矢量</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与宏观</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约束</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业务表现</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：当预测与瓶颈完成碰撞，系统输出的并非车间工单，而是一套“一致性业务基线”。它包括未来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18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个月的约束性承诺销量、分时安全库存目标，以及预计营收指导线。</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物理重塑</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：算法的推演，改写了原始预测的悬空状态。它为底层系统下达了全新的“状态矢量”与“边界约束”，将其重塑为带有资源约束和财务承诺的战略锚点。</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战术边界的划定（</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ITP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层的约束输出）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-&gt;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确立刚性</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约束</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与配额边界</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业务表现</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：算法在推演中会将稀缺产能或物料分配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(Allocation)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给特定需求，系统随后将这些底层分配向上汇总，涌现为战术配额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(Allotment)</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物理重塑</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：配额直接化作一道不容逾越的“数学不等式（柔性约束）”下达给执行层：“未来一个月，大客户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拥有关键芯片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30%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的配额”。执行层可在结界内自由腾挪，但绝不能击穿此战术约束底线。</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执行动能的微观实例化（</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IOP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层的物理输出）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-&gt;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实例化</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契约节点</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与触发</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状态跃迁</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实例化新增</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：算法在时空坐标上“无中生有”地生成了精确到分秒的计划单据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。这在数据库中直接实例化出了海量全新的“契约节点”，承载了“商流、物流、资金流”三位一体的底层确权。</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状态反写</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：用算法推演的“可用交期”覆盖原始“期望交期”；将可用库存状态从“自由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(Free)”</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强制改写为“已预留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(Reserved)”</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。这是一次瞬间的“状态跃迁”，完成了物权的绝对交割。</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智慧与因果的封存（</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Control Tower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层的元数据输出）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-&gt; </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缔结</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拓扑</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因果链</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缔结因果链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：将宏观客户需求与微观螺丝钉采购死死绑定。这本质上是在微观质点间构建了不可见的“关系拓扑”，使全网所有物料去向与资金消耗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可解释，烙印系统的“因果记忆”。</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智能洞察输出</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：基于这层严密的拓扑网络，系统得以输出缺料预警、诊断根因（如识别拖累交期的短缺料），并在后台并发模拟出替代解决方案（如空运或降级）。</a:t>
            </a:r>
          </a:p>
        </p:txBody>
      </p:sp>
    </p:spTree>
    <p:extLst>
      <p:ext uri="{BB962C8B-B14F-4D97-AF65-F5344CB8AC3E}">
        <p14:creationId xmlns:p14="http://schemas.microsoft.com/office/powerpoint/2010/main" val="1905295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07894-7202-CAC0-64C1-3A81020F1A65}"/>
              </a:ext>
            </a:extLst>
          </p:cNvPr>
          <p:cNvSpPr>
            <a:spLocks noGrp="1"/>
          </p:cNvSpPr>
          <p:nvPr>
            <p:ph type="title"/>
          </p:nvPr>
        </p:nvSpPr>
        <p:spPr/>
        <p:txBody>
          <a:bodyPr/>
          <a:lstStyle/>
          <a:p>
            <a:r>
              <a:rPr lang="zh-CN" altLang="en-US" dirty="0"/>
              <a:t>方案论</a:t>
            </a:r>
            <a:r>
              <a:rPr lang="en-US" altLang="zh-CN" dirty="0"/>
              <a:t>——</a:t>
            </a:r>
            <a:r>
              <a:rPr lang="zh-CN" altLang="en-US" dirty="0"/>
              <a:t>决策速度的阶跃突破</a:t>
            </a:r>
          </a:p>
        </p:txBody>
      </p:sp>
      <p:graphicFrame>
        <p:nvGraphicFramePr>
          <p:cNvPr id="4" name="图示 3">
            <a:extLst>
              <a:ext uri="{FF2B5EF4-FFF2-40B4-BE49-F238E27FC236}">
                <a16:creationId xmlns:a16="http://schemas.microsoft.com/office/drawing/2014/main" id="{E9FB500D-E0CB-8EC8-3B68-1E202AFE52D6}"/>
              </a:ext>
            </a:extLst>
          </p:cNvPr>
          <p:cNvGraphicFramePr/>
          <p:nvPr>
            <p:extLst>
              <p:ext uri="{D42A27DB-BD31-4B8C-83A1-F6EECF244321}">
                <p14:modId xmlns:p14="http://schemas.microsoft.com/office/powerpoint/2010/main" val="3755234837"/>
              </p:ext>
            </p:extLst>
          </p:nvPr>
        </p:nvGraphicFramePr>
        <p:xfrm>
          <a:off x="1457139" y="1457140"/>
          <a:ext cx="9486163" cy="3026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a:extLst>
              <a:ext uri="{FF2B5EF4-FFF2-40B4-BE49-F238E27FC236}">
                <a16:creationId xmlns:a16="http://schemas.microsoft.com/office/drawing/2014/main" id="{E6DFE108-2827-C33F-2AE7-5D31C9A1CD00}"/>
              </a:ext>
            </a:extLst>
          </p:cNvPr>
          <p:cNvSpPr txBox="1"/>
          <p:nvPr/>
        </p:nvSpPr>
        <p:spPr>
          <a:xfrm>
            <a:off x="2220004" y="5539494"/>
            <a:ext cx="8530468" cy="461665"/>
          </a:xfrm>
          <a:prstGeom prst="rect">
            <a:avLst/>
          </a:prstGeom>
          <a:noFill/>
        </p:spPr>
        <p:txBody>
          <a:bodyPr wrap="square" rtlCol="0">
            <a:spAutoFit/>
          </a:bodyPr>
          <a:lstStyle/>
          <a:p>
            <a:r>
              <a:rPr lang="zh-CN" altLang="en-US" sz="2400" b="1" dirty="0">
                <a:solidFill>
                  <a:srgbClr val="00D4FF"/>
                </a:solidFill>
              </a:rPr>
              <a:t>不靠堆算力</a:t>
            </a:r>
            <a:r>
              <a:rPr lang="en-US" altLang="zh-CN" dirty="0"/>
              <a:t>: </a:t>
            </a:r>
            <a:r>
              <a:rPr lang="zh-CN" altLang="en-US" dirty="0"/>
              <a:t>个人电脑（多核），</a:t>
            </a:r>
            <a:r>
              <a:rPr lang="en-US" altLang="zh-CN" dirty="0"/>
              <a:t>50</a:t>
            </a:r>
            <a:r>
              <a:rPr lang="zh-CN" altLang="en-US" dirty="0"/>
              <a:t>万比需求，</a:t>
            </a:r>
            <a:r>
              <a:rPr lang="en-US" altLang="zh-CN" dirty="0"/>
              <a:t>20</a:t>
            </a:r>
            <a:r>
              <a:rPr lang="zh-CN" altLang="en-US" dirty="0"/>
              <a:t>层</a:t>
            </a:r>
            <a:r>
              <a:rPr lang="en-US" altLang="zh-CN" dirty="0"/>
              <a:t>BOM,200</a:t>
            </a:r>
            <a:r>
              <a:rPr lang="zh-CN" altLang="en-US" dirty="0"/>
              <a:t>多万物料，</a:t>
            </a:r>
            <a:r>
              <a:rPr lang="en-US" altLang="zh-CN" dirty="0"/>
              <a:t>5</a:t>
            </a:r>
            <a:r>
              <a:rPr lang="zh-CN" altLang="en-US" dirty="0"/>
              <a:t>分钟。</a:t>
            </a:r>
          </a:p>
        </p:txBody>
      </p:sp>
    </p:spTree>
    <p:extLst>
      <p:ext uri="{BB962C8B-B14F-4D97-AF65-F5344CB8AC3E}">
        <p14:creationId xmlns:p14="http://schemas.microsoft.com/office/powerpoint/2010/main" val="63376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5D70C-4CA3-459D-3BC0-DDD87B6612B3}"/>
              </a:ext>
            </a:extLst>
          </p:cNvPr>
          <p:cNvSpPr>
            <a:spLocks noGrp="1"/>
          </p:cNvSpPr>
          <p:nvPr>
            <p:ph type="title"/>
          </p:nvPr>
        </p:nvSpPr>
        <p:spPr/>
        <p:txBody>
          <a:bodyPr/>
          <a:lstStyle/>
          <a:p>
            <a:r>
              <a:rPr lang="zh-CN" altLang="en-US" dirty="0"/>
              <a:t>方案论</a:t>
            </a:r>
            <a:r>
              <a:rPr lang="en-US" altLang="zh-CN" dirty="0"/>
              <a:t>——</a:t>
            </a:r>
            <a:r>
              <a:rPr lang="zh-CN" altLang="en-US" dirty="0"/>
              <a:t>为什么这件事这么难？</a:t>
            </a:r>
          </a:p>
        </p:txBody>
      </p:sp>
      <p:grpSp>
        <p:nvGrpSpPr>
          <p:cNvPr id="5" name="组合 4">
            <a:extLst>
              <a:ext uri="{FF2B5EF4-FFF2-40B4-BE49-F238E27FC236}">
                <a16:creationId xmlns:a16="http://schemas.microsoft.com/office/drawing/2014/main" id="{851C7652-7F46-93F6-3007-3EEBF16D504C}"/>
              </a:ext>
            </a:extLst>
          </p:cNvPr>
          <p:cNvGrpSpPr>
            <a:grpSpLocks noChangeAspect="1"/>
          </p:cNvGrpSpPr>
          <p:nvPr>
            <p:custDataLst>
              <p:tags r:id="rId1"/>
            </p:custDataLst>
          </p:nvPr>
        </p:nvGrpSpPr>
        <p:grpSpPr>
          <a:xfrm>
            <a:off x="1001559" y="757236"/>
            <a:ext cx="10325026" cy="4369935"/>
            <a:chOff x="666750" y="1604536"/>
            <a:chExt cx="3566438" cy="3625269"/>
          </a:xfrm>
        </p:grpSpPr>
        <p:grpSp>
          <p:nvGrpSpPr>
            <p:cNvPr id="6" name="组合 5">
              <a:extLst>
                <a:ext uri="{FF2B5EF4-FFF2-40B4-BE49-F238E27FC236}">
                  <a16:creationId xmlns:a16="http://schemas.microsoft.com/office/drawing/2014/main" id="{E84547F1-A8BE-54E9-4A9E-44E9FC17E0A5}"/>
                </a:ext>
              </a:extLst>
            </p:cNvPr>
            <p:cNvGrpSpPr/>
            <p:nvPr/>
          </p:nvGrpSpPr>
          <p:grpSpPr>
            <a:xfrm>
              <a:off x="666750" y="1604536"/>
              <a:ext cx="3566438" cy="1342455"/>
              <a:chOff x="743527" y="1095802"/>
              <a:chExt cx="3566438" cy="1342455"/>
            </a:xfrm>
          </p:grpSpPr>
          <p:sp>
            <p:nvSpPr>
              <p:cNvPr id="13" name="1">
                <a:extLst>
                  <a:ext uri="{FF2B5EF4-FFF2-40B4-BE49-F238E27FC236}">
                    <a16:creationId xmlns:a16="http://schemas.microsoft.com/office/drawing/2014/main" id="{A9A75CEF-EC77-9087-0595-7BDB844D8043}"/>
                  </a:ext>
                </a:extLst>
              </p:cNvPr>
              <p:cNvSpPr/>
              <p:nvPr/>
            </p:nvSpPr>
            <p:spPr>
              <a:xfrm>
                <a:off x="743528" y="1095806"/>
                <a:ext cx="3566437" cy="1313411"/>
              </a:xfrm>
              <a:prstGeom prst="roundRect">
                <a:avLst>
                  <a:gd name="adj" fmla="val 0"/>
                </a:avLst>
              </a:prstGeom>
              <a:solidFill>
                <a:schemeClr val="bg1"/>
              </a:solidFill>
              <a:ln>
                <a:noFill/>
              </a:ln>
              <a:effectLst>
                <a:outerShdw blurRad="88900" dist="88900" dir="5400000" algn="t" rotWithShape="0">
                  <a:schemeClr val="accent1">
                    <a:lumMod val="20000"/>
                    <a:lumOff val="8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1"/>
                  </a:solidFill>
                  <a:latin typeface="+mn-ea"/>
                  <a:cs typeface="+mn-ea"/>
                  <a:sym typeface="+mn-lt"/>
                </a:endParaRPr>
              </a:p>
            </p:txBody>
          </p:sp>
          <p:sp>
            <p:nvSpPr>
              <p:cNvPr id="14" name="1">
                <a:extLst>
                  <a:ext uri="{FF2B5EF4-FFF2-40B4-BE49-F238E27FC236}">
                    <a16:creationId xmlns:a16="http://schemas.microsoft.com/office/drawing/2014/main" id="{EDE62059-27D7-D06D-927E-AE6570D85560}"/>
                  </a:ext>
                </a:extLst>
              </p:cNvPr>
              <p:cNvSpPr/>
              <p:nvPr/>
            </p:nvSpPr>
            <p:spPr>
              <a:xfrm>
                <a:off x="743527" y="1095802"/>
                <a:ext cx="154805" cy="1313411"/>
              </a:xfrm>
              <a:prstGeom prst="rect">
                <a:avLst/>
              </a:prstGeom>
              <a:gradFill>
                <a:gsLst>
                  <a:gs pos="7000">
                    <a:schemeClr val="accent1"/>
                  </a:gs>
                  <a:gs pos="99000">
                    <a:schemeClr val="accent1">
                      <a:lumMod val="60000"/>
                      <a:lumOff val="40000"/>
                    </a:schemeClr>
                  </a:gs>
                </a:gsLst>
                <a:lin ang="5400000" scaled="1"/>
              </a:gradFill>
              <a:ln w="25400" cap="flat">
                <a:noFill/>
                <a:prstDash val="solid"/>
                <a:miter/>
              </a:ln>
              <a:effectLst>
                <a:outerShdw blurRad="63500" dist="38100" dir="2700000" algn="tl" rotWithShape="0">
                  <a:schemeClr val="accent1">
                    <a:alpha val="40000"/>
                  </a:schemeClr>
                </a:outerShdw>
              </a:effectLst>
            </p:spPr>
            <p:txBody>
              <a:bodyPr wrap="none" rtlCol="0" anchor="ctr"/>
              <a:lstStyle/>
              <a:p>
                <a:pPr algn="ctr"/>
                <a:endParaRPr lang="en-US" altLang="zh-CN" b="1" dirty="0">
                  <a:latin typeface="+mn-ea"/>
                  <a:cs typeface="+mn-ea"/>
                  <a:sym typeface="+mn-lt"/>
                </a:endParaRPr>
              </a:p>
            </p:txBody>
          </p:sp>
          <p:sp>
            <p:nvSpPr>
              <p:cNvPr id="15" name="Index-1">
                <a:extLst>
                  <a:ext uri="{FF2B5EF4-FFF2-40B4-BE49-F238E27FC236}">
                    <a16:creationId xmlns:a16="http://schemas.microsoft.com/office/drawing/2014/main" id="{40323FD5-B3B1-B493-2F54-27EED087573D}"/>
                  </a:ext>
                </a:extLst>
              </p:cNvPr>
              <p:cNvSpPr txBox="1"/>
              <p:nvPr>
                <p:custDataLst>
                  <p:tags r:id="rId5"/>
                </p:custDataLst>
              </p:nvPr>
            </p:nvSpPr>
            <p:spPr>
              <a:xfrm>
                <a:off x="922984" y="1389568"/>
                <a:ext cx="289774" cy="646331"/>
              </a:xfrm>
              <a:prstGeom prst="rect">
                <a:avLst/>
              </a:prstGeom>
              <a:noFill/>
            </p:spPr>
            <p:txBody>
              <a:bodyPr wrap="none" lIns="91440" tIns="45720" rIns="91440" bIns="45720" rtlCol="0" anchor="ctr" anchorCtr="0">
                <a:spAutoFit/>
              </a:bodyPr>
              <a:lstStyle>
                <a:defPPr>
                  <a:defRPr lang="zh-CN"/>
                </a:defPPr>
                <a:lvl1pPr algn="ctr">
                  <a:defRPr kumimoji="1" sz="6000" b="1">
                    <a:solidFill>
                      <a:schemeClr val="accent1"/>
                    </a:solidFill>
                    <a:effectLst>
                      <a:outerShdw blurRad="127000" dist="63500" dir="2700000" algn="ctr" rotWithShape="0">
                        <a:schemeClr val="accent1">
                          <a:alpha val="40000"/>
                        </a:schemeClr>
                      </a:outerShdw>
                    </a:effectLst>
                    <a:latin typeface="Arial" panose="020B0604020202020204" pitchFamily="34" charset="0"/>
                    <a:ea typeface="Microsoft YaHei" panose="020B0503020204020204" pitchFamily="34" charset="-122"/>
                  </a:defRPr>
                </a:lvl1pPr>
              </a:lstStyle>
              <a:p>
                <a:r>
                  <a:rPr lang="en-US" altLang="zh-CN" sz="3600" dirty="0">
                    <a:solidFill>
                      <a:schemeClr val="tx1"/>
                    </a:solidFill>
                    <a:latin typeface="+mn-ea"/>
                    <a:ea typeface="+mn-ea"/>
                    <a:cs typeface="+mn-ea"/>
                    <a:sym typeface="+mn-lt"/>
                  </a:rPr>
                  <a:t>01</a:t>
                </a:r>
                <a:endParaRPr lang="zh-CN" altLang="en-US" sz="3600" dirty="0">
                  <a:solidFill>
                    <a:schemeClr val="tx1"/>
                  </a:solidFill>
                  <a:latin typeface="+mn-ea"/>
                  <a:ea typeface="+mn-ea"/>
                  <a:cs typeface="+mn-ea"/>
                  <a:sym typeface="+mn-lt"/>
                </a:endParaRPr>
              </a:p>
            </p:txBody>
          </p:sp>
          <p:sp>
            <p:nvSpPr>
              <p:cNvPr id="17" name="Body-1">
                <a:extLst>
                  <a:ext uri="{FF2B5EF4-FFF2-40B4-BE49-F238E27FC236}">
                    <a16:creationId xmlns:a16="http://schemas.microsoft.com/office/drawing/2014/main" id="{DC24632A-12B3-95D2-3E1F-82B5A689B1D8}"/>
                  </a:ext>
                </a:extLst>
              </p:cNvPr>
              <p:cNvSpPr/>
              <p:nvPr>
                <p:custDataLst>
                  <p:tags r:id="rId6"/>
                </p:custDataLst>
              </p:nvPr>
            </p:nvSpPr>
            <p:spPr>
              <a:xfrm>
                <a:off x="1267096" y="1296434"/>
                <a:ext cx="2878553" cy="1141823"/>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defRPr/>
                </a:pPr>
                <a:r>
                  <a:rPr lang="zh-CN" altLang="en-US" sz="1600" b="0" i="0" dirty="0">
                    <a:solidFill>
                      <a:schemeClr val="tx1"/>
                    </a:solidFill>
                    <a:effectLst/>
                    <a:latin typeface="quote-cjk-patch"/>
                  </a:rPr>
                  <a:t>数据模型和业务算法</a:t>
                </a:r>
                <a:r>
                  <a:rPr lang="zh-CN" altLang="en-US" sz="2000" b="1" i="0" dirty="0">
                    <a:solidFill>
                      <a:srgbClr val="00D4FF"/>
                    </a:solidFill>
                    <a:effectLst/>
                    <a:latin typeface="quote-cjk-patch"/>
                  </a:rPr>
                  <a:t>不是一次设计完</a:t>
                </a:r>
                <a:r>
                  <a:rPr lang="zh-CN" altLang="en-US" sz="1600" b="0" i="0" dirty="0">
                    <a:solidFill>
                      <a:schemeClr val="tx1"/>
                    </a:solidFill>
                    <a:effectLst/>
                    <a:latin typeface="quote-cjk-patch"/>
                  </a:rPr>
                  <a:t>的。</a:t>
                </a:r>
                <a:r>
                  <a:rPr lang="zh-CN" altLang="en-US" sz="2000" b="1" i="0" dirty="0">
                    <a:solidFill>
                      <a:srgbClr val="00D4FF"/>
                    </a:solidFill>
                    <a:effectLst/>
                    <a:latin typeface="quote-cjk-patch"/>
                  </a:rPr>
                  <a:t>迭代</a:t>
                </a:r>
                <a:r>
                  <a:rPr lang="zh-CN" altLang="en-US" sz="1600" b="0" i="0" dirty="0">
                    <a:solidFill>
                      <a:schemeClr val="tx1"/>
                    </a:solidFill>
                    <a:effectLst/>
                    <a:latin typeface="quote-cjk-patch"/>
                  </a:rPr>
                  <a:t>进去一个维度，整个模型和算法都要</a:t>
                </a:r>
                <a:r>
                  <a:rPr lang="zh-CN" altLang="en-US" sz="2000" b="1" i="0" dirty="0">
                    <a:solidFill>
                      <a:srgbClr val="00D4FF"/>
                    </a:solidFill>
                    <a:effectLst/>
                    <a:latin typeface="quote-cjk-patch"/>
                  </a:rPr>
                  <a:t>全局重调</a:t>
                </a:r>
                <a:r>
                  <a:rPr kumimoji="0" lang="zh-CN" altLang="en-US" b="0" i="0" u="none" strike="noStrike" kern="1200" cap="none" spc="0" normalizeH="0" baseline="0" noProof="0" dirty="0">
                    <a:ln>
                      <a:noFill/>
                    </a:ln>
                    <a:solidFill>
                      <a:schemeClr val="tx1"/>
                    </a:solidFill>
                    <a:effectLst/>
                    <a:uLnTx/>
                    <a:uFillTx/>
                    <a:latin typeface="+mn-ea"/>
                    <a:cs typeface="+mn-cs"/>
                  </a:rPr>
                  <a:t>。</a:t>
                </a:r>
                <a:endParaRPr kumimoji="0" lang="en-GB" altLang="zh-CN" sz="1400" b="0" i="0" u="none" strike="noStrike" kern="1200" cap="none" spc="0" normalizeH="0" baseline="0" noProof="0" dirty="0">
                  <a:ln>
                    <a:noFill/>
                  </a:ln>
                  <a:solidFill>
                    <a:schemeClr val="tx1"/>
                  </a:solidFill>
                  <a:effectLst/>
                  <a:uLnTx/>
                  <a:uFillTx/>
                  <a:latin typeface="+mn-ea"/>
                  <a:cs typeface="+mn-cs"/>
                </a:endParaRPr>
              </a:p>
            </p:txBody>
          </p:sp>
        </p:grpSp>
        <p:grpSp>
          <p:nvGrpSpPr>
            <p:cNvPr id="7" name="组合 6">
              <a:extLst>
                <a:ext uri="{FF2B5EF4-FFF2-40B4-BE49-F238E27FC236}">
                  <a16:creationId xmlns:a16="http://schemas.microsoft.com/office/drawing/2014/main" id="{4F5C0406-69F1-E161-F511-3EC0558126FA}"/>
                </a:ext>
              </a:extLst>
            </p:cNvPr>
            <p:cNvGrpSpPr/>
            <p:nvPr/>
          </p:nvGrpSpPr>
          <p:grpSpPr>
            <a:xfrm>
              <a:off x="666750" y="3091111"/>
              <a:ext cx="3566438" cy="2138694"/>
              <a:chOff x="4389558" y="688359"/>
              <a:chExt cx="3566438" cy="2138694"/>
            </a:xfrm>
          </p:grpSpPr>
          <p:sp>
            <p:nvSpPr>
              <p:cNvPr id="8" name="2">
                <a:extLst>
                  <a:ext uri="{FF2B5EF4-FFF2-40B4-BE49-F238E27FC236}">
                    <a16:creationId xmlns:a16="http://schemas.microsoft.com/office/drawing/2014/main" id="{F728B76E-BE79-2716-0975-BF7BA4901144}"/>
                  </a:ext>
                </a:extLst>
              </p:cNvPr>
              <p:cNvSpPr/>
              <p:nvPr/>
            </p:nvSpPr>
            <p:spPr>
              <a:xfrm>
                <a:off x="4389559" y="691606"/>
                <a:ext cx="3566437" cy="2135447"/>
              </a:xfrm>
              <a:prstGeom prst="roundRect">
                <a:avLst>
                  <a:gd name="adj" fmla="val 0"/>
                </a:avLst>
              </a:prstGeom>
              <a:solidFill>
                <a:schemeClr val="bg1"/>
              </a:solidFill>
              <a:ln>
                <a:noFill/>
              </a:ln>
              <a:effectLst>
                <a:outerShdw blurRad="88900" dist="88900" dir="5400000" algn="t" rotWithShape="0">
                  <a:schemeClr val="accent2">
                    <a:lumMod val="20000"/>
                    <a:lumOff val="8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1"/>
                  </a:solidFill>
                  <a:latin typeface="+mn-ea"/>
                  <a:cs typeface="+mn-ea"/>
                  <a:sym typeface="+mn-lt"/>
                </a:endParaRPr>
              </a:p>
            </p:txBody>
          </p:sp>
          <p:sp>
            <p:nvSpPr>
              <p:cNvPr id="9" name="2">
                <a:extLst>
                  <a:ext uri="{FF2B5EF4-FFF2-40B4-BE49-F238E27FC236}">
                    <a16:creationId xmlns:a16="http://schemas.microsoft.com/office/drawing/2014/main" id="{64BA3445-4178-266A-9BDF-0213F705E7A4}"/>
                  </a:ext>
                </a:extLst>
              </p:cNvPr>
              <p:cNvSpPr/>
              <p:nvPr/>
            </p:nvSpPr>
            <p:spPr>
              <a:xfrm>
                <a:off x="4389558" y="688359"/>
                <a:ext cx="154805" cy="2135446"/>
              </a:xfrm>
              <a:prstGeom prst="rect">
                <a:avLst/>
              </a:prstGeom>
              <a:gradFill>
                <a:gsLst>
                  <a:gs pos="7000">
                    <a:schemeClr val="accent2"/>
                  </a:gs>
                  <a:gs pos="99000">
                    <a:schemeClr val="accent2">
                      <a:lumMod val="60000"/>
                      <a:lumOff val="40000"/>
                    </a:schemeClr>
                  </a:gs>
                </a:gsLst>
                <a:lin ang="5400000" scaled="1"/>
              </a:gradFill>
              <a:ln w="25400" cap="flat">
                <a:noFill/>
                <a:prstDash val="solid"/>
                <a:miter/>
              </a:ln>
              <a:effectLst>
                <a:outerShdw blurRad="63500" dist="38100" dir="2700000" algn="tl" rotWithShape="0">
                  <a:schemeClr val="accent2">
                    <a:alpha val="40000"/>
                  </a:schemeClr>
                </a:outerShdw>
              </a:effectLst>
            </p:spPr>
            <p:txBody>
              <a:bodyPr wrap="none" rtlCol="0" anchor="ctr"/>
              <a:lstStyle/>
              <a:p>
                <a:pPr algn="ctr"/>
                <a:endParaRPr lang="en-US" altLang="zh-CN" b="1" dirty="0">
                  <a:latin typeface="+mn-ea"/>
                  <a:cs typeface="+mn-ea"/>
                  <a:sym typeface="+mn-lt"/>
                </a:endParaRPr>
              </a:p>
            </p:txBody>
          </p:sp>
          <p:sp>
            <p:nvSpPr>
              <p:cNvPr id="10" name="Index-2">
                <a:extLst>
                  <a:ext uri="{FF2B5EF4-FFF2-40B4-BE49-F238E27FC236}">
                    <a16:creationId xmlns:a16="http://schemas.microsoft.com/office/drawing/2014/main" id="{4D6424B3-747A-5B6A-7753-A7BFBE2E8702}"/>
                  </a:ext>
                </a:extLst>
              </p:cNvPr>
              <p:cNvSpPr txBox="1"/>
              <p:nvPr>
                <p:custDataLst>
                  <p:tags r:id="rId2"/>
                </p:custDataLst>
              </p:nvPr>
            </p:nvSpPr>
            <p:spPr>
              <a:xfrm>
                <a:off x="4550799" y="1389568"/>
                <a:ext cx="289774" cy="646331"/>
              </a:xfrm>
              <a:prstGeom prst="rect">
                <a:avLst/>
              </a:prstGeom>
              <a:noFill/>
            </p:spPr>
            <p:txBody>
              <a:bodyPr wrap="none" lIns="91440" tIns="45720" rIns="91440" bIns="45720" rtlCol="0" anchor="ctr" anchorCtr="0">
                <a:spAutoFit/>
              </a:bodyPr>
              <a:lstStyle>
                <a:defPPr>
                  <a:defRPr lang="zh-CN"/>
                </a:defPPr>
                <a:lvl1pPr algn="ctr">
                  <a:defRPr kumimoji="1" sz="6000" b="1">
                    <a:solidFill>
                      <a:schemeClr val="accent1"/>
                    </a:solidFill>
                    <a:effectLst>
                      <a:outerShdw blurRad="127000" dist="63500" dir="2700000" algn="ctr" rotWithShape="0">
                        <a:schemeClr val="accent1">
                          <a:alpha val="40000"/>
                        </a:schemeClr>
                      </a:outerShdw>
                    </a:effectLst>
                    <a:latin typeface="Arial" panose="020B0604020202020204" pitchFamily="34" charset="0"/>
                    <a:ea typeface="Microsoft YaHei" panose="020B0503020204020204" pitchFamily="34" charset="-122"/>
                  </a:defRPr>
                </a:lvl1pPr>
              </a:lstStyle>
              <a:p>
                <a:r>
                  <a:rPr lang="en-US" altLang="zh-CN" sz="3600" dirty="0">
                    <a:solidFill>
                      <a:schemeClr val="tx1"/>
                    </a:solidFill>
                    <a:effectLst>
                      <a:outerShdw blurRad="127000" dist="63500" dir="2700000" algn="ctr" rotWithShape="0">
                        <a:schemeClr val="accent2">
                          <a:alpha val="40000"/>
                        </a:schemeClr>
                      </a:outerShdw>
                    </a:effectLst>
                    <a:latin typeface="+mn-ea"/>
                    <a:ea typeface="+mn-ea"/>
                    <a:cs typeface="+mn-ea"/>
                    <a:sym typeface="+mn-lt"/>
                  </a:rPr>
                  <a:t>02</a:t>
                </a:r>
                <a:endParaRPr lang="zh-CN" altLang="en-US" sz="3600" dirty="0">
                  <a:solidFill>
                    <a:schemeClr val="tx1"/>
                  </a:solidFill>
                  <a:effectLst>
                    <a:outerShdw blurRad="127000" dist="63500" dir="2700000" algn="ctr" rotWithShape="0">
                      <a:schemeClr val="accent2">
                        <a:alpha val="40000"/>
                      </a:schemeClr>
                    </a:outerShdw>
                  </a:effectLst>
                  <a:latin typeface="+mn-ea"/>
                  <a:ea typeface="+mn-ea"/>
                  <a:cs typeface="+mn-ea"/>
                  <a:sym typeface="+mn-lt"/>
                </a:endParaRPr>
              </a:p>
            </p:txBody>
          </p:sp>
          <p:sp>
            <p:nvSpPr>
              <p:cNvPr id="11" name="Title-2">
                <a:extLst>
                  <a:ext uri="{FF2B5EF4-FFF2-40B4-BE49-F238E27FC236}">
                    <a16:creationId xmlns:a16="http://schemas.microsoft.com/office/drawing/2014/main" id="{C55580A4-51E0-29BA-C867-1703562524E4}"/>
                  </a:ext>
                </a:extLst>
              </p:cNvPr>
              <p:cNvSpPr txBox="1"/>
              <p:nvPr>
                <p:custDataLst>
                  <p:tags r:id="rId3"/>
                </p:custDataLst>
              </p:nvPr>
            </p:nvSpPr>
            <p:spPr>
              <a:xfrm>
                <a:off x="4913127" y="727720"/>
                <a:ext cx="2861633" cy="1496757"/>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b="0" i="0" dirty="0">
                    <a:solidFill>
                      <a:schemeClr val="tx2"/>
                    </a:solidFill>
                    <a:effectLst/>
                    <a:latin typeface="+mn-ea"/>
                  </a:rPr>
                  <a:t>先干什么、后干什么，</a:t>
                </a:r>
                <a:r>
                  <a:rPr lang="zh-CN" altLang="en-US" sz="2000" b="1" i="0" dirty="0">
                    <a:solidFill>
                      <a:srgbClr val="00D4FF"/>
                    </a:solidFill>
                    <a:effectLst/>
                    <a:latin typeface="+mn-ea"/>
                  </a:rPr>
                  <a:t>不是线性步骤，是一套组合拳。</a:t>
                </a:r>
                <a:br>
                  <a:rPr lang="zh-CN" altLang="en-US" sz="2000" b="1" dirty="0">
                    <a:solidFill>
                      <a:srgbClr val="00D4FF"/>
                    </a:solidFill>
                    <a:latin typeface="+mn-ea"/>
                  </a:rPr>
                </a:br>
                <a:r>
                  <a:rPr lang="zh-CN" altLang="en-US" sz="1600" b="0" i="0" dirty="0">
                    <a:effectLst/>
                    <a:latin typeface="quote-cjk-patch"/>
                  </a:rPr>
                  <a:t>每一步都互为前提，交织推进。顺序不是规划出来的，是</a:t>
                </a:r>
                <a:r>
                  <a:rPr lang="zh-CN" altLang="en-US" sz="2000" b="1" i="0" dirty="0">
                    <a:solidFill>
                      <a:srgbClr val="00D4FF"/>
                    </a:solidFill>
                    <a:effectLst/>
                    <a:latin typeface="quote-cjk-patch"/>
                  </a:rPr>
                  <a:t>在不断模拟和治理中收敛出来的</a:t>
                </a:r>
                <a:r>
                  <a:rPr lang="zh-CN" altLang="en-US" sz="1600" b="0" i="0" dirty="0">
                    <a:effectLst/>
                    <a:latin typeface="quote-cjk-patch"/>
                  </a:rPr>
                  <a:t>。</a:t>
                </a:r>
                <a:br>
                  <a:rPr lang="zh-CN" altLang="en-US" sz="1600" dirty="0"/>
                </a:br>
                <a:r>
                  <a:rPr lang="zh-CN" altLang="en-US" sz="1600" b="0" i="0" dirty="0">
                    <a:effectLst/>
                    <a:latin typeface="quote-cjk-patch"/>
                  </a:rPr>
                  <a:t>联想</a:t>
                </a:r>
                <a:r>
                  <a:rPr lang="en-US" altLang="zh-CN" sz="1600" b="0" i="0" dirty="0">
                    <a:effectLst/>
                    <a:latin typeface="quote-cjk-patch"/>
                  </a:rPr>
                  <a:t>IPS</a:t>
                </a:r>
                <a:r>
                  <a:rPr lang="zh-CN" altLang="en-US" sz="1600" b="0" i="0" dirty="0">
                    <a:effectLst/>
                    <a:latin typeface="quote-cjk-patch"/>
                  </a:rPr>
                  <a:t>用了十三年才形成“</a:t>
                </a:r>
                <a:r>
                  <a:rPr lang="en-US" altLang="zh-CN" sz="1600" b="0" i="0" dirty="0">
                    <a:effectLst/>
                    <a:latin typeface="quote-cjk-patch"/>
                  </a:rPr>
                  <a:t>One Plan”</a:t>
                </a:r>
                <a:r>
                  <a:rPr lang="zh-CN" altLang="en-US" sz="1600" b="0" i="0" dirty="0">
                    <a:effectLst/>
                    <a:latin typeface="quote-cjk-patch"/>
                  </a:rPr>
                  <a:t>，我用了二十二年才完成</a:t>
                </a:r>
                <a:r>
                  <a:rPr lang="en-US" altLang="zh-CN" sz="1600" b="0" i="0" dirty="0">
                    <a:effectLst/>
                    <a:latin typeface="quote-cjk-patch"/>
                  </a:rPr>
                  <a:t>IPC</a:t>
                </a:r>
                <a:r>
                  <a:rPr lang="zh-CN" altLang="en-US" sz="1600" b="0" i="0" dirty="0">
                    <a:effectLst/>
                    <a:latin typeface="quote-cjk-patch"/>
                  </a:rPr>
                  <a:t>。不是代码难写，是</a:t>
                </a:r>
                <a:r>
                  <a:rPr lang="zh-CN" altLang="en-US" sz="2000" b="1" i="0" dirty="0">
                    <a:solidFill>
                      <a:srgbClr val="00D4FF"/>
                    </a:solidFill>
                    <a:effectLst/>
                    <a:latin typeface="quote-cjk-patch"/>
                  </a:rPr>
                  <a:t>耦合太深</a:t>
                </a:r>
                <a:r>
                  <a:rPr lang="zh-CN" altLang="en-US" sz="1600" b="0" i="0" dirty="0">
                    <a:effectLst/>
                    <a:latin typeface="quote-cjk-patch"/>
                  </a:rPr>
                  <a:t>。</a:t>
                </a:r>
                <a:br>
                  <a:rPr lang="zh-CN" altLang="en-US" sz="1600" dirty="0"/>
                </a:br>
                <a:r>
                  <a:rPr lang="zh-CN" altLang="en-US" sz="1600" b="0" i="0" dirty="0">
                    <a:effectLst/>
                    <a:latin typeface="quote-cjk-patch"/>
                  </a:rPr>
                  <a:t>模拟一次，发现一个约束；治理一次，发现一个缺口。反复模拟、反复治理，正确的组合顺序才浮出水面。</a:t>
                </a:r>
                <a:br>
                  <a:rPr lang="zh-CN" altLang="en-US" sz="1600" dirty="0"/>
                </a:br>
                <a:r>
                  <a:rPr lang="zh-CN" altLang="en-US" sz="1600" b="0" i="0" dirty="0">
                    <a:effectLst/>
                    <a:latin typeface="quote-cjk-patch"/>
                  </a:rPr>
                  <a:t>试出来之后，才能工程化，学习和实现的</a:t>
                </a:r>
                <a:r>
                  <a:rPr lang="zh-CN" altLang="en-US" sz="2000" b="1" i="0" dirty="0">
                    <a:solidFill>
                      <a:srgbClr val="00D4FF"/>
                    </a:solidFill>
                    <a:effectLst/>
                    <a:latin typeface="quote-cjk-patch"/>
                  </a:rPr>
                  <a:t>周期</a:t>
                </a:r>
                <a:r>
                  <a:rPr lang="zh-CN" altLang="en-US" sz="1600" b="0" i="0" dirty="0">
                    <a:effectLst/>
                    <a:latin typeface="quote-cjk-patch"/>
                  </a:rPr>
                  <a:t>才能</a:t>
                </a:r>
                <a:r>
                  <a:rPr lang="zh-CN" altLang="en-US" sz="2000" b="1" i="0" dirty="0">
                    <a:solidFill>
                      <a:srgbClr val="00D4FF"/>
                    </a:solidFill>
                    <a:effectLst/>
                    <a:latin typeface="quote-cjk-patch"/>
                  </a:rPr>
                  <a:t>折叠</a:t>
                </a:r>
                <a:r>
                  <a:rPr kumimoji="0" lang="zh-CN" altLang="en-US" sz="1600" b="1" i="0" u="none" strike="noStrike" kern="0" cap="none" spc="0" normalizeH="0" baseline="0" noProof="0" dirty="0">
                    <a:ln>
                      <a:noFill/>
                    </a:ln>
                    <a:solidFill>
                      <a:schemeClr val="tx2"/>
                    </a:solidFill>
                    <a:effectLst/>
                    <a:uLnTx/>
                    <a:uFillTx/>
                    <a:latin typeface="+mn-ea"/>
                  </a:rPr>
                  <a:t>。</a:t>
                </a:r>
              </a:p>
            </p:txBody>
          </p:sp>
          <p:sp>
            <p:nvSpPr>
              <p:cNvPr id="12" name="Body-2">
                <a:extLst>
                  <a:ext uri="{FF2B5EF4-FFF2-40B4-BE49-F238E27FC236}">
                    <a16:creationId xmlns:a16="http://schemas.microsoft.com/office/drawing/2014/main" id="{76929F3B-1ACE-1324-3D54-51A20365DA08}"/>
                  </a:ext>
                </a:extLst>
              </p:cNvPr>
              <p:cNvSpPr/>
              <p:nvPr>
                <p:custDataLst>
                  <p:tags r:id="rId4"/>
                </p:custDataLst>
              </p:nvPr>
            </p:nvSpPr>
            <p:spPr>
              <a:xfrm>
                <a:off x="5321584" y="1627150"/>
                <a:ext cx="2455200" cy="1141823"/>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defRPr/>
                </a:pPr>
                <a:endParaRPr kumimoji="0" lang="en-GB" altLang="zh-CN" sz="1400" b="0" i="0" u="none" strike="noStrike" kern="1200" cap="none" spc="0" normalizeH="0" baseline="0" noProof="0" dirty="0">
                  <a:ln>
                    <a:noFill/>
                  </a:ln>
                  <a:solidFill>
                    <a:schemeClr val="tx1"/>
                  </a:solidFill>
                  <a:effectLst/>
                  <a:uLnTx/>
                  <a:uFillTx/>
                  <a:latin typeface="+mn-ea"/>
                  <a:cs typeface="+mn-cs"/>
                </a:endParaRPr>
              </a:p>
            </p:txBody>
          </p:sp>
        </p:grpSp>
      </p:grpSp>
      <p:sp>
        <p:nvSpPr>
          <p:cNvPr id="19" name="文本框 18">
            <a:extLst>
              <a:ext uri="{FF2B5EF4-FFF2-40B4-BE49-F238E27FC236}">
                <a16:creationId xmlns:a16="http://schemas.microsoft.com/office/drawing/2014/main" id="{E3DC3CF5-BFA2-9CFF-F54F-CC5150E3587A}"/>
              </a:ext>
            </a:extLst>
          </p:cNvPr>
          <p:cNvSpPr txBox="1"/>
          <p:nvPr/>
        </p:nvSpPr>
        <p:spPr>
          <a:xfrm>
            <a:off x="2764971" y="5685260"/>
            <a:ext cx="6096000" cy="830997"/>
          </a:xfrm>
          <a:prstGeom prst="rect">
            <a:avLst/>
          </a:prstGeom>
          <a:noFill/>
        </p:spPr>
        <p:txBody>
          <a:bodyPr wrap="square">
            <a:spAutoFit/>
          </a:bodyPr>
          <a:lstStyle/>
          <a:p>
            <a:r>
              <a:rPr lang="zh-CN" altLang="en-US" b="0" i="0" dirty="0">
                <a:effectLst/>
                <a:latin typeface="quote-cjk-patch"/>
              </a:rPr>
              <a:t>不是设计难，是</a:t>
            </a:r>
            <a:r>
              <a:rPr lang="zh-CN" altLang="en-US" sz="2400" b="1" i="0" dirty="0">
                <a:solidFill>
                  <a:srgbClr val="00D4FF"/>
                </a:solidFill>
                <a:effectLst/>
                <a:latin typeface="quote-cjk-patch"/>
              </a:rPr>
              <a:t>耦合难</a:t>
            </a:r>
            <a:r>
              <a:rPr lang="zh-CN" altLang="en-US" b="0" i="0" dirty="0">
                <a:effectLst/>
                <a:latin typeface="quote-cjk-patch"/>
              </a:rPr>
              <a:t>。先干什么后干什么，</a:t>
            </a:r>
            <a:r>
              <a:rPr lang="zh-CN" altLang="en-US" sz="2400" b="1" i="0" dirty="0">
                <a:solidFill>
                  <a:srgbClr val="00D4FF"/>
                </a:solidFill>
                <a:effectLst/>
                <a:latin typeface="quote-cjk-patch"/>
              </a:rPr>
              <a:t>不是排好的步骤，是在迭代中收敛出来的组合</a:t>
            </a:r>
            <a:r>
              <a:rPr lang="zh-CN" altLang="en-US" b="0" i="0" dirty="0">
                <a:effectLst/>
                <a:latin typeface="quote-cjk-patch"/>
              </a:rPr>
              <a:t>。</a:t>
            </a:r>
            <a:endParaRPr lang="zh-CN" altLang="en-US" dirty="0"/>
          </a:p>
        </p:txBody>
      </p:sp>
    </p:spTree>
    <p:extLst>
      <p:ext uri="{BB962C8B-B14F-4D97-AF65-F5344CB8AC3E}">
        <p14:creationId xmlns:p14="http://schemas.microsoft.com/office/powerpoint/2010/main" val="399491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2C0E19-0BB3-1518-CA99-7AADF109CBF8}"/>
              </a:ext>
            </a:extLst>
          </p:cNvPr>
          <p:cNvSpPr>
            <a:spLocks noGrp="1"/>
          </p:cNvSpPr>
          <p:nvPr>
            <p:ph type="title"/>
          </p:nvPr>
        </p:nvSpPr>
        <p:spPr/>
        <p:txBody>
          <a:bodyPr/>
          <a:lstStyle/>
          <a:p>
            <a:r>
              <a:rPr lang="zh-CN" altLang="en-US" dirty="0"/>
              <a:t>方案论</a:t>
            </a:r>
            <a:r>
              <a:rPr lang="en-US" altLang="zh-CN" dirty="0"/>
              <a:t>——</a:t>
            </a:r>
            <a:r>
              <a:rPr lang="zh-CN" altLang="en-US" dirty="0"/>
              <a:t>业务不可分</a:t>
            </a:r>
          </a:p>
        </p:txBody>
      </p:sp>
      <p:graphicFrame>
        <p:nvGraphicFramePr>
          <p:cNvPr id="5" name="图示 4">
            <a:extLst>
              <a:ext uri="{FF2B5EF4-FFF2-40B4-BE49-F238E27FC236}">
                <a16:creationId xmlns:a16="http://schemas.microsoft.com/office/drawing/2014/main" id="{91D3E777-A37B-102B-C01B-39DA6C9F845C}"/>
              </a:ext>
            </a:extLst>
          </p:cNvPr>
          <p:cNvGraphicFramePr/>
          <p:nvPr>
            <p:extLst>
              <p:ext uri="{D42A27DB-BD31-4B8C-83A1-F6EECF244321}">
                <p14:modId xmlns:p14="http://schemas.microsoft.com/office/powerpoint/2010/main" val="400093012"/>
              </p:ext>
            </p:extLst>
          </p:nvPr>
        </p:nvGraphicFramePr>
        <p:xfrm>
          <a:off x="1306285" y="1197445"/>
          <a:ext cx="8708571" cy="3374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7" name="文本框 26">
            <a:extLst>
              <a:ext uri="{FF2B5EF4-FFF2-40B4-BE49-F238E27FC236}">
                <a16:creationId xmlns:a16="http://schemas.microsoft.com/office/drawing/2014/main" id="{052DA1BF-BA2A-4353-159A-07842653FA6C}"/>
              </a:ext>
            </a:extLst>
          </p:cNvPr>
          <p:cNvSpPr txBox="1"/>
          <p:nvPr/>
        </p:nvSpPr>
        <p:spPr>
          <a:xfrm>
            <a:off x="1534885" y="4872040"/>
            <a:ext cx="8479971" cy="1015663"/>
          </a:xfrm>
          <a:prstGeom prst="rect">
            <a:avLst/>
          </a:prstGeom>
          <a:noFill/>
        </p:spPr>
        <p:txBody>
          <a:bodyPr wrap="square">
            <a:spAutoFit/>
          </a:bodyPr>
          <a:lstStyle/>
          <a:p>
            <a:r>
              <a:rPr lang="zh-CN" altLang="en-US" dirty="0"/>
              <a:t>把业务拆成</a:t>
            </a:r>
            <a:r>
              <a:rPr lang="zh-CN" altLang="en-US" sz="2400" b="1" dirty="0">
                <a:solidFill>
                  <a:srgbClr val="00D4FF"/>
                </a:solidFill>
              </a:rPr>
              <a:t>碎片</a:t>
            </a:r>
            <a:r>
              <a:rPr lang="zh-CN" altLang="en-US" dirty="0"/>
              <a:t>各干各的</a:t>
            </a:r>
            <a:r>
              <a:rPr lang="en-US" altLang="zh-CN" dirty="0"/>
              <a:t>——</a:t>
            </a:r>
            <a:r>
              <a:rPr lang="zh-CN" altLang="en-US" dirty="0"/>
              <a:t>这不叫分工，叫</a:t>
            </a:r>
            <a:r>
              <a:rPr lang="zh-CN" altLang="en-US" sz="2400" b="1" dirty="0">
                <a:solidFill>
                  <a:srgbClr val="00D4FF"/>
                </a:solidFill>
              </a:rPr>
              <a:t>分尸</a:t>
            </a:r>
            <a:r>
              <a:rPr lang="zh-CN" altLang="en-US" dirty="0"/>
              <a:t>。</a:t>
            </a:r>
            <a:r>
              <a:rPr lang="zh-CN" altLang="en-US" sz="2400" b="1" dirty="0">
                <a:solidFill>
                  <a:srgbClr val="00D4FF"/>
                </a:solidFill>
              </a:rPr>
              <a:t>拆开</a:t>
            </a:r>
            <a:r>
              <a:rPr lang="zh-CN" altLang="en-US" dirty="0"/>
              <a:t>了，它就</a:t>
            </a:r>
            <a:r>
              <a:rPr lang="zh-CN" altLang="en-US" sz="2400" b="1" dirty="0">
                <a:solidFill>
                  <a:srgbClr val="00D4FF"/>
                </a:solidFill>
              </a:rPr>
              <a:t>死了</a:t>
            </a:r>
            <a:r>
              <a:rPr lang="zh-CN" altLang="en-US" dirty="0"/>
              <a:t>。</a:t>
            </a:r>
            <a:endParaRPr lang="en-US" altLang="zh-CN" dirty="0"/>
          </a:p>
          <a:p>
            <a:r>
              <a:rPr lang="zh-CN" altLang="en-US" b="0" i="0" dirty="0">
                <a:effectLst/>
                <a:latin typeface="quote-cjk-patch"/>
              </a:rPr>
              <a:t>业务不可分，所以设计权必须集中。这就是能力要回答的问题。</a:t>
            </a:r>
            <a:endParaRPr lang="en-US" altLang="zh-CN" dirty="0"/>
          </a:p>
          <a:p>
            <a:endParaRPr lang="zh-CN" altLang="en-US" dirty="0"/>
          </a:p>
        </p:txBody>
      </p:sp>
    </p:spTree>
    <p:extLst>
      <p:ext uri="{BB962C8B-B14F-4D97-AF65-F5344CB8AC3E}">
        <p14:creationId xmlns:p14="http://schemas.microsoft.com/office/powerpoint/2010/main" val="25761140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984236-E557-DCC8-5DAE-C1934E371B2C}"/>
              </a:ext>
            </a:extLst>
          </p:cNvPr>
          <p:cNvSpPr>
            <a:spLocks noGrp="1"/>
          </p:cNvSpPr>
          <p:nvPr>
            <p:ph type="title"/>
          </p:nvPr>
        </p:nvSpPr>
        <p:spPr/>
        <p:txBody>
          <a:bodyPr/>
          <a:lstStyle/>
          <a:p>
            <a:r>
              <a:rPr lang="zh-CN" altLang="en-US" dirty="0"/>
              <a:t>能力论</a:t>
            </a:r>
            <a:r>
              <a:rPr lang="en-US" altLang="zh-CN" dirty="0"/>
              <a:t>——</a:t>
            </a:r>
            <a:r>
              <a:rPr lang="zh-CN" altLang="en-US" dirty="0"/>
              <a:t>业务不可分，能力也不可分</a:t>
            </a:r>
          </a:p>
        </p:txBody>
      </p:sp>
      <p:sp>
        <p:nvSpPr>
          <p:cNvPr id="6" name="文本框 5">
            <a:extLst>
              <a:ext uri="{FF2B5EF4-FFF2-40B4-BE49-F238E27FC236}">
                <a16:creationId xmlns:a16="http://schemas.microsoft.com/office/drawing/2014/main" id="{67FD8AB7-99F1-B5E0-FC55-1C3D44288557}"/>
              </a:ext>
            </a:extLst>
          </p:cNvPr>
          <p:cNvSpPr txBox="1"/>
          <p:nvPr/>
        </p:nvSpPr>
        <p:spPr>
          <a:xfrm>
            <a:off x="2841172" y="5032313"/>
            <a:ext cx="6096000" cy="461665"/>
          </a:xfrm>
          <a:prstGeom prst="rect">
            <a:avLst/>
          </a:prstGeom>
          <a:noFill/>
        </p:spPr>
        <p:txBody>
          <a:bodyPr wrap="square">
            <a:spAutoFit/>
          </a:bodyPr>
          <a:lstStyle/>
          <a:p>
            <a:r>
              <a:rPr lang="zh-CN" altLang="en-US" sz="2400" b="1" dirty="0">
                <a:solidFill>
                  <a:srgbClr val="00D4FF"/>
                </a:solidFill>
              </a:rPr>
              <a:t>业务不可分，所以能力也不可分。</a:t>
            </a:r>
          </a:p>
        </p:txBody>
      </p:sp>
      <p:grpSp>
        <p:nvGrpSpPr>
          <p:cNvPr id="7" name="组合 6">
            <a:extLst>
              <a:ext uri="{FF2B5EF4-FFF2-40B4-BE49-F238E27FC236}">
                <a16:creationId xmlns:a16="http://schemas.microsoft.com/office/drawing/2014/main" id="{7428846C-54B3-C14E-4753-6CAD36BBF1C3}"/>
              </a:ext>
            </a:extLst>
          </p:cNvPr>
          <p:cNvGrpSpPr>
            <a:grpSpLocks noChangeAspect="1"/>
          </p:cNvGrpSpPr>
          <p:nvPr>
            <p:custDataLst>
              <p:tags r:id="rId1"/>
            </p:custDataLst>
          </p:nvPr>
        </p:nvGrpSpPr>
        <p:grpSpPr>
          <a:xfrm>
            <a:off x="783771" y="1232529"/>
            <a:ext cx="10493829" cy="2887713"/>
            <a:chOff x="1803400" y="1087819"/>
            <a:chExt cx="8585200" cy="2247534"/>
          </a:xfrm>
        </p:grpSpPr>
        <p:grpSp>
          <p:nvGrpSpPr>
            <p:cNvPr id="8" name="组合 7">
              <a:extLst>
                <a:ext uri="{FF2B5EF4-FFF2-40B4-BE49-F238E27FC236}">
                  <a16:creationId xmlns:a16="http://schemas.microsoft.com/office/drawing/2014/main" id="{39A7DE3F-2C89-1B35-3B0D-8A171A042107}"/>
                </a:ext>
              </a:extLst>
            </p:cNvPr>
            <p:cNvGrpSpPr/>
            <p:nvPr/>
          </p:nvGrpSpPr>
          <p:grpSpPr>
            <a:xfrm>
              <a:off x="1803400" y="1087819"/>
              <a:ext cx="8585200" cy="624315"/>
              <a:chOff x="660400" y="1059498"/>
              <a:chExt cx="8585200" cy="624315"/>
            </a:xfrm>
          </p:grpSpPr>
          <p:sp>
            <p:nvSpPr>
              <p:cNvPr id="19" name="1">
                <a:extLst>
                  <a:ext uri="{FF2B5EF4-FFF2-40B4-BE49-F238E27FC236}">
                    <a16:creationId xmlns:a16="http://schemas.microsoft.com/office/drawing/2014/main" id="{CFE33B5A-3840-F678-2C5D-A8E86509D989}"/>
                  </a:ext>
                </a:extLst>
              </p:cNvPr>
              <p:cNvSpPr/>
              <p:nvPr>
                <p:custDataLst>
                  <p:tags r:id="rId8"/>
                </p:custDataLst>
              </p:nvPr>
            </p:nvSpPr>
            <p:spPr>
              <a:xfrm>
                <a:off x="1514764" y="1060315"/>
                <a:ext cx="7730836" cy="622681"/>
              </a:xfrm>
              <a:prstGeom prst="roundRect">
                <a:avLst>
                  <a:gd name="adj" fmla="val 50000"/>
                </a:avLst>
              </a:prstGeom>
              <a:noFill/>
              <a:ln w="3175">
                <a:noFill/>
              </a:ln>
              <a:effectLst>
                <a:outerShdw blurRad="254000" dist="1270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2772000" tIns="64452" rIns="120292" bIns="6445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l" rtl="0" eaLnBrk="1" latinLnBrk="0" hangingPunct="1">
                  <a:lnSpc>
                    <a:spcPct val="130000"/>
                  </a:lnSpc>
                  <a:spcBef>
                    <a:spcPts val="0"/>
                  </a:spcBef>
                  <a:spcAft>
                    <a:spcPts val="0"/>
                  </a:spcAft>
                </a:pPr>
                <a:endParaRPr lang="zh-CN" altLang="zh-CN" dirty="0">
                  <a:solidFill>
                    <a:schemeClr val="tx1"/>
                  </a:solidFill>
                  <a:effectLst/>
                  <a:latin typeface="+mn-ea"/>
                  <a:cs typeface="+mn-ea"/>
                  <a:sym typeface="+mn-ea"/>
                </a:endParaRPr>
              </a:p>
            </p:txBody>
          </p:sp>
          <p:sp>
            <p:nvSpPr>
              <p:cNvPr id="20" name="Index-1">
                <a:extLst>
                  <a:ext uri="{FF2B5EF4-FFF2-40B4-BE49-F238E27FC236}">
                    <a16:creationId xmlns:a16="http://schemas.microsoft.com/office/drawing/2014/main" id="{8C534377-F887-DB5E-52E9-3ED4E16E1D74}"/>
                  </a:ext>
                </a:extLst>
              </p:cNvPr>
              <p:cNvSpPr/>
              <p:nvPr>
                <p:custDataLst>
                  <p:tags r:id="rId9"/>
                </p:custDataLst>
              </p:nvPr>
            </p:nvSpPr>
            <p:spPr>
              <a:xfrm>
                <a:off x="660400" y="1059498"/>
                <a:ext cx="624315" cy="624315"/>
              </a:xfrm>
              <a:prstGeom prst="ellipse">
                <a:avLst/>
              </a:pr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a:solidFill>
                      <a:schemeClr val="tx1"/>
                    </a:solidFill>
                  </a:rPr>
                  <a:t>1</a:t>
                </a:r>
                <a:endParaRPr lang="zh-CN" altLang="en-US" sz="2000" b="1" dirty="0">
                  <a:solidFill>
                    <a:schemeClr val="tx1"/>
                  </a:solidFill>
                </a:endParaRPr>
              </a:p>
            </p:txBody>
          </p:sp>
          <p:sp>
            <p:nvSpPr>
              <p:cNvPr id="21" name="Title-1">
                <a:extLst>
                  <a:ext uri="{FF2B5EF4-FFF2-40B4-BE49-F238E27FC236}">
                    <a16:creationId xmlns:a16="http://schemas.microsoft.com/office/drawing/2014/main" id="{E380A44C-90B5-4638-0C9B-427F3D1987D5}"/>
                  </a:ext>
                </a:extLst>
              </p:cNvPr>
              <p:cNvSpPr txBox="1"/>
              <p:nvPr>
                <p:custDataLst>
                  <p:tags r:id="rId10"/>
                </p:custDataLst>
              </p:nvPr>
            </p:nvSpPr>
            <p:spPr>
              <a:xfrm>
                <a:off x="1718800" y="1186989"/>
                <a:ext cx="6158830" cy="369332"/>
              </a:xfrm>
              <a:prstGeom prst="rect">
                <a:avLst/>
              </a:prstGeom>
              <a:noFill/>
            </p:spPr>
            <p:txBody>
              <a:bodyPr wrap="square" rtlCol="0">
                <a:noAutofit/>
              </a:bodyPr>
              <a:lstStyle/>
              <a:p>
                <a:r>
                  <a:rPr lang="zh-CN" altLang="en-US" sz="2000" b="1" dirty="0">
                    <a:latin typeface="Arial" panose="020B0604020202020204" pitchFamily="34" charset="0"/>
                    <a:ea typeface="微软雅黑" panose="020B0503020204020204" pitchFamily="34" charset="-122"/>
                  </a:rPr>
                  <a:t>方案论已经推出：业务 </a:t>
                </a:r>
                <a:r>
                  <a:rPr lang="en-US" altLang="zh-CN" sz="2000" b="1" dirty="0">
                    <a:latin typeface="Arial" panose="020B0604020202020204" pitchFamily="34" charset="0"/>
                    <a:ea typeface="微软雅黑" panose="020B0503020204020204" pitchFamily="34" charset="-122"/>
                  </a:rPr>
                  <a:t>= </a:t>
                </a:r>
                <a:r>
                  <a:rPr lang="zh-CN" altLang="en-US" sz="2000" b="1" dirty="0">
                    <a:latin typeface="Arial" panose="020B0604020202020204" pitchFamily="34" charset="0"/>
                    <a:ea typeface="微软雅黑" panose="020B0503020204020204" pitchFamily="34" charset="-122"/>
                  </a:rPr>
                  <a:t>数据模型 </a:t>
                </a:r>
                <a:r>
                  <a:rPr lang="en-US" altLang="zh-CN" sz="2000" b="1" dirty="0">
                    <a:latin typeface="Arial" panose="020B0604020202020204" pitchFamily="34" charset="0"/>
                    <a:ea typeface="微软雅黑" panose="020B0503020204020204" pitchFamily="34" charset="-122"/>
                  </a:rPr>
                  <a:t>+ </a:t>
                </a:r>
                <a:r>
                  <a:rPr lang="zh-CN" altLang="en-US" sz="2000" b="1" dirty="0">
                    <a:latin typeface="Arial" panose="020B0604020202020204" pitchFamily="34" charset="0"/>
                    <a:ea typeface="微软雅黑" panose="020B0503020204020204" pitchFamily="34" charset="-122"/>
                  </a:rPr>
                  <a:t>业务算法。</a:t>
                </a:r>
              </a:p>
            </p:txBody>
          </p:sp>
        </p:grpSp>
        <p:grpSp>
          <p:nvGrpSpPr>
            <p:cNvPr id="9" name="组合 8">
              <a:extLst>
                <a:ext uri="{FF2B5EF4-FFF2-40B4-BE49-F238E27FC236}">
                  <a16:creationId xmlns:a16="http://schemas.microsoft.com/office/drawing/2014/main" id="{056FC3E8-9276-5C8B-9C1A-D39D9D5AEEE2}"/>
                </a:ext>
              </a:extLst>
            </p:cNvPr>
            <p:cNvGrpSpPr/>
            <p:nvPr/>
          </p:nvGrpSpPr>
          <p:grpSpPr>
            <a:xfrm>
              <a:off x="1803400" y="1899428"/>
              <a:ext cx="8585200" cy="624315"/>
              <a:chOff x="660400" y="1059498"/>
              <a:chExt cx="8585200" cy="624315"/>
            </a:xfrm>
          </p:grpSpPr>
          <p:sp>
            <p:nvSpPr>
              <p:cNvPr id="15" name="2">
                <a:extLst>
                  <a:ext uri="{FF2B5EF4-FFF2-40B4-BE49-F238E27FC236}">
                    <a16:creationId xmlns:a16="http://schemas.microsoft.com/office/drawing/2014/main" id="{260A9FEF-0C52-61B1-262C-F6E36F1D2382}"/>
                  </a:ext>
                </a:extLst>
              </p:cNvPr>
              <p:cNvSpPr/>
              <p:nvPr>
                <p:custDataLst>
                  <p:tags r:id="rId5"/>
                </p:custDataLst>
              </p:nvPr>
            </p:nvSpPr>
            <p:spPr>
              <a:xfrm>
                <a:off x="1514764" y="1060315"/>
                <a:ext cx="7730836" cy="622681"/>
              </a:xfrm>
              <a:prstGeom prst="roundRect">
                <a:avLst>
                  <a:gd name="adj" fmla="val 50000"/>
                </a:avLst>
              </a:prstGeom>
              <a:noFill/>
              <a:ln w="3175">
                <a:noFill/>
              </a:ln>
              <a:effectLst>
                <a:outerShdw blurRad="254000" dist="1270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2772000" tIns="64452" rIns="120292" bIns="6445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l" rtl="0" eaLnBrk="1" latinLnBrk="0" hangingPunct="1">
                  <a:lnSpc>
                    <a:spcPct val="130000"/>
                  </a:lnSpc>
                  <a:spcBef>
                    <a:spcPts val="0"/>
                  </a:spcBef>
                  <a:spcAft>
                    <a:spcPts val="0"/>
                  </a:spcAft>
                </a:pPr>
                <a:endParaRPr lang="zh-CN" altLang="zh-CN" dirty="0">
                  <a:solidFill>
                    <a:schemeClr val="tx1"/>
                  </a:solidFill>
                  <a:effectLst/>
                  <a:latin typeface="+mn-ea"/>
                  <a:cs typeface="+mn-ea"/>
                  <a:sym typeface="+mn-ea"/>
                </a:endParaRPr>
              </a:p>
            </p:txBody>
          </p:sp>
          <p:sp>
            <p:nvSpPr>
              <p:cNvPr id="16" name="Index-2">
                <a:extLst>
                  <a:ext uri="{FF2B5EF4-FFF2-40B4-BE49-F238E27FC236}">
                    <a16:creationId xmlns:a16="http://schemas.microsoft.com/office/drawing/2014/main" id="{551E81DE-57FC-4FD9-BD9B-86FBC85724B6}"/>
                  </a:ext>
                </a:extLst>
              </p:cNvPr>
              <p:cNvSpPr/>
              <p:nvPr>
                <p:custDataLst>
                  <p:tags r:id="rId6"/>
                </p:custDataLst>
              </p:nvPr>
            </p:nvSpPr>
            <p:spPr>
              <a:xfrm>
                <a:off x="660400" y="1059498"/>
                <a:ext cx="624315" cy="624315"/>
              </a:xfrm>
              <a:prstGeom prst="ellipse">
                <a:avLst/>
              </a:pr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2</a:t>
                </a:r>
                <a:endParaRPr lang="zh-CN" altLang="en-US" sz="2000" b="1" dirty="0">
                  <a:solidFill>
                    <a:schemeClr val="tx1"/>
                  </a:solidFill>
                </a:endParaRPr>
              </a:p>
            </p:txBody>
          </p:sp>
          <p:sp>
            <p:nvSpPr>
              <p:cNvPr id="17" name="Title-2">
                <a:extLst>
                  <a:ext uri="{FF2B5EF4-FFF2-40B4-BE49-F238E27FC236}">
                    <a16:creationId xmlns:a16="http://schemas.microsoft.com/office/drawing/2014/main" id="{F227B207-DD8D-036E-D23F-3396E6155564}"/>
                  </a:ext>
                </a:extLst>
              </p:cNvPr>
              <p:cNvSpPr txBox="1"/>
              <p:nvPr>
                <p:custDataLst>
                  <p:tags r:id="rId7"/>
                </p:custDataLst>
              </p:nvPr>
            </p:nvSpPr>
            <p:spPr>
              <a:xfrm>
                <a:off x="1718800" y="1138363"/>
                <a:ext cx="7329045" cy="369332"/>
              </a:xfrm>
              <a:prstGeom prst="rect">
                <a:avLst/>
              </a:prstGeom>
              <a:noFill/>
            </p:spPr>
            <p:txBody>
              <a:bodyPr wrap="square" rtlCol="0">
                <a:noAutofit/>
              </a:bodyPr>
              <a:lstStyle/>
              <a:p>
                <a:r>
                  <a:rPr lang="zh-CN" altLang="en-US" sz="2000" b="1" dirty="0">
                    <a:latin typeface="Arial" panose="020B0604020202020204" pitchFamily="34" charset="0"/>
                    <a:ea typeface="微软雅黑" panose="020B0503020204020204" pitchFamily="34" charset="-122"/>
                  </a:rPr>
                  <a:t>两者不是拼在一起的，它们本身就是业务。数据模型是业务的静态结构，业务算法是业务的动态演化。业务和模型，不可分。</a:t>
                </a:r>
              </a:p>
            </p:txBody>
          </p:sp>
        </p:grpSp>
        <p:grpSp>
          <p:nvGrpSpPr>
            <p:cNvPr id="10" name="组合 9">
              <a:extLst>
                <a:ext uri="{FF2B5EF4-FFF2-40B4-BE49-F238E27FC236}">
                  <a16:creationId xmlns:a16="http://schemas.microsoft.com/office/drawing/2014/main" id="{97E7657F-6C99-5851-BB8C-A19160925498}"/>
                </a:ext>
              </a:extLst>
            </p:cNvPr>
            <p:cNvGrpSpPr/>
            <p:nvPr/>
          </p:nvGrpSpPr>
          <p:grpSpPr>
            <a:xfrm>
              <a:off x="1803400" y="2711038"/>
              <a:ext cx="8585200" cy="624315"/>
              <a:chOff x="660400" y="1059498"/>
              <a:chExt cx="8585200" cy="624315"/>
            </a:xfrm>
          </p:grpSpPr>
          <p:sp>
            <p:nvSpPr>
              <p:cNvPr id="11" name="3">
                <a:extLst>
                  <a:ext uri="{FF2B5EF4-FFF2-40B4-BE49-F238E27FC236}">
                    <a16:creationId xmlns:a16="http://schemas.microsoft.com/office/drawing/2014/main" id="{8773D673-EA7F-191D-3A48-57DE19545E5C}"/>
                  </a:ext>
                </a:extLst>
              </p:cNvPr>
              <p:cNvSpPr/>
              <p:nvPr>
                <p:custDataLst>
                  <p:tags r:id="rId2"/>
                </p:custDataLst>
              </p:nvPr>
            </p:nvSpPr>
            <p:spPr>
              <a:xfrm>
                <a:off x="1514764" y="1060315"/>
                <a:ext cx="7730836" cy="622681"/>
              </a:xfrm>
              <a:prstGeom prst="roundRect">
                <a:avLst>
                  <a:gd name="adj" fmla="val 50000"/>
                </a:avLst>
              </a:prstGeom>
              <a:noFill/>
              <a:ln w="3175">
                <a:noFill/>
              </a:ln>
              <a:effectLst>
                <a:outerShdw blurRad="254000" dist="127000" dir="2700000" algn="tl"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2772000" tIns="64452" rIns="120292" bIns="6445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l" rtl="0" eaLnBrk="1" latinLnBrk="0" hangingPunct="1">
                  <a:lnSpc>
                    <a:spcPct val="130000"/>
                  </a:lnSpc>
                  <a:spcBef>
                    <a:spcPts val="0"/>
                  </a:spcBef>
                  <a:spcAft>
                    <a:spcPts val="0"/>
                  </a:spcAft>
                </a:pPr>
                <a:endParaRPr lang="zh-CN" altLang="zh-CN" dirty="0">
                  <a:solidFill>
                    <a:schemeClr val="tx1"/>
                  </a:solidFill>
                  <a:effectLst/>
                  <a:latin typeface="+mn-ea"/>
                  <a:cs typeface="+mn-ea"/>
                  <a:sym typeface="+mn-ea"/>
                </a:endParaRPr>
              </a:p>
            </p:txBody>
          </p:sp>
          <p:sp>
            <p:nvSpPr>
              <p:cNvPr id="12" name="Index-3">
                <a:extLst>
                  <a:ext uri="{FF2B5EF4-FFF2-40B4-BE49-F238E27FC236}">
                    <a16:creationId xmlns:a16="http://schemas.microsoft.com/office/drawing/2014/main" id="{5AED17EE-D78C-0476-D51E-48D9A69E410F}"/>
                  </a:ext>
                </a:extLst>
              </p:cNvPr>
              <p:cNvSpPr/>
              <p:nvPr>
                <p:custDataLst>
                  <p:tags r:id="rId3"/>
                </p:custDataLst>
              </p:nvPr>
            </p:nvSpPr>
            <p:spPr>
              <a:xfrm>
                <a:off x="660400" y="1059498"/>
                <a:ext cx="624315" cy="624315"/>
              </a:xfrm>
              <a:prstGeom prst="ellipse">
                <a:avLst/>
              </a:prstGeom>
              <a:gradFill>
                <a:gsLst>
                  <a:gs pos="0">
                    <a:schemeClr val="accent3"/>
                  </a:gs>
                  <a:gs pos="100000">
                    <a:schemeClr val="accent3">
                      <a:lumMod val="75000"/>
                    </a:schemeClr>
                  </a:gs>
                </a:gsLst>
                <a:lin ang="2700000" scaled="0"/>
              </a:gradFill>
              <a:ln>
                <a:noFill/>
              </a:ln>
              <a:effectLst>
                <a:outerShdw blurRad="254000" dist="127000" dir="2700000" algn="tl" rotWithShape="0">
                  <a:schemeClr val="accent3">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3</a:t>
                </a:r>
                <a:endParaRPr lang="zh-CN" altLang="en-US" sz="2000" b="1" dirty="0">
                  <a:solidFill>
                    <a:schemeClr val="tx1"/>
                  </a:solidFill>
                </a:endParaRPr>
              </a:p>
            </p:txBody>
          </p:sp>
          <p:sp>
            <p:nvSpPr>
              <p:cNvPr id="13" name="Title-3">
                <a:extLst>
                  <a:ext uri="{FF2B5EF4-FFF2-40B4-BE49-F238E27FC236}">
                    <a16:creationId xmlns:a16="http://schemas.microsoft.com/office/drawing/2014/main" id="{9D896C83-2667-8B75-6FB6-CD363ED56FC5}"/>
                  </a:ext>
                </a:extLst>
              </p:cNvPr>
              <p:cNvSpPr txBox="1"/>
              <p:nvPr>
                <p:custDataLst>
                  <p:tags r:id="rId4"/>
                </p:custDataLst>
              </p:nvPr>
            </p:nvSpPr>
            <p:spPr>
              <a:xfrm>
                <a:off x="1718800" y="1229351"/>
                <a:ext cx="7247402" cy="369332"/>
              </a:xfrm>
              <a:prstGeom prst="rect">
                <a:avLst/>
              </a:prstGeom>
              <a:noFill/>
            </p:spPr>
            <p:txBody>
              <a:bodyPr wrap="square" rtlCol="0">
                <a:noAutofit/>
              </a:bodyPr>
              <a:lstStyle/>
              <a:p>
                <a:r>
                  <a:rPr lang="zh-CN" altLang="en-US" sz="2000" b="1" dirty="0">
                    <a:latin typeface="Arial" panose="020B0604020202020204" pitchFamily="34" charset="0"/>
                    <a:ea typeface="微软雅黑" panose="020B0503020204020204" pitchFamily="34" charset="-122"/>
                  </a:rPr>
                  <a:t>既然业务和模型是一体的，那设计它的</a:t>
                </a:r>
                <a:r>
                  <a:rPr lang="zh-CN" altLang="en-US" sz="2400" b="1" dirty="0">
                    <a:solidFill>
                      <a:srgbClr val="00D4FF"/>
                    </a:solidFill>
                    <a:latin typeface="Arial" panose="020B0604020202020204" pitchFamily="34" charset="0"/>
                    <a:ea typeface="微软雅黑" panose="020B0503020204020204" pitchFamily="34" charset="-122"/>
                  </a:rPr>
                  <a:t>能力</a:t>
                </a:r>
                <a:r>
                  <a:rPr lang="zh-CN" altLang="en-US" sz="2000" b="1" dirty="0">
                    <a:latin typeface="Arial" panose="020B0604020202020204" pitchFamily="34" charset="0"/>
                    <a:ea typeface="微软雅黑" panose="020B0503020204020204" pitchFamily="34" charset="-122"/>
                  </a:rPr>
                  <a:t>，也</a:t>
                </a:r>
                <a:r>
                  <a:rPr lang="zh-CN" altLang="en-US" sz="2400" b="1" dirty="0">
                    <a:solidFill>
                      <a:srgbClr val="00D4FF"/>
                    </a:solidFill>
                    <a:latin typeface="Arial" panose="020B0604020202020204" pitchFamily="34" charset="0"/>
                    <a:ea typeface="微软雅黑" panose="020B0503020204020204" pitchFamily="34" charset="-122"/>
                  </a:rPr>
                  <a:t>必须是一体</a:t>
                </a:r>
                <a:r>
                  <a:rPr lang="zh-CN" altLang="en-US" sz="2000" b="1" dirty="0">
                    <a:latin typeface="Arial" panose="020B0604020202020204" pitchFamily="34" charset="0"/>
                    <a:ea typeface="微软雅黑" panose="020B0503020204020204" pitchFamily="34" charset="-122"/>
                  </a:rPr>
                  <a:t>的。</a:t>
                </a:r>
              </a:p>
            </p:txBody>
          </p:sp>
        </p:grpSp>
      </p:grpSp>
    </p:spTree>
    <p:extLst>
      <p:ext uri="{BB962C8B-B14F-4D97-AF65-F5344CB8AC3E}">
        <p14:creationId xmlns:p14="http://schemas.microsoft.com/office/powerpoint/2010/main" val="2228526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B1BA05-E0A4-1E25-1F10-9AE9394FF62C}"/>
              </a:ext>
            </a:extLst>
          </p:cNvPr>
          <p:cNvSpPr>
            <a:spLocks noGrp="1"/>
          </p:cNvSpPr>
          <p:nvPr>
            <p:ph type="title"/>
          </p:nvPr>
        </p:nvSpPr>
        <p:spPr/>
        <p:txBody>
          <a:bodyPr/>
          <a:lstStyle/>
          <a:p>
            <a:r>
              <a:rPr lang="zh-CN" altLang="en-US" dirty="0"/>
              <a:t>能力论</a:t>
            </a:r>
            <a:r>
              <a:rPr lang="en-US" altLang="zh-CN" dirty="0"/>
              <a:t>——</a:t>
            </a:r>
            <a:r>
              <a:rPr lang="zh-CN" altLang="en-US" dirty="0"/>
              <a:t>懂业务，懂到耦合层面</a:t>
            </a:r>
          </a:p>
        </p:txBody>
      </p:sp>
      <p:graphicFrame>
        <p:nvGraphicFramePr>
          <p:cNvPr id="5" name="图示 4">
            <a:extLst>
              <a:ext uri="{FF2B5EF4-FFF2-40B4-BE49-F238E27FC236}">
                <a16:creationId xmlns:a16="http://schemas.microsoft.com/office/drawing/2014/main" id="{226C0D2D-328C-025F-50D8-8C341D3AC888}"/>
              </a:ext>
            </a:extLst>
          </p:cNvPr>
          <p:cNvGraphicFramePr/>
          <p:nvPr>
            <p:extLst>
              <p:ext uri="{D42A27DB-BD31-4B8C-83A1-F6EECF244321}">
                <p14:modId xmlns:p14="http://schemas.microsoft.com/office/powerpoint/2010/main" val="2396111790"/>
              </p:ext>
            </p:extLst>
          </p:nvPr>
        </p:nvGraphicFramePr>
        <p:xfrm>
          <a:off x="1055987" y="678427"/>
          <a:ext cx="10931501" cy="4979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9DDE79A8-F2D6-79B3-5731-2342A6ACC2A4}"/>
              </a:ext>
            </a:extLst>
          </p:cNvPr>
          <p:cNvSpPr txBox="1"/>
          <p:nvPr/>
        </p:nvSpPr>
        <p:spPr>
          <a:xfrm>
            <a:off x="1803025" y="5948740"/>
            <a:ext cx="8333015" cy="461665"/>
          </a:xfrm>
          <a:prstGeom prst="rect">
            <a:avLst/>
          </a:prstGeom>
          <a:noFill/>
        </p:spPr>
        <p:txBody>
          <a:bodyPr wrap="square">
            <a:spAutoFit/>
          </a:bodyPr>
          <a:lstStyle/>
          <a:p>
            <a:r>
              <a:rPr lang="zh-CN" altLang="en-US" sz="2400" b="1" dirty="0">
                <a:solidFill>
                  <a:srgbClr val="00D4FF"/>
                </a:solidFill>
              </a:rPr>
              <a:t>不懂</a:t>
            </a:r>
            <a:r>
              <a:rPr lang="en-US" altLang="zh-CN" dirty="0"/>
              <a:t>C/P/D</a:t>
            </a:r>
            <a:r>
              <a:rPr lang="zh-CN" altLang="en-US" dirty="0"/>
              <a:t>之间的</a:t>
            </a:r>
            <a:r>
              <a:rPr lang="zh-CN" altLang="en-US" sz="2400" b="1" dirty="0">
                <a:solidFill>
                  <a:srgbClr val="00D4FF"/>
                </a:solidFill>
              </a:rPr>
              <a:t>耦合</a:t>
            </a:r>
            <a:r>
              <a:rPr lang="zh-CN" altLang="en-US" dirty="0"/>
              <a:t>，不懂到模型，设计出来的模型就是一张</a:t>
            </a:r>
            <a:r>
              <a:rPr lang="zh-CN" altLang="en-US" sz="2400" b="1" dirty="0">
                <a:solidFill>
                  <a:srgbClr val="00D4FF"/>
                </a:solidFill>
              </a:rPr>
              <a:t>断网</a:t>
            </a:r>
            <a:r>
              <a:rPr lang="zh-CN" altLang="en-US" sz="2400" b="1" dirty="0">
                <a:solidFill>
                  <a:schemeClr val="accent1"/>
                </a:solidFill>
              </a:rPr>
              <a:t>。</a:t>
            </a:r>
            <a:endParaRPr lang="zh-CN" altLang="en-US" b="1" dirty="0">
              <a:solidFill>
                <a:schemeClr val="accent1"/>
              </a:solidFill>
            </a:endParaRPr>
          </a:p>
        </p:txBody>
      </p:sp>
    </p:spTree>
    <p:extLst>
      <p:ext uri="{BB962C8B-B14F-4D97-AF65-F5344CB8AC3E}">
        <p14:creationId xmlns:p14="http://schemas.microsoft.com/office/powerpoint/2010/main" val="2188493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24966-3B34-1D31-915E-3F4383DAE08D}"/>
              </a:ext>
            </a:extLst>
          </p:cNvPr>
          <p:cNvSpPr>
            <a:spLocks noGrp="1"/>
          </p:cNvSpPr>
          <p:nvPr>
            <p:ph type="title"/>
          </p:nvPr>
        </p:nvSpPr>
        <p:spPr/>
        <p:txBody>
          <a:bodyPr/>
          <a:lstStyle/>
          <a:p>
            <a:r>
              <a:rPr lang="zh-CN" altLang="en-US" dirty="0"/>
              <a:t>能力论</a:t>
            </a:r>
            <a:r>
              <a:rPr lang="en-US" altLang="zh-CN" dirty="0"/>
              <a:t>——</a:t>
            </a:r>
            <a:r>
              <a:rPr lang="zh-CN" altLang="en-US" dirty="0"/>
              <a:t>把业务变成可计算的模型</a:t>
            </a:r>
          </a:p>
        </p:txBody>
      </p:sp>
      <p:graphicFrame>
        <p:nvGraphicFramePr>
          <p:cNvPr id="5" name="图示 4">
            <a:extLst>
              <a:ext uri="{FF2B5EF4-FFF2-40B4-BE49-F238E27FC236}">
                <a16:creationId xmlns:a16="http://schemas.microsoft.com/office/drawing/2014/main" id="{04938B28-C6FF-D94A-9CBB-CFE08A99BAC5}"/>
              </a:ext>
            </a:extLst>
          </p:cNvPr>
          <p:cNvGraphicFramePr/>
          <p:nvPr>
            <p:extLst>
              <p:ext uri="{D42A27DB-BD31-4B8C-83A1-F6EECF244321}">
                <p14:modId xmlns:p14="http://schemas.microsoft.com/office/powerpoint/2010/main" val="798970543"/>
              </p:ext>
            </p:extLst>
          </p:nvPr>
        </p:nvGraphicFramePr>
        <p:xfrm>
          <a:off x="1611086" y="780692"/>
          <a:ext cx="8403772" cy="4801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94812A2A-F2CF-64FF-91B9-12B8C8F3FA43}"/>
              </a:ext>
            </a:extLst>
          </p:cNvPr>
          <p:cNvSpPr txBox="1"/>
          <p:nvPr/>
        </p:nvSpPr>
        <p:spPr>
          <a:xfrm>
            <a:off x="2128088" y="5965412"/>
            <a:ext cx="7369768" cy="461665"/>
          </a:xfrm>
          <a:prstGeom prst="rect">
            <a:avLst/>
          </a:prstGeom>
          <a:noFill/>
        </p:spPr>
        <p:txBody>
          <a:bodyPr wrap="square">
            <a:spAutoFit/>
          </a:bodyPr>
          <a:lstStyle/>
          <a:p>
            <a:r>
              <a:rPr lang="zh-CN" altLang="en-US" sz="2400" b="1" dirty="0">
                <a:solidFill>
                  <a:srgbClr val="00D4FF"/>
                </a:solidFill>
              </a:rPr>
              <a:t>不懂</a:t>
            </a:r>
            <a:r>
              <a:rPr lang="en-US" altLang="zh-CN" dirty="0"/>
              <a:t>C/P/D</a:t>
            </a:r>
            <a:r>
              <a:rPr lang="zh-CN" altLang="en-US" dirty="0"/>
              <a:t>的</a:t>
            </a:r>
            <a:r>
              <a:rPr lang="zh-CN" altLang="en-US" sz="2400" b="1" dirty="0">
                <a:solidFill>
                  <a:srgbClr val="00D4FF"/>
                </a:solidFill>
              </a:rPr>
              <a:t>跨域映射</a:t>
            </a:r>
            <a:r>
              <a:rPr lang="zh-CN" altLang="en-US" dirty="0"/>
              <a:t>，模型就是三张</a:t>
            </a:r>
            <a:r>
              <a:rPr lang="zh-CN" altLang="en-US" sz="2400" b="1" dirty="0">
                <a:solidFill>
                  <a:srgbClr val="00D4FF"/>
                </a:solidFill>
              </a:rPr>
              <a:t>断网</a:t>
            </a:r>
            <a:r>
              <a:rPr lang="zh-CN" altLang="en-US" dirty="0"/>
              <a:t>，拼不成一体。</a:t>
            </a:r>
          </a:p>
        </p:txBody>
      </p:sp>
    </p:spTree>
    <p:extLst>
      <p:ext uri="{BB962C8B-B14F-4D97-AF65-F5344CB8AC3E}">
        <p14:creationId xmlns:p14="http://schemas.microsoft.com/office/powerpoint/2010/main" val="3218938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E27F2-E5AB-B80B-0252-FCC9379D3FAB}"/>
              </a:ext>
            </a:extLst>
          </p:cNvPr>
          <p:cNvSpPr>
            <a:spLocks noGrp="1"/>
          </p:cNvSpPr>
          <p:nvPr>
            <p:ph type="title"/>
          </p:nvPr>
        </p:nvSpPr>
        <p:spPr/>
        <p:txBody>
          <a:bodyPr/>
          <a:lstStyle/>
          <a:p>
            <a:r>
              <a:rPr lang="zh-CN" altLang="en-US" dirty="0"/>
              <a:t>能力论</a:t>
            </a:r>
            <a:r>
              <a:rPr lang="en-US" altLang="zh-CN" dirty="0"/>
              <a:t>——</a:t>
            </a:r>
            <a:r>
              <a:rPr lang="zh-CN" altLang="en-US" dirty="0"/>
              <a:t>让模型落地到异构系统</a:t>
            </a:r>
          </a:p>
        </p:txBody>
      </p:sp>
      <p:sp>
        <p:nvSpPr>
          <p:cNvPr id="4" name="文本框 3">
            <a:extLst>
              <a:ext uri="{FF2B5EF4-FFF2-40B4-BE49-F238E27FC236}">
                <a16:creationId xmlns:a16="http://schemas.microsoft.com/office/drawing/2014/main" id="{31507B5E-8AF2-5EE0-1885-FCEC4D980989}"/>
              </a:ext>
            </a:extLst>
          </p:cNvPr>
          <p:cNvSpPr txBox="1"/>
          <p:nvPr/>
        </p:nvSpPr>
        <p:spPr>
          <a:xfrm>
            <a:off x="1185770" y="794926"/>
            <a:ext cx="10483154" cy="2677656"/>
          </a:xfrm>
          <a:prstGeom prst="rect">
            <a:avLst/>
          </a:prstGeom>
          <a:noFill/>
        </p:spPr>
        <p:txBody>
          <a:bodyPr wrap="square">
            <a:spAutoFit/>
          </a:bodyPr>
          <a:lstStyle/>
          <a:p>
            <a:r>
              <a:rPr lang="zh-CN" altLang="en-US" b="1" dirty="0"/>
              <a:t>模型已经在了。</a:t>
            </a:r>
          </a:p>
          <a:p>
            <a:endParaRPr lang="zh-CN" altLang="en-US" b="1" dirty="0"/>
          </a:p>
          <a:p>
            <a:r>
              <a:rPr lang="zh-CN" altLang="en-US" dirty="0"/>
              <a:t>它</a:t>
            </a:r>
            <a:r>
              <a:rPr lang="zh-CN" altLang="en-US" sz="2400" b="1" dirty="0">
                <a:solidFill>
                  <a:srgbClr val="00D4FF"/>
                </a:solidFill>
              </a:rPr>
              <a:t>分散</a:t>
            </a:r>
            <a:r>
              <a:rPr lang="zh-CN" altLang="en-US" dirty="0"/>
              <a:t>在</a:t>
            </a:r>
            <a:r>
              <a:rPr lang="en-US" altLang="zh-CN" dirty="0"/>
              <a:t>ERP</a:t>
            </a:r>
            <a:r>
              <a:rPr lang="zh-CN" altLang="en-US" dirty="0"/>
              <a:t>、计划软件、</a:t>
            </a:r>
            <a:r>
              <a:rPr lang="en-US" altLang="zh-CN" dirty="0"/>
              <a:t>MES</a:t>
            </a:r>
            <a:r>
              <a:rPr lang="zh-CN" altLang="en-US" dirty="0"/>
              <a:t>、</a:t>
            </a:r>
            <a:r>
              <a:rPr lang="en-US" altLang="zh-CN" dirty="0"/>
              <a:t>WMS</a:t>
            </a:r>
            <a:r>
              <a:rPr lang="zh-CN" altLang="en-US" dirty="0"/>
              <a:t>里。</a:t>
            </a:r>
          </a:p>
          <a:p>
            <a:endParaRPr lang="zh-CN" altLang="en-US" dirty="0"/>
          </a:p>
          <a:p>
            <a:r>
              <a:rPr lang="zh-CN" altLang="en-US" dirty="0"/>
              <a:t>要</a:t>
            </a:r>
            <a:r>
              <a:rPr lang="zh-CN" altLang="en-US" sz="2400" b="1" dirty="0">
                <a:solidFill>
                  <a:srgbClr val="00D4FF"/>
                </a:solidFill>
              </a:rPr>
              <a:t>懂</a:t>
            </a:r>
            <a:r>
              <a:rPr lang="zh-CN" altLang="en-US" dirty="0"/>
              <a:t>它们到</a:t>
            </a:r>
            <a:r>
              <a:rPr lang="zh-CN" altLang="en-US" sz="2400" b="1" dirty="0">
                <a:solidFill>
                  <a:srgbClr val="00D4FF"/>
                </a:solidFill>
              </a:rPr>
              <a:t>模型</a:t>
            </a:r>
            <a:r>
              <a:rPr lang="zh-CN" altLang="en-US" dirty="0"/>
              <a:t>层</a:t>
            </a:r>
            <a:r>
              <a:rPr lang="en-US" altLang="zh-CN" dirty="0"/>
              <a:t>——</a:t>
            </a:r>
            <a:r>
              <a:rPr lang="zh-CN" altLang="en-US" dirty="0"/>
              <a:t>不是功能和流程，是底层的数据结构。</a:t>
            </a:r>
          </a:p>
          <a:p>
            <a:r>
              <a:rPr lang="zh-CN" altLang="en-US" dirty="0"/>
              <a:t>还要懂它们之间怎么集成</a:t>
            </a:r>
            <a:r>
              <a:rPr lang="en-US" altLang="zh-CN" dirty="0"/>
              <a:t>——</a:t>
            </a:r>
            <a:r>
              <a:rPr lang="zh-CN" altLang="en-US" sz="2400" b="1" dirty="0">
                <a:solidFill>
                  <a:srgbClr val="00D4FF"/>
                </a:solidFill>
              </a:rPr>
              <a:t>感知怎么取数，执行怎么回写，反馈怎么带偏差回来</a:t>
            </a:r>
            <a:r>
              <a:rPr lang="zh-CN" altLang="en-US" dirty="0"/>
              <a:t>。</a:t>
            </a:r>
          </a:p>
          <a:p>
            <a:endParaRPr lang="zh-CN" altLang="en-US" dirty="0"/>
          </a:p>
          <a:p>
            <a:r>
              <a:rPr lang="zh-CN" altLang="en-US" dirty="0"/>
              <a:t>模型跟它们之间，是一体化协同的关系。不是接口，是</a:t>
            </a:r>
            <a:r>
              <a:rPr lang="zh-CN" altLang="en-US" sz="2400" b="1" dirty="0">
                <a:solidFill>
                  <a:srgbClr val="00D4FF"/>
                </a:solidFill>
              </a:rPr>
              <a:t>统御集成</a:t>
            </a:r>
            <a:r>
              <a:rPr lang="zh-CN" altLang="en-US" dirty="0"/>
              <a:t>。</a:t>
            </a:r>
          </a:p>
        </p:txBody>
      </p:sp>
      <p:graphicFrame>
        <p:nvGraphicFramePr>
          <p:cNvPr id="5" name="表格 4">
            <a:extLst>
              <a:ext uri="{FF2B5EF4-FFF2-40B4-BE49-F238E27FC236}">
                <a16:creationId xmlns:a16="http://schemas.microsoft.com/office/drawing/2014/main" id="{9373E439-3DDA-C638-314F-E00AADCEB352}"/>
              </a:ext>
            </a:extLst>
          </p:cNvPr>
          <p:cNvGraphicFramePr>
            <a:graphicFrameLocks noGrp="1"/>
          </p:cNvGraphicFramePr>
          <p:nvPr>
            <p:extLst>
              <p:ext uri="{D42A27DB-BD31-4B8C-83A1-F6EECF244321}">
                <p14:modId xmlns:p14="http://schemas.microsoft.com/office/powerpoint/2010/main" val="512318213"/>
              </p:ext>
            </p:extLst>
          </p:nvPr>
        </p:nvGraphicFramePr>
        <p:xfrm>
          <a:off x="945819" y="3814314"/>
          <a:ext cx="2355850" cy="1109136"/>
        </p:xfrm>
        <a:graphic>
          <a:graphicData uri="http://schemas.openxmlformats.org/drawingml/2006/table">
            <a:tbl>
              <a:tblPr firstCol="1" bandRow="1"/>
              <a:tblGrid>
                <a:gridCol w="640193">
                  <a:extLst>
                    <a:ext uri="{9D8B030D-6E8A-4147-A177-3AD203B41FA5}">
                      <a16:colId xmlns:a16="http://schemas.microsoft.com/office/drawing/2014/main" val="20000"/>
                    </a:ext>
                  </a:extLst>
                </a:gridCol>
                <a:gridCol w="1715657">
                  <a:extLst>
                    <a:ext uri="{9D8B030D-6E8A-4147-A177-3AD203B41FA5}">
                      <a16:colId xmlns:a16="http://schemas.microsoft.com/office/drawing/2014/main" val="20001"/>
                    </a:ext>
                  </a:extLst>
                </a:gridCol>
              </a:tblGrid>
              <a:tr h="277284">
                <a:tc rowSpan="4">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altLang="zh-CN" sz="1200" dirty="0">
                          <a:latin typeface="Arial" panose="020B0604020202020204" pitchFamily="34" charset="0"/>
                          <a:ea typeface="微软雅黑" panose="020B0503020204020204" pitchFamily="34" charset="-122"/>
                        </a:rPr>
                        <a:t>Internal </a:t>
                      </a:r>
                    </a:p>
                    <a:p>
                      <a:pPr algn="ctr"/>
                      <a:r>
                        <a:rPr lang="en-US" altLang="zh-CN" sz="1200" dirty="0">
                          <a:latin typeface="Arial" panose="020B0604020202020204" pitchFamily="34" charset="0"/>
                          <a:ea typeface="微软雅黑" panose="020B0503020204020204" pitchFamily="34" charset="-122"/>
                        </a:rPr>
                        <a:t>Data</a:t>
                      </a:r>
                      <a:endParaRPr lang="zh-CN" altLang="en-US" sz="1200" dirty="0">
                        <a:latin typeface="Arial" panose="020B0604020202020204" pitchFamily="34" charset="0"/>
                        <a:ea typeface="微软雅黑" panose="020B0503020204020204" pitchFamily="34" charset="-122"/>
                      </a:endParaRPr>
                    </a:p>
                  </a:txBody>
                  <a:tcPr marL="91501" marR="91501" marT="45647" marB="4564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ERP system</a:t>
                      </a:r>
                      <a:endParaRPr lang="zh-CN" altLang="en-US" sz="1200" dirty="0">
                        <a:latin typeface="Arial" panose="020B0604020202020204" pitchFamily="34" charset="0"/>
                        <a:ea typeface="微软雅黑" panose="020B0503020204020204" pitchFamily="34" charset="-122"/>
                      </a:endParaRPr>
                    </a:p>
                  </a:txBody>
                  <a:tcPr marL="91501" marR="91501" marT="45647" marB="4564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60000"/>
                        <a:lumOff val="40000"/>
                      </a:srgbClr>
                    </a:solidFill>
                  </a:tcPr>
                </a:tc>
                <a:extLst>
                  <a:ext uri="{0D108BD9-81ED-4DB2-BD59-A6C34878D82A}">
                    <a16:rowId xmlns:a16="http://schemas.microsoft.com/office/drawing/2014/main" val="10000"/>
                  </a:ext>
                </a:extLst>
              </a:tr>
              <a:tr h="277284">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MES</a:t>
                      </a:r>
                      <a:endParaRPr lang="zh-CN" altLang="en-US" sz="1200" dirty="0">
                        <a:latin typeface="Arial" panose="020B0604020202020204" pitchFamily="34" charset="0"/>
                        <a:ea typeface="微软雅黑" panose="020B0503020204020204" pitchFamily="34" charset="-122"/>
                      </a:endParaRPr>
                    </a:p>
                  </a:txBody>
                  <a:tcPr marL="91501" marR="91501" marT="45647" marB="4564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60000"/>
                        <a:lumOff val="40000"/>
                      </a:srgbClr>
                    </a:solidFill>
                  </a:tcPr>
                </a:tc>
                <a:extLst>
                  <a:ext uri="{0D108BD9-81ED-4DB2-BD59-A6C34878D82A}">
                    <a16:rowId xmlns:a16="http://schemas.microsoft.com/office/drawing/2014/main" val="10001"/>
                  </a:ext>
                </a:extLst>
              </a:tr>
              <a:tr h="277284">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GL</a:t>
                      </a:r>
                    </a:p>
                  </a:txBody>
                  <a:tcPr marL="91501" marR="91501" marT="45647" marB="4564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60000"/>
                        <a:lumOff val="40000"/>
                      </a:srgbClr>
                    </a:solidFill>
                  </a:tcPr>
                </a:tc>
                <a:extLst>
                  <a:ext uri="{0D108BD9-81ED-4DB2-BD59-A6C34878D82A}">
                    <a16:rowId xmlns:a16="http://schemas.microsoft.com/office/drawing/2014/main" val="10002"/>
                  </a:ext>
                </a:extLst>
              </a:tr>
              <a:tr h="277284">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Etc. …..</a:t>
                      </a:r>
                    </a:p>
                  </a:txBody>
                  <a:tcPr marL="91501" marR="91501" marT="45647" marB="4564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60000"/>
                        <a:lumOff val="40000"/>
                      </a:srgbClr>
                    </a:solidFill>
                  </a:tcPr>
                </a:tc>
                <a:extLst>
                  <a:ext uri="{0D108BD9-81ED-4DB2-BD59-A6C34878D82A}">
                    <a16:rowId xmlns:a16="http://schemas.microsoft.com/office/drawing/2014/main" val="10003"/>
                  </a:ext>
                </a:extLst>
              </a:tr>
            </a:tbl>
          </a:graphicData>
        </a:graphic>
      </p:graphicFrame>
      <p:graphicFrame>
        <p:nvGraphicFramePr>
          <p:cNvPr id="6" name="表格 6">
            <a:extLst>
              <a:ext uri="{FF2B5EF4-FFF2-40B4-BE49-F238E27FC236}">
                <a16:creationId xmlns:a16="http://schemas.microsoft.com/office/drawing/2014/main" id="{9DE7B80B-901F-C57D-5238-BCE06FB32B8B}"/>
              </a:ext>
            </a:extLst>
          </p:cNvPr>
          <p:cNvGraphicFramePr>
            <a:graphicFrameLocks noGrp="1"/>
          </p:cNvGraphicFramePr>
          <p:nvPr>
            <p:extLst>
              <p:ext uri="{D42A27DB-BD31-4B8C-83A1-F6EECF244321}">
                <p14:modId xmlns:p14="http://schemas.microsoft.com/office/powerpoint/2010/main" val="2063235409"/>
              </p:ext>
            </p:extLst>
          </p:nvPr>
        </p:nvGraphicFramePr>
        <p:xfrm>
          <a:off x="956404" y="4944614"/>
          <a:ext cx="2355849" cy="1111248"/>
        </p:xfrm>
        <a:graphic>
          <a:graphicData uri="http://schemas.openxmlformats.org/drawingml/2006/table">
            <a:tbl>
              <a:tblPr firstCol="1" bandRow="1"/>
              <a:tblGrid>
                <a:gridCol w="627029">
                  <a:extLst>
                    <a:ext uri="{9D8B030D-6E8A-4147-A177-3AD203B41FA5}">
                      <a16:colId xmlns:a16="http://schemas.microsoft.com/office/drawing/2014/main" val="20000"/>
                    </a:ext>
                  </a:extLst>
                </a:gridCol>
                <a:gridCol w="1728820">
                  <a:extLst>
                    <a:ext uri="{9D8B030D-6E8A-4147-A177-3AD203B41FA5}">
                      <a16:colId xmlns:a16="http://schemas.microsoft.com/office/drawing/2014/main" val="20001"/>
                    </a:ext>
                  </a:extLst>
                </a:gridCol>
              </a:tblGrid>
              <a:tr h="277812">
                <a:tc rowSpan="4">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External</a:t>
                      </a:r>
                    </a:p>
                    <a:p>
                      <a:r>
                        <a:rPr lang="en-US" altLang="zh-CN" sz="1200" dirty="0">
                          <a:latin typeface="Arial" panose="020B0604020202020204" pitchFamily="34" charset="0"/>
                          <a:ea typeface="微软雅黑" panose="020B0503020204020204" pitchFamily="34" charset="-122"/>
                        </a:rPr>
                        <a:t>Third party</a:t>
                      </a:r>
                      <a:endParaRPr lang="zh-CN" altLang="en-US" sz="1200" dirty="0">
                        <a:latin typeface="Arial" panose="020B0604020202020204" pitchFamily="34" charset="0"/>
                        <a:ea typeface="微软雅黑" panose="020B0503020204020204" pitchFamily="34" charset="-122"/>
                      </a:endParaRPr>
                    </a:p>
                  </a:txBody>
                  <a:tcPr marL="91501" marR="91501" marT="45735" marB="4573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Vendor</a:t>
                      </a:r>
                      <a:endParaRPr lang="zh-CN" altLang="en-US" sz="1200" dirty="0">
                        <a:latin typeface="Arial" panose="020B0604020202020204" pitchFamily="34" charset="0"/>
                        <a:ea typeface="微软雅黑" panose="020B0503020204020204" pitchFamily="34" charset="-122"/>
                      </a:endParaRPr>
                    </a:p>
                  </a:txBody>
                  <a:tcPr marL="91501" marR="91501" marT="45735" marB="4573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40000"/>
                        <a:lumOff val="60000"/>
                      </a:srgbClr>
                    </a:solidFill>
                  </a:tcPr>
                </a:tc>
                <a:extLst>
                  <a:ext uri="{0D108BD9-81ED-4DB2-BD59-A6C34878D82A}">
                    <a16:rowId xmlns:a16="http://schemas.microsoft.com/office/drawing/2014/main" val="10000"/>
                  </a:ext>
                </a:extLst>
              </a:tr>
              <a:tr h="277812">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Logistic Partner</a:t>
                      </a:r>
                      <a:endParaRPr lang="zh-CN" altLang="en-US" sz="1200" dirty="0">
                        <a:latin typeface="Arial" panose="020B0604020202020204" pitchFamily="34" charset="0"/>
                        <a:ea typeface="微软雅黑" panose="020B0503020204020204" pitchFamily="34" charset="-122"/>
                      </a:endParaRPr>
                    </a:p>
                  </a:txBody>
                  <a:tcPr marL="91501" marR="91501" marT="45735" marB="4573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40000"/>
                        <a:lumOff val="60000"/>
                      </a:srgbClr>
                    </a:solidFill>
                  </a:tcPr>
                </a:tc>
                <a:extLst>
                  <a:ext uri="{0D108BD9-81ED-4DB2-BD59-A6C34878D82A}">
                    <a16:rowId xmlns:a16="http://schemas.microsoft.com/office/drawing/2014/main" val="10001"/>
                  </a:ext>
                </a:extLst>
              </a:tr>
              <a:tr h="277812">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BP/Customer</a:t>
                      </a:r>
                    </a:p>
                  </a:txBody>
                  <a:tcPr marL="91501" marR="91501" marT="45735" marB="4573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40000"/>
                        <a:lumOff val="60000"/>
                      </a:srgbClr>
                    </a:solidFill>
                  </a:tcPr>
                </a:tc>
                <a:extLst>
                  <a:ext uri="{0D108BD9-81ED-4DB2-BD59-A6C34878D82A}">
                    <a16:rowId xmlns:a16="http://schemas.microsoft.com/office/drawing/2014/main" val="10002"/>
                  </a:ext>
                </a:extLst>
              </a:tr>
              <a:tr h="277812">
                <a:tc vMerge="1">
                  <a:txBody>
                    <a:bodyPr/>
                    <a:lstStyle/>
                    <a:p>
                      <a:endParaRPr lang="zh-CN"/>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200" dirty="0">
                          <a:latin typeface="Arial" panose="020B0604020202020204" pitchFamily="34" charset="0"/>
                          <a:ea typeface="微软雅黑" panose="020B0503020204020204" pitchFamily="34" charset="-122"/>
                        </a:rPr>
                        <a:t>Etc. …….</a:t>
                      </a:r>
                      <a:endParaRPr lang="zh-CN" altLang="en-US" sz="1200" dirty="0">
                        <a:latin typeface="Arial" panose="020B0604020202020204" pitchFamily="34" charset="0"/>
                        <a:ea typeface="微软雅黑" panose="020B0503020204020204" pitchFamily="34" charset="-122"/>
                      </a:endParaRPr>
                    </a:p>
                  </a:txBody>
                  <a:tcPr marL="91501" marR="91501" marT="45735" marB="4573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A00">
                        <a:lumMod val="40000"/>
                        <a:lumOff val="60000"/>
                      </a:srgbClr>
                    </a:solidFill>
                  </a:tcPr>
                </a:tc>
                <a:extLst>
                  <a:ext uri="{0D108BD9-81ED-4DB2-BD59-A6C34878D82A}">
                    <a16:rowId xmlns:a16="http://schemas.microsoft.com/office/drawing/2014/main" val="10003"/>
                  </a:ext>
                </a:extLst>
              </a:tr>
            </a:tbl>
          </a:graphicData>
        </a:graphic>
      </p:graphicFrame>
      <p:graphicFrame>
        <p:nvGraphicFramePr>
          <p:cNvPr id="7" name="表格 9">
            <a:extLst>
              <a:ext uri="{FF2B5EF4-FFF2-40B4-BE49-F238E27FC236}">
                <a16:creationId xmlns:a16="http://schemas.microsoft.com/office/drawing/2014/main" id="{5ADE23F1-F60F-9566-5AA6-77EBA5E95883}"/>
              </a:ext>
            </a:extLst>
          </p:cNvPr>
          <p:cNvGraphicFramePr>
            <a:graphicFrameLocks noGrp="1"/>
          </p:cNvGraphicFramePr>
          <p:nvPr>
            <p:extLst>
              <p:ext uri="{D42A27DB-BD31-4B8C-83A1-F6EECF244321}">
                <p14:modId xmlns:p14="http://schemas.microsoft.com/office/powerpoint/2010/main" val="2543223055"/>
              </p:ext>
            </p:extLst>
          </p:nvPr>
        </p:nvGraphicFramePr>
        <p:xfrm>
          <a:off x="4133520" y="3545496"/>
          <a:ext cx="2696634" cy="3002250"/>
        </p:xfrm>
        <a:graphic>
          <a:graphicData uri="http://schemas.openxmlformats.org/drawingml/2006/table">
            <a:tbl>
              <a:tblPr/>
              <a:tblGrid>
                <a:gridCol w="1098551">
                  <a:extLst>
                    <a:ext uri="{9D8B030D-6E8A-4147-A177-3AD203B41FA5}">
                      <a16:colId xmlns:a16="http://schemas.microsoft.com/office/drawing/2014/main" val="20000"/>
                    </a:ext>
                  </a:extLst>
                </a:gridCol>
                <a:gridCol w="1598083">
                  <a:extLst>
                    <a:ext uri="{9D8B030D-6E8A-4147-A177-3AD203B41FA5}">
                      <a16:colId xmlns:a16="http://schemas.microsoft.com/office/drawing/2014/main" val="20001"/>
                    </a:ext>
                  </a:extLst>
                </a:gridCol>
              </a:tblGrid>
              <a:tr h="315004">
                <a:tc gridSpan="2">
                  <a:txBody>
                    <a:bodyPr/>
                    <a:lstStyle>
                      <a:lvl1pPr>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500" b="1" i="0" u="none" strike="noStrike" cap="none" normalizeH="0" baseline="0">
                          <a:ln>
                            <a:noFill/>
                          </a:ln>
                          <a:solidFill>
                            <a:srgbClr val="FFFFFF"/>
                          </a:solidFill>
                          <a:effectLst/>
                          <a:latin typeface="Arial" panose="020B0604020202020204" pitchFamily="34" charset="0"/>
                          <a:ea typeface="微软雅黑" panose="020B0503020204020204" pitchFamily="34" charset="-122"/>
                        </a:rPr>
                        <a:t>Input Data to Engine</a:t>
                      </a:r>
                      <a:endParaRPr kumimoji="0" lang="zh-CN" altLang="en-US" sz="1500" b="1" i="0" u="none" strike="noStrike" cap="none" normalizeH="0" baseline="0">
                        <a:ln>
                          <a:noFill/>
                        </a:ln>
                        <a:solidFill>
                          <a:srgbClr val="FFFFFF"/>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D07A7E"/>
                    </a:solidFill>
                  </a:tcPr>
                </a:tc>
                <a:tc hMerge="1">
                  <a:txBody>
                    <a:bodyPr/>
                    <a:lstStyle/>
                    <a:p>
                      <a:endParaRPr lang="zh-CN"/>
                    </a:p>
                  </a:txBody>
                  <a:tcPr/>
                </a:tc>
                <a:extLst>
                  <a:ext uri="{0D108BD9-81ED-4DB2-BD59-A6C34878D82A}">
                    <a16:rowId xmlns:a16="http://schemas.microsoft.com/office/drawing/2014/main" val="10000"/>
                  </a:ext>
                </a:extLst>
              </a:tr>
              <a:tr h="1126225">
                <a:tc>
                  <a:txBody>
                    <a:bodyPr/>
                    <a:lstStyle>
                      <a:lvl1pPr>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rPr>
                        <a:t>Interim Source Data </a:t>
                      </a:r>
                      <a:endParaRPr kumimoji="0" lang="zh-CN" altLang="en-US"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A9A96"/>
                    </a:solidFill>
                  </a:tcPr>
                </a:tc>
                <a:tc>
                  <a:txBody>
                    <a:bodyPr/>
                    <a:lstStyle>
                      <a:lvl1pPr>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rPr>
                        <a:t>Target engine standard data</a:t>
                      </a:r>
                      <a:endParaRPr kumimoji="0" lang="zh-CN" altLang="en-US"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A9A96"/>
                    </a:solidFill>
                  </a:tcPr>
                </a:tc>
                <a:extLst>
                  <a:ext uri="{0D108BD9-81ED-4DB2-BD59-A6C34878D82A}">
                    <a16:rowId xmlns:a16="http://schemas.microsoft.com/office/drawing/2014/main" val="10001"/>
                  </a:ext>
                </a:extLst>
              </a:tr>
              <a:tr h="383172">
                <a:tc gridSpan="2">
                  <a:txBody>
                    <a:bodyPr/>
                    <a:lstStyle>
                      <a:lvl1pPr defTabSz="1219200">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defTabSz="121920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defTabSz="12192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ctr" defTabSz="1219200" rtl="0" eaLnBrk="1" fontAlgn="base" latinLnBrk="0" hangingPunct="1">
                        <a:lnSpc>
                          <a:spcPct val="100000"/>
                        </a:lnSpc>
                        <a:spcBef>
                          <a:spcPct val="0"/>
                        </a:spcBef>
                        <a:spcAft>
                          <a:spcPct val="0"/>
                        </a:spcAft>
                        <a:buClrTx/>
                        <a:buSzTx/>
                        <a:buFontTx/>
                        <a:buNone/>
                      </a:pPr>
                      <a:r>
                        <a:rPr kumimoji="0" lang="en-US" altLang="zh-CN" sz="1500" b="1" i="0" u="none" strike="noStrike" cap="none" normalizeH="0" baseline="0">
                          <a:ln>
                            <a:noFill/>
                          </a:ln>
                          <a:solidFill>
                            <a:srgbClr val="FFFFFF"/>
                          </a:solidFill>
                          <a:effectLst/>
                          <a:latin typeface="Arial" panose="020B0604020202020204" pitchFamily="34" charset="0"/>
                          <a:ea typeface="微软雅黑" panose="020B0503020204020204" pitchFamily="34" charset="-122"/>
                        </a:rPr>
                        <a:t>Output Data from Engine</a:t>
                      </a:r>
                      <a:endParaRPr kumimoji="0" lang="zh-CN" altLang="en-US" sz="1500" b="1" i="0" u="none" strike="noStrike" cap="none" normalizeH="0" baseline="0">
                        <a:ln>
                          <a:noFill/>
                        </a:ln>
                        <a:solidFill>
                          <a:srgbClr val="FFFFFF"/>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7A7E"/>
                    </a:solidFill>
                  </a:tcPr>
                </a:tc>
                <a:tc hMerge="1">
                  <a:txBody>
                    <a:bodyPr/>
                    <a:lstStyle/>
                    <a:p>
                      <a:endParaRPr lang="zh-CN"/>
                    </a:p>
                  </a:txBody>
                  <a:tcPr/>
                </a:tc>
                <a:extLst>
                  <a:ext uri="{0D108BD9-81ED-4DB2-BD59-A6C34878D82A}">
                    <a16:rowId xmlns:a16="http://schemas.microsoft.com/office/drawing/2014/main" val="10002"/>
                  </a:ext>
                </a:extLst>
              </a:tr>
              <a:tr h="1172799">
                <a:tc>
                  <a:txBody>
                    <a:bodyPr/>
                    <a:lstStyle>
                      <a:lvl1pPr defTabSz="1219200">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defTabSz="121920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defTabSz="12192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l" defTabSz="1219200" rtl="0" eaLnBrk="1" fontAlgn="base" latinLnBrk="0" hangingPunct="1">
                        <a:lnSpc>
                          <a:spcPct val="100000"/>
                        </a:lnSpc>
                        <a:spcBef>
                          <a:spcPct val="0"/>
                        </a:spcBef>
                        <a:spcAft>
                          <a:spcPct val="0"/>
                        </a:spcAft>
                        <a:buClrTx/>
                        <a:buSzTx/>
                        <a:buFontTx/>
                        <a:buNone/>
                      </a:pPr>
                      <a:r>
                        <a:rPr kumimoji="0" lang="en-US" altLang="zh-CN"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rPr>
                        <a:t>Interim Target Data </a:t>
                      </a:r>
                      <a:endParaRPr kumimoji="0" lang="zh-CN" altLang="en-US"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endParaRPr>
                    </a:p>
                    <a:p>
                      <a:pPr marL="0" marR="0" lvl="0" indent="0" algn="l" defTabSz="1219200" rtl="0" eaLnBrk="1" fontAlgn="base" latinLnBrk="0" hangingPunct="1">
                        <a:lnSpc>
                          <a:spcPct val="100000"/>
                        </a:lnSpc>
                        <a:spcBef>
                          <a:spcPct val="0"/>
                        </a:spcBef>
                        <a:spcAft>
                          <a:spcPct val="0"/>
                        </a:spcAft>
                        <a:buClrTx/>
                        <a:buSzTx/>
                        <a:buFontTx/>
                        <a:buNone/>
                      </a:pPr>
                      <a:endParaRPr kumimoji="0" lang="zh-CN" altLang="en-US" sz="1500" b="0" i="0" u="none" strike="noStrike" cap="none" normalizeH="0" baseline="0">
                        <a:ln>
                          <a:noFill/>
                        </a:ln>
                        <a:solidFill>
                          <a:srgbClr val="000000"/>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CDCA"/>
                    </a:solidFill>
                  </a:tcPr>
                </a:tc>
                <a:tc>
                  <a:txBody>
                    <a:bodyPr/>
                    <a:lstStyle>
                      <a:lvl1pPr defTabSz="1219200">
                        <a:spcBef>
                          <a:spcPct val="20000"/>
                        </a:spcBef>
                        <a:buFont typeface="Arial" panose="020B0604020202020204" pitchFamily="34" charset="0"/>
                        <a:defRPr kumimoji="1" sz="2800">
                          <a:solidFill>
                            <a:schemeClr val="tx1"/>
                          </a:solidFill>
                          <a:latin typeface="Calibri" panose="020F0502020204030204" pitchFamily="34" charset="0"/>
                          <a:ea typeface="宋体" panose="02010600030101010101" pitchFamily="2" charset="-122"/>
                        </a:defRPr>
                      </a:lvl1pPr>
                      <a:lvl2pPr marL="742950" indent="-285750" defTabSz="1219200">
                        <a:spcBef>
                          <a:spcPct val="20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2pPr>
                      <a:lvl3pPr marL="1143000" indent="-228600" defTabSz="1219200">
                        <a:spcBef>
                          <a:spcPct val="200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3pPr>
                      <a:lvl4pPr marL="16002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4pPr>
                      <a:lvl5pPr marL="2057400" indent="-228600" defTabSz="1219200">
                        <a:spcBef>
                          <a:spcPct val="200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5pPr>
                      <a:lvl6pPr marL="25146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6pPr>
                      <a:lvl7pPr marL="29718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7pPr>
                      <a:lvl8pPr marL="34290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8pPr>
                      <a:lvl9pPr marL="3886200" indent="-228600" defTabSz="1219200" eaLnBrk="0" fontAlgn="base" hangingPunct="0">
                        <a:spcBef>
                          <a:spcPct val="20000"/>
                        </a:spcBef>
                        <a:spcAft>
                          <a:spcPct val="0"/>
                        </a:spcAft>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9pPr>
                    </a:lstStyle>
                    <a:p>
                      <a:pPr marL="0" marR="0" lvl="0" indent="0" algn="l" defTabSz="1219200" rtl="0" eaLnBrk="1" fontAlgn="base" latinLnBrk="0" hangingPunct="1">
                        <a:lnSpc>
                          <a:spcPct val="100000"/>
                        </a:lnSpc>
                        <a:spcBef>
                          <a:spcPct val="0"/>
                        </a:spcBef>
                        <a:spcAft>
                          <a:spcPct val="0"/>
                        </a:spcAft>
                        <a:buClrTx/>
                        <a:buSzTx/>
                        <a:buFontTx/>
                        <a:buNone/>
                      </a:pPr>
                      <a:r>
                        <a:rPr kumimoji="0" lang="en-US" altLang="zh-CN" sz="15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rPr>
                        <a:t>Source engine standard data</a:t>
                      </a:r>
                      <a:endParaRPr kumimoji="0" lang="zh-CN" altLang="en-US" sz="15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endParaRPr>
                    </a:p>
                    <a:p>
                      <a:pPr marL="0" marR="0" lvl="0" indent="0" algn="l" defTabSz="1219200" rtl="0" eaLnBrk="1" fontAlgn="base" latinLnBrk="0" hangingPunct="1">
                        <a:lnSpc>
                          <a:spcPct val="100000"/>
                        </a:lnSpc>
                        <a:spcBef>
                          <a:spcPct val="0"/>
                        </a:spcBef>
                        <a:spcAft>
                          <a:spcPct val="0"/>
                        </a:spcAft>
                        <a:buClrTx/>
                        <a:buSzTx/>
                        <a:buFontTx/>
                        <a:buNone/>
                      </a:pPr>
                      <a:endParaRPr kumimoji="0" lang="zh-CN" altLang="en-US" sz="15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CDCA"/>
                    </a:solidFill>
                  </a:tcPr>
                </a:tc>
                <a:extLst>
                  <a:ext uri="{0D108BD9-81ED-4DB2-BD59-A6C34878D82A}">
                    <a16:rowId xmlns:a16="http://schemas.microsoft.com/office/drawing/2014/main" val="10003"/>
                  </a:ext>
                </a:extLst>
              </a:tr>
            </a:tbl>
          </a:graphicData>
        </a:graphic>
      </p:graphicFrame>
      <p:graphicFrame>
        <p:nvGraphicFramePr>
          <p:cNvPr id="8" name="表格 12">
            <a:extLst>
              <a:ext uri="{FF2B5EF4-FFF2-40B4-BE49-F238E27FC236}">
                <a16:creationId xmlns:a16="http://schemas.microsoft.com/office/drawing/2014/main" id="{8786CD84-F672-105E-6652-EB6612908053}"/>
              </a:ext>
            </a:extLst>
          </p:cNvPr>
          <p:cNvGraphicFramePr>
            <a:graphicFrameLocks noGrp="1"/>
          </p:cNvGraphicFramePr>
          <p:nvPr>
            <p:extLst>
              <p:ext uri="{D42A27DB-BD31-4B8C-83A1-F6EECF244321}">
                <p14:modId xmlns:p14="http://schemas.microsoft.com/office/powerpoint/2010/main" val="3277144390"/>
              </p:ext>
            </p:extLst>
          </p:nvPr>
        </p:nvGraphicFramePr>
        <p:xfrm>
          <a:off x="7662004" y="4370997"/>
          <a:ext cx="2256367" cy="1111251"/>
        </p:xfrm>
        <a:graphic>
          <a:graphicData uri="http://schemas.openxmlformats.org/drawingml/2006/table">
            <a:tbl>
              <a:tblPr bandRow="1"/>
              <a:tblGrid>
                <a:gridCol w="2256367">
                  <a:extLst>
                    <a:ext uri="{9D8B030D-6E8A-4147-A177-3AD203B41FA5}">
                      <a16:colId xmlns:a16="http://schemas.microsoft.com/office/drawing/2014/main" val="20000"/>
                    </a:ext>
                  </a:extLst>
                </a:gridCol>
              </a:tblGrid>
              <a:tr h="37041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500" dirty="0">
                          <a:latin typeface="Arial" panose="020B0604020202020204" pitchFamily="34" charset="0"/>
                          <a:ea typeface="微软雅黑" panose="020B0503020204020204" pitchFamily="34" charset="-122"/>
                        </a:rPr>
                        <a:t>Input Data</a:t>
                      </a:r>
                      <a:endParaRPr lang="zh-CN" altLang="en-US" sz="1500" dirty="0">
                        <a:latin typeface="Arial" panose="020B0604020202020204" pitchFamily="34" charset="0"/>
                        <a:ea typeface="微软雅黑" panose="020B0503020204020204" pitchFamily="34" charset="-122"/>
                      </a:endParaRPr>
                    </a:p>
                  </a:txBody>
                  <a:tcPr marL="91488" marR="91488" marT="45668" marB="4566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extLst>
                  <a:ext uri="{0D108BD9-81ED-4DB2-BD59-A6C34878D82A}">
                    <a16:rowId xmlns:a16="http://schemas.microsoft.com/office/drawing/2014/main" val="10000"/>
                  </a:ext>
                </a:extLst>
              </a:tr>
              <a:tr h="37041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500" dirty="0">
                          <a:latin typeface="Arial" panose="020B0604020202020204" pitchFamily="34" charset="0"/>
                          <a:ea typeface="微软雅黑" panose="020B0503020204020204" pitchFamily="34" charset="-122"/>
                        </a:rPr>
                        <a:t>Control Data</a:t>
                      </a:r>
                      <a:endParaRPr lang="zh-CN" altLang="en-US" sz="1500" dirty="0">
                        <a:latin typeface="Arial" panose="020B0604020202020204" pitchFamily="34" charset="0"/>
                        <a:ea typeface="微软雅黑" panose="020B0503020204020204" pitchFamily="34" charset="-122"/>
                      </a:endParaRPr>
                    </a:p>
                  </a:txBody>
                  <a:tcPr marL="91488" marR="91488" marT="45668" marB="4566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20000"/>
                      </a:srgbClr>
                    </a:solidFill>
                  </a:tcPr>
                </a:tc>
                <a:extLst>
                  <a:ext uri="{0D108BD9-81ED-4DB2-BD59-A6C34878D82A}">
                    <a16:rowId xmlns:a16="http://schemas.microsoft.com/office/drawing/2014/main" val="10001"/>
                  </a:ext>
                </a:extLst>
              </a:tr>
              <a:tr h="37041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1500" dirty="0">
                          <a:latin typeface="Arial" panose="020B0604020202020204" pitchFamily="34" charset="0"/>
                          <a:ea typeface="微软雅黑" panose="020B0503020204020204" pitchFamily="34" charset="-122"/>
                        </a:rPr>
                        <a:t>Calculation Data</a:t>
                      </a:r>
                      <a:endParaRPr lang="zh-CN" altLang="en-US" sz="1500" dirty="0">
                        <a:latin typeface="Arial" panose="020B0604020202020204" pitchFamily="34" charset="0"/>
                        <a:ea typeface="微软雅黑" panose="020B0503020204020204" pitchFamily="34" charset="-122"/>
                      </a:endParaRPr>
                    </a:p>
                  </a:txBody>
                  <a:tcPr marL="91488" marR="91488" marT="45668" marB="4566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extLst>
                  <a:ext uri="{0D108BD9-81ED-4DB2-BD59-A6C34878D82A}">
                    <a16:rowId xmlns:a16="http://schemas.microsoft.com/office/drawing/2014/main" val="10002"/>
                  </a:ext>
                </a:extLst>
              </a:tr>
            </a:tbl>
          </a:graphicData>
        </a:graphic>
      </p:graphicFrame>
      <p:cxnSp>
        <p:nvCxnSpPr>
          <p:cNvPr id="9" name="直接连接符 8">
            <a:extLst>
              <a:ext uri="{FF2B5EF4-FFF2-40B4-BE49-F238E27FC236}">
                <a16:creationId xmlns:a16="http://schemas.microsoft.com/office/drawing/2014/main" id="{EB0EC5F1-D9BA-3B89-A9E9-2571A0C493D3}"/>
              </a:ext>
            </a:extLst>
          </p:cNvPr>
          <p:cNvCxnSpPr/>
          <p:nvPr/>
        </p:nvCxnSpPr>
        <p:spPr>
          <a:xfrm>
            <a:off x="3405386" y="3837597"/>
            <a:ext cx="0" cy="2226733"/>
          </a:xfrm>
          <a:prstGeom prst="line">
            <a:avLst/>
          </a:prstGeom>
          <a:noFill/>
          <a:ln w="38100" cap="flat" cmpd="sng" algn="ctr">
            <a:solidFill>
              <a:srgbClr val="FF6A00"/>
            </a:solidFill>
            <a:prstDash val="solid"/>
          </a:ln>
          <a:effectLst>
            <a:outerShdw blurRad="40000" dist="23000" dir="5400000" rotWithShape="0">
              <a:srgbClr val="000000">
                <a:alpha val="35000"/>
              </a:srgbClr>
            </a:outerShdw>
          </a:effectLst>
        </p:spPr>
      </p:cxnSp>
      <p:sp>
        <p:nvSpPr>
          <p:cNvPr id="10" name="箭头: 右 9">
            <a:extLst>
              <a:ext uri="{FF2B5EF4-FFF2-40B4-BE49-F238E27FC236}">
                <a16:creationId xmlns:a16="http://schemas.microsoft.com/office/drawing/2014/main" id="{CEB18B7D-9463-BF0A-B3CD-04A1D2709EEB}"/>
              </a:ext>
            </a:extLst>
          </p:cNvPr>
          <p:cNvSpPr/>
          <p:nvPr/>
        </p:nvSpPr>
        <p:spPr>
          <a:xfrm>
            <a:off x="3576837" y="4227064"/>
            <a:ext cx="412751" cy="209551"/>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1" name="箭头: 右 10">
            <a:extLst>
              <a:ext uri="{FF2B5EF4-FFF2-40B4-BE49-F238E27FC236}">
                <a16:creationId xmlns:a16="http://schemas.microsoft.com/office/drawing/2014/main" id="{20404894-C54E-44FB-F7EF-AEEDFAEC6909}"/>
              </a:ext>
            </a:extLst>
          </p:cNvPr>
          <p:cNvSpPr/>
          <p:nvPr/>
        </p:nvSpPr>
        <p:spPr>
          <a:xfrm rot="10800000">
            <a:off x="3528153" y="5715081"/>
            <a:ext cx="410633" cy="209551"/>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2" name="箭头: 右 11">
            <a:extLst>
              <a:ext uri="{FF2B5EF4-FFF2-40B4-BE49-F238E27FC236}">
                <a16:creationId xmlns:a16="http://schemas.microsoft.com/office/drawing/2014/main" id="{303D6AF2-F8CE-3B94-FF83-11DC2DE3214B}"/>
              </a:ext>
            </a:extLst>
          </p:cNvPr>
          <p:cNvSpPr/>
          <p:nvPr/>
        </p:nvSpPr>
        <p:spPr>
          <a:xfrm>
            <a:off x="5047920" y="4267281"/>
            <a:ext cx="412751" cy="209551"/>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3" name="箭头: 右 12">
            <a:extLst>
              <a:ext uri="{FF2B5EF4-FFF2-40B4-BE49-F238E27FC236}">
                <a16:creationId xmlns:a16="http://schemas.microsoft.com/office/drawing/2014/main" id="{A3784AE3-F191-1EEF-0779-BC7C569D472F}"/>
              </a:ext>
            </a:extLst>
          </p:cNvPr>
          <p:cNvSpPr/>
          <p:nvPr/>
        </p:nvSpPr>
        <p:spPr>
          <a:xfrm rot="1261680">
            <a:off x="6880953" y="4277864"/>
            <a:ext cx="410633" cy="209551"/>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4" name="箭头: 右 13">
            <a:extLst>
              <a:ext uri="{FF2B5EF4-FFF2-40B4-BE49-F238E27FC236}">
                <a16:creationId xmlns:a16="http://schemas.microsoft.com/office/drawing/2014/main" id="{43CA45BB-879D-47AF-A7C4-151254B5CE58}"/>
              </a:ext>
            </a:extLst>
          </p:cNvPr>
          <p:cNvSpPr/>
          <p:nvPr/>
        </p:nvSpPr>
        <p:spPr>
          <a:xfrm rot="5400000">
            <a:off x="8914012" y="4841955"/>
            <a:ext cx="783167" cy="205317"/>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5" name="箭头: 右 14">
            <a:extLst>
              <a:ext uri="{FF2B5EF4-FFF2-40B4-BE49-F238E27FC236}">
                <a16:creationId xmlns:a16="http://schemas.microsoft.com/office/drawing/2014/main" id="{A5148889-F90B-57F5-3999-8898F8E2D90E}"/>
              </a:ext>
            </a:extLst>
          </p:cNvPr>
          <p:cNvSpPr/>
          <p:nvPr/>
        </p:nvSpPr>
        <p:spPr>
          <a:xfrm rot="10800000">
            <a:off x="5047920" y="5812448"/>
            <a:ext cx="412751" cy="209551"/>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sp>
        <p:nvSpPr>
          <p:cNvPr id="16" name="箭头: 右 15">
            <a:extLst>
              <a:ext uri="{FF2B5EF4-FFF2-40B4-BE49-F238E27FC236}">
                <a16:creationId xmlns:a16="http://schemas.microsoft.com/office/drawing/2014/main" id="{5652F949-27B5-6314-F5F5-F09CA863AE85}"/>
              </a:ext>
            </a:extLst>
          </p:cNvPr>
          <p:cNvSpPr/>
          <p:nvPr/>
        </p:nvSpPr>
        <p:spPr>
          <a:xfrm rot="8874694">
            <a:off x="6965619" y="5611364"/>
            <a:ext cx="450851" cy="224367"/>
          </a:xfrm>
          <a:prstGeom prst="rightArrow">
            <a:avLst/>
          </a:prstGeom>
          <a:solidFill>
            <a:srgbClr val="FF6A00"/>
          </a:solidFill>
          <a:ln>
            <a:noFill/>
          </a:ln>
          <a:effectLst/>
        </p:spPr>
        <p:txBody>
          <a:bodyPr anchor="ctr"/>
          <a:lstStyle/>
          <a:p>
            <a:pPr algn="ctr" defTabSz="914377">
              <a:defRPr/>
            </a:pPr>
            <a:endParaRPr lang="zh-CN" altLang="en-US" kern="0">
              <a:solidFill>
                <a:prstClr val="white"/>
              </a:solidFill>
              <a:latin typeface="Arial" panose="020B0604020202020204"/>
              <a:ea typeface="黑体" panose="02010609060101010101" charset="-122"/>
            </a:endParaRPr>
          </a:p>
        </p:txBody>
      </p:sp>
      <p:graphicFrame>
        <p:nvGraphicFramePr>
          <p:cNvPr id="17" name="表格 24">
            <a:extLst>
              <a:ext uri="{FF2B5EF4-FFF2-40B4-BE49-F238E27FC236}">
                <a16:creationId xmlns:a16="http://schemas.microsoft.com/office/drawing/2014/main" id="{C5BBC410-FD21-A20A-CFC6-70E18F6BC9A1}"/>
              </a:ext>
            </a:extLst>
          </p:cNvPr>
          <p:cNvGraphicFramePr>
            <a:graphicFrameLocks noGrp="1"/>
          </p:cNvGraphicFramePr>
          <p:nvPr>
            <p:extLst>
              <p:ext uri="{D42A27DB-BD31-4B8C-83A1-F6EECF244321}">
                <p14:modId xmlns:p14="http://schemas.microsoft.com/office/powerpoint/2010/main" val="1259604131"/>
              </p:ext>
            </p:extLst>
          </p:nvPr>
        </p:nvGraphicFramePr>
        <p:xfrm>
          <a:off x="9104273" y="5765976"/>
          <a:ext cx="2312665" cy="960120"/>
        </p:xfrm>
        <a:graphic>
          <a:graphicData uri="http://schemas.openxmlformats.org/drawingml/2006/table">
            <a:tbl>
              <a:tblPr bandRow="1">
                <a:gradFill rotWithShape="1">
                  <a:gsLst>
                    <a:gs pos="0">
                      <a:srgbClr val="6AC346">
                        <a:tint val="50000"/>
                        <a:satMod val="300000"/>
                      </a:srgbClr>
                    </a:gs>
                    <a:gs pos="35000">
                      <a:srgbClr val="6AC346">
                        <a:tint val="37000"/>
                        <a:satMod val="300000"/>
                      </a:srgbClr>
                    </a:gs>
                    <a:gs pos="100000">
                      <a:srgbClr val="6AC346">
                        <a:tint val="15000"/>
                        <a:satMod val="350000"/>
                      </a:srgbClr>
                    </a:gs>
                  </a:gsLst>
                  <a:lin ang="16200000" scaled="1"/>
                </a:gradFill>
                <a:effectLst>
                  <a:outerShdw blurRad="40000" dist="20000" dir="5400000" rotWithShape="0">
                    <a:srgbClr val="000000">
                      <a:alpha val="38000"/>
                    </a:srgbClr>
                  </a:outerShdw>
                </a:effectLst>
              </a:tblPr>
              <a:tblGrid>
                <a:gridCol w="2312665">
                  <a:extLst>
                    <a:ext uri="{9D8B030D-6E8A-4147-A177-3AD203B41FA5}">
                      <a16:colId xmlns:a16="http://schemas.microsoft.com/office/drawing/2014/main" val="20000"/>
                    </a:ext>
                  </a:extLst>
                </a:gridCol>
              </a:tblGrid>
              <a:tr h="22885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500" dirty="0">
                          <a:latin typeface="Arial" panose="020B0604020202020204" pitchFamily="34" charset="0"/>
                          <a:ea typeface="微软雅黑" panose="020B0503020204020204" pitchFamily="34" charset="-122"/>
                        </a:rPr>
                        <a:t>Workflow</a:t>
                      </a:r>
                      <a:endParaRPr lang="zh-CN" altLang="en-US" sz="1500" dirty="0">
                        <a:latin typeface="Arial" panose="020B0604020202020204" pitchFamily="34" charset="0"/>
                        <a:ea typeface="微软雅黑" panose="020B0503020204020204" pitchFamily="34" charset="-122"/>
                      </a:endParaRPr>
                    </a:p>
                  </a:txBody>
                  <a:tcPr>
                    <a:lnL w="9525" cap="flat" cmpd="sng" algn="ctr">
                      <a:solidFill>
                        <a:srgbClr val="6AC346">
                          <a:shade val="95000"/>
                          <a:satMod val="105000"/>
                        </a:srgbClr>
                      </a:solidFill>
                      <a:prstDash val="solid"/>
                    </a:lnL>
                    <a:lnR w="9525" cap="flat" cmpd="sng" algn="ctr">
                      <a:solidFill>
                        <a:srgbClr val="6AC346">
                          <a:shade val="95000"/>
                          <a:satMod val="105000"/>
                        </a:srgbClr>
                      </a:solidFill>
                      <a:prstDash val="solid"/>
                    </a:lnR>
                    <a:lnT w="9525" cap="flat" cmpd="sng" algn="ctr">
                      <a:solidFill>
                        <a:srgbClr val="6AC346">
                          <a:shade val="95000"/>
                          <a:satMod val="105000"/>
                        </a:srgbClr>
                      </a:solidFill>
                      <a:prstDash val="solid"/>
                    </a:lnT>
                    <a:lnB w="9525" cap="flat" cmpd="sng" algn="ctr">
                      <a:solidFill>
                        <a:srgbClr val="6AC346">
                          <a:shade val="95000"/>
                          <a:satMod val="105000"/>
                        </a:srgbClr>
                      </a:solidFill>
                      <a:prstDash val="solid"/>
                    </a:lnB>
                    <a:lnTlToBr w="12700" cmpd="sng">
                      <a:noFill/>
                      <a:prstDash val="solid"/>
                    </a:lnTlToBr>
                    <a:lnBlToTr w="12700" cmpd="sng">
                      <a:noFill/>
                      <a:prstDash val="solid"/>
                    </a:lnBlToTr>
                    <a:solidFill>
                      <a:srgbClr val="6AC346">
                        <a:alpha val="40000"/>
                      </a:srgbClr>
                    </a:solidFill>
                  </a:tcPr>
                </a:tc>
                <a:extLst>
                  <a:ext uri="{0D108BD9-81ED-4DB2-BD59-A6C34878D82A}">
                    <a16:rowId xmlns:a16="http://schemas.microsoft.com/office/drawing/2014/main" val="10000"/>
                  </a:ext>
                </a:extLst>
              </a:tr>
              <a:tr h="31496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500" dirty="0">
                          <a:latin typeface="Arial" panose="020B0604020202020204" pitchFamily="34" charset="0"/>
                          <a:ea typeface="微软雅黑" panose="020B0503020204020204" pitchFamily="34" charset="-122"/>
                        </a:rPr>
                        <a:t>UI</a:t>
                      </a:r>
                      <a:endParaRPr lang="zh-CN" altLang="en-US" sz="1500" dirty="0">
                        <a:latin typeface="Arial" panose="020B0604020202020204" pitchFamily="34" charset="0"/>
                        <a:ea typeface="微软雅黑" panose="020B0503020204020204" pitchFamily="34" charset="-122"/>
                      </a:endParaRPr>
                    </a:p>
                  </a:txBody>
                  <a:tcPr>
                    <a:lnL w="9525" cap="flat" cmpd="sng" algn="ctr">
                      <a:solidFill>
                        <a:srgbClr val="6AC346">
                          <a:shade val="95000"/>
                          <a:satMod val="105000"/>
                        </a:srgbClr>
                      </a:solidFill>
                      <a:prstDash val="solid"/>
                    </a:lnL>
                    <a:lnR w="9525" cap="flat" cmpd="sng" algn="ctr">
                      <a:solidFill>
                        <a:srgbClr val="6AC346">
                          <a:shade val="95000"/>
                          <a:satMod val="105000"/>
                        </a:srgbClr>
                      </a:solidFill>
                      <a:prstDash val="solid"/>
                    </a:lnR>
                    <a:lnT w="9525" cap="flat" cmpd="sng" algn="ctr">
                      <a:solidFill>
                        <a:srgbClr val="6AC346">
                          <a:shade val="95000"/>
                          <a:satMod val="105000"/>
                        </a:srgbClr>
                      </a:solidFill>
                      <a:prstDash val="solid"/>
                    </a:lnT>
                    <a:lnB w="9525" cap="flat" cmpd="sng" algn="ctr">
                      <a:solidFill>
                        <a:srgbClr val="6AC346">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496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altLang="zh-CN" sz="1500" dirty="0">
                          <a:latin typeface="Arial" panose="020B0604020202020204" pitchFamily="34" charset="0"/>
                          <a:ea typeface="微软雅黑" panose="020B0503020204020204" pitchFamily="34" charset="-122"/>
                        </a:rPr>
                        <a:t>Reporting</a:t>
                      </a:r>
                      <a:endParaRPr lang="zh-CN" altLang="en-US" sz="1500" dirty="0">
                        <a:latin typeface="Arial" panose="020B0604020202020204" pitchFamily="34" charset="0"/>
                        <a:ea typeface="微软雅黑" panose="020B0503020204020204" pitchFamily="34" charset="-122"/>
                      </a:endParaRPr>
                    </a:p>
                  </a:txBody>
                  <a:tcPr>
                    <a:lnL w="9525" cap="flat" cmpd="sng" algn="ctr">
                      <a:solidFill>
                        <a:srgbClr val="6AC346">
                          <a:shade val="95000"/>
                          <a:satMod val="105000"/>
                        </a:srgbClr>
                      </a:solidFill>
                      <a:prstDash val="solid"/>
                    </a:lnL>
                    <a:lnR w="9525" cap="flat" cmpd="sng" algn="ctr">
                      <a:solidFill>
                        <a:srgbClr val="6AC346">
                          <a:shade val="95000"/>
                          <a:satMod val="105000"/>
                        </a:srgbClr>
                      </a:solidFill>
                      <a:prstDash val="solid"/>
                    </a:lnR>
                    <a:lnT w="9525" cap="flat" cmpd="sng" algn="ctr">
                      <a:solidFill>
                        <a:srgbClr val="6AC346">
                          <a:shade val="95000"/>
                          <a:satMod val="105000"/>
                        </a:srgbClr>
                      </a:solidFill>
                      <a:prstDash val="solid"/>
                    </a:lnT>
                    <a:lnB w="9525" cap="flat" cmpd="sng" algn="ctr">
                      <a:solidFill>
                        <a:srgbClr val="6AC346">
                          <a:shade val="95000"/>
                          <a:satMod val="105000"/>
                        </a:srgbClr>
                      </a:solidFill>
                      <a:prstDash val="solid"/>
                    </a:lnB>
                    <a:lnTlToBr w="12700" cmpd="sng">
                      <a:noFill/>
                      <a:prstDash val="solid"/>
                    </a:lnTlToBr>
                    <a:lnBlToTr w="12700" cmpd="sng">
                      <a:noFill/>
                      <a:prstDash val="solid"/>
                    </a:lnBlToTr>
                    <a:solidFill>
                      <a:srgbClr val="6AC346">
                        <a:alpha val="40000"/>
                      </a:srgbClr>
                    </a:solidFill>
                  </a:tcPr>
                </a:tc>
                <a:extLst>
                  <a:ext uri="{0D108BD9-81ED-4DB2-BD59-A6C34878D82A}">
                    <a16:rowId xmlns:a16="http://schemas.microsoft.com/office/drawing/2014/main" val="10002"/>
                  </a:ext>
                </a:extLst>
              </a:tr>
            </a:tbl>
          </a:graphicData>
        </a:graphic>
      </p:graphicFrame>
      <p:sp>
        <p:nvSpPr>
          <p:cNvPr id="18" name="箭头: 上 17">
            <a:extLst>
              <a:ext uri="{FF2B5EF4-FFF2-40B4-BE49-F238E27FC236}">
                <a16:creationId xmlns:a16="http://schemas.microsoft.com/office/drawing/2014/main" id="{3DC8D613-5499-D84E-D0E0-E3B454778661}"/>
              </a:ext>
            </a:extLst>
          </p:cNvPr>
          <p:cNvSpPr/>
          <p:nvPr/>
        </p:nvSpPr>
        <p:spPr>
          <a:xfrm rot="20056925">
            <a:off x="8856526" y="5299794"/>
            <a:ext cx="1225358" cy="585471"/>
          </a:xfrm>
          <a:prstGeom prst="upArrow">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1600" b="1" dirty="0">
                <a:latin typeface="Arial" panose="020B0604020202020204" pitchFamily="34" charset="0"/>
                <a:ea typeface="微软雅黑" panose="020B0503020204020204" pitchFamily="34" charset="-122"/>
              </a:rPr>
              <a:t>基于</a:t>
            </a:r>
          </a:p>
        </p:txBody>
      </p:sp>
    </p:spTree>
    <p:extLst>
      <p:ext uri="{BB962C8B-B14F-4D97-AF65-F5344CB8AC3E}">
        <p14:creationId xmlns:p14="http://schemas.microsoft.com/office/powerpoint/2010/main" val="228018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CD789B-1B22-654B-28E8-21079337DE8A}"/>
              </a:ext>
            </a:extLst>
          </p:cNvPr>
          <p:cNvSpPr>
            <a:spLocks noGrp="1"/>
          </p:cNvSpPr>
          <p:nvPr>
            <p:ph type="title"/>
          </p:nvPr>
        </p:nvSpPr>
        <p:spPr/>
        <p:txBody>
          <a:bodyPr/>
          <a:lstStyle/>
          <a:p>
            <a:r>
              <a:rPr lang="zh-CN" altLang="en-US" dirty="0"/>
              <a:t>能力论</a:t>
            </a:r>
            <a:r>
              <a:rPr lang="en-US" altLang="zh-CN" dirty="0"/>
              <a:t>——</a:t>
            </a:r>
            <a:r>
              <a:rPr lang="zh-CN" altLang="en-US" dirty="0"/>
              <a:t>三种能力，只能融合在一个大脑</a:t>
            </a:r>
          </a:p>
        </p:txBody>
      </p:sp>
      <p:grpSp>
        <p:nvGrpSpPr>
          <p:cNvPr id="5" name="组合 4">
            <a:extLst>
              <a:ext uri="{FF2B5EF4-FFF2-40B4-BE49-F238E27FC236}">
                <a16:creationId xmlns:a16="http://schemas.microsoft.com/office/drawing/2014/main" id="{F38701E2-E4BB-1479-502D-E94248E6D2E8}"/>
              </a:ext>
            </a:extLst>
          </p:cNvPr>
          <p:cNvGrpSpPr>
            <a:grpSpLocks noChangeAspect="1"/>
          </p:cNvGrpSpPr>
          <p:nvPr>
            <p:custDataLst>
              <p:tags r:id="rId1"/>
            </p:custDataLst>
          </p:nvPr>
        </p:nvGrpSpPr>
        <p:grpSpPr>
          <a:xfrm>
            <a:off x="1010756" y="1042874"/>
            <a:ext cx="10170488" cy="3570418"/>
            <a:chOff x="910364" y="3390226"/>
            <a:chExt cx="5129298" cy="2043427"/>
          </a:xfrm>
        </p:grpSpPr>
        <p:grpSp>
          <p:nvGrpSpPr>
            <p:cNvPr id="6" name="组合 5">
              <a:extLst>
                <a:ext uri="{FF2B5EF4-FFF2-40B4-BE49-F238E27FC236}">
                  <a16:creationId xmlns:a16="http://schemas.microsoft.com/office/drawing/2014/main" id="{F83A09CA-B33F-612D-6711-70868B0B1AB5}"/>
                </a:ext>
              </a:extLst>
            </p:cNvPr>
            <p:cNvGrpSpPr/>
            <p:nvPr/>
          </p:nvGrpSpPr>
          <p:grpSpPr>
            <a:xfrm>
              <a:off x="910364" y="3390226"/>
              <a:ext cx="5129298" cy="650773"/>
              <a:chOff x="645969" y="1824467"/>
              <a:chExt cx="5129298" cy="650773"/>
            </a:xfrm>
          </p:grpSpPr>
          <p:sp>
            <p:nvSpPr>
              <p:cNvPr id="12" name="1">
                <a:extLst>
                  <a:ext uri="{FF2B5EF4-FFF2-40B4-BE49-F238E27FC236}">
                    <a16:creationId xmlns:a16="http://schemas.microsoft.com/office/drawing/2014/main" id="{F2B2C9A4-D865-EA17-5E18-DFE65F1F86ED}"/>
                  </a:ext>
                </a:extLst>
              </p:cNvPr>
              <p:cNvSpPr/>
              <p:nvPr/>
            </p:nvSpPr>
            <p:spPr>
              <a:xfrm>
                <a:off x="908629" y="1824467"/>
                <a:ext cx="4866638" cy="650773"/>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cs typeface="+mn-ea"/>
                  <a:sym typeface="+mn-lt"/>
                </a:endParaRPr>
              </a:p>
            </p:txBody>
          </p:sp>
          <p:sp>
            <p:nvSpPr>
              <p:cNvPr id="13" name="Index-1">
                <a:extLst>
                  <a:ext uri="{FF2B5EF4-FFF2-40B4-BE49-F238E27FC236}">
                    <a16:creationId xmlns:a16="http://schemas.microsoft.com/office/drawing/2014/main" id="{D3E01A42-E848-A090-4A5C-52698223E812}"/>
                  </a:ext>
                </a:extLst>
              </p:cNvPr>
              <p:cNvSpPr txBox="1">
                <a:spLocks noChangeAspect="1"/>
              </p:cNvSpPr>
              <p:nvPr>
                <p:custDataLst>
                  <p:tags r:id="rId5"/>
                </p:custDataLst>
              </p:nvPr>
            </p:nvSpPr>
            <p:spPr>
              <a:xfrm>
                <a:off x="645969" y="1879853"/>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Microsoft YaHei" panose="020B0503020204020204" pitchFamily="34" charset="-122"/>
                  </a:defRPr>
                </a:lvl1pPr>
              </a:lstStyle>
              <a:p>
                <a:r>
                  <a:rPr lang="en-US" altLang="zh-CN" sz="1600" dirty="0">
                    <a:latin typeface="+mn-lt"/>
                    <a:ea typeface="+mn-ea"/>
                    <a:cs typeface="+mn-ea"/>
                    <a:sym typeface="+mn-lt"/>
                  </a:rPr>
                  <a:t>01</a:t>
                </a:r>
                <a:endParaRPr lang="zh-CN" altLang="en-US" sz="1600" dirty="0">
                  <a:latin typeface="+mn-lt"/>
                  <a:ea typeface="+mn-ea"/>
                  <a:cs typeface="+mn-ea"/>
                  <a:sym typeface="+mn-lt"/>
                </a:endParaRPr>
              </a:p>
            </p:txBody>
          </p:sp>
          <p:sp>
            <p:nvSpPr>
              <p:cNvPr id="14" name="Title-1">
                <a:extLst>
                  <a:ext uri="{FF2B5EF4-FFF2-40B4-BE49-F238E27FC236}">
                    <a16:creationId xmlns:a16="http://schemas.microsoft.com/office/drawing/2014/main" id="{97032FAD-CFDE-4669-82F8-9BDCC99A2285}"/>
                  </a:ext>
                </a:extLst>
              </p:cNvPr>
              <p:cNvSpPr txBox="1"/>
              <p:nvPr>
                <p:custDataLst>
                  <p:tags r:id="rId6"/>
                </p:custDataLst>
              </p:nvPr>
            </p:nvSpPr>
            <p:spPr>
              <a:xfrm>
                <a:off x="1331373" y="2046013"/>
                <a:ext cx="4185724" cy="2634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业务理解力 </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 </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数据建模力 </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 </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系统架构力，三种能力缺一不可，而且是一体化的。</a:t>
                </a:r>
              </a:p>
            </p:txBody>
          </p:sp>
        </p:grpSp>
        <p:grpSp>
          <p:nvGrpSpPr>
            <p:cNvPr id="7" name="组合 6">
              <a:extLst>
                <a:ext uri="{FF2B5EF4-FFF2-40B4-BE49-F238E27FC236}">
                  <a16:creationId xmlns:a16="http://schemas.microsoft.com/office/drawing/2014/main" id="{A4EF7A10-DB96-69E6-35F9-62A104ECAE3B}"/>
                </a:ext>
              </a:extLst>
            </p:cNvPr>
            <p:cNvGrpSpPr/>
            <p:nvPr/>
          </p:nvGrpSpPr>
          <p:grpSpPr>
            <a:xfrm>
              <a:off x="910364" y="4209653"/>
              <a:ext cx="5129298" cy="1224000"/>
              <a:chOff x="6154073" y="1251241"/>
              <a:chExt cx="5129298" cy="1224000"/>
            </a:xfrm>
          </p:grpSpPr>
          <p:sp>
            <p:nvSpPr>
              <p:cNvPr id="8" name="2">
                <a:extLst>
                  <a:ext uri="{FF2B5EF4-FFF2-40B4-BE49-F238E27FC236}">
                    <a16:creationId xmlns:a16="http://schemas.microsoft.com/office/drawing/2014/main" id="{559424F7-CF9F-144A-17BE-777CFFD48D7D}"/>
                  </a:ext>
                </a:extLst>
              </p:cNvPr>
              <p:cNvSpPr/>
              <p:nvPr/>
            </p:nvSpPr>
            <p:spPr>
              <a:xfrm>
                <a:off x="6416733" y="1251241"/>
                <a:ext cx="4866638" cy="1224000"/>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cs typeface="+mn-ea"/>
                  <a:sym typeface="+mn-lt"/>
                </a:endParaRPr>
              </a:p>
            </p:txBody>
          </p:sp>
          <p:sp>
            <p:nvSpPr>
              <p:cNvPr id="9" name="Index-2">
                <a:extLst>
                  <a:ext uri="{FF2B5EF4-FFF2-40B4-BE49-F238E27FC236}">
                    <a16:creationId xmlns:a16="http://schemas.microsoft.com/office/drawing/2014/main" id="{9B6AEC65-08F5-0E09-EDBD-3B4E10AFE54A}"/>
                  </a:ext>
                </a:extLst>
              </p:cNvPr>
              <p:cNvSpPr txBox="1">
                <a:spLocks noChangeAspect="1"/>
              </p:cNvSpPr>
              <p:nvPr>
                <p:custDataLst>
                  <p:tags r:id="rId2"/>
                </p:custDataLst>
              </p:nvPr>
            </p:nvSpPr>
            <p:spPr>
              <a:xfrm>
                <a:off x="6154073" y="1616787"/>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wrap="none" rtlCol="0" anchor="ctr"/>
              <a:lstStyle>
                <a:defPPr>
                  <a:defRPr lang="zh-CN"/>
                </a:defPPr>
                <a:lvl1pPr algn="ctr">
                  <a:defRPr b="1">
                    <a:solidFill>
                      <a:srgbClr val="FFFFFF"/>
                    </a:solidFill>
                    <a:latin typeface="Arial" panose="020B0604020202020204" pitchFamily="34" charset="0"/>
                    <a:ea typeface="Microsoft YaHei" panose="020B0503020204020204" pitchFamily="34" charset="-122"/>
                  </a:defRPr>
                </a:lvl1pPr>
              </a:lstStyle>
              <a:p>
                <a:r>
                  <a:rPr lang="en-US" altLang="zh-CN" sz="1600" dirty="0">
                    <a:latin typeface="+mn-lt"/>
                    <a:ea typeface="+mn-ea"/>
                    <a:cs typeface="+mn-ea"/>
                    <a:sym typeface="+mn-lt"/>
                  </a:rPr>
                  <a:t>02</a:t>
                </a:r>
                <a:endParaRPr lang="zh-CN" altLang="en-US" sz="1600" dirty="0">
                  <a:latin typeface="+mn-lt"/>
                  <a:ea typeface="+mn-ea"/>
                  <a:cs typeface="+mn-ea"/>
                  <a:sym typeface="+mn-lt"/>
                </a:endParaRPr>
              </a:p>
            </p:txBody>
          </p:sp>
          <p:sp>
            <p:nvSpPr>
              <p:cNvPr id="10" name="Title-2">
                <a:extLst>
                  <a:ext uri="{FF2B5EF4-FFF2-40B4-BE49-F238E27FC236}">
                    <a16:creationId xmlns:a16="http://schemas.microsoft.com/office/drawing/2014/main" id="{D7D426DA-3991-D191-E3AE-B6112B68BD49}"/>
                  </a:ext>
                </a:extLst>
              </p:cNvPr>
              <p:cNvSpPr txBox="1"/>
              <p:nvPr>
                <p:custDataLst>
                  <p:tags r:id="rId3"/>
                </p:custDataLst>
              </p:nvPr>
            </p:nvSpPr>
            <p:spPr>
              <a:xfrm>
                <a:off x="6839477" y="1319067"/>
                <a:ext cx="3687042" cy="9584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那能不能找三个人</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团队集体智慧？不行。原因是</a:t>
                </a:r>
                <a:r>
                  <a:rPr kumimoji="0" lang="zh-CN" altLang="en-US" sz="2400" b="1" i="0" u="none" strike="noStrike" kern="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生物学限制</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a:t>
                </a:r>
              </a:p>
            </p:txBody>
          </p:sp>
          <p:sp>
            <p:nvSpPr>
              <p:cNvPr id="11" name="Body-2">
                <a:extLst>
                  <a:ext uri="{FF2B5EF4-FFF2-40B4-BE49-F238E27FC236}">
                    <a16:creationId xmlns:a16="http://schemas.microsoft.com/office/drawing/2014/main" id="{E01A4C01-5A90-31CC-529A-77C826AC323F}"/>
                  </a:ext>
                </a:extLst>
              </p:cNvPr>
              <p:cNvSpPr/>
              <p:nvPr>
                <p:custDataLst>
                  <p:tags r:id="rId4"/>
                </p:custDataLst>
              </p:nvPr>
            </p:nvSpPr>
            <p:spPr>
              <a:xfrm>
                <a:off x="6839477" y="1553423"/>
                <a:ext cx="4363945" cy="791918"/>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人类大脑之间无法直接内存映射。三个大脑无法融合成一个整体。它们只能通过语言交流，而语言无法无损传递认知结构。</a:t>
                </a:r>
              </a:p>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这不是衰减的问题，不是沟通效率的问题。是三个独立的脑，无法变成一颗一体化的脑。生物学上，做不到。</a:t>
                </a:r>
              </a:p>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而且，这三种能力本身就是强耦合的。业务理解里已经包含了模型直觉，模型直觉里已经包含了架构判断。它们不是三个独立模块，它们是一体的。</a:t>
                </a:r>
                <a:endParaRPr kumimoji="0" lang="en-GB"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grpSp>
      </p:grpSp>
      <p:sp>
        <p:nvSpPr>
          <p:cNvPr id="17" name="文本框 16">
            <a:extLst>
              <a:ext uri="{FF2B5EF4-FFF2-40B4-BE49-F238E27FC236}">
                <a16:creationId xmlns:a16="http://schemas.microsoft.com/office/drawing/2014/main" id="{25E8B7BA-C457-1B40-7F0D-F447EB02B82E}"/>
              </a:ext>
            </a:extLst>
          </p:cNvPr>
          <p:cNvSpPr txBox="1"/>
          <p:nvPr/>
        </p:nvSpPr>
        <p:spPr>
          <a:xfrm>
            <a:off x="2311073" y="5254676"/>
            <a:ext cx="6096982" cy="738664"/>
          </a:xfrm>
          <a:prstGeom prst="rect">
            <a:avLst/>
          </a:prstGeom>
          <a:noFill/>
        </p:spPr>
        <p:txBody>
          <a:bodyPr wrap="square">
            <a:spAutoFit/>
          </a:bodyPr>
          <a:lstStyle/>
          <a:p>
            <a:r>
              <a:rPr lang="zh-CN" altLang="en-US" dirty="0"/>
              <a:t>不是衰减的问题，是根本无法融合。一体化能力只能装在一个大脑里。这就是</a:t>
            </a:r>
            <a:r>
              <a:rPr lang="zh-CN" altLang="en-US" sz="2400" b="1" dirty="0">
                <a:solidFill>
                  <a:srgbClr val="00D4FF"/>
                </a:solidFill>
              </a:rPr>
              <a:t>单脑奇点</a:t>
            </a:r>
            <a:r>
              <a:rPr lang="zh-CN" altLang="en-US" dirty="0"/>
              <a:t>。</a:t>
            </a:r>
          </a:p>
        </p:txBody>
      </p:sp>
    </p:spTree>
    <p:extLst>
      <p:ext uri="{BB962C8B-B14F-4D97-AF65-F5344CB8AC3E}">
        <p14:creationId xmlns:p14="http://schemas.microsoft.com/office/powerpoint/2010/main" val="2855472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3C92E-69F9-CCA9-9051-D32588BD5522}"/>
              </a:ext>
            </a:extLst>
          </p:cNvPr>
          <p:cNvSpPr>
            <a:spLocks noGrp="1"/>
          </p:cNvSpPr>
          <p:nvPr>
            <p:ph type="title"/>
          </p:nvPr>
        </p:nvSpPr>
        <p:spPr/>
        <p:txBody>
          <a:bodyPr/>
          <a:lstStyle/>
          <a:p>
            <a:r>
              <a:rPr lang="zh-CN" altLang="en-US" dirty="0"/>
              <a:t>能力论</a:t>
            </a:r>
            <a:r>
              <a:rPr lang="en-US" altLang="zh-CN" dirty="0"/>
              <a:t>——</a:t>
            </a:r>
            <a:r>
              <a:rPr lang="zh-CN" altLang="en-US" dirty="0"/>
              <a:t>知识工程化，结构和进化</a:t>
            </a:r>
          </a:p>
        </p:txBody>
      </p:sp>
      <p:grpSp>
        <p:nvGrpSpPr>
          <p:cNvPr id="51" name="组合 50">
            <a:extLst>
              <a:ext uri="{FF2B5EF4-FFF2-40B4-BE49-F238E27FC236}">
                <a16:creationId xmlns:a16="http://schemas.microsoft.com/office/drawing/2014/main" id="{E539AF93-80E1-DDF2-0D75-E7C842E6A9E6}"/>
              </a:ext>
            </a:extLst>
          </p:cNvPr>
          <p:cNvGrpSpPr>
            <a:grpSpLocks noChangeAspect="1"/>
          </p:cNvGrpSpPr>
          <p:nvPr>
            <p:custDataLst>
              <p:tags r:id="rId1"/>
            </p:custDataLst>
          </p:nvPr>
        </p:nvGrpSpPr>
        <p:grpSpPr>
          <a:xfrm>
            <a:off x="1432205" y="992088"/>
            <a:ext cx="7334236" cy="1739790"/>
            <a:chOff x="1487978" y="1155064"/>
            <a:chExt cx="6087439" cy="2340944"/>
          </a:xfrm>
        </p:grpSpPr>
        <p:grpSp>
          <p:nvGrpSpPr>
            <p:cNvPr id="52" name="组合 2">
              <a:extLst>
                <a:ext uri="{FF2B5EF4-FFF2-40B4-BE49-F238E27FC236}">
                  <a16:creationId xmlns:a16="http://schemas.microsoft.com/office/drawing/2014/main" id="{DEEA9363-559E-9703-1D37-DB002921C2A3}"/>
                </a:ext>
              </a:extLst>
            </p:cNvPr>
            <p:cNvGrpSpPr/>
            <p:nvPr/>
          </p:nvGrpSpPr>
          <p:grpSpPr>
            <a:xfrm>
              <a:off x="4653387" y="1155066"/>
              <a:ext cx="2922030" cy="2340942"/>
              <a:chOff x="1085399" y="786753"/>
              <a:chExt cx="2922030" cy="2340942"/>
            </a:xfrm>
          </p:grpSpPr>
          <p:sp>
            <p:nvSpPr>
              <p:cNvPr id="58" name="2">
                <a:extLst>
                  <a:ext uri="{FF2B5EF4-FFF2-40B4-BE49-F238E27FC236}">
                    <a16:creationId xmlns:a16="http://schemas.microsoft.com/office/drawing/2014/main" id="{ED4ECB05-BC2A-5FEB-6BE4-82A5B7837C28}"/>
                  </a:ext>
                </a:extLst>
              </p:cNvPr>
              <p:cNvSpPr/>
              <p:nvPr/>
            </p:nvSpPr>
            <p:spPr>
              <a:xfrm>
                <a:off x="1308022" y="830316"/>
                <a:ext cx="2699407" cy="2297379"/>
              </a:xfrm>
              <a:prstGeom prst="roundRect">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0" name="Body-2">
                <a:extLst>
                  <a:ext uri="{FF2B5EF4-FFF2-40B4-BE49-F238E27FC236}">
                    <a16:creationId xmlns:a16="http://schemas.microsoft.com/office/drawing/2014/main" id="{DA910F7B-22B1-C743-B5FB-47FBA4D8184E}"/>
                  </a:ext>
                </a:extLst>
              </p:cNvPr>
              <p:cNvSpPr/>
              <p:nvPr>
                <p:custDataLst>
                  <p:tags r:id="rId4"/>
                </p:custDataLst>
              </p:nvPr>
            </p:nvSpPr>
            <p:spPr>
              <a:xfrm>
                <a:off x="1371367" y="1423229"/>
                <a:ext cx="2455200" cy="1402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结构可传，进化不可传</a:t>
                </a:r>
              </a:p>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哥德尔边界外，必须有人重写公理</a:t>
                </a:r>
              </a:p>
              <a:p>
                <a:pPr marL="0" marR="0" lvl="0" indent="0" defTabSz="913765" rtl="0" eaLnBrk="1" fontAlgn="auto" latinLnBrk="0" hangingPunct="1">
                  <a:lnSpc>
                    <a:spcPct val="130000"/>
                  </a:lnSpc>
                  <a:spcBef>
                    <a:spcPts val="0"/>
                  </a:spcBef>
                  <a:spcAft>
                    <a:spcPts val="0"/>
                  </a:spcAft>
                  <a:buClrTx/>
                  <a:buSzPct val="100000"/>
                  <a:buFontTx/>
                  <a:buNone/>
                  <a:defRPr/>
                </a:pPr>
                <a:r>
                  <a:rPr lang="zh-CN" altLang="en-US" sz="1400" dirty="0">
                    <a:solidFill>
                      <a:schemeClr val="tx2">
                        <a:lumMod val="90000"/>
                        <a:lumOff val="10000"/>
                      </a:schemeClr>
                    </a:solidFill>
                    <a:latin typeface="Arial" panose="020B0604020202020204" pitchFamily="34" charset="0"/>
                    <a:ea typeface="微软雅黑" panose="020B0503020204020204" pitchFamily="34" charset="-122"/>
                  </a:rPr>
                  <a:t>总设计师</a:t>
                </a: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不在，进化就停了</a:t>
                </a:r>
                <a:endParaRPr kumimoji="0" lang="en-GB"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endParaRPr>
              </a:p>
            </p:txBody>
          </p:sp>
          <p:sp>
            <p:nvSpPr>
              <p:cNvPr id="61" name="Index-2">
                <a:extLst>
                  <a:ext uri="{FF2B5EF4-FFF2-40B4-BE49-F238E27FC236}">
                    <a16:creationId xmlns:a16="http://schemas.microsoft.com/office/drawing/2014/main" id="{DF1771FD-9F9D-6502-B554-297447747D72}"/>
                  </a:ext>
                </a:extLst>
              </p:cNvPr>
              <p:cNvSpPr/>
              <p:nvPr>
                <p:custDataLst>
                  <p:tags r:id="rId5"/>
                </p:custDataLst>
              </p:nvPr>
            </p:nvSpPr>
            <p:spPr>
              <a:xfrm>
                <a:off x="1085399" y="786753"/>
                <a:ext cx="1981904" cy="454894"/>
              </a:xfrm>
              <a:prstGeom prst="homePlate">
                <a:avLst/>
              </a:prstGeom>
              <a:solidFill>
                <a:schemeClr val="accent2"/>
              </a:solidFill>
              <a:ln w="76200" cap="flat">
                <a:solidFill>
                  <a:schemeClr val="bg1"/>
                </a:solidFill>
                <a:prstDash val="solid"/>
                <a:miter/>
              </a:ln>
            </p:spPr>
            <p:txBody>
              <a:bodyPr rtlCol="0" anchor="ctr">
                <a:noAutofit/>
              </a:bodyPr>
              <a:lstStyle/>
              <a:p>
                <a:pPr algn="ctr"/>
                <a:r>
                  <a:rPr lang="zh-CN" altLang="en-US" b="1" dirty="0">
                    <a:solidFill>
                      <a:schemeClr val="bg1"/>
                    </a:solidFill>
                    <a:latin typeface="Arial" panose="020B0604020202020204" pitchFamily="34" charset="0"/>
                    <a:ea typeface="微软雅黑" panose="020B0503020204020204" pitchFamily="34" charset="-122"/>
                  </a:rPr>
                  <a:t>不能丢的单脑奇点</a:t>
                </a:r>
                <a:endParaRPr lang="zh-CN" altLang="en-US" b="1" dirty="0">
                  <a:solidFill>
                    <a:schemeClr val="bg1"/>
                  </a:solidFill>
                  <a:latin typeface="Microsoft YaHei (标题)"/>
                  <a:ea typeface="Microsoft YaHei" panose="020B0503020204020204" charset="-122"/>
                  <a:sym typeface="Arial" panose="020B0604020202020204" pitchFamily="34" charset="0"/>
                </a:endParaRPr>
              </a:p>
            </p:txBody>
          </p:sp>
        </p:grpSp>
        <p:grpSp>
          <p:nvGrpSpPr>
            <p:cNvPr id="53" name="组合 1">
              <a:extLst>
                <a:ext uri="{FF2B5EF4-FFF2-40B4-BE49-F238E27FC236}">
                  <a16:creationId xmlns:a16="http://schemas.microsoft.com/office/drawing/2014/main" id="{7A842F42-8C07-ACCB-C2CE-75C6CA5B5397}"/>
                </a:ext>
              </a:extLst>
            </p:cNvPr>
            <p:cNvGrpSpPr/>
            <p:nvPr/>
          </p:nvGrpSpPr>
          <p:grpSpPr>
            <a:xfrm>
              <a:off x="1487978" y="1155064"/>
              <a:ext cx="2812026" cy="2340944"/>
              <a:chOff x="1195403" y="786751"/>
              <a:chExt cx="2812026" cy="2340944"/>
            </a:xfrm>
          </p:grpSpPr>
          <p:sp>
            <p:nvSpPr>
              <p:cNvPr id="54" name="1">
                <a:extLst>
                  <a:ext uri="{FF2B5EF4-FFF2-40B4-BE49-F238E27FC236}">
                    <a16:creationId xmlns:a16="http://schemas.microsoft.com/office/drawing/2014/main" id="{BA473FF7-4A4B-8A17-6FB0-6C736A524817}"/>
                  </a:ext>
                </a:extLst>
              </p:cNvPr>
              <p:cNvSpPr/>
              <p:nvPr/>
            </p:nvSpPr>
            <p:spPr>
              <a:xfrm>
                <a:off x="1308022" y="830316"/>
                <a:ext cx="2699407" cy="2297379"/>
              </a:xfrm>
              <a:prstGeom prst="round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5" name="Title-1">
                <a:extLst>
                  <a:ext uri="{FF2B5EF4-FFF2-40B4-BE49-F238E27FC236}">
                    <a16:creationId xmlns:a16="http://schemas.microsoft.com/office/drawing/2014/main" id="{B426CE0F-A3F1-5D6B-0C7A-936805AC5528}"/>
                  </a:ext>
                </a:extLst>
              </p:cNvPr>
              <p:cNvSpPr txBox="1"/>
              <p:nvPr>
                <p:custDataLst>
                  <p:tags r:id="rId2"/>
                </p:custDataLst>
              </p:nvPr>
            </p:nvSpPr>
            <p:spPr>
              <a:xfrm>
                <a:off x="1195403" y="786751"/>
                <a:ext cx="1622278" cy="454894"/>
              </a:xfrm>
              <a:prstGeom prst="rect">
                <a:avLst/>
              </a:prstGeom>
              <a:solidFill>
                <a:schemeClr val="accent1"/>
              </a:solidFill>
            </p:spPr>
            <p:txBody>
              <a:bodyPr wrap="square" rtlCol="0">
                <a:noAutofit/>
              </a:bodyPr>
              <a:lstStyle/>
              <a:p>
                <a:r>
                  <a:rPr lang="zh-CN" altLang="en-US" b="1" dirty="0">
                    <a:solidFill>
                      <a:schemeClr val="tx2">
                        <a:lumMod val="90000"/>
                        <a:lumOff val="10000"/>
                      </a:schemeClr>
                    </a:solidFill>
                    <a:latin typeface="Arial" panose="020B0604020202020204" pitchFamily="34" charset="0"/>
                    <a:ea typeface="微软雅黑" panose="020B0503020204020204" pitchFamily="34" charset="-122"/>
                  </a:rPr>
                  <a:t>能传的</a:t>
                </a:r>
                <a:r>
                  <a:rPr lang="en-US" altLang="zh-CN" b="1" dirty="0">
                    <a:solidFill>
                      <a:schemeClr val="tx2">
                        <a:lumMod val="90000"/>
                        <a:lumOff val="10000"/>
                      </a:schemeClr>
                    </a:solidFill>
                    <a:latin typeface="Arial" panose="020B0604020202020204" pitchFamily="34" charset="0"/>
                    <a:ea typeface="微软雅黑" panose="020B0503020204020204" pitchFamily="34" charset="-122"/>
                  </a:rPr>
                  <a:t>——</a:t>
                </a:r>
                <a:r>
                  <a:rPr lang="zh-CN" altLang="en-US" b="1" dirty="0">
                    <a:solidFill>
                      <a:schemeClr val="tx2">
                        <a:lumMod val="90000"/>
                        <a:lumOff val="10000"/>
                      </a:schemeClr>
                    </a:solidFill>
                    <a:latin typeface="Arial" panose="020B0604020202020204" pitchFamily="34" charset="0"/>
                    <a:ea typeface="微软雅黑" panose="020B0503020204020204" pitchFamily="34" charset="-122"/>
                  </a:rPr>
                  <a:t>结构</a:t>
                </a:r>
              </a:p>
            </p:txBody>
          </p:sp>
          <p:sp>
            <p:nvSpPr>
              <p:cNvPr id="56" name="Body-1">
                <a:extLst>
                  <a:ext uri="{FF2B5EF4-FFF2-40B4-BE49-F238E27FC236}">
                    <a16:creationId xmlns:a16="http://schemas.microsoft.com/office/drawing/2014/main" id="{BA90C9B6-9BE2-009A-EEB6-060F480DDB02}"/>
                  </a:ext>
                </a:extLst>
              </p:cNvPr>
              <p:cNvSpPr/>
              <p:nvPr>
                <p:custDataLst>
                  <p:tags r:id="rId3"/>
                </p:custDataLst>
              </p:nvPr>
            </p:nvSpPr>
            <p:spPr>
              <a:xfrm>
                <a:off x="1390953" y="1241647"/>
                <a:ext cx="2455200" cy="16869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双螺旋结构 </a:t>
                </a:r>
                <a:r>
                  <a:rPr kumimoji="0" lang="en-US"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 </a:t>
                </a: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方法论</a:t>
                </a:r>
              </a:p>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工程化为：代码底座 </a:t>
                </a:r>
                <a:r>
                  <a:rPr kumimoji="0" lang="en-US"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 </a:t>
                </a: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架构图纸 </a:t>
                </a:r>
                <a:r>
                  <a:rPr kumimoji="0" lang="en-US"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 </a:t>
                </a:r>
                <a:r>
                  <a:rPr kumimoji="0" lang="zh-CN" altLang="en-US"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rPr>
                  <a:t>系统纪律</a:t>
                </a:r>
                <a:endParaRPr kumimoji="0" lang="en-US"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endParaRPr>
              </a:p>
              <a:p>
                <a:pPr marL="0" marR="0" lvl="0" indent="0" defTabSz="913765" rtl="0" eaLnBrk="1" fontAlgn="auto" latinLnBrk="0" hangingPunct="1">
                  <a:lnSpc>
                    <a:spcPct val="130000"/>
                  </a:lnSpc>
                  <a:spcBef>
                    <a:spcPts val="0"/>
                  </a:spcBef>
                  <a:spcAft>
                    <a:spcPts val="0"/>
                  </a:spcAft>
                  <a:buClrTx/>
                  <a:buSzPct val="100000"/>
                  <a:buFontTx/>
                  <a:buNone/>
                  <a:defRPr/>
                </a:pPr>
                <a:r>
                  <a:rPr lang="zh-CN" altLang="en-US" sz="1400" dirty="0">
                    <a:solidFill>
                      <a:schemeClr val="tx2">
                        <a:lumMod val="90000"/>
                        <a:lumOff val="10000"/>
                      </a:schemeClr>
                    </a:solidFill>
                    <a:latin typeface="Arial" panose="020B0604020202020204" pitchFamily="34" charset="0"/>
                    <a:ea typeface="微软雅黑" panose="020B0503020204020204" pitchFamily="34" charset="-122"/>
                  </a:rPr>
                  <a:t>在结构内做事相对容易</a:t>
                </a:r>
                <a:endParaRPr kumimoji="0" lang="en-GB" altLang="zh-CN" sz="1400" b="0" i="0"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mn-cs"/>
                </a:endParaRPr>
              </a:p>
            </p:txBody>
          </p:sp>
        </p:grpSp>
      </p:grpSp>
      <p:sp>
        <p:nvSpPr>
          <p:cNvPr id="63" name="文本框 62">
            <a:extLst>
              <a:ext uri="{FF2B5EF4-FFF2-40B4-BE49-F238E27FC236}">
                <a16:creationId xmlns:a16="http://schemas.microsoft.com/office/drawing/2014/main" id="{07A237CE-28BD-EBD8-6BAA-403AC4C282FA}"/>
              </a:ext>
            </a:extLst>
          </p:cNvPr>
          <p:cNvSpPr txBox="1"/>
          <p:nvPr/>
        </p:nvSpPr>
        <p:spPr>
          <a:xfrm>
            <a:off x="1920912" y="3756791"/>
            <a:ext cx="6650047" cy="738664"/>
          </a:xfrm>
          <a:prstGeom prst="rect">
            <a:avLst/>
          </a:prstGeom>
          <a:noFill/>
        </p:spPr>
        <p:txBody>
          <a:bodyPr wrap="square">
            <a:spAutoFit/>
          </a:bodyPr>
          <a:lstStyle/>
          <a:p>
            <a:r>
              <a:rPr lang="zh-CN" altLang="en-US" dirty="0">
                <a:latin typeface="+mn-ea"/>
              </a:rPr>
              <a:t>联想 </a:t>
            </a:r>
            <a:r>
              <a:rPr lang="en-US" altLang="zh-CN" dirty="0">
                <a:latin typeface="+mn-ea"/>
              </a:rPr>
              <a:t>in-house IPS</a:t>
            </a:r>
            <a:r>
              <a:rPr lang="zh-CN" altLang="en-US" dirty="0">
                <a:latin typeface="+mn-ea"/>
              </a:rPr>
              <a:t>：核心组件依赖 </a:t>
            </a:r>
            <a:r>
              <a:rPr lang="en-US" altLang="zh-CN" dirty="0">
                <a:latin typeface="+mn-ea"/>
              </a:rPr>
              <a:t>Blue Yonder</a:t>
            </a:r>
            <a:r>
              <a:rPr lang="zh-CN" altLang="en-US" dirty="0">
                <a:latin typeface="+mn-ea"/>
              </a:rPr>
              <a:t>，非全自研。</a:t>
            </a:r>
          </a:p>
          <a:p>
            <a:r>
              <a:rPr lang="en-US" altLang="zh-CN" dirty="0">
                <a:latin typeface="+mn-ea"/>
              </a:rPr>
              <a:t>LCFC</a:t>
            </a:r>
            <a:r>
              <a:rPr lang="zh-CN" altLang="en-US" dirty="0">
                <a:latin typeface="+mn-ea"/>
              </a:rPr>
              <a:t>：全</a:t>
            </a:r>
            <a:r>
              <a:rPr lang="zh-CN" altLang="en-US" sz="2400" b="1" dirty="0">
                <a:solidFill>
                  <a:srgbClr val="00D4FF"/>
                </a:solidFill>
                <a:latin typeface="+mn-ea"/>
              </a:rPr>
              <a:t>自研，</a:t>
            </a:r>
            <a:r>
              <a:rPr lang="en-US" altLang="zh-CN" sz="2400" b="1" dirty="0">
                <a:solidFill>
                  <a:srgbClr val="00D4FF"/>
                </a:solidFill>
                <a:latin typeface="+mn-ea"/>
              </a:rPr>
              <a:t>14 </a:t>
            </a:r>
            <a:r>
              <a:rPr lang="zh-CN" altLang="en-US" sz="2400" b="1" dirty="0">
                <a:solidFill>
                  <a:srgbClr val="00D4FF"/>
                </a:solidFill>
                <a:latin typeface="+mn-ea"/>
              </a:rPr>
              <a:t>年经验折叠成</a:t>
            </a:r>
            <a:r>
              <a:rPr lang="en-US" altLang="zh-CN" sz="2400" b="1" dirty="0">
                <a:solidFill>
                  <a:srgbClr val="00D4FF"/>
                </a:solidFill>
                <a:latin typeface="+mn-ea"/>
              </a:rPr>
              <a:t>1.5 </a:t>
            </a:r>
            <a:r>
              <a:rPr lang="zh-CN" altLang="en-US" sz="2400" b="1" dirty="0">
                <a:solidFill>
                  <a:srgbClr val="00D4FF"/>
                </a:solidFill>
                <a:latin typeface="+mn-ea"/>
              </a:rPr>
              <a:t>年</a:t>
            </a:r>
            <a:r>
              <a:rPr lang="zh-CN" altLang="en-US" dirty="0">
                <a:solidFill>
                  <a:srgbClr val="00D4FF"/>
                </a:solidFill>
                <a:latin typeface="+mn-ea"/>
              </a:rPr>
              <a:t>。</a:t>
            </a:r>
          </a:p>
        </p:txBody>
      </p:sp>
      <p:sp>
        <p:nvSpPr>
          <p:cNvPr id="65" name="文本框 64">
            <a:extLst>
              <a:ext uri="{FF2B5EF4-FFF2-40B4-BE49-F238E27FC236}">
                <a16:creationId xmlns:a16="http://schemas.microsoft.com/office/drawing/2014/main" id="{078A6590-8B00-285E-64B4-C2802B8FBD9F}"/>
              </a:ext>
            </a:extLst>
          </p:cNvPr>
          <p:cNvSpPr txBox="1"/>
          <p:nvPr/>
        </p:nvSpPr>
        <p:spPr>
          <a:xfrm>
            <a:off x="2108955" y="5304256"/>
            <a:ext cx="6096982" cy="738664"/>
          </a:xfrm>
          <a:prstGeom prst="rect">
            <a:avLst/>
          </a:prstGeom>
          <a:noFill/>
        </p:spPr>
        <p:txBody>
          <a:bodyPr wrap="square">
            <a:spAutoFit/>
          </a:bodyPr>
          <a:lstStyle/>
          <a:p>
            <a:r>
              <a:rPr lang="zh-CN" altLang="en-US" dirty="0"/>
              <a:t>结构靠工程化，进化靠单脑奇点在位。</a:t>
            </a:r>
            <a:endParaRPr lang="en-US" altLang="zh-CN" dirty="0"/>
          </a:p>
          <a:p>
            <a:r>
              <a:rPr lang="zh-CN" altLang="en-US" dirty="0"/>
              <a:t>单脑奇点 </a:t>
            </a:r>
            <a:r>
              <a:rPr lang="en-US" altLang="zh-CN" dirty="0"/>
              <a:t>= </a:t>
            </a:r>
            <a:r>
              <a:rPr lang="zh-CN" altLang="en-US" dirty="0"/>
              <a:t>钱学森体系中的</a:t>
            </a:r>
            <a:r>
              <a:rPr lang="zh-CN" altLang="en-US" dirty="0">
                <a:solidFill>
                  <a:srgbClr val="00D4FF"/>
                </a:solidFill>
              </a:rPr>
              <a:t>“</a:t>
            </a:r>
            <a:r>
              <a:rPr lang="zh-CN" altLang="en-US" sz="2400" b="1" dirty="0">
                <a:solidFill>
                  <a:srgbClr val="00D4FF"/>
                </a:solidFill>
              </a:rPr>
              <a:t>总设计师</a:t>
            </a:r>
            <a:r>
              <a:rPr lang="zh-CN" altLang="en-US" dirty="0">
                <a:solidFill>
                  <a:srgbClr val="00D4FF"/>
                </a:solidFill>
              </a:rPr>
              <a:t>”。</a:t>
            </a:r>
          </a:p>
        </p:txBody>
      </p:sp>
    </p:spTree>
    <p:extLst>
      <p:ext uri="{BB962C8B-B14F-4D97-AF65-F5344CB8AC3E}">
        <p14:creationId xmlns:p14="http://schemas.microsoft.com/office/powerpoint/2010/main" val="65168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C3D64-964D-4CE2-8924-D987905F647E}"/>
              </a:ext>
            </a:extLst>
          </p:cNvPr>
          <p:cNvSpPr>
            <a:spLocks noGrp="1"/>
          </p:cNvSpPr>
          <p:nvPr>
            <p:ph type="title"/>
          </p:nvPr>
        </p:nvSpPr>
        <p:spPr/>
        <p:txBody>
          <a:bodyPr/>
          <a:lstStyle/>
          <a:p>
            <a:r>
              <a:rPr lang="zh-CN" altLang="en-US" dirty="0"/>
              <a:t>机制论</a:t>
            </a:r>
            <a:r>
              <a:rPr lang="en-US" altLang="zh-CN" dirty="0"/>
              <a:t>——</a:t>
            </a:r>
            <a:r>
              <a:rPr lang="zh-CN" altLang="en-US" dirty="0"/>
              <a:t>设计权集中，机制只能刚性确权</a:t>
            </a:r>
          </a:p>
        </p:txBody>
      </p:sp>
      <p:graphicFrame>
        <p:nvGraphicFramePr>
          <p:cNvPr id="34" name="图示 33">
            <a:extLst>
              <a:ext uri="{FF2B5EF4-FFF2-40B4-BE49-F238E27FC236}">
                <a16:creationId xmlns:a16="http://schemas.microsoft.com/office/drawing/2014/main" id="{49997262-742B-3887-81C6-083D28C51D83}"/>
              </a:ext>
            </a:extLst>
          </p:cNvPr>
          <p:cNvGraphicFramePr/>
          <p:nvPr>
            <p:extLst>
              <p:ext uri="{D42A27DB-BD31-4B8C-83A1-F6EECF244321}">
                <p14:modId xmlns:p14="http://schemas.microsoft.com/office/powerpoint/2010/main" val="649574484"/>
              </p:ext>
            </p:extLst>
          </p:nvPr>
        </p:nvGraphicFramePr>
        <p:xfrm>
          <a:off x="1013215" y="1375184"/>
          <a:ext cx="9145474" cy="2512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文本框 35">
            <a:extLst>
              <a:ext uri="{FF2B5EF4-FFF2-40B4-BE49-F238E27FC236}">
                <a16:creationId xmlns:a16="http://schemas.microsoft.com/office/drawing/2014/main" id="{652373F7-ADAB-136E-E2B2-AFC1AAACEF62}"/>
              </a:ext>
            </a:extLst>
          </p:cNvPr>
          <p:cNvSpPr txBox="1"/>
          <p:nvPr/>
        </p:nvSpPr>
        <p:spPr>
          <a:xfrm>
            <a:off x="2122293" y="4856332"/>
            <a:ext cx="6096982" cy="1107996"/>
          </a:xfrm>
          <a:prstGeom prst="rect">
            <a:avLst/>
          </a:prstGeom>
          <a:noFill/>
        </p:spPr>
        <p:txBody>
          <a:bodyPr wrap="square">
            <a:spAutoFit/>
          </a:bodyPr>
          <a:lstStyle/>
          <a:p>
            <a:r>
              <a:rPr lang="zh-CN" altLang="en-US" dirty="0"/>
              <a:t>设计权集中，机制只能刚性确权。</a:t>
            </a:r>
            <a:r>
              <a:rPr lang="zh-CN" altLang="en-US" sz="2400" b="1" dirty="0">
                <a:solidFill>
                  <a:srgbClr val="00D4FF"/>
                </a:solidFill>
              </a:rPr>
              <a:t>不是选择，是推论</a:t>
            </a:r>
            <a:r>
              <a:rPr lang="zh-CN" altLang="en-US" dirty="0">
                <a:solidFill>
                  <a:srgbClr val="00D4FF"/>
                </a:solidFill>
              </a:rPr>
              <a:t>。</a:t>
            </a:r>
          </a:p>
          <a:p>
            <a:endParaRPr lang="zh-CN" altLang="en-US" dirty="0"/>
          </a:p>
          <a:p>
            <a:r>
              <a:rPr lang="zh-CN" altLang="en-US" sz="2400" b="1" dirty="0">
                <a:solidFill>
                  <a:srgbClr val="00D4FF"/>
                </a:solidFill>
              </a:rPr>
              <a:t>追问：</a:t>
            </a:r>
            <a:r>
              <a:rPr lang="zh-CN" altLang="en-US" dirty="0"/>
              <a:t>然而，没有全知全能的人，怎么配合？</a:t>
            </a:r>
          </a:p>
        </p:txBody>
      </p:sp>
    </p:spTree>
    <p:extLst>
      <p:ext uri="{BB962C8B-B14F-4D97-AF65-F5344CB8AC3E}">
        <p14:creationId xmlns:p14="http://schemas.microsoft.com/office/powerpoint/2010/main" val="2126289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360197-70A8-4DAB-0518-0401D4FD568E}"/>
              </a:ext>
            </a:extLst>
          </p:cNvPr>
          <p:cNvSpPr>
            <a:spLocks noGrp="1"/>
          </p:cNvSpPr>
          <p:nvPr>
            <p:ph type="title"/>
          </p:nvPr>
        </p:nvSpPr>
        <p:spPr/>
        <p:txBody>
          <a:bodyPr/>
          <a:lstStyle/>
          <a:p>
            <a:r>
              <a:rPr lang="zh-CN" altLang="en-US" dirty="0"/>
              <a:t>机制论</a:t>
            </a:r>
            <a:r>
              <a:rPr lang="en-US" altLang="zh-CN" dirty="0"/>
              <a:t>——</a:t>
            </a:r>
            <a:r>
              <a:rPr lang="zh-CN" altLang="en-US" dirty="0"/>
              <a:t>刚性确权，人在环外</a:t>
            </a:r>
          </a:p>
        </p:txBody>
      </p:sp>
      <p:graphicFrame>
        <p:nvGraphicFramePr>
          <p:cNvPr id="5" name="图示 4">
            <a:extLst>
              <a:ext uri="{FF2B5EF4-FFF2-40B4-BE49-F238E27FC236}">
                <a16:creationId xmlns:a16="http://schemas.microsoft.com/office/drawing/2014/main" id="{F5F9F57E-6A66-4774-2761-A7AE1BA14F31}"/>
              </a:ext>
            </a:extLst>
          </p:cNvPr>
          <p:cNvGraphicFramePr/>
          <p:nvPr>
            <p:extLst>
              <p:ext uri="{D42A27DB-BD31-4B8C-83A1-F6EECF244321}">
                <p14:modId xmlns:p14="http://schemas.microsoft.com/office/powerpoint/2010/main" val="1141379320"/>
              </p:ext>
            </p:extLst>
          </p:nvPr>
        </p:nvGraphicFramePr>
        <p:xfrm>
          <a:off x="1573651" y="1387129"/>
          <a:ext cx="7717831" cy="2862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48A6EA1A-1C1B-A8D5-0169-58712EB7DBB9}"/>
              </a:ext>
            </a:extLst>
          </p:cNvPr>
          <p:cNvSpPr txBox="1"/>
          <p:nvPr/>
        </p:nvSpPr>
        <p:spPr>
          <a:xfrm>
            <a:off x="1482210" y="5006901"/>
            <a:ext cx="8490647" cy="738664"/>
          </a:xfrm>
          <a:prstGeom prst="rect">
            <a:avLst/>
          </a:prstGeom>
          <a:noFill/>
        </p:spPr>
        <p:txBody>
          <a:bodyPr wrap="square">
            <a:spAutoFit/>
          </a:bodyPr>
          <a:lstStyle/>
          <a:p>
            <a:r>
              <a:rPr lang="zh-CN" altLang="en-US" dirty="0"/>
              <a:t>总设计师</a:t>
            </a:r>
            <a:r>
              <a:rPr lang="en-US" altLang="zh-CN" dirty="0"/>
              <a:t>/</a:t>
            </a:r>
            <a:r>
              <a:rPr lang="zh-CN" altLang="en-US" dirty="0"/>
              <a:t>硅基引擎，把混沌收敛成确定性指令。</a:t>
            </a:r>
            <a:endParaRPr lang="en-US" altLang="zh-CN" dirty="0"/>
          </a:p>
          <a:p>
            <a:r>
              <a:rPr lang="zh-CN" altLang="en-US" dirty="0"/>
              <a:t>自由输入 → 逻辑坍缩 → 协同协奏 → 闭环反馈。</a:t>
            </a:r>
            <a:r>
              <a:rPr lang="zh-CN" altLang="en-US" sz="2400" b="1" dirty="0">
                <a:solidFill>
                  <a:srgbClr val="00D4FF"/>
                </a:solidFill>
              </a:rPr>
              <a:t>循环不停，系统不散</a:t>
            </a:r>
            <a:r>
              <a:rPr lang="zh-CN" altLang="en-US" dirty="0">
                <a:solidFill>
                  <a:srgbClr val="00D4FF"/>
                </a:solidFill>
              </a:rPr>
              <a:t>。</a:t>
            </a:r>
          </a:p>
        </p:txBody>
      </p:sp>
    </p:spTree>
    <p:extLst>
      <p:ext uri="{BB962C8B-B14F-4D97-AF65-F5344CB8AC3E}">
        <p14:creationId xmlns:p14="http://schemas.microsoft.com/office/powerpoint/2010/main" val="1626645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F7D3B-5692-9DB2-846B-8AFA20E2AF79}"/>
              </a:ext>
            </a:extLst>
          </p:cNvPr>
          <p:cNvSpPr>
            <a:spLocks noGrp="1"/>
          </p:cNvSpPr>
          <p:nvPr>
            <p:ph type="title"/>
          </p:nvPr>
        </p:nvSpPr>
        <p:spPr/>
        <p:txBody>
          <a:bodyPr/>
          <a:lstStyle/>
          <a:p>
            <a:r>
              <a:rPr lang="zh-CN" altLang="en-US" dirty="0"/>
              <a:t>路径论</a:t>
            </a:r>
            <a:r>
              <a:rPr lang="en-US" altLang="zh-CN" dirty="0"/>
              <a:t>——</a:t>
            </a:r>
            <a:r>
              <a:rPr lang="zh-CN" altLang="en-US" dirty="0"/>
              <a:t>从哪儿下手？</a:t>
            </a:r>
          </a:p>
        </p:txBody>
      </p:sp>
      <p:sp>
        <p:nvSpPr>
          <p:cNvPr id="4" name="文本框 3">
            <a:extLst>
              <a:ext uri="{FF2B5EF4-FFF2-40B4-BE49-F238E27FC236}">
                <a16:creationId xmlns:a16="http://schemas.microsoft.com/office/drawing/2014/main" id="{CBFB06EB-C71B-D0C0-99D4-224AE10ACD2B}"/>
              </a:ext>
            </a:extLst>
          </p:cNvPr>
          <p:cNvSpPr txBox="1"/>
          <p:nvPr/>
        </p:nvSpPr>
        <p:spPr>
          <a:xfrm>
            <a:off x="1526458" y="1962930"/>
            <a:ext cx="8231074" cy="1261884"/>
          </a:xfrm>
          <a:prstGeom prst="rect">
            <a:avLst/>
          </a:prstGeom>
          <a:noFill/>
        </p:spPr>
        <p:txBody>
          <a:bodyPr wrap="square">
            <a:spAutoFit/>
          </a:bodyPr>
          <a:lstStyle/>
          <a:p>
            <a:pPr marL="285750" indent="-285750">
              <a:buFont typeface="Arial" panose="020B0604020202020204" pitchFamily="34" charset="0"/>
              <a:buChar char="•"/>
            </a:pPr>
            <a:r>
              <a:rPr lang="zh-CN" altLang="en-US" sz="2400" dirty="0"/>
              <a:t>机制论已推出：</a:t>
            </a:r>
            <a:r>
              <a:rPr lang="zh-CN" altLang="en-US" sz="2800" b="1" dirty="0">
                <a:solidFill>
                  <a:srgbClr val="00D4FF"/>
                </a:solidFill>
              </a:rPr>
              <a:t>设计权集中</a:t>
            </a:r>
            <a:r>
              <a:rPr lang="zh-CN" altLang="en-US" sz="2400" dirty="0"/>
              <a:t>，刚性确权，</a:t>
            </a:r>
            <a:r>
              <a:rPr lang="zh-CN" altLang="en-US" sz="2800" b="1" dirty="0">
                <a:solidFill>
                  <a:srgbClr val="00D4FF"/>
                </a:solidFill>
              </a:rPr>
              <a:t>人在环外</a:t>
            </a:r>
            <a:r>
              <a:rPr lang="zh-CN" altLang="en-US" sz="2400" dirty="0"/>
              <a:t>。</a:t>
            </a:r>
          </a:p>
          <a:p>
            <a:pPr marL="285750" indent="-285750">
              <a:buFont typeface="Arial" panose="020B0604020202020204" pitchFamily="34" charset="0"/>
              <a:buChar char="•"/>
            </a:pPr>
            <a:endParaRPr lang="zh-CN" altLang="en-US" sz="2400" dirty="0"/>
          </a:p>
          <a:p>
            <a:pPr marL="285750" indent="-285750">
              <a:buFont typeface="Arial" panose="020B0604020202020204" pitchFamily="34" charset="0"/>
              <a:buChar char="•"/>
            </a:pPr>
            <a:r>
              <a:rPr lang="zh-CN" altLang="en-US" sz="2400" dirty="0"/>
              <a:t>但体系不是一天建成的。牵涉百亿营收、几十个异构系统。</a:t>
            </a:r>
            <a:endParaRPr lang="zh-CN" altLang="en-US" sz="2400" b="1" dirty="0">
              <a:solidFill>
                <a:schemeClr val="accent1"/>
              </a:solidFill>
            </a:endParaRPr>
          </a:p>
        </p:txBody>
      </p:sp>
      <p:sp>
        <p:nvSpPr>
          <p:cNvPr id="6" name="文本框 5">
            <a:extLst>
              <a:ext uri="{FF2B5EF4-FFF2-40B4-BE49-F238E27FC236}">
                <a16:creationId xmlns:a16="http://schemas.microsoft.com/office/drawing/2014/main" id="{BCDF7006-0B6F-308B-3888-AABA830A68E2}"/>
              </a:ext>
            </a:extLst>
          </p:cNvPr>
          <p:cNvSpPr txBox="1"/>
          <p:nvPr/>
        </p:nvSpPr>
        <p:spPr>
          <a:xfrm>
            <a:off x="2051501" y="5021515"/>
            <a:ext cx="8419854" cy="461665"/>
          </a:xfrm>
          <a:prstGeom prst="rect">
            <a:avLst/>
          </a:prstGeom>
          <a:noFill/>
        </p:spPr>
        <p:txBody>
          <a:bodyPr wrap="square">
            <a:spAutoFit/>
          </a:bodyPr>
          <a:lstStyle/>
          <a:p>
            <a:r>
              <a:rPr lang="zh-CN" altLang="en-US" sz="2400" b="1" dirty="0">
                <a:solidFill>
                  <a:srgbClr val="00D4FF"/>
                </a:solidFill>
              </a:rPr>
              <a:t>设计有了，机制有了。接下来问的是</a:t>
            </a:r>
            <a:r>
              <a:rPr lang="en-US" altLang="zh-CN" dirty="0">
                <a:solidFill>
                  <a:srgbClr val="00D4FF"/>
                </a:solidFill>
              </a:rPr>
              <a:t>——</a:t>
            </a:r>
            <a:r>
              <a:rPr lang="zh-CN" altLang="en-US" sz="2400" b="1" dirty="0">
                <a:solidFill>
                  <a:srgbClr val="00D4FF"/>
                </a:solidFill>
              </a:rPr>
              <a:t>路在何方？</a:t>
            </a:r>
            <a:endParaRPr lang="zh-CN" altLang="en-US" b="1" dirty="0">
              <a:solidFill>
                <a:srgbClr val="00D4FF"/>
              </a:solidFill>
            </a:endParaRPr>
          </a:p>
        </p:txBody>
      </p:sp>
    </p:spTree>
    <p:extLst>
      <p:ext uri="{BB962C8B-B14F-4D97-AF65-F5344CB8AC3E}">
        <p14:creationId xmlns:p14="http://schemas.microsoft.com/office/powerpoint/2010/main" val="2998168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EC9DD9-8A0B-82D4-4377-280693398A48}"/>
              </a:ext>
            </a:extLst>
          </p:cNvPr>
          <p:cNvSpPr>
            <a:spLocks noGrp="1"/>
          </p:cNvSpPr>
          <p:nvPr>
            <p:ph type="title"/>
          </p:nvPr>
        </p:nvSpPr>
        <p:spPr/>
        <p:txBody>
          <a:bodyPr/>
          <a:lstStyle/>
          <a:p>
            <a:r>
              <a:rPr lang="zh-CN" altLang="en-US" dirty="0"/>
              <a:t>路径论</a:t>
            </a:r>
            <a:r>
              <a:rPr lang="en-US" altLang="zh-CN" dirty="0"/>
              <a:t>——</a:t>
            </a:r>
            <a:r>
              <a:rPr lang="zh-CN" altLang="en-US" dirty="0"/>
              <a:t>宏观精准，微观爆炸</a:t>
            </a:r>
          </a:p>
        </p:txBody>
      </p:sp>
      <p:grpSp>
        <p:nvGrpSpPr>
          <p:cNvPr id="7" name="组合 6">
            <a:extLst>
              <a:ext uri="{FF2B5EF4-FFF2-40B4-BE49-F238E27FC236}">
                <a16:creationId xmlns:a16="http://schemas.microsoft.com/office/drawing/2014/main" id="{68973FCD-7DAA-42A4-9DF1-877E1ACDD150}"/>
              </a:ext>
            </a:extLst>
          </p:cNvPr>
          <p:cNvGrpSpPr>
            <a:grpSpLocks noChangeAspect="1"/>
          </p:cNvGrpSpPr>
          <p:nvPr>
            <p:custDataLst>
              <p:tags r:id="rId1"/>
            </p:custDataLst>
          </p:nvPr>
        </p:nvGrpSpPr>
        <p:grpSpPr>
          <a:xfrm>
            <a:off x="1372894" y="1161165"/>
            <a:ext cx="10443513" cy="3241551"/>
            <a:chOff x="1173024" y="1622273"/>
            <a:chExt cx="4866638" cy="3575194"/>
          </a:xfrm>
        </p:grpSpPr>
        <p:grpSp>
          <p:nvGrpSpPr>
            <p:cNvPr id="8" name="组合 7">
              <a:extLst>
                <a:ext uri="{FF2B5EF4-FFF2-40B4-BE49-F238E27FC236}">
                  <a16:creationId xmlns:a16="http://schemas.microsoft.com/office/drawing/2014/main" id="{E26399C1-426E-FEC5-4EB2-48C04BCBE3AB}"/>
                </a:ext>
              </a:extLst>
            </p:cNvPr>
            <p:cNvGrpSpPr/>
            <p:nvPr/>
          </p:nvGrpSpPr>
          <p:grpSpPr>
            <a:xfrm>
              <a:off x="1173024" y="1622273"/>
              <a:ext cx="4866638" cy="1069321"/>
              <a:chOff x="908629" y="1529911"/>
              <a:chExt cx="4866638" cy="1069321"/>
            </a:xfrm>
          </p:grpSpPr>
          <p:sp>
            <p:nvSpPr>
              <p:cNvPr id="19" name="1">
                <a:extLst>
                  <a:ext uri="{FF2B5EF4-FFF2-40B4-BE49-F238E27FC236}">
                    <a16:creationId xmlns:a16="http://schemas.microsoft.com/office/drawing/2014/main" id="{89A155A1-8234-B9AF-3A51-8E16ACD13131}"/>
                  </a:ext>
                </a:extLst>
              </p:cNvPr>
              <p:cNvSpPr/>
              <p:nvPr/>
            </p:nvSpPr>
            <p:spPr>
              <a:xfrm>
                <a:off x="908629" y="1529911"/>
                <a:ext cx="4866638" cy="945329"/>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42640" tIns="45720" rIns="174240" bIns="45720" rtlCol="0" anchor="ctr"/>
              <a:lstStyle/>
              <a:p>
                <a:pPr>
                  <a:lnSpc>
                    <a:spcPct val="130000"/>
                  </a:lnSpc>
                </a:pPr>
                <a:endParaRPr kumimoji="1" lang="en-US" altLang="zh-CN" sz="1200" dirty="0">
                  <a:solidFill>
                    <a:schemeClr val="tx1"/>
                  </a:solidFill>
                  <a:cs typeface="+mn-ea"/>
                  <a:sym typeface="+mn-lt"/>
                </a:endParaRPr>
              </a:p>
            </p:txBody>
          </p:sp>
          <p:sp>
            <p:nvSpPr>
              <p:cNvPr id="21" name="Title-1">
                <a:extLst>
                  <a:ext uri="{FF2B5EF4-FFF2-40B4-BE49-F238E27FC236}">
                    <a16:creationId xmlns:a16="http://schemas.microsoft.com/office/drawing/2014/main" id="{8B175538-D7D5-FAC9-3855-9B882D4C064A}"/>
                  </a:ext>
                </a:extLst>
              </p:cNvPr>
              <p:cNvSpPr txBox="1"/>
              <p:nvPr>
                <p:custDataLst>
                  <p:tags r:id="rId4"/>
                </p:custDataLst>
              </p:nvPr>
            </p:nvSpPr>
            <p:spPr>
              <a:xfrm>
                <a:off x="1314158" y="1826694"/>
                <a:ext cx="3131180" cy="77253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苹果是</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MTS</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模式，它的</a:t>
                </a:r>
                <a:r>
                  <a:rPr kumimoji="0" lang="en-US" altLang="zh-CN"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S&amp;OP</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和主计划做得异常精准。</a:t>
                </a:r>
              </a:p>
            </p:txBody>
          </p:sp>
        </p:grpSp>
        <p:grpSp>
          <p:nvGrpSpPr>
            <p:cNvPr id="9" name="组合 8">
              <a:extLst>
                <a:ext uri="{FF2B5EF4-FFF2-40B4-BE49-F238E27FC236}">
                  <a16:creationId xmlns:a16="http://schemas.microsoft.com/office/drawing/2014/main" id="{FBBC1640-26B8-78F3-622D-F9BB32B2204A}"/>
                </a:ext>
              </a:extLst>
            </p:cNvPr>
            <p:cNvGrpSpPr/>
            <p:nvPr/>
          </p:nvGrpSpPr>
          <p:grpSpPr>
            <a:xfrm>
              <a:off x="1173024" y="2642796"/>
              <a:ext cx="4866638" cy="1469947"/>
              <a:chOff x="908629" y="2550434"/>
              <a:chExt cx="4866638" cy="1469947"/>
            </a:xfrm>
          </p:grpSpPr>
          <p:sp>
            <p:nvSpPr>
              <p:cNvPr id="15" name="2">
                <a:extLst>
                  <a:ext uri="{FF2B5EF4-FFF2-40B4-BE49-F238E27FC236}">
                    <a16:creationId xmlns:a16="http://schemas.microsoft.com/office/drawing/2014/main" id="{F04D8C05-B432-ECDD-750A-E8536785B518}"/>
                  </a:ext>
                </a:extLst>
              </p:cNvPr>
              <p:cNvSpPr/>
              <p:nvPr/>
            </p:nvSpPr>
            <p:spPr>
              <a:xfrm>
                <a:off x="908629" y="2550434"/>
                <a:ext cx="4866638" cy="1469947"/>
              </a:xfrm>
              <a:prstGeom prst="roundRect">
                <a:avLst>
                  <a:gd name="adj" fmla="val 9100"/>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endParaRPr kumimoji="1" lang="en-US" altLang="zh-CN" sz="1200" dirty="0">
                  <a:solidFill>
                    <a:schemeClr val="tx1"/>
                  </a:solidFill>
                  <a:cs typeface="+mn-ea"/>
                  <a:sym typeface="+mn-lt"/>
                </a:endParaRPr>
              </a:p>
            </p:txBody>
          </p:sp>
          <p:sp>
            <p:nvSpPr>
              <p:cNvPr id="17" name="Title-2">
                <a:extLst>
                  <a:ext uri="{FF2B5EF4-FFF2-40B4-BE49-F238E27FC236}">
                    <a16:creationId xmlns:a16="http://schemas.microsoft.com/office/drawing/2014/main" id="{9762EDC4-0501-F282-25C4-AEC51369DF53}"/>
                  </a:ext>
                </a:extLst>
              </p:cNvPr>
              <p:cNvSpPr txBox="1"/>
              <p:nvPr>
                <p:custDataLst>
                  <p:tags r:id="rId3"/>
                </p:custDataLst>
              </p:nvPr>
            </p:nvSpPr>
            <p:spPr>
              <a:xfrm>
                <a:off x="1298646" y="2876136"/>
                <a:ext cx="3776992" cy="8185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但宏观报表上聚合的“一百万台手机”</a:t>
                </a: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，穿透到代工厂产线，瞬间爆炸为治具磨损、临时缺料、设备切换等</a:t>
                </a:r>
                <a:r>
                  <a:rPr kumimoji="0" lang="zh-CN" altLang="en-US" sz="2400" b="1" i="0" u="none" strike="noStrike" kern="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千万个具体约束</a:t>
                </a:r>
                <a:r>
                  <a:rPr kumimoji="0" lang="zh-CN" altLang="en-US" sz="1800" b="1" i="0" u="none" strike="noStrike" kern="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a:t>
                </a:r>
              </a:p>
            </p:txBody>
          </p:sp>
        </p:grpSp>
        <p:grpSp>
          <p:nvGrpSpPr>
            <p:cNvPr id="10" name="组合 9">
              <a:extLst>
                <a:ext uri="{FF2B5EF4-FFF2-40B4-BE49-F238E27FC236}">
                  <a16:creationId xmlns:a16="http://schemas.microsoft.com/office/drawing/2014/main" id="{8AFDB197-E480-071B-279E-539464580309}"/>
                </a:ext>
              </a:extLst>
            </p:cNvPr>
            <p:cNvGrpSpPr/>
            <p:nvPr/>
          </p:nvGrpSpPr>
          <p:grpSpPr>
            <a:xfrm>
              <a:off x="1173024" y="4290399"/>
              <a:ext cx="4866638" cy="907068"/>
              <a:chOff x="908629" y="4198037"/>
              <a:chExt cx="4866638" cy="907068"/>
            </a:xfrm>
          </p:grpSpPr>
          <p:sp>
            <p:nvSpPr>
              <p:cNvPr id="11" name="3">
                <a:extLst>
                  <a:ext uri="{FF2B5EF4-FFF2-40B4-BE49-F238E27FC236}">
                    <a16:creationId xmlns:a16="http://schemas.microsoft.com/office/drawing/2014/main" id="{DD942953-8D07-10E2-7137-349CAAEA6850}"/>
                  </a:ext>
                </a:extLst>
              </p:cNvPr>
              <p:cNvSpPr/>
              <p:nvPr/>
            </p:nvSpPr>
            <p:spPr>
              <a:xfrm>
                <a:off x="908629" y="4198037"/>
                <a:ext cx="4866638" cy="846323"/>
              </a:xfrm>
              <a:prstGeom prst="roundRect">
                <a:avLst>
                  <a:gd name="adj" fmla="val 91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endParaRPr kumimoji="1" lang="en-US" altLang="zh-CN" sz="1200" dirty="0">
                  <a:solidFill>
                    <a:schemeClr val="tx1"/>
                  </a:solidFill>
                  <a:cs typeface="+mn-ea"/>
                  <a:sym typeface="+mn-lt"/>
                </a:endParaRPr>
              </a:p>
            </p:txBody>
          </p:sp>
          <p:sp>
            <p:nvSpPr>
              <p:cNvPr id="13" name="Title-3">
                <a:extLst>
                  <a:ext uri="{FF2B5EF4-FFF2-40B4-BE49-F238E27FC236}">
                    <a16:creationId xmlns:a16="http://schemas.microsoft.com/office/drawing/2014/main" id="{92C00D94-0A45-6F91-5DCD-D229D45143C0}"/>
                  </a:ext>
                </a:extLst>
              </p:cNvPr>
              <p:cNvSpPr txBox="1"/>
              <p:nvPr>
                <p:custDataLst>
                  <p:tags r:id="rId2"/>
                </p:custDataLst>
              </p:nvPr>
            </p:nvSpPr>
            <p:spPr>
              <a:xfrm>
                <a:off x="1296747" y="4377584"/>
                <a:ext cx="4090401" cy="72752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rPr>
                  <a:t>苹果后来清醒地认识到：真正的难点，在于把主计划协同协奏到微观执行。</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effectLst/>
                  <a:uLnTx/>
                  <a:uFillTx/>
                  <a:latin typeface="Arial" panose="020B0604020202020204" pitchFamily="34" charset="0"/>
                  <a:ea typeface="微软雅黑" panose="020B0503020204020204" pitchFamily="34" charset="-122"/>
                  <a:cs typeface="+mn-cs"/>
                </a:endParaRPr>
              </a:p>
            </p:txBody>
          </p:sp>
        </p:grpSp>
      </p:grpSp>
      <p:sp>
        <p:nvSpPr>
          <p:cNvPr id="24" name="文本框 23">
            <a:extLst>
              <a:ext uri="{FF2B5EF4-FFF2-40B4-BE49-F238E27FC236}">
                <a16:creationId xmlns:a16="http://schemas.microsoft.com/office/drawing/2014/main" id="{0E2F42E1-E7DE-17E6-628E-672B5D035EA1}"/>
              </a:ext>
            </a:extLst>
          </p:cNvPr>
          <p:cNvSpPr txBox="1"/>
          <p:nvPr/>
        </p:nvSpPr>
        <p:spPr>
          <a:xfrm>
            <a:off x="2046596" y="5328001"/>
            <a:ext cx="8213376" cy="738664"/>
          </a:xfrm>
          <a:prstGeom prst="rect">
            <a:avLst/>
          </a:prstGeom>
          <a:noFill/>
        </p:spPr>
        <p:txBody>
          <a:bodyPr wrap="square">
            <a:spAutoFit/>
          </a:bodyPr>
          <a:lstStyle/>
          <a:p>
            <a:r>
              <a:rPr lang="zh-CN" altLang="en-US" b="1" dirty="0"/>
              <a:t>宏宏观再精准，落到产线就是千万个具体约束。不同层级，诉求根本不同。</a:t>
            </a:r>
            <a:endParaRPr lang="en-US" altLang="zh-CN" b="1" dirty="0"/>
          </a:p>
          <a:p>
            <a:r>
              <a:rPr lang="zh-CN" altLang="en-US" sz="2400" b="1" dirty="0">
                <a:solidFill>
                  <a:srgbClr val="00D4FF"/>
                </a:solidFill>
              </a:rPr>
              <a:t>不能执行的计划，是表演。</a:t>
            </a:r>
            <a:endParaRPr lang="zh-CN" altLang="en-US" b="1" dirty="0">
              <a:solidFill>
                <a:srgbClr val="00D4FF"/>
              </a:solidFill>
            </a:endParaRPr>
          </a:p>
        </p:txBody>
      </p:sp>
    </p:spTree>
    <p:extLst>
      <p:ext uri="{BB962C8B-B14F-4D97-AF65-F5344CB8AC3E}">
        <p14:creationId xmlns:p14="http://schemas.microsoft.com/office/powerpoint/2010/main" val="24665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BAA2D1-1A90-ED89-311E-2413C3B124A6}"/>
              </a:ext>
            </a:extLst>
          </p:cNvPr>
          <p:cNvSpPr>
            <a:spLocks noGrp="1"/>
          </p:cNvSpPr>
          <p:nvPr>
            <p:ph type="title"/>
          </p:nvPr>
        </p:nvSpPr>
        <p:spPr/>
        <p:txBody>
          <a:bodyPr/>
          <a:lstStyle/>
          <a:p>
            <a:r>
              <a:rPr lang="zh-CN" altLang="en-US" dirty="0"/>
              <a:t>路径论</a:t>
            </a:r>
            <a:r>
              <a:rPr lang="en-US" altLang="zh-CN" dirty="0"/>
              <a:t>——</a:t>
            </a:r>
            <a:r>
              <a:rPr lang="zh-CN" altLang="en-US" dirty="0"/>
              <a:t>割裂主计划与执行，等于切断脊髓</a:t>
            </a:r>
          </a:p>
        </p:txBody>
      </p:sp>
      <p:sp>
        <p:nvSpPr>
          <p:cNvPr id="4" name="文本框 3">
            <a:extLst>
              <a:ext uri="{FF2B5EF4-FFF2-40B4-BE49-F238E27FC236}">
                <a16:creationId xmlns:a16="http://schemas.microsoft.com/office/drawing/2014/main" id="{9FD0467D-7C7E-FF92-EECD-ED6C7F4643F0}"/>
              </a:ext>
            </a:extLst>
          </p:cNvPr>
          <p:cNvSpPr txBox="1"/>
          <p:nvPr/>
        </p:nvSpPr>
        <p:spPr>
          <a:xfrm>
            <a:off x="1345053" y="1214430"/>
            <a:ext cx="9415370" cy="2031325"/>
          </a:xfrm>
          <a:prstGeom prst="rect">
            <a:avLst/>
          </a:prstGeom>
          <a:noFill/>
        </p:spPr>
        <p:txBody>
          <a:bodyPr wrap="square">
            <a:spAutoFit/>
          </a:bodyPr>
          <a:lstStyle/>
          <a:p>
            <a:r>
              <a:rPr lang="zh-CN" altLang="en-US" dirty="0"/>
              <a:t>行业惯性：</a:t>
            </a:r>
            <a:r>
              <a:rPr lang="zh-CN" altLang="en-US" sz="2400" b="1" dirty="0">
                <a:solidFill>
                  <a:srgbClr val="00D4FF"/>
                </a:solidFill>
              </a:rPr>
              <a:t>主计划可以跟执行计划解耦</a:t>
            </a:r>
            <a:r>
              <a:rPr lang="zh-CN" altLang="en-US" dirty="0">
                <a:solidFill>
                  <a:srgbClr val="00D4FF"/>
                </a:solidFill>
              </a:rPr>
              <a:t>。</a:t>
            </a:r>
            <a:r>
              <a:rPr lang="zh-CN" altLang="en-US" dirty="0"/>
              <a:t>主计划只需在宏观层面求极值。</a:t>
            </a:r>
          </a:p>
          <a:p>
            <a:endParaRPr lang="zh-CN" altLang="en-US" dirty="0"/>
          </a:p>
          <a:p>
            <a:r>
              <a:rPr lang="zh-CN" altLang="en-US" dirty="0"/>
              <a:t>物理判决：脱离微观约束的宏观极值求解，等于在</a:t>
            </a:r>
            <a:r>
              <a:rPr lang="zh-CN" altLang="en-US" sz="2400" b="1" dirty="0">
                <a:solidFill>
                  <a:srgbClr val="00D4FF"/>
                </a:solidFill>
              </a:rPr>
              <a:t>无重力真空中算理想模型</a:t>
            </a:r>
            <a:r>
              <a:rPr lang="zh-CN" altLang="en-US" dirty="0">
                <a:solidFill>
                  <a:srgbClr val="00D4FF"/>
                </a:solidFill>
              </a:rPr>
              <a:t>。</a:t>
            </a:r>
            <a:r>
              <a:rPr lang="zh-CN" altLang="en-US" dirty="0"/>
              <a:t>结果在产线中找不到物理锚点。</a:t>
            </a:r>
          </a:p>
          <a:p>
            <a:endParaRPr lang="zh-CN" altLang="en-US" dirty="0"/>
          </a:p>
          <a:p>
            <a:r>
              <a:rPr lang="zh-CN" altLang="en-US" dirty="0"/>
              <a:t>割裂主计划与执行，等同于要求大脑在</a:t>
            </a:r>
            <a:r>
              <a:rPr lang="zh-CN" altLang="en-US" sz="2400" b="1" dirty="0">
                <a:solidFill>
                  <a:srgbClr val="00D4FF"/>
                </a:solidFill>
              </a:rPr>
              <a:t>切断脊髓神经</a:t>
            </a:r>
            <a:r>
              <a:rPr lang="zh-CN" altLang="en-US" dirty="0"/>
              <a:t>的情况下指挥肢体行走。</a:t>
            </a:r>
          </a:p>
        </p:txBody>
      </p:sp>
      <p:sp>
        <p:nvSpPr>
          <p:cNvPr id="6" name="文本框 5">
            <a:extLst>
              <a:ext uri="{FF2B5EF4-FFF2-40B4-BE49-F238E27FC236}">
                <a16:creationId xmlns:a16="http://schemas.microsoft.com/office/drawing/2014/main" id="{FC034980-F4E8-205A-7309-40EF394F58C8}"/>
              </a:ext>
            </a:extLst>
          </p:cNvPr>
          <p:cNvSpPr txBox="1"/>
          <p:nvPr/>
        </p:nvSpPr>
        <p:spPr>
          <a:xfrm>
            <a:off x="2529349" y="4720648"/>
            <a:ext cx="6096982" cy="461665"/>
          </a:xfrm>
          <a:prstGeom prst="rect">
            <a:avLst/>
          </a:prstGeom>
          <a:noFill/>
        </p:spPr>
        <p:txBody>
          <a:bodyPr wrap="square">
            <a:spAutoFit/>
          </a:bodyPr>
          <a:lstStyle/>
          <a:p>
            <a:r>
              <a:rPr lang="zh-CN" altLang="en-US" sz="2400" b="1" dirty="0">
                <a:solidFill>
                  <a:srgbClr val="00D4FF"/>
                </a:solidFill>
              </a:rPr>
              <a:t>悬空的宏观最优，比诚实的模糊更具破坏力。</a:t>
            </a:r>
          </a:p>
        </p:txBody>
      </p:sp>
    </p:spTree>
    <p:extLst>
      <p:ext uri="{BB962C8B-B14F-4D97-AF65-F5344CB8AC3E}">
        <p14:creationId xmlns:p14="http://schemas.microsoft.com/office/powerpoint/2010/main" val="3432382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FF178-A264-3A6C-7321-C39EEA6968C8}"/>
              </a:ext>
            </a:extLst>
          </p:cNvPr>
          <p:cNvSpPr>
            <a:spLocks noGrp="1"/>
          </p:cNvSpPr>
          <p:nvPr>
            <p:ph type="title"/>
          </p:nvPr>
        </p:nvSpPr>
        <p:spPr/>
        <p:txBody>
          <a:bodyPr/>
          <a:lstStyle/>
          <a:p>
            <a:r>
              <a:rPr lang="zh-CN" altLang="en-US" dirty="0"/>
              <a:t>路径论</a:t>
            </a:r>
            <a:r>
              <a:rPr lang="en-US" altLang="zh-CN" dirty="0"/>
              <a:t>——</a:t>
            </a:r>
            <a:r>
              <a:rPr lang="zh-CN" altLang="en-US" dirty="0"/>
              <a:t>不可观测即不可控制</a:t>
            </a:r>
          </a:p>
        </p:txBody>
      </p:sp>
      <p:sp>
        <p:nvSpPr>
          <p:cNvPr id="4" name="文本框 3">
            <a:extLst>
              <a:ext uri="{FF2B5EF4-FFF2-40B4-BE49-F238E27FC236}">
                <a16:creationId xmlns:a16="http://schemas.microsoft.com/office/drawing/2014/main" id="{4B47E645-66B3-E355-A6A8-66C2F8F4CBB6}"/>
              </a:ext>
            </a:extLst>
          </p:cNvPr>
          <p:cNvSpPr txBox="1"/>
          <p:nvPr/>
        </p:nvSpPr>
        <p:spPr>
          <a:xfrm>
            <a:off x="682117" y="1673590"/>
            <a:ext cx="10798028" cy="2769989"/>
          </a:xfrm>
          <a:prstGeom prst="rect">
            <a:avLst/>
          </a:prstGeom>
          <a:noFill/>
        </p:spPr>
        <p:txBody>
          <a:bodyPr wrap="square">
            <a:spAutoFit/>
          </a:bodyPr>
          <a:lstStyle/>
          <a:p>
            <a:r>
              <a:rPr lang="zh-CN" altLang="en-US" dirty="0"/>
              <a:t>维纳</a:t>
            </a:r>
            <a:r>
              <a:rPr lang="en-US" altLang="zh-CN" dirty="0"/>
              <a:t>-</a:t>
            </a:r>
            <a:r>
              <a:rPr lang="zh-CN" altLang="en-US" dirty="0"/>
              <a:t>卡尔曼观测公理：</a:t>
            </a:r>
            <a:r>
              <a:rPr lang="zh-CN" altLang="en-US" sz="2400" b="1" dirty="0">
                <a:solidFill>
                  <a:srgbClr val="00D4FF"/>
                </a:solidFill>
              </a:rPr>
              <a:t>控制器的维度，必须小于或等于观测器的维度</a:t>
            </a:r>
            <a:r>
              <a:rPr lang="zh-CN" altLang="en-US" dirty="0">
                <a:solidFill>
                  <a:srgbClr val="00D4FF"/>
                </a:solidFill>
              </a:rPr>
              <a:t>。</a:t>
            </a:r>
            <a:r>
              <a:rPr lang="zh-CN" altLang="en-US" dirty="0"/>
              <a:t>否则控制指令悬空。</a:t>
            </a:r>
          </a:p>
          <a:p>
            <a:endParaRPr lang="zh-CN" altLang="en-US" dirty="0"/>
          </a:p>
          <a:p>
            <a:r>
              <a:rPr lang="zh-CN" altLang="en-US" dirty="0"/>
              <a:t>认知判决：</a:t>
            </a:r>
            <a:r>
              <a:rPr lang="zh-CN" altLang="en-US" sz="2400" b="1" dirty="0">
                <a:solidFill>
                  <a:srgbClr val="00D4FF"/>
                </a:solidFill>
              </a:rPr>
              <a:t>没有体验，就没有认知</a:t>
            </a:r>
            <a:r>
              <a:rPr lang="zh-CN" altLang="en-US" dirty="0">
                <a:solidFill>
                  <a:srgbClr val="00D4FF"/>
                </a:solidFill>
              </a:rPr>
              <a:t>。 </a:t>
            </a:r>
            <a:r>
              <a:rPr lang="zh-CN" altLang="en-US" dirty="0"/>
              <a:t>没有在</a:t>
            </a:r>
            <a:r>
              <a:rPr lang="zh-CN" altLang="en-US" sz="2400" b="1" dirty="0">
                <a:solidFill>
                  <a:srgbClr val="00D4FF"/>
                </a:solidFill>
              </a:rPr>
              <a:t>产线泥泞中经历过交期追杀、物料齐套和机台宕机</a:t>
            </a:r>
            <a:r>
              <a:rPr lang="zh-CN" altLang="en-US" dirty="0"/>
              <a:t>的人，无法产生对物理约束的真实认知。</a:t>
            </a:r>
            <a:endParaRPr lang="en-US" altLang="zh-CN" dirty="0"/>
          </a:p>
          <a:p>
            <a:endParaRPr lang="en-US" altLang="zh-CN" dirty="0"/>
          </a:p>
          <a:p>
            <a:r>
              <a:rPr lang="zh-CN" altLang="en-US" dirty="0"/>
              <a:t>没有横纵协同的计划体系，控制塔就是</a:t>
            </a:r>
            <a:r>
              <a:rPr lang="zh-CN" altLang="en-US" sz="2400" b="1" dirty="0">
                <a:solidFill>
                  <a:srgbClr val="00D4FF"/>
                </a:solidFill>
              </a:rPr>
              <a:t>后视镜</a:t>
            </a:r>
            <a:r>
              <a:rPr lang="zh-CN" altLang="en-US" dirty="0">
                <a:solidFill>
                  <a:srgbClr val="00D4FF"/>
                </a:solidFill>
              </a:rPr>
              <a:t>，</a:t>
            </a:r>
            <a:r>
              <a:rPr lang="zh-CN" altLang="en-US" dirty="0"/>
              <a:t>后视镜再贵也</a:t>
            </a:r>
            <a:r>
              <a:rPr lang="zh-CN" altLang="en-US" sz="2400" b="1" dirty="0">
                <a:solidFill>
                  <a:srgbClr val="00D4FF"/>
                </a:solidFill>
              </a:rPr>
              <a:t>开不了车</a:t>
            </a:r>
            <a:r>
              <a:rPr lang="zh-CN" altLang="en-US" dirty="0">
                <a:solidFill>
                  <a:srgbClr val="00D4FF"/>
                </a:solidFill>
              </a:rPr>
              <a:t>。</a:t>
            </a:r>
          </a:p>
          <a:p>
            <a:endParaRPr lang="zh-CN" altLang="en-US" dirty="0"/>
          </a:p>
          <a:p>
            <a:r>
              <a:rPr lang="zh-CN" altLang="en-US" dirty="0"/>
              <a:t>任何有效的落地路径，</a:t>
            </a:r>
            <a:r>
              <a:rPr lang="zh-CN" altLang="en-US" sz="2400" b="1" dirty="0">
                <a:solidFill>
                  <a:srgbClr val="00D4FF"/>
                </a:solidFill>
              </a:rPr>
              <a:t>必须摒弃</a:t>
            </a:r>
            <a:r>
              <a:rPr lang="zh-CN" altLang="en-US" dirty="0"/>
              <a:t>“先做宏观主计划，后推导工厂执行”的自上而下瀑布流。</a:t>
            </a:r>
          </a:p>
        </p:txBody>
      </p:sp>
      <p:sp>
        <p:nvSpPr>
          <p:cNvPr id="8" name="文本框 7">
            <a:extLst>
              <a:ext uri="{FF2B5EF4-FFF2-40B4-BE49-F238E27FC236}">
                <a16:creationId xmlns:a16="http://schemas.microsoft.com/office/drawing/2014/main" id="{1187D6E3-A99E-2E2C-A777-2526DEA82F22}"/>
              </a:ext>
            </a:extLst>
          </p:cNvPr>
          <p:cNvSpPr txBox="1"/>
          <p:nvPr/>
        </p:nvSpPr>
        <p:spPr>
          <a:xfrm>
            <a:off x="1762432" y="5098206"/>
            <a:ext cx="7635239" cy="461665"/>
          </a:xfrm>
          <a:prstGeom prst="rect">
            <a:avLst/>
          </a:prstGeom>
          <a:noFill/>
        </p:spPr>
        <p:txBody>
          <a:bodyPr wrap="square">
            <a:spAutoFit/>
          </a:bodyPr>
          <a:lstStyle/>
          <a:p>
            <a:r>
              <a:rPr lang="zh-CN" altLang="en-US" sz="2400" b="1" dirty="0">
                <a:solidFill>
                  <a:srgbClr val="00D4FF"/>
                </a:solidFill>
              </a:rPr>
              <a:t>没有体验，就没有认知。不可观测，即不可控制。</a:t>
            </a:r>
          </a:p>
        </p:txBody>
      </p:sp>
    </p:spTree>
    <p:extLst>
      <p:ext uri="{BB962C8B-B14F-4D97-AF65-F5344CB8AC3E}">
        <p14:creationId xmlns:p14="http://schemas.microsoft.com/office/powerpoint/2010/main" val="2034452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C311B4-04AF-22E0-C0D6-E758FCFFA3C1}"/>
              </a:ext>
            </a:extLst>
          </p:cNvPr>
          <p:cNvSpPr>
            <a:spLocks noGrp="1"/>
          </p:cNvSpPr>
          <p:nvPr>
            <p:ph type="title"/>
          </p:nvPr>
        </p:nvSpPr>
        <p:spPr/>
        <p:txBody>
          <a:bodyPr/>
          <a:lstStyle/>
          <a:p>
            <a:r>
              <a:rPr lang="zh-CN" altLang="en-US" dirty="0"/>
              <a:t>路径论</a:t>
            </a:r>
            <a:r>
              <a:rPr lang="en-US" altLang="zh-CN" dirty="0"/>
              <a:t>——</a:t>
            </a:r>
            <a:r>
              <a:rPr lang="zh-CN" altLang="en-US" dirty="0"/>
              <a:t>自上而下定战略，自下而上建能力、系统</a:t>
            </a:r>
          </a:p>
        </p:txBody>
      </p:sp>
      <p:sp>
        <p:nvSpPr>
          <p:cNvPr id="3" name="文本框 2">
            <a:extLst>
              <a:ext uri="{FF2B5EF4-FFF2-40B4-BE49-F238E27FC236}">
                <a16:creationId xmlns:a16="http://schemas.microsoft.com/office/drawing/2014/main" id="{91D078E5-A67D-6BFA-D73A-C314768B2DEF}"/>
              </a:ext>
            </a:extLst>
          </p:cNvPr>
          <p:cNvSpPr txBox="1"/>
          <p:nvPr/>
        </p:nvSpPr>
        <p:spPr>
          <a:xfrm>
            <a:off x="1315556" y="1504335"/>
            <a:ext cx="9326880" cy="2031325"/>
          </a:xfrm>
          <a:prstGeom prst="rect">
            <a:avLst/>
          </a:prstGeom>
          <a:noFill/>
        </p:spPr>
        <p:txBody>
          <a:bodyPr wrap="square" rtlCol="0">
            <a:spAutoFit/>
          </a:bodyPr>
          <a:lstStyle/>
          <a:p>
            <a:r>
              <a:rPr lang="zh-CN" altLang="en-US" sz="2400" b="1" dirty="0">
                <a:solidFill>
                  <a:srgbClr val="00E5FF"/>
                </a:solidFill>
                <a:latin typeface="+mn-ea"/>
              </a:rPr>
              <a:t>从执行端开始建系统。</a:t>
            </a:r>
          </a:p>
          <a:p>
            <a:endParaRPr lang="zh-CN" altLang="en-US" dirty="0"/>
          </a:p>
          <a:p>
            <a:r>
              <a:rPr lang="zh-CN" altLang="en-US" dirty="0"/>
              <a:t>从执行端开始培养能力。</a:t>
            </a:r>
          </a:p>
          <a:p>
            <a:endParaRPr lang="zh-CN" altLang="en-US" dirty="0"/>
          </a:p>
          <a:p>
            <a:r>
              <a:rPr lang="zh-CN" altLang="en-US" dirty="0"/>
              <a:t>不懂执行，就不懂执行计划；不懂执行计划，就不懂主计划。不懂主计划，</a:t>
            </a:r>
            <a:r>
              <a:rPr lang="en-US" altLang="zh-CN" sz="2400" b="1" dirty="0">
                <a:solidFill>
                  <a:srgbClr val="00E5FF"/>
                </a:solidFill>
                <a:latin typeface="+mn-ea"/>
              </a:rPr>
              <a:t>S&amp;OP/IBP</a:t>
            </a:r>
            <a:r>
              <a:rPr lang="zh-CN" altLang="en-US" sz="2400" b="1" dirty="0">
                <a:solidFill>
                  <a:srgbClr val="00E5FF"/>
                </a:solidFill>
                <a:latin typeface="+mn-ea"/>
              </a:rPr>
              <a:t>就是纸上画画</a:t>
            </a:r>
            <a:r>
              <a:rPr lang="zh-CN" altLang="en-US" dirty="0"/>
              <a:t>。</a:t>
            </a:r>
          </a:p>
        </p:txBody>
      </p:sp>
      <p:sp>
        <p:nvSpPr>
          <p:cNvPr id="5" name="文本框 4">
            <a:extLst>
              <a:ext uri="{FF2B5EF4-FFF2-40B4-BE49-F238E27FC236}">
                <a16:creationId xmlns:a16="http://schemas.microsoft.com/office/drawing/2014/main" id="{629958E0-62AA-384F-19AF-9A83C88FE467}"/>
              </a:ext>
            </a:extLst>
          </p:cNvPr>
          <p:cNvSpPr txBox="1"/>
          <p:nvPr/>
        </p:nvSpPr>
        <p:spPr>
          <a:xfrm>
            <a:off x="2653235" y="4720648"/>
            <a:ext cx="6956814" cy="461665"/>
          </a:xfrm>
          <a:prstGeom prst="rect">
            <a:avLst/>
          </a:prstGeom>
          <a:noFill/>
        </p:spPr>
        <p:txBody>
          <a:bodyPr wrap="square">
            <a:spAutoFit/>
          </a:bodyPr>
          <a:lstStyle/>
          <a:p>
            <a:r>
              <a:rPr lang="zh-CN" altLang="en-US" dirty="0"/>
              <a:t>路径论对应钱老“</a:t>
            </a:r>
            <a:r>
              <a:rPr lang="zh-CN" altLang="en-US" sz="2400" b="1" dirty="0">
                <a:solidFill>
                  <a:srgbClr val="00E5FF"/>
                </a:solidFill>
                <a:latin typeface="+mn-ea"/>
              </a:rPr>
              <a:t>系统工程必须从实际系统出发</a:t>
            </a:r>
            <a:r>
              <a:rPr lang="zh-CN" altLang="en-US" dirty="0"/>
              <a:t>”。</a:t>
            </a:r>
          </a:p>
        </p:txBody>
      </p:sp>
    </p:spTree>
    <p:extLst>
      <p:ext uri="{BB962C8B-B14F-4D97-AF65-F5344CB8AC3E}">
        <p14:creationId xmlns:p14="http://schemas.microsoft.com/office/powerpoint/2010/main" val="3714047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1D83CE-EE85-B1B6-6595-85059CE0529C}"/>
              </a:ext>
            </a:extLst>
          </p:cNvPr>
          <p:cNvSpPr>
            <a:spLocks noGrp="1"/>
          </p:cNvSpPr>
          <p:nvPr>
            <p:ph type="title"/>
          </p:nvPr>
        </p:nvSpPr>
        <p:spPr/>
        <p:txBody>
          <a:bodyPr/>
          <a:lstStyle/>
          <a:p>
            <a:r>
              <a:rPr lang="zh-CN" altLang="en-US" dirty="0"/>
              <a:t>机路径论</a:t>
            </a:r>
            <a:r>
              <a:rPr lang="en-US" altLang="zh-CN" dirty="0"/>
              <a:t>——</a:t>
            </a:r>
            <a:r>
              <a:rPr lang="zh-CN" altLang="en-US" dirty="0"/>
              <a:t>排兵布阵，必须对应物理节点</a:t>
            </a:r>
          </a:p>
        </p:txBody>
      </p:sp>
      <p:grpSp>
        <p:nvGrpSpPr>
          <p:cNvPr id="17" name="组合 16">
            <a:extLst>
              <a:ext uri="{FF2B5EF4-FFF2-40B4-BE49-F238E27FC236}">
                <a16:creationId xmlns:a16="http://schemas.microsoft.com/office/drawing/2014/main" id="{D919FE69-A182-E781-4139-42A0EB7D7DFB}"/>
              </a:ext>
            </a:extLst>
          </p:cNvPr>
          <p:cNvGrpSpPr>
            <a:grpSpLocks noChangeAspect="1"/>
          </p:cNvGrpSpPr>
          <p:nvPr>
            <p:custDataLst>
              <p:tags r:id="rId1"/>
            </p:custDataLst>
          </p:nvPr>
        </p:nvGrpSpPr>
        <p:grpSpPr>
          <a:xfrm>
            <a:off x="852885" y="1578743"/>
            <a:ext cx="9087528" cy="2363056"/>
            <a:chOff x="621790" y="2150653"/>
            <a:chExt cx="3611398" cy="3334190"/>
          </a:xfrm>
        </p:grpSpPr>
        <p:grpSp>
          <p:nvGrpSpPr>
            <p:cNvPr id="18" name="组合 17">
              <a:extLst>
                <a:ext uri="{FF2B5EF4-FFF2-40B4-BE49-F238E27FC236}">
                  <a16:creationId xmlns:a16="http://schemas.microsoft.com/office/drawing/2014/main" id="{CA3D077C-9B41-4201-2AE0-E09743721E36}"/>
                </a:ext>
              </a:extLst>
            </p:cNvPr>
            <p:cNvGrpSpPr/>
            <p:nvPr/>
          </p:nvGrpSpPr>
          <p:grpSpPr>
            <a:xfrm>
              <a:off x="666750" y="2150653"/>
              <a:ext cx="3566438" cy="1185134"/>
              <a:chOff x="743527" y="1641919"/>
              <a:chExt cx="3566438" cy="1185134"/>
            </a:xfrm>
          </p:grpSpPr>
          <p:sp>
            <p:nvSpPr>
              <p:cNvPr id="25" name="1">
                <a:extLst>
                  <a:ext uri="{FF2B5EF4-FFF2-40B4-BE49-F238E27FC236}">
                    <a16:creationId xmlns:a16="http://schemas.microsoft.com/office/drawing/2014/main" id="{675A909D-055D-4D04-4A57-9F73A3B29868}"/>
                  </a:ext>
                </a:extLst>
              </p:cNvPr>
              <p:cNvSpPr/>
              <p:nvPr/>
            </p:nvSpPr>
            <p:spPr>
              <a:xfrm>
                <a:off x="743528" y="1645172"/>
                <a:ext cx="3566437" cy="1181881"/>
              </a:xfrm>
              <a:prstGeom prst="roundRect">
                <a:avLst>
                  <a:gd name="adj" fmla="val 0"/>
                </a:avLst>
              </a:prstGeom>
              <a:solidFill>
                <a:schemeClr val="bg1"/>
              </a:solidFill>
              <a:ln>
                <a:noFill/>
              </a:ln>
              <a:effectLst>
                <a:outerShdw blurRad="88900" dist="88900" dir="5400000" algn="t" rotWithShape="0">
                  <a:schemeClr val="accent1">
                    <a:lumMod val="20000"/>
                    <a:lumOff val="8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1"/>
                  </a:solidFill>
                  <a:latin typeface="+mn-ea"/>
                  <a:cs typeface="+mn-ea"/>
                  <a:sym typeface="+mn-lt"/>
                </a:endParaRPr>
              </a:p>
            </p:txBody>
          </p:sp>
          <p:sp>
            <p:nvSpPr>
              <p:cNvPr id="26" name="1">
                <a:extLst>
                  <a:ext uri="{FF2B5EF4-FFF2-40B4-BE49-F238E27FC236}">
                    <a16:creationId xmlns:a16="http://schemas.microsoft.com/office/drawing/2014/main" id="{8A495BFA-FE4D-C062-7CD6-23F23A2986BE}"/>
                  </a:ext>
                </a:extLst>
              </p:cNvPr>
              <p:cNvSpPr/>
              <p:nvPr/>
            </p:nvSpPr>
            <p:spPr>
              <a:xfrm>
                <a:off x="743527" y="1641919"/>
                <a:ext cx="154805" cy="1181882"/>
              </a:xfrm>
              <a:prstGeom prst="rect">
                <a:avLst/>
              </a:prstGeom>
              <a:gradFill>
                <a:gsLst>
                  <a:gs pos="7000">
                    <a:schemeClr val="accent1"/>
                  </a:gs>
                  <a:gs pos="99000">
                    <a:schemeClr val="accent1">
                      <a:lumMod val="60000"/>
                      <a:lumOff val="40000"/>
                    </a:schemeClr>
                  </a:gs>
                </a:gsLst>
                <a:lin ang="5400000" scaled="1"/>
              </a:gradFill>
              <a:ln w="25400" cap="flat">
                <a:noFill/>
                <a:prstDash val="solid"/>
                <a:miter/>
              </a:ln>
              <a:effectLst>
                <a:outerShdw blurRad="63500" dist="38100" dir="2700000" algn="tl" rotWithShape="0">
                  <a:schemeClr val="accent1">
                    <a:alpha val="40000"/>
                  </a:schemeClr>
                </a:outerShdw>
              </a:effectLst>
            </p:spPr>
            <p:txBody>
              <a:bodyPr wrap="none" rtlCol="0" anchor="ctr"/>
              <a:lstStyle/>
              <a:p>
                <a:pPr algn="ctr"/>
                <a:endParaRPr lang="en-US" altLang="zh-CN" b="1" dirty="0">
                  <a:latin typeface="+mn-ea"/>
                  <a:cs typeface="+mn-ea"/>
                  <a:sym typeface="+mn-lt"/>
                </a:endParaRPr>
              </a:p>
            </p:txBody>
          </p:sp>
          <p:sp>
            <p:nvSpPr>
              <p:cNvPr id="27" name="Index-1">
                <a:extLst>
                  <a:ext uri="{FF2B5EF4-FFF2-40B4-BE49-F238E27FC236}">
                    <a16:creationId xmlns:a16="http://schemas.microsoft.com/office/drawing/2014/main" id="{645FC15E-DF82-97AF-3A89-F7BC9994C80D}"/>
                  </a:ext>
                </a:extLst>
              </p:cNvPr>
              <p:cNvSpPr txBox="1"/>
              <p:nvPr>
                <p:custDataLst>
                  <p:tags r:id="rId5"/>
                </p:custDataLst>
              </p:nvPr>
            </p:nvSpPr>
            <p:spPr>
              <a:xfrm>
                <a:off x="1044042" y="1943772"/>
                <a:ext cx="223727" cy="651393"/>
              </a:xfrm>
              <a:prstGeom prst="rect">
                <a:avLst/>
              </a:prstGeom>
              <a:noFill/>
            </p:spPr>
            <p:txBody>
              <a:bodyPr wrap="none" lIns="91440" tIns="45720" rIns="91440" bIns="45720" rtlCol="0" anchor="ctr" anchorCtr="0">
                <a:spAutoFit/>
              </a:bodyPr>
              <a:lstStyle>
                <a:defPPr>
                  <a:defRPr lang="zh-CN"/>
                </a:defPPr>
                <a:lvl1pPr algn="ctr">
                  <a:defRPr kumimoji="1" sz="6000" b="1">
                    <a:solidFill>
                      <a:schemeClr val="accent1"/>
                    </a:solidFill>
                    <a:effectLst>
                      <a:outerShdw blurRad="127000" dist="63500" dir="2700000" algn="ctr" rotWithShape="0">
                        <a:schemeClr val="accent1">
                          <a:alpha val="40000"/>
                        </a:schemeClr>
                      </a:outerShdw>
                    </a:effectLst>
                    <a:latin typeface="Arial" panose="020B0604020202020204" pitchFamily="34" charset="0"/>
                    <a:ea typeface="Microsoft YaHei" panose="020B0503020204020204" pitchFamily="34" charset="-122"/>
                  </a:defRPr>
                </a:lvl1pPr>
              </a:lstStyle>
              <a:p>
                <a:r>
                  <a:rPr lang="en-US" altLang="zh-CN" sz="2400" dirty="0">
                    <a:solidFill>
                      <a:schemeClr val="tx1"/>
                    </a:solidFill>
                    <a:latin typeface="+mn-ea"/>
                    <a:ea typeface="+mn-ea"/>
                    <a:cs typeface="+mn-ea"/>
                    <a:sym typeface="+mn-lt"/>
                  </a:rPr>
                  <a:t>01</a:t>
                </a:r>
                <a:endParaRPr lang="zh-CN" altLang="en-US" sz="2400" dirty="0">
                  <a:solidFill>
                    <a:schemeClr val="tx1"/>
                  </a:solidFill>
                  <a:latin typeface="+mn-ea"/>
                  <a:ea typeface="+mn-ea"/>
                  <a:cs typeface="+mn-ea"/>
                  <a:sym typeface="+mn-lt"/>
                </a:endParaRPr>
              </a:p>
            </p:txBody>
          </p:sp>
          <p:sp>
            <p:nvSpPr>
              <p:cNvPr id="28" name="Title-1">
                <a:extLst>
                  <a:ext uri="{FF2B5EF4-FFF2-40B4-BE49-F238E27FC236}">
                    <a16:creationId xmlns:a16="http://schemas.microsoft.com/office/drawing/2014/main" id="{4E6A3CEB-6C6B-71DD-339C-8F8EF26DD31C}"/>
                  </a:ext>
                </a:extLst>
              </p:cNvPr>
              <p:cNvSpPr txBox="1"/>
              <p:nvPr>
                <p:custDataLst>
                  <p:tags r:id="rId6"/>
                </p:custDataLst>
              </p:nvPr>
            </p:nvSpPr>
            <p:spPr>
              <a:xfrm>
                <a:off x="1518476" y="1813495"/>
                <a:ext cx="2455200" cy="369333"/>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mn-ea"/>
                  </a:rPr>
                  <a:t>推论一：组织疲惫，是对抗系统混乱（熵增）的无谓消耗。局部越努力，内耗越大。</a:t>
                </a:r>
              </a:p>
            </p:txBody>
          </p:sp>
        </p:grpSp>
        <p:grpSp>
          <p:nvGrpSpPr>
            <p:cNvPr id="19" name="组合 18">
              <a:extLst>
                <a:ext uri="{FF2B5EF4-FFF2-40B4-BE49-F238E27FC236}">
                  <a16:creationId xmlns:a16="http://schemas.microsoft.com/office/drawing/2014/main" id="{446D29C4-CAA6-D3DF-0486-2F34B42DB757}"/>
                </a:ext>
              </a:extLst>
            </p:cNvPr>
            <p:cNvGrpSpPr/>
            <p:nvPr/>
          </p:nvGrpSpPr>
          <p:grpSpPr>
            <a:xfrm>
              <a:off x="621790" y="3425254"/>
              <a:ext cx="3566437" cy="2059589"/>
              <a:chOff x="4344598" y="1022502"/>
              <a:chExt cx="3566437" cy="2059589"/>
            </a:xfrm>
          </p:grpSpPr>
          <p:sp>
            <p:nvSpPr>
              <p:cNvPr id="20" name="2">
                <a:extLst>
                  <a:ext uri="{FF2B5EF4-FFF2-40B4-BE49-F238E27FC236}">
                    <a16:creationId xmlns:a16="http://schemas.microsoft.com/office/drawing/2014/main" id="{F6DCAA66-B99F-18DE-FC5A-8E9D5698AD0E}"/>
                  </a:ext>
                </a:extLst>
              </p:cNvPr>
              <p:cNvSpPr/>
              <p:nvPr/>
            </p:nvSpPr>
            <p:spPr>
              <a:xfrm>
                <a:off x="4344598" y="1022502"/>
                <a:ext cx="3566437" cy="2059589"/>
              </a:xfrm>
              <a:prstGeom prst="roundRect">
                <a:avLst>
                  <a:gd name="adj" fmla="val 0"/>
                </a:avLst>
              </a:prstGeom>
              <a:solidFill>
                <a:schemeClr val="bg1"/>
              </a:solidFill>
              <a:ln>
                <a:noFill/>
              </a:ln>
              <a:effectLst>
                <a:outerShdw blurRad="88900" dist="88900" dir="5400000" algn="t" rotWithShape="0">
                  <a:schemeClr val="accent2">
                    <a:lumMod val="20000"/>
                    <a:lumOff val="8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chemeClr val="tx1"/>
                  </a:solidFill>
                  <a:latin typeface="+mn-ea"/>
                  <a:cs typeface="+mn-ea"/>
                  <a:sym typeface="+mn-lt"/>
                </a:endParaRPr>
              </a:p>
            </p:txBody>
          </p:sp>
          <p:sp>
            <p:nvSpPr>
              <p:cNvPr id="21" name="2">
                <a:extLst>
                  <a:ext uri="{FF2B5EF4-FFF2-40B4-BE49-F238E27FC236}">
                    <a16:creationId xmlns:a16="http://schemas.microsoft.com/office/drawing/2014/main" id="{5AB4CBBF-6E7B-5568-3821-79553B6AF480}"/>
                  </a:ext>
                </a:extLst>
              </p:cNvPr>
              <p:cNvSpPr/>
              <p:nvPr/>
            </p:nvSpPr>
            <p:spPr>
              <a:xfrm>
                <a:off x="4389558" y="1095805"/>
                <a:ext cx="154805" cy="1728000"/>
              </a:xfrm>
              <a:prstGeom prst="rect">
                <a:avLst/>
              </a:prstGeom>
              <a:gradFill>
                <a:gsLst>
                  <a:gs pos="7000">
                    <a:schemeClr val="accent2"/>
                  </a:gs>
                  <a:gs pos="99000">
                    <a:schemeClr val="accent2">
                      <a:lumMod val="60000"/>
                      <a:lumOff val="40000"/>
                    </a:schemeClr>
                  </a:gs>
                </a:gsLst>
                <a:lin ang="5400000" scaled="1"/>
              </a:gradFill>
              <a:ln w="25400" cap="flat">
                <a:noFill/>
                <a:prstDash val="solid"/>
                <a:miter/>
              </a:ln>
              <a:effectLst>
                <a:outerShdw blurRad="63500" dist="38100" dir="2700000" algn="tl" rotWithShape="0">
                  <a:schemeClr val="accent2">
                    <a:alpha val="40000"/>
                  </a:schemeClr>
                </a:outerShdw>
              </a:effectLst>
            </p:spPr>
            <p:txBody>
              <a:bodyPr wrap="none" rtlCol="0" anchor="ctr"/>
              <a:lstStyle/>
              <a:p>
                <a:pPr algn="ctr"/>
                <a:endParaRPr lang="en-US" altLang="zh-CN" b="1" dirty="0">
                  <a:latin typeface="+mn-ea"/>
                  <a:cs typeface="+mn-ea"/>
                  <a:sym typeface="+mn-lt"/>
                </a:endParaRPr>
              </a:p>
            </p:txBody>
          </p:sp>
          <p:sp>
            <p:nvSpPr>
              <p:cNvPr id="22" name="Index-2">
                <a:extLst>
                  <a:ext uri="{FF2B5EF4-FFF2-40B4-BE49-F238E27FC236}">
                    <a16:creationId xmlns:a16="http://schemas.microsoft.com/office/drawing/2014/main" id="{F8C4150A-5490-AD9E-1D00-D7832C4C90CA}"/>
                  </a:ext>
                </a:extLst>
              </p:cNvPr>
              <p:cNvSpPr txBox="1"/>
              <p:nvPr>
                <p:custDataLst>
                  <p:tags r:id="rId2"/>
                </p:custDataLst>
              </p:nvPr>
            </p:nvSpPr>
            <p:spPr>
              <a:xfrm>
                <a:off x="4677332" y="1683172"/>
                <a:ext cx="249209" cy="738245"/>
              </a:xfrm>
              <a:prstGeom prst="rect">
                <a:avLst/>
              </a:prstGeom>
              <a:noFill/>
            </p:spPr>
            <p:txBody>
              <a:bodyPr wrap="none" lIns="91440" tIns="45720" rIns="91440" bIns="45720" rtlCol="0" anchor="ctr" anchorCtr="0">
                <a:spAutoFit/>
              </a:bodyPr>
              <a:lstStyle>
                <a:defPPr>
                  <a:defRPr lang="zh-CN"/>
                </a:defPPr>
                <a:lvl1pPr algn="ctr">
                  <a:defRPr kumimoji="1" sz="6000" b="1">
                    <a:solidFill>
                      <a:schemeClr val="accent1"/>
                    </a:solidFill>
                    <a:effectLst>
                      <a:outerShdw blurRad="127000" dist="63500" dir="2700000" algn="ctr" rotWithShape="0">
                        <a:schemeClr val="accent1">
                          <a:alpha val="40000"/>
                        </a:schemeClr>
                      </a:outerShdw>
                    </a:effectLst>
                    <a:latin typeface="Arial" panose="020B0604020202020204" pitchFamily="34" charset="0"/>
                    <a:ea typeface="Microsoft YaHei" panose="020B0503020204020204" pitchFamily="34" charset="-122"/>
                  </a:defRPr>
                </a:lvl1pPr>
              </a:lstStyle>
              <a:p>
                <a:r>
                  <a:rPr lang="en-US" altLang="zh-CN" sz="2800" dirty="0">
                    <a:solidFill>
                      <a:schemeClr val="tx1"/>
                    </a:solidFill>
                    <a:effectLst>
                      <a:outerShdw blurRad="127000" dist="63500" dir="2700000" algn="ctr" rotWithShape="0">
                        <a:schemeClr val="accent2">
                          <a:alpha val="40000"/>
                        </a:schemeClr>
                      </a:outerShdw>
                    </a:effectLst>
                    <a:latin typeface="+mn-ea"/>
                    <a:ea typeface="+mn-ea"/>
                    <a:cs typeface="+mn-ea"/>
                    <a:sym typeface="+mn-lt"/>
                  </a:rPr>
                  <a:t>02</a:t>
                </a:r>
                <a:endParaRPr lang="zh-CN" altLang="en-US" sz="2800" dirty="0">
                  <a:solidFill>
                    <a:schemeClr val="tx1"/>
                  </a:solidFill>
                  <a:effectLst>
                    <a:outerShdw blurRad="127000" dist="63500" dir="2700000" algn="ctr" rotWithShape="0">
                      <a:schemeClr val="accent2">
                        <a:alpha val="40000"/>
                      </a:schemeClr>
                    </a:outerShdw>
                  </a:effectLst>
                  <a:latin typeface="+mn-ea"/>
                  <a:ea typeface="+mn-ea"/>
                  <a:cs typeface="+mn-ea"/>
                  <a:sym typeface="+mn-lt"/>
                </a:endParaRPr>
              </a:p>
            </p:txBody>
          </p:sp>
          <p:sp>
            <p:nvSpPr>
              <p:cNvPr id="23" name="Title-2">
                <a:extLst>
                  <a:ext uri="{FF2B5EF4-FFF2-40B4-BE49-F238E27FC236}">
                    <a16:creationId xmlns:a16="http://schemas.microsoft.com/office/drawing/2014/main" id="{E000F19E-CB04-0E44-8167-6838EE33DFF4}"/>
                  </a:ext>
                </a:extLst>
              </p:cNvPr>
              <p:cNvSpPr txBox="1"/>
              <p:nvPr>
                <p:custDataLst>
                  <p:tags r:id="rId3"/>
                </p:custDataLst>
              </p:nvPr>
            </p:nvSpPr>
            <p:spPr>
              <a:xfrm>
                <a:off x="5164507" y="1095426"/>
                <a:ext cx="2455200" cy="369331"/>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effectLst/>
                    <a:uLnTx/>
                    <a:uFillTx/>
                    <a:latin typeface="+mn-ea"/>
                  </a:rPr>
                  <a:t>推论二：排兵布阵，必须对应物理节点。</a:t>
                </a:r>
              </a:p>
            </p:txBody>
          </p:sp>
          <p:sp>
            <p:nvSpPr>
              <p:cNvPr id="24" name="Body-2">
                <a:extLst>
                  <a:ext uri="{FF2B5EF4-FFF2-40B4-BE49-F238E27FC236}">
                    <a16:creationId xmlns:a16="http://schemas.microsoft.com/office/drawing/2014/main" id="{4E39763C-BD86-4932-C33A-C3B3B02B7397}"/>
                  </a:ext>
                </a:extLst>
              </p:cNvPr>
              <p:cNvSpPr/>
              <p:nvPr>
                <p:custDataLst>
                  <p:tags r:id="rId4"/>
                </p:custDataLst>
              </p:nvPr>
            </p:nvSpPr>
            <p:spPr>
              <a:xfrm>
                <a:off x="5185608" y="1581550"/>
                <a:ext cx="2606279" cy="1383748"/>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1" i="0" u="none" strike="noStrike" kern="1200" cap="none" spc="0" normalizeH="0" baseline="0" noProof="0" dirty="0">
                    <a:ln>
                      <a:noFill/>
                    </a:ln>
                    <a:solidFill>
                      <a:schemeClr val="tx1"/>
                    </a:solidFill>
                    <a:effectLst/>
                    <a:uLnTx/>
                    <a:uFillTx/>
                    <a:latin typeface="+mn-ea"/>
                    <a:cs typeface="+mn-cs"/>
                  </a:rPr>
                  <a:t>自由输入（</a:t>
                </a:r>
                <a:r>
                  <a:rPr kumimoji="0" lang="en-US" altLang="zh-CN" sz="1400" b="1" i="0" u="none" strike="noStrike" kern="1200" cap="none" spc="0" normalizeH="0" baseline="0" noProof="0" dirty="0">
                    <a:ln>
                      <a:noFill/>
                    </a:ln>
                    <a:solidFill>
                      <a:schemeClr val="tx1"/>
                    </a:solidFill>
                    <a:effectLst/>
                    <a:uLnTx/>
                    <a:uFillTx/>
                    <a:latin typeface="+mn-ea"/>
                    <a:cs typeface="+mn-cs"/>
                  </a:rPr>
                  <a:t>X</a:t>
                </a:r>
                <a:r>
                  <a:rPr kumimoji="0" lang="zh-CN" altLang="en-US" sz="1400" b="1" i="0" u="none" strike="noStrike" kern="1200" cap="none" spc="0" normalizeH="0" baseline="0" noProof="0" dirty="0">
                    <a:ln>
                      <a:noFill/>
                    </a:ln>
                    <a:solidFill>
                      <a:schemeClr val="tx1"/>
                    </a:solidFill>
                    <a:effectLst/>
                    <a:uLnTx/>
                    <a:uFillTx/>
                    <a:latin typeface="+mn-ea"/>
                    <a:cs typeface="+mn-cs"/>
                  </a:rPr>
                  <a:t>）：业务领袖，定战略目标。各个团队输入规则、约束、局部目标</a:t>
                </a:r>
              </a:p>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1" i="0" u="none" strike="noStrike" kern="1200" cap="none" spc="0" normalizeH="0" baseline="0" noProof="0" dirty="0">
                    <a:ln>
                      <a:noFill/>
                    </a:ln>
                    <a:solidFill>
                      <a:schemeClr val="tx1"/>
                    </a:solidFill>
                    <a:effectLst/>
                    <a:uLnTx/>
                    <a:uFillTx/>
                    <a:latin typeface="+mn-ea"/>
                    <a:cs typeface="+mn-cs"/>
                  </a:rPr>
                  <a:t>逻辑坍缩（</a:t>
                </a:r>
                <a:r>
                  <a:rPr kumimoji="0" lang="en-US" altLang="zh-CN" sz="1400" b="1" i="0" u="none" strike="noStrike" kern="1200" cap="none" spc="0" normalizeH="0" baseline="0" noProof="0" dirty="0">
                    <a:ln>
                      <a:noFill/>
                    </a:ln>
                    <a:solidFill>
                      <a:schemeClr val="tx1"/>
                    </a:solidFill>
                    <a:effectLst/>
                    <a:uLnTx/>
                    <a:uFillTx/>
                    <a:latin typeface="+mn-ea"/>
                    <a:cs typeface="+mn-cs"/>
                  </a:rPr>
                  <a:t>Π</a:t>
                </a:r>
                <a:r>
                  <a:rPr kumimoji="0" lang="zh-CN" altLang="en-US" sz="1400" b="1" i="0" u="none" strike="noStrike" kern="1200" cap="none" spc="0" normalizeH="0" baseline="0" noProof="0" dirty="0">
                    <a:ln>
                      <a:noFill/>
                    </a:ln>
                    <a:solidFill>
                      <a:schemeClr val="tx1"/>
                    </a:solidFill>
                    <a:effectLst/>
                    <a:uLnTx/>
                    <a:uFillTx/>
                    <a:latin typeface="+mn-ea"/>
                    <a:cs typeface="+mn-cs"/>
                  </a:rPr>
                  <a:t>）：总设计师，设计模型算法，进行代数剪枝。</a:t>
                </a:r>
              </a:p>
              <a:p>
                <a:pPr marL="0" marR="0" lvl="0" indent="0" defTabSz="913765" rtl="0" eaLnBrk="1" fontAlgn="auto" latinLnBrk="0" hangingPunct="1">
                  <a:lnSpc>
                    <a:spcPct val="130000"/>
                  </a:lnSpc>
                  <a:spcBef>
                    <a:spcPts val="0"/>
                  </a:spcBef>
                  <a:spcAft>
                    <a:spcPts val="0"/>
                  </a:spcAft>
                  <a:buClrTx/>
                  <a:buSzPct val="100000"/>
                  <a:buFontTx/>
                  <a:buNone/>
                  <a:defRPr/>
                </a:pPr>
                <a:r>
                  <a:rPr kumimoji="0" lang="zh-CN" altLang="en-US" sz="1400" b="1" i="0" u="none" strike="noStrike" kern="1200" cap="none" spc="0" normalizeH="0" baseline="0" noProof="0" dirty="0">
                    <a:ln>
                      <a:noFill/>
                    </a:ln>
                    <a:solidFill>
                      <a:schemeClr val="tx1"/>
                    </a:solidFill>
                    <a:effectLst/>
                    <a:uLnTx/>
                    <a:uFillTx/>
                    <a:latin typeface="+mn-ea"/>
                    <a:cs typeface="+mn-cs"/>
                  </a:rPr>
                  <a:t>协同输出（</a:t>
                </a:r>
                <a:r>
                  <a:rPr kumimoji="0" lang="en-US" altLang="zh-CN" sz="1400" b="1" i="0" u="none" strike="noStrike" kern="1200" cap="none" spc="0" normalizeH="0" baseline="0" noProof="0" dirty="0">
                    <a:ln>
                      <a:noFill/>
                    </a:ln>
                    <a:solidFill>
                      <a:schemeClr val="tx1"/>
                    </a:solidFill>
                    <a:effectLst/>
                    <a:uLnTx/>
                    <a:uFillTx/>
                    <a:latin typeface="+mn-ea"/>
                    <a:cs typeface="+mn-cs"/>
                  </a:rPr>
                  <a:t>V</a:t>
                </a:r>
                <a:r>
                  <a:rPr kumimoji="0" lang="zh-CN" altLang="en-US" sz="1400" b="1" i="0" u="none" strike="noStrike" kern="1200" cap="none" spc="0" normalizeH="0" baseline="0" noProof="0" dirty="0">
                    <a:ln>
                      <a:noFill/>
                    </a:ln>
                    <a:solidFill>
                      <a:schemeClr val="tx1"/>
                    </a:solidFill>
                    <a:effectLst/>
                    <a:uLnTx/>
                    <a:uFillTx/>
                    <a:latin typeface="+mn-ea"/>
                    <a:cs typeface="+mn-cs"/>
                  </a:rPr>
                  <a:t>）：外围团队，精准响应与交付。</a:t>
                </a:r>
                <a:endParaRPr kumimoji="0" lang="en-GB" altLang="zh-CN" sz="1400" b="1" i="0" u="none" strike="noStrike" kern="1200" cap="none" spc="0" normalizeH="0" baseline="0" noProof="0" dirty="0">
                  <a:ln>
                    <a:noFill/>
                  </a:ln>
                  <a:solidFill>
                    <a:schemeClr val="tx1"/>
                  </a:solidFill>
                  <a:effectLst/>
                  <a:uLnTx/>
                  <a:uFillTx/>
                  <a:latin typeface="+mn-ea"/>
                  <a:cs typeface="+mn-cs"/>
                </a:endParaRPr>
              </a:p>
            </p:txBody>
          </p:sp>
        </p:grpSp>
      </p:grpSp>
      <p:sp>
        <p:nvSpPr>
          <p:cNvPr id="31" name="文本框 30">
            <a:extLst>
              <a:ext uri="{FF2B5EF4-FFF2-40B4-BE49-F238E27FC236}">
                <a16:creationId xmlns:a16="http://schemas.microsoft.com/office/drawing/2014/main" id="{57C078A5-FCD6-AB6E-8B53-B615A14DCD03}"/>
              </a:ext>
            </a:extLst>
          </p:cNvPr>
          <p:cNvSpPr txBox="1"/>
          <p:nvPr/>
        </p:nvSpPr>
        <p:spPr>
          <a:xfrm>
            <a:off x="577155" y="4890864"/>
            <a:ext cx="11037689" cy="830997"/>
          </a:xfrm>
          <a:prstGeom prst="rect">
            <a:avLst/>
          </a:prstGeom>
          <a:noFill/>
        </p:spPr>
        <p:txBody>
          <a:bodyPr wrap="square">
            <a:spAutoFit/>
          </a:bodyPr>
          <a:lstStyle/>
          <a:p>
            <a:pPr marL="285750" indent="-285750">
              <a:buFont typeface="Arial" panose="020B0604020202020204" pitchFamily="34" charset="0"/>
              <a:buChar char="•"/>
            </a:pPr>
            <a:r>
              <a:rPr lang="zh-CN" altLang="en-US" dirty="0"/>
              <a:t>自由输入→逻辑坍缩→协同协奏→闭环反馈，就是钱学森</a:t>
            </a:r>
            <a:r>
              <a:rPr lang="zh-CN" altLang="en-US" dirty="0">
                <a:solidFill>
                  <a:srgbClr val="00D4FF"/>
                </a:solidFill>
              </a:rPr>
              <a:t>“</a:t>
            </a:r>
            <a:r>
              <a:rPr lang="zh-CN" altLang="en-US" sz="2400" b="1" dirty="0">
                <a:solidFill>
                  <a:srgbClr val="00D4FF"/>
                </a:solidFill>
              </a:rPr>
              <a:t>综合集成研讨厅体系</a:t>
            </a:r>
            <a:r>
              <a:rPr lang="zh-CN" altLang="en-US" dirty="0">
                <a:solidFill>
                  <a:srgbClr val="00D4FF"/>
                </a:solidFill>
              </a:rPr>
              <a:t>”</a:t>
            </a:r>
            <a:r>
              <a:rPr lang="zh-CN" altLang="en-US" dirty="0"/>
              <a:t>的算子化定义。</a:t>
            </a:r>
            <a:endParaRPr lang="en-US" altLang="zh-CN" dirty="0"/>
          </a:p>
          <a:p>
            <a:pPr marL="285750" indent="-285750">
              <a:buFont typeface="Arial" panose="020B0604020202020204" pitchFamily="34" charset="0"/>
              <a:buChar char="•"/>
            </a:pPr>
            <a:r>
              <a:rPr lang="zh-CN" altLang="en-US" sz="2400" b="1" dirty="0">
                <a:solidFill>
                  <a:srgbClr val="00D4FF"/>
                </a:solidFill>
              </a:rPr>
              <a:t>选错人，系统坍塌。</a:t>
            </a:r>
          </a:p>
        </p:txBody>
      </p:sp>
    </p:spTree>
    <p:extLst>
      <p:ext uri="{BB962C8B-B14F-4D97-AF65-F5344CB8AC3E}">
        <p14:creationId xmlns:p14="http://schemas.microsoft.com/office/powerpoint/2010/main" val="1636198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6EE242-57B3-751D-AF00-3FE40A851AA5}"/>
              </a:ext>
            </a:extLst>
          </p:cNvPr>
          <p:cNvSpPr>
            <a:spLocks noGrp="1"/>
          </p:cNvSpPr>
          <p:nvPr>
            <p:ph type="title"/>
          </p:nvPr>
        </p:nvSpPr>
        <p:spPr/>
        <p:txBody>
          <a:bodyPr/>
          <a:lstStyle/>
          <a:p>
            <a:r>
              <a:rPr lang="zh-CN" altLang="en-US" dirty="0"/>
              <a:t>动力论</a:t>
            </a:r>
            <a:r>
              <a:rPr lang="en-US" altLang="zh-CN" dirty="0"/>
              <a:t>——</a:t>
            </a:r>
            <a:r>
              <a:rPr lang="zh-CN" altLang="en-US" dirty="0"/>
              <a:t>体系有了，为什么推不动？</a:t>
            </a:r>
          </a:p>
        </p:txBody>
      </p:sp>
      <p:graphicFrame>
        <p:nvGraphicFramePr>
          <p:cNvPr id="7" name="图示 6">
            <a:extLst>
              <a:ext uri="{FF2B5EF4-FFF2-40B4-BE49-F238E27FC236}">
                <a16:creationId xmlns:a16="http://schemas.microsoft.com/office/drawing/2014/main" id="{153E1C28-4C91-9921-A1DC-4558548E8A4B}"/>
              </a:ext>
            </a:extLst>
          </p:cNvPr>
          <p:cNvGraphicFramePr/>
          <p:nvPr>
            <p:extLst>
              <p:ext uri="{D42A27DB-BD31-4B8C-83A1-F6EECF244321}">
                <p14:modId xmlns:p14="http://schemas.microsoft.com/office/powerpoint/2010/main" val="3519378506"/>
              </p:ext>
            </p:extLst>
          </p:nvPr>
        </p:nvGraphicFramePr>
        <p:xfrm>
          <a:off x="1809626" y="1480170"/>
          <a:ext cx="8526043"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文本框 5">
            <a:extLst>
              <a:ext uri="{FF2B5EF4-FFF2-40B4-BE49-F238E27FC236}">
                <a16:creationId xmlns:a16="http://schemas.microsoft.com/office/drawing/2014/main" id="{7E16730F-EFC2-8756-88E2-68C075292BBD}"/>
              </a:ext>
            </a:extLst>
          </p:cNvPr>
          <p:cNvSpPr txBox="1"/>
          <p:nvPr/>
        </p:nvSpPr>
        <p:spPr>
          <a:xfrm>
            <a:off x="2658152" y="5328281"/>
            <a:ext cx="6096982" cy="461665"/>
          </a:xfrm>
          <a:prstGeom prst="rect">
            <a:avLst/>
          </a:prstGeom>
          <a:noFill/>
        </p:spPr>
        <p:txBody>
          <a:bodyPr wrap="square">
            <a:spAutoFit/>
          </a:bodyPr>
          <a:lstStyle/>
          <a:p>
            <a:r>
              <a:rPr lang="zh-CN" altLang="en-US" dirty="0"/>
              <a:t>推不动，等于零。</a:t>
            </a:r>
            <a:r>
              <a:rPr lang="zh-CN" altLang="en-US" sz="2400" b="1" dirty="0">
                <a:solidFill>
                  <a:srgbClr val="00D4FF"/>
                </a:solidFill>
              </a:rPr>
              <a:t>根因在权力</a:t>
            </a:r>
            <a:r>
              <a:rPr lang="zh-CN" altLang="en-US" dirty="0"/>
              <a:t>，</a:t>
            </a:r>
            <a:r>
              <a:rPr lang="zh-CN" altLang="en-US" sz="2400" b="1" dirty="0">
                <a:solidFill>
                  <a:srgbClr val="00D4FF"/>
                </a:solidFill>
              </a:rPr>
              <a:t>波折是常态</a:t>
            </a:r>
            <a:r>
              <a:rPr lang="zh-CN" altLang="en-US" dirty="0"/>
              <a:t>。</a:t>
            </a:r>
          </a:p>
        </p:txBody>
      </p:sp>
    </p:spTree>
    <p:extLst>
      <p:ext uri="{BB962C8B-B14F-4D97-AF65-F5344CB8AC3E}">
        <p14:creationId xmlns:p14="http://schemas.microsoft.com/office/powerpoint/2010/main" val="1487600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8F703-7C18-F64A-5993-969820B3092E}"/>
              </a:ext>
            </a:extLst>
          </p:cNvPr>
          <p:cNvSpPr>
            <a:spLocks noGrp="1"/>
          </p:cNvSpPr>
          <p:nvPr>
            <p:ph type="title"/>
          </p:nvPr>
        </p:nvSpPr>
        <p:spPr/>
        <p:txBody>
          <a:bodyPr/>
          <a:lstStyle/>
          <a:p>
            <a:r>
              <a:rPr lang="zh-CN" altLang="en-US" dirty="0"/>
              <a:t>动力论</a:t>
            </a:r>
            <a:r>
              <a:rPr lang="en-US" altLang="zh-CN" dirty="0"/>
              <a:t>——Sponsor</a:t>
            </a:r>
            <a:r>
              <a:rPr lang="zh-CN" altLang="en-US" dirty="0"/>
              <a:t>举手，形成引力场</a:t>
            </a:r>
          </a:p>
        </p:txBody>
      </p:sp>
      <p:graphicFrame>
        <p:nvGraphicFramePr>
          <p:cNvPr id="9" name="图示 8">
            <a:extLst>
              <a:ext uri="{FF2B5EF4-FFF2-40B4-BE49-F238E27FC236}">
                <a16:creationId xmlns:a16="http://schemas.microsoft.com/office/drawing/2014/main" id="{0C394DA5-927C-92B7-EEF7-68C172B0DCB3}"/>
              </a:ext>
            </a:extLst>
          </p:cNvPr>
          <p:cNvGraphicFramePr/>
          <p:nvPr>
            <p:extLst>
              <p:ext uri="{D42A27DB-BD31-4B8C-83A1-F6EECF244321}">
                <p14:modId xmlns:p14="http://schemas.microsoft.com/office/powerpoint/2010/main" val="2052505660"/>
              </p:ext>
            </p:extLst>
          </p:nvPr>
        </p:nvGraphicFramePr>
        <p:xfrm>
          <a:off x="748235" y="949795"/>
          <a:ext cx="10695530" cy="3669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文本框 7">
            <a:extLst>
              <a:ext uri="{FF2B5EF4-FFF2-40B4-BE49-F238E27FC236}">
                <a16:creationId xmlns:a16="http://schemas.microsoft.com/office/drawing/2014/main" id="{5083AFBC-5CE9-53D4-E0E0-FADDFF3A27D8}"/>
              </a:ext>
            </a:extLst>
          </p:cNvPr>
          <p:cNvSpPr txBox="1"/>
          <p:nvPr/>
        </p:nvSpPr>
        <p:spPr>
          <a:xfrm>
            <a:off x="2576544" y="5644057"/>
            <a:ext cx="6096982" cy="738664"/>
          </a:xfrm>
          <a:prstGeom prst="rect">
            <a:avLst/>
          </a:prstGeom>
          <a:noFill/>
        </p:spPr>
        <p:txBody>
          <a:bodyPr wrap="square">
            <a:spAutoFit/>
          </a:bodyPr>
          <a:lstStyle/>
          <a:p>
            <a:r>
              <a:rPr lang="en-US" altLang="zh-CN" dirty="0"/>
              <a:t>Sponsor</a:t>
            </a:r>
            <a:r>
              <a:rPr lang="zh-CN" altLang="en-US" dirty="0"/>
              <a:t>形成引力场。但</a:t>
            </a:r>
            <a:r>
              <a:rPr lang="en-US" altLang="zh-CN" dirty="0"/>
              <a:t>Sponsor</a:t>
            </a:r>
            <a:r>
              <a:rPr lang="zh-CN" altLang="en-US" dirty="0"/>
              <a:t>会越界而不自知、会被短期利益带偏，所以必须有</a:t>
            </a:r>
            <a:r>
              <a:rPr lang="zh-CN" altLang="en-US" sz="2400" b="1" dirty="0">
                <a:solidFill>
                  <a:srgbClr val="00D4FF"/>
                </a:solidFill>
              </a:rPr>
              <a:t>双长制</a:t>
            </a:r>
            <a:r>
              <a:rPr lang="zh-CN" altLang="en-US" dirty="0"/>
              <a:t>。</a:t>
            </a:r>
          </a:p>
        </p:txBody>
      </p:sp>
    </p:spTree>
    <p:extLst>
      <p:ext uri="{BB962C8B-B14F-4D97-AF65-F5344CB8AC3E}">
        <p14:creationId xmlns:p14="http://schemas.microsoft.com/office/powerpoint/2010/main" val="3154793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586D0-AE0B-D350-F5D8-86B244C41421}"/>
              </a:ext>
            </a:extLst>
          </p:cNvPr>
          <p:cNvSpPr>
            <a:spLocks noGrp="1"/>
          </p:cNvSpPr>
          <p:nvPr>
            <p:ph type="title"/>
          </p:nvPr>
        </p:nvSpPr>
        <p:spPr/>
        <p:txBody>
          <a:bodyPr/>
          <a:lstStyle/>
          <a:p>
            <a:r>
              <a:rPr lang="zh-CN" altLang="en-US" dirty="0"/>
              <a:t>动力论</a:t>
            </a:r>
            <a:r>
              <a:rPr lang="en-US" altLang="zh-CN" dirty="0"/>
              <a:t>——</a:t>
            </a:r>
            <a:r>
              <a:rPr lang="zh-CN" altLang="en-US" dirty="0"/>
              <a:t>双核力场</a:t>
            </a:r>
          </a:p>
        </p:txBody>
      </p:sp>
      <p:graphicFrame>
        <p:nvGraphicFramePr>
          <p:cNvPr id="5" name="图示 4">
            <a:extLst>
              <a:ext uri="{FF2B5EF4-FFF2-40B4-BE49-F238E27FC236}">
                <a16:creationId xmlns:a16="http://schemas.microsoft.com/office/drawing/2014/main" id="{915C0E8B-34DE-85FD-F8FD-2BE874D32D4A}"/>
              </a:ext>
            </a:extLst>
          </p:cNvPr>
          <p:cNvGraphicFramePr/>
          <p:nvPr>
            <p:extLst>
              <p:ext uri="{D42A27DB-BD31-4B8C-83A1-F6EECF244321}">
                <p14:modId xmlns:p14="http://schemas.microsoft.com/office/powerpoint/2010/main" val="4030362600"/>
              </p:ext>
            </p:extLst>
          </p:nvPr>
        </p:nvGraphicFramePr>
        <p:xfrm>
          <a:off x="1421747" y="1002890"/>
          <a:ext cx="8053110" cy="22771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a:extLst>
              <a:ext uri="{FF2B5EF4-FFF2-40B4-BE49-F238E27FC236}">
                <a16:creationId xmlns:a16="http://schemas.microsoft.com/office/drawing/2014/main" id="{5A6885BE-FE96-97DC-966D-9AA482C2AEB1}"/>
              </a:ext>
            </a:extLst>
          </p:cNvPr>
          <p:cNvGraphicFramePr/>
          <p:nvPr>
            <p:extLst>
              <p:ext uri="{D42A27DB-BD31-4B8C-83A1-F6EECF244321}">
                <p14:modId xmlns:p14="http://schemas.microsoft.com/office/powerpoint/2010/main" val="3415256208"/>
              </p:ext>
            </p:extLst>
          </p:nvPr>
        </p:nvGraphicFramePr>
        <p:xfrm>
          <a:off x="1421747" y="2963724"/>
          <a:ext cx="4874342" cy="291940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图示 10">
            <a:extLst>
              <a:ext uri="{FF2B5EF4-FFF2-40B4-BE49-F238E27FC236}">
                <a16:creationId xmlns:a16="http://schemas.microsoft.com/office/drawing/2014/main" id="{16B126ED-B4F5-42B4-FA85-86C8A958C3F5}"/>
              </a:ext>
            </a:extLst>
          </p:cNvPr>
          <p:cNvGraphicFramePr/>
          <p:nvPr>
            <p:extLst>
              <p:ext uri="{D42A27DB-BD31-4B8C-83A1-F6EECF244321}">
                <p14:modId xmlns:p14="http://schemas.microsoft.com/office/powerpoint/2010/main" val="1341358880"/>
              </p:ext>
            </p:extLst>
          </p:nvPr>
        </p:nvGraphicFramePr>
        <p:xfrm>
          <a:off x="6461760" y="3414637"/>
          <a:ext cx="3013097" cy="201757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3" name="文本框 12">
            <a:extLst>
              <a:ext uri="{FF2B5EF4-FFF2-40B4-BE49-F238E27FC236}">
                <a16:creationId xmlns:a16="http://schemas.microsoft.com/office/drawing/2014/main" id="{5C337BC7-CAAF-9955-8FE0-D717A17A8D79}"/>
              </a:ext>
            </a:extLst>
          </p:cNvPr>
          <p:cNvSpPr txBox="1"/>
          <p:nvPr/>
        </p:nvSpPr>
        <p:spPr>
          <a:xfrm>
            <a:off x="971673" y="5931564"/>
            <a:ext cx="10083471" cy="461665"/>
          </a:xfrm>
          <a:prstGeom prst="rect">
            <a:avLst/>
          </a:prstGeom>
          <a:noFill/>
        </p:spPr>
        <p:txBody>
          <a:bodyPr wrap="square">
            <a:spAutoFit/>
          </a:bodyPr>
          <a:lstStyle/>
          <a:p>
            <a:r>
              <a:rPr lang="en-US" altLang="zh-CN" dirty="0"/>
              <a:t>Sponsor</a:t>
            </a:r>
            <a:r>
              <a:rPr lang="zh-CN" altLang="en-US" dirty="0"/>
              <a:t>顶住压力，总设计师靠</a:t>
            </a:r>
            <a:r>
              <a:rPr lang="zh-CN" altLang="en-US" sz="2400" b="1" dirty="0">
                <a:solidFill>
                  <a:srgbClr val="00D4FF"/>
                </a:solidFill>
              </a:rPr>
              <a:t>逻辑自洽</a:t>
            </a:r>
            <a:r>
              <a:rPr lang="zh-CN" altLang="en-US" dirty="0"/>
              <a:t>建立缓冲。</a:t>
            </a:r>
            <a:r>
              <a:rPr lang="zh-CN" altLang="en-US" sz="2400" b="1" dirty="0">
                <a:solidFill>
                  <a:srgbClr val="00D4FF"/>
                </a:solidFill>
              </a:rPr>
              <a:t>双核力场共振</a:t>
            </a:r>
            <a:r>
              <a:rPr lang="zh-CN" altLang="en-US" dirty="0"/>
              <a:t>，才能跨越波折。</a:t>
            </a:r>
          </a:p>
        </p:txBody>
      </p:sp>
    </p:spTree>
    <p:extLst>
      <p:ext uri="{BB962C8B-B14F-4D97-AF65-F5344CB8AC3E}">
        <p14:creationId xmlns:p14="http://schemas.microsoft.com/office/powerpoint/2010/main" val="2597814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611A0-12F7-8E2E-0F3D-0159042AB10E}"/>
              </a:ext>
            </a:extLst>
          </p:cNvPr>
          <p:cNvSpPr>
            <a:spLocks noGrp="1"/>
          </p:cNvSpPr>
          <p:nvPr>
            <p:ph type="title"/>
          </p:nvPr>
        </p:nvSpPr>
        <p:spPr/>
        <p:txBody>
          <a:bodyPr/>
          <a:lstStyle/>
          <a:p>
            <a:r>
              <a:rPr lang="zh-CN" altLang="en-US" dirty="0"/>
              <a:t>动力论</a:t>
            </a:r>
            <a:r>
              <a:rPr lang="en-US" altLang="zh-CN" dirty="0"/>
              <a:t>——</a:t>
            </a:r>
            <a:r>
              <a:rPr lang="zh-CN" altLang="en-US" dirty="0"/>
              <a:t>两层夹角，都必须消灭</a:t>
            </a:r>
          </a:p>
        </p:txBody>
      </p:sp>
      <p:grpSp>
        <p:nvGrpSpPr>
          <p:cNvPr id="18" name="组合 17">
            <a:extLst>
              <a:ext uri="{FF2B5EF4-FFF2-40B4-BE49-F238E27FC236}">
                <a16:creationId xmlns:a16="http://schemas.microsoft.com/office/drawing/2014/main" id="{BE6981C7-29F8-F053-6B98-1E9BAF5472FE}"/>
              </a:ext>
            </a:extLst>
          </p:cNvPr>
          <p:cNvGrpSpPr>
            <a:grpSpLocks noChangeAspect="1"/>
          </p:cNvGrpSpPr>
          <p:nvPr>
            <p:custDataLst>
              <p:tags r:id="rId1"/>
            </p:custDataLst>
          </p:nvPr>
        </p:nvGrpSpPr>
        <p:grpSpPr>
          <a:xfrm>
            <a:off x="790517" y="1014688"/>
            <a:ext cx="10836529" cy="3405090"/>
            <a:chOff x="1774411" y="1656347"/>
            <a:chExt cx="8582439" cy="3516049"/>
          </a:xfrm>
        </p:grpSpPr>
        <p:grpSp>
          <p:nvGrpSpPr>
            <p:cNvPr id="19" name="组合 18">
              <a:extLst>
                <a:ext uri="{FF2B5EF4-FFF2-40B4-BE49-F238E27FC236}">
                  <a16:creationId xmlns:a16="http://schemas.microsoft.com/office/drawing/2014/main" id="{8DA06946-9C11-E648-2E28-D090EDE8C92B}"/>
                </a:ext>
              </a:extLst>
            </p:cNvPr>
            <p:cNvGrpSpPr/>
            <p:nvPr/>
          </p:nvGrpSpPr>
          <p:grpSpPr>
            <a:xfrm>
              <a:off x="1835150" y="1656347"/>
              <a:ext cx="8521700" cy="1683235"/>
              <a:chOff x="1835150" y="897801"/>
              <a:chExt cx="8521700" cy="1683235"/>
            </a:xfrm>
          </p:grpSpPr>
          <p:sp>
            <p:nvSpPr>
              <p:cNvPr id="25" name="1">
                <a:extLst>
                  <a:ext uri="{FF2B5EF4-FFF2-40B4-BE49-F238E27FC236}">
                    <a16:creationId xmlns:a16="http://schemas.microsoft.com/office/drawing/2014/main" id="{B62B0955-BF09-0906-66FD-B2C460DEA8F2}"/>
                  </a:ext>
                </a:extLst>
              </p:cNvPr>
              <p:cNvSpPr/>
              <p:nvPr>
                <p:custDataLst>
                  <p:tags r:id="rId6"/>
                </p:custDataLst>
              </p:nvPr>
            </p:nvSpPr>
            <p:spPr>
              <a:xfrm>
                <a:off x="1835150" y="897801"/>
                <a:ext cx="8521700" cy="866297"/>
              </a:xfrm>
              <a:prstGeom prst="roundRect">
                <a:avLst/>
              </a:prstGeom>
              <a:gradFill flip="none" rotWithShape="1">
                <a:gsLst>
                  <a:gs pos="0">
                    <a:schemeClr val="accent1"/>
                  </a:gs>
                  <a:gs pos="100000">
                    <a:schemeClr val="accent1">
                      <a:lumMod val="75000"/>
                    </a:schemeClr>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r"/>
                <a:endParaRPr lang="zh-CN" altLang="en-US" sz="2400" b="1" dirty="0"/>
              </a:p>
            </p:txBody>
          </p:sp>
          <p:sp>
            <p:nvSpPr>
              <p:cNvPr id="26" name="1">
                <a:extLst>
                  <a:ext uri="{FF2B5EF4-FFF2-40B4-BE49-F238E27FC236}">
                    <a16:creationId xmlns:a16="http://schemas.microsoft.com/office/drawing/2014/main" id="{34DABFCC-3B00-E268-BA7E-4953A2730950}"/>
                  </a:ext>
                </a:extLst>
              </p:cNvPr>
              <p:cNvSpPr/>
              <p:nvPr>
                <p:custDataLst>
                  <p:tags r:id="rId7"/>
                </p:custDataLst>
              </p:nvPr>
            </p:nvSpPr>
            <p:spPr>
              <a:xfrm>
                <a:off x="2073910" y="1020725"/>
                <a:ext cx="1780540" cy="470871"/>
              </a:xfrm>
              <a:prstGeom prst="roundRect">
                <a:avLst>
                  <a:gd name="adj" fmla="val 24395"/>
                </a:avLst>
              </a:prstGeom>
              <a:solidFill>
                <a:schemeClr val="bg1">
                  <a:lumMod val="95000"/>
                </a:schemeClr>
              </a:solidFill>
              <a:ln w="25400">
                <a:gradFill>
                  <a:gsLst>
                    <a:gs pos="0">
                      <a:schemeClr val="bg1"/>
                    </a:gs>
                    <a:gs pos="100000">
                      <a:schemeClr val="bg1">
                        <a:lumMod val="85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prstClr val="white"/>
                  </a:solidFill>
                  <a:latin typeface="+mj-ea"/>
                  <a:ea typeface="+mj-ea"/>
                </a:endParaRPr>
              </a:p>
            </p:txBody>
          </p:sp>
          <p:sp>
            <p:nvSpPr>
              <p:cNvPr id="27" name="Title-1">
                <a:extLst>
                  <a:ext uri="{FF2B5EF4-FFF2-40B4-BE49-F238E27FC236}">
                    <a16:creationId xmlns:a16="http://schemas.microsoft.com/office/drawing/2014/main" id="{4D3A3ED0-BEB0-B491-3C96-96B56780A490}"/>
                  </a:ext>
                </a:extLst>
              </p:cNvPr>
              <p:cNvSpPr txBox="1"/>
              <p:nvPr>
                <p:custDataLst>
                  <p:tags r:id="rId8"/>
                </p:custDataLst>
              </p:nvPr>
            </p:nvSpPr>
            <p:spPr>
              <a:xfrm>
                <a:off x="2158003" y="1071494"/>
                <a:ext cx="1840953" cy="369332"/>
              </a:xfrm>
              <a:prstGeom prst="rect">
                <a:avLst/>
              </a:prstGeom>
              <a:noFill/>
            </p:spPr>
            <p:txBody>
              <a:bodyPr wrap="square" rtlCol="0">
                <a:noAutofit/>
              </a:bodyPr>
              <a:lstStyle/>
              <a:p>
                <a:r>
                  <a:rPr lang="zh-CN" altLang="en-US" b="1" dirty="0">
                    <a:solidFill>
                      <a:schemeClr val="tx1">
                        <a:lumMod val="75000"/>
                        <a:lumOff val="25000"/>
                      </a:schemeClr>
                    </a:solidFill>
                    <a:latin typeface="Arial" panose="020B0604020202020204" pitchFamily="34" charset="0"/>
                    <a:ea typeface="微软雅黑" panose="020B0503020204020204" pitchFamily="34" charset="-122"/>
                  </a:rPr>
                  <a:t>有效做功方程：</a:t>
                </a:r>
              </a:p>
            </p:txBody>
          </p:sp>
          <p:sp>
            <p:nvSpPr>
              <p:cNvPr id="28" name="Body-1">
                <a:extLst>
                  <a:ext uri="{FF2B5EF4-FFF2-40B4-BE49-F238E27FC236}">
                    <a16:creationId xmlns:a16="http://schemas.microsoft.com/office/drawing/2014/main" id="{6845A1AE-1649-1B06-52A4-A2727C3D648F}"/>
                  </a:ext>
                </a:extLst>
              </p:cNvPr>
              <p:cNvSpPr>
                <a:spLocks/>
              </p:cNvSpPr>
              <p:nvPr>
                <p:custDataLst>
                  <p:tags r:id="rId9"/>
                </p:custDataLst>
              </p:nvPr>
            </p:nvSpPr>
            <p:spPr>
              <a:xfrm>
                <a:off x="3938543" y="991467"/>
                <a:ext cx="6095454" cy="15895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lang="en-US" altLang="zh-CN" sz="1400" b="1" dirty="0">
                    <a:solidFill>
                      <a:schemeClr val="tx1">
                        <a:lumMod val="75000"/>
                        <a:lumOff val="25000"/>
                      </a:schemeClr>
                    </a:solidFill>
                    <a:latin typeface="Arial" panose="020B0604020202020204" pitchFamily="34" charset="0"/>
                    <a:ea typeface="微软雅黑" panose="020B0503020204020204" pitchFamily="34" charset="-122"/>
                  </a:rPr>
                  <a:t>W = F × S × </a:t>
                </a:r>
                <a:r>
                  <a:rPr lang="en-US" altLang="zh-CN" sz="1400" b="1" dirty="0" err="1">
                    <a:solidFill>
                      <a:schemeClr val="tx1">
                        <a:lumMod val="75000"/>
                        <a:lumOff val="25000"/>
                      </a:schemeClr>
                    </a:solidFill>
                    <a:latin typeface="Arial" panose="020B0604020202020204" pitchFamily="34" charset="0"/>
                    <a:ea typeface="微软雅黑" panose="020B0503020204020204" pitchFamily="34" charset="-122"/>
                  </a:rPr>
                  <a:t>cosθ</a:t>
                </a:r>
                <a:endParaRPr kumimoji="0" lang="en-GB" altLang="zh-CN" sz="1400" b="0" i="0" u="none" strike="noStrike" kern="1200" cap="none" spc="0" normalizeH="0" baseline="0" noProof="0" dirty="0">
                  <a:ln>
                    <a:noFill/>
                  </a:ln>
                  <a:solidFill>
                    <a:schemeClr val="bg1"/>
                  </a:solidFill>
                  <a:effectLst/>
                  <a:uLnTx/>
                  <a:uFillTx/>
                  <a:latin typeface="+mn-ea"/>
                  <a:cs typeface="+mn-cs"/>
                </a:endParaRPr>
              </a:p>
            </p:txBody>
          </p:sp>
        </p:grpSp>
        <p:grpSp>
          <p:nvGrpSpPr>
            <p:cNvPr id="20" name="组合 19">
              <a:extLst>
                <a:ext uri="{FF2B5EF4-FFF2-40B4-BE49-F238E27FC236}">
                  <a16:creationId xmlns:a16="http://schemas.microsoft.com/office/drawing/2014/main" id="{7C986EF7-641E-8399-BC4C-0076CA50846A}"/>
                </a:ext>
              </a:extLst>
            </p:cNvPr>
            <p:cNvGrpSpPr/>
            <p:nvPr/>
          </p:nvGrpSpPr>
          <p:grpSpPr>
            <a:xfrm>
              <a:off x="1774411" y="2573414"/>
              <a:ext cx="8521700" cy="2598982"/>
              <a:chOff x="1774411" y="1814868"/>
              <a:chExt cx="8521700" cy="2598982"/>
            </a:xfrm>
          </p:grpSpPr>
          <p:sp>
            <p:nvSpPr>
              <p:cNvPr id="21" name="2">
                <a:extLst>
                  <a:ext uri="{FF2B5EF4-FFF2-40B4-BE49-F238E27FC236}">
                    <a16:creationId xmlns:a16="http://schemas.microsoft.com/office/drawing/2014/main" id="{F0C1782E-FF27-61D1-2817-EF85BC64AAB2}"/>
                  </a:ext>
                </a:extLst>
              </p:cNvPr>
              <p:cNvSpPr/>
              <p:nvPr>
                <p:custDataLst>
                  <p:tags r:id="rId2"/>
                </p:custDataLst>
              </p:nvPr>
            </p:nvSpPr>
            <p:spPr>
              <a:xfrm>
                <a:off x="1774411" y="1814868"/>
                <a:ext cx="8521700" cy="2598982"/>
              </a:xfrm>
              <a:prstGeom prst="roundRect">
                <a:avLst/>
              </a:prstGeom>
              <a:gradFill flip="none" rotWithShape="1">
                <a:gsLst>
                  <a:gs pos="0">
                    <a:schemeClr val="accent2"/>
                  </a:gs>
                  <a:gs pos="100000">
                    <a:schemeClr val="accent2">
                      <a:lumMod val="75000"/>
                    </a:schemeClr>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r"/>
                <a:endParaRPr lang="zh-CN" altLang="en-US" sz="2400" b="1" dirty="0"/>
              </a:p>
            </p:txBody>
          </p:sp>
          <p:sp>
            <p:nvSpPr>
              <p:cNvPr id="22" name="2">
                <a:extLst>
                  <a:ext uri="{FF2B5EF4-FFF2-40B4-BE49-F238E27FC236}">
                    <a16:creationId xmlns:a16="http://schemas.microsoft.com/office/drawing/2014/main" id="{7BB17CD4-7CE0-7A06-8206-C802C0C5EDF3}"/>
                  </a:ext>
                </a:extLst>
              </p:cNvPr>
              <p:cNvSpPr/>
              <p:nvPr>
                <p:custDataLst>
                  <p:tags r:id="rId3"/>
                </p:custDataLst>
              </p:nvPr>
            </p:nvSpPr>
            <p:spPr>
              <a:xfrm>
                <a:off x="2073909" y="1975514"/>
                <a:ext cx="1780540" cy="470871"/>
              </a:xfrm>
              <a:prstGeom prst="roundRect">
                <a:avLst>
                  <a:gd name="adj" fmla="val 24395"/>
                </a:avLst>
              </a:prstGeom>
              <a:solidFill>
                <a:schemeClr val="bg1">
                  <a:lumMod val="95000"/>
                </a:schemeClr>
              </a:solidFill>
              <a:ln w="25400">
                <a:gradFill>
                  <a:gsLst>
                    <a:gs pos="0">
                      <a:schemeClr val="bg1"/>
                    </a:gs>
                    <a:gs pos="100000">
                      <a:schemeClr val="bg1">
                        <a:lumMod val="85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prstClr val="white"/>
                  </a:solidFill>
                  <a:latin typeface="+mj-ea"/>
                  <a:ea typeface="+mj-ea"/>
                </a:endParaRPr>
              </a:p>
            </p:txBody>
          </p:sp>
          <p:sp>
            <p:nvSpPr>
              <p:cNvPr id="23" name="Title-2">
                <a:extLst>
                  <a:ext uri="{FF2B5EF4-FFF2-40B4-BE49-F238E27FC236}">
                    <a16:creationId xmlns:a16="http://schemas.microsoft.com/office/drawing/2014/main" id="{53D7F0CA-028F-DF61-44BD-729B1DF0C12F}"/>
                  </a:ext>
                </a:extLst>
              </p:cNvPr>
              <p:cNvSpPr txBox="1"/>
              <p:nvPr>
                <p:custDataLst>
                  <p:tags r:id="rId4"/>
                </p:custDataLst>
              </p:nvPr>
            </p:nvSpPr>
            <p:spPr>
              <a:xfrm>
                <a:off x="2158003" y="1975514"/>
                <a:ext cx="1840953" cy="369332"/>
              </a:xfrm>
              <a:prstGeom prst="rect">
                <a:avLst/>
              </a:prstGeom>
              <a:noFill/>
            </p:spPr>
            <p:txBody>
              <a:bodyPr wrap="square" rtlCol="0">
                <a:noAutofit/>
              </a:bodyPr>
              <a:lstStyle/>
              <a:p>
                <a:r>
                  <a:rPr lang="zh-CN" altLang="en-US" b="1" dirty="0">
                    <a:solidFill>
                      <a:schemeClr val="tx1">
                        <a:lumMod val="75000"/>
                        <a:lumOff val="25000"/>
                      </a:schemeClr>
                    </a:solidFill>
                    <a:latin typeface="Arial" panose="020B0604020202020204" pitchFamily="34" charset="0"/>
                    <a:ea typeface="微软雅黑" panose="020B0503020204020204" pitchFamily="34" charset="-122"/>
                  </a:rPr>
                  <a:t>这里有两层夹角：</a:t>
                </a:r>
              </a:p>
            </p:txBody>
          </p:sp>
          <p:sp>
            <p:nvSpPr>
              <p:cNvPr id="24" name="Body-2">
                <a:extLst>
                  <a:ext uri="{FF2B5EF4-FFF2-40B4-BE49-F238E27FC236}">
                    <a16:creationId xmlns:a16="http://schemas.microsoft.com/office/drawing/2014/main" id="{4E051D19-DFF2-4965-AD75-DE47DF10E7C4}"/>
                  </a:ext>
                </a:extLst>
              </p:cNvPr>
              <p:cNvSpPr>
                <a:spLocks/>
              </p:cNvSpPr>
              <p:nvPr>
                <p:custDataLst>
                  <p:tags r:id="rId5"/>
                </p:custDataLst>
              </p:nvPr>
            </p:nvSpPr>
            <p:spPr>
              <a:xfrm>
                <a:off x="3896493" y="2025969"/>
                <a:ext cx="6095454" cy="15895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第一层：</a:t>
                </a:r>
                <a:r>
                  <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Sponsor</a:t>
                </a: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的行政推力 </a:t>
                </a:r>
                <a:r>
                  <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F_M </a:t>
                </a: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与总设计师的逻辑引力 </a:t>
                </a:r>
                <a:r>
                  <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F_Π </a:t>
                </a: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之间的夹角。</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如果方向不一致</a:t>
                </a:r>
                <a:r>
                  <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——Sponsor</a:t>
                </a: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要省钱，总设计师要建系统；</a:t>
                </a:r>
                <a:endPar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endParaRP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Sponsor</a:t>
                </a: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要快，总设计师要自洽</a:t>
                </a:r>
                <a:r>
                  <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两股力就会矢量对消（呼应目的论）。</a:t>
                </a:r>
                <a:endPar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endParaRP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双核力场塌了，变革就成了空转。</a:t>
                </a:r>
              </a:p>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第二层：双核合力与员工真实</a:t>
                </a:r>
                <a:r>
                  <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KPI</a:t>
                </a:r>
                <a:r>
                  <a:rPr kumimoji="0" lang="zh-CN" altLang="en-US" sz="1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之间的夹角。</a:t>
                </a: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双核方向一致了，但合力方向仍然可能与员工</a:t>
                </a:r>
                <a:r>
                  <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KPI</a:t>
                </a: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正交。</a:t>
                </a:r>
                <a:endParaRPr kumimoji="0" lang="en-US"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endParaRPr>
              </a:p>
              <a:p>
                <a:pPr marL="285750" marR="0" lvl="0" indent="-285750"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员工在旧考核体系下，做数字化转型对自己没好处，就软抵抗。</a:t>
                </a:r>
                <a:endParaRPr kumimoji="0" lang="en-GB" altLang="zh-CN" sz="14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endParaRPr>
              </a:p>
            </p:txBody>
          </p:sp>
        </p:grpSp>
      </p:grpSp>
      <p:sp>
        <p:nvSpPr>
          <p:cNvPr id="30" name="文本框 29">
            <a:extLst>
              <a:ext uri="{FF2B5EF4-FFF2-40B4-BE49-F238E27FC236}">
                <a16:creationId xmlns:a16="http://schemas.microsoft.com/office/drawing/2014/main" id="{CCD29ECF-851E-B0FE-B900-03F0F4E139FC}"/>
              </a:ext>
            </a:extLst>
          </p:cNvPr>
          <p:cNvSpPr txBox="1"/>
          <p:nvPr/>
        </p:nvSpPr>
        <p:spPr>
          <a:xfrm>
            <a:off x="2806619" y="5111226"/>
            <a:ext cx="6096982" cy="738664"/>
          </a:xfrm>
          <a:prstGeom prst="rect">
            <a:avLst/>
          </a:prstGeom>
          <a:noFill/>
        </p:spPr>
        <p:txBody>
          <a:bodyPr wrap="square">
            <a:spAutoFit/>
          </a:bodyPr>
          <a:lstStyle/>
          <a:p>
            <a:r>
              <a:rPr lang="zh-CN" altLang="en-US" dirty="0"/>
              <a:t>两层</a:t>
            </a:r>
            <a:r>
              <a:rPr lang="zh-CN" altLang="en-US" sz="2400" b="1" dirty="0">
                <a:solidFill>
                  <a:srgbClr val="00D4FF"/>
                </a:solidFill>
              </a:rPr>
              <a:t>夹角</a:t>
            </a:r>
            <a:r>
              <a:rPr lang="zh-CN" altLang="en-US" dirty="0"/>
              <a:t>都要</a:t>
            </a:r>
            <a:r>
              <a:rPr lang="zh-CN" altLang="en-US" sz="2400" b="1" dirty="0">
                <a:solidFill>
                  <a:srgbClr val="00D4FF"/>
                </a:solidFill>
              </a:rPr>
              <a:t>消灭</a:t>
            </a:r>
            <a:r>
              <a:rPr lang="zh-CN" altLang="en-US" dirty="0"/>
              <a:t>。</a:t>
            </a:r>
            <a:endParaRPr lang="en-US" altLang="zh-CN" dirty="0"/>
          </a:p>
          <a:p>
            <a:r>
              <a:rPr lang="zh-CN" altLang="en-US" dirty="0"/>
              <a:t>第一层是权力与逻辑对齐，第二层是逻辑与利益对齐。</a:t>
            </a:r>
          </a:p>
        </p:txBody>
      </p:sp>
    </p:spTree>
    <p:extLst>
      <p:ext uri="{BB962C8B-B14F-4D97-AF65-F5344CB8AC3E}">
        <p14:creationId xmlns:p14="http://schemas.microsoft.com/office/powerpoint/2010/main" val="3753801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80D885-7A0A-9F29-7E49-CF93F0CEE595}"/>
              </a:ext>
            </a:extLst>
          </p:cNvPr>
          <p:cNvSpPr>
            <a:spLocks noGrp="1"/>
          </p:cNvSpPr>
          <p:nvPr>
            <p:ph type="title"/>
          </p:nvPr>
        </p:nvSpPr>
        <p:spPr/>
        <p:txBody>
          <a:bodyPr/>
          <a:lstStyle/>
          <a:p>
            <a:r>
              <a:rPr lang="zh-CN" altLang="en-US" dirty="0"/>
              <a:t>动力论</a:t>
            </a:r>
            <a:r>
              <a:rPr lang="en-US" altLang="zh-CN" dirty="0"/>
              <a:t>——</a:t>
            </a:r>
            <a:r>
              <a:rPr lang="zh-CN" altLang="en-US" dirty="0"/>
              <a:t>权力热耗散与双长制</a:t>
            </a:r>
          </a:p>
        </p:txBody>
      </p:sp>
      <p:grpSp>
        <p:nvGrpSpPr>
          <p:cNvPr id="5" name="组合 4">
            <a:extLst>
              <a:ext uri="{FF2B5EF4-FFF2-40B4-BE49-F238E27FC236}">
                <a16:creationId xmlns:a16="http://schemas.microsoft.com/office/drawing/2014/main" id="{22B59177-1852-911E-A98B-C1D363680739}"/>
              </a:ext>
            </a:extLst>
          </p:cNvPr>
          <p:cNvGrpSpPr>
            <a:grpSpLocks noChangeAspect="1"/>
          </p:cNvGrpSpPr>
          <p:nvPr>
            <p:custDataLst>
              <p:tags r:id="rId1"/>
            </p:custDataLst>
          </p:nvPr>
        </p:nvGrpSpPr>
        <p:grpSpPr>
          <a:xfrm>
            <a:off x="1055987" y="1034365"/>
            <a:ext cx="9580550" cy="1667540"/>
            <a:chOff x="636976" y="1329401"/>
            <a:chExt cx="5323943" cy="2650953"/>
          </a:xfrm>
        </p:grpSpPr>
        <p:grpSp>
          <p:nvGrpSpPr>
            <p:cNvPr id="6" name="组合 5">
              <a:extLst>
                <a:ext uri="{FF2B5EF4-FFF2-40B4-BE49-F238E27FC236}">
                  <a16:creationId xmlns:a16="http://schemas.microsoft.com/office/drawing/2014/main" id="{317D251C-4CEA-B41C-F468-500BCDC93291}"/>
                </a:ext>
              </a:extLst>
            </p:cNvPr>
            <p:cNvGrpSpPr/>
            <p:nvPr/>
          </p:nvGrpSpPr>
          <p:grpSpPr>
            <a:xfrm>
              <a:off x="636976" y="1329401"/>
              <a:ext cx="5323943" cy="978006"/>
              <a:chOff x="710398" y="1543144"/>
              <a:chExt cx="5323943" cy="978006"/>
            </a:xfrm>
          </p:grpSpPr>
          <p:sp>
            <p:nvSpPr>
              <p:cNvPr id="12" name="Index-1">
                <a:extLst>
                  <a:ext uri="{FF2B5EF4-FFF2-40B4-BE49-F238E27FC236}">
                    <a16:creationId xmlns:a16="http://schemas.microsoft.com/office/drawing/2014/main" id="{82E3F9AE-C37D-47A1-AC6F-7B3959E79517}"/>
                  </a:ext>
                </a:extLst>
              </p:cNvPr>
              <p:cNvSpPr/>
              <p:nvPr>
                <p:custDataLst>
                  <p:tags r:id="rId5"/>
                </p:custDataLst>
              </p:nvPr>
            </p:nvSpPr>
            <p:spPr>
              <a:xfrm>
                <a:off x="710398" y="1645040"/>
                <a:ext cx="784076" cy="675928"/>
              </a:xfrm>
              <a:prstGeom prst="hexagon">
                <a:avLst/>
              </a:prstGeom>
              <a:solidFill>
                <a:schemeClr val="accent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p>
                <a:pPr algn="ctr" defTabSz="914400"/>
                <a:r>
                  <a:rPr lang="en-US" altLang="zh-CN" sz="2000" b="1" dirty="0">
                    <a:solidFill>
                      <a:schemeClr val="bg1"/>
                    </a:solidFill>
                  </a:rPr>
                  <a:t>01</a:t>
                </a:r>
                <a:endParaRPr lang="zh-CN" altLang="en-US" sz="2000" b="1" dirty="0">
                  <a:solidFill>
                    <a:schemeClr val="bg1"/>
                  </a:solidFill>
                </a:endParaRPr>
              </a:p>
            </p:txBody>
          </p:sp>
          <p:sp>
            <p:nvSpPr>
              <p:cNvPr id="13" name="Title-1">
                <a:extLst>
                  <a:ext uri="{FF2B5EF4-FFF2-40B4-BE49-F238E27FC236}">
                    <a16:creationId xmlns:a16="http://schemas.microsoft.com/office/drawing/2014/main" id="{02DE1E95-8E35-F752-5A71-51A70D97AA7A}"/>
                  </a:ext>
                </a:extLst>
              </p:cNvPr>
              <p:cNvSpPr txBox="1"/>
              <p:nvPr>
                <p:custDataLst>
                  <p:tags r:id="rId6"/>
                </p:custDataLst>
              </p:nvPr>
            </p:nvSpPr>
            <p:spPr>
              <a:xfrm>
                <a:off x="1670397" y="1543144"/>
                <a:ext cx="3223098" cy="34018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微软雅黑" panose="020B0503020204020204" pitchFamily="34" charset="-122"/>
                    <a:cs typeface="+mn-cs"/>
                  </a:rPr>
                  <a:t>推论一：运行期过度依赖权力，必然导致权力热耗散。</a:t>
                </a:r>
              </a:p>
            </p:txBody>
          </p:sp>
          <p:sp>
            <p:nvSpPr>
              <p:cNvPr id="14" name="Body-1">
                <a:extLst>
                  <a:ext uri="{FF2B5EF4-FFF2-40B4-BE49-F238E27FC236}">
                    <a16:creationId xmlns:a16="http://schemas.microsoft.com/office/drawing/2014/main" id="{77FF6D78-BBD5-D2C2-86C0-B3E186D67AF4}"/>
                  </a:ext>
                </a:extLst>
              </p:cNvPr>
              <p:cNvSpPr/>
              <p:nvPr>
                <p:custDataLst>
                  <p:tags r:id="rId7"/>
                </p:custDataLst>
              </p:nvPr>
            </p:nvSpPr>
            <p:spPr>
              <a:xfrm>
                <a:off x="1670396" y="1822746"/>
                <a:ext cx="4363945"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如果逻辑不自洽，</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Sponsor</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天天强推，行政信用会像热能一样迅速耗散。耗尽之日，即系统崩盘之时。</a:t>
                </a:r>
                <a:endParaRPr kumimoji="0" lang="en-GB"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grpSp>
        <p:grpSp>
          <p:nvGrpSpPr>
            <p:cNvPr id="7" name="组合 6">
              <a:extLst>
                <a:ext uri="{FF2B5EF4-FFF2-40B4-BE49-F238E27FC236}">
                  <a16:creationId xmlns:a16="http://schemas.microsoft.com/office/drawing/2014/main" id="{413A0582-7802-8916-D2AD-385894CFFBEA}"/>
                </a:ext>
              </a:extLst>
            </p:cNvPr>
            <p:cNvGrpSpPr/>
            <p:nvPr/>
          </p:nvGrpSpPr>
          <p:grpSpPr>
            <a:xfrm>
              <a:off x="636976" y="3002348"/>
              <a:ext cx="5323943" cy="978006"/>
              <a:chOff x="710398" y="3216091"/>
              <a:chExt cx="5323943" cy="978006"/>
            </a:xfrm>
          </p:grpSpPr>
          <p:sp>
            <p:nvSpPr>
              <p:cNvPr id="9" name="Index-2">
                <a:extLst>
                  <a:ext uri="{FF2B5EF4-FFF2-40B4-BE49-F238E27FC236}">
                    <a16:creationId xmlns:a16="http://schemas.microsoft.com/office/drawing/2014/main" id="{BDC632DC-73F2-2C84-0E76-7FCC2F79E5EC}"/>
                  </a:ext>
                </a:extLst>
              </p:cNvPr>
              <p:cNvSpPr/>
              <p:nvPr>
                <p:custDataLst>
                  <p:tags r:id="rId2"/>
                </p:custDataLst>
              </p:nvPr>
            </p:nvSpPr>
            <p:spPr>
              <a:xfrm>
                <a:off x="710398" y="3294237"/>
                <a:ext cx="784076" cy="675928"/>
              </a:xfrm>
              <a:prstGeom prst="hexagon">
                <a:avLst/>
              </a:prstGeom>
              <a:solidFill>
                <a:schemeClr val="accent3"/>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p>
                <a:pPr algn="ctr" defTabSz="914400"/>
                <a:r>
                  <a:rPr lang="en-US" altLang="zh-CN" sz="2000" b="1" dirty="0">
                    <a:solidFill>
                      <a:schemeClr val="bg1"/>
                    </a:solidFill>
                  </a:rPr>
                  <a:t>02</a:t>
                </a:r>
                <a:endParaRPr lang="zh-CN" altLang="en-US" sz="2000" b="1" dirty="0">
                  <a:solidFill>
                    <a:schemeClr val="bg1"/>
                  </a:solidFill>
                </a:endParaRPr>
              </a:p>
            </p:txBody>
          </p:sp>
          <p:sp>
            <p:nvSpPr>
              <p:cNvPr id="10" name="Title-2">
                <a:extLst>
                  <a:ext uri="{FF2B5EF4-FFF2-40B4-BE49-F238E27FC236}">
                    <a16:creationId xmlns:a16="http://schemas.microsoft.com/office/drawing/2014/main" id="{C84F24B8-1930-16B1-14A4-C8DB2D65C5EB}"/>
                  </a:ext>
                </a:extLst>
              </p:cNvPr>
              <p:cNvSpPr txBox="1"/>
              <p:nvPr>
                <p:custDataLst>
                  <p:tags r:id="rId3"/>
                </p:custDataLst>
              </p:nvPr>
            </p:nvSpPr>
            <p:spPr>
              <a:xfrm>
                <a:off x="1670397" y="3216091"/>
                <a:ext cx="2458594" cy="2634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chemeClr val="accent3"/>
                    </a:solidFill>
                    <a:effectLst/>
                    <a:uLnTx/>
                    <a:uFillTx/>
                    <a:latin typeface="Arial" panose="020B0604020202020204" pitchFamily="34" charset="0"/>
                    <a:ea typeface="微软雅黑" panose="020B0503020204020204" pitchFamily="34" charset="-122"/>
                    <a:cs typeface="+mn-cs"/>
                  </a:rPr>
                  <a:t>推论二：消灭夹角，才是总设计师的使命。</a:t>
                </a:r>
              </a:p>
            </p:txBody>
          </p:sp>
          <p:sp>
            <p:nvSpPr>
              <p:cNvPr id="11" name="Body-2">
                <a:extLst>
                  <a:ext uri="{FF2B5EF4-FFF2-40B4-BE49-F238E27FC236}">
                    <a16:creationId xmlns:a16="http://schemas.microsoft.com/office/drawing/2014/main" id="{184E5C70-1F82-6D9C-2554-2DDAB2BB2786}"/>
                  </a:ext>
                </a:extLst>
              </p:cNvPr>
              <p:cNvSpPr/>
              <p:nvPr>
                <p:custDataLst>
                  <p:tags r:id="rId4"/>
                </p:custDataLst>
              </p:nvPr>
            </p:nvSpPr>
            <p:spPr>
              <a:xfrm>
                <a:off x="1670396" y="3495693"/>
                <a:ext cx="4363945" cy="698404"/>
              </a:xfrm>
              <a:prstGeom prst="rect">
                <a:avLst/>
              </a:prstGeom>
              <a:noFill/>
              <a:ln w="12700" cap="flat" cmpd="sng" algn="ctr">
                <a:noFill/>
                <a:prstDash val="solid"/>
                <a:miter lim="800000"/>
              </a:ln>
              <a:effectLst/>
            </p:spPr>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3765">
                  <a:lnSpc>
                    <a:spcPct val="130000"/>
                  </a:lnSpc>
                  <a:buSzPct val="100000"/>
                  <a:defRPr/>
                </a:pP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通过逻辑自洽，消灭两层夹角。当局部利益节点发现顺应全局是自身利益最大化时，护城河才算建立。</a:t>
                </a:r>
                <a:endParaRPr kumimoji="0" lang="en-GB" altLang="zh-CN" sz="1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grpSp>
        <p:cxnSp>
          <p:nvCxnSpPr>
            <p:cNvPr id="8" name="0">
              <a:extLst>
                <a:ext uri="{FF2B5EF4-FFF2-40B4-BE49-F238E27FC236}">
                  <a16:creationId xmlns:a16="http://schemas.microsoft.com/office/drawing/2014/main" id="{191B39D2-8EE7-98A6-A252-05A41A3E4D6D}"/>
                </a:ext>
              </a:extLst>
            </p:cNvPr>
            <p:cNvCxnSpPr/>
            <p:nvPr/>
          </p:nvCxnSpPr>
          <p:spPr>
            <a:xfrm>
              <a:off x="1029014" y="2185371"/>
              <a:ext cx="0" cy="816977"/>
            </a:xfrm>
            <a:prstGeom prst="straightConnector1">
              <a:avLst/>
            </a:prstGeom>
            <a:ln w="12700" cap="rnd">
              <a:solidFill>
                <a:schemeClr val="tx2">
                  <a:alpha val="50000"/>
                </a:schemeClr>
              </a:solidFill>
              <a:prstDash val="sysDash"/>
              <a:round/>
              <a:headEnd type="oval" w="sm" len="sm"/>
              <a:tailEnd type="oval" w="sm" len="sm"/>
            </a:ln>
          </p:spPr>
          <p:style>
            <a:lnRef idx="1">
              <a:schemeClr val="accent1"/>
            </a:lnRef>
            <a:fillRef idx="0">
              <a:schemeClr val="accent1"/>
            </a:fillRef>
            <a:effectRef idx="0">
              <a:schemeClr val="accent1"/>
            </a:effectRef>
            <a:fontRef idx="minor">
              <a:schemeClr val="tx1"/>
            </a:fontRef>
          </p:style>
        </p:cxnSp>
      </p:grpSp>
      <p:graphicFrame>
        <p:nvGraphicFramePr>
          <p:cNvPr id="26" name="图示 25">
            <a:extLst>
              <a:ext uri="{FF2B5EF4-FFF2-40B4-BE49-F238E27FC236}">
                <a16:creationId xmlns:a16="http://schemas.microsoft.com/office/drawing/2014/main" id="{BE56CB8C-4374-9BF2-E50E-A1BAE236CE91}"/>
              </a:ext>
            </a:extLst>
          </p:cNvPr>
          <p:cNvGraphicFramePr/>
          <p:nvPr>
            <p:extLst>
              <p:ext uri="{D42A27DB-BD31-4B8C-83A1-F6EECF244321}">
                <p14:modId xmlns:p14="http://schemas.microsoft.com/office/powerpoint/2010/main" val="1735192129"/>
              </p:ext>
            </p:extLst>
          </p:nvPr>
        </p:nvGraphicFramePr>
        <p:xfrm>
          <a:off x="1055987" y="3075173"/>
          <a:ext cx="9509758" cy="147732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8" name="文本框 27">
            <a:extLst>
              <a:ext uri="{FF2B5EF4-FFF2-40B4-BE49-F238E27FC236}">
                <a16:creationId xmlns:a16="http://schemas.microsoft.com/office/drawing/2014/main" id="{22F373C2-F7DB-0CD7-0E33-2797F27AD698}"/>
              </a:ext>
            </a:extLst>
          </p:cNvPr>
          <p:cNvSpPr txBox="1"/>
          <p:nvPr/>
        </p:nvSpPr>
        <p:spPr>
          <a:xfrm>
            <a:off x="2316971" y="5177304"/>
            <a:ext cx="8136685" cy="830997"/>
          </a:xfrm>
          <a:prstGeom prst="rect">
            <a:avLst/>
          </a:prstGeom>
          <a:noFill/>
        </p:spPr>
        <p:txBody>
          <a:bodyPr wrap="square">
            <a:spAutoFit/>
          </a:bodyPr>
          <a:lstStyle/>
          <a:p>
            <a:r>
              <a:rPr lang="zh-CN" altLang="en-US" sz="2400" b="1" dirty="0">
                <a:solidFill>
                  <a:srgbClr val="00D4FF"/>
                </a:solidFill>
              </a:rPr>
              <a:t>双长制</a:t>
            </a:r>
            <a:r>
              <a:rPr lang="zh-CN" altLang="en-US" dirty="0"/>
              <a:t>，就是双核力场的</a:t>
            </a:r>
            <a:r>
              <a:rPr lang="zh-CN" altLang="en-US" sz="2400" b="1" dirty="0">
                <a:solidFill>
                  <a:srgbClr val="00D4FF"/>
                </a:solidFill>
              </a:rPr>
              <a:t>组织形态</a:t>
            </a:r>
            <a:r>
              <a:rPr lang="zh-CN" altLang="en-US" dirty="0"/>
              <a:t>。</a:t>
            </a:r>
            <a:endParaRPr lang="en-US" altLang="zh-CN" dirty="0"/>
          </a:p>
          <a:p>
            <a:r>
              <a:rPr lang="zh-CN" altLang="en-US" dirty="0"/>
              <a:t>两层</a:t>
            </a:r>
            <a:r>
              <a:rPr lang="zh-CN" altLang="en-US" sz="2400" b="1" dirty="0">
                <a:solidFill>
                  <a:srgbClr val="00D4FF"/>
                </a:solidFill>
              </a:rPr>
              <a:t>夹角消灭</a:t>
            </a:r>
            <a:r>
              <a:rPr lang="zh-CN" altLang="en-US" dirty="0"/>
              <a:t>之日，才是变革落地之时。</a:t>
            </a:r>
          </a:p>
        </p:txBody>
      </p:sp>
    </p:spTree>
    <p:extLst>
      <p:ext uri="{BB962C8B-B14F-4D97-AF65-F5344CB8AC3E}">
        <p14:creationId xmlns:p14="http://schemas.microsoft.com/office/powerpoint/2010/main" val="2994901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8295F-4093-5197-4B4E-12335F2A4D9A}"/>
              </a:ext>
            </a:extLst>
          </p:cNvPr>
          <p:cNvSpPr>
            <a:spLocks noGrp="1"/>
          </p:cNvSpPr>
          <p:nvPr>
            <p:ph type="title"/>
          </p:nvPr>
        </p:nvSpPr>
        <p:spPr/>
        <p:txBody>
          <a:bodyPr/>
          <a:lstStyle/>
          <a:p>
            <a:r>
              <a:rPr lang="zh-CN" altLang="en-US" dirty="0"/>
              <a:t>进化论</a:t>
            </a:r>
            <a:r>
              <a:rPr lang="en-US" altLang="zh-CN" dirty="0"/>
              <a:t>——</a:t>
            </a:r>
            <a:r>
              <a:rPr lang="zh-CN" altLang="en-US" dirty="0"/>
              <a:t>上线，才是衰退的起点</a:t>
            </a:r>
          </a:p>
        </p:txBody>
      </p:sp>
      <p:graphicFrame>
        <p:nvGraphicFramePr>
          <p:cNvPr id="5" name="图示 4">
            <a:extLst>
              <a:ext uri="{FF2B5EF4-FFF2-40B4-BE49-F238E27FC236}">
                <a16:creationId xmlns:a16="http://schemas.microsoft.com/office/drawing/2014/main" id="{4E73DF61-8D8C-6D6F-0760-D61E1D790C1F}"/>
              </a:ext>
            </a:extLst>
          </p:cNvPr>
          <p:cNvGraphicFramePr/>
          <p:nvPr>
            <p:extLst>
              <p:ext uri="{D42A27DB-BD31-4B8C-83A1-F6EECF244321}">
                <p14:modId xmlns:p14="http://schemas.microsoft.com/office/powerpoint/2010/main" val="2870656670"/>
              </p:ext>
            </p:extLst>
          </p:nvPr>
        </p:nvGraphicFramePr>
        <p:xfrm>
          <a:off x="1055988" y="1488614"/>
          <a:ext cx="9086481" cy="2658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F975E75F-D666-26CB-AB96-2E3DFF1442CF}"/>
              </a:ext>
            </a:extLst>
          </p:cNvPr>
          <p:cNvSpPr txBox="1"/>
          <p:nvPr/>
        </p:nvSpPr>
        <p:spPr>
          <a:xfrm>
            <a:off x="1880419" y="4900714"/>
            <a:ext cx="7782724" cy="461665"/>
          </a:xfrm>
          <a:prstGeom prst="rect">
            <a:avLst/>
          </a:prstGeom>
          <a:noFill/>
        </p:spPr>
        <p:txBody>
          <a:bodyPr wrap="square">
            <a:spAutoFit/>
          </a:bodyPr>
          <a:lstStyle/>
          <a:p>
            <a:r>
              <a:rPr lang="en-US" altLang="zh-CN" sz="2400" b="1" dirty="0">
                <a:solidFill>
                  <a:srgbClr val="00D4FF"/>
                </a:solidFill>
              </a:rPr>
              <a:t>Go-Live</a:t>
            </a:r>
            <a:r>
              <a:rPr lang="zh-CN" altLang="en-US" dirty="0"/>
              <a:t>不是胜利的终点，是系统开始</a:t>
            </a:r>
            <a:r>
              <a:rPr lang="zh-CN" altLang="en-US" sz="2400" b="1" dirty="0">
                <a:solidFill>
                  <a:srgbClr val="00D4FF"/>
                </a:solidFill>
              </a:rPr>
              <a:t>走向死亡与腐朽</a:t>
            </a:r>
            <a:r>
              <a:rPr lang="zh-CN" altLang="en-US" dirty="0"/>
              <a:t>的</a:t>
            </a:r>
            <a:r>
              <a:rPr lang="zh-CN" altLang="en-US" sz="2400" b="1" dirty="0">
                <a:solidFill>
                  <a:srgbClr val="00D4FF"/>
                </a:solidFill>
              </a:rPr>
              <a:t>第一天</a:t>
            </a:r>
            <a:r>
              <a:rPr lang="zh-CN" altLang="en-US" dirty="0"/>
              <a:t>。</a:t>
            </a:r>
          </a:p>
        </p:txBody>
      </p:sp>
    </p:spTree>
    <p:extLst>
      <p:ext uri="{BB962C8B-B14F-4D97-AF65-F5344CB8AC3E}">
        <p14:creationId xmlns:p14="http://schemas.microsoft.com/office/powerpoint/2010/main" val="16003751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69573-068A-DE09-4FC1-41C2D7B86F5C}"/>
              </a:ext>
            </a:extLst>
          </p:cNvPr>
          <p:cNvSpPr>
            <a:spLocks noGrp="1"/>
          </p:cNvSpPr>
          <p:nvPr>
            <p:ph type="title"/>
          </p:nvPr>
        </p:nvSpPr>
        <p:spPr/>
        <p:txBody>
          <a:bodyPr/>
          <a:lstStyle/>
          <a:p>
            <a:r>
              <a:rPr lang="zh-CN" altLang="en-US" dirty="0"/>
              <a:t>进化论</a:t>
            </a:r>
            <a:r>
              <a:rPr lang="en-US" altLang="zh-CN" dirty="0"/>
              <a:t>——</a:t>
            </a:r>
            <a:r>
              <a:rPr lang="zh-CN" altLang="en-US" dirty="0"/>
              <a:t>哥德尔边界</a:t>
            </a:r>
          </a:p>
        </p:txBody>
      </p:sp>
      <p:graphicFrame>
        <p:nvGraphicFramePr>
          <p:cNvPr id="5" name="图示 4">
            <a:extLst>
              <a:ext uri="{FF2B5EF4-FFF2-40B4-BE49-F238E27FC236}">
                <a16:creationId xmlns:a16="http://schemas.microsoft.com/office/drawing/2014/main" id="{29B04DC1-438D-38B4-6EF4-FC3A7D394CCF}"/>
              </a:ext>
            </a:extLst>
          </p:cNvPr>
          <p:cNvGraphicFramePr/>
          <p:nvPr>
            <p:extLst>
              <p:ext uri="{D42A27DB-BD31-4B8C-83A1-F6EECF244321}">
                <p14:modId xmlns:p14="http://schemas.microsoft.com/office/powerpoint/2010/main" val="2839085396"/>
              </p:ext>
            </p:extLst>
          </p:nvPr>
        </p:nvGraphicFramePr>
        <p:xfrm>
          <a:off x="1651823" y="1167234"/>
          <a:ext cx="8099811" cy="2308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0D5BE5F8-7840-BD20-73CC-26215F95236A}"/>
              </a:ext>
            </a:extLst>
          </p:cNvPr>
          <p:cNvSpPr txBox="1"/>
          <p:nvPr/>
        </p:nvSpPr>
        <p:spPr>
          <a:xfrm>
            <a:off x="2429060" y="4629343"/>
            <a:ext cx="6096982" cy="1200329"/>
          </a:xfrm>
          <a:prstGeom prst="rect">
            <a:avLst/>
          </a:prstGeom>
          <a:noFill/>
        </p:spPr>
        <p:txBody>
          <a:bodyPr wrap="square">
            <a:spAutoFit/>
          </a:bodyPr>
          <a:lstStyle/>
          <a:p>
            <a:r>
              <a:rPr lang="zh-CN" altLang="en-US" dirty="0"/>
              <a:t>任何既定的代码规则，都</a:t>
            </a:r>
            <a:r>
              <a:rPr lang="zh-CN" altLang="en-US" sz="2400" b="1" dirty="0">
                <a:solidFill>
                  <a:srgbClr val="00D4FF"/>
                </a:solidFill>
              </a:rPr>
              <a:t>无法穷尽</a:t>
            </a:r>
            <a:r>
              <a:rPr lang="zh-CN" altLang="en-US" dirty="0"/>
              <a:t>未来。</a:t>
            </a:r>
            <a:endParaRPr lang="en-US" altLang="zh-CN" dirty="0"/>
          </a:p>
          <a:p>
            <a:r>
              <a:rPr lang="zh-CN" altLang="en-US" dirty="0"/>
              <a:t>系统总有一天会撞上它自己无法处理的</a:t>
            </a:r>
            <a:r>
              <a:rPr lang="zh-CN" altLang="en-US" sz="2400" b="1" dirty="0">
                <a:solidFill>
                  <a:srgbClr val="00D4FF"/>
                </a:solidFill>
              </a:rPr>
              <a:t>边界</a:t>
            </a:r>
            <a:r>
              <a:rPr lang="zh-CN" altLang="en-US" dirty="0"/>
              <a:t>。</a:t>
            </a:r>
            <a:endParaRPr lang="en-US" altLang="zh-CN" dirty="0"/>
          </a:p>
          <a:p>
            <a:r>
              <a:rPr lang="zh-CN" altLang="en-US" dirty="0"/>
              <a:t>然而，边界即残差，而残差意味着</a:t>
            </a:r>
            <a:r>
              <a:rPr lang="zh-CN" altLang="en-US" sz="2400" b="1" dirty="0">
                <a:solidFill>
                  <a:srgbClr val="00D4FF"/>
                </a:solidFill>
              </a:rPr>
              <a:t>进化</a:t>
            </a:r>
            <a:r>
              <a:rPr lang="zh-CN" altLang="en-US" dirty="0"/>
              <a:t>。</a:t>
            </a:r>
          </a:p>
        </p:txBody>
      </p:sp>
    </p:spTree>
    <p:extLst>
      <p:ext uri="{BB962C8B-B14F-4D97-AF65-F5344CB8AC3E}">
        <p14:creationId xmlns:p14="http://schemas.microsoft.com/office/powerpoint/2010/main" val="2025420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8DECE2-2653-2EC5-E923-6294EBA891B6}"/>
              </a:ext>
            </a:extLst>
          </p:cNvPr>
          <p:cNvSpPr>
            <a:spLocks noGrp="1"/>
          </p:cNvSpPr>
          <p:nvPr>
            <p:ph type="title"/>
          </p:nvPr>
        </p:nvSpPr>
        <p:spPr/>
        <p:txBody>
          <a:bodyPr/>
          <a:lstStyle/>
          <a:p>
            <a:r>
              <a:rPr lang="zh-CN" altLang="en-US" dirty="0"/>
              <a:t>进化论</a:t>
            </a:r>
            <a:r>
              <a:rPr lang="en-US" altLang="zh-CN" dirty="0"/>
              <a:t>——</a:t>
            </a:r>
            <a:r>
              <a:rPr lang="zh-CN" altLang="en-US" dirty="0"/>
              <a:t>主动运营体系</a:t>
            </a:r>
          </a:p>
        </p:txBody>
      </p:sp>
      <p:graphicFrame>
        <p:nvGraphicFramePr>
          <p:cNvPr id="5" name="图示 4">
            <a:extLst>
              <a:ext uri="{FF2B5EF4-FFF2-40B4-BE49-F238E27FC236}">
                <a16:creationId xmlns:a16="http://schemas.microsoft.com/office/drawing/2014/main" id="{73AF2523-B71B-4CA3-17A5-56862F4F0143}"/>
              </a:ext>
            </a:extLst>
          </p:cNvPr>
          <p:cNvGraphicFramePr/>
          <p:nvPr>
            <p:extLst>
              <p:ext uri="{D42A27DB-BD31-4B8C-83A1-F6EECF244321}">
                <p14:modId xmlns:p14="http://schemas.microsoft.com/office/powerpoint/2010/main" val="2060734995"/>
              </p:ext>
            </p:extLst>
          </p:nvPr>
        </p:nvGraphicFramePr>
        <p:xfrm>
          <a:off x="837709" y="1442231"/>
          <a:ext cx="9474364" cy="341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2BA0F035-35DC-CC1A-1C04-01A8663B4217}"/>
              </a:ext>
            </a:extLst>
          </p:cNvPr>
          <p:cNvSpPr txBox="1"/>
          <p:nvPr/>
        </p:nvSpPr>
        <p:spPr>
          <a:xfrm>
            <a:off x="3436747" y="5983110"/>
            <a:ext cx="6096982" cy="461665"/>
          </a:xfrm>
          <a:prstGeom prst="rect">
            <a:avLst/>
          </a:prstGeom>
          <a:noFill/>
        </p:spPr>
        <p:txBody>
          <a:bodyPr wrap="square">
            <a:spAutoFit/>
          </a:bodyPr>
          <a:lstStyle/>
          <a:p>
            <a:r>
              <a:rPr lang="zh-CN" altLang="en-US" dirty="0"/>
              <a:t>报错不是负债，是系统</a:t>
            </a:r>
            <a:r>
              <a:rPr lang="zh-CN" altLang="en-US" sz="2400" b="1" dirty="0">
                <a:solidFill>
                  <a:srgbClr val="00D4FF"/>
                </a:solidFill>
              </a:rPr>
              <a:t>进化的</a:t>
            </a:r>
            <a:r>
              <a:rPr lang="zh-CN" altLang="en-US" dirty="0"/>
              <a:t>底层</a:t>
            </a:r>
            <a:r>
              <a:rPr lang="zh-CN" altLang="en-US" sz="2400" b="1" dirty="0">
                <a:solidFill>
                  <a:srgbClr val="00D4FF"/>
                </a:solidFill>
              </a:rPr>
              <a:t>养料</a:t>
            </a:r>
            <a:r>
              <a:rPr lang="zh-CN" altLang="en-US" dirty="0"/>
              <a:t>。</a:t>
            </a:r>
          </a:p>
        </p:txBody>
      </p:sp>
    </p:spTree>
    <p:extLst>
      <p:ext uri="{BB962C8B-B14F-4D97-AF65-F5344CB8AC3E}">
        <p14:creationId xmlns:p14="http://schemas.microsoft.com/office/powerpoint/2010/main" val="36436566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3CEB35-334B-516F-FB7F-0D70B5584DD3}"/>
              </a:ext>
            </a:extLst>
          </p:cNvPr>
          <p:cNvSpPr>
            <a:spLocks noGrp="1"/>
          </p:cNvSpPr>
          <p:nvPr>
            <p:ph type="title"/>
          </p:nvPr>
        </p:nvSpPr>
        <p:spPr/>
        <p:txBody>
          <a:bodyPr/>
          <a:lstStyle/>
          <a:p>
            <a:r>
              <a:rPr lang="zh-CN" altLang="en-US" dirty="0"/>
              <a:t>进化论</a:t>
            </a:r>
            <a:r>
              <a:rPr lang="en-US" altLang="zh-CN" dirty="0"/>
              <a:t>——</a:t>
            </a:r>
            <a:r>
              <a:rPr lang="zh-CN" altLang="en-US" dirty="0"/>
              <a:t>必须有人跳出系统</a:t>
            </a:r>
          </a:p>
        </p:txBody>
      </p:sp>
      <p:sp>
        <p:nvSpPr>
          <p:cNvPr id="4" name="文本框 3">
            <a:extLst>
              <a:ext uri="{FF2B5EF4-FFF2-40B4-BE49-F238E27FC236}">
                <a16:creationId xmlns:a16="http://schemas.microsoft.com/office/drawing/2014/main" id="{75CCBF38-174B-386F-2B62-8C259D8A7D99}"/>
              </a:ext>
            </a:extLst>
          </p:cNvPr>
          <p:cNvSpPr txBox="1"/>
          <p:nvPr/>
        </p:nvSpPr>
        <p:spPr>
          <a:xfrm>
            <a:off x="914400" y="1748727"/>
            <a:ext cx="10483158" cy="2954655"/>
          </a:xfrm>
          <a:prstGeom prst="rect">
            <a:avLst/>
          </a:prstGeom>
          <a:noFill/>
        </p:spPr>
        <p:txBody>
          <a:bodyPr wrap="square">
            <a:spAutoFit/>
          </a:bodyPr>
          <a:lstStyle/>
          <a:p>
            <a:r>
              <a:rPr lang="en-US" altLang="zh-CN" dirty="0"/>
              <a:t>Workaround</a:t>
            </a:r>
            <a:r>
              <a:rPr lang="zh-CN" altLang="en-US" dirty="0"/>
              <a:t>和寻根，还在</a:t>
            </a:r>
            <a:r>
              <a:rPr lang="zh-CN" altLang="en-US" sz="2400" b="1" dirty="0">
                <a:solidFill>
                  <a:srgbClr val="00D4FF"/>
                </a:solidFill>
              </a:rPr>
              <a:t>一阶框架内</a:t>
            </a:r>
            <a:r>
              <a:rPr lang="zh-CN" altLang="en-US" dirty="0"/>
              <a:t>。</a:t>
            </a:r>
          </a:p>
          <a:p>
            <a:endParaRPr lang="zh-CN" altLang="en-US" dirty="0"/>
          </a:p>
          <a:p>
            <a:r>
              <a:rPr lang="zh-CN" altLang="en-US" dirty="0"/>
              <a:t>但当</a:t>
            </a:r>
            <a:r>
              <a:rPr lang="zh-CN" altLang="en-US" sz="2400" b="1" dirty="0">
                <a:solidFill>
                  <a:srgbClr val="00D4FF"/>
                </a:solidFill>
              </a:rPr>
              <a:t>残差突破临界阈值</a:t>
            </a:r>
            <a:r>
              <a:rPr lang="zh-CN" altLang="en-US" dirty="0"/>
              <a:t>，一阶算法彻底死锁（</a:t>
            </a:r>
            <a:r>
              <a:rPr lang="en-US" altLang="zh-CN" dirty="0" err="1"/>
              <a:t>dim|C</a:t>
            </a:r>
            <a:r>
              <a:rPr lang="en-US" altLang="zh-CN" dirty="0"/>
              <a:t>|=0</a:t>
            </a:r>
            <a:r>
              <a:rPr lang="zh-CN" altLang="en-US" dirty="0"/>
              <a:t>）时，需要</a:t>
            </a:r>
            <a:r>
              <a:rPr lang="zh-CN" altLang="en-US" sz="2400" b="1" dirty="0">
                <a:solidFill>
                  <a:srgbClr val="00D4FF"/>
                </a:solidFill>
              </a:rPr>
              <a:t>二阶自省算符</a:t>
            </a:r>
            <a:r>
              <a:rPr lang="en-US" altLang="zh-CN" sz="2400" b="1" dirty="0">
                <a:solidFill>
                  <a:srgbClr val="00D4FF"/>
                </a:solidFill>
              </a:rPr>
              <a:t>Φ</a:t>
            </a:r>
            <a:r>
              <a:rPr lang="zh-CN" altLang="en-US" dirty="0"/>
              <a:t>：</a:t>
            </a:r>
          </a:p>
          <a:p>
            <a:endParaRPr lang="zh-CN" altLang="en-US" dirty="0"/>
          </a:p>
          <a:p>
            <a:r>
              <a:rPr lang="zh-CN" altLang="en-US" dirty="0"/>
              <a:t>跨越当前形式公理约束，对先验划界算符</a:t>
            </a:r>
            <a:r>
              <a:rPr lang="en-US" altLang="zh-CN" dirty="0"/>
              <a:t>Π</a:t>
            </a:r>
            <a:r>
              <a:rPr lang="zh-CN" altLang="en-US" dirty="0"/>
              <a:t>与刚性约束</a:t>
            </a:r>
            <a:r>
              <a:rPr lang="en-US" altLang="zh-CN" dirty="0"/>
              <a:t>Π⊥</a:t>
            </a:r>
            <a:r>
              <a:rPr lang="zh-CN" altLang="en-US" dirty="0"/>
              <a:t>执行基底重写：</a:t>
            </a:r>
          </a:p>
          <a:p>
            <a:r>
              <a:rPr lang="en-US" altLang="zh-CN" dirty="0"/>
              <a:t>Φ</a:t>
            </a:r>
            <a:r>
              <a:rPr lang="zh-CN" altLang="en-US" dirty="0"/>
              <a:t>：</a:t>
            </a:r>
            <a:r>
              <a:rPr lang="en-US" altLang="zh-CN" dirty="0" err="1"/>
              <a:t>Π_k</a:t>
            </a:r>
            <a:r>
              <a:rPr lang="en-US" altLang="zh-CN" dirty="0"/>
              <a:t> → Π_{k+1}</a:t>
            </a:r>
          </a:p>
          <a:p>
            <a:endParaRPr lang="en-US" altLang="zh-CN" dirty="0"/>
          </a:p>
          <a:p>
            <a:r>
              <a:rPr lang="zh-CN" altLang="en-US" dirty="0"/>
              <a:t>这就是“</a:t>
            </a:r>
            <a:r>
              <a:rPr lang="zh-CN" altLang="en-US" sz="2400" b="1" dirty="0">
                <a:solidFill>
                  <a:srgbClr val="00D4FF"/>
                </a:solidFill>
              </a:rPr>
              <a:t>重写公理</a:t>
            </a:r>
            <a:r>
              <a:rPr lang="zh-CN" altLang="en-US" dirty="0"/>
              <a:t>”的动作。它不是一套可以工程化的流程，它是一种活的认知能力。只能靠</a:t>
            </a:r>
            <a:r>
              <a:rPr lang="zh-CN" altLang="en-US" sz="2400" b="1" dirty="0">
                <a:solidFill>
                  <a:srgbClr val="00D4FF"/>
                </a:solidFill>
              </a:rPr>
              <a:t>单脑奇点。</a:t>
            </a:r>
            <a:endParaRPr lang="zh-CN" altLang="en-US" b="1" dirty="0">
              <a:solidFill>
                <a:srgbClr val="00D4FF"/>
              </a:solidFill>
            </a:endParaRPr>
          </a:p>
        </p:txBody>
      </p:sp>
      <p:sp>
        <p:nvSpPr>
          <p:cNvPr id="6" name="文本框 5">
            <a:extLst>
              <a:ext uri="{FF2B5EF4-FFF2-40B4-BE49-F238E27FC236}">
                <a16:creationId xmlns:a16="http://schemas.microsoft.com/office/drawing/2014/main" id="{6CD07772-EDD5-4BA7-A4A8-84F6BFF68A6E}"/>
              </a:ext>
            </a:extLst>
          </p:cNvPr>
          <p:cNvSpPr txBox="1"/>
          <p:nvPr/>
        </p:nvSpPr>
        <p:spPr>
          <a:xfrm>
            <a:off x="2794823" y="5201581"/>
            <a:ext cx="6096982" cy="830997"/>
          </a:xfrm>
          <a:prstGeom prst="rect">
            <a:avLst/>
          </a:prstGeom>
          <a:noFill/>
        </p:spPr>
        <p:txBody>
          <a:bodyPr wrap="square">
            <a:spAutoFit/>
          </a:bodyPr>
          <a:lstStyle/>
          <a:p>
            <a:r>
              <a:rPr lang="zh-CN" altLang="en-US" dirty="0"/>
              <a:t>结构可以工程化，</a:t>
            </a:r>
            <a:r>
              <a:rPr lang="zh-CN" altLang="en-US" sz="2400" b="1" dirty="0">
                <a:solidFill>
                  <a:srgbClr val="00D4FF"/>
                </a:solidFill>
              </a:rPr>
              <a:t>进化</a:t>
            </a:r>
            <a:r>
              <a:rPr lang="zh-CN" altLang="en-US" dirty="0"/>
              <a:t>不能。</a:t>
            </a:r>
            <a:endParaRPr lang="en-US" altLang="zh-CN" dirty="0"/>
          </a:p>
          <a:p>
            <a:r>
              <a:rPr lang="zh-CN" altLang="en-US" dirty="0"/>
              <a:t>哥德尔边界外的重写，只能靠</a:t>
            </a:r>
            <a:r>
              <a:rPr lang="zh-CN" altLang="en-US" sz="2400" b="1" dirty="0">
                <a:solidFill>
                  <a:srgbClr val="00D4FF"/>
                </a:solidFill>
              </a:rPr>
              <a:t>单脑奇点。</a:t>
            </a:r>
            <a:endParaRPr lang="zh-CN" altLang="en-US" b="1" dirty="0">
              <a:solidFill>
                <a:srgbClr val="00D4FF"/>
              </a:solidFill>
            </a:endParaRPr>
          </a:p>
        </p:txBody>
      </p:sp>
    </p:spTree>
    <p:extLst>
      <p:ext uri="{BB962C8B-B14F-4D97-AF65-F5344CB8AC3E}">
        <p14:creationId xmlns:p14="http://schemas.microsoft.com/office/powerpoint/2010/main" val="2164891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2C4355-51F4-7EC9-51E9-36FCCD6CB65E}"/>
              </a:ext>
            </a:extLst>
          </p:cNvPr>
          <p:cNvSpPr>
            <a:spLocks noGrp="1"/>
          </p:cNvSpPr>
          <p:nvPr>
            <p:ph type="title"/>
          </p:nvPr>
        </p:nvSpPr>
        <p:spPr/>
        <p:txBody>
          <a:bodyPr/>
          <a:lstStyle/>
          <a:p>
            <a:r>
              <a:rPr lang="zh-CN" altLang="en-US" dirty="0"/>
              <a:t>进化论</a:t>
            </a:r>
            <a:r>
              <a:rPr lang="en-US" altLang="zh-CN" dirty="0"/>
              <a:t>——</a:t>
            </a:r>
            <a:r>
              <a:rPr lang="zh-CN" altLang="en-US" dirty="0"/>
              <a:t>碳硅共生，生生不息</a:t>
            </a:r>
          </a:p>
        </p:txBody>
      </p:sp>
      <p:grpSp>
        <p:nvGrpSpPr>
          <p:cNvPr id="5" name="组合 4">
            <a:extLst>
              <a:ext uri="{FF2B5EF4-FFF2-40B4-BE49-F238E27FC236}">
                <a16:creationId xmlns:a16="http://schemas.microsoft.com/office/drawing/2014/main" id="{D879A28F-2C4C-221F-06A4-2E7A3D8167AA}"/>
              </a:ext>
            </a:extLst>
          </p:cNvPr>
          <p:cNvGrpSpPr>
            <a:grpSpLocks noChangeAspect="1"/>
          </p:cNvGrpSpPr>
          <p:nvPr>
            <p:custDataLst>
              <p:tags r:id="rId1"/>
            </p:custDataLst>
          </p:nvPr>
        </p:nvGrpSpPr>
        <p:grpSpPr>
          <a:xfrm>
            <a:off x="977817" y="1384945"/>
            <a:ext cx="9983183" cy="1439575"/>
            <a:chOff x="1803400" y="1084168"/>
            <a:chExt cx="8585200" cy="1439575"/>
          </a:xfrm>
        </p:grpSpPr>
        <p:grpSp>
          <p:nvGrpSpPr>
            <p:cNvPr id="6" name="组合 5">
              <a:extLst>
                <a:ext uri="{FF2B5EF4-FFF2-40B4-BE49-F238E27FC236}">
                  <a16:creationId xmlns:a16="http://schemas.microsoft.com/office/drawing/2014/main" id="{37B3C74E-19F3-251C-8A04-F34C4CC16674}"/>
                </a:ext>
              </a:extLst>
            </p:cNvPr>
            <p:cNvGrpSpPr/>
            <p:nvPr/>
          </p:nvGrpSpPr>
          <p:grpSpPr>
            <a:xfrm>
              <a:off x="1803400" y="1084168"/>
              <a:ext cx="8585200" cy="627966"/>
              <a:chOff x="660400" y="1055847"/>
              <a:chExt cx="8585200" cy="627966"/>
            </a:xfrm>
          </p:grpSpPr>
          <p:sp>
            <p:nvSpPr>
              <p:cNvPr id="12" name="1">
                <a:extLst>
                  <a:ext uri="{FF2B5EF4-FFF2-40B4-BE49-F238E27FC236}">
                    <a16:creationId xmlns:a16="http://schemas.microsoft.com/office/drawing/2014/main" id="{71C15FF7-622C-4D14-7E95-AD4F5D7F13AA}"/>
                  </a:ext>
                </a:extLst>
              </p:cNvPr>
              <p:cNvSpPr/>
              <p:nvPr>
                <p:custDataLst>
                  <p:tags r:id="rId12"/>
                </p:custDataLst>
              </p:nvPr>
            </p:nvSpPr>
            <p:spPr>
              <a:xfrm>
                <a:off x="1514764" y="1060315"/>
                <a:ext cx="7730836" cy="622681"/>
              </a:xfrm>
              <a:prstGeom prst="roundRect">
                <a:avLst>
                  <a:gd name="adj" fmla="val 50000"/>
                </a:avLst>
              </a:prstGeom>
              <a:noFill/>
              <a:ln w="3175">
                <a:noFill/>
              </a:ln>
              <a:effectLst>
                <a:outerShdw blurRad="254000" dist="1270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2772000" tIns="64452" rIns="120292" bIns="6445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p:nvSpPr>
              <p:cNvPr id="13" name="Index-1">
                <a:extLst>
                  <a:ext uri="{FF2B5EF4-FFF2-40B4-BE49-F238E27FC236}">
                    <a16:creationId xmlns:a16="http://schemas.microsoft.com/office/drawing/2014/main" id="{1205C8D2-7E4D-B588-758A-029089545EE5}"/>
                  </a:ext>
                </a:extLst>
              </p:cNvPr>
              <p:cNvSpPr/>
              <p:nvPr>
                <p:custDataLst>
                  <p:tags r:id="rId13"/>
                </p:custDataLst>
              </p:nvPr>
            </p:nvSpPr>
            <p:spPr>
              <a:xfrm>
                <a:off x="660400" y="1059498"/>
                <a:ext cx="624315" cy="624315"/>
              </a:xfrm>
              <a:prstGeom prst="ellipse">
                <a:avLst/>
              </a:pr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1</a:t>
                </a:r>
                <a:endParaRPr lang="zh-CN" altLang="en-US" b="1" dirty="0"/>
              </a:p>
            </p:txBody>
          </p:sp>
          <p:sp>
            <p:nvSpPr>
              <p:cNvPr id="14" name="Title-1">
                <a:extLst>
                  <a:ext uri="{FF2B5EF4-FFF2-40B4-BE49-F238E27FC236}">
                    <a16:creationId xmlns:a16="http://schemas.microsoft.com/office/drawing/2014/main" id="{C75C2FC4-3E69-854D-F34B-ECE8E6DD20D5}"/>
                  </a:ext>
                </a:extLst>
              </p:cNvPr>
              <p:cNvSpPr txBox="1"/>
              <p:nvPr>
                <p:custDataLst>
                  <p:tags r:id="rId14"/>
                </p:custDataLst>
              </p:nvPr>
            </p:nvSpPr>
            <p:spPr>
              <a:xfrm>
                <a:off x="1718800" y="1186989"/>
                <a:ext cx="1338436" cy="369332"/>
              </a:xfrm>
              <a:prstGeom prst="rect">
                <a:avLst/>
              </a:prstGeom>
              <a:noFill/>
            </p:spPr>
            <p:txBody>
              <a:bodyPr wrap="square" rtlCol="0">
                <a:noAutofit/>
              </a:bodyPr>
              <a:lstStyle/>
              <a:p>
                <a:r>
                  <a:rPr lang="zh-CN" altLang="en-US" b="1" dirty="0">
                    <a:solidFill>
                      <a:schemeClr val="accent1"/>
                    </a:solidFill>
                    <a:latin typeface="Arial" panose="020B0604020202020204" pitchFamily="34" charset="0"/>
                    <a:ea typeface="微软雅黑" panose="020B0503020204020204" pitchFamily="34" charset="-122"/>
                  </a:rPr>
                  <a:t>碳硅共生：</a:t>
                </a:r>
              </a:p>
            </p:txBody>
          </p:sp>
          <p:sp>
            <p:nvSpPr>
              <p:cNvPr id="15" name="Body-1">
                <a:extLst>
                  <a:ext uri="{FF2B5EF4-FFF2-40B4-BE49-F238E27FC236}">
                    <a16:creationId xmlns:a16="http://schemas.microsoft.com/office/drawing/2014/main" id="{21083955-C19F-8423-6B62-CC5805B02586}"/>
                  </a:ext>
                </a:extLst>
              </p:cNvPr>
              <p:cNvSpPr>
                <a:spLocks/>
              </p:cNvSpPr>
              <p:nvPr>
                <p:custDataLst>
                  <p:tags r:id="rId15"/>
                </p:custDataLst>
              </p:nvPr>
            </p:nvSpPr>
            <p:spPr>
              <a:xfrm>
                <a:off x="2865004" y="1055847"/>
                <a:ext cx="6269762"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硅基</a:t>
                </a:r>
                <a:r>
                  <a:rPr kumimoji="0" lang="zh-CN" altLang="en-US"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：无痛觉、无良知，但有极大内存与流体智力，</a:t>
                </a:r>
                <a:r>
                  <a:rPr kumimoji="0" lang="zh-CN" altLang="en-US"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代偿</a:t>
                </a:r>
                <a:r>
                  <a:rPr kumimoji="0" lang="en-US" altLang="zh-CN"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N!</a:t>
                </a:r>
                <a:r>
                  <a:rPr kumimoji="0" lang="zh-CN" altLang="en-US"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级并发计算。</a:t>
                </a:r>
              </a:p>
              <a:p>
                <a:pPr marL="0" marR="0" lvl="0" indent="0" defTabSz="913765" rtl="0" eaLnBrk="1" fontAlgn="auto" latinLnBrk="0" hangingPunct="1">
                  <a:lnSpc>
                    <a:spcPct val="130000"/>
                  </a:lnSpc>
                  <a:spcBef>
                    <a:spcPts val="0"/>
                  </a:spcBef>
                  <a:spcAft>
                    <a:spcPts val="0"/>
                  </a:spcAft>
                  <a:buClrTx/>
                  <a:buSzPct val="100000"/>
                  <a:buFontTx/>
                  <a:buNone/>
                  <a:tabLst/>
                  <a:defRPr/>
                </a:pPr>
                <a:r>
                  <a:rPr kumimoji="0" lang="zh-CN" altLang="en-US"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rPr>
                  <a:t>碳基：有痛觉、有元认知，捕获哥德尔边界外的变异，转化为数据模型与算法。</a:t>
                </a:r>
                <a:endParaRPr kumimoji="0" lang="en-GB" altLang="zh-CN" sz="1600" b="0" i="0" u="none" strike="noStrike" kern="1200" cap="none" spc="0" normalizeH="0" baseline="0" noProof="0" dirty="0">
                  <a:ln>
                    <a:noFill/>
                  </a:ln>
                  <a:solidFill>
                    <a:schemeClr val="tx2">
                      <a:lumMod val="75000"/>
                      <a:lumOff val="25000"/>
                    </a:schemeClr>
                  </a:solidFill>
                  <a:effectLst/>
                  <a:uLnTx/>
                  <a:uFillTx/>
                  <a:latin typeface="Arial" panose="020B0604020202020204" pitchFamily="34" charset="0"/>
                  <a:ea typeface="微软雅黑" panose="020B0503020204020204" pitchFamily="34" charset="-122"/>
                  <a:cs typeface="+mn-cs"/>
                </a:endParaRPr>
              </a:p>
            </p:txBody>
          </p:sp>
        </p:grpSp>
        <p:grpSp>
          <p:nvGrpSpPr>
            <p:cNvPr id="7" name="组合 6">
              <a:extLst>
                <a:ext uri="{FF2B5EF4-FFF2-40B4-BE49-F238E27FC236}">
                  <a16:creationId xmlns:a16="http://schemas.microsoft.com/office/drawing/2014/main" id="{DDB7045C-CA73-8177-5548-D5695C0497FA}"/>
                </a:ext>
              </a:extLst>
            </p:cNvPr>
            <p:cNvGrpSpPr/>
            <p:nvPr/>
          </p:nvGrpSpPr>
          <p:grpSpPr>
            <a:xfrm>
              <a:off x="1803400" y="1899428"/>
              <a:ext cx="8585200" cy="624315"/>
              <a:chOff x="660400" y="1059498"/>
              <a:chExt cx="8585200" cy="624315"/>
            </a:xfrm>
          </p:grpSpPr>
          <p:sp>
            <p:nvSpPr>
              <p:cNvPr id="8" name="2">
                <a:extLst>
                  <a:ext uri="{FF2B5EF4-FFF2-40B4-BE49-F238E27FC236}">
                    <a16:creationId xmlns:a16="http://schemas.microsoft.com/office/drawing/2014/main" id="{6DF0792F-70C7-32B6-BD18-649197ED4D5F}"/>
                  </a:ext>
                </a:extLst>
              </p:cNvPr>
              <p:cNvSpPr/>
              <p:nvPr>
                <p:custDataLst>
                  <p:tags r:id="rId9"/>
                </p:custDataLst>
              </p:nvPr>
            </p:nvSpPr>
            <p:spPr>
              <a:xfrm>
                <a:off x="1514764" y="1060315"/>
                <a:ext cx="7730836" cy="622681"/>
              </a:xfrm>
              <a:prstGeom prst="roundRect">
                <a:avLst>
                  <a:gd name="adj" fmla="val 50000"/>
                </a:avLst>
              </a:prstGeom>
              <a:noFill/>
              <a:ln w="3175">
                <a:noFill/>
              </a:ln>
              <a:effectLst>
                <a:outerShdw blurRad="254000" dist="127000" dir="2700000" algn="tl" rotWithShape="0">
                  <a:schemeClr val="accent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2772000" tIns="64452" rIns="120292" bIns="6445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p:nvSpPr>
              <p:cNvPr id="9" name="Index-2">
                <a:extLst>
                  <a:ext uri="{FF2B5EF4-FFF2-40B4-BE49-F238E27FC236}">
                    <a16:creationId xmlns:a16="http://schemas.microsoft.com/office/drawing/2014/main" id="{67FDD3B0-46DA-D8E3-C80F-BB6CDC88C107}"/>
                  </a:ext>
                </a:extLst>
              </p:cNvPr>
              <p:cNvSpPr/>
              <p:nvPr>
                <p:custDataLst>
                  <p:tags r:id="rId10"/>
                </p:custDataLst>
              </p:nvPr>
            </p:nvSpPr>
            <p:spPr>
              <a:xfrm>
                <a:off x="660400" y="1059498"/>
                <a:ext cx="624315" cy="624315"/>
              </a:xfrm>
              <a:prstGeom prst="ellipse">
                <a:avLst/>
              </a:pr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2</a:t>
                </a:r>
                <a:endParaRPr lang="zh-CN" altLang="en-US" b="1" dirty="0"/>
              </a:p>
            </p:txBody>
          </p:sp>
          <p:sp>
            <p:nvSpPr>
              <p:cNvPr id="10" name="Title-2">
                <a:extLst>
                  <a:ext uri="{FF2B5EF4-FFF2-40B4-BE49-F238E27FC236}">
                    <a16:creationId xmlns:a16="http://schemas.microsoft.com/office/drawing/2014/main" id="{77FE4F57-6A3A-1BDE-E169-0B88C8D3D79E}"/>
                  </a:ext>
                </a:extLst>
              </p:cNvPr>
              <p:cNvSpPr txBox="1"/>
              <p:nvPr>
                <p:custDataLst>
                  <p:tags r:id="rId11"/>
                </p:custDataLst>
              </p:nvPr>
            </p:nvSpPr>
            <p:spPr>
              <a:xfrm>
                <a:off x="1718800" y="1186989"/>
                <a:ext cx="6111365" cy="369332"/>
              </a:xfrm>
              <a:prstGeom prst="rect">
                <a:avLst/>
              </a:prstGeom>
              <a:noFill/>
            </p:spPr>
            <p:txBody>
              <a:bodyPr wrap="square" rtlCol="0">
                <a:noAutofit/>
              </a:bodyPr>
              <a:lstStyle/>
              <a:p>
                <a:r>
                  <a:rPr lang="zh-CN" altLang="en-US" b="1" dirty="0">
                    <a:solidFill>
                      <a:schemeClr val="accent2"/>
                    </a:solidFill>
                    <a:latin typeface="Arial" panose="020B0604020202020204" pitchFamily="34" charset="0"/>
                    <a:ea typeface="微软雅黑" panose="020B0503020204020204" pitchFamily="34" charset="-122"/>
                  </a:rPr>
                  <a:t>缺了硅基，人被</a:t>
                </a:r>
                <a:r>
                  <a:rPr lang="en-US" altLang="zh-CN" b="1" dirty="0">
                    <a:solidFill>
                      <a:schemeClr val="accent2"/>
                    </a:solidFill>
                    <a:latin typeface="Arial" panose="020B0604020202020204" pitchFamily="34" charset="0"/>
                    <a:ea typeface="微软雅黑" panose="020B0503020204020204" pitchFamily="34" charset="-122"/>
                  </a:rPr>
                  <a:t>N!</a:t>
                </a:r>
                <a:r>
                  <a:rPr lang="zh-CN" altLang="en-US" b="1" dirty="0">
                    <a:solidFill>
                      <a:schemeClr val="accent2"/>
                    </a:solidFill>
                    <a:latin typeface="Arial" panose="020B0604020202020204" pitchFamily="34" charset="0"/>
                    <a:ea typeface="微软雅黑" panose="020B0503020204020204" pitchFamily="34" charset="-122"/>
                  </a:rPr>
                  <a:t>压垮；缺了碳基，硅基走向热寂。</a:t>
                </a:r>
              </a:p>
            </p:txBody>
          </p:sp>
        </p:grpSp>
      </p:grpSp>
      <p:grpSp>
        <p:nvGrpSpPr>
          <p:cNvPr id="18" name="组合 17">
            <a:extLst>
              <a:ext uri="{FF2B5EF4-FFF2-40B4-BE49-F238E27FC236}">
                <a16:creationId xmlns:a16="http://schemas.microsoft.com/office/drawing/2014/main" id="{E37E9818-12C4-BEAB-D732-C6BCF6CDADB7}"/>
              </a:ext>
            </a:extLst>
          </p:cNvPr>
          <p:cNvGrpSpPr>
            <a:grpSpLocks noChangeAspect="1"/>
          </p:cNvGrpSpPr>
          <p:nvPr>
            <p:custDataLst>
              <p:tags r:id="rId2"/>
            </p:custDataLst>
          </p:nvPr>
        </p:nvGrpSpPr>
        <p:grpSpPr>
          <a:xfrm>
            <a:off x="1110594" y="3204746"/>
            <a:ext cx="10858500" cy="2202137"/>
            <a:chOff x="1573503" y="1092103"/>
            <a:chExt cx="4054895" cy="5005444"/>
          </a:xfrm>
        </p:grpSpPr>
        <p:grpSp>
          <p:nvGrpSpPr>
            <p:cNvPr id="19" name="组合 18">
              <a:extLst>
                <a:ext uri="{FF2B5EF4-FFF2-40B4-BE49-F238E27FC236}">
                  <a16:creationId xmlns:a16="http://schemas.microsoft.com/office/drawing/2014/main" id="{27D47543-A5BA-0345-98DD-E195D70833A3}"/>
                </a:ext>
              </a:extLst>
            </p:cNvPr>
            <p:cNvGrpSpPr/>
            <p:nvPr/>
          </p:nvGrpSpPr>
          <p:grpSpPr>
            <a:xfrm>
              <a:off x="1578322" y="1092103"/>
              <a:ext cx="4050076" cy="1257858"/>
              <a:chOff x="1578322" y="1092103"/>
              <a:chExt cx="4050076" cy="1257858"/>
            </a:xfrm>
          </p:grpSpPr>
          <p:sp>
            <p:nvSpPr>
              <p:cNvPr id="29" name="Body-1">
                <a:extLst>
                  <a:ext uri="{FF2B5EF4-FFF2-40B4-BE49-F238E27FC236}">
                    <a16:creationId xmlns:a16="http://schemas.microsoft.com/office/drawing/2014/main" id="{8D275EB3-8DAA-2C05-CC0C-2DC1A7B8481C}"/>
                  </a:ext>
                </a:extLst>
              </p:cNvPr>
              <p:cNvSpPr>
                <a:spLocks/>
              </p:cNvSpPr>
              <p:nvPr>
                <p:custDataLst>
                  <p:tags r:id="rId7"/>
                </p:custDataLst>
              </p:nvPr>
            </p:nvSpPr>
            <p:spPr>
              <a:xfrm>
                <a:off x="1783813" y="1432013"/>
                <a:ext cx="3844585" cy="8621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推论一：没有底座维护的“主动运营”，必然导致组织自身热寂。</a:t>
                </a:r>
                <a:endParaRPr kumimoji="0" lang="en-GB" altLang="zh-CN"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cxnSp>
            <p:nvCxnSpPr>
              <p:cNvPr id="30" name="1">
                <a:extLst>
                  <a:ext uri="{FF2B5EF4-FFF2-40B4-BE49-F238E27FC236}">
                    <a16:creationId xmlns:a16="http://schemas.microsoft.com/office/drawing/2014/main" id="{4FF37942-3B94-6DE0-AA4C-18629C10D854}"/>
                  </a:ext>
                </a:extLst>
              </p:cNvPr>
              <p:cNvCxnSpPr>
                <a:cxnSpLocks/>
              </p:cNvCxnSpPr>
              <p:nvPr>
                <p:custDataLst>
                  <p:tags r:id="rId8"/>
                </p:custDataLst>
              </p:nvPr>
            </p:nvCxnSpPr>
            <p:spPr>
              <a:xfrm rot="5400000">
                <a:off x="949393" y="1721032"/>
                <a:ext cx="125785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3D8A6124-74D6-8F88-B336-A263CA2B736A}"/>
                </a:ext>
              </a:extLst>
            </p:cNvPr>
            <p:cNvGrpSpPr>
              <a:grpSpLocks/>
            </p:cNvGrpSpPr>
            <p:nvPr/>
          </p:nvGrpSpPr>
          <p:grpSpPr>
            <a:xfrm>
              <a:off x="1578322" y="4879250"/>
              <a:ext cx="4050075" cy="1218297"/>
              <a:chOff x="1547206" y="2975367"/>
              <a:chExt cx="4081192" cy="1222807"/>
            </a:xfrm>
          </p:grpSpPr>
          <p:sp>
            <p:nvSpPr>
              <p:cNvPr id="26" name="Body-3">
                <a:extLst>
                  <a:ext uri="{FF2B5EF4-FFF2-40B4-BE49-F238E27FC236}">
                    <a16:creationId xmlns:a16="http://schemas.microsoft.com/office/drawing/2014/main" id="{6F0092EF-3089-9F5B-56CD-D23578506440}"/>
                  </a:ext>
                </a:extLst>
              </p:cNvPr>
              <p:cNvSpPr>
                <a:spLocks/>
              </p:cNvSpPr>
              <p:nvPr>
                <p:custDataLst>
                  <p:tags r:id="rId5"/>
                </p:custDataLst>
              </p:nvPr>
            </p:nvSpPr>
            <p:spPr>
              <a:xfrm>
                <a:off x="1783813" y="3335994"/>
                <a:ext cx="3844585" cy="8621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大成智慧。</a:t>
                </a:r>
                <a:r>
                  <a:rPr kumimoji="0" lang="zh-CN" altLang="en-US" sz="24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二阶自省算符</a:t>
                </a:r>
                <a:r>
                  <a:rPr kumimoji="0" lang="en-US" altLang="zh-CN" sz="24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Φ</a:t>
                </a: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，就是在哥德尔边界上不断重写公理的“</a:t>
                </a:r>
                <a:r>
                  <a:rPr kumimoji="0" lang="zh-CN" altLang="en-US" sz="2400" b="1" i="0" u="none" strike="noStrike" kern="1200" cap="none" spc="0" normalizeH="0" baseline="0" noProof="0" dirty="0">
                    <a:ln>
                      <a:noFill/>
                    </a:ln>
                    <a:solidFill>
                      <a:srgbClr val="00D4FF"/>
                    </a:solidFill>
                    <a:effectLst/>
                    <a:uLnTx/>
                    <a:uFillTx/>
                    <a:latin typeface="Arial" panose="020B0604020202020204" pitchFamily="34" charset="0"/>
                    <a:ea typeface="微软雅黑" panose="020B0503020204020204" pitchFamily="34" charset="-122"/>
                    <a:cs typeface="+mn-cs"/>
                  </a:rPr>
                  <a:t>大成智慧”</a:t>
                </a:r>
                <a:r>
                  <a:rPr kumimoji="0" lang="zh-CN" altLang="en-US"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rPr>
                  <a:t>演化机制。</a:t>
                </a:r>
                <a:endParaRPr kumimoji="0" lang="en-GB" altLang="zh-CN"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cxnSp>
            <p:nvCxnSpPr>
              <p:cNvPr id="27" name="3">
                <a:extLst>
                  <a:ext uri="{FF2B5EF4-FFF2-40B4-BE49-F238E27FC236}">
                    <a16:creationId xmlns:a16="http://schemas.microsoft.com/office/drawing/2014/main" id="{145206BB-60D7-7535-6C43-F6F089A41F2A}"/>
                  </a:ext>
                </a:extLst>
              </p:cNvPr>
              <p:cNvCxnSpPr>
                <a:cxnSpLocks/>
              </p:cNvCxnSpPr>
              <p:nvPr>
                <p:custDataLst>
                  <p:tags r:id="rId6"/>
                </p:custDataLst>
              </p:nvPr>
            </p:nvCxnSpPr>
            <p:spPr>
              <a:xfrm>
                <a:off x="1547206" y="2975367"/>
                <a:ext cx="1" cy="1222807"/>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1154F6C8-27F0-3A40-7B1B-264F753B944E}"/>
                </a:ext>
              </a:extLst>
            </p:cNvPr>
            <p:cNvGrpSpPr>
              <a:grpSpLocks/>
            </p:cNvGrpSpPr>
            <p:nvPr/>
          </p:nvGrpSpPr>
          <p:grpSpPr>
            <a:xfrm>
              <a:off x="1573503" y="2995290"/>
              <a:ext cx="4054894" cy="1236644"/>
              <a:chOff x="6807199" y="1092103"/>
              <a:chExt cx="4033385" cy="1257858"/>
            </a:xfrm>
          </p:grpSpPr>
          <p:sp>
            <p:nvSpPr>
              <p:cNvPr id="23" name="Body-2">
                <a:extLst>
                  <a:ext uri="{FF2B5EF4-FFF2-40B4-BE49-F238E27FC236}">
                    <a16:creationId xmlns:a16="http://schemas.microsoft.com/office/drawing/2014/main" id="{55530CEB-577E-AA9A-95F5-C3D299409597}"/>
                  </a:ext>
                </a:extLst>
              </p:cNvPr>
              <p:cNvSpPr>
                <a:spLocks/>
              </p:cNvSpPr>
              <p:nvPr>
                <p:custDataLst>
                  <p:tags r:id="rId3"/>
                </p:custDataLst>
              </p:nvPr>
            </p:nvSpPr>
            <p:spPr>
              <a:xfrm>
                <a:off x="6995999" y="1432013"/>
                <a:ext cx="3844585" cy="8621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推论二：最鲁棒的交付，不是交付一套系统，是交付一套自我进化的机制。</a:t>
                </a:r>
                <a:endParaRPr kumimoji="0" lang="en-GB" altLang="zh-CN"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cxnSp>
            <p:nvCxnSpPr>
              <p:cNvPr id="24" name="2">
                <a:extLst>
                  <a:ext uri="{FF2B5EF4-FFF2-40B4-BE49-F238E27FC236}">
                    <a16:creationId xmlns:a16="http://schemas.microsoft.com/office/drawing/2014/main" id="{3F770A71-D11D-D0FB-3868-5A8164E80A82}"/>
                  </a:ext>
                </a:extLst>
              </p:cNvPr>
              <p:cNvCxnSpPr>
                <a:cxnSpLocks/>
              </p:cNvCxnSpPr>
              <p:nvPr>
                <p:custDataLst>
                  <p:tags r:id="rId4"/>
                </p:custDataLst>
              </p:nvPr>
            </p:nvCxnSpPr>
            <p:spPr>
              <a:xfrm rot="5400000">
                <a:off x="6178270" y="1721032"/>
                <a:ext cx="1257858"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grpSp>
      </p:grpSp>
      <p:sp>
        <p:nvSpPr>
          <p:cNvPr id="32" name="文本框 31">
            <a:extLst>
              <a:ext uri="{FF2B5EF4-FFF2-40B4-BE49-F238E27FC236}">
                <a16:creationId xmlns:a16="http://schemas.microsoft.com/office/drawing/2014/main" id="{4B8AA923-7046-9408-8D44-DA7CCC481F19}"/>
              </a:ext>
            </a:extLst>
          </p:cNvPr>
          <p:cNvSpPr txBox="1"/>
          <p:nvPr/>
        </p:nvSpPr>
        <p:spPr>
          <a:xfrm>
            <a:off x="2570644" y="5726623"/>
            <a:ext cx="6096982" cy="738664"/>
          </a:xfrm>
          <a:prstGeom prst="rect">
            <a:avLst/>
          </a:prstGeom>
          <a:noFill/>
        </p:spPr>
        <p:txBody>
          <a:bodyPr wrap="square">
            <a:spAutoFit/>
          </a:bodyPr>
          <a:lstStyle/>
          <a:p>
            <a:r>
              <a:rPr lang="zh-CN" altLang="en-US" sz="2400" b="1" dirty="0">
                <a:solidFill>
                  <a:srgbClr val="00D4FF"/>
                </a:solidFill>
              </a:rPr>
              <a:t>碳硅共生</a:t>
            </a:r>
            <a:r>
              <a:rPr lang="zh-CN" altLang="en-US" dirty="0"/>
              <a:t>，持续刺穿哥德尔边界。</a:t>
            </a:r>
            <a:endParaRPr lang="en-US" altLang="zh-CN" dirty="0"/>
          </a:p>
          <a:p>
            <a:r>
              <a:rPr lang="zh-CN" altLang="en-US" dirty="0"/>
              <a:t>生生不息，才是进化的终极形态。</a:t>
            </a:r>
          </a:p>
        </p:txBody>
      </p:sp>
    </p:spTree>
    <p:extLst>
      <p:ext uri="{BB962C8B-B14F-4D97-AF65-F5344CB8AC3E}">
        <p14:creationId xmlns:p14="http://schemas.microsoft.com/office/powerpoint/2010/main" val="2701307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4E50928-04D6-C5C0-B1B6-46E7CD8F4952}"/>
              </a:ext>
            </a:extLst>
          </p:cNvPr>
          <p:cNvSpPr>
            <a:spLocks noGrp="1"/>
          </p:cNvSpPr>
          <p:nvPr>
            <p:ph type="ctrTitle"/>
          </p:nvPr>
        </p:nvSpPr>
        <p:spPr>
          <a:xfrm>
            <a:off x="3954036" y="1638123"/>
            <a:ext cx="6749372" cy="2587173"/>
          </a:xfrm>
        </p:spPr>
        <p:txBody>
          <a:bodyPr>
            <a:normAutofit/>
          </a:bodyPr>
          <a:lstStyle/>
          <a:p>
            <a:r>
              <a:rPr lang="zh-CN" altLang="en-US" sz="4400" dirty="0">
                <a:solidFill>
                  <a:schemeClr val="tx1"/>
                </a:solidFill>
                <a:latin typeface="Arial" panose="020B0604020202020204" pitchFamily="34" charset="0"/>
                <a:ea typeface="微软雅黑" panose="020B0503020204020204" pitchFamily="34" charset="-122"/>
              </a:rPr>
              <a:t>西方的方案已经远离战场多年</a:t>
            </a:r>
            <a:br>
              <a:rPr lang="en-US" altLang="zh-CN" sz="4400" dirty="0">
                <a:solidFill>
                  <a:schemeClr val="tx1"/>
                </a:solidFill>
                <a:latin typeface="Arial" panose="020B0604020202020204" pitchFamily="34" charset="0"/>
                <a:ea typeface="微软雅黑" panose="020B0503020204020204" pitchFamily="34" charset="-122"/>
              </a:rPr>
            </a:br>
            <a:r>
              <a:rPr lang="zh-CN" altLang="en-US" sz="4400" dirty="0">
                <a:solidFill>
                  <a:schemeClr val="tx1"/>
                </a:solidFill>
                <a:latin typeface="Arial" panose="020B0604020202020204" pitchFamily="34" charset="0"/>
                <a:ea typeface="微软雅黑" panose="020B0503020204020204" pitchFamily="34" charset="-122"/>
              </a:rPr>
              <a:t>我们需要自主突破</a:t>
            </a:r>
          </a:p>
        </p:txBody>
      </p:sp>
    </p:spTree>
    <p:extLst>
      <p:ext uri="{BB962C8B-B14F-4D97-AF65-F5344CB8AC3E}">
        <p14:creationId xmlns:p14="http://schemas.microsoft.com/office/powerpoint/2010/main" val="1858762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908F2-1C87-E4F6-BEE1-7E85C554AF98}"/>
              </a:ext>
            </a:extLst>
          </p:cNvPr>
          <p:cNvSpPr>
            <a:spLocks noGrp="1"/>
          </p:cNvSpPr>
          <p:nvPr>
            <p:ph type="title"/>
          </p:nvPr>
        </p:nvSpPr>
        <p:spPr/>
        <p:txBody>
          <a:bodyPr/>
          <a:lstStyle/>
          <a:p>
            <a:r>
              <a:rPr lang="en-US" altLang="zh-CN" i="0" dirty="0">
                <a:effectLst/>
                <a:latin typeface="Arial" panose="020B0604020202020204" pitchFamily="34" charset="0"/>
                <a:ea typeface="微软雅黑" panose="020B0503020204020204" pitchFamily="34" charset="-122"/>
              </a:rPr>
              <a:t>One Plan</a:t>
            </a:r>
            <a:r>
              <a:rPr lang="zh-CN" altLang="en-US" i="0" dirty="0">
                <a:effectLst/>
                <a:latin typeface="Arial" panose="020B0604020202020204" pitchFamily="34" charset="0"/>
                <a:ea typeface="微软雅黑" panose="020B0503020204020204" pitchFamily="34" charset="-122"/>
              </a:rPr>
              <a:t>协同引擎：如何化解矩阵中的复杂度挑战</a:t>
            </a:r>
            <a:r>
              <a:rPr lang="en-US" altLang="zh-CN" i="0" dirty="0">
                <a:effectLst/>
                <a:latin typeface="Arial" panose="020B0604020202020204" pitchFamily="34" charset="0"/>
                <a:ea typeface="微软雅黑" panose="020B0503020204020204" pitchFamily="34" charset="-122"/>
              </a:rPr>
              <a:t>——</a:t>
            </a:r>
            <a:r>
              <a:rPr lang="zh-CN" altLang="en-US" i="0" dirty="0">
                <a:effectLst/>
                <a:latin typeface="Arial" panose="020B0604020202020204" pitchFamily="34" charset="0"/>
                <a:ea typeface="微软雅黑" panose="020B0503020204020204" pitchFamily="34" charset="-122"/>
              </a:rPr>
              <a:t>横纵生态协同</a:t>
            </a:r>
            <a:endParaRPr lang="zh-CN" altLang="en-US" dirty="0">
              <a:latin typeface="Arial" panose="020B0604020202020204" pitchFamily="34" charset="0"/>
              <a:ea typeface="微软雅黑" panose="020B0503020204020204" pitchFamily="34" charset="-122"/>
            </a:endParaRPr>
          </a:p>
        </p:txBody>
      </p:sp>
      <p:sp>
        <p:nvSpPr>
          <p:cNvPr id="3" name="矩形: 圆角 2">
            <a:extLst>
              <a:ext uri="{FF2B5EF4-FFF2-40B4-BE49-F238E27FC236}">
                <a16:creationId xmlns:a16="http://schemas.microsoft.com/office/drawing/2014/main" id="{DD3941FA-0958-AACA-0273-9B180A38D22C}"/>
              </a:ext>
            </a:extLst>
          </p:cNvPr>
          <p:cNvSpPr/>
          <p:nvPr/>
        </p:nvSpPr>
        <p:spPr>
          <a:xfrm>
            <a:off x="569014" y="1100939"/>
            <a:ext cx="1145949" cy="451370"/>
          </a:xfrm>
          <a:prstGeom prst="roundRect">
            <a:avLst/>
          </a:prstGeom>
          <a:solidFill>
            <a:schemeClr val="accent1">
              <a:lumMod val="20000"/>
              <a:lumOff val="8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统计预测</a:t>
            </a:r>
          </a:p>
        </p:txBody>
      </p:sp>
      <p:sp>
        <p:nvSpPr>
          <p:cNvPr id="4" name="矩形: 圆角 3">
            <a:extLst>
              <a:ext uri="{FF2B5EF4-FFF2-40B4-BE49-F238E27FC236}">
                <a16:creationId xmlns:a16="http://schemas.microsoft.com/office/drawing/2014/main" id="{E26685A4-5B68-9B0D-48EA-E9E4EC7D679C}"/>
              </a:ext>
            </a:extLst>
          </p:cNvPr>
          <p:cNvSpPr/>
          <p:nvPr/>
        </p:nvSpPr>
        <p:spPr>
          <a:xfrm>
            <a:off x="2139016" y="1100939"/>
            <a:ext cx="1145949" cy="451370"/>
          </a:xfrm>
          <a:prstGeom prst="roundRect">
            <a:avLst/>
          </a:prstGeom>
          <a:solidFill>
            <a:schemeClr val="accent1">
              <a:lumMod val="20000"/>
              <a:lumOff val="8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综合预测</a:t>
            </a:r>
          </a:p>
        </p:txBody>
      </p:sp>
      <p:sp>
        <p:nvSpPr>
          <p:cNvPr id="5" name="矩形: 圆角 4">
            <a:extLst>
              <a:ext uri="{FF2B5EF4-FFF2-40B4-BE49-F238E27FC236}">
                <a16:creationId xmlns:a16="http://schemas.microsoft.com/office/drawing/2014/main" id="{D74E27D1-9312-3714-EF11-701047735558}"/>
              </a:ext>
            </a:extLst>
          </p:cNvPr>
          <p:cNvSpPr/>
          <p:nvPr/>
        </p:nvSpPr>
        <p:spPr>
          <a:xfrm>
            <a:off x="3503456" y="1100939"/>
            <a:ext cx="1188592" cy="451370"/>
          </a:xfrm>
          <a:prstGeom prst="roundRect">
            <a:avLst/>
          </a:prstGeom>
          <a:solidFill>
            <a:schemeClr val="accent1">
              <a:lumMod val="20000"/>
              <a:lumOff val="8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需求塑造</a:t>
            </a:r>
          </a:p>
        </p:txBody>
      </p:sp>
      <p:sp>
        <p:nvSpPr>
          <p:cNvPr id="6" name="矩形: 圆角 5">
            <a:extLst>
              <a:ext uri="{FF2B5EF4-FFF2-40B4-BE49-F238E27FC236}">
                <a16:creationId xmlns:a16="http://schemas.microsoft.com/office/drawing/2014/main" id="{AF65D7DB-09B9-0554-66FA-26F7314E76F1}"/>
              </a:ext>
            </a:extLst>
          </p:cNvPr>
          <p:cNvSpPr/>
          <p:nvPr/>
        </p:nvSpPr>
        <p:spPr>
          <a:xfrm>
            <a:off x="2141414" y="2497563"/>
            <a:ext cx="1145949" cy="451370"/>
          </a:xfrm>
          <a:prstGeom prst="roundRect">
            <a:avLst/>
          </a:prstGeom>
          <a:solidFill>
            <a:schemeClr val="accent1">
              <a:lumMod val="20000"/>
              <a:lumOff val="8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一致性预测</a:t>
            </a:r>
          </a:p>
        </p:txBody>
      </p:sp>
      <p:sp>
        <p:nvSpPr>
          <p:cNvPr id="7" name="矩形: 圆角 6">
            <a:extLst>
              <a:ext uri="{FF2B5EF4-FFF2-40B4-BE49-F238E27FC236}">
                <a16:creationId xmlns:a16="http://schemas.microsoft.com/office/drawing/2014/main" id="{FCCE1797-7016-2112-C2D0-B8A9051AB997}"/>
              </a:ext>
            </a:extLst>
          </p:cNvPr>
          <p:cNvSpPr/>
          <p:nvPr/>
        </p:nvSpPr>
        <p:spPr>
          <a:xfrm>
            <a:off x="545714" y="3330160"/>
            <a:ext cx="1145949" cy="451370"/>
          </a:xfrm>
          <a:prstGeom prst="roundRect">
            <a:avLst/>
          </a:prstGeom>
          <a:solidFill>
            <a:schemeClr val="accent1">
              <a:lumMod val="40000"/>
              <a:lumOff val="6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库存优化规划</a:t>
            </a:r>
          </a:p>
        </p:txBody>
      </p:sp>
      <p:sp>
        <p:nvSpPr>
          <p:cNvPr id="9" name="矩形: 圆角 8">
            <a:extLst>
              <a:ext uri="{FF2B5EF4-FFF2-40B4-BE49-F238E27FC236}">
                <a16:creationId xmlns:a16="http://schemas.microsoft.com/office/drawing/2014/main" id="{E882950E-82FF-8A4D-023F-8D8220786F39}"/>
              </a:ext>
            </a:extLst>
          </p:cNvPr>
          <p:cNvSpPr/>
          <p:nvPr/>
        </p:nvSpPr>
        <p:spPr>
          <a:xfrm>
            <a:off x="2106270" y="1802470"/>
            <a:ext cx="1211441" cy="451370"/>
          </a:xfrm>
          <a:prstGeom prst="roundRect">
            <a:avLst/>
          </a:prstGeom>
          <a:solidFill>
            <a:schemeClr val="accent1">
              <a:lumMod val="20000"/>
              <a:lumOff val="8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预测分解</a:t>
            </a:r>
          </a:p>
        </p:txBody>
      </p:sp>
      <p:cxnSp>
        <p:nvCxnSpPr>
          <p:cNvPr id="17" name="连接符: 肘形 16">
            <a:extLst>
              <a:ext uri="{FF2B5EF4-FFF2-40B4-BE49-F238E27FC236}">
                <a16:creationId xmlns:a16="http://schemas.microsoft.com/office/drawing/2014/main" id="{F67A95D8-8E51-E0B3-D99A-E7249F545C81}"/>
              </a:ext>
            </a:extLst>
          </p:cNvPr>
          <p:cNvCxnSpPr>
            <a:cxnSpLocks/>
            <a:stCxn id="5" idx="2"/>
            <a:endCxn id="9" idx="3"/>
          </p:cNvCxnSpPr>
          <p:nvPr/>
        </p:nvCxnSpPr>
        <p:spPr>
          <a:xfrm rot="5400000">
            <a:off x="3469809" y="1400212"/>
            <a:ext cx="475846" cy="780041"/>
          </a:xfrm>
          <a:prstGeom prst="bentConnector2">
            <a:avLst/>
          </a:prstGeom>
          <a:ln>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19" name="直接箭头连接符 18">
            <a:extLst>
              <a:ext uri="{FF2B5EF4-FFF2-40B4-BE49-F238E27FC236}">
                <a16:creationId xmlns:a16="http://schemas.microsoft.com/office/drawing/2014/main" id="{070974C5-F79D-61BD-E879-CACCD84C10BB}"/>
              </a:ext>
            </a:extLst>
          </p:cNvPr>
          <p:cNvCxnSpPr>
            <a:cxnSpLocks/>
            <a:stCxn id="4" idx="2"/>
            <a:endCxn id="9" idx="0"/>
          </p:cNvCxnSpPr>
          <p:nvPr/>
        </p:nvCxnSpPr>
        <p:spPr>
          <a:xfrm>
            <a:off x="2711991" y="1552309"/>
            <a:ext cx="0" cy="250160"/>
          </a:xfrm>
          <a:prstGeom prst="straightConnector1">
            <a:avLst/>
          </a:prstGeom>
          <a:ln>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21" name="连接符: 肘形 20">
            <a:extLst>
              <a:ext uri="{FF2B5EF4-FFF2-40B4-BE49-F238E27FC236}">
                <a16:creationId xmlns:a16="http://schemas.microsoft.com/office/drawing/2014/main" id="{A8AF0C2E-73F7-0347-BEBB-6D24A59C1F10}"/>
              </a:ext>
            </a:extLst>
          </p:cNvPr>
          <p:cNvCxnSpPr>
            <a:stCxn id="3" idx="2"/>
            <a:endCxn id="9" idx="1"/>
          </p:cNvCxnSpPr>
          <p:nvPr/>
        </p:nvCxnSpPr>
        <p:spPr>
          <a:xfrm rot="16200000" flipH="1">
            <a:off x="1386206" y="1308092"/>
            <a:ext cx="475846" cy="964281"/>
          </a:xfrm>
          <a:prstGeom prst="bentConnector2">
            <a:avLst/>
          </a:prstGeom>
          <a:ln>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23" name="连接符: 肘形 22">
            <a:extLst>
              <a:ext uri="{FF2B5EF4-FFF2-40B4-BE49-F238E27FC236}">
                <a16:creationId xmlns:a16="http://schemas.microsoft.com/office/drawing/2014/main" id="{2D368D02-E77E-0773-47E2-524F5A40F5C3}"/>
              </a:ext>
            </a:extLst>
          </p:cNvPr>
          <p:cNvCxnSpPr>
            <a:stCxn id="9" idx="2"/>
            <a:endCxn id="6" idx="0"/>
          </p:cNvCxnSpPr>
          <p:nvPr/>
        </p:nvCxnSpPr>
        <p:spPr>
          <a:xfrm rot="16200000" flipH="1">
            <a:off x="2591328" y="2374503"/>
            <a:ext cx="243724" cy="2398"/>
          </a:xfrm>
          <a:prstGeom prst="bentConnector3">
            <a:avLst/>
          </a:prstGeom>
          <a:ln>
            <a:tailEnd type="triangle"/>
          </a:ln>
        </p:spPr>
        <p:style>
          <a:lnRef idx="2">
            <a:schemeClr val="accent6">
              <a:shade val="15000"/>
            </a:schemeClr>
          </a:lnRef>
          <a:fillRef idx="1">
            <a:schemeClr val="accent6"/>
          </a:fillRef>
          <a:effectRef idx="0">
            <a:schemeClr val="accent6"/>
          </a:effectRef>
          <a:fontRef idx="minor">
            <a:schemeClr val="lt1"/>
          </a:fontRef>
        </p:style>
      </p:cxnSp>
      <p:cxnSp>
        <p:nvCxnSpPr>
          <p:cNvPr id="25" name="连接符: 肘形 24">
            <a:extLst>
              <a:ext uri="{FF2B5EF4-FFF2-40B4-BE49-F238E27FC236}">
                <a16:creationId xmlns:a16="http://schemas.microsoft.com/office/drawing/2014/main" id="{1C573F5E-181C-B581-0F63-5CEA31F497BB}"/>
              </a:ext>
            </a:extLst>
          </p:cNvPr>
          <p:cNvCxnSpPr>
            <a:cxnSpLocks/>
            <a:stCxn id="6" idx="1"/>
            <a:endCxn id="7" idx="0"/>
          </p:cNvCxnSpPr>
          <p:nvPr/>
        </p:nvCxnSpPr>
        <p:spPr>
          <a:xfrm rot="10800000" flipV="1">
            <a:off x="1118690" y="2723248"/>
            <a:ext cx="1022725" cy="60691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矩形: 圆角 25">
            <a:extLst>
              <a:ext uri="{FF2B5EF4-FFF2-40B4-BE49-F238E27FC236}">
                <a16:creationId xmlns:a16="http://schemas.microsoft.com/office/drawing/2014/main" id="{6EC5EA10-A13B-5FC0-27F3-7066CD538175}"/>
              </a:ext>
            </a:extLst>
          </p:cNvPr>
          <p:cNvSpPr/>
          <p:nvPr/>
        </p:nvSpPr>
        <p:spPr>
          <a:xfrm>
            <a:off x="2138759" y="3331174"/>
            <a:ext cx="1145949" cy="451370"/>
          </a:xfrm>
          <a:prstGeom prst="roundRect">
            <a:avLst/>
          </a:prstGeom>
          <a:solidFill>
            <a:schemeClr val="accent1">
              <a:lumMod val="40000"/>
              <a:lumOff val="6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主计划</a:t>
            </a:r>
          </a:p>
        </p:txBody>
      </p:sp>
      <p:sp>
        <p:nvSpPr>
          <p:cNvPr id="27" name="矩形: 圆角 26">
            <a:extLst>
              <a:ext uri="{FF2B5EF4-FFF2-40B4-BE49-F238E27FC236}">
                <a16:creationId xmlns:a16="http://schemas.microsoft.com/office/drawing/2014/main" id="{DCE939CC-72D7-BD9F-3692-A645F6355BDA}"/>
              </a:ext>
            </a:extLst>
          </p:cNvPr>
          <p:cNvSpPr/>
          <p:nvPr/>
        </p:nvSpPr>
        <p:spPr>
          <a:xfrm>
            <a:off x="3723817" y="3969000"/>
            <a:ext cx="1145949" cy="451370"/>
          </a:xfrm>
          <a:prstGeom prst="roundRect">
            <a:avLst/>
          </a:prstGeom>
          <a:gradFill>
            <a:gsLst>
              <a:gs pos="0">
                <a:schemeClr val="accent1">
                  <a:lumMod val="5000"/>
                  <a:lumOff val="95000"/>
                </a:schemeClr>
              </a:gs>
              <a:gs pos="44000">
                <a:schemeClr val="accent1">
                  <a:lumMod val="45000"/>
                  <a:lumOff val="55000"/>
                </a:schemeClr>
              </a:gs>
              <a:gs pos="100000">
                <a:schemeClr val="accent1">
                  <a:lumMod val="60000"/>
                  <a:lumOff val="40000"/>
                </a:schemeClr>
              </a:gs>
              <a:gs pos="100000">
                <a:schemeClr val="accent1">
                  <a:lumMod val="30000"/>
                  <a:lumOff val="70000"/>
                </a:schemeClr>
              </a:gs>
            </a:gsLst>
            <a:lin ang="5400000" scaled="1"/>
          </a:gra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约束规划</a:t>
            </a:r>
          </a:p>
        </p:txBody>
      </p:sp>
      <p:sp>
        <p:nvSpPr>
          <p:cNvPr id="28" name="矩形: 圆角 27">
            <a:extLst>
              <a:ext uri="{FF2B5EF4-FFF2-40B4-BE49-F238E27FC236}">
                <a16:creationId xmlns:a16="http://schemas.microsoft.com/office/drawing/2014/main" id="{4C199EA3-87D5-2626-54D2-0FB52C971522}"/>
              </a:ext>
            </a:extLst>
          </p:cNvPr>
          <p:cNvSpPr/>
          <p:nvPr/>
        </p:nvSpPr>
        <p:spPr>
          <a:xfrm>
            <a:off x="3648659" y="3330159"/>
            <a:ext cx="1145949" cy="451370"/>
          </a:xfrm>
          <a:prstGeom prst="roundRect">
            <a:avLst/>
          </a:prstGeom>
          <a:gradFill>
            <a:gsLst>
              <a:gs pos="0">
                <a:schemeClr val="accent1">
                  <a:lumMod val="5000"/>
                  <a:lumOff val="95000"/>
                </a:schemeClr>
              </a:gs>
              <a:gs pos="44000">
                <a:schemeClr val="accent1">
                  <a:lumMod val="45000"/>
                  <a:lumOff val="55000"/>
                </a:schemeClr>
              </a:gs>
              <a:gs pos="100000">
                <a:schemeClr val="accent1">
                  <a:lumMod val="60000"/>
                  <a:lumOff val="40000"/>
                </a:schemeClr>
              </a:gs>
              <a:gs pos="100000">
                <a:schemeClr val="accent1">
                  <a:lumMod val="30000"/>
                  <a:lumOff val="70000"/>
                </a:schemeClr>
              </a:gs>
            </a:gsLst>
            <a:lin ang="5400000" scaled="1"/>
          </a:gra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供应商协同</a:t>
            </a:r>
          </a:p>
        </p:txBody>
      </p:sp>
      <p:sp>
        <p:nvSpPr>
          <p:cNvPr id="29" name="矩形: 圆角 28">
            <a:extLst>
              <a:ext uri="{FF2B5EF4-FFF2-40B4-BE49-F238E27FC236}">
                <a16:creationId xmlns:a16="http://schemas.microsoft.com/office/drawing/2014/main" id="{1F88A498-381C-717A-7F5F-7B70CFA59BAE}"/>
              </a:ext>
            </a:extLst>
          </p:cNvPr>
          <p:cNvSpPr/>
          <p:nvPr/>
        </p:nvSpPr>
        <p:spPr>
          <a:xfrm>
            <a:off x="2124853" y="4522707"/>
            <a:ext cx="1145949" cy="451370"/>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执行计划</a:t>
            </a:r>
          </a:p>
        </p:txBody>
      </p:sp>
      <p:sp>
        <p:nvSpPr>
          <p:cNvPr id="30" name="矩形: 圆角 29">
            <a:extLst>
              <a:ext uri="{FF2B5EF4-FFF2-40B4-BE49-F238E27FC236}">
                <a16:creationId xmlns:a16="http://schemas.microsoft.com/office/drawing/2014/main" id="{D816659C-88A3-D714-7160-224CE3C4BE1E}"/>
              </a:ext>
            </a:extLst>
          </p:cNvPr>
          <p:cNvSpPr/>
          <p:nvPr/>
        </p:nvSpPr>
        <p:spPr>
          <a:xfrm>
            <a:off x="545714" y="4522706"/>
            <a:ext cx="1145949" cy="451370"/>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ATP/ATS</a:t>
            </a:r>
            <a:endParaRPr kumimoji="0" lang="zh-CN" altLang="en-US"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31" name="矩形: 圆角 30">
            <a:extLst>
              <a:ext uri="{FF2B5EF4-FFF2-40B4-BE49-F238E27FC236}">
                <a16:creationId xmlns:a16="http://schemas.microsoft.com/office/drawing/2014/main" id="{A5CB04E9-CE42-2B0B-4573-3314C680A919}"/>
              </a:ext>
            </a:extLst>
          </p:cNvPr>
          <p:cNvSpPr/>
          <p:nvPr/>
        </p:nvSpPr>
        <p:spPr>
          <a:xfrm>
            <a:off x="2122669" y="5365788"/>
            <a:ext cx="1145949" cy="451370"/>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排程调度</a:t>
            </a:r>
          </a:p>
        </p:txBody>
      </p:sp>
      <p:sp>
        <p:nvSpPr>
          <p:cNvPr id="32" name="矩形: 圆角 31">
            <a:extLst>
              <a:ext uri="{FF2B5EF4-FFF2-40B4-BE49-F238E27FC236}">
                <a16:creationId xmlns:a16="http://schemas.microsoft.com/office/drawing/2014/main" id="{6E18908A-AFB0-808A-67DD-8288DA79F36B}"/>
              </a:ext>
            </a:extLst>
          </p:cNvPr>
          <p:cNvSpPr/>
          <p:nvPr/>
        </p:nvSpPr>
        <p:spPr>
          <a:xfrm>
            <a:off x="2133910" y="6151383"/>
            <a:ext cx="1145949" cy="451370"/>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Call</a:t>
            </a:r>
            <a:r>
              <a:rPr kumimoji="0" lang="zh-CN" altLang="en-US" sz="12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料</a:t>
            </a:r>
          </a:p>
        </p:txBody>
      </p:sp>
      <p:cxnSp>
        <p:nvCxnSpPr>
          <p:cNvPr id="36" name="连接符: 肘形 35">
            <a:extLst>
              <a:ext uri="{FF2B5EF4-FFF2-40B4-BE49-F238E27FC236}">
                <a16:creationId xmlns:a16="http://schemas.microsoft.com/office/drawing/2014/main" id="{4055E09F-03ED-4C74-7499-2413B357C0D7}"/>
              </a:ext>
            </a:extLst>
          </p:cNvPr>
          <p:cNvCxnSpPr>
            <a:cxnSpLocks/>
            <a:stCxn id="26" idx="2"/>
            <a:endCxn id="27" idx="1"/>
          </p:cNvCxnSpPr>
          <p:nvPr/>
        </p:nvCxnSpPr>
        <p:spPr>
          <a:xfrm rot="16200000" flipH="1">
            <a:off x="3011705" y="3482572"/>
            <a:ext cx="412141" cy="1012083"/>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直接箭头连接符 37">
            <a:extLst>
              <a:ext uri="{FF2B5EF4-FFF2-40B4-BE49-F238E27FC236}">
                <a16:creationId xmlns:a16="http://schemas.microsoft.com/office/drawing/2014/main" id="{206FD5D2-1B58-3E8D-667E-382D7C8BFA04}"/>
              </a:ext>
            </a:extLst>
          </p:cNvPr>
          <p:cNvCxnSpPr>
            <a:cxnSpLocks/>
            <a:stCxn id="26" idx="3"/>
            <a:endCxn id="28" idx="1"/>
          </p:cNvCxnSpPr>
          <p:nvPr/>
        </p:nvCxnSpPr>
        <p:spPr>
          <a:xfrm flipV="1">
            <a:off x="3284708" y="3555844"/>
            <a:ext cx="363951" cy="101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直接箭头连接符 39">
            <a:extLst>
              <a:ext uri="{FF2B5EF4-FFF2-40B4-BE49-F238E27FC236}">
                <a16:creationId xmlns:a16="http://schemas.microsoft.com/office/drawing/2014/main" id="{DCF8320D-DA36-FFAD-8D61-09064574DAA2}"/>
              </a:ext>
            </a:extLst>
          </p:cNvPr>
          <p:cNvCxnSpPr>
            <a:cxnSpLocks/>
            <a:stCxn id="30" idx="3"/>
            <a:endCxn id="29" idx="1"/>
          </p:cNvCxnSpPr>
          <p:nvPr/>
        </p:nvCxnSpPr>
        <p:spPr>
          <a:xfrm>
            <a:off x="1691663" y="4748391"/>
            <a:ext cx="43319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连接符: 肘形 40">
            <a:extLst>
              <a:ext uri="{FF2B5EF4-FFF2-40B4-BE49-F238E27FC236}">
                <a16:creationId xmlns:a16="http://schemas.microsoft.com/office/drawing/2014/main" id="{C1D47583-29BF-9610-A506-799CAAC7906D}"/>
              </a:ext>
            </a:extLst>
          </p:cNvPr>
          <p:cNvCxnSpPr>
            <a:stCxn id="26" idx="2"/>
            <a:endCxn id="30" idx="0"/>
          </p:cNvCxnSpPr>
          <p:nvPr/>
        </p:nvCxnSpPr>
        <p:spPr>
          <a:xfrm rot="5400000">
            <a:off x="1545131" y="3356103"/>
            <a:ext cx="740162" cy="1593045"/>
          </a:xfrm>
          <a:prstGeom prst="bentConnector3">
            <a:avLst>
              <a:gd name="adj1" fmla="val 55148"/>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3" name="连接符: 肘形 42">
            <a:extLst>
              <a:ext uri="{FF2B5EF4-FFF2-40B4-BE49-F238E27FC236}">
                <a16:creationId xmlns:a16="http://schemas.microsoft.com/office/drawing/2014/main" id="{9779C83E-5672-4426-47F6-53391BEBA986}"/>
              </a:ext>
            </a:extLst>
          </p:cNvPr>
          <p:cNvCxnSpPr>
            <a:cxnSpLocks/>
            <a:stCxn id="28" idx="3"/>
            <a:endCxn id="29" idx="3"/>
          </p:cNvCxnSpPr>
          <p:nvPr/>
        </p:nvCxnSpPr>
        <p:spPr>
          <a:xfrm flipH="1">
            <a:off x="3270802" y="3555844"/>
            <a:ext cx="1523806" cy="1192548"/>
          </a:xfrm>
          <a:prstGeom prst="bentConnector3">
            <a:avLst>
              <a:gd name="adj1" fmla="val -15002"/>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58D9D8A4-059C-11ED-07DA-1330AEAE697A}"/>
              </a:ext>
            </a:extLst>
          </p:cNvPr>
          <p:cNvCxnSpPr>
            <a:stCxn id="29" idx="2"/>
            <a:endCxn id="31" idx="0"/>
          </p:cNvCxnSpPr>
          <p:nvPr/>
        </p:nvCxnSpPr>
        <p:spPr>
          <a:xfrm flipH="1">
            <a:off x="2695644" y="4974077"/>
            <a:ext cx="2185" cy="3917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5" name="直接箭头连接符 44">
            <a:extLst>
              <a:ext uri="{FF2B5EF4-FFF2-40B4-BE49-F238E27FC236}">
                <a16:creationId xmlns:a16="http://schemas.microsoft.com/office/drawing/2014/main" id="{372A30AC-A379-8F84-9F3A-455EC24D4D6A}"/>
              </a:ext>
            </a:extLst>
          </p:cNvPr>
          <p:cNvCxnSpPr>
            <a:stCxn id="31" idx="2"/>
            <a:endCxn id="32" idx="0"/>
          </p:cNvCxnSpPr>
          <p:nvPr/>
        </p:nvCxnSpPr>
        <p:spPr>
          <a:xfrm>
            <a:off x="2695644" y="5817158"/>
            <a:ext cx="11241" cy="3342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矩形: 圆角 13">
            <a:extLst>
              <a:ext uri="{FF2B5EF4-FFF2-40B4-BE49-F238E27FC236}">
                <a16:creationId xmlns:a16="http://schemas.microsoft.com/office/drawing/2014/main" id="{21A09E16-9A0F-2683-EEA0-BF77EC2C4593}"/>
              </a:ext>
            </a:extLst>
          </p:cNvPr>
          <p:cNvSpPr/>
          <p:nvPr/>
        </p:nvSpPr>
        <p:spPr>
          <a:xfrm>
            <a:off x="4907409" y="1104451"/>
            <a:ext cx="1188592" cy="451370"/>
          </a:xfrm>
          <a:prstGeom prst="roundRect">
            <a:avLst/>
          </a:prstGeom>
          <a:solidFill>
            <a:schemeClr val="accent1">
              <a:lumMod val="20000"/>
              <a:lumOff val="8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财务规划</a:t>
            </a:r>
          </a:p>
        </p:txBody>
      </p:sp>
      <p:cxnSp>
        <p:nvCxnSpPr>
          <p:cNvPr id="24" name="连接符: 肘形 23">
            <a:extLst>
              <a:ext uri="{FF2B5EF4-FFF2-40B4-BE49-F238E27FC236}">
                <a16:creationId xmlns:a16="http://schemas.microsoft.com/office/drawing/2014/main" id="{4BAE4E5C-9B4C-BCE7-1EAC-70226598EAC6}"/>
              </a:ext>
            </a:extLst>
          </p:cNvPr>
          <p:cNvCxnSpPr>
            <a:cxnSpLocks/>
            <a:endCxn id="4" idx="0"/>
          </p:cNvCxnSpPr>
          <p:nvPr/>
        </p:nvCxnSpPr>
        <p:spPr>
          <a:xfrm rot="16200000" flipV="1">
            <a:off x="4184081" y="-371962"/>
            <a:ext cx="14048" cy="2945802"/>
          </a:xfrm>
          <a:prstGeom prst="bentConnector3">
            <a:avLst>
              <a:gd name="adj1" fmla="val 1800000"/>
            </a:avLst>
          </a:prstGeom>
          <a:ln>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56" name="直接箭头连接符 55">
            <a:extLst>
              <a:ext uri="{FF2B5EF4-FFF2-40B4-BE49-F238E27FC236}">
                <a16:creationId xmlns:a16="http://schemas.microsoft.com/office/drawing/2014/main" id="{FFA1CC69-8ECD-261E-7E31-FA0B9DCA397A}"/>
              </a:ext>
            </a:extLst>
          </p:cNvPr>
          <p:cNvCxnSpPr>
            <a:stCxn id="6" idx="2"/>
            <a:endCxn id="26" idx="0"/>
          </p:cNvCxnSpPr>
          <p:nvPr/>
        </p:nvCxnSpPr>
        <p:spPr>
          <a:xfrm flipH="1">
            <a:off x="2711734" y="2948933"/>
            <a:ext cx="2655" cy="382241"/>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97B1A793-954C-1ACC-4B31-F662145A7DEA}"/>
              </a:ext>
            </a:extLst>
          </p:cNvPr>
          <p:cNvCxnSpPr>
            <a:cxnSpLocks/>
            <a:stCxn id="7" idx="3"/>
            <a:endCxn id="26" idx="1"/>
          </p:cNvCxnSpPr>
          <p:nvPr/>
        </p:nvCxnSpPr>
        <p:spPr>
          <a:xfrm>
            <a:off x="1691663" y="3555845"/>
            <a:ext cx="447096" cy="101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7" name="直接箭头连接符 76">
            <a:extLst>
              <a:ext uri="{FF2B5EF4-FFF2-40B4-BE49-F238E27FC236}">
                <a16:creationId xmlns:a16="http://schemas.microsoft.com/office/drawing/2014/main" id="{8F83A7C3-CE4C-6EBF-7317-FCBBE9FABD00}"/>
              </a:ext>
            </a:extLst>
          </p:cNvPr>
          <p:cNvCxnSpPr>
            <a:stCxn id="26" idx="2"/>
            <a:endCxn id="29" idx="0"/>
          </p:cNvCxnSpPr>
          <p:nvPr/>
        </p:nvCxnSpPr>
        <p:spPr>
          <a:xfrm flipH="1">
            <a:off x="2697828" y="3782544"/>
            <a:ext cx="13906" cy="7401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6" name="连接符: 肘形 85">
            <a:extLst>
              <a:ext uri="{FF2B5EF4-FFF2-40B4-BE49-F238E27FC236}">
                <a16:creationId xmlns:a16="http://schemas.microsoft.com/office/drawing/2014/main" id="{EA676010-4CDF-4DE4-D821-F1E4D3DFC97F}"/>
              </a:ext>
            </a:extLst>
          </p:cNvPr>
          <p:cNvCxnSpPr>
            <a:cxnSpLocks/>
            <a:stCxn id="14" idx="2"/>
            <a:endCxn id="6" idx="3"/>
          </p:cNvCxnSpPr>
          <p:nvPr/>
        </p:nvCxnSpPr>
        <p:spPr>
          <a:xfrm rot="5400000">
            <a:off x="3810821" y="1032364"/>
            <a:ext cx="1167428" cy="2214342"/>
          </a:xfrm>
          <a:prstGeom prst="bentConnector2">
            <a:avLst/>
          </a:prstGeom>
          <a:ln>
            <a:prstDash val="dashDot"/>
            <a:tailEnd type="triangle"/>
          </a:ln>
        </p:spPr>
        <p:style>
          <a:lnRef idx="2">
            <a:schemeClr val="accent1"/>
          </a:lnRef>
          <a:fillRef idx="0">
            <a:schemeClr val="accent1"/>
          </a:fillRef>
          <a:effectRef idx="1">
            <a:schemeClr val="accent1"/>
          </a:effectRef>
          <a:fontRef idx="minor">
            <a:schemeClr val="tx1"/>
          </a:fontRef>
        </p:style>
      </p:cxnSp>
      <p:graphicFrame>
        <p:nvGraphicFramePr>
          <p:cNvPr id="12" name="表格 11">
            <a:extLst>
              <a:ext uri="{FF2B5EF4-FFF2-40B4-BE49-F238E27FC236}">
                <a16:creationId xmlns:a16="http://schemas.microsoft.com/office/drawing/2014/main" id="{38E9C39E-BCC1-1B06-8DD8-346C5FBC7907}"/>
              </a:ext>
            </a:extLst>
          </p:cNvPr>
          <p:cNvGraphicFramePr>
            <a:graphicFrameLocks noGrp="1"/>
          </p:cNvGraphicFramePr>
          <p:nvPr>
            <p:extLst>
              <p:ext uri="{D42A27DB-BD31-4B8C-83A1-F6EECF244321}">
                <p14:modId xmlns:p14="http://schemas.microsoft.com/office/powerpoint/2010/main" val="3443302307"/>
              </p:ext>
            </p:extLst>
          </p:nvPr>
        </p:nvGraphicFramePr>
        <p:xfrm>
          <a:off x="6117021" y="830936"/>
          <a:ext cx="6006588" cy="5864539"/>
        </p:xfrm>
        <a:graphic>
          <a:graphicData uri="http://schemas.openxmlformats.org/drawingml/2006/table">
            <a:tbl>
              <a:tblPr/>
              <a:tblGrid>
                <a:gridCol w="901759">
                  <a:extLst>
                    <a:ext uri="{9D8B030D-6E8A-4147-A177-3AD203B41FA5}">
                      <a16:colId xmlns:a16="http://schemas.microsoft.com/office/drawing/2014/main" val="515150070"/>
                    </a:ext>
                  </a:extLst>
                </a:gridCol>
                <a:gridCol w="1144558">
                  <a:extLst>
                    <a:ext uri="{9D8B030D-6E8A-4147-A177-3AD203B41FA5}">
                      <a16:colId xmlns:a16="http://schemas.microsoft.com/office/drawing/2014/main" val="371085300"/>
                    </a:ext>
                  </a:extLst>
                </a:gridCol>
                <a:gridCol w="2498236">
                  <a:extLst>
                    <a:ext uri="{9D8B030D-6E8A-4147-A177-3AD203B41FA5}">
                      <a16:colId xmlns:a16="http://schemas.microsoft.com/office/drawing/2014/main" val="1419090589"/>
                    </a:ext>
                  </a:extLst>
                </a:gridCol>
                <a:gridCol w="1462035">
                  <a:extLst>
                    <a:ext uri="{9D8B030D-6E8A-4147-A177-3AD203B41FA5}">
                      <a16:colId xmlns:a16="http://schemas.microsoft.com/office/drawing/2014/main" val="1227204644"/>
                    </a:ext>
                  </a:extLst>
                </a:gridCol>
              </a:tblGrid>
              <a:tr h="153403">
                <a:tc>
                  <a:txBody>
                    <a:bodyPr/>
                    <a:lstStyle/>
                    <a:p>
                      <a:r>
                        <a:rPr lang="zh-CN" altLang="en-US" sz="900" b="1">
                          <a:solidFill>
                            <a:srgbClr val="FFFFFF"/>
                          </a:solidFill>
                          <a:latin typeface="Arial" panose="020B0604020202020204" pitchFamily="34" charset="0"/>
                          <a:ea typeface="微软雅黑" panose="020B0503020204020204" pitchFamily="34" charset="-122"/>
                        </a:rPr>
                        <a:t>协同流程</a:t>
                      </a:r>
                    </a:p>
                  </a:txBody>
                  <a:tcPr marL="33809" marR="33809" marT="16905" marB="16905" anchor="ctr">
                    <a:lnL>
                      <a:noFill/>
                    </a:lnL>
                    <a:lnR>
                      <a:noFill/>
                    </a:lnR>
                    <a:lnT>
                      <a:solidFill>
                        <a:srgbClr val="1C3879"/>
                      </a:solidFill>
                      <a:prstDash val="solid"/>
                    </a:lnT>
                    <a:lnB w="9525" cap="flat" cmpd="sng" algn="ctr">
                      <a:solidFill>
                        <a:srgbClr val="1C3879"/>
                      </a:solidFill>
                      <a:prstDash val="solid"/>
                      <a:round/>
                      <a:headEnd type="none" w="med" len="med"/>
                      <a:tailEnd type="none" w="med" len="med"/>
                    </a:lnB>
                    <a:solidFill>
                      <a:srgbClr val="1C3879"/>
                    </a:solidFill>
                  </a:tcPr>
                </a:tc>
                <a:tc>
                  <a:txBody>
                    <a:bodyPr/>
                    <a:lstStyle/>
                    <a:p>
                      <a:r>
                        <a:rPr lang="zh-CN" altLang="en-US" sz="900" b="1" dirty="0">
                          <a:solidFill>
                            <a:srgbClr val="FFFFFF"/>
                          </a:solidFill>
                          <a:latin typeface="Arial" panose="020B0604020202020204" pitchFamily="34" charset="0"/>
                          <a:ea typeface="微软雅黑" panose="020B0503020204020204" pitchFamily="34" charset="-122"/>
                        </a:rPr>
                        <a:t>核心定位与原则</a:t>
                      </a:r>
                    </a:p>
                  </a:txBody>
                  <a:tcPr marL="33809" marR="33809" marT="16905" marB="16905" anchor="ctr">
                    <a:lnL>
                      <a:noFill/>
                    </a:lnL>
                    <a:lnR>
                      <a:noFill/>
                    </a:lnR>
                    <a:lnT>
                      <a:solidFill>
                        <a:srgbClr val="1C3879"/>
                      </a:solidFill>
                      <a:prstDash val="solid"/>
                    </a:lnT>
                    <a:lnB w="9525" cap="flat" cmpd="sng" algn="ctr">
                      <a:solidFill>
                        <a:srgbClr val="1C3879"/>
                      </a:solidFill>
                      <a:prstDash val="solid"/>
                      <a:round/>
                      <a:headEnd type="none" w="med" len="med"/>
                      <a:tailEnd type="none" w="med" len="med"/>
                    </a:lnB>
                    <a:solidFill>
                      <a:srgbClr val="1C3879"/>
                    </a:solidFill>
                  </a:tcPr>
                </a:tc>
                <a:tc>
                  <a:txBody>
                    <a:bodyPr/>
                    <a:lstStyle/>
                    <a:p>
                      <a:r>
                        <a:rPr lang="zh-CN" altLang="en-US" sz="900" b="1">
                          <a:solidFill>
                            <a:srgbClr val="FFFFFF"/>
                          </a:solidFill>
                          <a:latin typeface="Arial" panose="020B0604020202020204" pitchFamily="34" charset="0"/>
                          <a:ea typeface="微软雅黑" panose="020B0503020204020204" pitchFamily="34" charset="-122"/>
                        </a:rPr>
                        <a:t>关键计划能力详解</a:t>
                      </a:r>
                    </a:p>
                  </a:txBody>
                  <a:tcPr marL="33809" marR="33809" marT="16905" marB="16905" anchor="ctr">
                    <a:lnL>
                      <a:noFill/>
                    </a:lnL>
                    <a:lnR>
                      <a:noFill/>
                    </a:lnR>
                    <a:lnT>
                      <a:solidFill>
                        <a:srgbClr val="1C3879"/>
                      </a:solidFill>
                      <a:prstDash val="solid"/>
                    </a:lnT>
                    <a:lnB w="9525" cap="flat" cmpd="sng" algn="ctr">
                      <a:solidFill>
                        <a:srgbClr val="1C3879"/>
                      </a:solidFill>
                      <a:prstDash val="solid"/>
                      <a:round/>
                      <a:headEnd type="none" w="med" len="med"/>
                      <a:tailEnd type="none" w="med" len="med"/>
                    </a:lnB>
                    <a:solidFill>
                      <a:srgbClr val="1C3879"/>
                    </a:solidFill>
                  </a:tcPr>
                </a:tc>
                <a:tc>
                  <a:txBody>
                    <a:bodyPr/>
                    <a:lstStyle/>
                    <a:p>
                      <a:r>
                        <a:rPr lang="zh-CN" altLang="en-US" sz="900" b="1" i="0" dirty="0">
                          <a:solidFill>
                            <a:schemeClr val="bg1"/>
                          </a:solidFill>
                          <a:effectLst/>
                          <a:latin typeface="Arial" panose="020B0604020202020204" pitchFamily="34" charset="0"/>
                          <a:ea typeface="微软雅黑" panose="020B0503020204020204" pitchFamily="34" charset="-122"/>
                        </a:rPr>
                        <a:t>约束性指导与协同机制</a:t>
                      </a:r>
                      <a:endParaRPr lang="zh-CN" altLang="en-US" sz="900" b="1" dirty="0">
                        <a:solidFill>
                          <a:schemeClr val="bg1"/>
                        </a:solidFill>
                        <a:latin typeface="Arial" panose="020B0604020202020204" pitchFamily="34" charset="0"/>
                        <a:ea typeface="微软雅黑" panose="020B0503020204020204" pitchFamily="34" charset="-122"/>
                      </a:endParaRPr>
                    </a:p>
                  </a:txBody>
                  <a:tcPr marL="33809" marR="33809" marT="16905" marB="16905" anchor="ctr">
                    <a:lnL>
                      <a:noFill/>
                    </a:lnL>
                    <a:lnR>
                      <a:noFill/>
                    </a:lnR>
                    <a:lnT>
                      <a:solidFill>
                        <a:srgbClr val="1C3879"/>
                      </a:solidFill>
                      <a:prstDash val="solid"/>
                    </a:lnT>
                    <a:lnB w="9525" cap="flat" cmpd="sng" algn="ctr">
                      <a:solidFill>
                        <a:srgbClr val="1C3879"/>
                      </a:solidFill>
                      <a:prstDash val="solid"/>
                      <a:round/>
                      <a:headEnd type="none" w="med" len="med"/>
                      <a:tailEnd type="none" w="med" len="med"/>
                    </a:lnB>
                    <a:solidFill>
                      <a:srgbClr val="1C3879"/>
                    </a:solidFill>
                  </a:tcPr>
                </a:tc>
                <a:extLst>
                  <a:ext uri="{0D108BD9-81ED-4DB2-BD59-A6C34878D82A}">
                    <a16:rowId xmlns:a16="http://schemas.microsoft.com/office/drawing/2014/main" val="1547229273"/>
                  </a:ext>
                </a:extLst>
              </a:tr>
              <a:tr h="1698669">
                <a:tc>
                  <a:txBody>
                    <a:bodyPr/>
                    <a:lstStyle/>
                    <a:p>
                      <a:r>
                        <a:rPr lang="en-US" altLang="zh-CN" sz="900" b="1" i="0" dirty="0">
                          <a:effectLst/>
                          <a:latin typeface="Arial" panose="020B0604020202020204" pitchFamily="34" charset="0"/>
                          <a:ea typeface="微软雅黑" panose="020B0503020204020204" pitchFamily="34" charset="-122"/>
                        </a:rPr>
                        <a:t>IBP</a:t>
                      </a:r>
                      <a:br>
                        <a:rPr lang="en-US" altLang="zh-CN" sz="900" b="1" i="0" dirty="0">
                          <a:effectLst/>
                          <a:latin typeface="Arial" panose="020B0604020202020204" pitchFamily="34" charset="0"/>
                          <a:ea typeface="微软雅黑" panose="020B0503020204020204" pitchFamily="34" charset="-122"/>
                        </a:rPr>
                      </a:br>
                      <a:r>
                        <a:rPr lang="en-US" altLang="zh-CN" sz="900" b="1" i="0" dirty="0">
                          <a:effectLst/>
                          <a:latin typeface="Arial" panose="020B0604020202020204" pitchFamily="34" charset="0"/>
                          <a:ea typeface="微软雅黑" panose="020B0503020204020204" pitchFamily="34" charset="-122"/>
                        </a:rPr>
                        <a:t>(</a:t>
                      </a:r>
                      <a:r>
                        <a:rPr lang="zh-CN" altLang="en-US" sz="900" b="1" i="0" dirty="0">
                          <a:effectLst/>
                          <a:latin typeface="Arial" panose="020B0604020202020204" pitchFamily="34" charset="0"/>
                          <a:ea typeface="微软雅黑" panose="020B0503020204020204" pitchFamily="34" charset="-122"/>
                        </a:rPr>
                        <a:t>集成业务计划</a:t>
                      </a:r>
                      <a:r>
                        <a:rPr lang="en-US" altLang="zh-CN" sz="900" b="1" i="0" dirty="0">
                          <a:effectLst/>
                          <a:latin typeface="Arial" panose="020B0604020202020204" pitchFamily="34" charset="0"/>
                          <a:ea typeface="微软雅黑" panose="020B0503020204020204" pitchFamily="34" charset="-122"/>
                        </a:rPr>
                        <a:t>)</a:t>
                      </a:r>
                      <a:br>
                        <a:rPr lang="zh-CN" altLang="en-US" sz="900" dirty="0">
                          <a:latin typeface="Arial" panose="020B0604020202020204" pitchFamily="34" charset="0"/>
                          <a:ea typeface="微软雅黑" panose="020B0503020204020204" pitchFamily="34" charset="-122"/>
                        </a:rPr>
                      </a:br>
                      <a:r>
                        <a:rPr lang="zh-CN" altLang="en-US" sz="900" b="0" i="1" dirty="0">
                          <a:effectLst/>
                          <a:latin typeface="Arial" panose="020B0604020202020204" pitchFamily="34" charset="0"/>
                          <a:ea typeface="微软雅黑" panose="020B0503020204020204" pitchFamily="34" charset="-122"/>
                        </a:rPr>
                        <a:t>战略层</a:t>
                      </a:r>
                      <a:endParaRPr lang="zh-CN" altLang="en-US" sz="900" dirty="0">
                        <a:latin typeface="Arial" panose="020B0604020202020204" pitchFamily="34" charset="0"/>
                        <a:ea typeface="微软雅黑" panose="020B0503020204020204" pitchFamily="34" charset="-122"/>
                      </a:endParaRPr>
                    </a:p>
                  </a:txBody>
                  <a:tcPr anchor="ctr">
                    <a:lnL>
                      <a:noFill/>
                    </a:lnL>
                    <a:lnR>
                      <a:noFill/>
                    </a:lnR>
                    <a:lnT>
                      <a:solidFill>
                        <a:srgbClr val="1C3879"/>
                      </a:solidFill>
                      <a:prstDash val="solid"/>
                    </a:lnT>
                    <a:lnB>
                      <a:solidFill>
                        <a:srgbClr val="DDDDDD"/>
                      </a:solidFill>
                      <a:prstDash val="solid"/>
                    </a:lnB>
                    <a:solidFill>
                      <a:schemeClr val="accent1">
                        <a:lumMod val="20000"/>
                        <a:lumOff val="80000"/>
                      </a:schemeClr>
                    </a:solid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战略决策与资源预分配</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1" dirty="0">
                          <a:solidFill>
                            <a:schemeClr val="bg1"/>
                          </a:solidFill>
                          <a:effectLst/>
                          <a:latin typeface="Arial" panose="020B0604020202020204" pitchFamily="34" charset="0"/>
                          <a:ea typeface="微软雅黑" panose="020B0503020204020204" pitchFamily="34" charset="-122"/>
                        </a:rPr>
                        <a:t>原则：</a:t>
                      </a:r>
                      <a:r>
                        <a:rPr lang="zh-CN" altLang="en-US" sz="800" b="0" i="1" dirty="0">
                          <a:solidFill>
                            <a:schemeClr val="bg1"/>
                          </a:solidFill>
                          <a:effectLst/>
                          <a:latin typeface="Arial" panose="020B0604020202020204" pitchFamily="34" charset="0"/>
                          <a:ea typeface="微软雅黑" panose="020B0503020204020204" pitchFamily="34" charset="-122"/>
                        </a:rPr>
                        <a:t>基于公司战略目标达成共识。</a:t>
                      </a:r>
                      <a:endParaRPr lang="en-US" altLang="zh-CN" sz="800" b="0" i="1" dirty="0">
                        <a:solidFill>
                          <a:schemeClr val="bg1"/>
                        </a:solidFill>
                        <a:effectLst/>
                        <a:latin typeface="Arial" panose="020B0604020202020204" pitchFamily="34" charset="0"/>
                        <a:ea typeface="微软雅黑" panose="020B0503020204020204" pitchFamily="34" charset="-122"/>
                      </a:endParaRPr>
                    </a:p>
                    <a:p>
                      <a:pPr algn="l"/>
                      <a:r>
                        <a:rPr lang="zh-CN" altLang="en-US" sz="800" b="1" i="0" dirty="0">
                          <a:solidFill>
                            <a:schemeClr val="bg1"/>
                          </a:solidFill>
                          <a:effectLst/>
                          <a:latin typeface="Arial" panose="020B0604020202020204" pitchFamily="34" charset="0"/>
                          <a:ea typeface="微软雅黑" panose="020B0503020204020204" pitchFamily="34" charset="-122"/>
                        </a:rPr>
                        <a:t>焦点：</a:t>
                      </a:r>
                      <a:r>
                        <a:rPr lang="zh-CN" altLang="en-US" sz="800" b="0" i="0" dirty="0">
                          <a:solidFill>
                            <a:schemeClr val="bg1"/>
                          </a:solidFill>
                          <a:effectLst/>
                          <a:latin typeface="Arial" panose="020B0604020202020204" pitchFamily="34" charset="0"/>
                          <a:ea typeface="微软雅黑" panose="020B0503020204020204" pitchFamily="34" charset="-122"/>
                        </a:rPr>
                        <a:t> 未来</a:t>
                      </a:r>
                      <a:r>
                        <a:rPr lang="en-US" altLang="zh-CN" sz="800" b="0" i="0" dirty="0">
                          <a:solidFill>
                            <a:schemeClr val="bg1"/>
                          </a:solidFill>
                          <a:effectLst/>
                          <a:latin typeface="Arial" panose="020B0604020202020204" pitchFamily="34" charset="0"/>
                          <a:ea typeface="微软雅黑" panose="020B0503020204020204" pitchFamily="34" charset="-122"/>
                        </a:rPr>
                        <a:t>3-24</a:t>
                      </a:r>
                      <a:r>
                        <a:rPr lang="zh-CN" altLang="en-US" sz="800" b="0" i="0" dirty="0">
                          <a:solidFill>
                            <a:schemeClr val="bg1"/>
                          </a:solidFill>
                          <a:effectLst/>
                          <a:latin typeface="Arial" panose="020B0604020202020204" pitchFamily="34" charset="0"/>
                          <a:ea typeface="微软雅黑" panose="020B0503020204020204" pitchFamily="34" charset="-122"/>
                        </a:rPr>
                        <a:t>个月，产品族层面，月度循环。</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0" dirty="0">
                          <a:solidFill>
                            <a:schemeClr val="bg1"/>
                          </a:solidFill>
                          <a:effectLst/>
                          <a:latin typeface="Arial" panose="020B0604020202020204" pitchFamily="34" charset="0"/>
                          <a:ea typeface="微软雅黑" panose="020B0503020204020204" pitchFamily="34" charset="-122"/>
                        </a:rPr>
                        <a:t>核心要解决：</a:t>
                      </a:r>
                      <a:r>
                        <a:rPr lang="zh-CN" altLang="en-US" sz="800" b="0" i="0" dirty="0">
                          <a:solidFill>
                            <a:schemeClr val="bg1"/>
                          </a:solidFill>
                          <a:effectLst/>
                          <a:latin typeface="Arial" panose="020B0604020202020204" pitchFamily="34" charset="0"/>
                          <a:ea typeface="微软雅黑" panose="020B0503020204020204" pitchFamily="34" charset="-122"/>
                        </a:rPr>
                        <a:t> “做什么”才是对的</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1C3879"/>
                      </a:solidFill>
                      <a:prstDash val="solid"/>
                    </a:lnT>
                    <a:lnB>
                      <a:solidFill>
                        <a:srgbClr val="DDDDDD"/>
                      </a:solidFill>
                      <a:prstDash val="solid"/>
                    </a:lnB>
                    <a:noFill/>
                  </a:tcPr>
                </a:tc>
                <a:tc>
                  <a:txBody>
                    <a:bodyPr/>
                    <a:lstStyle/>
                    <a:p>
                      <a:pPr algn="l"/>
                      <a:r>
                        <a:rPr lang="en-US" altLang="zh-CN" sz="800" b="1" dirty="0">
                          <a:solidFill>
                            <a:schemeClr val="bg1"/>
                          </a:solidFill>
                          <a:latin typeface="Arial" panose="020B0604020202020204" pitchFamily="34" charset="0"/>
                          <a:ea typeface="微软雅黑" panose="020B0503020204020204" pitchFamily="34" charset="-122"/>
                        </a:rPr>
                        <a:t>1. </a:t>
                      </a:r>
                      <a:r>
                        <a:rPr lang="zh-CN" altLang="en-US" sz="800" b="1" dirty="0">
                          <a:solidFill>
                            <a:schemeClr val="bg1"/>
                          </a:solidFill>
                          <a:latin typeface="Arial" panose="020B0604020202020204" pitchFamily="34" charset="0"/>
                          <a:ea typeface="微软雅黑" panose="020B0503020204020204" pitchFamily="34" charset="-122"/>
                        </a:rPr>
                        <a:t>统计预测：</a:t>
                      </a:r>
                      <a:r>
                        <a:rPr lang="zh-CN" altLang="en-US" sz="800" dirty="0">
                          <a:solidFill>
                            <a:schemeClr val="bg1"/>
                          </a:solidFill>
                          <a:latin typeface="Arial" panose="020B0604020202020204" pitchFamily="34" charset="0"/>
                          <a:ea typeface="微软雅黑" panose="020B0503020204020204" pitchFamily="34" charset="-122"/>
                        </a:rPr>
                        <a:t> 基于历史数据与算法模型，生成客观的</a:t>
                      </a:r>
                      <a:r>
                        <a:rPr lang="zh-CN" altLang="en-US" sz="800" b="1" dirty="0">
                          <a:solidFill>
                            <a:schemeClr val="bg1"/>
                          </a:solidFill>
                          <a:latin typeface="Arial" panose="020B0604020202020204" pitchFamily="34" charset="0"/>
                          <a:ea typeface="微软雅黑" panose="020B0503020204020204" pitchFamily="34" charset="-122"/>
                        </a:rPr>
                        <a:t>需求基线</a:t>
                      </a:r>
                      <a:r>
                        <a:rPr lang="zh-CN" altLang="en-US" sz="800" dirty="0">
                          <a:solidFill>
                            <a:schemeClr val="bg1"/>
                          </a:solidFill>
                          <a:latin typeface="Arial" panose="020B0604020202020204" pitchFamily="34" charset="0"/>
                          <a:ea typeface="微软雅黑" panose="020B0503020204020204" pitchFamily="34" charset="-122"/>
                        </a:rPr>
                        <a:t>。</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1" dirty="0">
                          <a:solidFill>
                            <a:schemeClr val="bg1"/>
                          </a:solidFill>
                          <a:latin typeface="Arial" panose="020B0604020202020204" pitchFamily="34" charset="0"/>
                          <a:ea typeface="微软雅黑" panose="020B0503020204020204" pitchFamily="34" charset="-122"/>
                        </a:rPr>
                        <a:t>2. </a:t>
                      </a:r>
                      <a:r>
                        <a:rPr lang="zh-CN" altLang="en-US" sz="800" b="1" dirty="0">
                          <a:solidFill>
                            <a:schemeClr val="bg1"/>
                          </a:solidFill>
                          <a:latin typeface="Arial" panose="020B0604020202020204" pitchFamily="34" charset="0"/>
                          <a:ea typeface="微软雅黑" panose="020B0503020204020204" pitchFamily="34" charset="-122"/>
                        </a:rPr>
                        <a:t>预测分解：</a:t>
                      </a:r>
                      <a:r>
                        <a:rPr lang="zh-CN" altLang="en-US" sz="800" dirty="0">
                          <a:solidFill>
                            <a:schemeClr val="bg1"/>
                          </a:solidFill>
                          <a:latin typeface="Arial" panose="020B0604020202020204" pitchFamily="34" charset="0"/>
                          <a:ea typeface="微软雅黑" panose="020B0503020204020204" pitchFamily="34" charset="-122"/>
                        </a:rPr>
                        <a:t> 将财务、市场等职能的宏观预测，</a:t>
                      </a:r>
                      <a:r>
                        <a:rPr lang="zh-CN" altLang="en-US" sz="800" b="1" dirty="0">
                          <a:solidFill>
                            <a:schemeClr val="bg1"/>
                          </a:solidFill>
                          <a:latin typeface="Arial" panose="020B0604020202020204" pitchFamily="34" charset="0"/>
                          <a:ea typeface="微软雅黑" panose="020B0503020204020204" pitchFamily="34" charset="-122"/>
                        </a:rPr>
                        <a:t>分解</a:t>
                      </a:r>
                      <a:r>
                        <a:rPr lang="zh-CN" altLang="en-US" sz="800" dirty="0">
                          <a:solidFill>
                            <a:schemeClr val="bg1"/>
                          </a:solidFill>
                          <a:latin typeface="Arial" panose="020B0604020202020204" pitchFamily="34" charset="0"/>
                          <a:ea typeface="微软雅黑" panose="020B0503020204020204" pitchFamily="34" charset="-122"/>
                        </a:rPr>
                        <a:t>至与统计预测相同的详细层级。</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1" dirty="0">
                          <a:solidFill>
                            <a:schemeClr val="bg1"/>
                          </a:solidFill>
                          <a:latin typeface="Arial" panose="020B0604020202020204" pitchFamily="34" charset="0"/>
                          <a:ea typeface="微软雅黑" panose="020B0503020204020204" pitchFamily="34" charset="-122"/>
                        </a:rPr>
                        <a:t>3. </a:t>
                      </a:r>
                      <a:r>
                        <a:rPr lang="zh-CN" altLang="en-US" sz="800" b="1" dirty="0">
                          <a:solidFill>
                            <a:schemeClr val="bg1"/>
                          </a:solidFill>
                          <a:latin typeface="Arial" panose="020B0604020202020204" pitchFamily="34" charset="0"/>
                          <a:ea typeface="微软雅黑" panose="020B0503020204020204" pitchFamily="34" charset="-122"/>
                        </a:rPr>
                        <a:t>共识预测：</a:t>
                      </a:r>
                      <a:r>
                        <a:rPr lang="zh-CN" altLang="en-US" sz="800" dirty="0">
                          <a:solidFill>
                            <a:schemeClr val="bg1"/>
                          </a:solidFill>
                          <a:latin typeface="Arial" panose="020B0604020202020204" pitchFamily="34" charset="0"/>
                          <a:ea typeface="微软雅黑" panose="020B0503020204020204" pitchFamily="34" charset="-122"/>
                        </a:rPr>
                        <a:t> 将统计预测与各职能预测进行</a:t>
                      </a:r>
                      <a:r>
                        <a:rPr lang="zh-CN" altLang="en-US" sz="800" b="1" dirty="0">
                          <a:solidFill>
                            <a:schemeClr val="bg1"/>
                          </a:solidFill>
                          <a:latin typeface="Arial" panose="020B0604020202020204" pitchFamily="34" charset="0"/>
                          <a:ea typeface="微软雅黑" panose="020B0503020204020204" pitchFamily="34" charset="-122"/>
                        </a:rPr>
                        <a:t>加权合并</a:t>
                      </a:r>
                      <a:r>
                        <a:rPr lang="zh-CN" altLang="en-US" sz="800" dirty="0">
                          <a:solidFill>
                            <a:schemeClr val="bg1"/>
                          </a:solidFill>
                          <a:latin typeface="Arial" panose="020B0604020202020204" pitchFamily="34" charset="0"/>
                          <a:ea typeface="微软雅黑" panose="020B0503020204020204" pitchFamily="34" charset="-122"/>
                        </a:rPr>
                        <a:t>，形成一套跨部门认可的、统一的未来需求视图。</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1" dirty="0">
                          <a:solidFill>
                            <a:schemeClr val="bg1"/>
                          </a:solidFill>
                          <a:latin typeface="Arial" panose="020B0604020202020204" pitchFamily="34" charset="0"/>
                          <a:ea typeface="微软雅黑" panose="020B0503020204020204" pitchFamily="34" charset="-122"/>
                        </a:rPr>
                        <a:t>4. </a:t>
                      </a:r>
                      <a:r>
                        <a:rPr lang="zh-CN" altLang="en-US" sz="800" b="1" dirty="0">
                          <a:solidFill>
                            <a:schemeClr val="bg1"/>
                          </a:solidFill>
                          <a:latin typeface="Arial" panose="020B0604020202020204" pitchFamily="34" charset="0"/>
                          <a:ea typeface="微软雅黑" panose="020B0503020204020204" pitchFamily="34" charset="-122"/>
                        </a:rPr>
                        <a:t>需求塑造：</a:t>
                      </a:r>
                      <a:r>
                        <a:rPr lang="zh-CN" altLang="en-US" sz="800" dirty="0">
                          <a:solidFill>
                            <a:schemeClr val="bg1"/>
                          </a:solidFill>
                          <a:latin typeface="Arial" panose="020B0604020202020204" pitchFamily="34" charset="0"/>
                          <a:ea typeface="微软雅黑" panose="020B0503020204020204" pitchFamily="34" charset="-122"/>
                        </a:rPr>
                        <a:t> 基于市场情报（如新品、促销），对共识预测进行</a:t>
                      </a:r>
                      <a:r>
                        <a:rPr lang="zh-CN" altLang="en-US" sz="800" b="1" dirty="0">
                          <a:solidFill>
                            <a:schemeClr val="bg1"/>
                          </a:solidFill>
                          <a:latin typeface="Arial" panose="020B0604020202020204" pitchFamily="34" charset="0"/>
                          <a:ea typeface="微软雅黑" panose="020B0503020204020204" pitchFamily="34" charset="-122"/>
                        </a:rPr>
                        <a:t>人工调整与干预</a:t>
                      </a:r>
                      <a:r>
                        <a:rPr lang="zh-CN" altLang="en-US" sz="800" dirty="0">
                          <a:solidFill>
                            <a:schemeClr val="bg1"/>
                          </a:solidFill>
                          <a:latin typeface="Arial" panose="020B0604020202020204" pitchFamily="34" charset="0"/>
                          <a:ea typeface="微软雅黑" panose="020B0503020204020204" pitchFamily="34" charset="-122"/>
                        </a:rPr>
                        <a:t>，以主动影响需求。</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1" dirty="0">
                          <a:solidFill>
                            <a:schemeClr val="bg1"/>
                          </a:solidFill>
                          <a:latin typeface="Arial" panose="020B0604020202020204" pitchFamily="34" charset="0"/>
                          <a:ea typeface="微软雅黑" panose="020B0503020204020204" pitchFamily="34" charset="-122"/>
                        </a:rPr>
                        <a:t>5. </a:t>
                      </a:r>
                      <a:r>
                        <a:rPr lang="zh-CN" altLang="en-US" sz="800" b="1" dirty="0">
                          <a:solidFill>
                            <a:schemeClr val="bg1"/>
                          </a:solidFill>
                          <a:latin typeface="Arial" panose="020B0604020202020204" pitchFamily="34" charset="0"/>
                          <a:ea typeface="微软雅黑" panose="020B0503020204020204" pitchFamily="34" charset="-122"/>
                        </a:rPr>
                        <a:t>财务集成：</a:t>
                      </a:r>
                      <a:r>
                        <a:rPr lang="zh-CN" altLang="en-US" sz="800" dirty="0">
                          <a:solidFill>
                            <a:schemeClr val="bg1"/>
                          </a:solidFill>
                          <a:latin typeface="Arial" panose="020B0604020202020204" pitchFamily="34" charset="0"/>
                          <a:ea typeface="微软雅黑" panose="020B0503020204020204" pitchFamily="34" charset="-122"/>
                        </a:rPr>
                        <a:t> 将运营计划转化为财务计划，评估可行性并进行情景模拟。</a:t>
                      </a:r>
                    </a:p>
                  </a:txBody>
                  <a:tcPr anchor="ctr">
                    <a:lnL>
                      <a:noFill/>
                    </a:lnL>
                    <a:lnR>
                      <a:noFill/>
                    </a:lnR>
                    <a:lnT>
                      <a:solidFill>
                        <a:srgbClr val="1C3879"/>
                      </a:solidFill>
                      <a:prstDash val="solid"/>
                    </a:lnT>
                    <a:lnB>
                      <a:solidFill>
                        <a:srgbClr val="DDDDDD"/>
                      </a:solidFill>
                      <a:prstDash val="solid"/>
                    </a:lnB>
                    <a:no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对</a:t>
                      </a:r>
                      <a:r>
                        <a:rPr lang="en-US" altLang="zh-CN" sz="800" b="1" i="0" dirty="0">
                          <a:solidFill>
                            <a:schemeClr val="bg1"/>
                          </a:solidFill>
                          <a:effectLst/>
                          <a:latin typeface="Arial" panose="020B0604020202020204" pitchFamily="34" charset="0"/>
                          <a:ea typeface="微软雅黑" panose="020B0503020204020204" pitchFamily="34" charset="-122"/>
                        </a:rPr>
                        <a:t>ITP</a:t>
                      </a:r>
                      <a:r>
                        <a:rPr lang="zh-CN" altLang="en-US" sz="800" b="1" i="0" dirty="0">
                          <a:solidFill>
                            <a:schemeClr val="bg1"/>
                          </a:solidFill>
                          <a:effectLst/>
                          <a:latin typeface="Arial" panose="020B0604020202020204" pitchFamily="34" charset="0"/>
                          <a:ea typeface="微软雅黑" panose="020B0503020204020204" pitchFamily="34" charset="-122"/>
                        </a:rPr>
                        <a:t>的约束性指导：</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刚性约束（边界）：</a:t>
                      </a:r>
                      <a:r>
                        <a:rPr lang="zh-CN" altLang="en-US" sz="800" b="0" i="0" dirty="0">
                          <a:solidFill>
                            <a:schemeClr val="bg1"/>
                          </a:solidFill>
                          <a:effectLst/>
                          <a:latin typeface="Arial" panose="020B0604020202020204" pitchFamily="34" charset="0"/>
                          <a:ea typeface="微软雅黑" panose="020B0503020204020204" pitchFamily="34" charset="-122"/>
                        </a:rPr>
                        <a:t> </a:t>
                      </a:r>
                      <a:r>
                        <a:rPr lang="en-US" altLang="zh-CN" sz="800" b="0" i="0" dirty="0">
                          <a:solidFill>
                            <a:schemeClr val="bg1"/>
                          </a:solidFill>
                          <a:effectLst/>
                          <a:latin typeface="Arial" panose="020B0604020202020204" pitchFamily="34" charset="0"/>
                          <a:ea typeface="微软雅黑" panose="020B0503020204020204" pitchFamily="34" charset="-122"/>
                        </a:rPr>
                        <a:t>IBP</a:t>
                      </a:r>
                      <a:r>
                        <a:rPr lang="zh-CN" altLang="en-US" sz="800" b="0" i="0" dirty="0">
                          <a:solidFill>
                            <a:schemeClr val="bg1"/>
                          </a:solidFill>
                          <a:effectLst/>
                          <a:latin typeface="Arial" panose="020B0604020202020204" pitchFamily="34" charset="0"/>
                          <a:ea typeface="微软雅黑" panose="020B0503020204020204" pitchFamily="34" charset="-122"/>
                        </a:rPr>
                        <a:t>批准的</a:t>
                      </a:r>
                      <a:r>
                        <a:rPr lang="zh-CN" altLang="en-US" sz="800" b="1" i="0" dirty="0">
                          <a:solidFill>
                            <a:schemeClr val="bg1"/>
                          </a:solidFill>
                          <a:effectLst/>
                          <a:latin typeface="Arial" panose="020B0604020202020204" pitchFamily="34" charset="0"/>
                          <a:ea typeface="微软雅黑" panose="020B0503020204020204" pitchFamily="34" charset="-122"/>
                        </a:rPr>
                        <a:t>总体资源预算</a:t>
                      </a:r>
                      <a:r>
                        <a:rPr lang="zh-CN" altLang="en-US" sz="800" b="0" i="0" dirty="0">
                          <a:solidFill>
                            <a:schemeClr val="bg1"/>
                          </a:solidFill>
                          <a:effectLst/>
                          <a:latin typeface="Arial" panose="020B0604020202020204" pitchFamily="34" charset="0"/>
                          <a:ea typeface="微软雅黑" panose="020B0503020204020204" pitchFamily="34" charset="-122"/>
                        </a:rPr>
                        <a:t>和</a:t>
                      </a:r>
                      <a:r>
                        <a:rPr lang="zh-CN" altLang="en-US" sz="800" b="1" i="0" dirty="0">
                          <a:solidFill>
                            <a:schemeClr val="bg1"/>
                          </a:solidFill>
                          <a:effectLst/>
                          <a:latin typeface="Arial" panose="020B0604020202020204" pitchFamily="34" charset="0"/>
                          <a:ea typeface="微软雅黑" panose="020B0503020204020204" pitchFamily="34" charset="-122"/>
                        </a:rPr>
                        <a:t>关键产能</a:t>
                      </a:r>
                      <a:r>
                        <a:rPr lang="en-US" altLang="zh-CN" sz="800" b="1" i="0" dirty="0">
                          <a:solidFill>
                            <a:schemeClr val="bg1"/>
                          </a:solidFill>
                          <a:effectLst/>
                          <a:latin typeface="Arial" panose="020B0604020202020204" pitchFamily="34" charset="0"/>
                          <a:ea typeface="微软雅黑" panose="020B0503020204020204" pitchFamily="34" charset="-122"/>
                        </a:rPr>
                        <a:t>/</a:t>
                      </a:r>
                      <a:r>
                        <a:rPr lang="zh-CN" altLang="en-US" sz="800" b="1" i="0" dirty="0">
                          <a:solidFill>
                            <a:schemeClr val="bg1"/>
                          </a:solidFill>
                          <a:effectLst/>
                          <a:latin typeface="Arial" panose="020B0604020202020204" pitchFamily="34" charset="0"/>
                          <a:ea typeface="微软雅黑" panose="020B0503020204020204" pitchFamily="34" charset="-122"/>
                        </a:rPr>
                        <a:t>物料的总量上限</a:t>
                      </a:r>
                      <a:r>
                        <a:rPr lang="zh-CN" altLang="en-US" sz="800" b="0" i="0" dirty="0">
                          <a:solidFill>
                            <a:schemeClr val="bg1"/>
                          </a:solidFill>
                          <a:effectLst/>
                          <a:latin typeface="Arial" panose="020B0604020202020204" pitchFamily="34" charset="0"/>
                          <a:ea typeface="微软雅黑" panose="020B0503020204020204" pitchFamily="34" charset="-122"/>
                        </a:rPr>
                        <a:t>是</a:t>
                      </a:r>
                      <a:r>
                        <a:rPr lang="en-US" altLang="zh-CN" sz="800" b="0" i="0" dirty="0">
                          <a:solidFill>
                            <a:schemeClr val="bg1"/>
                          </a:solidFill>
                          <a:effectLst/>
                          <a:latin typeface="Arial" panose="020B0604020202020204" pitchFamily="34" charset="0"/>
                          <a:ea typeface="微软雅黑" panose="020B0503020204020204" pitchFamily="34" charset="-122"/>
                        </a:rPr>
                        <a:t>ITP</a:t>
                      </a:r>
                      <a:r>
                        <a:rPr lang="zh-CN" altLang="en-US" sz="800" b="0" i="0" dirty="0">
                          <a:solidFill>
                            <a:schemeClr val="bg1"/>
                          </a:solidFill>
                          <a:effectLst/>
                          <a:latin typeface="Arial" panose="020B0604020202020204" pitchFamily="34" charset="0"/>
                          <a:ea typeface="微软雅黑" panose="020B0503020204020204" pitchFamily="34" charset="-122"/>
                        </a:rPr>
                        <a:t>不能逾越的硬边界。对</a:t>
                      </a:r>
                      <a:r>
                        <a:rPr lang="zh-CN" altLang="en-US" sz="800" b="1" i="0" dirty="0">
                          <a:solidFill>
                            <a:schemeClr val="bg1"/>
                          </a:solidFill>
                          <a:effectLst/>
                          <a:latin typeface="Arial" panose="020B0604020202020204" pitchFamily="34" charset="0"/>
                          <a:ea typeface="微软雅黑" panose="020B0503020204020204" pitchFamily="34" charset="-122"/>
                        </a:rPr>
                        <a:t>战略优先级</a:t>
                      </a:r>
                      <a:r>
                        <a:rPr lang="zh-CN" altLang="en-US" sz="800" b="0" i="0" dirty="0">
                          <a:solidFill>
                            <a:schemeClr val="bg1"/>
                          </a:solidFill>
                          <a:effectLst/>
                          <a:latin typeface="Arial" panose="020B0604020202020204" pitchFamily="34" charset="0"/>
                          <a:ea typeface="微软雅黑" panose="020B0503020204020204" pitchFamily="34" charset="-122"/>
                        </a:rPr>
                        <a:t>（如核心客户、明星产品）的界定是刚性的。</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柔性指导（空间）：</a:t>
                      </a:r>
                      <a:r>
                        <a:rPr lang="zh-CN" altLang="en-US" sz="800" b="0" i="0" dirty="0">
                          <a:solidFill>
                            <a:schemeClr val="bg1"/>
                          </a:solidFill>
                          <a:effectLst/>
                          <a:latin typeface="Arial" panose="020B0604020202020204" pitchFamily="34" charset="0"/>
                          <a:ea typeface="微软雅黑" panose="020B0503020204020204" pitchFamily="34" charset="-122"/>
                        </a:rPr>
                        <a:t> </a:t>
                      </a:r>
                      <a:r>
                        <a:rPr lang="en-US" altLang="zh-CN" sz="800" b="0" i="0" dirty="0">
                          <a:solidFill>
                            <a:schemeClr val="bg1"/>
                          </a:solidFill>
                          <a:effectLst/>
                          <a:latin typeface="Arial" panose="020B0604020202020204" pitchFamily="34" charset="0"/>
                          <a:ea typeface="微软雅黑" panose="020B0503020204020204" pitchFamily="34" charset="-122"/>
                        </a:rPr>
                        <a:t>IBP</a:t>
                      </a:r>
                      <a:r>
                        <a:rPr lang="zh-CN" altLang="en-US" sz="800" b="0" i="0" dirty="0">
                          <a:solidFill>
                            <a:schemeClr val="bg1"/>
                          </a:solidFill>
                          <a:effectLst/>
                          <a:latin typeface="Arial" panose="020B0604020202020204" pitchFamily="34" charset="0"/>
                          <a:ea typeface="微软雅黑" panose="020B0503020204020204" pitchFamily="34" charset="-122"/>
                        </a:rPr>
                        <a:t>输出的是</a:t>
                      </a:r>
                      <a:r>
                        <a:rPr lang="zh-CN" altLang="en-US" sz="800" b="1" i="0" dirty="0">
                          <a:solidFill>
                            <a:schemeClr val="bg1"/>
                          </a:solidFill>
                          <a:effectLst/>
                          <a:latin typeface="Arial" panose="020B0604020202020204" pitchFamily="34" charset="0"/>
                          <a:ea typeface="微软雅黑" panose="020B0503020204020204" pitchFamily="34" charset="-122"/>
                        </a:rPr>
                        <a:t>月度</a:t>
                      </a:r>
                      <a:r>
                        <a:rPr lang="zh-CN" altLang="en-US" sz="800" b="0" i="0" dirty="0">
                          <a:solidFill>
                            <a:schemeClr val="bg1"/>
                          </a:solidFill>
                          <a:effectLst/>
                          <a:latin typeface="Arial" panose="020B0604020202020204" pitchFamily="34" charset="0"/>
                          <a:ea typeface="微软雅黑" panose="020B0503020204020204" pitchFamily="34" charset="-122"/>
                        </a:rPr>
                        <a:t>计划，为</a:t>
                      </a:r>
                      <a:r>
                        <a:rPr lang="en-US" altLang="zh-CN" sz="800" b="0" i="0" dirty="0">
                          <a:solidFill>
                            <a:schemeClr val="bg1"/>
                          </a:solidFill>
                          <a:effectLst/>
                          <a:latin typeface="Arial" panose="020B0604020202020204" pitchFamily="34" charset="0"/>
                          <a:ea typeface="微软雅黑" panose="020B0503020204020204" pitchFamily="34" charset="-122"/>
                        </a:rPr>
                        <a:t>ITP</a:t>
                      </a:r>
                      <a:r>
                        <a:rPr lang="zh-CN" altLang="en-US" sz="800" b="0" i="0" dirty="0">
                          <a:solidFill>
                            <a:schemeClr val="bg1"/>
                          </a:solidFill>
                          <a:effectLst/>
                          <a:latin typeface="Arial" panose="020B0604020202020204" pitchFamily="34" charset="0"/>
                          <a:ea typeface="微软雅黑" panose="020B0503020204020204" pitchFamily="34" charset="-122"/>
                        </a:rPr>
                        <a:t>在月内进行</a:t>
                      </a:r>
                      <a:r>
                        <a:rPr lang="zh-CN" altLang="en-US" sz="800" b="1" i="0" dirty="0">
                          <a:solidFill>
                            <a:schemeClr val="bg1"/>
                          </a:solidFill>
                          <a:effectLst/>
                          <a:latin typeface="Arial" panose="020B0604020202020204" pitchFamily="34" charset="0"/>
                          <a:ea typeface="微软雅黑" panose="020B0503020204020204" pitchFamily="34" charset="-122"/>
                        </a:rPr>
                        <a:t>周度</a:t>
                      </a:r>
                      <a:r>
                        <a:rPr lang="zh-CN" altLang="en-US" sz="800" b="0" i="0" dirty="0">
                          <a:solidFill>
                            <a:schemeClr val="bg1"/>
                          </a:solidFill>
                          <a:effectLst/>
                          <a:latin typeface="Arial" panose="020B0604020202020204" pitchFamily="34" charset="0"/>
                          <a:ea typeface="微软雅黑" panose="020B0503020204020204" pitchFamily="34" charset="-122"/>
                        </a:rPr>
                        <a:t>级别的资源调配和优化留出了空间。它提供的是方向性框架，而非具体执行细节。</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1C3879"/>
                      </a:solidFill>
                      <a:prstDash val="solid"/>
                    </a:lnT>
                    <a:lnB>
                      <a:solidFill>
                        <a:srgbClr val="DDDDDD"/>
                      </a:solidFill>
                      <a:prstDash val="solid"/>
                    </a:lnB>
                    <a:noFill/>
                  </a:tcPr>
                </a:tc>
                <a:extLst>
                  <a:ext uri="{0D108BD9-81ED-4DB2-BD59-A6C34878D82A}">
                    <a16:rowId xmlns:a16="http://schemas.microsoft.com/office/drawing/2014/main" val="852617972"/>
                  </a:ext>
                </a:extLst>
              </a:tr>
              <a:tr h="2127954">
                <a:tc>
                  <a:txBody>
                    <a:bodyPr/>
                    <a:lstStyle/>
                    <a:p>
                      <a:r>
                        <a:rPr lang="en-US" altLang="zh-CN" sz="900" b="1" i="0" dirty="0">
                          <a:effectLst/>
                          <a:latin typeface="Arial" panose="020B0604020202020204" pitchFamily="34" charset="0"/>
                          <a:ea typeface="微软雅黑" panose="020B0503020204020204" pitchFamily="34" charset="-122"/>
                        </a:rPr>
                        <a:t>ITP</a:t>
                      </a:r>
                      <a:br>
                        <a:rPr lang="en-US" altLang="zh-CN" sz="900" b="1" i="0" dirty="0">
                          <a:effectLst/>
                          <a:latin typeface="Arial" panose="020B0604020202020204" pitchFamily="34" charset="0"/>
                          <a:ea typeface="微软雅黑" panose="020B0503020204020204" pitchFamily="34" charset="-122"/>
                        </a:rPr>
                      </a:br>
                      <a:r>
                        <a:rPr lang="en-US" altLang="zh-CN" sz="900" b="1" i="0" dirty="0">
                          <a:effectLst/>
                          <a:latin typeface="Arial" panose="020B0604020202020204" pitchFamily="34" charset="0"/>
                          <a:ea typeface="微软雅黑" panose="020B0503020204020204" pitchFamily="34" charset="-122"/>
                        </a:rPr>
                        <a:t>(</a:t>
                      </a:r>
                      <a:r>
                        <a:rPr lang="zh-CN" altLang="en-US" sz="900" b="1" i="0" dirty="0">
                          <a:effectLst/>
                          <a:latin typeface="Arial" panose="020B0604020202020204" pitchFamily="34" charset="0"/>
                          <a:ea typeface="微软雅黑" panose="020B0503020204020204" pitchFamily="34" charset="-122"/>
                        </a:rPr>
                        <a:t>集成战术计划</a:t>
                      </a:r>
                      <a:r>
                        <a:rPr lang="en-US" altLang="zh-CN" sz="900" b="1" i="0" dirty="0">
                          <a:effectLst/>
                          <a:latin typeface="Arial" panose="020B0604020202020204" pitchFamily="34" charset="0"/>
                          <a:ea typeface="微软雅黑" panose="020B0503020204020204" pitchFamily="34" charset="-122"/>
                        </a:rPr>
                        <a:t>)</a:t>
                      </a:r>
                      <a:br>
                        <a:rPr lang="zh-CN" altLang="en-US" sz="900" dirty="0">
                          <a:latin typeface="Arial" panose="020B0604020202020204" pitchFamily="34" charset="0"/>
                          <a:ea typeface="微软雅黑" panose="020B0503020204020204" pitchFamily="34" charset="-122"/>
                        </a:rPr>
                      </a:br>
                      <a:r>
                        <a:rPr lang="zh-CN" altLang="en-US" sz="900" b="0" i="1" dirty="0">
                          <a:effectLst/>
                          <a:latin typeface="Arial" panose="020B0604020202020204" pitchFamily="34" charset="0"/>
                          <a:ea typeface="微软雅黑" panose="020B0503020204020204" pitchFamily="34" charset="-122"/>
                        </a:rPr>
                        <a:t>战术层</a:t>
                      </a:r>
                      <a:endParaRPr lang="zh-CN" altLang="en-US" sz="900" dirty="0">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DDDDDD"/>
                      </a:solidFill>
                      <a:prstDash val="solid"/>
                    </a:lnB>
                    <a:solidFill>
                      <a:schemeClr val="accent1">
                        <a:lumMod val="40000"/>
                        <a:lumOff val="60000"/>
                      </a:schemeClr>
                    </a:solid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供需冲突化解与资源分配</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1" dirty="0">
                          <a:solidFill>
                            <a:schemeClr val="bg1"/>
                          </a:solidFill>
                          <a:effectLst/>
                          <a:latin typeface="Arial" panose="020B0604020202020204" pitchFamily="34" charset="0"/>
                          <a:ea typeface="微软雅黑" panose="020B0503020204020204" pitchFamily="34" charset="-122"/>
                        </a:rPr>
                        <a:t>原则：</a:t>
                      </a:r>
                      <a:r>
                        <a:rPr lang="zh-CN" altLang="en-US" sz="800" b="0" i="1" dirty="0">
                          <a:solidFill>
                            <a:schemeClr val="bg1"/>
                          </a:solidFill>
                          <a:effectLst/>
                          <a:latin typeface="Arial" panose="020B0604020202020204" pitchFamily="34" charset="0"/>
                          <a:ea typeface="微软雅黑" panose="020B0503020204020204" pitchFamily="34" charset="-122"/>
                        </a:rPr>
                        <a:t>战略优先，公平公正</a:t>
                      </a:r>
                      <a:endParaRPr lang="en-US" altLang="zh-CN" sz="800" b="0" i="1" dirty="0">
                        <a:solidFill>
                          <a:schemeClr val="bg1"/>
                        </a:solidFill>
                        <a:effectLst/>
                        <a:latin typeface="Arial" panose="020B0604020202020204" pitchFamily="34" charset="0"/>
                        <a:ea typeface="微软雅黑" panose="020B0503020204020204" pitchFamily="34" charset="-122"/>
                      </a:endParaRPr>
                    </a:p>
                    <a:p>
                      <a:pPr algn="l"/>
                      <a:r>
                        <a:rPr lang="zh-CN" altLang="en-US" sz="800" b="1" i="0" dirty="0">
                          <a:solidFill>
                            <a:schemeClr val="bg1"/>
                          </a:solidFill>
                          <a:effectLst/>
                          <a:latin typeface="Arial" panose="020B0604020202020204" pitchFamily="34" charset="0"/>
                          <a:ea typeface="微软雅黑" panose="020B0503020204020204" pitchFamily="34" charset="-122"/>
                        </a:rPr>
                        <a:t>焦点：</a:t>
                      </a:r>
                      <a:r>
                        <a:rPr lang="zh-CN" altLang="en-US" sz="800" b="0" i="0" dirty="0">
                          <a:solidFill>
                            <a:schemeClr val="bg1"/>
                          </a:solidFill>
                          <a:effectLst/>
                          <a:latin typeface="Arial" panose="020B0604020202020204" pitchFamily="34" charset="0"/>
                          <a:ea typeface="微软雅黑" panose="020B0503020204020204" pitchFamily="34" charset="-122"/>
                        </a:rPr>
                        <a:t> 未来</a:t>
                      </a:r>
                      <a:r>
                        <a:rPr lang="en-US" altLang="zh-CN" sz="800" b="0" i="0" dirty="0">
                          <a:solidFill>
                            <a:schemeClr val="bg1"/>
                          </a:solidFill>
                          <a:effectLst/>
                          <a:latin typeface="Arial" panose="020B0604020202020204" pitchFamily="34" charset="0"/>
                          <a:ea typeface="微软雅黑" panose="020B0503020204020204" pitchFamily="34" charset="-122"/>
                        </a:rPr>
                        <a:t>0-13</a:t>
                      </a:r>
                      <a:r>
                        <a:rPr lang="zh-CN" altLang="en-US" sz="800" b="0" i="0" dirty="0">
                          <a:solidFill>
                            <a:schemeClr val="bg1"/>
                          </a:solidFill>
                          <a:effectLst/>
                          <a:latin typeface="Arial" panose="020B0604020202020204" pitchFamily="34" charset="0"/>
                          <a:ea typeface="微软雅黑" panose="020B0503020204020204" pitchFamily="34" charset="-122"/>
                        </a:rPr>
                        <a:t>周，单品（</a:t>
                      </a:r>
                      <a:r>
                        <a:rPr lang="en-US" altLang="zh-CN" sz="800" b="0" i="0" dirty="0">
                          <a:solidFill>
                            <a:schemeClr val="bg1"/>
                          </a:solidFill>
                          <a:effectLst/>
                          <a:latin typeface="Arial" panose="020B0604020202020204" pitchFamily="34" charset="0"/>
                          <a:ea typeface="微软雅黑" panose="020B0503020204020204" pitchFamily="34" charset="-122"/>
                        </a:rPr>
                        <a:t>SKU</a:t>
                      </a:r>
                      <a:r>
                        <a:rPr lang="zh-CN" altLang="en-US" sz="800" b="0" i="0" dirty="0">
                          <a:solidFill>
                            <a:schemeClr val="bg1"/>
                          </a:solidFill>
                          <a:effectLst/>
                          <a:latin typeface="Arial" panose="020B0604020202020204" pitchFamily="34" charset="0"/>
                          <a:ea typeface="微软雅黑" panose="020B0503020204020204" pitchFamily="34" charset="-122"/>
                        </a:rPr>
                        <a:t>）层面，周度循环。</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0" dirty="0">
                          <a:solidFill>
                            <a:schemeClr val="bg1"/>
                          </a:solidFill>
                          <a:effectLst/>
                          <a:latin typeface="Arial" panose="020B0604020202020204" pitchFamily="34" charset="0"/>
                          <a:ea typeface="微软雅黑" panose="020B0503020204020204" pitchFamily="34" charset="-122"/>
                        </a:rPr>
                        <a:t>核心要解决：</a:t>
                      </a:r>
                      <a:r>
                        <a:rPr lang="zh-CN" altLang="en-US" sz="800" b="0" i="0" dirty="0">
                          <a:solidFill>
                            <a:schemeClr val="bg1"/>
                          </a:solidFill>
                          <a:effectLst/>
                          <a:latin typeface="Arial" panose="020B0604020202020204" pitchFamily="34" charset="0"/>
                          <a:ea typeface="微软雅黑" panose="020B0503020204020204" pitchFamily="34" charset="-122"/>
                        </a:rPr>
                        <a:t> 在资源有限的情况下，“能做什么”以及“先做什么”？</a:t>
                      </a:r>
                      <a:endParaRPr lang="zh-CN" altLang="en-US" sz="800" b="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DDDDDD"/>
                      </a:solidFill>
                      <a:prstDash val="solid"/>
                    </a:lnB>
                    <a:noFill/>
                  </a:tcPr>
                </a:tc>
                <a:tc>
                  <a:txBody>
                    <a:bodyPr/>
                    <a:lstStyle/>
                    <a:p>
                      <a:pPr marL="0" indent="0" algn="l">
                        <a:buNone/>
                      </a:pPr>
                      <a:r>
                        <a:rPr lang="en-US" altLang="zh-CN" sz="800" b="1" dirty="0">
                          <a:solidFill>
                            <a:schemeClr val="bg1"/>
                          </a:solidFill>
                          <a:latin typeface="Arial" panose="020B0604020202020204" pitchFamily="34" charset="0"/>
                          <a:ea typeface="微软雅黑" panose="020B0503020204020204" pitchFamily="34" charset="-122"/>
                        </a:rPr>
                        <a:t>1.</a:t>
                      </a:r>
                      <a:r>
                        <a:rPr lang="zh-CN" altLang="en-US" sz="800" b="1" dirty="0">
                          <a:solidFill>
                            <a:schemeClr val="bg1"/>
                          </a:solidFill>
                          <a:latin typeface="Arial" panose="020B0604020202020204" pitchFamily="34" charset="0"/>
                          <a:ea typeface="微软雅黑" panose="020B0503020204020204" pitchFamily="34" charset="-122"/>
                        </a:rPr>
                        <a:t>主计划 </a:t>
                      </a:r>
                      <a:r>
                        <a:rPr lang="en-US" altLang="zh-CN" sz="800" b="1" dirty="0">
                          <a:solidFill>
                            <a:schemeClr val="bg1"/>
                          </a:solidFill>
                          <a:latin typeface="Arial" panose="020B0604020202020204" pitchFamily="34" charset="0"/>
                          <a:ea typeface="微软雅黑" panose="020B0503020204020204" pitchFamily="34" charset="-122"/>
                        </a:rPr>
                        <a:t>(MPS/MRP)</a:t>
                      </a:r>
                      <a:r>
                        <a:rPr lang="zh-CN" altLang="en-US" sz="800" b="1" dirty="0">
                          <a:solidFill>
                            <a:schemeClr val="bg1"/>
                          </a:solidFill>
                          <a:latin typeface="Arial" panose="020B0604020202020204" pitchFamily="34" charset="0"/>
                          <a:ea typeface="微软雅黑" panose="020B0503020204020204" pitchFamily="34" charset="-122"/>
                        </a:rPr>
                        <a:t>：</a:t>
                      </a:r>
                      <a:r>
                        <a:rPr lang="zh-CN" altLang="en-US" sz="800" dirty="0">
                          <a:solidFill>
                            <a:schemeClr val="bg1"/>
                          </a:solidFill>
                          <a:latin typeface="Arial" panose="020B0604020202020204" pitchFamily="34" charset="0"/>
                          <a:ea typeface="微软雅黑" panose="020B0503020204020204" pitchFamily="34" charset="-122"/>
                        </a:rPr>
                        <a:t> 将</a:t>
                      </a:r>
                      <a:r>
                        <a:rPr lang="en-US" altLang="zh-CN" sz="800" dirty="0">
                          <a:solidFill>
                            <a:schemeClr val="bg1"/>
                          </a:solidFill>
                          <a:latin typeface="Arial" panose="020B0604020202020204" pitchFamily="34" charset="0"/>
                          <a:ea typeface="微软雅黑" panose="020B0503020204020204" pitchFamily="34" charset="-122"/>
                        </a:rPr>
                        <a:t>IBP</a:t>
                      </a:r>
                      <a:r>
                        <a:rPr lang="zh-CN" altLang="en-US" sz="800" dirty="0">
                          <a:solidFill>
                            <a:schemeClr val="bg1"/>
                          </a:solidFill>
                          <a:latin typeface="Arial" panose="020B0604020202020204" pitchFamily="34" charset="0"/>
                          <a:ea typeface="微软雅黑" panose="020B0503020204020204" pitchFamily="34" charset="-122"/>
                        </a:rPr>
                        <a:t>的月度计划</a:t>
                      </a:r>
                      <a:r>
                        <a:rPr lang="zh-CN" altLang="en-US" sz="800" b="1" dirty="0">
                          <a:solidFill>
                            <a:schemeClr val="bg1"/>
                          </a:solidFill>
                          <a:latin typeface="Arial" panose="020B0604020202020204" pitchFamily="34" charset="0"/>
                          <a:ea typeface="微软雅黑" panose="020B0503020204020204" pitchFamily="34" charset="-122"/>
                        </a:rPr>
                        <a:t>分解</a:t>
                      </a:r>
                      <a:r>
                        <a:rPr lang="zh-CN" altLang="en-US" sz="800" dirty="0">
                          <a:solidFill>
                            <a:schemeClr val="bg1"/>
                          </a:solidFill>
                          <a:latin typeface="Arial" panose="020B0604020202020204" pitchFamily="34" charset="0"/>
                          <a:ea typeface="微软雅黑" panose="020B0503020204020204" pitchFamily="34" charset="-122"/>
                        </a:rPr>
                        <a:t>为</a:t>
                      </a:r>
                      <a:r>
                        <a:rPr lang="zh-CN" altLang="en-US" sz="800" b="1" dirty="0">
                          <a:solidFill>
                            <a:schemeClr val="bg1"/>
                          </a:solidFill>
                          <a:latin typeface="Arial" panose="020B0604020202020204" pitchFamily="34" charset="0"/>
                          <a:ea typeface="微软雅黑" panose="020B0503020204020204" pitchFamily="34" charset="-122"/>
                        </a:rPr>
                        <a:t>周度</a:t>
                      </a:r>
                      <a:r>
                        <a:rPr lang="zh-CN" altLang="en-US" sz="800" dirty="0">
                          <a:solidFill>
                            <a:schemeClr val="bg1"/>
                          </a:solidFill>
                          <a:latin typeface="Arial" panose="020B0604020202020204" pitchFamily="34" charset="0"/>
                          <a:ea typeface="微软雅黑" panose="020B0503020204020204" pitchFamily="34" charset="-122"/>
                        </a:rPr>
                        <a:t>的可执行主生产计划，并计算精确的物料需求（考量库存、在途等）。</a:t>
                      </a:r>
                      <a:endParaRPr lang="en-US" altLang="zh-CN" sz="800" dirty="0">
                        <a:solidFill>
                          <a:schemeClr val="bg1"/>
                        </a:solidFill>
                        <a:latin typeface="Arial" panose="020B0604020202020204" pitchFamily="34" charset="0"/>
                        <a:ea typeface="微软雅黑" panose="020B0503020204020204" pitchFamily="34" charset="-122"/>
                      </a:endParaRPr>
                    </a:p>
                    <a:p>
                      <a:pPr marL="0" indent="0" algn="l">
                        <a:buNone/>
                      </a:pPr>
                      <a:r>
                        <a:rPr lang="en-US" altLang="zh-CN" sz="800" b="1" dirty="0">
                          <a:solidFill>
                            <a:schemeClr val="bg1"/>
                          </a:solidFill>
                          <a:latin typeface="Arial" panose="020B0604020202020204" pitchFamily="34" charset="0"/>
                          <a:ea typeface="微软雅黑" panose="020B0503020204020204" pitchFamily="34" charset="-122"/>
                        </a:rPr>
                        <a:t>2.</a:t>
                      </a:r>
                      <a:r>
                        <a:rPr lang="zh-CN" altLang="en-US" sz="800" b="1" dirty="0">
                          <a:solidFill>
                            <a:schemeClr val="bg1"/>
                          </a:solidFill>
                          <a:latin typeface="Arial" panose="020B0604020202020204" pitchFamily="34" charset="0"/>
                          <a:ea typeface="微软雅黑" panose="020B0503020204020204" pitchFamily="34" charset="-122"/>
                        </a:rPr>
                        <a:t>约束规划与资源分配：</a:t>
                      </a:r>
                      <a:r>
                        <a:rPr lang="zh-CN" altLang="en-US" sz="800" dirty="0">
                          <a:solidFill>
                            <a:schemeClr val="bg1"/>
                          </a:solidFill>
                          <a:latin typeface="Arial" panose="020B0604020202020204" pitchFamily="34" charset="0"/>
                          <a:ea typeface="微软雅黑" panose="020B0503020204020204" pitchFamily="34" charset="-122"/>
                        </a:rPr>
                        <a:t> 识别产能、物料等关键约束，</a:t>
                      </a:r>
                      <a:r>
                        <a:rPr lang="zh-CN" altLang="en-US" sz="800" b="1" i="0" dirty="0">
                          <a:solidFill>
                            <a:schemeClr val="bg1"/>
                          </a:solidFill>
                          <a:effectLst/>
                          <a:latin typeface="Arial" panose="020B0604020202020204" pitchFamily="34" charset="0"/>
                          <a:ea typeface="微软雅黑" panose="020B0503020204020204" pitchFamily="34" charset="-122"/>
                        </a:rPr>
                        <a:t>战略优先：</a:t>
                      </a:r>
                      <a:r>
                        <a:rPr lang="zh-CN" altLang="en-US" sz="800" b="0" i="0" dirty="0">
                          <a:solidFill>
                            <a:schemeClr val="bg1"/>
                          </a:solidFill>
                          <a:effectLst/>
                          <a:latin typeface="Arial" panose="020B0604020202020204" pitchFamily="34" charset="0"/>
                          <a:ea typeface="微软雅黑" panose="020B0503020204020204" pitchFamily="34" charset="-122"/>
                        </a:rPr>
                        <a:t> 在资源不足时，优先保障战略必争之地（如关键客户、重点市场）的需求。</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公平公正：</a:t>
                      </a:r>
                      <a:r>
                        <a:rPr lang="zh-CN" altLang="en-US" sz="800" b="0" i="0" dirty="0">
                          <a:solidFill>
                            <a:schemeClr val="bg1"/>
                          </a:solidFill>
                          <a:effectLst/>
                          <a:latin typeface="Arial" panose="020B0604020202020204" pitchFamily="34" charset="0"/>
                          <a:ea typeface="微软雅黑" panose="020B0503020204020204" pitchFamily="34" charset="-122"/>
                        </a:rPr>
                        <a:t> 对剩余资源，采用</a:t>
                      </a:r>
                      <a:r>
                        <a:rPr lang="zh-CN" altLang="en-US" sz="800" b="1" i="0" dirty="0">
                          <a:solidFill>
                            <a:schemeClr val="bg1"/>
                          </a:solidFill>
                          <a:effectLst/>
                          <a:latin typeface="Arial" panose="020B0604020202020204" pitchFamily="34" charset="0"/>
                          <a:ea typeface="微软雅黑" panose="020B0503020204020204" pitchFamily="34" charset="-122"/>
                        </a:rPr>
                        <a:t>公平份额</a:t>
                      </a:r>
                      <a:r>
                        <a:rPr lang="zh-CN" altLang="en-US" sz="800" b="0" i="0" dirty="0">
                          <a:solidFill>
                            <a:schemeClr val="bg1"/>
                          </a:solidFill>
                          <a:effectLst/>
                          <a:latin typeface="Arial" panose="020B0604020202020204" pitchFamily="34" charset="0"/>
                          <a:ea typeface="微软雅黑" panose="020B0503020204020204" pitchFamily="34" charset="-122"/>
                        </a:rPr>
                        <a:t>或</a:t>
                      </a:r>
                      <a:r>
                        <a:rPr lang="zh-CN" altLang="en-US" sz="800" b="1" i="0" dirty="0">
                          <a:solidFill>
                            <a:schemeClr val="bg1"/>
                          </a:solidFill>
                          <a:effectLst/>
                          <a:latin typeface="Arial" panose="020B0604020202020204" pitchFamily="34" charset="0"/>
                          <a:ea typeface="微软雅黑" panose="020B0503020204020204" pitchFamily="34" charset="-122"/>
                        </a:rPr>
                        <a:t>平等份额</a:t>
                      </a:r>
                      <a:r>
                        <a:rPr lang="zh-CN" altLang="en-US" sz="800" b="0" i="0" dirty="0">
                          <a:solidFill>
                            <a:schemeClr val="bg1"/>
                          </a:solidFill>
                          <a:effectLst/>
                          <a:latin typeface="Arial" panose="020B0604020202020204" pitchFamily="34" charset="0"/>
                          <a:ea typeface="微软雅黑" panose="020B0503020204020204" pitchFamily="34" charset="-122"/>
                        </a:rPr>
                        <a:t>规则在其余需求间进行分配，避免局部最优，确保长期合作关系的稳定性。</a:t>
                      </a:r>
                      <a:endParaRPr lang="en-US" altLang="zh-CN" sz="800" b="0" i="0" dirty="0">
                        <a:solidFill>
                          <a:schemeClr val="bg1"/>
                        </a:solidFill>
                        <a:effectLst/>
                        <a:latin typeface="Arial" panose="020B0604020202020204" pitchFamily="34" charset="0"/>
                        <a:ea typeface="微软雅黑" panose="020B0503020204020204" pitchFamily="34" charset="-122"/>
                      </a:endParaRPr>
                    </a:p>
                    <a:p>
                      <a:pPr marL="0" indent="0" algn="l">
                        <a:buNone/>
                      </a:pPr>
                      <a:r>
                        <a:rPr lang="en-US" altLang="zh-CN" sz="800" b="1" dirty="0">
                          <a:solidFill>
                            <a:schemeClr val="bg1"/>
                          </a:solidFill>
                          <a:latin typeface="Arial" panose="020B0604020202020204" pitchFamily="34" charset="0"/>
                          <a:ea typeface="微软雅黑" panose="020B0503020204020204" pitchFamily="34" charset="-122"/>
                        </a:rPr>
                        <a:t>3.</a:t>
                      </a:r>
                      <a:r>
                        <a:rPr lang="zh-CN" altLang="en-US" sz="800" b="1" dirty="0">
                          <a:solidFill>
                            <a:schemeClr val="bg1"/>
                          </a:solidFill>
                          <a:latin typeface="Arial" panose="020B0604020202020204" pitchFamily="34" charset="0"/>
                          <a:ea typeface="微软雅黑" panose="020B0503020204020204" pitchFamily="34" charset="-122"/>
                        </a:rPr>
                        <a:t>供应商计划协同：</a:t>
                      </a:r>
                      <a:r>
                        <a:rPr lang="zh-CN" altLang="en-US" sz="800" dirty="0">
                          <a:solidFill>
                            <a:schemeClr val="bg1"/>
                          </a:solidFill>
                          <a:latin typeface="Arial" panose="020B0604020202020204" pitchFamily="34" charset="0"/>
                          <a:ea typeface="微软雅黑" panose="020B0503020204020204" pitchFamily="34" charset="-122"/>
                        </a:rPr>
                        <a:t> 与关键供应商</a:t>
                      </a:r>
                      <a:r>
                        <a:rPr lang="zh-CN" altLang="en-US" sz="800" b="1" dirty="0">
                          <a:solidFill>
                            <a:schemeClr val="bg1"/>
                          </a:solidFill>
                          <a:latin typeface="Arial" panose="020B0604020202020204" pitchFamily="34" charset="0"/>
                          <a:ea typeface="微软雅黑" panose="020B0503020204020204" pitchFamily="34" charset="-122"/>
                        </a:rPr>
                        <a:t>共享中长期的物料预测</a:t>
                      </a:r>
                      <a:r>
                        <a:rPr lang="zh-CN" altLang="en-US" sz="800" dirty="0">
                          <a:solidFill>
                            <a:schemeClr val="bg1"/>
                          </a:solidFill>
                          <a:latin typeface="Arial" panose="020B0604020202020204" pitchFamily="34" charset="0"/>
                          <a:ea typeface="微软雅黑" panose="020B0503020204020204" pitchFamily="34" charset="-122"/>
                        </a:rPr>
                        <a:t>，将其产能与承诺纳入整体供应体系，确保计划的可行性。</a:t>
                      </a:r>
                      <a:endParaRPr lang="en-US" altLang="zh-CN" sz="800" dirty="0">
                        <a:solidFill>
                          <a:schemeClr val="bg1"/>
                        </a:solidFill>
                        <a:latin typeface="Arial" panose="020B0604020202020204" pitchFamily="34" charset="0"/>
                        <a:ea typeface="微软雅黑" panose="020B0503020204020204" pitchFamily="34" charset="-122"/>
                      </a:endParaRPr>
                    </a:p>
                    <a:p>
                      <a:pPr marL="0" indent="0" algn="l">
                        <a:buNone/>
                      </a:pPr>
                      <a:r>
                        <a:rPr lang="en-US" altLang="zh-CN" sz="800" b="1" i="0" dirty="0">
                          <a:solidFill>
                            <a:schemeClr val="bg1"/>
                          </a:solidFill>
                          <a:effectLst/>
                          <a:latin typeface="Arial" panose="020B0604020202020204" pitchFamily="34" charset="0"/>
                          <a:ea typeface="微软雅黑" panose="020B0503020204020204" pitchFamily="34" charset="-122"/>
                        </a:rPr>
                        <a:t>4.</a:t>
                      </a:r>
                      <a:r>
                        <a:rPr lang="zh-CN" altLang="en-US" sz="800" b="1" i="0" dirty="0">
                          <a:solidFill>
                            <a:schemeClr val="bg1"/>
                          </a:solidFill>
                          <a:effectLst/>
                          <a:latin typeface="Arial" panose="020B0604020202020204" pitchFamily="34" charset="0"/>
                          <a:ea typeface="微软雅黑" panose="020B0503020204020204" pitchFamily="34" charset="-122"/>
                        </a:rPr>
                        <a:t>预设例外规则：</a:t>
                      </a:r>
                      <a:r>
                        <a:rPr lang="zh-CN" altLang="en-US"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制定并固化规则</a:t>
                      </a:r>
                      <a:r>
                        <a:rPr lang="zh-CN" altLang="en-US" sz="800" b="0" i="0" dirty="0">
                          <a:solidFill>
                            <a:schemeClr val="bg1"/>
                          </a:solidFill>
                          <a:effectLst/>
                          <a:latin typeface="Arial" panose="020B0604020202020204" pitchFamily="34" charset="0"/>
                          <a:ea typeface="微软雅黑" panose="020B0503020204020204" pitchFamily="34" charset="-122"/>
                        </a:rPr>
                        <a:t>，明确当实际需求击穿预测时（如紧急订单），</a:t>
                      </a:r>
                      <a:r>
                        <a:rPr lang="en-US" altLang="zh-CN" sz="800" b="0" i="0" dirty="0">
                          <a:solidFill>
                            <a:schemeClr val="bg1"/>
                          </a:solidFill>
                          <a:effectLst/>
                          <a:latin typeface="Arial" panose="020B0604020202020204" pitchFamily="34" charset="0"/>
                          <a:ea typeface="微软雅黑" panose="020B0503020204020204" pitchFamily="34" charset="-122"/>
                        </a:rPr>
                        <a:t>IOP</a:t>
                      </a:r>
                      <a:r>
                        <a:rPr lang="zh-CN" altLang="en-US" sz="800" b="0" i="0" dirty="0">
                          <a:solidFill>
                            <a:schemeClr val="bg1"/>
                          </a:solidFill>
                          <a:effectLst/>
                          <a:latin typeface="Arial" panose="020B0604020202020204" pitchFamily="34" charset="0"/>
                          <a:ea typeface="微软雅黑" panose="020B0503020204020204" pitchFamily="34" charset="-122"/>
                        </a:rPr>
                        <a:t>层面可自动执行的调整逻辑（如优先级置换、资源组内弹性）</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DDDDDD"/>
                      </a:solidFill>
                      <a:prstDash val="solid"/>
                    </a:lnB>
                    <a:no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对</a:t>
                      </a:r>
                      <a:r>
                        <a:rPr lang="en-US" altLang="zh-CN" sz="800" b="1" i="0" dirty="0">
                          <a:solidFill>
                            <a:schemeClr val="bg1"/>
                          </a:solidFill>
                          <a:effectLst/>
                          <a:latin typeface="Arial" panose="020B0604020202020204" pitchFamily="34" charset="0"/>
                          <a:ea typeface="微软雅黑" panose="020B0503020204020204" pitchFamily="34" charset="-122"/>
                        </a:rPr>
                        <a:t>IOP</a:t>
                      </a:r>
                      <a:r>
                        <a:rPr lang="zh-CN" altLang="en-US" sz="800" b="1" i="0" dirty="0">
                          <a:solidFill>
                            <a:schemeClr val="bg1"/>
                          </a:solidFill>
                          <a:effectLst/>
                          <a:latin typeface="Arial" panose="020B0604020202020204" pitchFamily="34" charset="0"/>
                          <a:ea typeface="微软雅黑" panose="020B0503020204020204" pitchFamily="34" charset="-122"/>
                        </a:rPr>
                        <a:t>的约束性指导：</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刚性约束（配额）：</a:t>
                      </a:r>
                      <a:r>
                        <a:rPr lang="zh-CN" altLang="en-US" sz="800" b="0" i="0" dirty="0">
                          <a:solidFill>
                            <a:schemeClr val="bg1"/>
                          </a:solidFill>
                          <a:effectLst/>
                          <a:latin typeface="Arial" panose="020B0604020202020204" pitchFamily="34" charset="0"/>
                          <a:ea typeface="微软雅黑" panose="020B0503020204020204" pitchFamily="34" charset="-122"/>
                        </a:rPr>
                        <a:t> </a:t>
                      </a:r>
                      <a:r>
                        <a:rPr lang="en-US" altLang="zh-CN" sz="800" b="0" i="0" dirty="0">
                          <a:solidFill>
                            <a:schemeClr val="bg1"/>
                          </a:solidFill>
                          <a:effectLst/>
                          <a:latin typeface="Arial" panose="020B0604020202020204" pitchFamily="34" charset="0"/>
                          <a:ea typeface="微软雅黑" panose="020B0503020204020204" pitchFamily="34" charset="-122"/>
                        </a:rPr>
                        <a:t>ITP</a:t>
                      </a:r>
                      <a:r>
                        <a:rPr lang="zh-CN" altLang="en-US" sz="800" b="0" i="0" dirty="0">
                          <a:solidFill>
                            <a:schemeClr val="bg1"/>
                          </a:solidFill>
                          <a:effectLst/>
                          <a:latin typeface="Arial" panose="020B0604020202020204" pitchFamily="34" charset="0"/>
                          <a:ea typeface="微软雅黑" panose="020B0503020204020204" pitchFamily="34" charset="-122"/>
                        </a:rPr>
                        <a:t>输出的</a:t>
                      </a:r>
                      <a:r>
                        <a:rPr lang="zh-CN" altLang="en-US" sz="800" b="1" i="0" dirty="0">
                          <a:solidFill>
                            <a:schemeClr val="bg1"/>
                          </a:solidFill>
                          <a:effectLst/>
                          <a:latin typeface="Arial" panose="020B0604020202020204" pitchFamily="34" charset="0"/>
                          <a:ea typeface="微软雅黑" panose="020B0503020204020204" pitchFamily="34" charset="-122"/>
                        </a:rPr>
                        <a:t>周度产能配额</a:t>
                      </a:r>
                      <a:r>
                        <a:rPr lang="zh-CN" altLang="en-US" sz="800" b="0" i="0" dirty="0">
                          <a:solidFill>
                            <a:schemeClr val="bg1"/>
                          </a:solidFill>
                          <a:effectLst/>
                          <a:latin typeface="Arial" panose="020B0604020202020204" pitchFamily="34" charset="0"/>
                          <a:ea typeface="微软雅黑" panose="020B0503020204020204" pitchFamily="34" charset="-122"/>
                        </a:rPr>
                        <a:t>和</a:t>
                      </a:r>
                      <a:r>
                        <a:rPr lang="zh-CN" altLang="en-US" sz="800" b="1" i="0" dirty="0">
                          <a:solidFill>
                            <a:schemeClr val="bg1"/>
                          </a:solidFill>
                          <a:effectLst/>
                          <a:latin typeface="Arial" panose="020B0604020202020204" pitchFamily="34" charset="0"/>
                          <a:ea typeface="微软雅黑" panose="020B0503020204020204" pitchFamily="34" charset="-122"/>
                        </a:rPr>
                        <a:t>物料配额</a:t>
                      </a:r>
                      <a:r>
                        <a:rPr lang="zh-CN" altLang="en-US" sz="800" b="0" i="0" dirty="0">
                          <a:solidFill>
                            <a:schemeClr val="bg1"/>
                          </a:solidFill>
                          <a:effectLst/>
                          <a:latin typeface="Arial" panose="020B0604020202020204" pitchFamily="34" charset="0"/>
                          <a:ea typeface="微软雅黑" panose="020B0503020204020204" pitchFamily="34" charset="-122"/>
                        </a:rPr>
                        <a:t>是</a:t>
                      </a:r>
                      <a:r>
                        <a:rPr lang="en-US" altLang="zh-CN" sz="800" b="0" i="0" dirty="0">
                          <a:solidFill>
                            <a:schemeClr val="bg1"/>
                          </a:solidFill>
                          <a:effectLst/>
                          <a:latin typeface="Arial" panose="020B0604020202020204" pitchFamily="34" charset="0"/>
                          <a:ea typeface="微软雅黑" panose="020B0503020204020204" pitchFamily="34" charset="-122"/>
                        </a:rPr>
                        <a:t>IOP</a:t>
                      </a:r>
                      <a:r>
                        <a:rPr lang="zh-CN" altLang="en-US" sz="800" b="0" i="0" dirty="0">
                          <a:solidFill>
                            <a:schemeClr val="bg1"/>
                          </a:solidFill>
                          <a:effectLst/>
                          <a:latin typeface="Arial" panose="020B0604020202020204" pitchFamily="34" charset="0"/>
                          <a:ea typeface="微软雅黑" panose="020B0503020204020204" pitchFamily="34" charset="-122"/>
                        </a:rPr>
                        <a:t>进行日排程时必须遵守的硬约束。基于配额对客户做出的</a:t>
                      </a:r>
                      <a:r>
                        <a:rPr lang="zh-CN" altLang="en-US" sz="800" b="1" i="0" dirty="0">
                          <a:solidFill>
                            <a:schemeClr val="bg1"/>
                          </a:solidFill>
                          <a:effectLst/>
                          <a:latin typeface="Arial" panose="020B0604020202020204" pitchFamily="34" charset="0"/>
                          <a:ea typeface="微软雅黑" panose="020B0503020204020204" pitchFamily="34" charset="-122"/>
                        </a:rPr>
                        <a:t>承诺交期（</a:t>
                      </a:r>
                      <a:r>
                        <a:rPr lang="en-US" altLang="zh-CN" sz="800" b="1" i="0" dirty="0">
                          <a:solidFill>
                            <a:schemeClr val="bg1"/>
                          </a:solidFill>
                          <a:effectLst/>
                          <a:latin typeface="Arial" panose="020B0604020202020204" pitchFamily="34" charset="0"/>
                          <a:ea typeface="微软雅黑" panose="020B0503020204020204" pitchFamily="34" charset="-122"/>
                        </a:rPr>
                        <a:t>ATP</a:t>
                      </a:r>
                      <a:r>
                        <a:rPr lang="zh-CN" altLang="en-US" sz="800" b="1" i="0" dirty="0">
                          <a:solidFill>
                            <a:schemeClr val="bg1"/>
                          </a:solidFill>
                          <a:effectLst/>
                          <a:latin typeface="Arial" panose="020B0604020202020204" pitchFamily="34" charset="0"/>
                          <a:ea typeface="微软雅黑" panose="020B0503020204020204" pitchFamily="34" charset="-122"/>
                        </a:rPr>
                        <a:t>）</a:t>
                      </a:r>
                      <a:r>
                        <a:rPr lang="zh-CN" altLang="en-US" sz="800" b="0" i="0" dirty="0">
                          <a:solidFill>
                            <a:schemeClr val="bg1"/>
                          </a:solidFill>
                          <a:effectLst/>
                          <a:latin typeface="Arial" panose="020B0604020202020204" pitchFamily="34" charset="0"/>
                          <a:ea typeface="微软雅黑" panose="020B0503020204020204" pitchFamily="34" charset="-122"/>
                        </a:rPr>
                        <a:t> 是刚性的。</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柔性指导（规则）：</a:t>
                      </a:r>
                      <a:r>
                        <a:rPr lang="zh-CN" altLang="en-US" sz="800" b="0" i="0" dirty="0">
                          <a:solidFill>
                            <a:schemeClr val="bg1"/>
                          </a:solidFill>
                          <a:effectLst/>
                          <a:latin typeface="Arial" panose="020B0604020202020204" pitchFamily="34" charset="0"/>
                          <a:ea typeface="微软雅黑" panose="020B0503020204020204" pitchFamily="34" charset="-122"/>
                        </a:rPr>
                        <a:t> </a:t>
                      </a:r>
                      <a:r>
                        <a:rPr lang="en-US" altLang="zh-CN" sz="800" b="0" i="0" dirty="0">
                          <a:solidFill>
                            <a:schemeClr val="bg1"/>
                          </a:solidFill>
                          <a:effectLst/>
                          <a:latin typeface="Arial" panose="020B0604020202020204" pitchFamily="34" charset="0"/>
                          <a:ea typeface="微软雅黑" panose="020B0503020204020204" pitchFamily="34" charset="-122"/>
                        </a:rPr>
                        <a:t>ITP</a:t>
                      </a:r>
                      <a:r>
                        <a:rPr lang="zh-CN" altLang="en-US" sz="800" b="0" i="0" dirty="0">
                          <a:solidFill>
                            <a:schemeClr val="bg1"/>
                          </a:solidFill>
                          <a:effectLst/>
                          <a:latin typeface="Arial" panose="020B0604020202020204" pitchFamily="34" charset="0"/>
                          <a:ea typeface="微软雅黑" panose="020B0503020204020204" pitchFamily="34" charset="-122"/>
                        </a:rPr>
                        <a:t>为</a:t>
                      </a:r>
                      <a:r>
                        <a:rPr lang="en-US" altLang="zh-CN" sz="800" b="0" i="0" dirty="0">
                          <a:solidFill>
                            <a:schemeClr val="bg1"/>
                          </a:solidFill>
                          <a:effectLst/>
                          <a:latin typeface="Arial" panose="020B0604020202020204" pitchFamily="34" charset="0"/>
                          <a:ea typeface="微软雅黑" panose="020B0503020204020204" pitchFamily="34" charset="-122"/>
                        </a:rPr>
                        <a:t>IOP</a:t>
                      </a:r>
                      <a:r>
                        <a:rPr lang="zh-CN" altLang="en-US" sz="800" b="0" i="0" dirty="0">
                          <a:solidFill>
                            <a:schemeClr val="bg1"/>
                          </a:solidFill>
                          <a:effectLst/>
                          <a:latin typeface="Arial" panose="020B0604020202020204" pitchFamily="34" charset="0"/>
                          <a:ea typeface="微软雅黑" panose="020B0503020204020204" pitchFamily="34" charset="-122"/>
                        </a:rPr>
                        <a:t>提供了在配额内</a:t>
                      </a:r>
                      <a:r>
                        <a:rPr lang="zh-CN" altLang="en-US" sz="800" b="1" i="0" dirty="0">
                          <a:solidFill>
                            <a:schemeClr val="bg1"/>
                          </a:solidFill>
                          <a:effectLst/>
                          <a:latin typeface="Arial" panose="020B0604020202020204" pitchFamily="34" charset="0"/>
                          <a:ea typeface="微软雅黑" panose="020B0503020204020204" pitchFamily="34" charset="-122"/>
                        </a:rPr>
                        <a:t>自主优化排产顺序</a:t>
                      </a:r>
                      <a:r>
                        <a:rPr lang="zh-CN" altLang="en-US" sz="800" b="0" i="0" dirty="0">
                          <a:solidFill>
                            <a:schemeClr val="bg1"/>
                          </a:solidFill>
                          <a:effectLst/>
                          <a:latin typeface="Arial" panose="020B0604020202020204" pitchFamily="34" charset="0"/>
                          <a:ea typeface="微软雅黑" panose="020B0503020204020204" pitchFamily="34" charset="-122"/>
                        </a:rPr>
                        <a:t>的灵活性，更重要的是，提供了</a:t>
                      </a:r>
                      <a:r>
                        <a:rPr lang="zh-CN" altLang="en-US" sz="800" b="1" i="0" dirty="0">
                          <a:solidFill>
                            <a:schemeClr val="bg1"/>
                          </a:solidFill>
                          <a:effectLst/>
                          <a:latin typeface="Arial" panose="020B0604020202020204" pitchFamily="34" charset="0"/>
                          <a:ea typeface="微软雅黑" panose="020B0503020204020204" pitchFamily="34" charset="-122"/>
                        </a:rPr>
                        <a:t>处理超配额情况的预设规则</a:t>
                      </a:r>
                      <a:r>
                        <a:rPr lang="zh-CN" altLang="en-US" sz="800" b="0" i="0" dirty="0">
                          <a:solidFill>
                            <a:schemeClr val="bg1"/>
                          </a:solidFill>
                          <a:effectLst/>
                          <a:latin typeface="Arial" panose="020B0604020202020204" pitchFamily="34" charset="0"/>
                          <a:ea typeface="微软雅黑" panose="020B0503020204020204" pitchFamily="34" charset="-122"/>
                        </a:rPr>
                        <a:t>，使</a:t>
                      </a:r>
                      <a:r>
                        <a:rPr lang="en-US" altLang="zh-CN" sz="800" b="0" i="0" dirty="0">
                          <a:solidFill>
                            <a:schemeClr val="bg1"/>
                          </a:solidFill>
                          <a:effectLst/>
                          <a:latin typeface="Arial" panose="020B0604020202020204" pitchFamily="34" charset="0"/>
                          <a:ea typeface="微软雅黑" panose="020B0503020204020204" pitchFamily="34" charset="-122"/>
                        </a:rPr>
                        <a:t>IOP</a:t>
                      </a:r>
                      <a:r>
                        <a:rPr lang="zh-CN" altLang="en-US" sz="800" b="0" i="0" dirty="0">
                          <a:solidFill>
                            <a:schemeClr val="bg1"/>
                          </a:solidFill>
                          <a:effectLst/>
                          <a:latin typeface="Arial" panose="020B0604020202020204" pitchFamily="34" charset="0"/>
                          <a:ea typeface="微软雅黑" panose="020B0503020204020204" pitchFamily="34" charset="-122"/>
                        </a:rPr>
                        <a:t>能快速响应而非等待审批。</a:t>
                      </a:r>
                      <a:br>
                        <a:rPr lang="zh-CN" altLang="en-US" sz="800" dirty="0">
                          <a:solidFill>
                            <a:schemeClr val="bg1"/>
                          </a:solidFill>
                          <a:latin typeface="Arial" panose="020B0604020202020204" pitchFamily="34" charset="0"/>
                          <a:ea typeface="微软雅黑" panose="020B0503020204020204" pitchFamily="34" charset="-122"/>
                        </a:rPr>
                      </a:b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0" dirty="0">
                          <a:solidFill>
                            <a:schemeClr val="bg1"/>
                          </a:solidFill>
                          <a:effectLst/>
                          <a:latin typeface="Arial" panose="020B0604020202020204" pitchFamily="34" charset="0"/>
                          <a:ea typeface="微软雅黑" panose="020B0503020204020204" pitchFamily="34" charset="-122"/>
                        </a:rPr>
                        <a:t>对</a:t>
                      </a:r>
                      <a:r>
                        <a:rPr lang="en-US" altLang="zh-CN" sz="800" b="1" i="0" dirty="0">
                          <a:solidFill>
                            <a:schemeClr val="bg1"/>
                          </a:solidFill>
                          <a:effectLst/>
                          <a:latin typeface="Arial" panose="020B0604020202020204" pitchFamily="34" charset="0"/>
                          <a:ea typeface="微软雅黑" panose="020B0503020204020204" pitchFamily="34" charset="-122"/>
                        </a:rPr>
                        <a:t>IBP</a:t>
                      </a:r>
                      <a:r>
                        <a:rPr lang="zh-CN" altLang="en-US" sz="800" b="1" i="0" dirty="0">
                          <a:solidFill>
                            <a:schemeClr val="bg1"/>
                          </a:solidFill>
                          <a:effectLst/>
                          <a:latin typeface="Arial" panose="020B0604020202020204" pitchFamily="34" charset="0"/>
                          <a:ea typeface="微软雅黑" panose="020B0503020204020204" pitchFamily="34" charset="-122"/>
                        </a:rPr>
                        <a:t>的反馈：</a:t>
                      </a:r>
                      <a:r>
                        <a:rPr lang="zh-CN" altLang="en-US" sz="800" b="0" i="0" dirty="0">
                          <a:solidFill>
                            <a:schemeClr val="bg1"/>
                          </a:solidFill>
                          <a:effectLst/>
                          <a:latin typeface="Arial" panose="020B0604020202020204" pitchFamily="34" charset="0"/>
                          <a:ea typeface="微软雅黑" panose="020B0503020204020204" pitchFamily="34" charset="-122"/>
                        </a:rPr>
                        <a:t> 将无法通过规则解决的重大资源冲突或系统性偏差反馈给</a:t>
                      </a:r>
                      <a:r>
                        <a:rPr lang="en-US" altLang="zh-CN" sz="800" b="0" i="0" dirty="0">
                          <a:solidFill>
                            <a:schemeClr val="bg1"/>
                          </a:solidFill>
                          <a:effectLst/>
                          <a:latin typeface="Arial" panose="020B0604020202020204" pitchFamily="34" charset="0"/>
                          <a:ea typeface="微软雅黑" panose="020B0503020204020204" pitchFamily="34" charset="-122"/>
                        </a:rPr>
                        <a:t>IBP</a:t>
                      </a:r>
                      <a:r>
                        <a:rPr lang="zh-CN" altLang="en-US" sz="800" b="0" i="0" dirty="0">
                          <a:solidFill>
                            <a:schemeClr val="bg1"/>
                          </a:solidFill>
                          <a:effectLst/>
                          <a:latin typeface="Arial" panose="020B0604020202020204" pitchFamily="34" charset="0"/>
                          <a:ea typeface="微软雅黑" panose="020B0503020204020204" pitchFamily="34" charset="-122"/>
                        </a:rPr>
                        <a:t>，用于战略调整。</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DDDDDD"/>
                      </a:solidFill>
                      <a:prstDash val="solid"/>
                    </a:lnB>
                    <a:noFill/>
                  </a:tcPr>
                </a:tc>
                <a:extLst>
                  <a:ext uri="{0D108BD9-81ED-4DB2-BD59-A6C34878D82A}">
                    <a16:rowId xmlns:a16="http://schemas.microsoft.com/office/drawing/2014/main" val="1128210317"/>
                  </a:ext>
                </a:extLst>
              </a:tr>
              <a:tr h="1708900">
                <a:tc>
                  <a:txBody>
                    <a:bodyPr/>
                    <a:lstStyle/>
                    <a:p>
                      <a:r>
                        <a:rPr lang="en-US" altLang="zh-CN" sz="900" b="1" i="0" dirty="0">
                          <a:effectLst/>
                          <a:latin typeface="Arial" panose="020B0604020202020204" pitchFamily="34" charset="0"/>
                          <a:ea typeface="微软雅黑" panose="020B0503020204020204" pitchFamily="34" charset="-122"/>
                        </a:rPr>
                        <a:t>IOP</a:t>
                      </a:r>
                      <a:br>
                        <a:rPr lang="en-US" altLang="zh-CN" sz="900" b="1" i="0" dirty="0">
                          <a:effectLst/>
                          <a:latin typeface="Arial" panose="020B0604020202020204" pitchFamily="34" charset="0"/>
                          <a:ea typeface="微软雅黑" panose="020B0503020204020204" pitchFamily="34" charset="-122"/>
                        </a:rPr>
                      </a:br>
                      <a:r>
                        <a:rPr lang="en-US" altLang="zh-CN" sz="900" b="1" i="0" dirty="0">
                          <a:effectLst/>
                          <a:latin typeface="Arial" panose="020B0604020202020204" pitchFamily="34" charset="0"/>
                          <a:ea typeface="微软雅黑" panose="020B0503020204020204" pitchFamily="34" charset="-122"/>
                        </a:rPr>
                        <a:t>(</a:t>
                      </a:r>
                      <a:r>
                        <a:rPr lang="zh-CN" altLang="en-US" sz="900" b="1" i="0" dirty="0">
                          <a:effectLst/>
                          <a:latin typeface="Arial" panose="020B0604020202020204" pitchFamily="34" charset="0"/>
                          <a:ea typeface="微软雅黑" panose="020B0503020204020204" pitchFamily="34" charset="-122"/>
                        </a:rPr>
                        <a:t>集成运营计划</a:t>
                      </a:r>
                      <a:r>
                        <a:rPr lang="en-US" altLang="zh-CN" sz="900" b="1" i="0" dirty="0">
                          <a:effectLst/>
                          <a:latin typeface="Arial" panose="020B0604020202020204" pitchFamily="34" charset="0"/>
                          <a:ea typeface="微软雅黑" panose="020B0503020204020204" pitchFamily="34" charset="-122"/>
                        </a:rPr>
                        <a:t>)</a:t>
                      </a:r>
                      <a:br>
                        <a:rPr lang="zh-CN" altLang="en-US" sz="900" dirty="0">
                          <a:latin typeface="Arial" panose="020B0604020202020204" pitchFamily="34" charset="0"/>
                          <a:ea typeface="微软雅黑" panose="020B0503020204020204" pitchFamily="34" charset="-122"/>
                        </a:rPr>
                      </a:br>
                      <a:r>
                        <a:rPr lang="zh-CN" altLang="en-US" sz="900" b="0" i="1" dirty="0">
                          <a:effectLst/>
                          <a:latin typeface="Arial" panose="020B0604020202020204" pitchFamily="34" charset="0"/>
                          <a:ea typeface="微软雅黑" panose="020B0503020204020204" pitchFamily="34" charset="-122"/>
                        </a:rPr>
                        <a:t>执行层</a:t>
                      </a:r>
                      <a:endParaRPr lang="zh-CN" altLang="en-US" sz="900" dirty="0">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1C3879"/>
                      </a:solidFill>
                      <a:prstDash val="solid"/>
                    </a:lnB>
                    <a:solidFill>
                      <a:schemeClr val="accent1">
                        <a:lumMod val="60000"/>
                        <a:lumOff val="40000"/>
                      </a:schemeClr>
                    </a:solid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敏捷执行计划与调度</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0" i="1" dirty="0">
                          <a:solidFill>
                            <a:schemeClr val="bg1"/>
                          </a:solidFill>
                          <a:effectLst/>
                          <a:latin typeface="Arial" panose="020B0604020202020204" pitchFamily="34" charset="0"/>
                          <a:ea typeface="微软雅黑" panose="020B0503020204020204" pitchFamily="34" charset="-122"/>
                        </a:rPr>
                        <a:t>原则：在</a:t>
                      </a:r>
                      <a:r>
                        <a:rPr lang="en-US" altLang="zh-CN" sz="800" b="0" i="1" dirty="0">
                          <a:solidFill>
                            <a:schemeClr val="bg1"/>
                          </a:solidFill>
                          <a:effectLst/>
                          <a:latin typeface="Arial" panose="020B0604020202020204" pitchFamily="34" charset="0"/>
                          <a:ea typeface="微软雅黑" panose="020B0503020204020204" pitchFamily="34" charset="-122"/>
                        </a:rPr>
                        <a:t>ITP</a:t>
                      </a:r>
                      <a:r>
                        <a:rPr lang="zh-CN" altLang="en-US" sz="800" b="0" i="1" dirty="0">
                          <a:solidFill>
                            <a:schemeClr val="bg1"/>
                          </a:solidFill>
                          <a:effectLst/>
                          <a:latin typeface="Arial" panose="020B0604020202020204" pitchFamily="34" charset="0"/>
                          <a:ea typeface="微软雅黑" panose="020B0503020204020204" pitchFamily="34" charset="-122"/>
                        </a:rPr>
                        <a:t>分配的配额内，追求交付又准又快，资源最大化利用</a:t>
                      </a:r>
                      <a:endParaRPr lang="en-US" altLang="zh-CN" sz="800" b="0" i="1" dirty="0">
                        <a:solidFill>
                          <a:schemeClr val="bg1"/>
                        </a:solidFill>
                        <a:effectLst/>
                        <a:latin typeface="Arial" panose="020B0604020202020204" pitchFamily="34" charset="0"/>
                        <a:ea typeface="微软雅黑" panose="020B0503020204020204" pitchFamily="34" charset="-122"/>
                      </a:endParaRPr>
                    </a:p>
                    <a:p>
                      <a:pPr algn="l"/>
                      <a:r>
                        <a:rPr lang="zh-CN" altLang="en-US" sz="800" b="1" i="0" dirty="0">
                          <a:solidFill>
                            <a:schemeClr val="bg1"/>
                          </a:solidFill>
                          <a:effectLst/>
                          <a:latin typeface="Arial" panose="020B0604020202020204" pitchFamily="34" charset="0"/>
                          <a:ea typeface="微软雅黑" panose="020B0503020204020204" pitchFamily="34" charset="-122"/>
                        </a:rPr>
                        <a:t>焦点：</a:t>
                      </a:r>
                      <a:r>
                        <a:rPr lang="zh-CN" altLang="en-US" sz="800" b="0" i="0" dirty="0">
                          <a:solidFill>
                            <a:schemeClr val="bg1"/>
                          </a:solidFill>
                          <a:effectLst/>
                          <a:latin typeface="Arial" panose="020B0604020202020204" pitchFamily="34" charset="0"/>
                          <a:ea typeface="微软雅黑" panose="020B0503020204020204" pitchFamily="34" charset="-122"/>
                        </a:rPr>
                        <a:t> 未来</a:t>
                      </a:r>
                      <a:r>
                        <a:rPr lang="en-US" altLang="zh-CN" sz="800" b="0" i="0" dirty="0">
                          <a:solidFill>
                            <a:schemeClr val="bg1"/>
                          </a:solidFill>
                          <a:effectLst/>
                          <a:latin typeface="Arial" panose="020B0604020202020204" pitchFamily="34" charset="0"/>
                          <a:ea typeface="微软雅黑" panose="020B0503020204020204" pitchFamily="34" charset="-122"/>
                        </a:rPr>
                        <a:t>0-7</a:t>
                      </a:r>
                      <a:r>
                        <a:rPr lang="zh-CN" altLang="en-US" sz="800" b="0" i="0" dirty="0">
                          <a:solidFill>
                            <a:schemeClr val="bg1"/>
                          </a:solidFill>
                          <a:effectLst/>
                          <a:latin typeface="Arial" panose="020B0604020202020204" pitchFamily="34" charset="0"/>
                          <a:ea typeface="微软雅黑" panose="020B0503020204020204" pitchFamily="34" charset="-122"/>
                        </a:rPr>
                        <a:t>天，工单</a:t>
                      </a:r>
                      <a:r>
                        <a:rPr lang="en-US" altLang="zh-CN" sz="800" b="0" i="0" dirty="0">
                          <a:solidFill>
                            <a:schemeClr val="bg1"/>
                          </a:solidFill>
                          <a:effectLst/>
                          <a:latin typeface="Arial" panose="020B0604020202020204" pitchFamily="34" charset="0"/>
                          <a:ea typeface="微软雅黑" panose="020B0503020204020204" pitchFamily="34" charset="-122"/>
                        </a:rPr>
                        <a:t>/</a:t>
                      </a:r>
                      <a:r>
                        <a:rPr lang="zh-CN" altLang="en-US" sz="800" b="0" i="0" dirty="0">
                          <a:solidFill>
                            <a:schemeClr val="bg1"/>
                          </a:solidFill>
                          <a:effectLst/>
                          <a:latin typeface="Arial" panose="020B0604020202020204" pitchFamily="34" charset="0"/>
                          <a:ea typeface="微软雅黑" panose="020B0503020204020204" pitchFamily="34" charset="-122"/>
                        </a:rPr>
                        <a:t>任务层面，日度</a:t>
                      </a:r>
                      <a:r>
                        <a:rPr lang="en-US" altLang="zh-CN" sz="800" b="0" i="0" dirty="0">
                          <a:solidFill>
                            <a:schemeClr val="bg1"/>
                          </a:solidFill>
                          <a:effectLst/>
                          <a:latin typeface="Arial" panose="020B0604020202020204" pitchFamily="34" charset="0"/>
                          <a:ea typeface="微软雅黑" panose="020B0503020204020204" pitchFamily="34" charset="-122"/>
                        </a:rPr>
                        <a:t>/</a:t>
                      </a:r>
                      <a:r>
                        <a:rPr lang="zh-CN" altLang="en-US" sz="800" b="0" i="0" dirty="0">
                          <a:solidFill>
                            <a:schemeClr val="bg1"/>
                          </a:solidFill>
                          <a:effectLst/>
                          <a:latin typeface="Arial" panose="020B0604020202020204" pitchFamily="34" charset="0"/>
                          <a:ea typeface="微软雅黑" panose="020B0503020204020204" pitchFamily="34" charset="-122"/>
                        </a:rPr>
                        <a:t>班次循环。</a:t>
                      </a: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0" dirty="0">
                          <a:solidFill>
                            <a:schemeClr val="bg1"/>
                          </a:solidFill>
                          <a:effectLst/>
                          <a:latin typeface="Arial" panose="020B0604020202020204" pitchFamily="34" charset="0"/>
                          <a:ea typeface="微软雅黑" panose="020B0503020204020204" pitchFamily="34" charset="-122"/>
                        </a:rPr>
                        <a:t>核心要解决：</a:t>
                      </a:r>
                      <a:r>
                        <a:rPr lang="zh-CN" altLang="en-US" sz="800" b="0" i="0" dirty="0">
                          <a:solidFill>
                            <a:schemeClr val="bg1"/>
                          </a:solidFill>
                          <a:effectLst/>
                          <a:latin typeface="Arial" panose="020B0604020202020204" pitchFamily="34" charset="0"/>
                          <a:ea typeface="微软雅黑" panose="020B0503020204020204" pitchFamily="34" charset="-122"/>
                        </a:rPr>
                        <a:t> “如何做”才能最快、最好地完成生产与交付？</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1C3879"/>
                      </a:solidFill>
                      <a:prstDash val="solid"/>
                    </a:lnB>
                    <a:noFill/>
                  </a:tcPr>
                </a:tc>
                <a:tc>
                  <a:txBody>
                    <a:bodyPr/>
                    <a:lstStyle/>
                    <a:p>
                      <a:pPr algn="l"/>
                      <a:r>
                        <a:rPr lang="en-US" altLang="zh-CN" sz="800" b="1">
                          <a:solidFill>
                            <a:schemeClr val="bg1"/>
                          </a:solidFill>
                          <a:latin typeface="Arial" panose="020B0604020202020204" pitchFamily="34" charset="0"/>
                          <a:ea typeface="微软雅黑" panose="020B0503020204020204" pitchFamily="34" charset="-122"/>
                        </a:rPr>
                        <a:t>1. </a:t>
                      </a:r>
                      <a:r>
                        <a:rPr lang="zh-CN" altLang="en-US" sz="800" b="1">
                          <a:solidFill>
                            <a:schemeClr val="bg1"/>
                          </a:solidFill>
                          <a:latin typeface="Arial" panose="020B0604020202020204" pitchFamily="34" charset="0"/>
                          <a:ea typeface="微软雅黑" panose="020B0503020204020204" pitchFamily="34" charset="-122"/>
                        </a:rPr>
                        <a:t>约束规划与动态排程：</a:t>
                      </a:r>
                      <a:r>
                        <a:rPr lang="zh-CN" altLang="en-US" sz="800">
                          <a:solidFill>
                            <a:schemeClr val="bg1"/>
                          </a:solidFill>
                          <a:latin typeface="Arial" panose="020B0604020202020204" pitchFamily="34" charset="0"/>
                          <a:ea typeface="微软雅黑" panose="020B0503020204020204" pitchFamily="34" charset="-122"/>
                        </a:rPr>
                        <a:t> 在</a:t>
                      </a:r>
                      <a:r>
                        <a:rPr lang="en-US" altLang="zh-CN" sz="800">
                          <a:solidFill>
                            <a:schemeClr val="bg1"/>
                          </a:solidFill>
                          <a:latin typeface="Arial" panose="020B0604020202020204" pitchFamily="34" charset="0"/>
                          <a:ea typeface="微软雅黑" panose="020B0503020204020204" pitchFamily="34" charset="-122"/>
                        </a:rPr>
                        <a:t>ITP</a:t>
                      </a:r>
                      <a:r>
                        <a:rPr lang="zh-CN" altLang="en-US" sz="800">
                          <a:solidFill>
                            <a:schemeClr val="bg1"/>
                          </a:solidFill>
                          <a:latin typeface="Arial" panose="020B0604020202020204" pitchFamily="34" charset="0"/>
                          <a:ea typeface="微软雅黑" panose="020B0503020204020204" pitchFamily="34" charset="-122"/>
                        </a:rPr>
                        <a:t>分配的</a:t>
                      </a:r>
                      <a:r>
                        <a:rPr lang="zh-CN" altLang="en-US" sz="800" b="1">
                          <a:solidFill>
                            <a:schemeClr val="bg1"/>
                          </a:solidFill>
                          <a:latin typeface="Arial" panose="020B0604020202020204" pitchFamily="34" charset="0"/>
                          <a:ea typeface="微软雅黑" panose="020B0503020204020204" pitchFamily="34" charset="-122"/>
                        </a:rPr>
                        <a:t>资源配额</a:t>
                      </a:r>
                      <a:r>
                        <a:rPr lang="zh-CN" altLang="en-US" sz="800">
                          <a:solidFill>
                            <a:schemeClr val="bg1"/>
                          </a:solidFill>
                          <a:latin typeface="Arial" panose="020B0604020202020204" pitchFamily="34" charset="0"/>
                          <a:ea typeface="微软雅黑" panose="020B0503020204020204" pitchFamily="34" charset="-122"/>
                        </a:rPr>
                        <a:t>下，进行</a:t>
                      </a:r>
                      <a:r>
                        <a:rPr lang="zh-CN" altLang="en-US" sz="800" b="1">
                          <a:solidFill>
                            <a:schemeClr val="bg1"/>
                          </a:solidFill>
                          <a:latin typeface="Arial" panose="020B0604020202020204" pitchFamily="34" charset="0"/>
                          <a:ea typeface="微软雅黑" panose="020B0503020204020204" pitchFamily="34" charset="-122"/>
                        </a:rPr>
                        <a:t>天</a:t>
                      </a:r>
                      <a:r>
                        <a:rPr lang="en-US" altLang="zh-CN" sz="800" b="1">
                          <a:solidFill>
                            <a:schemeClr val="bg1"/>
                          </a:solidFill>
                          <a:latin typeface="Arial" panose="020B0604020202020204" pitchFamily="34" charset="0"/>
                          <a:ea typeface="微软雅黑" panose="020B0503020204020204" pitchFamily="34" charset="-122"/>
                        </a:rPr>
                        <a:t>/</a:t>
                      </a:r>
                      <a:r>
                        <a:rPr lang="zh-CN" altLang="en-US" sz="800" b="1">
                          <a:solidFill>
                            <a:schemeClr val="bg1"/>
                          </a:solidFill>
                          <a:latin typeface="Arial" panose="020B0604020202020204" pitchFamily="34" charset="0"/>
                          <a:ea typeface="微软雅黑" panose="020B0503020204020204" pitchFamily="34" charset="-122"/>
                        </a:rPr>
                        <a:t>班次</a:t>
                      </a:r>
                      <a:r>
                        <a:rPr lang="zh-CN" altLang="en-US" sz="800">
                          <a:solidFill>
                            <a:schemeClr val="bg1"/>
                          </a:solidFill>
                          <a:latin typeface="Arial" panose="020B0604020202020204" pitchFamily="34" charset="0"/>
                          <a:ea typeface="微软雅黑" panose="020B0503020204020204" pitchFamily="34" charset="-122"/>
                        </a:rPr>
                        <a:t>级别的详细约束规划，生成工单、机台、人员的精确排程。</a:t>
                      </a:r>
                      <a:br>
                        <a:rPr lang="zh-CN" altLang="en-US" sz="800">
                          <a:solidFill>
                            <a:schemeClr val="bg1"/>
                          </a:solidFill>
                          <a:latin typeface="Arial" panose="020B0604020202020204" pitchFamily="34" charset="0"/>
                          <a:ea typeface="微软雅黑" panose="020B0503020204020204" pitchFamily="34" charset="-122"/>
                        </a:rPr>
                      </a:br>
                      <a:r>
                        <a:rPr lang="en-US" altLang="zh-CN" sz="800" b="1">
                          <a:solidFill>
                            <a:schemeClr val="bg1"/>
                          </a:solidFill>
                          <a:latin typeface="Arial" panose="020B0604020202020204" pitchFamily="34" charset="0"/>
                          <a:ea typeface="微软雅黑" panose="020B0503020204020204" pitchFamily="34" charset="-122"/>
                        </a:rPr>
                        <a:t>2. </a:t>
                      </a:r>
                      <a:r>
                        <a:rPr lang="zh-CN" altLang="en-US" sz="800" b="1">
                          <a:solidFill>
                            <a:schemeClr val="bg1"/>
                          </a:solidFill>
                          <a:latin typeface="Arial" panose="020B0604020202020204" pitchFamily="34" charset="0"/>
                          <a:ea typeface="微软雅黑" panose="020B0503020204020204" pitchFamily="34" charset="-122"/>
                        </a:rPr>
                        <a:t>实时承诺 </a:t>
                      </a:r>
                      <a:r>
                        <a:rPr lang="en-US" altLang="zh-CN" sz="800" b="1">
                          <a:solidFill>
                            <a:schemeClr val="bg1"/>
                          </a:solidFill>
                          <a:latin typeface="Arial" panose="020B0604020202020204" pitchFamily="34" charset="0"/>
                          <a:ea typeface="微软雅黑" panose="020B0503020204020204" pitchFamily="34" charset="-122"/>
                        </a:rPr>
                        <a:t>(ATP/CTP)</a:t>
                      </a:r>
                      <a:r>
                        <a:rPr lang="zh-CN" altLang="en-US" sz="800" b="1">
                          <a:solidFill>
                            <a:schemeClr val="bg1"/>
                          </a:solidFill>
                          <a:latin typeface="Arial" panose="020B0604020202020204" pitchFamily="34" charset="0"/>
                          <a:ea typeface="微软雅黑" panose="020B0503020204020204" pitchFamily="34" charset="-122"/>
                        </a:rPr>
                        <a:t>：</a:t>
                      </a:r>
                      <a:r>
                        <a:rPr lang="zh-CN" altLang="en-US" sz="800">
                          <a:solidFill>
                            <a:schemeClr val="bg1"/>
                          </a:solidFill>
                          <a:latin typeface="Arial" panose="020B0604020202020204" pitchFamily="34" charset="0"/>
                          <a:ea typeface="微软雅黑" panose="020B0503020204020204" pitchFamily="34" charset="-122"/>
                        </a:rPr>
                        <a:t> 基于实时库存、产能与物料，为紧急订单提供</a:t>
                      </a:r>
                      <a:r>
                        <a:rPr lang="zh-CN" altLang="en-US" sz="800" b="1">
                          <a:solidFill>
                            <a:schemeClr val="bg1"/>
                          </a:solidFill>
                          <a:latin typeface="Arial" panose="020B0604020202020204" pitchFamily="34" charset="0"/>
                          <a:ea typeface="微软雅黑" panose="020B0503020204020204" pitchFamily="34" charset="-122"/>
                        </a:rPr>
                        <a:t>可承诺量</a:t>
                      </a:r>
                      <a:r>
                        <a:rPr lang="zh-CN" altLang="en-US" sz="800">
                          <a:solidFill>
                            <a:schemeClr val="bg1"/>
                          </a:solidFill>
                          <a:latin typeface="Arial" panose="020B0604020202020204" pitchFamily="34" charset="0"/>
                          <a:ea typeface="微软雅黑" panose="020B0503020204020204" pitchFamily="34" charset="-122"/>
                        </a:rPr>
                        <a:t>与可靠交期。</a:t>
                      </a:r>
                      <a:br>
                        <a:rPr lang="zh-CN" altLang="en-US" sz="800">
                          <a:solidFill>
                            <a:schemeClr val="bg1"/>
                          </a:solidFill>
                          <a:latin typeface="Arial" panose="020B0604020202020204" pitchFamily="34" charset="0"/>
                          <a:ea typeface="微软雅黑" panose="020B0503020204020204" pitchFamily="34" charset="-122"/>
                        </a:rPr>
                      </a:br>
                      <a:r>
                        <a:rPr lang="en-US" altLang="zh-CN" sz="800" b="1">
                          <a:solidFill>
                            <a:schemeClr val="bg1"/>
                          </a:solidFill>
                          <a:latin typeface="Arial" panose="020B0604020202020204" pitchFamily="34" charset="0"/>
                          <a:ea typeface="微软雅黑" panose="020B0503020204020204" pitchFamily="34" charset="-122"/>
                        </a:rPr>
                        <a:t>3. </a:t>
                      </a:r>
                      <a:r>
                        <a:rPr lang="zh-CN" altLang="en-US" sz="800" b="1">
                          <a:solidFill>
                            <a:schemeClr val="bg1"/>
                          </a:solidFill>
                          <a:latin typeface="Arial" panose="020B0604020202020204" pitchFamily="34" charset="0"/>
                          <a:ea typeface="微软雅黑" panose="020B0503020204020204" pitchFamily="34" charset="-122"/>
                        </a:rPr>
                        <a:t>供应商执行协同：</a:t>
                      </a:r>
                      <a:r>
                        <a:rPr lang="zh-CN" altLang="en-US" sz="800">
                          <a:solidFill>
                            <a:schemeClr val="bg1"/>
                          </a:solidFill>
                          <a:latin typeface="Arial" panose="020B0604020202020204" pitchFamily="34" charset="0"/>
                          <a:ea typeface="微软雅黑" panose="020B0503020204020204" pitchFamily="34" charset="-122"/>
                        </a:rPr>
                        <a:t> 与供应商进行</a:t>
                      </a:r>
                      <a:r>
                        <a:rPr lang="zh-CN" altLang="en-US" sz="800" b="1">
                          <a:solidFill>
                            <a:schemeClr val="bg1"/>
                          </a:solidFill>
                          <a:latin typeface="Arial" panose="020B0604020202020204" pitchFamily="34" charset="0"/>
                          <a:ea typeface="微软雅黑" panose="020B0503020204020204" pitchFamily="34" charset="-122"/>
                        </a:rPr>
                        <a:t>日度</a:t>
                      </a:r>
                      <a:r>
                        <a:rPr lang="zh-CN" altLang="en-US" sz="800">
                          <a:solidFill>
                            <a:schemeClr val="bg1"/>
                          </a:solidFill>
                          <a:latin typeface="Arial" panose="020B0604020202020204" pitchFamily="34" charset="0"/>
                          <a:ea typeface="微软雅黑" panose="020B0503020204020204" pitchFamily="34" charset="-122"/>
                        </a:rPr>
                        <a:t>协同，确保</a:t>
                      </a:r>
                      <a:r>
                        <a:rPr lang="zh-CN" altLang="en-US" sz="800" b="1">
                          <a:solidFill>
                            <a:schemeClr val="bg1"/>
                          </a:solidFill>
                          <a:latin typeface="Arial" panose="020B0604020202020204" pitchFamily="34" charset="0"/>
                          <a:ea typeface="微软雅黑" panose="020B0503020204020204" pitchFamily="34" charset="-122"/>
                        </a:rPr>
                        <a:t>每笔交货</a:t>
                      </a:r>
                      <a:r>
                        <a:rPr lang="zh-CN" altLang="en-US" sz="800">
                          <a:solidFill>
                            <a:schemeClr val="bg1"/>
                          </a:solidFill>
                          <a:latin typeface="Arial" panose="020B0604020202020204" pitchFamily="34" charset="0"/>
                          <a:ea typeface="微软雅黑" panose="020B0503020204020204" pitchFamily="34" charset="-122"/>
                        </a:rPr>
                        <a:t>的</a:t>
                      </a:r>
                      <a:r>
                        <a:rPr lang="en-US" altLang="zh-CN" sz="800">
                          <a:solidFill>
                            <a:schemeClr val="bg1"/>
                          </a:solidFill>
                          <a:latin typeface="Arial" panose="020B0604020202020204" pitchFamily="34" charset="0"/>
                          <a:ea typeface="微软雅黑" panose="020B0503020204020204" pitchFamily="34" charset="-122"/>
                        </a:rPr>
                        <a:t>ETA</a:t>
                      </a:r>
                      <a:r>
                        <a:rPr lang="zh-CN" altLang="en-US" sz="800">
                          <a:solidFill>
                            <a:schemeClr val="bg1"/>
                          </a:solidFill>
                          <a:latin typeface="Arial" panose="020B0604020202020204" pitchFamily="34" charset="0"/>
                          <a:ea typeface="微软雅黑" panose="020B0503020204020204" pitchFamily="34" charset="-122"/>
                        </a:rPr>
                        <a:t>（预计到货时间）、</a:t>
                      </a:r>
                      <a:r>
                        <a:rPr lang="en-US" altLang="zh-CN" sz="800">
                          <a:solidFill>
                            <a:schemeClr val="bg1"/>
                          </a:solidFill>
                          <a:latin typeface="Arial" panose="020B0604020202020204" pitchFamily="34" charset="0"/>
                          <a:ea typeface="微软雅黑" panose="020B0503020204020204" pitchFamily="34" charset="-122"/>
                        </a:rPr>
                        <a:t>ASN</a:t>
                      </a:r>
                      <a:r>
                        <a:rPr lang="zh-CN" altLang="en-US" sz="800">
                          <a:solidFill>
                            <a:schemeClr val="bg1"/>
                          </a:solidFill>
                          <a:latin typeface="Arial" panose="020B0604020202020204" pitchFamily="34" charset="0"/>
                          <a:ea typeface="微软雅黑" panose="020B0503020204020204" pitchFamily="34" charset="-122"/>
                        </a:rPr>
                        <a:t>（提前发货通知）与生产计划紧密对齐，实现端到端</a:t>
                      </a:r>
                      <a:r>
                        <a:rPr lang="en-US" altLang="zh-CN" sz="800">
                          <a:solidFill>
                            <a:schemeClr val="bg1"/>
                          </a:solidFill>
                          <a:latin typeface="Arial" panose="020B0604020202020204" pitchFamily="34" charset="0"/>
                          <a:ea typeface="微软雅黑" panose="020B0503020204020204" pitchFamily="34" charset="-122"/>
                        </a:rPr>
                        <a:t>Pegging</a:t>
                      </a:r>
                      <a:r>
                        <a:rPr lang="zh-CN" altLang="en-US" sz="800">
                          <a:solidFill>
                            <a:schemeClr val="bg1"/>
                          </a:solidFill>
                          <a:latin typeface="Arial" panose="020B0604020202020204" pitchFamily="34" charset="0"/>
                          <a:ea typeface="微软雅黑" panose="020B0503020204020204" pitchFamily="34" charset="-122"/>
                        </a:rPr>
                        <a:t>（追踪关联）。</a:t>
                      </a:r>
                      <a:br>
                        <a:rPr lang="zh-CN" altLang="en-US" sz="800">
                          <a:solidFill>
                            <a:schemeClr val="bg1"/>
                          </a:solidFill>
                          <a:latin typeface="Arial" panose="020B0604020202020204" pitchFamily="34" charset="0"/>
                          <a:ea typeface="微软雅黑" panose="020B0503020204020204" pitchFamily="34" charset="-122"/>
                        </a:rPr>
                      </a:br>
                      <a:r>
                        <a:rPr lang="en-US" altLang="zh-CN" sz="800" b="1">
                          <a:solidFill>
                            <a:schemeClr val="bg1"/>
                          </a:solidFill>
                          <a:latin typeface="Arial" panose="020B0604020202020204" pitchFamily="34" charset="0"/>
                          <a:ea typeface="微软雅黑" panose="020B0503020204020204" pitchFamily="34" charset="-122"/>
                        </a:rPr>
                        <a:t>4. </a:t>
                      </a:r>
                      <a:r>
                        <a:rPr lang="zh-CN" altLang="en-US" sz="800" b="1">
                          <a:solidFill>
                            <a:schemeClr val="bg1"/>
                          </a:solidFill>
                          <a:latin typeface="Arial" panose="020B0604020202020204" pitchFamily="34" charset="0"/>
                          <a:ea typeface="微软雅黑" panose="020B0503020204020204" pitchFamily="34" charset="-122"/>
                        </a:rPr>
                        <a:t>异常响应与重排程：</a:t>
                      </a:r>
                      <a:r>
                        <a:rPr lang="zh-CN" altLang="en-US" sz="800">
                          <a:solidFill>
                            <a:schemeClr val="bg1"/>
                          </a:solidFill>
                          <a:latin typeface="Arial" panose="020B0604020202020204" pitchFamily="34" charset="0"/>
                          <a:ea typeface="微软雅黑" panose="020B0503020204020204" pitchFamily="34" charset="-122"/>
                        </a:rPr>
                        <a:t> 快速响应生产与物流中的异常（如设备故障、延误），动态</a:t>
                      </a:r>
                      <a:r>
                        <a:rPr lang="zh-CN" altLang="en-US" sz="800" b="1">
                          <a:solidFill>
                            <a:schemeClr val="bg1"/>
                          </a:solidFill>
                          <a:latin typeface="Arial" panose="020B0604020202020204" pitchFamily="34" charset="0"/>
                          <a:ea typeface="微软雅黑" panose="020B0503020204020204" pitchFamily="34" charset="-122"/>
                        </a:rPr>
                        <a:t>重排程</a:t>
                      </a:r>
                      <a:r>
                        <a:rPr lang="zh-CN" altLang="en-US" sz="800">
                          <a:solidFill>
                            <a:schemeClr val="bg1"/>
                          </a:solidFill>
                          <a:latin typeface="Arial" panose="020B0604020202020204" pitchFamily="34" charset="0"/>
                          <a:ea typeface="微软雅黑" panose="020B0503020204020204" pitchFamily="34" charset="-122"/>
                        </a:rPr>
                        <a:t>以确保交付。</a:t>
                      </a:r>
                    </a:p>
                  </a:txBody>
                  <a:tcPr anchor="ctr">
                    <a:lnL>
                      <a:noFill/>
                    </a:lnL>
                    <a:lnR>
                      <a:noFill/>
                    </a:lnR>
                    <a:lnT>
                      <a:solidFill>
                        <a:srgbClr val="DDDDDD"/>
                      </a:solidFill>
                      <a:prstDash val="solid"/>
                    </a:lnT>
                    <a:lnB>
                      <a:solidFill>
                        <a:srgbClr val="1C3879"/>
                      </a:solidFill>
                      <a:prstDash val="solid"/>
                    </a:lnB>
                    <a:noFill/>
                  </a:tcPr>
                </a:tc>
                <a:tc>
                  <a:txBody>
                    <a:bodyPr/>
                    <a:lstStyle/>
                    <a:p>
                      <a:pPr algn="l"/>
                      <a:r>
                        <a:rPr lang="zh-CN" altLang="en-US" sz="800" b="1" i="0" dirty="0">
                          <a:solidFill>
                            <a:schemeClr val="bg1"/>
                          </a:solidFill>
                          <a:effectLst/>
                          <a:latin typeface="Arial" panose="020B0604020202020204" pitchFamily="34" charset="0"/>
                          <a:ea typeface="微软雅黑" panose="020B0503020204020204" pitchFamily="34" charset="-122"/>
                        </a:rPr>
                        <a:t>执行层面的刚柔并济：</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刚性执行：</a:t>
                      </a:r>
                      <a:r>
                        <a:rPr lang="zh-CN" altLang="en-US" sz="800" b="0" i="0" dirty="0">
                          <a:solidFill>
                            <a:schemeClr val="bg1"/>
                          </a:solidFill>
                          <a:effectLst/>
                          <a:latin typeface="Arial" panose="020B0604020202020204" pitchFamily="34" charset="0"/>
                          <a:ea typeface="微软雅黑" panose="020B0503020204020204" pitchFamily="34" charset="-122"/>
                        </a:rPr>
                        <a:t> 生成的</a:t>
                      </a:r>
                      <a:r>
                        <a:rPr lang="zh-CN" altLang="en-US" sz="800" b="1" i="0" dirty="0">
                          <a:solidFill>
                            <a:schemeClr val="bg1"/>
                          </a:solidFill>
                          <a:effectLst/>
                          <a:latin typeface="Arial" panose="020B0604020202020204" pitchFamily="34" charset="0"/>
                          <a:ea typeface="微软雅黑" panose="020B0503020204020204" pitchFamily="34" charset="-122"/>
                        </a:rPr>
                        <a:t>工单</a:t>
                      </a:r>
                      <a:r>
                        <a:rPr lang="zh-CN" altLang="en-US" sz="800" b="0" i="0" dirty="0">
                          <a:solidFill>
                            <a:schemeClr val="bg1"/>
                          </a:solidFill>
                          <a:effectLst/>
                          <a:latin typeface="Arial" panose="020B0604020202020204" pitchFamily="34" charset="0"/>
                          <a:ea typeface="微软雅黑" panose="020B0503020204020204" pitchFamily="34" charset="-122"/>
                        </a:rPr>
                        <a:t>、</a:t>
                      </a:r>
                      <a:r>
                        <a:rPr lang="zh-CN" altLang="en-US" sz="800" b="1" i="0" dirty="0">
                          <a:solidFill>
                            <a:schemeClr val="bg1"/>
                          </a:solidFill>
                          <a:effectLst/>
                          <a:latin typeface="Arial" panose="020B0604020202020204" pitchFamily="34" charset="0"/>
                          <a:ea typeface="微软雅黑" panose="020B0503020204020204" pitchFamily="34" charset="-122"/>
                        </a:rPr>
                        <a:t>发货指令</a:t>
                      </a:r>
                      <a:r>
                        <a:rPr lang="zh-CN" altLang="en-US" sz="800" b="0" i="0" dirty="0">
                          <a:solidFill>
                            <a:schemeClr val="bg1"/>
                          </a:solidFill>
                          <a:effectLst/>
                          <a:latin typeface="Arial" panose="020B0604020202020204" pitchFamily="34" charset="0"/>
                          <a:ea typeface="微软雅黑" panose="020B0503020204020204" pitchFamily="34" charset="-122"/>
                        </a:rPr>
                        <a:t>是现场必须执行的硬指令。</a:t>
                      </a:r>
                      <a:br>
                        <a:rPr lang="zh-CN" altLang="en-US" sz="800" dirty="0">
                          <a:solidFill>
                            <a:schemeClr val="bg1"/>
                          </a:solidFill>
                          <a:latin typeface="Arial" panose="020B0604020202020204" pitchFamily="34" charset="0"/>
                          <a:ea typeface="微软雅黑" panose="020B0503020204020204" pitchFamily="34" charset="-122"/>
                        </a:rPr>
                      </a:br>
                      <a:r>
                        <a:rPr lang="en-US" altLang="zh-CN" sz="800" b="0" i="0" dirty="0">
                          <a:solidFill>
                            <a:schemeClr val="bg1"/>
                          </a:solidFill>
                          <a:effectLst/>
                          <a:latin typeface="Arial" panose="020B0604020202020204" pitchFamily="34" charset="0"/>
                          <a:ea typeface="微软雅黑" panose="020B0503020204020204" pitchFamily="34" charset="-122"/>
                        </a:rPr>
                        <a:t>• </a:t>
                      </a:r>
                      <a:r>
                        <a:rPr lang="zh-CN" altLang="en-US" sz="800" b="1" i="0" dirty="0">
                          <a:solidFill>
                            <a:schemeClr val="bg1"/>
                          </a:solidFill>
                          <a:effectLst/>
                          <a:latin typeface="Arial" panose="020B0604020202020204" pitchFamily="34" charset="0"/>
                          <a:ea typeface="微软雅黑" panose="020B0503020204020204" pitchFamily="34" charset="-122"/>
                        </a:rPr>
                        <a:t>柔性响应：</a:t>
                      </a:r>
                      <a:r>
                        <a:rPr lang="zh-CN" altLang="en-US" sz="800" b="0" i="0" dirty="0">
                          <a:solidFill>
                            <a:schemeClr val="bg1"/>
                          </a:solidFill>
                          <a:effectLst/>
                          <a:latin typeface="Arial" panose="020B0604020202020204" pitchFamily="34" charset="0"/>
                          <a:ea typeface="微软雅黑" panose="020B0503020204020204" pitchFamily="34" charset="-122"/>
                        </a:rPr>
                        <a:t> 拥有在</a:t>
                      </a:r>
                      <a:r>
                        <a:rPr lang="zh-CN" altLang="en-US" sz="800" b="1" i="0" dirty="0">
                          <a:solidFill>
                            <a:schemeClr val="bg1"/>
                          </a:solidFill>
                          <a:effectLst/>
                          <a:latin typeface="Arial" panose="020B0604020202020204" pitchFamily="34" charset="0"/>
                          <a:ea typeface="微软雅黑" panose="020B0503020204020204" pitchFamily="34" charset="-122"/>
                        </a:rPr>
                        <a:t>预设规则内</a:t>
                      </a:r>
                      <a:r>
                        <a:rPr lang="zh-CN" altLang="en-US" sz="800" b="0" i="0" dirty="0">
                          <a:solidFill>
                            <a:schemeClr val="bg1"/>
                          </a:solidFill>
                          <a:effectLst/>
                          <a:latin typeface="Arial" panose="020B0604020202020204" pitchFamily="34" charset="0"/>
                          <a:ea typeface="微软雅黑" panose="020B0503020204020204" pitchFamily="34" charset="-122"/>
                        </a:rPr>
                        <a:t>自主调整作业顺序、快速响应异常的极大灵活性。</a:t>
                      </a:r>
                      <a:br>
                        <a:rPr lang="zh-CN" altLang="en-US" sz="800" dirty="0">
                          <a:solidFill>
                            <a:schemeClr val="bg1"/>
                          </a:solidFill>
                          <a:latin typeface="Arial" panose="020B0604020202020204" pitchFamily="34" charset="0"/>
                          <a:ea typeface="微软雅黑" panose="020B0503020204020204" pitchFamily="34" charset="-122"/>
                        </a:rPr>
                      </a:br>
                      <a:br>
                        <a:rPr lang="zh-CN" altLang="en-US" sz="800" dirty="0">
                          <a:solidFill>
                            <a:schemeClr val="bg1"/>
                          </a:solidFill>
                          <a:latin typeface="Arial" panose="020B0604020202020204" pitchFamily="34" charset="0"/>
                          <a:ea typeface="微软雅黑" panose="020B0503020204020204" pitchFamily="34" charset="-122"/>
                        </a:rPr>
                      </a:br>
                      <a:r>
                        <a:rPr lang="zh-CN" altLang="en-US" sz="800" b="1" i="0" dirty="0">
                          <a:solidFill>
                            <a:schemeClr val="bg1"/>
                          </a:solidFill>
                          <a:effectLst/>
                          <a:latin typeface="Arial" panose="020B0604020202020204" pitchFamily="34" charset="0"/>
                          <a:ea typeface="微软雅黑" panose="020B0503020204020204" pitchFamily="34" charset="-122"/>
                        </a:rPr>
                        <a:t>对</a:t>
                      </a:r>
                      <a:r>
                        <a:rPr lang="en-US" altLang="zh-CN" sz="800" b="1" i="0" dirty="0">
                          <a:solidFill>
                            <a:schemeClr val="bg1"/>
                          </a:solidFill>
                          <a:effectLst/>
                          <a:latin typeface="Arial" panose="020B0604020202020204" pitchFamily="34" charset="0"/>
                          <a:ea typeface="微软雅黑" panose="020B0503020204020204" pitchFamily="34" charset="-122"/>
                        </a:rPr>
                        <a:t>ITP</a:t>
                      </a:r>
                      <a:r>
                        <a:rPr lang="zh-CN" altLang="en-US" sz="800" b="1" i="0" dirty="0">
                          <a:solidFill>
                            <a:schemeClr val="bg1"/>
                          </a:solidFill>
                          <a:effectLst/>
                          <a:latin typeface="Arial" panose="020B0604020202020204" pitchFamily="34" charset="0"/>
                          <a:ea typeface="微软雅黑" panose="020B0503020204020204" pitchFamily="34" charset="-122"/>
                        </a:rPr>
                        <a:t>的反馈：</a:t>
                      </a:r>
                      <a:r>
                        <a:rPr lang="zh-CN" altLang="en-US" sz="800" b="0" i="0" dirty="0">
                          <a:solidFill>
                            <a:schemeClr val="bg1"/>
                          </a:solidFill>
                          <a:effectLst/>
                          <a:latin typeface="Arial" panose="020B0604020202020204" pitchFamily="34" charset="0"/>
                          <a:ea typeface="微软雅黑" panose="020B0503020204020204" pitchFamily="34" charset="-122"/>
                        </a:rPr>
                        <a:t> 将规则无法覆盖的异常、或规则执行后的整体绩效结果反馈给</a:t>
                      </a:r>
                      <a:r>
                        <a:rPr lang="en-US" altLang="zh-CN" sz="800" b="0" i="0" dirty="0">
                          <a:solidFill>
                            <a:schemeClr val="bg1"/>
                          </a:solidFill>
                          <a:effectLst/>
                          <a:latin typeface="Arial" panose="020B0604020202020204" pitchFamily="34" charset="0"/>
                          <a:ea typeface="微软雅黑" panose="020B0503020204020204" pitchFamily="34" charset="-122"/>
                        </a:rPr>
                        <a:t>ITP</a:t>
                      </a:r>
                      <a:r>
                        <a:rPr lang="zh-CN" altLang="en-US" sz="800" b="0" i="0" dirty="0">
                          <a:solidFill>
                            <a:schemeClr val="bg1"/>
                          </a:solidFill>
                          <a:effectLst/>
                          <a:latin typeface="Arial" panose="020B0604020202020204" pitchFamily="34" charset="0"/>
                          <a:ea typeface="微软雅黑" panose="020B0503020204020204" pitchFamily="34" charset="-122"/>
                        </a:rPr>
                        <a:t>，用于优化配额和规则本身。</a:t>
                      </a:r>
                      <a:endParaRPr lang="zh-CN" altLang="en-US" sz="800" dirty="0">
                        <a:solidFill>
                          <a:schemeClr val="bg1"/>
                        </a:solidFill>
                        <a:latin typeface="Arial" panose="020B0604020202020204" pitchFamily="34" charset="0"/>
                        <a:ea typeface="微软雅黑" panose="020B0503020204020204" pitchFamily="34" charset="-122"/>
                      </a:endParaRPr>
                    </a:p>
                  </a:txBody>
                  <a:tcPr anchor="ctr">
                    <a:lnL>
                      <a:noFill/>
                    </a:lnL>
                    <a:lnR>
                      <a:noFill/>
                    </a:lnR>
                    <a:lnT>
                      <a:solidFill>
                        <a:srgbClr val="DDDDDD"/>
                      </a:solidFill>
                      <a:prstDash val="solid"/>
                    </a:lnT>
                    <a:lnB>
                      <a:solidFill>
                        <a:srgbClr val="1C3879"/>
                      </a:solidFill>
                      <a:prstDash val="solid"/>
                    </a:lnB>
                    <a:noFill/>
                  </a:tcPr>
                </a:tc>
                <a:extLst>
                  <a:ext uri="{0D108BD9-81ED-4DB2-BD59-A6C34878D82A}">
                    <a16:rowId xmlns:a16="http://schemas.microsoft.com/office/drawing/2014/main" val="224125038"/>
                  </a:ext>
                </a:extLst>
              </a:tr>
            </a:tbl>
          </a:graphicData>
        </a:graphic>
      </p:graphicFrame>
      <p:sp>
        <p:nvSpPr>
          <p:cNvPr id="22" name="标注: 线形 21">
            <a:extLst>
              <a:ext uri="{FF2B5EF4-FFF2-40B4-BE49-F238E27FC236}">
                <a16:creationId xmlns:a16="http://schemas.microsoft.com/office/drawing/2014/main" id="{3357595A-09CC-058E-6B7F-D500311DDA61}"/>
              </a:ext>
            </a:extLst>
          </p:cNvPr>
          <p:cNvSpPr/>
          <p:nvPr/>
        </p:nvSpPr>
        <p:spPr>
          <a:xfrm>
            <a:off x="3527751" y="2337281"/>
            <a:ext cx="1342015" cy="160282"/>
          </a:xfrm>
          <a:prstGeom prst="borderCallout1">
            <a:avLst>
              <a:gd name="adj1" fmla="val 18750"/>
              <a:gd name="adj2" fmla="val -8333"/>
              <a:gd name="adj3" fmla="val 91262"/>
              <a:gd name="adj4" fmla="val -15959"/>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横向协同：战略共识</a:t>
            </a:r>
          </a:p>
        </p:txBody>
      </p:sp>
      <p:sp>
        <p:nvSpPr>
          <p:cNvPr id="33" name="标注: 线形 32">
            <a:extLst>
              <a:ext uri="{FF2B5EF4-FFF2-40B4-BE49-F238E27FC236}">
                <a16:creationId xmlns:a16="http://schemas.microsoft.com/office/drawing/2014/main" id="{C3B36E2A-DD5B-7150-9B6D-F00A24BE230F}"/>
              </a:ext>
            </a:extLst>
          </p:cNvPr>
          <p:cNvSpPr/>
          <p:nvPr/>
        </p:nvSpPr>
        <p:spPr>
          <a:xfrm>
            <a:off x="3518712" y="3095372"/>
            <a:ext cx="1395199" cy="170088"/>
          </a:xfrm>
          <a:prstGeom prst="borderCallout1">
            <a:avLst>
              <a:gd name="adj1" fmla="val 18750"/>
              <a:gd name="adj2" fmla="val -8333"/>
              <a:gd name="adj3" fmla="val 131946"/>
              <a:gd name="adj4" fmla="val -16526"/>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横向协同：供需平衡</a:t>
            </a:r>
          </a:p>
        </p:txBody>
      </p:sp>
      <p:sp>
        <p:nvSpPr>
          <p:cNvPr id="34" name="标注: 线形 33">
            <a:extLst>
              <a:ext uri="{FF2B5EF4-FFF2-40B4-BE49-F238E27FC236}">
                <a16:creationId xmlns:a16="http://schemas.microsoft.com/office/drawing/2014/main" id="{1DDAEBCF-4E2C-1EF7-F7BB-A24E520ED360}"/>
              </a:ext>
            </a:extLst>
          </p:cNvPr>
          <p:cNvSpPr/>
          <p:nvPr/>
        </p:nvSpPr>
        <p:spPr>
          <a:xfrm>
            <a:off x="3606948" y="4973063"/>
            <a:ext cx="1343868" cy="188485"/>
          </a:xfrm>
          <a:prstGeom prst="borderCallout1">
            <a:avLst>
              <a:gd name="adj1" fmla="val 18750"/>
              <a:gd name="adj2" fmla="val -8333"/>
              <a:gd name="adj3" fmla="val -27956"/>
              <a:gd name="adj4" fmla="val -31681"/>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横向协同：供需平衡</a:t>
            </a:r>
          </a:p>
        </p:txBody>
      </p:sp>
      <p:sp>
        <p:nvSpPr>
          <p:cNvPr id="35" name="标注: 线形 34">
            <a:extLst>
              <a:ext uri="{FF2B5EF4-FFF2-40B4-BE49-F238E27FC236}">
                <a16:creationId xmlns:a16="http://schemas.microsoft.com/office/drawing/2014/main" id="{02069D7A-D287-C6BF-8825-03964082C248}"/>
              </a:ext>
            </a:extLst>
          </p:cNvPr>
          <p:cNvSpPr/>
          <p:nvPr/>
        </p:nvSpPr>
        <p:spPr>
          <a:xfrm>
            <a:off x="650903" y="3896008"/>
            <a:ext cx="1685363" cy="213545"/>
          </a:xfrm>
          <a:prstGeom prst="borderCallout1">
            <a:avLst>
              <a:gd name="adj1" fmla="val 53469"/>
              <a:gd name="adj2" fmla="val 99303"/>
              <a:gd name="adj3" fmla="val 14654"/>
              <a:gd name="adj4" fmla="val 1204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纵向协同：约束性指导与反馈</a:t>
            </a:r>
          </a:p>
        </p:txBody>
      </p:sp>
      <p:sp>
        <p:nvSpPr>
          <p:cNvPr id="39" name="标注: 线形 38">
            <a:extLst>
              <a:ext uri="{FF2B5EF4-FFF2-40B4-BE49-F238E27FC236}">
                <a16:creationId xmlns:a16="http://schemas.microsoft.com/office/drawing/2014/main" id="{B7C0D9A2-636B-0278-3582-960C43C362D4}"/>
              </a:ext>
            </a:extLst>
          </p:cNvPr>
          <p:cNvSpPr/>
          <p:nvPr/>
        </p:nvSpPr>
        <p:spPr>
          <a:xfrm>
            <a:off x="650903" y="3041883"/>
            <a:ext cx="1672683" cy="201416"/>
          </a:xfrm>
          <a:prstGeom prst="borderCallout1">
            <a:avLst>
              <a:gd name="adj1" fmla="val 53469"/>
              <a:gd name="adj2" fmla="val 99303"/>
              <a:gd name="adj3" fmla="val 14654"/>
              <a:gd name="adj4" fmla="val 1204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纵向协同：约束性指导与反馈</a:t>
            </a:r>
          </a:p>
        </p:txBody>
      </p:sp>
      <p:sp>
        <p:nvSpPr>
          <p:cNvPr id="42" name="标注: 线形 41">
            <a:extLst>
              <a:ext uri="{FF2B5EF4-FFF2-40B4-BE49-F238E27FC236}">
                <a16:creationId xmlns:a16="http://schemas.microsoft.com/office/drawing/2014/main" id="{931B14EE-B9DA-0BF1-B3E4-849915FF38FF}"/>
              </a:ext>
            </a:extLst>
          </p:cNvPr>
          <p:cNvSpPr/>
          <p:nvPr/>
        </p:nvSpPr>
        <p:spPr>
          <a:xfrm>
            <a:off x="637234" y="5091903"/>
            <a:ext cx="1685363" cy="213545"/>
          </a:xfrm>
          <a:prstGeom prst="borderCallout1">
            <a:avLst>
              <a:gd name="adj1" fmla="val 53469"/>
              <a:gd name="adj2" fmla="val 99303"/>
              <a:gd name="adj3" fmla="val 14654"/>
              <a:gd name="adj4" fmla="val 120400"/>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纵向协同：约束性指导与反馈</a:t>
            </a:r>
          </a:p>
        </p:txBody>
      </p:sp>
    </p:spTree>
    <p:extLst>
      <p:ext uri="{BB962C8B-B14F-4D97-AF65-F5344CB8AC3E}">
        <p14:creationId xmlns:p14="http://schemas.microsoft.com/office/powerpoint/2010/main" val="14116177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4AC5FC-EEE1-1943-7249-A09035769C5B}"/>
              </a:ext>
            </a:extLst>
          </p:cNvPr>
          <p:cNvSpPr>
            <a:spLocks noGrp="1"/>
          </p:cNvSpPr>
          <p:nvPr>
            <p:ph type="title"/>
          </p:nvPr>
        </p:nvSpPr>
        <p:spPr/>
        <p:txBody>
          <a:bodyPr/>
          <a:lstStyle/>
          <a:p>
            <a:pPr algn="l" fontAlgn="base"/>
            <a:r>
              <a:rPr lang="zh-CN" altLang="en-US" b="1" i="0" dirty="0">
                <a:effectLst/>
                <a:latin typeface="Arial" panose="020B0604020202020204" pitchFamily="34" charset="0"/>
                <a:ea typeface="微软雅黑" panose="020B0503020204020204" pitchFamily="34" charset="-122"/>
              </a:rPr>
              <a:t>从“智能大脑”到“全局指挥中心”：为什么需要</a:t>
            </a:r>
            <a:r>
              <a:rPr lang="en-US" altLang="zh-CN" b="1" i="0" dirty="0">
                <a:effectLst/>
                <a:latin typeface="Arial" panose="020B0604020202020204" pitchFamily="34" charset="0"/>
                <a:ea typeface="微软雅黑" panose="020B0503020204020204" pitchFamily="34" charset="-122"/>
              </a:rPr>
              <a:t>Control Tower</a:t>
            </a:r>
            <a:r>
              <a:rPr lang="zh-CN" altLang="en-US" b="1" i="0" dirty="0">
                <a:effectLst/>
                <a:latin typeface="Arial" panose="020B0604020202020204" pitchFamily="34" charset="0"/>
                <a:ea typeface="微软雅黑" panose="020B0503020204020204" pitchFamily="34" charset="-122"/>
              </a:rPr>
              <a:t>？</a:t>
            </a:r>
            <a:endParaRPr lang="zh-CN" altLang="en-US" b="1" dirty="0">
              <a:effectLst/>
              <a:latin typeface="Arial" panose="020B0604020202020204" pitchFamily="34" charset="0"/>
              <a:ea typeface="微软雅黑" panose="020B0503020204020204" pitchFamily="34" charset="-122"/>
            </a:endParaRPr>
          </a:p>
        </p:txBody>
      </p:sp>
      <p:graphicFrame>
        <p:nvGraphicFramePr>
          <p:cNvPr id="4" name="图示 3">
            <a:extLst>
              <a:ext uri="{FF2B5EF4-FFF2-40B4-BE49-F238E27FC236}">
                <a16:creationId xmlns:a16="http://schemas.microsoft.com/office/drawing/2014/main" id="{F79C2929-C5CE-9ED6-FC67-7DEF3ADA4625}"/>
              </a:ext>
            </a:extLst>
          </p:cNvPr>
          <p:cNvGraphicFramePr/>
          <p:nvPr/>
        </p:nvGraphicFramePr>
        <p:xfrm>
          <a:off x="635001" y="782320"/>
          <a:ext cx="5354672" cy="5217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a:extLst>
              <a:ext uri="{FF2B5EF4-FFF2-40B4-BE49-F238E27FC236}">
                <a16:creationId xmlns:a16="http://schemas.microsoft.com/office/drawing/2014/main" id="{DF12A859-2A79-22E0-3A36-27A273D765A2}"/>
              </a:ext>
            </a:extLst>
          </p:cNvPr>
          <p:cNvSpPr txBox="1"/>
          <p:nvPr/>
        </p:nvSpPr>
        <p:spPr>
          <a:xfrm>
            <a:off x="1383691" y="6086390"/>
            <a:ext cx="963727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Control Tower</a:t>
            </a:r>
            <a:r>
              <a:rPr kumimoji="0" lang="zh-CN" altLang="en-US"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是</a:t>
            </a:r>
            <a:r>
              <a:rPr kumimoji="0" lang="en-US" altLang="zh-CN"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One Plan</a:t>
            </a:r>
            <a:r>
              <a:rPr kumimoji="0" lang="zh-CN" altLang="en-US"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智能价值得以实现的“放大器”和组织协同的“指挥中心”。</a:t>
            </a:r>
            <a:endParaRPr kumimoji="0" lang="en-US" altLang="zh-CN"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它们内化成一个计划与控制体系。</a:t>
            </a:r>
            <a:endPar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pic>
        <p:nvPicPr>
          <p:cNvPr id="3" name="图片 2">
            <a:extLst>
              <a:ext uri="{FF2B5EF4-FFF2-40B4-BE49-F238E27FC236}">
                <a16:creationId xmlns:a16="http://schemas.microsoft.com/office/drawing/2014/main" id="{7CF3D631-5CC4-B2C1-A0BB-567F73B31D59}"/>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contrast="20000"/>
                    </a14:imgEffect>
                  </a14:imgLayer>
                </a14:imgProps>
              </a:ext>
            </a:extLst>
          </a:blip>
          <a:stretch>
            <a:fillRect/>
          </a:stretch>
        </p:blipFill>
        <p:spPr>
          <a:xfrm>
            <a:off x="6202328" y="858520"/>
            <a:ext cx="5466489" cy="497840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7888140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0F7C038-E151-9169-9D84-2BC5511EFB0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智能业务规划</a:t>
            </a:r>
            <a:r>
              <a:rPr lang="en-US" altLang="zh-CN" dirty="0">
                <a:latin typeface="Arial" panose="020B0604020202020204" pitchFamily="34" charset="0"/>
                <a:ea typeface="微软雅黑" panose="020B0503020204020204" pitchFamily="34" charset="-122"/>
              </a:rPr>
              <a:t>IBP(Intelligent Business Planning)</a:t>
            </a:r>
            <a:endParaRPr lang="zh-CN" altLang="en-US" dirty="0">
              <a:latin typeface="Arial" panose="020B0604020202020204" pitchFamily="34" charset="0"/>
              <a:ea typeface="微软雅黑" panose="020B0503020204020204" pitchFamily="34" charset="-122"/>
            </a:endParaRPr>
          </a:p>
        </p:txBody>
      </p:sp>
      <p:grpSp>
        <p:nvGrpSpPr>
          <p:cNvPr id="27" name="组合 26">
            <a:extLst>
              <a:ext uri="{FF2B5EF4-FFF2-40B4-BE49-F238E27FC236}">
                <a16:creationId xmlns:a16="http://schemas.microsoft.com/office/drawing/2014/main" id="{9BB8235D-F742-15AE-019D-D002AC8161CA}"/>
              </a:ext>
            </a:extLst>
          </p:cNvPr>
          <p:cNvGrpSpPr>
            <a:grpSpLocks noChangeAspect="1"/>
          </p:cNvGrpSpPr>
          <p:nvPr>
            <p:custDataLst>
              <p:tags r:id="rId1"/>
            </p:custDataLst>
          </p:nvPr>
        </p:nvGrpSpPr>
        <p:grpSpPr>
          <a:xfrm>
            <a:off x="1084274" y="697342"/>
            <a:ext cx="10951782" cy="3411139"/>
            <a:chOff x="675644" y="1079309"/>
            <a:chExt cx="10607089" cy="3411139"/>
          </a:xfrm>
        </p:grpSpPr>
        <p:grpSp>
          <p:nvGrpSpPr>
            <p:cNvPr id="28" name="组合 27">
              <a:extLst>
                <a:ext uri="{FF2B5EF4-FFF2-40B4-BE49-F238E27FC236}">
                  <a16:creationId xmlns:a16="http://schemas.microsoft.com/office/drawing/2014/main" id="{02C209E6-3956-3199-254B-0EBBCB36B749}"/>
                </a:ext>
              </a:extLst>
            </p:cNvPr>
            <p:cNvGrpSpPr>
              <a:grpSpLocks/>
            </p:cNvGrpSpPr>
            <p:nvPr/>
          </p:nvGrpSpPr>
          <p:grpSpPr>
            <a:xfrm>
              <a:off x="675644" y="2493117"/>
              <a:ext cx="10139082" cy="1092215"/>
              <a:chOff x="6278556" y="1757898"/>
              <a:chExt cx="10139082" cy="1092215"/>
            </a:xfrm>
          </p:grpSpPr>
          <p:sp>
            <p:nvSpPr>
              <p:cNvPr id="37" name="2">
                <a:extLst>
                  <a:ext uri="{FF2B5EF4-FFF2-40B4-BE49-F238E27FC236}">
                    <a16:creationId xmlns:a16="http://schemas.microsoft.com/office/drawing/2014/main" id="{A961792F-868E-F6CF-4A3B-114482744452}"/>
                  </a:ext>
                </a:extLst>
              </p:cNvPr>
              <p:cNvSpPr/>
              <p:nvPr>
                <p:custDataLst>
                  <p:tags r:id="rId16"/>
                </p:custDataLst>
              </p:nvPr>
            </p:nvSpPr>
            <p:spPr>
              <a:xfrm>
                <a:off x="8012106" y="1757898"/>
                <a:ext cx="8405532" cy="109221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Title-2">
                <a:extLst>
                  <a:ext uri="{FF2B5EF4-FFF2-40B4-BE49-F238E27FC236}">
                    <a16:creationId xmlns:a16="http://schemas.microsoft.com/office/drawing/2014/main" id="{142A17F7-6180-CE57-0F92-4279D4B3B56B}"/>
                  </a:ext>
                </a:extLst>
              </p:cNvPr>
              <p:cNvSpPr/>
              <p:nvPr>
                <p:custDataLst>
                  <p:tags r:id="rId17"/>
                </p:custDataLst>
              </p:nvPr>
            </p:nvSpPr>
            <p:spPr>
              <a:xfrm>
                <a:off x="6278556" y="1757898"/>
                <a:ext cx="1733550" cy="1092215"/>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综合预测：</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9" name="Body-2">
                <a:extLst>
                  <a:ext uri="{FF2B5EF4-FFF2-40B4-BE49-F238E27FC236}">
                    <a16:creationId xmlns:a16="http://schemas.microsoft.com/office/drawing/2014/main" id="{6DEB0E88-8D42-4916-EFA3-F52BB48CBA76}"/>
                  </a:ext>
                </a:extLst>
              </p:cNvPr>
              <p:cNvSpPr txBox="1"/>
              <p:nvPr>
                <p:custDataLst>
                  <p:tags r:id="rId18"/>
                </p:custDataLst>
              </p:nvPr>
            </p:nvSpPr>
            <p:spPr>
              <a:xfrm>
                <a:off x="8092415" y="1759148"/>
                <a:ext cx="8133977" cy="1070742"/>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核心功能：</a:t>
                </a:r>
                <a:endParaRPr kumimoji="0" lang="en-US" altLang="zh-CN" sz="1200" b="1" i="0" u="none" strike="noStrike" kern="1200" cap="none" spc="0" normalizeH="0" baseline="0" noProof="0" dirty="0">
                  <a:ln>
                    <a:noFill/>
                  </a:ln>
                  <a:solidFill>
                    <a:prstClr val="black"/>
                  </a:solidFill>
                  <a:effectLst/>
                  <a:uLnTx/>
                  <a:uFillTx/>
                  <a:ea typeface="微软雅黑" panose="020B0503020204020204" pitchFamily="34" charset="-122"/>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各职能收集聚合历史数据</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分析综合预测</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发布综合预测</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意义：</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代表部门间沟通，将统计预测与各部门知识结合，形成更全面的视图。强调跨职能数据聚合。</a:t>
                </a:r>
                <a:endPar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nvGrpSpPr>
            <p:cNvPr id="29" name="组合 28">
              <a:extLst>
                <a:ext uri="{FF2B5EF4-FFF2-40B4-BE49-F238E27FC236}">
                  <a16:creationId xmlns:a16="http://schemas.microsoft.com/office/drawing/2014/main" id="{E47D0DC2-C531-D367-A6F7-9FE085F749EA}"/>
                </a:ext>
              </a:extLst>
            </p:cNvPr>
            <p:cNvGrpSpPr>
              <a:grpSpLocks/>
            </p:cNvGrpSpPr>
            <p:nvPr/>
          </p:nvGrpSpPr>
          <p:grpSpPr>
            <a:xfrm>
              <a:off x="675644" y="1079309"/>
              <a:ext cx="10607089" cy="1407340"/>
              <a:chOff x="675644" y="1779802"/>
              <a:chExt cx="10607089" cy="1407340"/>
            </a:xfrm>
          </p:grpSpPr>
          <p:sp>
            <p:nvSpPr>
              <p:cNvPr id="34" name="1">
                <a:extLst>
                  <a:ext uri="{FF2B5EF4-FFF2-40B4-BE49-F238E27FC236}">
                    <a16:creationId xmlns:a16="http://schemas.microsoft.com/office/drawing/2014/main" id="{E3313CDD-C2B2-6E63-3E00-6F32897F6EE9}"/>
                  </a:ext>
                </a:extLst>
              </p:cNvPr>
              <p:cNvSpPr/>
              <p:nvPr>
                <p:custDataLst>
                  <p:tags r:id="rId13"/>
                </p:custDataLst>
              </p:nvPr>
            </p:nvSpPr>
            <p:spPr>
              <a:xfrm>
                <a:off x="2409194" y="1779802"/>
                <a:ext cx="8405532" cy="137974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Title-1">
                <a:extLst>
                  <a:ext uri="{FF2B5EF4-FFF2-40B4-BE49-F238E27FC236}">
                    <a16:creationId xmlns:a16="http://schemas.microsoft.com/office/drawing/2014/main" id="{AC9B27E5-D352-51A9-D187-C576271084DA}"/>
                  </a:ext>
                </a:extLst>
              </p:cNvPr>
              <p:cNvSpPr/>
              <p:nvPr>
                <p:custDataLst>
                  <p:tags r:id="rId14"/>
                </p:custDataLst>
              </p:nvPr>
            </p:nvSpPr>
            <p:spPr>
              <a:xfrm>
                <a:off x="675644" y="1779803"/>
                <a:ext cx="1743347" cy="13788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统计预测：</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6" name="Body-1">
                <a:extLst>
                  <a:ext uri="{FF2B5EF4-FFF2-40B4-BE49-F238E27FC236}">
                    <a16:creationId xmlns:a16="http://schemas.microsoft.com/office/drawing/2014/main" id="{11CB3B06-0742-B01A-86AB-8F839BB92950}"/>
                  </a:ext>
                </a:extLst>
              </p:cNvPr>
              <p:cNvSpPr txBox="1"/>
              <p:nvPr>
                <p:custDataLst>
                  <p:tags r:id="rId15"/>
                </p:custDataLst>
              </p:nvPr>
            </p:nvSpPr>
            <p:spPr>
              <a:xfrm>
                <a:off x="2489503" y="1784001"/>
                <a:ext cx="8793230" cy="1403141"/>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核心功能：</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历史数据清晰和汇总、</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拟合与预测计算，使用多种模型并行模拟。</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预测模型评估与分析</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统计预测分解</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意义：</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这是规划的“心脏”，提供客观、量化的预测基础，确保规划始于可靠数据。图标象征核心驱动力。</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grpSp>
        <p:grpSp>
          <p:nvGrpSpPr>
            <p:cNvPr id="30" name="组合 29">
              <a:extLst>
                <a:ext uri="{FF2B5EF4-FFF2-40B4-BE49-F238E27FC236}">
                  <a16:creationId xmlns:a16="http://schemas.microsoft.com/office/drawing/2014/main" id="{0FBC994A-AC3E-BFE6-2810-77A6EF2C43FB}"/>
                </a:ext>
              </a:extLst>
            </p:cNvPr>
            <p:cNvGrpSpPr/>
            <p:nvPr/>
          </p:nvGrpSpPr>
          <p:grpSpPr>
            <a:xfrm>
              <a:off x="675644" y="3597116"/>
              <a:ext cx="10139082" cy="893332"/>
              <a:chOff x="675644" y="2861897"/>
              <a:chExt cx="10139082" cy="893332"/>
            </a:xfrm>
          </p:grpSpPr>
          <p:sp>
            <p:nvSpPr>
              <p:cNvPr id="31" name="3">
                <a:extLst>
                  <a:ext uri="{FF2B5EF4-FFF2-40B4-BE49-F238E27FC236}">
                    <a16:creationId xmlns:a16="http://schemas.microsoft.com/office/drawing/2014/main" id="{7B90E7D1-18E2-A4CD-0EA1-44796B233E63}"/>
                  </a:ext>
                </a:extLst>
              </p:cNvPr>
              <p:cNvSpPr/>
              <p:nvPr>
                <p:custDataLst>
                  <p:tags r:id="rId10"/>
                </p:custDataLst>
              </p:nvPr>
            </p:nvSpPr>
            <p:spPr>
              <a:xfrm>
                <a:off x="2409194" y="2878515"/>
                <a:ext cx="8405532" cy="87671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2" name="Title-3">
                <a:extLst>
                  <a:ext uri="{FF2B5EF4-FFF2-40B4-BE49-F238E27FC236}">
                    <a16:creationId xmlns:a16="http://schemas.microsoft.com/office/drawing/2014/main" id="{9D72D80C-9013-66BA-1328-93C9623AE1D7}"/>
                  </a:ext>
                </a:extLst>
              </p:cNvPr>
              <p:cNvSpPr/>
              <p:nvPr>
                <p:custDataLst>
                  <p:tags r:id="rId11"/>
                </p:custDataLst>
              </p:nvPr>
            </p:nvSpPr>
            <p:spPr>
              <a:xfrm>
                <a:off x="675644" y="2878515"/>
                <a:ext cx="1733550" cy="876714"/>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共识预测：</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3" name="Body-3">
                <a:extLst>
                  <a:ext uri="{FF2B5EF4-FFF2-40B4-BE49-F238E27FC236}">
                    <a16:creationId xmlns:a16="http://schemas.microsoft.com/office/drawing/2014/main" id="{3ACFE545-9EEA-70AC-D775-C9E555189CE0}"/>
                  </a:ext>
                </a:extLst>
              </p:cNvPr>
              <p:cNvSpPr txBox="1"/>
              <p:nvPr>
                <p:custDataLst>
                  <p:tags r:id="rId12"/>
                </p:custDataLst>
              </p:nvPr>
            </p:nvSpPr>
            <p:spPr>
              <a:xfrm>
                <a:off x="2489503" y="2861897"/>
                <a:ext cx="7703393" cy="886076"/>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核心功能</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a:t>
                </a:r>
                <a:endPar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分解比率确定</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权重系数确定”达成“基线共识预测达成发布”。</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意义：</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这是协同决策的关键阶段，平衡不同部门利益，形成一致同意的预测基线。</a:t>
                </a:r>
                <a:endPar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grpSp>
        <p:nvGrpSpPr>
          <p:cNvPr id="53" name="组合 52">
            <a:extLst>
              <a:ext uri="{FF2B5EF4-FFF2-40B4-BE49-F238E27FC236}">
                <a16:creationId xmlns:a16="http://schemas.microsoft.com/office/drawing/2014/main" id="{75D9D35C-084B-AC41-53BF-497BEB43CBFD}"/>
              </a:ext>
            </a:extLst>
          </p:cNvPr>
          <p:cNvGrpSpPr>
            <a:grpSpLocks noChangeAspect="1"/>
          </p:cNvGrpSpPr>
          <p:nvPr>
            <p:custDataLst>
              <p:tags r:id="rId2"/>
            </p:custDataLst>
          </p:nvPr>
        </p:nvGrpSpPr>
        <p:grpSpPr>
          <a:xfrm>
            <a:off x="1084274" y="4105100"/>
            <a:ext cx="10468566" cy="1014477"/>
            <a:chOff x="675644" y="1616370"/>
            <a:chExt cx="10996708" cy="798156"/>
          </a:xfrm>
        </p:grpSpPr>
        <p:sp>
          <p:nvSpPr>
            <p:cNvPr id="54" name="1">
              <a:extLst>
                <a:ext uri="{FF2B5EF4-FFF2-40B4-BE49-F238E27FC236}">
                  <a16:creationId xmlns:a16="http://schemas.microsoft.com/office/drawing/2014/main" id="{4A896D95-719F-067E-D345-6C34CF85A99D}"/>
                </a:ext>
              </a:extLst>
            </p:cNvPr>
            <p:cNvSpPr/>
            <p:nvPr>
              <p:custDataLst>
                <p:tags r:id="rId7"/>
              </p:custDataLst>
            </p:nvPr>
          </p:nvSpPr>
          <p:spPr>
            <a:xfrm>
              <a:off x="2409194" y="1640339"/>
              <a:ext cx="9263158" cy="7741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55" name="Title-1">
              <a:extLst>
                <a:ext uri="{FF2B5EF4-FFF2-40B4-BE49-F238E27FC236}">
                  <a16:creationId xmlns:a16="http://schemas.microsoft.com/office/drawing/2014/main" id="{F2DA858F-BE15-B972-C24C-D0896BEFFA9C}"/>
                </a:ext>
              </a:extLst>
            </p:cNvPr>
            <p:cNvSpPr/>
            <p:nvPr>
              <p:custDataLst>
                <p:tags r:id="rId8"/>
              </p:custDataLst>
            </p:nvPr>
          </p:nvSpPr>
          <p:spPr>
            <a:xfrm>
              <a:off x="675644" y="1640339"/>
              <a:ext cx="1880184"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需求塑造：</a:t>
              </a:r>
            </a:p>
          </p:txBody>
        </p:sp>
        <p:sp>
          <p:nvSpPr>
            <p:cNvPr id="56" name="Body-1">
              <a:extLst>
                <a:ext uri="{FF2B5EF4-FFF2-40B4-BE49-F238E27FC236}">
                  <a16:creationId xmlns:a16="http://schemas.microsoft.com/office/drawing/2014/main" id="{7BE48D46-FBD0-3EB4-2934-C2A803B2F37A}"/>
                </a:ext>
              </a:extLst>
            </p:cNvPr>
            <p:cNvSpPr txBox="1"/>
            <p:nvPr>
              <p:custDataLst>
                <p:tags r:id="rId9"/>
              </p:custDataLst>
            </p:nvPr>
          </p:nvSpPr>
          <p:spPr>
            <a:xfrm>
              <a:off x="2642930" y="1616370"/>
              <a:ext cx="8846429" cy="778860"/>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核心功能：</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事件活动归类：市场情报、竞品分析、新品发布、促销</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使用模型（如线性、指数、巴斯扩散）分析“潜在商机”。</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意义：</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此阶段主动影响需求（如通过促销），而不仅是被动预测，提升规划的前瞻性。</a:t>
              </a:r>
              <a:endPar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grpSp>
      <p:grpSp>
        <p:nvGrpSpPr>
          <p:cNvPr id="57" name="组合 56">
            <a:extLst>
              <a:ext uri="{FF2B5EF4-FFF2-40B4-BE49-F238E27FC236}">
                <a16:creationId xmlns:a16="http://schemas.microsoft.com/office/drawing/2014/main" id="{AF5A4D2D-2484-7DCE-5B21-6B6B456A6DD1}"/>
              </a:ext>
            </a:extLst>
          </p:cNvPr>
          <p:cNvGrpSpPr>
            <a:grpSpLocks noChangeAspect="1"/>
          </p:cNvGrpSpPr>
          <p:nvPr>
            <p:custDataLst>
              <p:tags r:id="rId3"/>
            </p:custDataLst>
          </p:nvPr>
        </p:nvGrpSpPr>
        <p:grpSpPr>
          <a:xfrm>
            <a:off x="1084275" y="5144123"/>
            <a:ext cx="10468565" cy="1501227"/>
            <a:chOff x="675644" y="1747907"/>
            <a:chExt cx="10632141" cy="1454857"/>
          </a:xfrm>
        </p:grpSpPr>
        <p:sp>
          <p:nvSpPr>
            <p:cNvPr id="58" name="1">
              <a:extLst>
                <a:ext uri="{FF2B5EF4-FFF2-40B4-BE49-F238E27FC236}">
                  <a16:creationId xmlns:a16="http://schemas.microsoft.com/office/drawing/2014/main" id="{382F9844-9BE7-52F0-CEB5-1F277EA18351}"/>
                </a:ext>
              </a:extLst>
            </p:cNvPr>
            <p:cNvSpPr/>
            <p:nvPr>
              <p:custDataLst>
                <p:tags r:id="rId4"/>
              </p:custDataLst>
            </p:nvPr>
          </p:nvSpPr>
          <p:spPr>
            <a:xfrm>
              <a:off x="2409195" y="1747907"/>
              <a:ext cx="8898590" cy="144264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59" name="Title-1">
              <a:extLst>
                <a:ext uri="{FF2B5EF4-FFF2-40B4-BE49-F238E27FC236}">
                  <a16:creationId xmlns:a16="http://schemas.microsoft.com/office/drawing/2014/main" id="{D835866D-5F85-9F30-47FE-B87D9BB37D00}"/>
                </a:ext>
              </a:extLst>
            </p:cNvPr>
            <p:cNvSpPr/>
            <p:nvPr>
              <p:custDataLst>
                <p:tags r:id="rId5"/>
              </p:custDataLst>
            </p:nvPr>
          </p:nvSpPr>
          <p:spPr>
            <a:xfrm>
              <a:off x="675644" y="1747907"/>
              <a:ext cx="1817852" cy="1442640"/>
            </a:xfrm>
            <a:prstGeom prst="rect">
              <a:avLst/>
            </a:prstGeom>
            <a:solidFill>
              <a:schemeClr val="accent2">
                <a:lumMod val="7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财务规划：</a:t>
              </a:r>
            </a:p>
          </p:txBody>
        </p:sp>
        <p:sp>
          <p:nvSpPr>
            <p:cNvPr id="60" name="Body-1">
              <a:extLst>
                <a:ext uri="{FF2B5EF4-FFF2-40B4-BE49-F238E27FC236}">
                  <a16:creationId xmlns:a16="http://schemas.microsoft.com/office/drawing/2014/main" id="{E64BC307-BED5-B175-E2AB-F6C3D72640B4}"/>
                </a:ext>
              </a:extLst>
            </p:cNvPr>
            <p:cNvSpPr txBox="1"/>
            <p:nvPr>
              <p:custDataLst>
                <p:tags r:id="rId6"/>
              </p:custDataLst>
            </p:nvPr>
          </p:nvSpPr>
          <p:spPr>
            <a:xfrm>
              <a:off x="2610770" y="1799623"/>
              <a:ext cx="8649204" cy="1403141"/>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核心功能：</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数据整合与财务建模</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财务评估与模拟</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集成对账与差距分析</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管理业务评审与决策</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意义</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：图标象征战略决策者，这是规划的落地环节，将需求转化为财务目标，确保与公司战略一致，并管理执行风险。</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7310176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E43449-1520-2F7B-121A-960E4A638AE7}"/>
              </a:ext>
            </a:extLst>
          </p:cNvPr>
          <p:cNvSpPr>
            <a:spLocks noGrp="1"/>
          </p:cNvSpPr>
          <p:nvPr>
            <p:ph type="title"/>
          </p:nvPr>
        </p:nvSpPr>
        <p:spPr>
          <a:xfrm>
            <a:off x="929529" y="88114"/>
            <a:ext cx="10858500" cy="565883"/>
          </a:xfrm>
        </p:spPr>
        <p:txBody>
          <a:bodyPr/>
          <a:lstStyle/>
          <a:p>
            <a:r>
              <a:rPr lang="en-US" altLang="zh-CN" dirty="0">
                <a:latin typeface="Arial" panose="020B0604020202020204" pitchFamily="34" charset="0"/>
                <a:ea typeface="微软雅黑" panose="020B0503020204020204" pitchFamily="34" charset="-122"/>
              </a:rPr>
              <a:t>IBP</a:t>
            </a:r>
            <a:r>
              <a:rPr lang="zh-CN" altLang="en-US" dirty="0">
                <a:latin typeface="Arial" panose="020B0604020202020204" pitchFamily="34" charset="0"/>
                <a:ea typeface="微软雅黑" panose="020B0503020204020204" pitchFamily="34" charset="-122"/>
              </a:rPr>
              <a:t>详细流程</a:t>
            </a:r>
          </a:p>
        </p:txBody>
      </p:sp>
      <p:pic>
        <p:nvPicPr>
          <p:cNvPr id="3" name="图片 2">
            <a:extLst>
              <a:ext uri="{FF2B5EF4-FFF2-40B4-BE49-F238E27FC236}">
                <a16:creationId xmlns:a16="http://schemas.microsoft.com/office/drawing/2014/main" id="{929CF438-88E9-0724-4A2E-E0C57C7159F3}"/>
              </a:ext>
            </a:extLst>
          </p:cNvPr>
          <p:cNvPicPr>
            <a:picLocks noChangeAspect="1"/>
          </p:cNvPicPr>
          <p:nvPr/>
        </p:nvPicPr>
        <p:blipFill>
          <a:blip r:embed="rId2"/>
          <a:stretch>
            <a:fillRect/>
          </a:stretch>
        </p:blipFill>
        <p:spPr>
          <a:xfrm>
            <a:off x="802758" y="750810"/>
            <a:ext cx="4231758" cy="6019076"/>
          </a:xfrm>
          <a:prstGeom prst="rect">
            <a:avLst/>
          </a:prstGeom>
        </p:spPr>
      </p:pic>
      <p:graphicFrame>
        <p:nvGraphicFramePr>
          <p:cNvPr id="8" name="表格 7">
            <a:extLst>
              <a:ext uri="{FF2B5EF4-FFF2-40B4-BE49-F238E27FC236}">
                <a16:creationId xmlns:a16="http://schemas.microsoft.com/office/drawing/2014/main" id="{EE7B0B24-B8F7-CE6D-F606-E4AE6F9C1BCB}"/>
              </a:ext>
            </a:extLst>
          </p:cNvPr>
          <p:cNvGraphicFramePr>
            <a:graphicFrameLocks noGrp="1"/>
          </p:cNvGraphicFramePr>
          <p:nvPr>
            <p:extLst>
              <p:ext uri="{D42A27DB-BD31-4B8C-83A1-F6EECF244321}">
                <p14:modId xmlns:p14="http://schemas.microsoft.com/office/powerpoint/2010/main" val="1824088916"/>
              </p:ext>
            </p:extLst>
          </p:nvPr>
        </p:nvGraphicFramePr>
        <p:xfrm>
          <a:off x="5257800" y="690664"/>
          <a:ext cx="6390167" cy="6142366"/>
        </p:xfrm>
        <a:graphic>
          <a:graphicData uri="http://schemas.openxmlformats.org/drawingml/2006/table">
            <a:tbl>
              <a:tblPr/>
              <a:tblGrid>
                <a:gridCol w="966654">
                  <a:extLst>
                    <a:ext uri="{9D8B030D-6E8A-4147-A177-3AD203B41FA5}">
                      <a16:colId xmlns:a16="http://schemas.microsoft.com/office/drawing/2014/main" val="3416808548"/>
                    </a:ext>
                  </a:extLst>
                </a:gridCol>
                <a:gridCol w="1355878">
                  <a:extLst>
                    <a:ext uri="{9D8B030D-6E8A-4147-A177-3AD203B41FA5}">
                      <a16:colId xmlns:a16="http://schemas.microsoft.com/office/drawing/2014/main" val="1342427952"/>
                    </a:ext>
                  </a:extLst>
                </a:gridCol>
                <a:gridCol w="1030449">
                  <a:extLst>
                    <a:ext uri="{9D8B030D-6E8A-4147-A177-3AD203B41FA5}">
                      <a16:colId xmlns:a16="http://schemas.microsoft.com/office/drawing/2014/main" val="3302158438"/>
                    </a:ext>
                  </a:extLst>
                </a:gridCol>
                <a:gridCol w="1922624">
                  <a:extLst>
                    <a:ext uri="{9D8B030D-6E8A-4147-A177-3AD203B41FA5}">
                      <a16:colId xmlns:a16="http://schemas.microsoft.com/office/drawing/2014/main" val="3748287726"/>
                    </a:ext>
                  </a:extLst>
                </a:gridCol>
                <a:gridCol w="1114562">
                  <a:extLst>
                    <a:ext uri="{9D8B030D-6E8A-4147-A177-3AD203B41FA5}">
                      <a16:colId xmlns:a16="http://schemas.microsoft.com/office/drawing/2014/main" val="962824805"/>
                    </a:ext>
                  </a:extLst>
                </a:gridCol>
              </a:tblGrid>
              <a:tr h="148100">
                <a:tc>
                  <a:txBody>
                    <a:bodyPr/>
                    <a:lstStyle/>
                    <a:p>
                      <a:r>
                        <a:rPr lang="zh-CN" altLang="en-US" sz="800" b="1" dirty="0">
                          <a:solidFill>
                            <a:srgbClr val="FFFFFF"/>
                          </a:solidFill>
                          <a:latin typeface="Arial" panose="020B0604020202020204" pitchFamily="34" charset="0"/>
                          <a:ea typeface="微软雅黑" panose="020B0503020204020204" pitchFamily="34" charset="-122"/>
                        </a:rPr>
                        <a:t>阶段</a:t>
                      </a:r>
                    </a:p>
                  </a:txBody>
                  <a:tcPr marL="19856" marR="19856" marT="9928" marB="9928" anchor="ctr">
                    <a:lnL>
                      <a:noFill/>
                    </a:lnL>
                    <a:lnR>
                      <a:noFill/>
                    </a:lnR>
                    <a:lnT>
                      <a:solidFill>
                        <a:srgbClr val="430A5D"/>
                      </a:solidFill>
                      <a:prstDash val="solid"/>
                    </a:lnT>
                    <a:lnB>
                      <a:solidFill>
                        <a:srgbClr val="430A5D"/>
                      </a:solidFill>
                      <a:prstDash val="solid"/>
                    </a:lnB>
                    <a:solidFill>
                      <a:srgbClr val="430A5D"/>
                    </a:solidFill>
                  </a:tcPr>
                </a:tc>
                <a:tc>
                  <a:txBody>
                    <a:bodyPr/>
                    <a:lstStyle/>
                    <a:p>
                      <a:r>
                        <a:rPr lang="zh-CN" altLang="en-US" sz="800" b="1">
                          <a:solidFill>
                            <a:srgbClr val="FFFFFF"/>
                          </a:solidFill>
                          <a:latin typeface="Arial" panose="020B0604020202020204" pitchFamily="34" charset="0"/>
                          <a:ea typeface="微软雅黑" panose="020B0503020204020204" pitchFamily="34" charset="-122"/>
                        </a:rPr>
                        <a:t>核心活动</a:t>
                      </a:r>
                      <a:r>
                        <a:rPr lang="en-US" altLang="zh-CN" sz="800" b="1">
                          <a:solidFill>
                            <a:srgbClr val="FFFFFF"/>
                          </a:solidFill>
                          <a:latin typeface="Arial" panose="020B0604020202020204" pitchFamily="34" charset="0"/>
                          <a:ea typeface="微软雅黑" panose="020B0503020204020204" pitchFamily="34" charset="-122"/>
                        </a:rPr>
                        <a:t>/</a:t>
                      </a:r>
                      <a:r>
                        <a:rPr lang="zh-CN" altLang="en-US" sz="800" b="1">
                          <a:solidFill>
                            <a:srgbClr val="FFFFFF"/>
                          </a:solidFill>
                          <a:latin typeface="Arial" panose="020B0604020202020204" pitchFamily="34" charset="0"/>
                          <a:ea typeface="微软雅黑" panose="020B0503020204020204" pitchFamily="34" charset="-122"/>
                        </a:rPr>
                        <a:t>步骤</a:t>
                      </a:r>
                    </a:p>
                  </a:txBody>
                  <a:tcPr marL="19856" marR="19856" marT="9928" marB="9928" anchor="ctr">
                    <a:lnL>
                      <a:noFill/>
                    </a:lnL>
                    <a:lnR>
                      <a:noFill/>
                    </a:lnR>
                    <a:lnT>
                      <a:solidFill>
                        <a:srgbClr val="430A5D"/>
                      </a:solidFill>
                      <a:prstDash val="solid"/>
                    </a:lnT>
                    <a:lnB>
                      <a:solidFill>
                        <a:srgbClr val="430A5D"/>
                      </a:solidFill>
                      <a:prstDash val="solid"/>
                    </a:lnB>
                    <a:solidFill>
                      <a:srgbClr val="430A5D"/>
                    </a:solidFill>
                  </a:tcPr>
                </a:tc>
                <a:tc>
                  <a:txBody>
                    <a:bodyPr/>
                    <a:lstStyle/>
                    <a:p>
                      <a:r>
                        <a:rPr lang="zh-CN" altLang="en-US" sz="800" b="1" dirty="0">
                          <a:solidFill>
                            <a:srgbClr val="FFFFFF"/>
                          </a:solidFill>
                          <a:latin typeface="Arial" panose="020B0604020202020204" pitchFamily="34" charset="0"/>
                          <a:ea typeface="微软雅黑" panose="020B0503020204020204" pitchFamily="34" charset="-122"/>
                        </a:rPr>
                        <a:t>操作</a:t>
                      </a:r>
                    </a:p>
                  </a:txBody>
                  <a:tcPr marL="19856" marR="19856" marT="9928" marB="9928" anchor="ctr">
                    <a:lnL>
                      <a:noFill/>
                    </a:lnL>
                    <a:lnR>
                      <a:noFill/>
                    </a:lnR>
                    <a:lnT>
                      <a:solidFill>
                        <a:srgbClr val="430A5D"/>
                      </a:solidFill>
                      <a:prstDash val="solid"/>
                    </a:lnT>
                    <a:lnB>
                      <a:solidFill>
                        <a:srgbClr val="430A5D"/>
                      </a:solidFill>
                      <a:prstDash val="solid"/>
                    </a:lnB>
                    <a:solidFill>
                      <a:srgbClr val="430A5D"/>
                    </a:solidFill>
                  </a:tcPr>
                </a:tc>
                <a:tc>
                  <a:txBody>
                    <a:bodyPr/>
                    <a:lstStyle/>
                    <a:p>
                      <a:r>
                        <a:rPr lang="zh-CN" altLang="en-US" sz="800" b="1">
                          <a:solidFill>
                            <a:srgbClr val="FFFFFF"/>
                          </a:solidFill>
                          <a:latin typeface="Arial" panose="020B0604020202020204" pitchFamily="34" charset="0"/>
                          <a:ea typeface="微软雅黑" panose="020B0503020204020204" pitchFamily="34" charset="-122"/>
                        </a:rPr>
                        <a:t>原子级活动描述</a:t>
                      </a:r>
                    </a:p>
                  </a:txBody>
                  <a:tcPr marL="19856" marR="19856" marT="9928" marB="9928" anchor="ctr">
                    <a:lnL>
                      <a:noFill/>
                    </a:lnL>
                    <a:lnR>
                      <a:noFill/>
                    </a:lnR>
                    <a:lnT>
                      <a:solidFill>
                        <a:srgbClr val="430A5D"/>
                      </a:solidFill>
                      <a:prstDash val="solid"/>
                    </a:lnT>
                    <a:lnB>
                      <a:solidFill>
                        <a:srgbClr val="430A5D"/>
                      </a:solidFill>
                      <a:prstDash val="solid"/>
                    </a:lnB>
                    <a:solidFill>
                      <a:srgbClr val="430A5D"/>
                    </a:solidFill>
                  </a:tcPr>
                </a:tc>
                <a:tc>
                  <a:txBody>
                    <a:bodyPr/>
                    <a:lstStyle/>
                    <a:p>
                      <a:r>
                        <a:rPr lang="zh-CN" altLang="en-US" sz="800" b="1">
                          <a:solidFill>
                            <a:srgbClr val="FFFFFF"/>
                          </a:solidFill>
                          <a:latin typeface="Arial" panose="020B0604020202020204" pitchFamily="34" charset="0"/>
                          <a:ea typeface="微软雅黑" panose="020B0503020204020204" pitchFamily="34" charset="-122"/>
                        </a:rPr>
                        <a:t>核心输出</a:t>
                      </a:r>
                    </a:p>
                  </a:txBody>
                  <a:tcPr marL="19856" marR="19856" marT="9928" marB="9928" anchor="ctr">
                    <a:lnL>
                      <a:noFill/>
                    </a:lnL>
                    <a:lnR>
                      <a:noFill/>
                    </a:lnR>
                    <a:lnT>
                      <a:solidFill>
                        <a:srgbClr val="430A5D"/>
                      </a:solidFill>
                      <a:prstDash val="solid"/>
                    </a:lnT>
                    <a:lnB>
                      <a:solidFill>
                        <a:srgbClr val="430A5D"/>
                      </a:solidFill>
                      <a:prstDash val="solid"/>
                    </a:lnB>
                    <a:solidFill>
                      <a:srgbClr val="430A5D"/>
                    </a:solidFill>
                  </a:tcPr>
                </a:tc>
                <a:extLst>
                  <a:ext uri="{0D108BD9-81ED-4DB2-BD59-A6C34878D82A}">
                    <a16:rowId xmlns:a16="http://schemas.microsoft.com/office/drawing/2014/main" val="2506002017"/>
                  </a:ext>
                </a:extLst>
              </a:tr>
              <a:tr h="762271">
                <a:tc rowSpan="3">
                  <a:txBody>
                    <a:bodyPr/>
                    <a:lstStyle/>
                    <a:p>
                      <a:r>
                        <a:rPr lang="zh-CN" altLang="en-US" sz="800" b="1" dirty="0">
                          <a:solidFill>
                            <a:srgbClr val="000000"/>
                          </a:solidFill>
                          <a:latin typeface="Arial" panose="020B0604020202020204" pitchFamily="34" charset="0"/>
                          <a:ea typeface="微软雅黑" panose="020B0503020204020204" pitchFamily="34" charset="-122"/>
                        </a:rPr>
                        <a:t>第一阶段：统计预测生成</a:t>
                      </a:r>
                    </a:p>
                  </a:txBody>
                  <a:tcPr marL="19856" marR="19856" marT="9928" marB="9928" anchor="ctr">
                    <a:lnL>
                      <a:noFill/>
                    </a:lnL>
                    <a:lnR>
                      <a:noFill/>
                    </a:lnR>
                    <a:lnT>
                      <a:solidFill>
                        <a:srgbClr val="430A5D"/>
                      </a:solidFill>
                      <a:prstDash val="solid"/>
                    </a:lnT>
                    <a:lnB>
                      <a:solidFill>
                        <a:srgbClr val="430A5D"/>
                      </a:solidFill>
                      <a:prstDash val="solid"/>
                    </a:lnB>
                    <a:solidFill>
                      <a:srgbClr val="F1EA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数据清洗与预处理</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en-US" sz="800">
                          <a:solidFill>
                            <a:srgbClr val="000000"/>
                          </a:solidFill>
                          <a:latin typeface="Arial" panose="020B0604020202020204" pitchFamily="34" charset="0"/>
                          <a:ea typeface="微软雅黑" panose="020B0503020204020204" pitchFamily="34" charset="-122"/>
                        </a:rPr>
                        <a:t>Demand Planning </a:t>
                      </a:r>
                      <a:r>
                        <a:rPr lang="zh-CN" altLang="en-US" sz="800">
                          <a:solidFill>
                            <a:srgbClr val="000000"/>
                          </a:solidFill>
                          <a:latin typeface="Arial" panose="020B0604020202020204" pitchFamily="34" charset="0"/>
                          <a:ea typeface="微软雅黑" panose="020B0503020204020204" pitchFamily="34" charset="-122"/>
                        </a:rPr>
                        <a:t>工作台 </a:t>
                      </a:r>
                      <a:r>
                        <a:rPr lang="en-US" altLang="zh-CN" sz="800">
                          <a:solidFill>
                            <a:srgbClr val="000000"/>
                          </a:solidFill>
                          <a:latin typeface="Arial" panose="020B0604020202020204" pitchFamily="34" charset="0"/>
                          <a:ea typeface="微软雅黑" panose="020B0503020204020204" pitchFamily="34" charset="-122"/>
                        </a:rPr>
                        <a:t>- “</a:t>
                      </a:r>
                      <a:r>
                        <a:rPr lang="zh-CN" altLang="en-US" sz="800">
                          <a:solidFill>
                            <a:srgbClr val="000000"/>
                          </a:solidFill>
                          <a:latin typeface="Arial" panose="020B0604020202020204" pitchFamily="34" charset="0"/>
                          <a:ea typeface="微软雅黑" panose="020B0503020204020204" pitchFamily="34" charset="-122"/>
                        </a:rPr>
                        <a:t>历史数据调整”功能</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异常值检测与调整：</a:t>
                      </a:r>
                      <a:r>
                        <a:rPr lang="zh-CN" altLang="en-US" sz="800">
                          <a:solidFill>
                            <a:srgbClr val="000000"/>
                          </a:solidFill>
                          <a:latin typeface="Arial" panose="020B0604020202020204" pitchFamily="34" charset="0"/>
                          <a:ea typeface="微软雅黑" panose="020B0503020204020204" pitchFamily="34" charset="-122"/>
                        </a:rPr>
                        <a:t> 系统自动识别（如</a:t>
                      </a:r>
                      <a:r>
                        <a:rPr lang="en-US" altLang="zh-CN" sz="800">
                          <a:solidFill>
                            <a:srgbClr val="000000"/>
                          </a:solidFill>
                          <a:latin typeface="Arial" panose="020B0604020202020204" pitchFamily="34" charset="0"/>
                          <a:ea typeface="微软雅黑" panose="020B0503020204020204" pitchFamily="34" charset="-122"/>
                        </a:rPr>
                        <a:t>N</a:t>
                      </a:r>
                      <a:r>
                        <a:rPr lang="zh-CN" altLang="en-US" sz="800">
                          <a:solidFill>
                            <a:srgbClr val="000000"/>
                          </a:solidFill>
                          <a:latin typeface="Arial" panose="020B0604020202020204" pitchFamily="34" charset="0"/>
                          <a:ea typeface="微软雅黑" panose="020B0503020204020204" pitchFamily="34" charset="-122"/>
                        </a:rPr>
                        <a:t>个标准差外的点），规划员手动调整或标记为异常。</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因果因子回填：</a:t>
                      </a:r>
                      <a:r>
                        <a:rPr lang="zh-CN" altLang="en-US" sz="800">
                          <a:solidFill>
                            <a:srgbClr val="000000"/>
                          </a:solidFill>
                          <a:latin typeface="Arial" panose="020B0604020202020204" pitchFamily="34" charset="0"/>
                          <a:ea typeface="微软雅黑" panose="020B0503020204020204" pitchFamily="34" charset="-122"/>
                        </a:rPr>
                        <a:t> 为历史数据打标签（如关联促销活动），为因果模型提供输入。</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干净、可用于建模的历史数据序列</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674246322"/>
                  </a:ext>
                </a:extLst>
              </a:tr>
              <a:tr h="1081532">
                <a:tc vMerge="1">
                  <a:txBody>
                    <a:bodyPr/>
                    <a:lstStyle/>
                    <a:p>
                      <a:endParaRPr lang="zh-CN" altLang="en-US" sz="800" dirty="0">
                        <a:solidFill>
                          <a:schemeClr val="bg1"/>
                        </a:solidFill>
                        <a:latin typeface="+mj-ea"/>
                        <a:ea typeface="+mj-ea"/>
                      </a:endParaRPr>
                    </a:p>
                  </a:txBody>
                  <a:tcPr marL="19856" marR="19856" marT="9928" marB="9928" anchor="ctr">
                    <a:lnL>
                      <a:noFill/>
                    </a:lnL>
                    <a:lnR>
                      <a:noFill/>
                    </a:lnR>
                    <a:lnT>
                      <a:noFill/>
                    </a:lnT>
                    <a:lnB>
                      <a:noFill/>
                    </a:lnB>
                    <a:no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自动模型选择与拟合（</a:t>
                      </a:r>
                      <a:r>
                        <a:rPr lang="en-US" altLang="zh-CN" sz="800" b="1">
                          <a:solidFill>
                            <a:srgbClr val="000000"/>
                          </a:solidFill>
                          <a:latin typeface="Arial" panose="020B0604020202020204" pitchFamily="34" charset="0"/>
                          <a:ea typeface="微软雅黑" panose="020B0503020204020204" pitchFamily="34" charset="-122"/>
                        </a:rPr>
                        <a:t>Best Fit</a:t>
                      </a:r>
                      <a:r>
                        <a:rPr lang="zh-CN" altLang="en-US" sz="800" b="1">
                          <a:solidFill>
                            <a:srgbClr val="000000"/>
                          </a:solidFill>
                          <a:latin typeface="Arial" panose="020B0604020202020204" pitchFamily="34" charset="0"/>
                          <a:ea typeface="微软雅黑" panose="020B0503020204020204" pitchFamily="34" charset="-122"/>
                        </a:rPr>
                        <a:t>）</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运行 “</a:t>
                      </a:r>
                      <a:r>
                        <a:rPr lang="en-US" sz="800">
                          <a:solidFill>
                            <a:srgbClr val="000000"/>
                          </a:solidFill>
                          <a:latin typeface="Arial" panose="020B0604020202020204" pitchFamily="34" charset="0"/>
                          <a:ea typeface="微软雅黑" panose="020B0503020204020204" pitchFamily="34" charset="-122"/>
                        </a:rPr>
                        <a:t>Best Fit” </a:t>
                      </a:r>
                      <a:r>
                        <a:rPr lang="zh-CN" altLang="en-US" sz="800">
                          <a:solidFill>
                            <a:srgbClr val="000000"/>
                          </a:solidFill>
                          <a:latin typeface="Arial" panose="020B0604020202020204" pitchFamily="34" charset="0"/>
                          <a:ea typeface="微软雅黑" panose="020B0503020204020204" pitchFamily="34" charset="-122"/>
                        </a:rPr>
                        <a:t>功能</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dirty="0">
                          <a:solidFill>
                            <a:srgbClr val="000000"/>
                          </a:solidFill>
                          <a:latin typeface="Arial" panose="020B0604020202020204" pitchFamily="34" charset="0"/>
                          <a:ea typeface="微软雅黑" panose="020B0503020204020204" pitchFamily="34" charset="-122"/>
                        </a:rPr>
                        <a:t>模型库遍历：</a:t>
                      </a:r>
                      <a:r>
                        <a:rPr lang="zh-CN" altLang="en-US" sz="800" dirty="0">
                          <a:solidFill>
                            <a:srgbClr val="000000"/>
                          </a:solidFill>
                          <a:latin typeface="Arial" panose="020B0604020202020204" pitchFamily="34" charset="0"/>
                          <a:ea typeface="微软雅黑" panose="020B0503020204020204" pitchFamily="34" charset="-122"/>
                        </a:rPr>
                        <a:t> 使用历史数据（如近</a:t>
                      </a:r>
                      <a:r>
                        <a:rPr lang="en-US" altLang="zh-CN" sz="800" dirty="0">
                          <a:solidFill>
                            <a:srgbClr val="000000"/>
                          </a:solidFill>
                          <a:latin typeface="Arial" panose="020B0604020202020204" pitchFamily="34" charset="0"/>
                          <a:ea typeface="微软雅黑" panose="020B0503020204020204" pitchFamily="34" charset="-122"/>
                        </a:rPr>
                        <a:t>24</a:t>
                      </a:r>
                      <a:r>
                        <a:rPr lang="zh-CN" altLang="en-US" sz="800" dirty="0">
                          <a:solidFill>
                            <a:srgbClr val="000000"/>
                          </a:solidFill>
                          <a:latin typeface="Arial" panose="020B0604020202020204" pitchFamily="34" charset="0"/>
                          <a:ea typeface="微软雅黑" panose="020B0503020204020204" pitchFamily="34" charset="-122"/>
                        </a:rPr>
                        <a:t>个月）对多种模型（指数平滑、</a:t>
                      </a:r>
                      <a:r>
                        <a:rPr lang="en-US" altLang="zh-CN" sz="800" dirty="0">
                          <a:solidFill>
                            <a:srgbClr val="000000"/>
                          </a:solidFill>
                          <a:latin typeface="Arial" panose="020B0604020202020204" pitchFamily="34" charset="0"/>
                          <a:ea typeface="微软雅黑" panose="020B0503020204020204" pitchFamily="34" charset="-122"/>
                        </a:rPr>
                        <a:t>ARIMA</a:t>
                      </a:r>
                      <a:r>
                        <a:rPr lang="zh-CN" altLang="en-US" sz="800" dirty="0">
                          <a:solidFill>
                            <a:srgbClr val="000000"/>
                          </a:solidFill>
                          <a:latin typeface="Arial" panose="020B0604020202020204" pitchFamily="34" charset="0"/>
                          <a:ea typeface="微软雅黑" panose="020B0503020204020204" pitchFamily="34" charset="-122"/>
                        </a:rPr>
                        <a:t>等）进行拟合。</a:t>
                      </a:r>
                      <a:br>
                        <a:rPr lang="zh-CN" altLang="en-US" sz="800" dirty="0">
                          <a:solidFill>
                            <a:srgbClr val="000000"/>
                          </a:solidFill>
                          <a:latin typeface="Arial" panose="020B0604020202020204" pitchFamily="34" charset="0"/>
                          <a:ea typeface="微软雅黑" panose="020B0503020204020204" pitchFamily="34" charset="-122"/>
                        </a:rPr>
                      </a:br>
                      <a:r>
                        <a:rPr lang="en-US" altLang="zh-CN" sz="800" b="1" dirty="0">
                          <a:solidFill>
                            <a:srgbClr val="000000"/>
                          </a:solidFill>
                          <a:latin typeface="Arial" panose="020B0604020202020204" pitchFamily="34" charset="0"/>
                          <a:ea typeface="微软雅黑" panose="020B0503020204020204" pitchFamily="34" charset="-122"/>
                        </a:rPr>
                        <a:t>ex-post</a:t>
                      </a:r>
                      <a:r>
                        <a:rPr lang="zh-CN" altLang="en-US" sz="800" b="1" dirty="0">
                          <a:solidFill>
                            <a:srgbClr val="000000"/>
                          </a:solidFill>
                          <a:latin typeface="Arial" panose="020B0604020202020204" pitchFamily="34" charset="0"/>
                          <a:ea typeface="微软雅黑" panose="020B0503020204020204" pitchFamily="34" charset="-122"/>
                        </a:rPr>
                        <a:t>模拟：</a:t>
                      </a:r>
                      <a:r>
                        <a:rPr lang="zh-CN" altLang="en-US" sz="800" dirty="0">
                          <a:solidFill>
                            <a:srgbClr val="000000"/>
                          </a:solidFill>
                          <a:latin typeface="Arial" panose="020B0604020202020204" pitchFamily="34" charset="0"/>
                          <a:ea typeface="微软雅黑" panose="020B0503020204020204" pitchFamily="34" charset="-122"/>
                        </a:rPr>
                        <a:t> 将近期数据（如近</a:t>
                      </a:r>
                      <a:r>
                        <a:rPr lang="en-US" altLang="zh-CN" sz="800" dirty="0">
                          <a:solidFill>
                            <a:srgbClr val="000000"/>
                          </a:solidFill>
                          <a:latin typeface="Arial" panose="020B0604020202020204" pitchFamily="34" charset="0"/>
                          <a:ea typeface="微软雅黑" panose="020B0503020204020204" pitchFamily="34" charset="-122"/>
                        </a:rPr>
                        <a:t>6</a:t>
                      </a:r>
                      <a:r>
                        <a:rPr lang="zh-CN" altLang="en-US" sz="800" dirty="0">
                          <a:solidFill>
                            <a:srgbClr val="000000"/>
                          </a:solidFill>
                          <a:latin typeface="Arial" panose="020B0604020202020204" pitchFamily="34" charset="0"/>
                          <a:ea typeface="微软雅黑" panose="020B0503020204020204" pitchFamily="34" charset="-122"/>
                        </a:rPr>
                        <a:t>个月）“藏起”进行预测，并与真实值对比。</a:t>
                      </a:r>
                      <a:br>
                        <a:rPr lang="zh-CN" altLang="en-US" sz="800" dirty="0">
                          <a:solidFill>
                            <a:srgbClr val="000000"/>
                          </a:solidFill>
                          <a:latin typeface="Arial" panose="020B0604020202020204" pitchFamily="34" charset="0"/>
                          <a:ea typeface="微软雅黑" panose="020B0503020204020204" pitchFamily="34" charset="-122"/>
                        </a:rPr>
                      </a:br>
                      <a:r>
                        <a:rPr lang="zh-CN" altLang="en-US" sz="800" b="1" dirty="0">
                          <a:solidFill>
                            <a:srgbClr val="000000"/>
                          </a:solidFill>
                          <a:latin typeface="Arial" panose="020B0604020202020204" pitchFamily="34" charset="0"/>
                          <a:ea typeface="微软雅黑" panose="020B0503020204020204" pitchFamily="34" charset="-122"/>
                        </a:rPr>
                        <a:t>精度评估：</a:t>
                      </a:r>
                      <a:r>
                        <a:rPr lang="zh-CN" altLang="en-US" sz="800" dirty="0">
                          <a:solidFill>
                            <a:srgbClr val="000000"/>
                          </a:solidFill>
                          <a:latin typeface="Arial" panose="020B0604020202020204" pitchFamily="34" charset="0"/>
                          <a:ea typeface="微软雅黑" panose="020B0503020204020204" pitchFamily="34" charset="-122"/>
                        </a:rPr>
                        <a:t> 计算每个模型的</a:t>
                      </a:r>
                      <a:r>
                        <a:rPr lang="en-US" altLang="zh-CN" sz="800" dirty="0">
                          <a:solidFill>
                            <a:srgbClr val="000000"/>
                          </a:solidFill>
                          <a:latin typeface="Arial" panose="020B0604020202020204" pitchFamily="34" charset="0"/>
                          <a:ea typeface="微软雅黑" panose="020B0503020204020204" pitchFamily="34" charset="-122"/>
                        </a:rPr>
                        <a:t>MAPE</a:t>
                      </a:r>
                      <a:r>
                        <a:rPr lang="zh-CN" altLang="en-US" sz="800" dirty="0">
                          <a:solidFill>
                            <a:srgbClr val="000000"/>
                          </a:solidFill>
                          <a:latin typeface="Arial" panose="020B0604020202020204" pitchFamily="34" charset="0"/>
                          <a:ea typeface="微软雅黑" panose="020B0503020204020204" pitchFamily="34" charset="-122"/>
                        </a:rPr>
                        <a:t>、</a:t>
                      </a:r>
                      <a:r>
                        <a:rPr lang="en-US" altLang="zh-CN" sz="800" dirty="0">
                          <a:solidFill>
                            <a:srgbClr val="000000"/>
                          </a:solidFill>
                          <a:latin typeface="Arial" panose="020B0604020202020204" pitchFamily="34" charset="0"/>
                          <a:ea typeface="微软雅黑" panose="020B0503020204020204" pitchFamily="34" charset="-122"/>
                        </a:rPr>
                        <a:t>Bias</a:t>
                      </a:r>
                      <a:r>
                        <a:rPr lang="zh-CN" altLang="en-US" sz="800" dirty="0">
                          <a:solidFill>
                            <a:srgbClr val="000000"/>
                          </a:solidFill>
                          <a:latin typeface="Arial" panose="020B0604020202020204" pitchFamily="34" charset="0"/>
                          <a:ea typeface="微软雅黑" panose="020B0503020204020204" pitchFamily="34" charset="-122"/>
                        </a:rPr>
                        <a:t>等指标，自动选择最佳模型。</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dirty="0">
                          <a:solidFill>
                            <a:srgbClr val="000000"/>
                          </a:solidFill>
                          <a:latin typeface="Arial" panose="020B0604020202020204" pitchFamily="34" charset="0"/>
                          <a:ea typeface="微软雅黑" panose="020B0503020204020204" pitchFamily="34" charset="-122"/>
                        </a:rPr>
                        <a:t>系统自动选择的最佳预测模型</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2107823204"/>
                  </a:ext>
                </a:extLst>
              </a:tr>
              <a:tr h="657535">
                <a:tc vMerge="1">
                  <a:txBody>
                    <a:bodyPr/>
                    <a:lstStyle/>
                    <a:p>
                      <a:endParaRPr lang="zh-CN" altLang="en-US" sz="800" dirty="0">
                        <a:solidFill>
                          <a:schemeClr val="bg1"/>
                        </a:solidFill>
                        <a:latin typeface="+mj-ea"/>
                        <a:ea typeface="+mj-ea"/>
                      </a:endParaRPr>
                    </a:p>
                  </a:txBody>
                  <a:tcPr marL="19856" marR="19856" marT="9928" marB="9928" anchor="ctr">
                    <a:lnL>
                      <a:noFill/>
                    </a:lnL>
                    <a:lnR>
                      <a:noFill/>
                    </a:lnR>
                    <a:lnT>
                      <a:noFill/>
                    </a:lnT>
                    <a:lnB>
                      <a:noFill/>
                    </a:lnB>
                    <a:no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统计预测评审与人工调整</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en-US" sz="800">
                          <a:solidFill>
                            <a:srgbClr val="000000"/>
                          </a:solidFill>
                          <a:latin typeface="Arial" panose="020B0604020202020204" pitchFamily="34" charset="0"/>
                          <a:ea typeface="微软雅黑" panose="020B0503020204020204" pitchFamily="34" charset="-122"/>
                        </a:rPr>
                        <a:t>“Statistical Forecast” </a:t>
                      </a:r>
                      <a:r>
                        <a:rPr lang="zh-CN" altLang="en-US" sz="800">
                          <a:solidFill>
                            <a:srgbClr val="000000"/>
                          </a:solidFill>
                          <a:latin typeface="Arial" panose="020B0604020202020204" pitchFamily="34" charset="0"/>
                          <a:ea typeface="微软雅黑" panose="020B0503020204020204" pitchFamily="34" charset="-122"/>
                        </a:rPr>
                        <a:t>视图</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模型覆盖：</a:t>
                      </a:r>
                      <a:r>
                        <a:rPr lang="zh-CN" altLang="en-US" sz="800">
                          <a:solidFill>
                            <a:srgbClr val="000000"/>
                          </a:solidFill>
                          <a:latin typeface="Arial" panose="020B0604020202020204" pitchFamily="34" charset="0"/>
                          <a:ea typeface="微软雅黑" panose="020B0503020204020204" pitchFamily="34" charset="-122"/>
                        </a:rPr>
                        <a:t> 人工覆盖自动选择的模型。</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参数微调：</a:t>
                      </a:r>
                      <a:r>
                        <a:rPr lang="zh-CN" altLang="en-US" sz="800">
                          <a:solidFill>
                            <a:srgbClr val="000000"/>
                          </a:solidFill>
                          <a:latin typeface="Arial" panose="020B0604020202020204" pitchFamily="34" charset="0"/>
                          <a:ea typeface="微软雅黑" panose="020B0503020204020204" pitchFamily="34" charset="-122"/>
                        </a:rPr>
                        <a:t> 手动调整模型参数（如平滑系数</a:t>
                      </a:r>
                      <a:r>
                        <a:rPr lang="en-US" altLang="zh-CN" sz="800">
                          <a:solidFill>
                            <a:srgbClr val="000000"/>
                          </a:solidFill>
                          <a:latin typeface="Arial" panose="020B0604020202020204" pitchFamily="34" charset="0"/>
                          <a:ea typeface="微软雅黑" panose="020B0503020204020204" pitchFamily="34" charset="-122"/>
                        </a:rPr>
                        <a:t>α</a:t>
                      </a:r>
                      <a:r>
                        <a:rPr lang="zh-CN" altLang="en-US" sz="800">
                          <a:solidFill>
                            <a:srgbClr val="000000"/>
                          </a:solidFill>
                          <a:latin typeface="Arial" panose="020B0604020202020204" pitchFamily="34" charset="0"/>
                          <a:ea typeface="微软雅黑" panose="020B0503020204020204" pitchFamily="34" charset="-122"/>
                        </a:rPr>
                        <a:t>）。</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批量应用：</a:t>
                      </a:r>
                      <a:r>
                        <a:rPr lang="zh-CN" altLang="en-US" sz="800">
                          <a:solidFill>
                            <a:srgbClr val="000000"/>
                          </a:solidFill>
                          <a:latin typeface="Arial" panose="020B0604020202020204" pitchFamily="34" charset="0"/>
                          <a:ea typeface="微软雅黑" panose="020B0503020204020204" pitchFamily="34" charset="-122"/>
                        </a:rPr>
                        <a:t> 将验证后的模型设置批量应用到相似产品。</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经过审核和优化的统计预测（基线预测）</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2955361375"/>
                  </a:ext>
                </a:extLst>
              </a:tr>
              <a:tr h="655851">
                <a:tc rowSpan="2">
                  <a:txBody>
                    <a:bodyPr/>
                    <a:lstStyle/>
                    <a:p>
                      <a:r>
                        <a:rPr lang="zh-CN" altLang="en-US" sz="800" b="1" dirty="0">
                          <a:solidFill>
                            <a:srgbClr val="000000"/>
                          </a:solidFill>
                          <a:latin typeface="Arial" panose="020B0604020202020204" pitchFamily="34" charset="0"/>
                          <a:ea typeface="微软雅黑" panose="020B0503020204020204" pitchFamily="34" charset="-122"/>
                        </a:rPr>
                        <a:t>第二阶段：综合预测与事件调整</a:t>
                      </a:r>
                    </a:p>
                  </a:txBody>
                  <a:tcPr marL="19856" marR="19856" marT="9928" marB="9928" anchor="ctr">
                    <a:lnL>
                      <a:noFill/>
                    </a:lnL>
                    <a:lnR>
                      <a:noFill/>
                    </a:lnR>
                    <a:lnT>
                      <a:solidFill>
                        <a:srgbClr val="430A5D"/>
                      </a:solidFill>
                      <a:prstDash val="solid"/>
                    </a:lnT>
                    <a:lnB>
                      <a:solidFill>
                        <a:srgbClr val="430A5D"/>
                      </a:solidFill>
                      <a:prstDash val="solid"/>
                    </a:lnB>
                    <a:solidFill>
                      <a:srgbClr val="F1EA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预测分解与聚合</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配置 </a:t>
                      </a:r>
                      <a:r>
                        <a:rPr lang="en-US" sz="800">
                          <a:solidFill>
                            <a:srgbClr val="000000"/>
                          </a:solidFill>
                          <a:latin typeface="Arial" panose="020B0604020202020204" pitchFamily="34" charset="0"/>
                          <a:ea typeface="微软雅黑" panose="020B0503020204020204" pitchFamily="34" charset="-122"/>
                        </a:rPr>
                        <a:t>Disaggregation Profiles</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分解：</a:t>
                      </a:r>
                      <a:r>
                        <a:rPr lang="zh-CN" altLang="en-US" sz="800">
                          <a:solidFill>
                            <a:srgbClr val="000000"/>
                          </a:solidFill>
                          <a:latin typeface="Arial" panose="020B0604020202020204" pitchFamily="34" charset="0"/>
                          <a:ea typeface="微软雅黑" panose="020B0503020204020204" pitchFamily="34" charset="-122"/>
                        </a:rPr>
                        <a:t> 将高层级预测（产品族）按规则（历史比例、未来权重）分解到低层级（</a:t>
                      </a:r>
                      <a:r>
                        <a:rPr lang="en-US" altLang="zh-CN" sz="800">
                          <a:solidFill>
                            <a:srgbClr val="000000"/>
                          </a:solidFill>
                          <a:latin typeface="Arial" panose="020B0604020202020204" pitchFamily="34" charset="0"/>
                          <a:ea typeface="微软雅黑" panose="020B0503020204020204" pitchFamily="34" charset="-122"/>
                        </a:rPr>
                        <a:t>SKU</a:t>
                      </a:r>
                      <a:r>
                        <a:rPr lang="zh-CN" altLang="en-US" sz="800">
                          <a:solidFill>
                            <a:srgbClr val="000000"/>
                          </a:solidFill>
                          <a:latin typeface="Arial" panose="020B0604020202020204" pitchFamily="34" charset="0"/>
                          <a:ea typeface="微软雅黑" panose="020B0503020204020204" pitchFamily="34" charset="-122"/>
                        </a:rPr>
                        <a:t>）。</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聚合：</a:t>
                      </a:r>
                      <a:r>
                        <a:rPr lang="zh-CN" altLang="en-US" sz="800">
                          <a:solidFill>
                            <a:srgbClr val="000000"/>
                          </a:solidFill>
                          <a:latin typeface="Arial" panose="020B0604020202020204" pitchFamily="34" charset="0"/>
                          <a:ea typeface="微软雅黑" panose="020B0503020204020204" pitchFamily="34" charset="-122"/>
                        </a:rPr>
                        <a:t> 将不同来源（各销售区域）的详细预测汇总成总预测。</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初步的综合预测（整合上下级输入）</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1209413091"/>
                  </a:ext>
                </a:extLst>
              </a:tr>
              <a:tr h="657535">
                <a:tc vMerge="1">
                  <a:txBody>
                    <a:bodyPr/>
                    <a:lstStyle/>
                    <a:p>
                      <a:endParaRPr lang="zh-CN" altLang="en-US" sz="800" dirty="0">
                        <a:solidFill>
                          <a:schemeClr val="bg1"/>
                        </a:solidFill>
                        <a:latin typeface="+mj-ea"/>
                        <a:ea typeface="+mj-ea"/>
                      </a:endParaRPr>
                    </a:p>
                  </a:txBody>
                  <a:tcPr marL="19856" marR="19856" marT="9928" marB="9928" anchor="ctr">
                    <a:lnL>
                      <a:noFill/>
                    </a:lnL>
                    <a:lnR>
                      <a:noFill/>
                    </a:lnR>
                    <a:lnT>
                      <a:noFill/>
                    </a:lnT>
                    <a:lnB>
                      <a:noFill/>
                    </a:lnB>
                    <a:no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事件管理（需求塑造）</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en-US" sz="800">
                          <a:solidFill>
                            <a:srgbClr val="000000"/>
                          </a:solidFill>
                          <a:latin typeface="Arial" panose="020B0604020202020204" pitchFamily="34" charset="0"/>
                          <a:ea typeface="微软雅黑" panose="020B0503020204020204" pitchFamily="34" charset="-122"/>
                        </a:rPr>
                        <a:t>Event Management </a:t>
                      </a:r>
                      <a:r>
                        <a:rPr lang="zh-CN" altLang="en-US" sz="800">
                          <a:solidFill>
                            <a:srgbClr val="000000"/>
                          </a:solidFill>
                          <a:latin typeface="Arial" panose="020B0604020202020204" pitchFamily="34" charset="0"/>
                          <a:ea typeface="微软雅黑" panose="020B0503020204020204" pitchFamily="34" charset="-122"/>
                        </a:rPr>
                        <a:t>模块</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定义事件：</a:t>
                      </a:r>
                      <a:r>
                        <a:rPr lang="zh-CN" altLang="en-US" sz="800">
                          <a:solidFill>
                            <a:srgbClr val="000000"/>
                          </a:solidFill>
                          <a:latin typeface="Arial" panose="020B0604020202020204" pitchFamily="34" charset="0"/>
                          <a:ea typeface="微软雅黑" panose="020B0503020204020204" pitchFamily="34" charset="-122"/>
                        </a:rPr>
                        <a:t> 创建事件（如促销），明确影响范围和时间。</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量化影响：</a:t>
                      </a:r>
                      <a:r>
                        <a:rPr lang="zh-CN" altLang="en-US" sz="800">
                          <a:solidFill>
                            <a:srgbClr val="000000"/>
                          </a:solidFill>
                          <a:latin typeface="Arial" panose="020B0604020202020204" pitchFamily="34" charset="0"/>
                          <a:ea typeface="微软雅黑" panose="020B0503020204020204" pitchFamily="34" charset="-122"/>
                        </a:rPr>
                        <a:t> 通过</a:t>
                      </a:r>
                      <a:r>
                        <a:rPr lang="zh-CN" altLang="en-US" sz="800" b="1">
                          <a:solidFill>
                            <a:srgbClr val="000000"/>
                          </a:solidFill>
                          <a:latin typeface="Arial" panose="020B0604020202020204" pitchFamily="34" charset="0"/>
                          <a:ea typeface="微软雅黑" panose="020B0503020204020204" pitchFamily="34" charset="-122"/>
                        </a:rPr>
                        <a:t>历史相似性</a:t>
                      </a:r>
                      <a:r>
                        <a:rPr lang="zh-CN" altLang="en-US" sz="800">
                          <a:solidFill>
                            <a:srgbClr val="000000"/>
                          </a:solidFill>
                          <a:latin typeface="Arial" panose="020B0604020202020204" pitchFamily="34" charset="0"/>
                          <a:ea typeface="微软雅黑" panose="020B0503020204020204" pitchFamily="34" charset="-122"/>
                        </a:rPr>
                        <a:t>自动计算或</a:t>
                      </a:r>
                      <a:r>
                        <a:rPr lang="zh-CN" altLang="en-US" sz="800" b="1">
                          <a:solidFill>
                            <a:srgbClr val="000000"/>
                          </a:solidFill>
                          <a:latin typeface="Arial" panose="020B0604020202020204" pitchFamily="34" charset="0"/>
                          <a:ea typeface="微软雅黑" panose="020B0503020204020204" pitchFamily="34" charset="-122"/>
                        </a:rPr>
                        <a:t>手动输入</a:t>
                      </a:r>
                      <a:r>
                        <a:rPr lang="zh-CN" altLang="en-US" sz="800">
                          <a:solidFill>
                            <a:srgbClr val="000000"/>
                          </a:solidFill>
                          <a:latin typeface="Arial" panose="020B0604020202020204" pitchFamily="34" charset="0"/>
                          <a:ea typeface="微软雅黑" panose="020B0503020204020204" pitchFamily="34" charset="-122"/>
                        </a:rPr>
                        <a:t>预期增量。</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生成调整量：</a:t>
                      </a:r>
                      <a:r>
                        <a:rPr lang="zh-CN" altLang="en-US" sz="800">
                          <a:solidFill>
                            <a:srgbClr val="000000"/>
                          </a:solidFill>
                          <a:latin typeface="Arial" panose="020B0604020202020204" pitchFamily="34" charset="0"/>
                          <a:ea typeface="微软雅黑" panose="020B0503020204020204" pitchFamily="34" charset="-122"/>
                        </a:rPr>
                        <a:t> 事件生成独立的“增量预测”。</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事件驱动的、量化的预测调整项 </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3361676373"/>
                  </a:ext>
                </a:extLst>
              </a:tr>
              <a:tr h="784894">
                <a:tc rowSpan="3">
                  <a:txBody>
                    <a:bodyPr/>
                    <a:lstStyle/>
                    <a:p>
                      <a:r>
                        <a:rPr lang="zh-CN" altLang="en-US" sz="800" b="1" dirty="0">
                          <a:solidFill>
                            <a:srgbClr val="000000"/>
                          </a:solidFill>
                          <a:latin typeface="Arial" panose="020B0604020202020204" pitchFamily="34" charset="0"/>
                          <a:ea typeface="微软雅黑" panose="020B0503020204020204" pitchFamily="34" charset="-122"/>
                        </a:rPr>
                        <a:t>第三阶段：共识预测生成</a:t>
                      </a:r>
                    </a:p>
                  </a:txBody>
                  <a:tcPr marL="19856" marR="19856" marT="9928" marB="9928" anchor="ctr">
                    <a:lnL>
                      <a:noFill/>
                    </a:lnL>
                    <a:lnR>
                      <a:noFill/>
                    </a:lnR>
                    <a:lnT>
                      <a:solidFill>
                        <a:srgbClr val="430A5D"/>
                      </a:solidFill>
                      <a:prstDash val="solid"/>
                    </a:lnT>
                    <a:lnB>
                      <a:solidFill>
                        <a:srgbClr val="430A5D"/>
                      </a:solidFill>
                      <a:prstDash val="solid"/>
                    </a:lnB>
                    <a:solidFill>
                      <a:srgbClr val="F1EA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需求协同工作台</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en-US" sz="800">
                          <a:solidFill>
                            <a:srgbClr val="000000"/>
                          </a:solidFill>
                          <a:latin typeface="Arial" panose="020B0604020202020204" pitchFamily="34" charset="0"/>
                          <a:ea typeface="微软雅黑" panose="020B0503020204020204" pitchFamily="34" charset="-122"/>
                        </a:rPr>
                        <a:t>Collaborative Demand Planning </a:t>
                      </a:r>
                      <a:r>
                        <a:rPr lang="zh-CN" altLang="en-US" sz="800">
                          <a:solidFill>
                            <a:srgbClr val="000000"/>
                          </a:solidFill>
                          <a:latin typeface="Arial" panose="020B0604020202020204" pitchFamily="34" charset="0"/>
                          <a:ea typeface="微软雅黑" panose="020B0503020204020204" pitchFamily="34" charset="-122"/>
                        </a:rPr>
                        <a:t>工作台</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对比分析：</a:t>
                      </a:r>
                      <a:r>
                        <a:rPr lang="zh-CN" altLang="en-US" sz="800">
                          <a:solidFill>
                            <a:srgbClr val="000000"/>
                          </a:solidFill>
                          <a:latin typeface="Arial" panose="020B0604020202020204" pitchFamily="34" charset="0"/>
                          <a:ea typeface="微软雅黑" panose="020B0503020204020204" pitchFamily="34" charset="-122"/>
                        </a:rPr>
                        <a:t> 并排显示统计预测、综合预测、事件预测，突出差异。</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偏差根本原因分析：</a:t>
                      </a:r>
                      <a:r>
                        <a:rPr lang="zh-CN" altLang="en-US" sz="800">
                          <a:solidFill>
                            <a:srgbClr val="000000"/>
                          </a:solidFill>
                          <a:latin typeface="Arial" panose="020B0604020202020204" pitchFamily="34" charset="0"/>
                          <a:ea typeface="微软雅黑" panose="020B0503020204020204" pitchFamily="34" charset="-122"/>
                        </a:rPr>
                        <a:t> 团队成员在系统内添加评论解释差异。</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多轮评审：</a:t>
                      </a:r>
                      <a:r>
                        <a:rPr lang="zh-CN" altLang="en-US" sz="800">
                          <a:solidFill>
                            <a:srgbClr val="000000"/>
                          </a:solidFill>
                          <a:latin typeface="Arial" panose="020B0604020202020204" pitchFamily="34" charset="0"/>
                          <a:ea typeface="微软雅黑" panose="020B0503020204020204" pitchFamily="34" charset="-122"/>
                        </a:rPr>
                        <a:t> 通过工作流驱动评审流程，记录所有讨论。</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经过充分协同和评阅的预测数据</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767004783"/>
                  </a:ext>
                </a:extLst>
              </a:tr>
              <a:tr h="549431">
                <a:tc vMerge="1">
                  <a:txBody>
                    <a:bodyPr/>
                    <a:lstStyle/>
                    <a:p>
                      <a:endParaRPr lang="zh-CN" altLang="en-US" sz="800">
                        <a:solidFill>
                          <a:schemeClr val="bg1"/>
                        </a:solidFill>
                        <a:latin typeface="+mj-ea"/>
                        <a:ea typeface="+mj-ea"/>
                      </a:endParaRPr>
                    </a:p>
                  </a:txBody>
                  <a:tcPr marL="19856" marR="19856" marT="9928" marB="9928" anchor="ctr">
                    <a:lnL>
                      <a:noFill/>
                    </a:lnL>
                    <a:lnR>
                      <a:noFill/>
                    </a:lnR>
                    <a:lnT>
                      <a:noFill/>
                    </a:lnT>
                    <a:lnB>
                      <a:noFill/>
                    </a:lnB>
                    <a:no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应用权重与生成共识</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配置 </a:t>
                      </a:r>
                      <a:r>
                        <a:rPr lang="en-US" sz="800">
                          <a:solidFill>
                            <a:srgbClr val="000000"/>
                          </a:solidFill>
                          <a:latin typeface="Arial" panose="020B0604020202020204" pitchFamily="34" charset="0"/>
                          <a:ea typeface="微软雅黑" panose="020B0503020204020204" pitchFamily="34" charset="-122"/>
                        </a:rPr>
                        <a:t>Consensus Forecast Weighting</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静态权重：</a:t>
                      </a:r>
                      <a:r>
                        <a:rPr lang="zh-CN" altLang="en-US" sz="800">
                          <a:solidFill>
                            <a:srgbClr val="000000"/>
                          </a:solidFill>
                          <a:latin typeface="Arial" panose="020B0604020202020204" pitchFamily="34" charset="0"/>
                          <a:ea typeface="微软雅黑" panose="020B0503020204020204" pitchFamily="34" charset="-122"/>
                        </a:rPr>
                        <a:t> 设置固定权重（如统计</a:t>
                      </a:r>
                      <a:r>
                        <a:rPr lang="en-US" altLang="zh-CN" sz="800">
                          <a:solidFill>
                            <a:srgbClr val="000000"/>
                          </a:solidFill>
                          <a:latin typeface="Arial" panose="020B0604020202020204" pitchFamily="34" charset="0"/>
                          <a:ea typeface="微软雅黑" panose="020B0503020204020204" pitchFamily="34" charset="-122"/>
                        </a:rPr>
                        <a:t>60%</a:t>
                      </a:r>
                      <a:r>
                        <a:rPr lang="zh-CN" altLang="en-US" sz="800">
                          <a:solidFill>
                            <a:srgbClr val="000000"/>
                          </a:solidFill>
                          <a:latin typeface="Arial" panose="020B0604020202020204" pitchFamily="34" charset="0"/>
                          <a:ea typeface="微软雅黑" panose="020B0503020204020204" pitchFamily="34" charset="-122"/>
                        </a:rPr>
                        <a:t>，销售</a:t>
                      </a:r>
                      <a:r>
                        <a:rPr lang="en-US" altLang="zh-CN" sz="800">
                          <a:solidFill>
                            <a:srgbClr val="000000"/>
                          </a:solidFill>
                          <a:latin typeface="Arial" panose="020B0604020202020204" pitchFamily="34" charset="0"/>
                          <a:ea typeface="微软雅黑" panose="020B0503020204020204" pitchFamily="34" charset="-122"/>
                        </a:rPr>
                        <a:t>40%</a:t>
                      </a:r>
                      <a:r>
                        <a:rPr lang="zh-CN" altLang="en-US" sz="800">
                          <a:solidFill>
                            <a:srgbClr val="000000"/>
                          </a:solidFill>
                          <a:latin typeface="Arial" panose="020B0604020202020204" pitchFamily="34" charset="0"/>
                          <a:ea typeface="微软雅黑" panose="020B0503020204020204" pitchFamily="34" charset="-122"/>
                        </a:rPr>
                        <a:t>）。</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动态</a:t>
                      </a:r>
                      <a:r>
                        <a:rPr lang="en-US" altLang="zh-CN" sz="800" b="1">
                          <a:solidFill>
                            <a:srgbClr val="000000"/>
                          </a:solidFill>
                          <a:latin typeface="Arial" panose="020B0604020202020204" pitchFamily="34" charset="0"/>
                          <a:ea typeface="微软雅黑" panose="020B0503020204020204" pitchFamily="34" charset="-122"/>
                        </a:rPr>
                        <a:t>/</a:t>
                      </a:r>
                      <a:r>
                        <a:rPr lang="zh-CN" altLang="en-US" sz="800" b="1">
                          <a:solidFill>
                            <a:srgbClr val="000000"/>
                          </a:solidFill>
                          <a:latin typeface="Arial" panose="020B0604020202020204" pitchFamily="34" charset="0"/>
                          <a:ea typeface="微软雅黑" panose="020B0503020204020204" pitchFamily="34" charset="-122"/>
                        </a:rPr>
                        <a:t>滚动权重：</a:t>
                      </a:r>
                      <a:r>
                        <a:rPr lang="zh-CN" altLang="en-US" sz="800">
                          <a:solidFill>
                            <a:srgbClr val="000000"/>
                          </a:solidFill>
                          <a:latin typeface="Arial" panose="020B0604020202020204" pitchFamily="34" charset="0"/>
                          <a:ea typeface="微软雅黑" panose="020B0503020204020204" pitchFamily="34" charset="-122"/>
                        </a:rPr>
                        <a:t> 在不同时间区间使用不同权重（如近期重统计，远期重销售）。</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a:solidFill>
                            <a:srgbClr val="000000"/>
                          </a:solidFill>
                          <a:latin typeface="Arial" panose="020B0604020202020204" pitchFamily="34" charset="0"/>
                          <a:ea typeface="微软雅黑" panose="020B0503020204020204" pitchFamily="34" charset="-122"/>
                        </a:rPr>
                        <a:t>系统计算出的、加权的共识预测值</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1265285634"/>
                  </a:ext>
                </a:extLst>
              </a:tr>
              <a:tr h="657535">
                <a:tc vMerge="1">
                  <a:txBody>
                    <a:bodyPr/>
                    <a:lstStyle/>
                    <a:p>
                      <a:endParaRPr lang="zh-CN" altLang="en-US" sz="800" dirty="0">
                        <a:solidFill>
                          <a:schemeClr val="bg1"/>
                        </a:solidFill>
                        <a:latin typeface="+mj-ea"/>
                        <a:ea typeface="+mj-ea"/>
                      </a:endParaRPr>
                    </a:p>
                  </a:txBody>
                  <a:tcPr marL="19856" marR="19856" marT="9928" marB="9928" anchor="ctr">
                    <a:lnL>
                      <a:noFill/>
                    </a:lnL>
                    <a:lnR>
                      <a:noFill/>
                    </a:lnR>
                    <a:lnT>
                      <a:noFill/>
                    </a:lnT>
                    <a:lnB>
                      <a:noFill/>
                    </a:lnB>
                    <a:no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最终批准与发布</a:t>
                      </a:r>
                      <a:endParaRPr lang="zh-CN" altLang="en-US" sz="800">
                        <a:solidFill>
                          <a:srgbClr val="000000"/>
                        </a:solidFill>
                        <a:latin typeface="Arial" panose="020B0604020202020204" pitchFamily="34" charset="0"/>
                        <a:ea typeface="微软雅黑" panose="020B0503020204020204" pitchFamily="34" charset="-122"/>
                      </a:endParaRP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dirty="0">
                          <a:solidFill>
                            <a:srgbClr val="000000"/>
                          </a:solidFill>
                          <a:latin typeface="Arial" panose="020B0604020202020204" pitchFamily="34" charset="0"/>
                          <a:ea typeface="微软雅黑" panose="020B0503020204020204" pitchFamily="34" charset="-122"/>
                        </a:rPr>
                        <a:t>需求评审会议 </a:t>
                      </a:r>
                      <a:r>
                        <a:rPr lang="en-US" altLang="zh-CN" sz="800" dirty="0">
                          <a:solidFill>
                            <a:srgbClr val="000000"/>
                          </a:solidFill>
                          <a:latin typeface="Arial" panose="020B0604020202020204" pitchFamily="34" charset="0"/>
                          <a:ea typeface="微软雅黑" panose="020B0503020204020204" pitchFamily="34" charset="-122"/>
                        </a:rPr>
                        <a:t>/ </a:t>
                      </a:r>
                      <a:r>
                        <a:rPr lang="zh-CN" altLang="en-US" sz="800" dirty="0">
                          <a:solidFill>
                            <a:srgbClr val="000000"/>
                          </a:solidFill>
                          <a:latin typeface="Arial" panose="020B0604020202020204" pitchFamily="34" charset="0"/>
                          <a:ea typeface="微软雅黑" panose="020B0503020204020204" pitchFamily="34" charset="-122"/>
                        </a:rPr>
                        <a:t>手动覆盖功能 </a:t>
                      </a:r>
                      <a:r>
                        <a:rPr lang="en-US" altLang="zh-CN" sz="800" dirty="0">
                          <a:solidFill>
                            <a:srgbClr val="000000"/>
                          </a:solidFill>
                          <a:latin typeface="Arial" panose="020B0604020202020204" pitchFamily="34" charset="0"/>
                          <a:ea typeface="微软雅黑" panose="020B0503020204020204" pitchFamily="34" charset="-122"/>
                        </a:rPr>
                        <a:t>/ </a:t>
                      </a:r>
                      <a:r>
                        <a:rPr lang="zh-CN" altLang="en-US" sz="800" dirty="0">
                          <a:solidFill>
                            <a:srgbClr val="000000"/>
                          </a:solidFill>
                          <a:latin typeface="Arial" panose="020B0604020202020204" pitchFamily="34" charset="0"/>
                          <a:ea typeface="微软雅黑" panose="020B0503020204020204" pitchFamily="34" charset="-122"/>
                        </a:rPr>
                        <a:t>发布功能</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a:solidFill>
                            <a:srgbClr val="000000"/>
                          </a:solidFill>
                          <a:latin typeface="Arial" panose="020B0604020202020204" pitchFamily="34" charset="0"/>
                          <a:ea typeface="微软雅黑" panose="020B0503020204020204" pitchFamily="34" charset="-122"/>
                        </a:rPr>
                        <a:t>需求评审会议：</a:t>
                      </a:r>
                      <a:r>
                        <a:rPr lang="zh-CN" altLang="en-US" sz="800">
                          <a:solidFill>
                            <a:srgbClr val="000000"/>
                          </a:solidFill>
                          <a:latin typeface="Arial" panose="020B0604020202020204" pitchFamily="34" charset="0"/>
                          <a:ea typeface="微软雅黑" panose="020B0503020204020204" pitchFamily="34" charset="-122"/>
                        </a:rPr>
                        <a:t> 基于协同工作台的分析进行最终评审。</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最终覆盖：</a:t>
                      </a:r>
                      <a:r>
                        <a:rPr lang="zh-CN" altLang="en-US" sz="800">
                          <a:solidFill>
                            <a:srgbClr val="000000"/>
                          </a:solidFill>
                          <a:latin typeface="Arial" panose="020B0604020202020204" pitchFamily="34" charset="0"/>
                          <a:ea typeface="微软雅黑" panose="020B0503020204020204" pitchFamily="34" charset="-122"/>
                        </a:rPr>
                        <a:t> 根据会议决策进行最终手动调整。</a:t>
                      </a:r>
                      <a:br>
                        <a:rPr lang="zh-CN" altLang="en-US" sz="800">
                          <a:solidFill>
                            <a:srgbClr val="000000"/>
                          </a:solidFill>
                          <a:latin typeface="Arial" panose="020B0604020202020204" pitchFamily="34" charset="0"/>
                          <a:ea typeface="微软雅黑" panose="020B0503020204020204" pitchFamily="34" charset="-122"/>
                        </a:rPr>
                      </a:br>
                      <a:r>
                        <a:rPr lang="zh-CN" altLang="en-US" sz="800" b="1">
                          <a:solidFill>
                            <a:srgbClr val="000000"/>
                          </a:solidFill>
                          <a:latin typeface="Arial" panose="020B0604020202020204" pitchFamily="34" charset="0"/>
                          <a:ea typeface="微软雅黑" panose="020B0503020204020204" pitchFamily="34" charset="-122"/>
                        </a:rPr>
                        <a:t>发布：</a:t>
                      </a:r>
                      <a:r>
                        <a:rPr lang="zh-CN" altLang="en-US" sz="800">
                          <a:solidFill>
                            <a:srgbClr val="000000"/>
                          </a:solidFill>
                          <a:latin typeface="Arial" panose="020B0604020202020204" pitchFamily="34" charset="0"/>
                          <a:ea typeface="微软雅黑" panose="020B0503020204020204" pitchFamily="34" charset="-122"/>
                        </a:rPr>
                        <a:t> 锁定并正式发布预测，数据</a:t>
                      </a:r>
                      <a:r>
                        <a:rPr lang="zh-CN" altLang="en-US" sz="800" b="1">
                          <a:solidFill>
                            <a:srgbClr val="000000"/>
                          </a:solidFill>
                          <a:latin typeface="Arial" panose="020B0604020202020204" pitchFamily="34" charset="0"/>
                          <a:ea typeface="微软雅黑" panose="020B0503020204020204" pitchFamily="34" charset="-122"/>
                        </a:rPr>
                        <a:t>实时</a:t>
                      </a:r>
                      <a:r>
                        <a:rPr lang="zh-CN" altLang="en-US" sz="800">
                          <a:solidFill>
                            <a:srgbClr val="000000"/>
                          </a:solidFill>
                          <a:latin typeface="Arial" panose="020B0604020202020204" pitchFamily="34" charset="0"/>
                          <a:ea typeface="微软雅黑" panose="020B0503020204020204" pitchFamily="34" charset="-122"/>
                        </a:rPr>
                        <a:t>推送至供应计划模块。</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tc>
                  <a:txBody>
                    <a:bodyPr/>
                    <a:lstStyle/>
                    <a:p>
                      <a:r>
                        <a:rPr lang="zh-CN" altLang="en-US" sz="800" b="1" dirty="0">
                          <a:solidFill>
                            <a:srgbClr val="000000"/>
                          </a:solidFill>
                          <a:latin typeface="Arial" panose="020B0604020202020204" pitchFamily="34" charset="0"/>
                          <a:ea typeface="微软雅黑" panose="020B0503020204020204" pitchFamily="34" charset="-122"/>
                        </a:rPr>
                        <a:t>最终批准的共识预测</a:t>
                      </a:r>
                      <a:r>
                        <a:rPr lang="zh-CN" altLang="en-US" sz="800" dirty="0">
                          <a:solidFill>
                            <a:srgbClr val="000000"/>
                          </a:solidFill>
                          <a:latin typeface="Arial" panose="020B0604020202020204" pitchFamily="34" charset="0"/>
                          <a:ea typeface="微软雅黑" panose="020B0503020204020204" pitchFamily="34" charset="-122"/>
                        </a:rPr>
                        <a:t>（驱动供应链）</a:t>
                      </a:r>
                    </a:p>
                  </a:txBody>
                  <a:tcPr marL="19856" marR="19856" marT="9928" marB="9928" anchor="ctr">
                    <a:lnL>
                      <a:noFill/>
                    </a:lnL>
                    <a:lnR>
                      <a:noFill/>
                    </a:lnR>
                    <a:lnT>
                      <a:solidFill>
                        <a:srgbClr val="430A5D"/>
                      </a:solidFill>
                      <a:prstDash val="solid"/>
                    </a:lnT>
                    <a:lnB>
                      <a:solidFill>
                        <a:srgbClr val="430A5D"/>
                      </a:solidFill>
                      <a:prstDash val="solid"/>
                    </a:lnB>
                    <a:solidFill>
                      <a:srgbClr val="FFFFFF"/>
                    </a:solidFill>
                  </a:tcPr>
                </a:tc>
                <a:extLst>
                  <a:ext uri="{0D108BD9-81ED-4DB2-BD59-A6C34878D82A}">
                    <a16:rowId xmlns:a16="http://schemas.microsoft.com/office/drawing/2014/main" val="1563474541"/>
                  </a:ext>
                </a:extLst>
              </a:tr>
            </a:tbl>
          </a:graphicData>
        </a:graphic>
      </p:graphicFrame>
    </p:spTree>
    <p:extLst>
      <p:ext uri="{BB962C8B-B14F-4D97-AF65-F5344CB8AC3E}">
        <p14:creationId xmlns:p14="http://schemas.microsoft.com/office/powerpoint/2010/main" val="113683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A6B8700-F3FD-6E17-841C-3A18DAEF4A2F}"/>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智能战术规划</a:t>
            </a:r>
            <a:r>
              <a:rPr lang="en-US" altLang="zh-CN" dirty="0">
                <a:latin typeface="Arial" panose="020B0604020202020204" pitchFamily="34" charset="0"/>
                <a:ea typeface="微软雅黑" panose="020B0503020204020204" pitchFamily="34" charset="-122"/>
              </a:rPr>
              <a:t>ITP(Intelligent Tactical Planning)</a:t>
            </a:r>
            <a:endParaRPr lang="zh-CN" altLang="en-US" dirty="0">
              <a:latin typeface="Arial" panose="020B0604020202020204" pitchFamily="34" charset="0"/>
              <a:ea typeface="微软雅黑" panose="020B0503020204020204" pitchFamily="34" charset="-122"/>
            </a:endParaRPr>
          </a:p>
        </p:txBody>
      </p:sp>
      <p:grpSp>
        <p:nvGrpSpPr>
          <p:cNvPr id="2" name="组合 1">
            <a:extLst>
              <a:ext uri="{FF2B5EF4-FFF2-40B4-BE49-F238E27FC236}">
                <a16:creationId xmlns:a16="http://schemas.microsoft.com/office/drawing/2014/main" id="{6B949145-7275-890D-61F0-914B9021BF82}"/>
              </a:ext>
            </a:extLst>
          </p:cNvPr>
          <p:cNvGrpSpPr>
            <a:grpSpLocks noChangeAspect="1"/>
          </p:cNvGrpSpPr>
          <p:nvPr>
            <p:custDataLst>
              <p:tags r:id="rId1"/>
            </p:custDataLst>
          </p:nvPr>
        </p:nvGrpSpPr>
        <p:grpSpPr>
          <a:xfrm>
            <a:off x="1028122" y="1148350"/>
            <a:ext cx="10545418" cy="4678648"/>
            <a:chOff x="675644" y="1047413"/>
            <a:chExt cx="5253720" cy="3763678"/>
          </a:xfrm>
        </p:grpSpPr>
        <p:grpSp>
          <p:nvGrpSpPr>
            <p:cNvPr id="4" name="组合 3">
              <a:extLst>
                <a:ext uri="{FF2B5EF4-FFF2-40B4-BE49-F238E27FC236}">
                  <a16:creationId xmlns:a16="http://schemas.microsoft.com/office/drawing/2014/main" id="{8E3BDE72-8997-1E44-E8F3-FEF2564C332A}"/>
                </a:ext>
              </a:extLst>
            </p:cNvPr>
            <p:cNvGrpSpPr>
              <a:grpSpLocks/>
            </p:cNvGrpSpPr>
            <p:nvPr/>
          </p:nvGrpSpPr>
          <p:grpSpPr>
            <a:xfrm>
              <a:off x="675644" y="2650839"/>
              <a:ext cx="5253720" cy="1215104"/>
              <a:chOff x="6278556" y="1915620"/>
              <a:chExt cx="5253720" cy="1215104"/>
            </a:xfrm>
          </p:grpSpPr>
          <p:sp>
            <p:nvSpPr>
              <p:cNvPr id="29" name="2">
                <a:extLst>
                  <a:ext uri="{FF2B5EF4-FFF2-40B4-BE49-F238E27FC236}">
                    <a16:creationId xmlns:a16="http://schemas.microsoft.com/office/drawing/2014/main" id="{06EBAC61-5F61-0905-AB5A-3E0576560AA0}"/>
                  </a:ext>
                </a:extLst>
              </p:cNvPr>
              <p:cNvSpPr/>
              <p:nvPr>
                <p:custDataLst>
                  <p:tags r:id="rId8"/>
                </p:custDataLst>
              </p:nvPr>
            </p:nvSpPr>
            <p:spPr>
              <a:xfrm>
                <a:off x="7180946" y="1956281"/>
                <a:ext cx="4351330" cy="116736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30" name="Title-2">
                <a:extLst>
                  <a:ext uri="{FF2B5EF4-FFF2-40B4-BE49-F238E27FC236}">
                    <a16:creationId xmlns:a16="http://schemas.microsoft.com/office/drawing/2014/main" id="{E5814B62-C1AC-C1DA-D70A-C75B47CA19C4}"/>
                  </a:ext>
                </a:extLst>
              </p:cNvPr>
              <p:cNvSpPr/>
              <p:nvPr>
                <p:custDataLst>
                  <p:tags r:id="rId9"/>
                </p:custDataLst>
              </p:nvPr>
            </p:nvSpPr>
            <p:spPr>
              <a:xfrm>
                <a:off x="6278556" y="1963358"/>
                <a:ext cx="872889" cy="1167366"/>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MPS</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（主生产计划）</a:t>
                </a:r>
              </a:p>
            </p:txBody>
          </p:sp>
          <p:sp>
            <p:nvSpPr>
              <p:cNvPr id="31" name="Body-2">
                <a:extLst>
                  <a:ext uri="{FF2B5EF4-FFF2-40B4-BE49-F238E27FC236}">
                    <a16:creationId xmlns:a16="http://schemas.microsoft.com/office/drawing/2014/main" id="{822D99AC-1767-FD13-B84C-331FFA2E1D2A}"/>
                  </a:ext>
                </a:extLst>
              </p:cNvPr>
              <p:cNvSpPr txBox="1"/>
              <p:nvPr>
                <p:custDataLst>
                  <p:tags r:id="rId10"/>
                </p:custDataLst>
              </p:nvPr>
            </p:nvSpPr>
            <p:spPr>
              <a:xfrm>
                <a:off x="7223695" y="1915620"/>
                <a:ext cx="4060179" cy="1155870"/>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核心功能：</a:t>
                </a:r>
                <a:endParaRPr kumimoji="0" lang="en-US" altLang="zh-CN" sz="1200" b="1" i="0" u="none" strike="noStrike" kern="1200" cap="none" spc="0" normalizeH="0" baseline="0" noProof="0" dirty="0">
                  <a:ln>
                    <a:noFill/>
                  </a:ln>
                  <a:solidFill>
                    <a:prstClr val="black"/>
                  </a:solidFill>
                  <a:effectLst/>
                  <a:uLnTx/>
                  <a:uFillTx/>
                  <a:ea typeface="微软雅黑" panose="020B0503020204020204" pitchFamily="34" charset="-122"/>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协同模拟分析：基于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MRP Netting </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的输出，进行多版本模拟（如“</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what-if”</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分析），优化产销协同（即销售与生产的匹配）。</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优化策略：在战略优先的前提下，实现公平公正的深度优化，平衡成本、交期和资源利用率。</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价值链整合：通过维度规划生成预测承诺，形成销售计划和供应计划，并转化为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IOP </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的约束性指导，确保计划与实际运营衔接。</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意义：</a:t>
                </a:r>
                <a:r>
                  <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rPr>
                  <a:t>MPS </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充当了战术规划的“大脑”，将需求转化为具体指导，确保计划既符合战略目标，又具备可操作性。</a:t>
                </a:r>
                <a:endPar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nvGrpSpPr>
            <p:cNvPr id="5" name="组合 4">
              <a:extLst>
                <a:ext uri="{FF2B5EF4-FFF2-40B4-BE49-F238E27FC236}">
                  <a16:creationId xmlns:a16="http://schemas.microsoft.com/office/drawing/2014/main" id="{23212109-DAD7-FF49-23F7-131EDB934688}"/>
                </a:ext>
              </a:extLst>
            </p:cNvPr>
            <p:cNvGrpSpPr>
              <a:grpSpLocks/>
            </p:cNvGrpSpPr>
            <p:nvPr/>
          </p:nvGrpSpPr>
          <p:grpSpPr>
            <a:xfrm>
              <a:off x="675645" y="1047413"/>
              <a:ext cx="5253719" cy="1616709"/>
              <a:chOff x="675645" y="1747906"/>
              <a:chExt cx="5253719" cy="1616709"/>
            </a:xfrm>
          </p:grpSpPr>
          <p:sp>
            <p:nvSpPr>
              <p:cNvPr id="26" name="1">
                <a:extLst>
                  <a:ext uri="{FF2B5EF4-FFF2-40B4-BE49-F238E27FC236}">
                    <a16:creationId xmlns:a16="http://schemas.microsoft.com/office/drawing/2014/main" id="{3D970A3A-0CF2-254F-C14C-46B4458B6D84}"/>
                  </a:ext>
                </a:extLst>
              </p:cNvPr>
              <p:cNvSpPr/>
              <p:nvPr>
                <p:custDataLst>
                  <p:tags r:id="rId5"/>
                </p:custDataLst>
              </p:nvPr>
            </p:nvSpPr>
            <p:spPr>
              <a:xfrm>
                <a:off x="1582113" y="1747906"/>
                <a:ext cx="4347251" cy="161670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27" name="Title-1">
                <a:extLst>
                  <a:ext uri="{FF2B5EF4-FFF2-40B4-BE49-F238E27FC236}">
                    <a16:creationId xmlns:a16="http://schemas.microsoft.com/office/drawing/2014/main" id="{3E7184A1-0A51-18B0-EAC0-45FE3CCEA681}"/>
                  </a:ext>
                </a:extLst>
              </p:cNvPr>
              <p:cNvSpPr/>
              <p:nvPr>
                <p:custDataLst>
                  <p:tags r:id="rId6"/>
                </p:custDataLst>
              </p:nvPr>
            </p:nvSpPr>
            <p:spPr>
              <a:xfrm>
                <a:off x="675645" y="1747906"/>
                <a:ext cx="872889" cy="1616709"/>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 Netting</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（每周净需求计算）</a:t>
                </a:r>
              </a:p>
            </p:txBody>
          </p:sp>
          <p:sp>
            <p:nvSpPr>
              <p:cNvPr id="28" name="Body-1">
                <a:extLst>
                  <a:ext uri="{FF2B5EF4-FFF2-40B4-BE49-F238E27FC236}">
                    <a16:creationId xmlns:a16="http://schemas.microsoft.com/office/drawing/2014/main" id="{7AF2A639-89CD-ADBD-1EAA-DBFEAD227431}"/>
                  </a:ext>
                </a:extLst>
              </p:cNvPr>
              <p:cNvSpPr txBox="1"/>
              <p:nvPr>
                <p:custDataLst>
                  <p:tags r:id="rId7"/>
                </p:custDataLst>
              </p:nvPr>
            </p:nvSpPr>
            <p:spPr>
              <a:xfrm>
                <a:off x="1613979" y="1806987"/>
                <a:ext cx="3881858" cy="1485263"/>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核心功能：</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预测准确性提升：通过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Planning BOM </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细化预测，减少不确定性，降低跨部门协同的复杂度。</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预测冲减：动态调整预测以反映实际需求，更先进的做法是将此过程集成到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IOP</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Intelligent Operational Planning</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，智能运营规划）中，实现更前瞻性的调整。</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高效计算与瓶颈识别：利用内存计算、并行计算等高性能技术，实现分钟级计算速度。同时，结合维度规划、替换料方案等专利，快速识别物料和资源瓶颈，并将结果分发给供应商、第三方物流（</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3PL</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）及内外工厂，确保供应端及时响应。</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意义：</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MRP Netting </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是 </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ITP </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的基础，确保物料需求计划快速、准确，为后续规划提供可靠输入。</a:t>
                </a: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grpSp>
        <p:grpSp>
          <p:nvGrpSpPr>
            <p:cNvPr id="22" name="组合 21">
              <a:extLst>
                <a:ext uri="{FF2B5EF4-FFF2-40B4-BE49-F238E27FC236}">
                  <a16:creationId xmlns:a16="http://schemas.microsoft.com/office/drawing/2014/main" id="{A843314D-0A56-2B6E-E9B6-641E01270C3C}"/>
                </a:ext>
              </a:extLst>
            </p:cNvPr>
            <p:cNvGrpSpPr/>
            <p:nvPr/>
          </p:nvGrpSpPr>
          <p:grpSpPr>
            <a:xfrm>
              <a:off x="675644" y="3894900"/>
              <a:ext cx="5253720" cy="916191"/>
              <a:chOff x="675644" y="3159681"/>
              <a:chExt cx="5253720" cy="916191"/>
            </a:xfrm>
          </p:grpSpPr>
          <p:sp>
            <p:nvSpPr>
              <p:cNvPr id="23" name="3">
                <a:extLst>
                  <a:ext uri="{FF2B5EF4-FFF2-40B4-BE49-F238E27FC236}">
                    <a16:creationId xmlns:a16="http://schemas.microsoft.com/office/drawing/2014/main" id="{2F595A55-5CD1-326D-AC77-CA362BE7C807}"/>
                  </a:ext>
                </a:extLst>
              </p:cNvPr>
              <p:cNvSpPr/>
              <p:nvPr>
                <p:custDataLst>
                  <p:tags r:id="rId2"/>
                </p:custDataLst>
              </p:nvPr>
            </p:nvSpPr>
            <p:spPr>
              <a:xfrm>
                <a:off x="1578034" y="3159681"/>
                <a:ext cx="4351330" cy="91619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24" name="Title-3">
                <a:extLst>
                  <a:ext uri="{FF2B5EF4-FFF2-40B4-BE49-F238E27FC236}">
                    <a16:creationId xmlns:a16="http://schemas.microsoft.com/office/drawing/2014/main" id="{46089832-C6B4-45BA-2A1E-EAF2A6043678}"/>
                  </a:ext>
                </a:extLst>
              </p:cNvPr>
              <p:cNvSpPr/>
              <p:nvPr>
                <p:custDataLst>
                  <p:tags r:id="rId3"/>
                </p:custDataLst>
              </p:nvPr>
            </p:nvSpPr>
            <p:spPr>
              <a:xfrm>
                <a:off x="675644" y="3159681"/>
                <a:ext cx="872889" cy="916190"/>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供应商协同</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5" name="Body-3">
                <a:extLst>
                  <a:ext uri="{FF2B5EF4-FFF2-40B4-BE49-F238E27FC236}">
                    <a16:creationId xmlns:a16="http://schemas.microsoft.com/office/drawing/2014/main" id="{C7166B3A-0CFD-D684-D99F-9C7762BB7E8B}"/>
                  </a:ext>
                </a:extLst>
              </p:cNvPr>
              <p:cNvSpPr txBox="1"/>
              <p:nvPr>
                <p:custDataLst>
                  <p:tags r:id="rId4"/>
                </p:custDataLst>
              </p:nvPr>
            </p:nvSpPr>
            <p:spPr>
              <a:xfrm>
                <a:off x="1613979" y="3261380"/>
                <a:ext cx="3924973" cy="712792"/>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核心功能：</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滚动协同：动态管理采购订单（</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PO</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）、未来到料（</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SR</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）、零件预测、供应承诺、预计到达时间（</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ETA</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）和收货挂钩（</a:t>
                </a:r>
                <a:r>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GR pegging</a:t>
                </a:r>
                <a:r>
                  <a:rPr kumimoji="0" lang="zh-CN" altLang="en-US"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），形成“协同协奏”（即像音乐一样和谐配合）。</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ea typeface="微软雅黑" panose="020B0503020204020204" pitchFamily="34" charset="-122"/>
                    <a:cs typeface="+mn-cs"/>
                  </a:rPr>
                  <a:t>意义：</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供应商协同是 </a:t>
                </a:r>
                <a:r>
                  <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rPr>
                  <a:t>ITP </a:t>
                </a:r>
                <a:r>
                  <a:rPr kumimoji="0" lang="zh-CN" altLang="en-US" sz="1200" b="0" i="0" u="none" strike="noStrike" kern="1200" cap="none" spc="0" normalizeH="0" baseline="0" noProof="0" dirty="0">
                    <a:ln>
                      <a:noFill/>
                    </a:ln>
                    <a:solidFill>
                      <a:prstClr val="black"/>
                    </a:solidFill>
                    <a:effectLst/>
                    <a:uLnTx/>
                    <a:uFillTx/>
                    <a:ea typeface="微软雅黑" panose="020B0503020204020204" pitchFamily="34" charset="-122"/>
                    <a:cs typeface="+mn-cs"/>
                  </a:rPr>
                  <a:t>的落地环节，通过信息共享和实时更新，减少延迟和库存风险，提升整个供应链的敏捷性。</a:t>
                </a:r>
                <a:endParaRPr kumimoji="0" lang="en-US" altLang="zh-CN" sz="12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spTree>
    <p:extLst>
      <p:ext uri="{BB962C8B-B14F-4D97-AF65-F5344CB8AC3E}">
        <p14:creationId xmlns:p14="http://schemas.microsoft.com/office/powerpoint/2010/main" val="831196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C25EAEC-41DF-E89C-69F3-695039221E46}"/>
              </a:ext>
            </a:extLst>
          </p:cNvPr>
          <p:cNvGrpSpPr>
            <a:grpSpLocks noChangeAspect="1"/>
          </p:cNvGrpSpPr>
          <p:nvPr>
            <p:custDataLst>
              <p:tags r:id="rId1"/>
            </p:custDataLst>
          </p:nvPr>
        </p:nvGrpSpPr>
        <p:grpSpPr>
          <a:xfrm>
            <a:off x="699271" y="1231493"/>
            <a:ext cx="10632116" cy="4623018"/>
            <a:chOff x="675644" y="1328330"/>
            <a:chExt cx="7162045" cy="3383973"/>
          </a:xfrm>
        </p:grpSpPr>
        <p:grpSp>
          <p:nvGrpSpPr>
            <p:cNvPr id="4" name="组合 3">
              <a:extLst>
                <a:ext uri="{FF2B5EF4-FFF2-40B4-BE49-F238E27FC236}">
                  <a16:creationId xmlns:a16="http://schemas.microsoft.com/office/drawing/2014/main" id="{0F180DBF-823A-B2D9-329D-329B24A078BE}"/>
                </a:ext>
              </a:extLst>
            </p:cNvPr>
            <p:cNvGrpSpPr>
              <a:grpSpLocks/>
            </p:cNvGrpSpPr>
            <p:nvPr/>
          </p:nvGrpSpPr>
          <p:grpSpPr>
            <a:xfrm>
              <a:off x="675644" y="2147091"/>
              <a:ext cx="7162045" cy="1771948"/>
              <a:chOff x="6278556" y="1411872"/>
              <a:chExt cx="7162045" cy="1771948"/>
            </a:xfrm>
          </p:grpSpPr>
          <p:sp>
            <p:nvSpPr>
              <p:cNvPr id="13" name="2">
                <a:extLst>
                  <a:ext uri="{FF2B5EF4-FFF2-40B4-BE49-F238E27FC236}">
                    <a16:creationId xmlns:a16="http://schemas.microsoft.com/office/drawing/2014/main" id="{791154C2-27C6-C789-0B59-4234D48796BA}"/>
                  </a:ext>
                </a:extLst>
              </p:cNvPr>
              <p:cNvSpPr/>
              <p:nvPr>
                <p:custDataLst>
                  <p:tags r:id="rId8"/>
                </p:custDataLst>
              </p:nvPr>
            </p:nvSpPr>
            <p:spPr>
              <a:xfrm>
                <a:off x="7491079" y="1439602"/>
                <a:ext cx="5949522" cy="174421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Title-2">
                <a:extLst>
                  <a:ext uri="{FF2B5EF4-FFF2-40B4-BE49-F238E27FC236}">
                    <a16:creationId xmlns:a16="http://schemas.microsoft.com/office/drawing/2014/main" id="{19F3542A-2A70-5E14-8C97-89D49F34BAA5}"/>
                  </a:ext>
                </a:extLst>
              </p:cNvPr>
              <p:cNvSpPr/>
              <p:nvPr>
                <p:custDataLst>
                  <p:tags r:id="rId9"/>
                </p:custDataLst>
              </p:nvPr>
            </p:nvSpPr>
            <p:spPr>
              <a:xfrm>
                <a:off x="6278556" y="1439601"/>
                <a:ext cx="1212523" cy="1744219"/>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确保承诺</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Body-2">
                <a:extLst>
                  <a:ext uri="{FF2B5EF4-FFF2-40B4-BE49-F238E27FC236}">
                    <a16:creationId xmlns:a16="http://schemas.microsoft.com/office/drawing/2014/main" id="{2EC8A512-6E4A-BF56-04E7-50C0C2C75694}"/>
                  </a:ext>
                </a:extLst>
              </p:cNvPr>
              <p:cNvSpPr txBox="1"/>
              <p:nvPr>
                <p:custDataLst>
                  <p:tags r:id="rId10"/>
                </p:custDataLst>
              </p:nvPr>
            </p:nvSpPr>
            <p:spPr>
              <a:xfrm>
                <a:off x="7652727" y="1411872"/>
                <a:ext cx="5242238" cy="1754707"/>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ea typeface="微软雅黑" panose="020B0503020204020204" pitchFamily="34" charset="-122"/>
                    <a:cs typeface="+mn-cs"/>
                  </a:rPr>
                  <a:t>利用优先级进行软预留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solidFill>
                    <a:effectLst/>
                    <a:uLnTx/>
                    <a:uFillTx/>
                    <a:ea typeface="微软雅黑" panose="020B0503020204020204" pitchFamily="34" charset="-122"/>
                    <a:cs typeface="+mn-cs"/>
                  </a:rPr>
                  <a:t>承诺需要预留供给和资源，但由于供应和约束条件可能存在波动，必须能够灵活适应这些变化，因此不宜采用 </a:t>
                </a:r>
                <a:r>
                  <a:rPr kumimoji="0" lang="en-US" altLang="zh-CN" sz="1400" b="0" i="0" u="none" strike="noStrike" kern="1200" cap="none" spc="0" normalizeH="0" baseline="0" noProof="0" dirty="0">
                    <a:ln>
                      <a:noFill/>
                    </a:ln>
                    <a:solidFill>
                      <a:prstClr val="black"/>
                    </a:solidFill>
                    <a:effectLst/>
                    <a:uLnTx/>
                    <a:uFillTx/>
                    <a:ea typeface="微软雅黑" panose="020B0503020204020204" pitchFamily="34" charset="-122"/>
                    <a:cs typeface="+mn-cs"/>
                  </a:rPr>
                  <a:t>Pegging</a:t>
                </a:r>
                <a:r>
                  <a:rPr kumimoji="0" lang="zh-CN" altLang="en-US" sz="1400" b="0" i="0" u="none" strike="noStrike" kern="1200" cap="none" spc="0" normalizeH="0" baseline="0" noProof="0" dirty="0">
                    <a:ln>
                      <a:noFill/>
                    </a:ln>
                    <a:solidFill>
                      <a:prstClr val="black"/>
                    </a:solidFill>
                    <a:effectLst/>
                    <a:uLnTx/>
                    <a:uFillTx/>
                    <a:ea typeface="微软雅黑" panose="020B0503020204020204" pitchFamily="34" charset="-122"/>
                    <a:cs typeface="+mn-cs"/>
                  </a:rPr>
                  <a:t>（刚性预留）方式。</a:t>
                </a:r>
                <a:endParaRPr kumimoji="0" lang="en-US" altLang="zh-CN" sz="1400" b="0" i="0" u="none" strike="noStrike" kern="1200" cap="none" spc="0" normalizeH="0" baseline="0" noProof="0" dirty="0">
                  <a:ln>
                    <a:noFill/>
                  </a:ln>
                  <a:solidFill>
                    <a:prstClr val="black"/>
                  </a:solidFill>
                  <a:effectLst/>
                  <a:uLnTx/>
                  <a:uFillTx/>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solidFill>
                    <a:effectLst/>
                    <a:uLnTx/>
                    <a:uFillTx/>
                    <a:ea typeface="微软雅黑" panose="020B0503020204020204" pitchFamily="34" charset="-122"/>
                    <a:cs typeface="+mn-cs"/>
                  </a:rPr>
                  <a:t>计划订单、未来到料和现有库存之间往往难以建立精确的跟踪关系。因此，预留机制更适合采用基于优先级的软预留，这种方式也为优化提供了更大空间。关键是要确保已承诺需求的优先级高于新需求的优先级。</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ea typeface="微软雅黑" panose="020B0503020204020204" pitchFamily="34" charset="-122"/>
                    <a:cs typeface="+mn-cs"/>
                  </a:rPr>
                  <a:t>资源置换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prstClr val="black"/>
                    </a:solidFill>
                    <a:effectLst/>
                    <a:uLnTx/>
                    <a:uFillTx/>
                    <a:ea typeface="微软雅黑" panose="020B0503020204020204" pitchFamily="34" charset="-122"/>
                    <a:cs typeface="+mn-cs"/>
                  </a:rPr>
                  <a:t>紧急插单不应直接插入现有生产队列，而应通过资源置换的方式进行处理，这样可以明确指定影响范围并有效控制其波及效应。</a:t>
                </a:r>
                <a:endParaRPr kumimoji="0" lang="en-US" altLang="zh-CN" sz="1400" b="1"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nvGrpSpPr>
            <p:cNvPr id="5" name="组合 4">
              <a:extLst>
                <a:ext uri="{FF2B5EF4-FFF2-40B4-BE49-F238E27FC236}">
                  <a16:creationId xmlns:a16="http://schemas.microsoft.com/office/drawing/2014/main" id="{A604DC63-D5D7-6294-CE9C-ACB884470B49}"/>
                </a:ext>
              </a:extLst>
            </p:cNvPr>
            <p:cNvGrpSpPr>
              <a:grpSpLocks/>
            </p:cNvGrpSpPr>
            <p:nvPr/>
          </p:nvGrpSpPr>
          <p:grpSpPr>
            <a:xfrm>
              <a:off x="675644" y="1328330"/>
              <a:ext cx="7162045" cy="833626"/>
              <a:chOff x="675644" y="2028823"/>
              <a:chExt cx="7162045" cy="833626"/>
            </a:xfrm>
          </p:grpSpPr>
          <p:sp>
            <p:nvSpPr>
              <p:cNvPr id="10" name="1">
                <a:extLst>
                  <a:ext uri="{FF2B5EF4-FFF2-40B4-BE49-F238E27FC236}">
                    <a16:creationId xmlns:a16="http://schemas.microsoft.com/office/drawing/2014/main" id="{376E613B-0390-4250-2D66-C91342B13F0F}"/>
                  </a:ext>
                </a:extLst>
              </p:cNvPr>
              <p:cNvSpPr/>
              <p:nvPr>
                <p:custDataLst>
                  <p:tags r:id="rId5"/>
                </p:custDataLst>
              </p:nvPr>
            </p:nvSpPr>
            <p:spPr>
              <a:xfrm>
                <a:off x="1888167" y="2028823"/>
                <a:ext cx="5949522" cy="83362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Title-1">
                <a:extLst>
                  <a:ext uri="{FF2B5EF4-FFF2-40B4-BE49-F238E27FC236}">
                    <a16:creationId xmlns:a16="http://schemas.microsoft.com/office/drawing/2014/main" id="{F7BC1B6A-EC1C-7CAB-F263-DC983A9C6677}"/>
                  </a:ext>
                </a:extLst>
              </p:cNvPr>
              <p:cNvSpPr/>
              <p:nvPr>
                <p:custDataLst>
                  <p:tags r:id="rId6"/>
                </p:custDataLst>
              </p:nvPr>
            </p:nvSpPr>
            <p:spPr>
              <a:xfrm>
                <a:off x="675644" y="2028823"/>
                <a:ext cx="1212523" cy="833626"/>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E2E</a:t>
                </a: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一体化设计</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Body-1">
                <a:extLst>
                  <a:ext uri="{FF2B5EF4-FFF2-40B4-BE49-F238E27FC236}">
                    <a16:creationId xmlns:a16="http://schemas.microsoft.com/office/drawing/2014/main" id="{B7C5BABA-249C-C345-3CC6-23CEF8BE5596}"/>
                  </a:ext>
                </a:extLst>
              </p:cNvPr>
              <p:cNvSpPr txBox="1"/>
              <p:nvPr>
                <p:custDataLst>
                  <p:tags r:id="rId7"/>
                </p:custDataLst>
              </p:nvPr>
            </p:nvSpPr>
            <p:spPr>
              <a:xfrm>
                <a:off x="2040394" y="2065811"/>
                <a:ext cx="3649579" cy="619259"/>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横向对齐</a:t>
                </a: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统一需求，供应和约束的计算范围</a:t>
                </a:r>
                <a:r>
                  <a:rPr kumimoji="0" lang="en-US" altLang="zh-CN"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统一需求和供应，约束的智能化分配规则</a:t>
                </a:r>
                <a:endParaRPr kumimoji="0" lang="en-US" altLang="zh-CN" sz="17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grpSp>
        <p:grpSp>
          <p:nvGrpSpPr>
            <p:cNvPr id="6" name="组合 5">
              <a:extLst>
                <a:ext uri="{FF2B5EF4-FFF2-40B4-BE49-F238E27FC236}">
                  <a16:creationId xmlns:a16="http://schemas.microsoft.com/office/drawing/2014/main" id="{E62E44BA-315D-51B0-A1E1-B7C74FE175C4}"/>
                </a:ext>
              </a:extLst>
            </p:cNvPr>
            <p:cNvGrpSpPr/>
            <p:nvPr/>
          </p:nvGrpSpPr>
          <p:grpSpPr>
            <a:xfrm>
              <a:off x="675644" y="3938116"/>
              <a:ext cx="7162045" cy="774187"/>
              <a:chOff x="675644" y="3202897"/>
              <a:chExt cx="7162045" cy="774187"/>
            </a:xfrm>
          </p:grpSpPr>
          <p:sp>
            <p:nvSpPr>
              <p:cNvPr id="7" name="3">
                <a:extLst>
                  <a:ext uri="{FF2B5EF4-FFF2-40B4-BE49-F238E27FC236}">
                    <a16:creationId xmlns:a16="http://schemas.microsoft.com/office/drawing/2014/main" id="{2035A6D6-AD41-877F-DA5D-412178CDD655}"/>
                  </a:ext>
                </a:extLst>
              </p:cNvPr>
              <p:cNvSpPr/>
              <p:nvPr>
                <p:custDataLst>
                  <p:tags r:id="rId2"/>
                </p:custDataLst>
              </p:nvPr>
            </p:nvSpPr>
            <p:spPr>
              <a:xfrm>
                <a:off x="1888167" y="3202897"/>
                <a:ext cx="5949522" cy="77418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3">
                <a:extLst>
                  <a:ext uri="{FF2B5EF4-FFF2-40B4-BE49-F238E27FC236}">
                    <a16:creationId xmlns:a16="http://schemas.microsoft.com/office/drawing/2014/main" id="{8BA34F70-4F74-9A29-4C33-177A68CDB843}"/>
                  </a:ext>
                </a:extLst>
              </p:cNvPr>
              <p:cNvSpPr/>
              <p:nvPr>
                <p:custDataLst>
                  <p:tags r:id="rId3"/>
                </p:custDataLst>
              </p:nvPr>
            </p:nvSpPr>
            <p:spPr>
              <a:xfrm>
                <a:off x="675644" y="3202897"/>
                <a:ext cx="1212523"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优化资源，加速交付</a:t>
                </a:r>
                <a:endPar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Body-3">
                <a:extLst>
                  <a:ext uri="{FF2B5EF4-FFF2-40B4-BE49-F238E27FC236}">
                    <a16:creationId xmlns:a16="http://schemas.microsoft.com/office/drawing/2014/main" id="{5DF97943-1D6E-4226-1D0E-42A4B9652DAC}"/>
                  </a:ext>
                </a:extLst>
              </p:cNvPr>
              <p:cNvSpPr txBox="1"/>
              <p:nvPr>
                <p:custDataLst>
                  <p:tags r:id="rId4"/>
                </p:custDataLst>
              </p:nvPr>
            </p:nvSpPr>
            <p:spPr>
              <a:xfrm>
                <a:off x="2049815" y="3343183"/>
                <a:ext cx="4684223" cy="430018"/>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prstClr val="black"/>
                    </a:solidFill>
                    <a:effectLst/>
                    <a:uLnTx/>
                    <a:uFillTx/>
                    <a:ea typeface="微软雅黑" panose="020B0503020204020204" pitchFamily="34" charset="-122"/>
                    <a:cs typeface="+mn-cs"/>
                  </a:rPr>
                  <a:t>在不影响承诺交期的前提下把资源优化给优先级低的订单和新订单来加速交付速度</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prstClr val="black"/>
                    </a:solidFill>
                    <a:effectLst/>
                    <a:uLnTx/>
                    <a:uFillTx/>
                    <a:ea typeface="微软雅黑" panose="020B0503020204020204" pitchFamily="34" charset="-122"/>
                    <a:cs typeface="+mn-cs"/>
                  </a:rPr>
                  <a:t>依次解决资源最大化利用</a:t>
                </a:r>
                <a:endParaRPr kumimoji="0" lang="en-US" altLang="zh-CN" sz="1400" b="1" i="0" u="none" strike="noStrike" kern="1200" cap="none" spc="0" normalizeH="0" baseline="0" noProof="0" dirty="0">
                  <a:ln>
                    <a:noFill/>
                  </a:ln>
                  <a:solidFill>
                    <a:prstClr val="black"/>
                  </a:solidFill>
                  <a:effectLst/>
                  <a:uLnTx/>
                  <a:uFillTx/>
                  <a:ea typeface="微软雅黑" panose="020B0503020204020204" pitchFamily="34" charset="-122"/>
                  <a:cs typeface="+mn-cs"/>
                </a:endParaRPr>
              </a:p>
            </p:txBody>
          </p:sp>
        </p:grpSp>
      </p:grpSp>
      <p:sp>
        <p:nvSpPr>
          <p:cNvPr id="16" name="标题 15">
            <a:extLst>
              <a:ext uri="{FF2B5EF4-FFF2-40B4-BE49-F238E27FC236}">
                <a16:creationId xmlns:a16="http://schemas.microsoft.com/office/drawing/2014/main" id="{B9936F5B-AC4E-FC68-5DD9-C65E258FAAB7}"/>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智能运营计划</a:t>
            </a:r>
            <a:r>
              <a:rPr lang="en-US" altLang="zh-CN" dirty="0">
                <a:latin typeface="Arial" panose="020B0604020202020204" pitchFamily="34" charset="0"/>
                <a:ea typeface="微软雅黑" panose="020B0503020204020204" pitchFamily="34" charset="-122"/>
              </a:rPr>
              <a:t>IOP(Intelligent Operation Planning)</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67859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84B53-99AB-67C3-317F-16EA84D2E800}"/>
              </a:ext>
            </a:extLst>
          </p:cNvPr>
          <p:cNvSpPr>
            <a:spLocks noGrp="1"/>
          </p:cNvSpPr>
          <p:nvPr>
            <p:ph type="title"/>
          </p:nvPr>
        </p:nvSpPr>
        <p:spPr/>
        <p:txBody>
          <a:bodyPr vert="horz" lIns="91440" tIns="45720" rIns="91440" bIns="45720" rtlCol="0" anchor="b">
            <a:normAutofit/>
          </a:bodyPr>
          <a:lstStyle/>
          <a:p>
            <a:r>
              <a:rPr lang="en-US" altLang="zh-CN" dirty="0">
                <a:latin typeface="Arial" panose="020B0604020202020204" pitchFamily="34" charset="0"/>
                <a:ea typeface="微软雅黑" panose="020B0503020204020204" pitchFamily="34" charset="-122"/>
              </a:rPr>
              <a:t>  IPS(Intelligent Planning Solution)</a:t>
            </a:r>
            <a:endParaRPr lang="zh-CN" altLang="en-US" dirty="0">
              <a:latin typeface="Arial" panose="020B0604020202020204" pitchFamily="34" charset="0"/>
              <a:ea typeface="微软雅黑" panose="020B0503020204020204" pitchFamily="34" charset="-122"/>
            </a:endParaRPr>
          </a:p>
        </p:txBody>
      </p:sp>
      <p:sp>
        <p:nvSpPr>
          <p:cNvPr id="4" name="圆角矩形 2">
            <a:extLst>
              <a:ext uri="{FF2B5EF4-FFF2-40B4-BE49-F238E27FC236}">
                <a16:creationId xmlns:a16="http://schemas.microsoft.com/office/drawing/2014/main" id="{DEA48CE4-F40D-4BB2-A437-29463E8E6639}"/>
              </a:ext>
            </a:extLst>
          </p:cNvPr>
          <p:cNvSpPr/>
          <p:nvPr/>
        </p:nvSpPr>
        <p:spPr>
          <a:xfrm>
            <a:off x="5012899" y="138400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战术规划</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(ITP)-MRP</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 name="圆角矩形 2">
            <a:extLst>
              <a:ext uri="{FF2B5EF4-FFF2-40B4-BE49-F238E27FC236}">
                <a16:creationId xmlns:a16="http://schemas.microsoft.com/office/drawing/2014/main" id="{750E6A97-A900-9A67-AD9F-988DC33E0DD2}"/>
              </a:ext>
            </a:extLst>
          </p:cNvPr>
          <p:cNvSpPr/>
          <p:nvPr/>
        </p:nvSpPr>
        <p:spPr>
          <a:xfrm>
            <a:off x="2562202" y="1393289"/>
            <a:ext cx="836295" cy="720090"/>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供应商协同</a:t>
            </a:r>
          </a:p>
        </p:txBody>
      </p:sp>
      <p:grpSp>
        <p:nvGrpSpPr>
          <p:cNvPr id="6" name="组合 5">
            <a:extLst>
              <a:ext uri="{FF2B5EF4-FFF2-40B4-BE49-F238E27FC236}">
                <a16:creationId xmlns:a16="http://schemas.microsoft.com/office/drawing/2014/main" id="{92655559-E16C-5D42-64AA-372EA8B6DB67}"/>
              </a:ext>
            </a:extLst>
          </p:cNvPr>
          <p:cNvGrpSpPr/>
          <p:nvPr/>
        </p:nvGrpSpPr>
        <p:grpSpPr>
          <a:xfrm>
            <a:off x="3371947" y="1505957"/>
            <a:ext cx="2722919" cy="335722"/>
            <a:chOff x="3398497" y="1174449"/>
            <a:chExt cx="2722919" cy="335722"/>
          </a:xfrm>
        </p:grpSpPr>
        <p:cxnSp>
          <p:nvCxnSpPr>
            <p:cNvPr id="7" name="直接箭头连接符 6">
              <a:extLst>
                <a:ext uri="{FF2B5EF4-FFF2-40B4-BE49-F238E27FC236}">
                  <a16:creationId xmlns:a16="http://schemas.microsoft.com/office/drawing/2014/main" id="{4C450326-D5C8-25EB-1B2D-55492899AECD}"/>
                </a:ext>
              </a:extLst>
            </p:cNvPr>
            <p:cNvCxnSpPr>
              <a:cxnSpLocks/>
            </p:cNvCxnSpPr>
            <p:nvPr/>
          </p:nvCxnSpPr>
          <p:spPr>
            <a:xfrm flipH="1">
              <a:off x="3398497" y="1500884"/>
              <a:ext cx="1614402" cy="9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A65CD5A-9910-1757-56F9-A796D6DB3AE5}"/>
                </a:ext>
              </a:extLst>
            </p:cNvPr>
            <p:cNvSpPr txBox="1"/>
            <p:nvPr/>
          </p:nvSpPr>
          <p:spPr>
            <a:xfrm>
              <a:off x="3670719" y="1174449"/>
              <a:ext cx="24506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物料需求计划</a:t>
              </a:r>
            </a:p>
          </p:txBody>
        </p:sp>
      </p:grpSp>
      <p:sp>
        <p:nvSpPr>
          <p:cNvPr id="9" name="圆角矩形 2">
            <a:extLst>
              <a:ext uri="{FF2B5EF4-FFF2-40B4-BE49-F238E27FC236}">
                <a16:creationId xmlns:a16="http://schemas.microsoft.com/office/drawing/2014/main" id="{90378B0D-9917-CBFB-B6A5-799955702B55}"/>
              </a:ext>
            </a:extLst>
          </p:cNvPr>
          <p:cNvSpPr/>
          <p:nvPr/>
        </p:nvSpPr>
        <p:spPr>
          <a:xfrm>
            <a:off x="7774898" y="1376507"/>
            <a:ext cx="1084289" cy="720090"/>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生产管理</a:t>
            </a:r>
            <a:endPar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ERP-PP</a:t>
            </a:r>
          </a:p>
        </p:txBody>
      </p:sp>
      <p:sp>
        <p:nvSpPr>
          <p:cNvPr id="10" name="圆角矩形 2">
            <a:extLst>
              <a:ext uri="{FF2B5EF4-FFF2-40B4-BE49-F238E27FC236}">
                <a16:creationId xmlns:a16="http://schemas.microsoft.com/office/drawing/2014/main" id="{6903542A-7990-4C65-6079-00521EDE3A6E}"/>
              </a:ext>
            </a:extLst>
          </p:cNvPr>
          <p:cNvSpPr/>
          <p:nvPr/>
        </p:nvSpPr>
        <p:spPr>
          <a:xfrm>
            <a:off x="5012899" y="245664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战术规划</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(ITP)-</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主计划</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11" name="组合 10">
            <a:extLst>
              <a:ext uri="{FF2B5EF4-FFF2-40B4-BE49-F238E27FC236}">
                <a16:creationId xmlns:a16="http://schemas.microsoft.com/office/drawing/2014/main" id="{41E0900B-EC43-73F1-B70E-DCC2609F10D8}"/>
              </a:ext>
            </a:extLst>
          </p:cNvPr>
          <p:cNvGrpSpPr/>
          <p:nvPr/>
        </p:nvGrpSpPr>
        <p:grpSpPr>
          <a:xfrm>
            <a:off x="2980349" y="2113379"/>
            <a:ext cx="2216450" cy="703308"/>
            <a:chOff x="2980349" y="2070994"/>
            <a:chExt cx="2216450" cy="703308"/>
          </a:xfrm>
        </p:grpSpPr>
        <p:cxnSp>
          <p:nvCxnSpPr>
            <p:cNvPr id="12" name="连接符: 肘形 11">
              <a:extLst>
                <a:ext uri="{FF2B5EF4-FFF2-40B4-BE49-F238E27FC236}">
                  <a16:creationId xmlns:a16="http://schemas.microsoft.com/office/drawing/2014/main" id="{6A2E7CB4-BC2C-42E4-5572-C0DF4E8F00D9}"/>
                </a:ext>
              </a:extLst>
            </p:cNvPr>
            <p:cNvCxnSpPr>
              <a:stCxn id="5" idx="2"/>
              <a:endCxn id="10" idx="1"/>
            </p:cNvCxnSpPr>
            <p:nvPr/>
          </p:nvCxnSpPr>
          <p:spPr>
            <a:xfrm rot="16200000" flipH="1">
              <a:off x="3644970" y="1406373"/>
              <a:ext cx="703308" cy="20325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816C2567-0044-4E1F-63D4-CC3A1F1C36E1}"/>
                </a:ext>
              </a:extLst>
            </p:cNvPr>
            <p:cNvSpPr txBox="1"/>
            <p:nvPr/>
          </p:nvSpPr>
          <p:spPr>
            <a:xfrm>
              <a:off x="3043983" y="2277523"/>
              <a:ext cx="21528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供应承诺（</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关系</a:t>
              </a:r>
            </a:p>
          </p:txBody>
        </p:sp>
      </p:grpSp>
      <p:grpSp>
        <p:nvGrpSpPr>
          <p:cNvPr id="14" name="组合 13">
            <a:extLst>
              <a:ext uri="{FF2B5EF4-FFF2-40B4-BE49-F238E27FC236}">
                <a16:creationId xmlns:a16="http://schemas.microsoft.com/office/drawing/2014/main" id="{C348E63F-E72A-316D-7259-A5469DB3A220}"/>
              </a:ext>
            </a:extLst>
          </p:cNvPr>
          <p:cNvGrpSpPr/>
          <p:nvPr/>
        </p:nvGrpSpPr>
        <p:grpSpPr>
          <a:xfrm>
            <a:off x="5849194" y="2096598"/>
            <a:ext cx="2467849" cy="720090"/>
            <a:chOff x="5849194" y="2096598"/>
            <a:chExt cx="2467849" cy="720090"/>
          </a:xfrm>
        </p:grpSpPr>
        <p:sp>
          <p:nvSpPr>
            <p:cNvPr id="15" name="文本框 14">
              <a:extLst>
                <a:ext uri="{FF2B5EF4-FFF2-40B4-BE49-F238E27FC236}">
                  <a16:creationId xmlns:a16="http://schemas.microsoft.com/office/drawing/2014/main" id="{F4F15713-97E1-B804-6E42-EDF0072C747A}"/>
                </a:ext>
              </a:extLst>
            </p:cNvPr>
            <p:cNvSpPr txBox="1"/>
            <p:nvPr/>
          </p:nvSpPr>
          <p:spPr>
            <a:xfrm>
              <a:off x="6176702" y="2437519"/>
              <a:ext cx="187377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能力约束</a:t>
              </a:r>
            </a:p>
          </p:txBody>
        </p:sp>
        <p:cxnSp>
          <p:nvCxnSpPr>
            <p:cNvPr id="16" name="连接符: 肘形 15">
              <a:extLst>
                <a:ext uri="{FF2B5EF4-FFF2-40B4-BE49-F238E27FC236}">
                  <a16:creationId xmlns:a16="http://schemas.microsoft.com/office/drawing/2014/main" id="{81196C79-B699-62C9-7607-97E79A9A68D5}"/>
                </a:ext>
              </a:extLst>
            </p:cNvPr>
            <p:cNvCxnSpPr>
              <a:cxnSpLocks/>
              <a:stCxn id="9" idx="2"/>
              <a:endCxn id="10" idx="3"/>
            </p:cNvCxnSpPr>
            <p:nvPr/>
          </p:nvCxnSpPr>
          <p:spPr>
            <a:xfrm rot="5400000">
              <a:off x="6723074" y="1222718"/>
              <a:ext cx="720090" cy="24678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33A1FC95-D304-D82D-B796-618C3B87471C}"/>
              </a:ext>
            </a:extLst>
          </p:cNvPr>
          <p:cNvGrpSpPr/>
          <p:nvPr/>
        </p:nvGrpSpPr>
        <p:grpSpPr>
          <a:xfrm>
            <a:off x="2980350" y="2113380"/>
            <a:ext cx="2450697" cy="1063353"/>
            <a:chOff x="2991642" y="2302736"/>
            <a:chExt cx="2450697" cy="1063353"/>
          </a:xfrm>
        </p:grpSpPr>
        <p:cxnSp>
          <p:nvCxnSpPr>
            <p:cNvPr id="18" name="连接符: 肘形 17">
              <a:extLst>
                <a:ext uri="{FF2B5EF4-FFF2-40B4-BE49-F238E27FC236}">
                  <a16:creationId xmlns:a16="http://schemas.microsoft.com/office/drawing/2014/main" id="{8CE2D50C-32C4-C502-84ED-6700B83CF298}"/>
                </a:ext>
              </a:extLst>
            </p:cNvPr>
            <p:cNvCxnSpPr>
              <a:cxnSpLocks/>
              <a:stCxn id="10" idx="2"/>
              <a:endCxn id="5" idx="2"/>
            </p:cNvCxnSpPr>
            <p:nvPr/>
          </p:nvCxnSpPr>
          <p:spPr>
            <a:xfrm rot="5400000" flipH="1">
              <a:off x="3685314" y="1609064"/>
              <a:ext cx="1063353" cy="2450697"/>
            </a:xfrm>
            <a:prstGeom prst="bentConnector3">
              <a:avLst>
                <a:gd name="adj1" fmla="val -2676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84874A6A-C7D6-500D-F3DC-9B6B732E9E95}"/>
                </a:ext>
              </a:extLst>
            </p:cNvPr>
            <p:cNvSpPr txBox="1"/>
            <p:nvPr/>
          </p:nvSpPr>
          <p:spPr>
            <a:xfrm>
              <a:off x="3127207" y="3029583"/>
              <a:ext cx="214160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重新规划（</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Reschedule)</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20" name="组合 19">
            <a:extLst>
              <a:ext uri="{FF2B5EF4-FFF2-40B4-BE49-F238E27FC236}">
                <a16:creationId xmlns:a16="http://schemas.microsoft.com/office/drawing/2014/main" id="{73F604BB-AE79-3CC2-D285-06EABBB57090}"/>
              </a:ext>
            </a:extLst>
          </p:cNvPr>
          <p:cNvGrpSpPr/>
          <p:nvPr/>
        </p:nvGrpSpPr>
        <p:grpSpPr>
          <a:xfrm>
            <a:off x="5431047" y="2096597"/>
            <a:ext cx="2885996" cy="1080135"/>
            <a:chOff x="5431047" y="2096597"/>
            <a:chExt cx="2885996" cy="1080135"/>
          </a:xfrm>
        </p:grpSpPr>
        <p:cxnSp>
          <p:nvCxnSpPr>
            <p:cNvPr id="21" name="连接符: 肘形 20">
              <a:extLst>
                <a:ext uri="{FF2B5EF4-FFF2-40B4-BE49-F238E27FC236}">
                  <a16:creationId xmlns:a16="http://schemas.microsoft.com/office/drawing/2014/main" id="{2881CE89-C0EA-9199-A817-C68DFB8EE70E}"/>
                </a:ext>
              </a:extLst>
            </p:cNvPr>
            <p:cNvCxnSpPr>
              <a:cxnSpLocks/>
              <a:stCxn id="10" idx="2"/>
              <a:endCxn id="9" idx="2"/>
            </p:cNvCxnSpPr>
            <p:nvPr/>
          </p:nvCxnSpPr>
          <p:spPr>
            <a:xfrm rot="5400000" flipH="1" flipV="1">
              <a:off x="6333977" y="1193667"/>
              <a:ext cx="1080135" cy="2885996"/>
            </a:xfrm>
            <a:prstGeom prst="bentConnector3">
              <a:avLst>
                <a:gd name="adj1" fmla="val -26347"/>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6977389-8BFE-A245-BC1D-AAD17685449A}"/>
                </a:ext>
              </a:extLst>
            </p:cNvPr>
            <p:cNvSpPr txBox="1"/>
            <p:nvPr/>
          </p:nvSpPr>
          <p:spPr>
            <a:xfrm>
              <a:off x="6209782" y="2838644"/>
              <a:ext cx="187377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能力规划</a:t>
              </a:r>
            </a:p>
          </p:txBody>
        </p:sp>
      </p:grpSp>
      <p:sp>
        <p:nvSpPr>
          <p:cNvPr id="23" name="圆角矩形 2">
            <a:extLst>
              <a:ext uri="{FF2B5EF4-FFF2-40B4-BE49-F238E27FC236}">
                <a16:creationId xmlns:a16="http://schemas.microsoft.com/office/drawing/2014/main" id="{653302B5-169B-B67F-DC81-DCFB198A46D0}"/>
              </a:ext>
            </a:extLst>
          </p:cNvPr>
          <p:cNvSpPr/>
          <p:nvPr/>
        </p:nvSpPr>
        <p:spPr>
          <a:xfrm>
            <a:off x="4770655" y="3896823"/>
            <a:ext cx="1350761" cy="543392"/>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运营规划（</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IOP)</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24" name="组合 23">
            <a:extLst>
              <a:ext uri="{FF2B5EF4-FFF2-40B4-BE49-F238E27FC236}">
                <a16:creationId xmlns:a16="http://schemas.microsoft.com/office/drawing/2014/main" id="{0BEBDF43-28A7-08DB-8023-18BB00DAB410}"/>
              </a:ext>
            </a:extLst>
          </p:cNvPr>
          <p:cNvGrpSpPr/>
          <p:nvPr/>
        </p:nvGrpSpPr>
        <p:grpSpPr>
          <a:xfrm>
            <a:off x="5431047" y="3176732"/>
            <a:ext cx="3855360" cy="751524"/>
            <a:chOff x="5431047" y="3176732"/>
            <a:chExt cx="3855360" cy="751524"/>
          </a:xfrm>
        </p:grpSpPr>
        <p:cxnSp>
          <p:nvCxnSpPr>
            <p:cNvPr id="25" name="直接箭头连接符 24">
              <a:extLst>
                <a:ext uri="{FF2B5EF4-FFF2-40B4-BE49-F238E27FC236}">
                  <a16:creationId xmlns:a16="http://schemas.microsoft.com/office/drawing/2014/main" id="{9777E0EA-767B-4841-8927-B9CA5CB71B14}"/>
                </a:ext>
              </a:extLst>
            </p:cNvPr>
            <p:cNvCxnSpPr>
              <a:stCxn id="10" idx="2"/>
              <a:endCxn id="23" idx="0"/>
            </p:cNvCxnSpPr>
            <p:nvPr/>
          </p:nvCxnSpPr>
          <p:spPr>
            <a:xfrm>
              <a:off x="5431047" y="3176732"/>
              <a:ext cx="14989" cy="720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B17D6DBD-EB08-DF23-2AEC-3A994A3CF7CB}"/>
                </a:ext>
              </a:extLst>
            </p:cNvPr>
            <p:cNvSpPr txBox="1"/>
            <p:nvPr/>
          </p:nvSpPr>
          <p:spPr>
            <a:xfrm>
              <a:off x="5849194" y="3466591"/>
              <a:ext cx="343721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物料和资源配额</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 &amp; Capacity allotment</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27" name="组合 26">
            <a:extLst>
              <a:ext uri="{FF2B5EF4-FFF2-40B4-BE49-F238E27FC236}">
                <a16:creationId xmlns:a16="http://schemas.microsoft.com/office/drawing/2014/main" id="{B6B9AE65-63D0-5C5A-A803-5C1D748E1C24}"/>
              </a:ext>
            </a:extLst>
          </p:cNvPr>
          <p:cNvGrpSpPr/>
          <p:nvPr/>
        </p:nvGrpSpPr>
        <p:grpSpPr>
          <a:xfrm>
            <a:off x="5849194" y="1428122"/>
            <a:ext cx="1925703" cy="303029"/>
            <a:chOff x="5849194" y="1169669"/>
            <a:chExt cx="1740065" cy="323597"/>
          </a:xfrm>
        </p:grpSpPr>
        <p:cxnSp>
          <p:nvCxnSpPr>
            <p:cNvPr id="28" name="连接符: 肘形 27">
              <a:extLst>
                <a:ext uri="{FF2B5EF4-FFF2-40B4-BE49-F238E27FC236}">
                  <a16:creationId xmlns:a16="http://schemas.microsoft.com/office/drawing/2014/main" id="{FC855B30-869F-A917-E21B-3481F6FA245D}"/>
                </a:ext>
              </a:extLst>
            </p:cNvPr>
            <p:cNvCxnSpPr>
              <a:cxnSpLocks/>
            </p:cNvCxnSpPr>
            <p:nvPr/>
          </p:nvCxnSpPr>
          <p:spPr>
            <a:xfrm flipV="1">
              <a:off x="5849194" y="1486599"/>
              <a:ext cx="1740065" cy="666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7BB05121-1260-AC6E-6AF2-B7EA2967D163}"/>
                </a:ext>
              </a:extLst>
            </p:cNvPr>
            <p:cNvSpPr txBox="1"/>
            <p:nvPr/>
          </p:nvSpPr>
          <p:spPr>
            <a:xfrm>
              <a:off x="6079485" y="1169669"/>
              <a:ext cx="1099619" cy="2958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能力需求计划</a:t>
              </a:r>
            </a:p>
          </p:txBody>
        </p:sp>
      </p:grpSp>
      <p:sp>
        <p:nvSpPr>
          <p:cNvPr id="30" name="圆角矩形 2">
            <a:extLst>
              <a:ext uri="{FF2B5EF4-FFF2-40B4-BE49-F238E27FC236}">
                <a16:creationId xmlns:a16="http://schemas.microsoft.com/office/drawing/2014/main" id="{FB73E025-0ACE-E18D-B229-B9B31057FF48}"/>
              </a:ext>
            </a:extLst>
          </p:cNvPr>
          <p:cNvSpPr/>
          <p:nvPr/>
        </p:nvSpPr>
        <p:spPr>
          <a:xfrm>
            <a:off x="2562201" y="5186582"/>
            <a:ext cx="836295" cy="543393"/>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IBP/CRM/</a:t>
            </a:r>
            <a:r>
              <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订单管理</a:t>
            </a:r>
          </a:p>
        </p:txBody>
      </p:sp>
      <p:grpSp>
        <p:nvGrpSpPr>
          <p:cNvPr id="31" name="组合 30">
            <a:extLst>
              <a:ext uri="{FF2B5EF4-FFF2-40B4-BE49-F238E27FC236}">
                <a16:creationId xmlns:a16="http://schemas.microsoft.com/office/drawing/2014/main" id="{6754C4DC-F406-9052-C1C5-06F43AD97EF3}"/>
              </a:ext>
            </a:extLst>
          </p:cNvPr>
          <p:cNvGrpSpPr/>
          <p:nvPr/>
        </p:nvGrpSpPr>
        <p:grpSpPr>
          <a:xfrm>
            <a:off x="2980349" y="2113379"/>
            <a:ext cx="1837616" cy="2055140"/>
            <a:chOff x="2980349" y="2113379"/>
            <a:chExt cx="1837616" cy="2055140"/>
          </a:xfrm>
        </p:grpSpPr>
        <p:cxnSp>
          <p:nvCxnSpPr>
            <p:cNvPr id="32" name="连接符: 肘形 31">
              <a:extLst>
                <a:ext uri="{FF2B5EF4-FFF2-40B4-BE49-F238E27FC236}">
                  <a16:creationId xmlns:a16="http://schemas.microsoft.com/office/drawing/2014/main" id="{3765A8BF-BA65-8B9E-E458-D3C6444289F8}"/>
                </a:ext>
              </a:extLst>
            </p:cNvPr>
            <p:cNvCxnSpPr>
              <a:stCxn id="5" idx="2"/>
              <a:endCxn id="23" idx="1"/>
            </p:cNvCxnSpPr>
            <p:nvPr/>
          </p:nvCxnSpPr>
          <p:spPr>
            <a:xfrm rot="16200000" flipH="1">
              <a:off x="2847932" y="2245796"/>
              <a:ext cx="2055140" cy="17903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26D577D7-C1E0-D23F-33BE-AAE3D913776E}"/>
                </a:ext>
              </a:extLst>
            </p:cNvPr>
            <p:cNvSpPr txBox="1"/>
            <p:nvPr/>
          </p:nvSpPr>
          <p:spPr>
            <a:xfrm>
              <a:off x="3181549" y="3565342"/>
              <a:ext cx="16364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 Commit/ETA/ASN</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34" name="组合 33">
            <a:extLst>
              <a:ext uri="{FF2B5EF4-FFF2-40B4-BE49-F238E27FC236}">
                <a16:creationId xmlns:a16="http://schemas.microsoft.com/office/drawing/2014/main" id="{6816A442-87DF-7DAF-A231-661CC934F565}"/>
              </a:ext>
            </a:extLst>
          </p:cNvPr>
          <p:cNvGrpSpPr/>
          <p:nvPr/>
        </p:nvGrpSpPr>
        <p:grpSpPr>
          <a:xfrm>
            <a:off x="6121416" y="2096598"/>
            <a:ext cx="2195627" cy="2090480"/>
            <a:chOff x="6121416" y="2124541"/>
            <a:chExt cx="2195627" cy="2090480"/>
          </a:xfrm>
        </p:grpSpPr>
        <p:cxnSp>
          <p:nvCxnSpPr>
            <p:cNvPr id="35" name="连接符: 肘形 34">
              <a:extLst>
                <a:ext uri="{FF2B5EF4-FFF2-40B4-BE49-F238E27FC236}">
                  <a16:creationId xmlns:a16="http://schemas.microsoft.com/office/drawing/2014/main" id="{9E212A50-085D-3E31-E841-D12424B59DBE}"/>
                </a:ext>
              </a:extLst>
            </p:cNvPr>
            <p:cNvCxnSpPr>
              <a:cxnSpLocks/>
              <a:stCxn id="9" idx="2"/>
              <a:endCxn id="23" idx="3"/>
            </p:cNvCxnSpPr>
            <p:nvPr/>
          </p:nvCxnSpPr>
          <p:spPr>
            <a:xfrm rot="5400000">
              <a:off x="6183269" y="2062688"/>
              <a:ext cx="2071922" cy="21956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0E041BC-5907-BF25-2523-AAE210C86121}"/>
                </a:ext>
              </a:extLst>
            </p:cNvPr>
            <p:cNvSpPr txBox="1"/>
            <p:nvPr/>
          </p:nvSpPr>
          <p:spPr>
            <a:xfrm>
              <a:off x="6290246" y="3938022"/>
              <a:ext cx="149943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能力规划</a:t>
              </a:r>
            </a:p>
          </p:txBody>
        </p:sp>
      </p:grpSp>
      <p:grpSp>
        <p:nvGrpSpPr>
          <p:cNvPr id="37" name="组合 36">
            <a:extLst>
              <a:ext uri="{FF2B5EF4-FFF2-40B4-BE49-F238E27FC236}">
                <a16:creationId xmlns:a16="http://schemas.microsoft.com/office/drawing/2014/main" id="{182F946C-20D6-3F89-0436-99B18A607123}"/>
              </a:ext>
            </a:extLst>
          </p:cNvPr>
          <p:cNvGrpSpPr/>
          <p:nvPr/>
        </p:nvGrpSpPr>
        <p:grpSpPr>
          <a:xfrm>
            <a:off x="5446036" y="2096599"/>
            <a:ext cx="2871007" cy="2498479"/>
            <a:chOff x="5446036" y="2085666"/>
            <a:chExt cx="2871007" cy="2375591"/>
          </a:xfrm>
        </p:grpSpPr>
        <p:cxnSp>
          <p:nvCxnSpPr>
            <p:cNvPr id="38" name="连接符: 肘形 37">
              <a:extLst>
                <a:ext uri="{FF2B5EF4-FFF2-40B4-BE49-F238E27FC236}">
                  <a16:creationId xmlns:a16="http://schemas.microsoft.com/office/drawing/2014/main" id="{E62C83EC-493E-36C8-5758-09C12D2E43B5}"/>
                </a:ext>
              </a:extLst>
            </p:cNvPr>
            <p:cNvCxnSpPr>
              <a:cxnSpLocks/>
              <a:stCxn id="23" idx="2"/>
              <a:endCxn id="9" idx="2"/>
            </p:cNvCxnSpPr>
            <p:nvPr/>
          </p:nvCxnSpPr>
          <p:spPr>
            <a:xfrm rot="5400000" flipH="1" flipV="1">
              <a:off x="5767366" y="1764336"/>
              <a:ext cx="2228347" cy="2871007"/>
            </a:xfrm>
            <a:prstGeom prst="bentConnector3">
              <a:avLst>
                <a:gd name="adj1" fmla="val -9754"/>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E5B3ED4C-978B-0D80-10EB-31F04D80C27A}"/>
                </a:ext>
              </a:extLst>
            </p:cNvPr>
            <p:cNvSpPr txBox="1"/>
            <p:nvPr/>
          </p:nvSpPr>
          <p:spPr>
            <a:xfrm>
              <a:off x="6209782" y="4197882"/>
              <a:ext cx="2093906" cy="263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a:t>
              </a:r>
            </a:p>
          </p:txBody>
        </p:sp>
      </p:grpSp>
      <p:grpSp>
        <p:nvGrpSpPr>
          <p:cNvPr id="40" name="组合 39">
            <a:extLst>
              <a:ext uri="{FF2B5EF4-FFF2-40B4-BE49-F238E27FC236}">
                <a16:creationId xmlns:a16="http://schemas.microsoft.com/office/drawing/2014/main" id="{B9FFEBB8-D89A-6EB7-6E00-3CA1D28047A3}"/>
              </a:ext>
            </a:extLst>
          </p:cNvPr>
          <p:cNvGrpSpPr/>
          <p:nvPr/>
        </p:nvGrpSpPr>
        <p:grpSpPr>
          <a:xfrm>
            <a:off x="2958115" y="2113379"/>
            <a:ext cx="2487921" cy="2510779"/>
            <a:chOff x="2958115" y="2113379"/>
            <a:chExt cx="2487921" cy="2510779"/>
          </a:xfrm>
        </p:grpSpPr>
        <p:cxnSp>
          <p:nvCxnSpPr>
            <p:cNvPr id="41" name="连接符: 肘形 40">
              <a:extLst>
                <a:ext uri="{FF2B5EF4-FFF2-40B4-BE49-F238E27FC236}">
                  <a16:creationId xmlns:a16="http://schemas.microsoft.com/office/drawing/2014/main" id="{BB3ADC78-81F3-3557-C555-9F6A76591D61}"/>
                </a:ext>
              </a:extLst>
            </p:cNvPr>
            <p:cNvCxnSpPr>
              <a:stCxn id="23" idx="2"/>
              <a:endCxn id="5" idx="2"/>
            </p:cNvCxnSpPr>
            <p:nvPr/>
          </p:nvCxnSpPr>
          <p:spPr>
            <a:xfrm rot="5400000" flipH="1">
              <a:off x="3049775" y="2043954"/>
              <a:ext cx="2326836" cy="2465686"/>
            </a:xfrm>
            <a:prstGeom prst="bentConnector3">
              <a:avLst>
                <a:gd name="adj1" fmla="val -9824"/>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1B52B52-71B4-B983-0E04-4AB85AE6F101}"/>
                </a:ext>
              </a:extLst>
            </p:cNvPr>
            <p:cNvSpPr txBox="1"/>
            <p:nvPr/>
          </p:nvSpPr>
          <p:spPr>
            <a:xfrm>
              <a:off x="2958115" y="4347159"/>
              <a:ext cx="20689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Rescheduled</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Commit</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43" name="组合 42">
            <a:extLst>
              <a:ext uri="{FF2B5EF4-FFF2-40B4-BE49-F238E27FC236}">
                <a16:creationId xmlns:a16="http://schemas.microsoft.com/office/drawing/2014/main" id="{52636AB2-C093-13C5-3CC7-D1A8F4BF2390}"/>
              </a:ext>
            </a:extLst>
          </p:cNvPr>
          <p:cNvGrpSpPr/>
          <p:nvPr/>
        </p:nvGrpSpPr>
        <p:grpSpPr>
          <a:xfrm>
            <a:off x="3398496" y="4440215"/>
            <a:ext cx="2047540" cy="1018064"/>
            <a:chOff x="3398496" y="4440215"/>
            <a:chExt cx="2047540" cy="1018064"/>
          </a:xfrm>
        </p:grpSpPr>
        <p:cxnSp>
          <p:nvCxnSpPr>
            <p:cNvPr id="44" name="连接符: 肘形 43">
              <a:extLst>
                <a:ext uri="{FF2B5EF4-FFF2-40B4-BE49-F238E27FC236}">
                  <a16:creationId xmlns:a16="http://schemas.microsoft.com/office/drawing/2014/main" id="{EEAAD956-36B6-AD7C-D71D-D54A5AB5FA6D}"/>
                </a:ext>
              </a:extLst>
            </p:cNvPr>
            <p:cNvCxnSpPr>
              <a:stCxn id="23" idx="2"/>
              <a:endCxn id="30" idx="3"/>
            </p:cNvCxnSpPr>
            <p:nvPr/>
          </p:nvCxnSpPr>
          <p:spPr>
            <a:xfrm rot="5400000">
              <a:off x="3913234" y="3925477"/>
              <a:ext cx="1018064" cy="20475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95D1B145-DD59-41E5-1663-AC60D873E140}"/>
                </a:ext>
              </a:extLst>
            </p:cNvPr>
            <p:cNvSpPr txBox="1"/>
            <p:nvPr/>
          </p:nvSpPr>
          <p:spPr>
            <a:xfrm>
              <a:off x="3457594" y="5061061"/>
              <a:ext cx="191457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交付计划</a:t>
              </a:r>
            </a:p>
          </p:txBody>
        </p:sp>
      </p:grpSp>
      <p:sp>
        <p:nvSpPr>
          <p:cNvPr id="46" name="圆角矩形 2">
            <a:extLst>
              <a:ext uri="{FF2B5EF4-FFF2-40B4-BE49-F238E27FC236}">
                <a16:creationId xmlns:a16="http://schemas.microsoft.com/office/drawing/2014/main" id="{B228A9D6-6EF4-930E-CE99-8D44B8DE234E}"/>
              </a:ext>
            </a:extLst>
          </p:cNvPr>
          <p:cNvSpPr/>
          <p:nvPr/>
        </p:nvSpPr>
        <p:spPr>
          <a:xfrm>
            <a:off x="2562200" y="6167343"/>
            <a:ext cx="836295" cy="543393"/>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物流（</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GL</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grpSp>
        <p:nvGrpSpPr>
          <p:cNvPr id="47" name="组合 46">
            <a:extLst>
              <a:ext uri="{FF2B5EF4-FFF2-40B4-BE49-F238E27FC236}">
                <a16:creationId xmlns:a16="http://schemas.microsoft.com/office/drawing/2014/main" id="{35CE55EC-ABC0-9872-F3CF-8F77A11A80D7}"/>
              </a:ext>
            </a:extLst>
          </p:cNvPr>
          <p:cNvGrpSpPr/>
          <p:nvPr/>
        </p:nvGrpSpPr>
        <p:grpSpPr>
          <a:xfrm>
            <a:off x="3398496" y="4440215"/>
            <a:ext cx="2047541" cy="1998825"/>
            <a:chOff x="3398496" y="4440215"/>
            <a:chExt cx="2047541" cy="1998825"/>
          </a:xfrm>
        </p:grpSpPr>
        <p:cxnSp>
          <p:nvCxnSpPr>
            <p:cNvPr id="48" name="连接符: 肘形 47">
              <a:extLst>
                <a:ext uri="{FF2B5EF4-FFF2-40B4-BE49-F238E27FC236}">
                  <a16:creationId xmlns:a16="http://schemas.microsoft.com/office/drawing/2014/main" id="{4114F769-EBE3-78F4-D475-AA4CB34EBD22}"/>
                </a:ext>
              </a:extLst>
            </p:cNvPr>
            <p:cNvCxnSpPr>
              <a:stCxn id="23" idx="2"/>
              <a:endCxn id="46" idx="3"/>
            </p:cNvCxnSpPr>
            <p:nvPr/>
          </p:nvCxnSpPr>
          <p:spPr>
            <a:xfrm rot="5400000">
              <a:off x="3422854" y="4415857"/>
              <a:ext cx="1998825" cy="20475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6370BE1F-FAED-2F1F-3C7F-605C7A75A60E}"/>
                </a:ext>
              </a:extLst>
            </p:cNvPr>
            <p:cNvSpPr txBox="1"/>
            <p:nvPr/>
          </p:nvSpPr>
          <p:spPr>
            <a:xfrm>
              <a:off x="3569352" y="6057560"/>
              <a:ext cx="177457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发货通知</a:t>
              </a:r>
            </a:p>
          </p:txBody>
        </p:sp>
      </p:grpSp>
      <p:sp>
        <p:nvSpPr>
          <p:cNvPr id="50" name="圆角矩形 2">
            <a:extLst>
              <a:ext uri="{FF2B5EF4-FFF2-40B4-BE49-F238E27FC236}">
                <a16:creationId xmlns:a16="http://schemas.microsoft.com/office/drawing/2014/main" id="{8C6D8CC7-8A02-4CD1-9D39-0382BCECF588}"/>
              </a:ext>
            </a:extLst>
          </p:cNvPr>
          <p:cNvSpPr/>
          <p:nvPr/>
        </p:nvSpPr>
        <p:spPr>
          <a:xfrm>
            <a:off x="7852109" y="5165607"/>
            <a:ext cx="971321" cy="543393"/>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IOP</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Call</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料</a:t>
            </a:r>
          </a:p>
        </p:txBody>
      </p:sp>
      <p:grpSp>
        <p:nvGrpSpPr>
          <p:cNvPr id="51" name="组合 50">
            <a:extLst>
              <a:ext uri="{FF2B5EF4-FFF2-40B4-BE49-F238E27FC236}">
                <a16:creationId xmlns:a16="http://schemas.microsoft.com/office/drawing/2014/main" id="{E35AD943-A095-E7FE-6E7A-E1D3A79B6134}"/>
              </a:ext>
            </a:extLst>
          </p:cNvPr>
          <p:cNvGrpSpPr/>
          <p:nvPr/>
        </p:nvGrpSpPr>
        <p:grpSpPr>
          <a:xfrm>
            <a:off x="6514147" y="4902981"/>
            <a:ext cx="2125770" cy="534581"/>
            <a:chOff x="6520132" y="4692844"/>
            <a:chExt cx="2125770" cy="534581"/>
          </a:xfrm>
        </p:grpSpPr>
        <p:cxnSp>
          <p:nvCxnSpPr>
            <p:cNvPr id="52" name="连接符: 肘形 51">
              <a:extLst>
                <a:ext uri="{FF2B5EF4-FFF2-40B4-BE49-F238E27FC236}">
                  <a16:creationId xmlns:a16="http://schemas.microsoft.com/office/drawing/2014/main" id="{B0397E25-B673-FE3D-8BE9-F64F84026677}"/>
                </a:ext>
              </a:extLst>
            </p:cNvPr>
            <p:cNvCxnSpPr>
              <a:cxnSpLocks/>
              <a:stCxn id="50" idx="1"/>
              <a:endCxn id="68" idx="3"/>
            </p:cNvCxnSpPr>
            <p:nvPr/>
          </p:nvCxnSpPr>
          <p:spPr>
            <a:xfrm rot="10800000" flipV="1">
              <a:off x="6520132" y="5227167"/>
              <a:ext cx="1337962" cy="25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16A08B54-EB37-A825-3E6A-60999B7CC68F}"/>
                </a:ext>
              </a:extLst>
            </p:cNvPr>
            <p:cNvSpPr txBox="1"/>
            <p:nvPr/>
          </p:nvSpPr>
          <p:spPr>
            <a:xfrm>
              <a:off x="6551996" y="4692844"/>
              <a:ext cx="20939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拉料信号</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转储单</a:t>
              </a:r>
            </a:p>
          </p:txBody>
        </p:sp>
      </p:grpSp>
      <p:sp>
        <p:nvSpPr>
          <p:cNvPr id="54" name="圆角矩形 2">
            <a:extLst>
              <a:ext uri="{FF2B5EF4-FFF2-40B4-BE49-F238E27FC236}">
                <a16:creationId xmlns:a16="http://schemas.microsoft.com/office/drawing/2014/main" id="{44B18D14-4A80-1C9A-5DDB-7B0246374828}"/>
              </a:ext>
            </a:extLst>
          </p:cNvPr>
          <p:cNvSpPr/>
          <p:nvPr/>
        </p:nvSpPr>
        <p:spPr>
          <a:xfrm>
            <a:off x="9693737" y="6003972"/>
            <a:ext cx="836295" cy="543393"/>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MES</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5" name="圆角矩形 2">
            <a:extLst>
              <a:ext uri="{FF2B5EF4-FFF2-40B4-BE49-F238E27FC236}">
                <a16:creationId xmlns:a16="http://schemas.microsoft.com/office/drawing/2014/main" id="{80A27F88-CFA6-E79D-C73E-5180AB036579}"/>
              </a:ext>
            </a:extLst>
          </p:cNvPr>
          <p:cNvSpPr/>
          <p:nvPr/>
        </p:nvSpPr>
        <p:spPr>
          <a:xfrm>
            <a:off x="9429819" y="3874425"/>
            <a:ext cx="1364135" cy="543393"/>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IOP – </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调度（</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Detailed Scheduling</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grpSp>
        <p:nvGrpSpPr>
          <p:cNvPr id="56" name="组合 55">
            <a:extLst>
              <a:ext uri="{FF2B5EF4-FFF2-40B4-BE49-F238E27FC236}">
                <a16:creationId xmlns:a16="http://schemas.microsoft.com/office/drawing/2014/main" id="{1538731E-5826-9B9E-E139-8A4D12479861}"/>
              </a:ext>
            </a:extLst>
          </p:cNvPr>
          <p:cNvGrpSpPr/>
          <p:nvPr/>
        </p:nvGrpSpPr>
        <p:grpSpPr>
          <a:xfrm>
            <a:off x="8577001" y="1736552"/>
            <a:ext cx="1581798" cy="2137873"/>
            <a:chOff x="8577001" y="1736552"/>
            <a:chExt cx="1581798" cy="2137873"/>
          </a:xfrm>
        </p:grpSpPr>
        <p:cxnSp>
          <p:nvCxnSpPr>
            <p:cNvPr id="57" name="连接符: 肘形 56">
              <a:extLst>
                <a:ext uri="{FF2B5EF4-FFF2-40B4-BE49-F238E27FC236}">
                  <a16:creationId xmlns:a16="http://schemas.microsoft.com/office/drawing/2014/main" id="{628ADF5B-92AE-DBE3-B8E0-634904CA3790}"/>
                </a:ext>
              </a:extLst>
            </p:cNvPr>
            <p:cNvCxnSpPr>
              <a:stCxn id="9" idx="3"/>
              <a:endCxn id="55" idx="0"/>
            </p:cNvCxnSpPr>
            <p:nvPr/>
          </p:nvCxnSpPr>
          <p:spPr>
            <a:xfrm>
              <a:off x="8859187" y="1736552"/>
              <a:ext cx="1252700" cy="21378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EB16396D-BF23-2542-0CEC-E6120370D703}"/>
                </a:ext>
              </a:extLst>
            </p:cNvPr>
            <p:cNvSpPr txBox="1"/>
            <p:nvPr/>
          </p:nvSpPr>
          <p:spPr>
            <a:xfrm>
              <a:off x="8577001" y="2491916"/>
              <a:ext cx="15817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a:t>
              </a:r>
            </a:p>
          </p:txBody>
        </p:sp>
      </p:grpSp>
      <p:grpSp>
        <p:nvGrpSpPr>
          <p:cNvPr id="59" name="组合 58">
            <a:extLst>
              <a:ext uri="{FF2B5EF4-FFF2-40B4-BE49-F238E27FC236}">
                <a16:creationId xmlns:a16="http://schemas.microsoft.com/office/drawing/2014/main" id="{D7305B4A-A0F0-91C1-3D49-730A227EF419}"/>
              </a:ext>
            </a:extLst>
          </p:cNvPr>
          <p:cNvGrpSpPr/>
          <p:nvPr/>
        </p:nvGrpSpPr>
        <p:grpSpPr>
          <a:xfrm>
            <a:off x="10111885" y="4417818"/>
            <a:ext cx="1543143" cy="1586154"/>
            <a:chOff x="10111885" y="4417818"/>
            <a:chExt cx="1543143" cy="1586154"/>
          </a:xfrm>
        </p:grpSpPr>
        <p:cxnSp>
          <p:nvCxnSpPr>
            <p:cNvPr id="60" name="连接符: 肘形 59">
              <a:extLst>
                <a:ext uri="{FF2B5EF4-FFF2-40B4-BE49-F238E27FC236}">
                  <a16:creationId xmlns:a16="http://schemas.microsoft.com/office/drawing/2014/main" id="{8486AA02-CBEC-9EC4-2C38-367DA268E4FA}"/>
                </a:ext>
              </a:extLst>
            </p:cNvPr>
            <p:cNvCxnSpPr>
              <a:stCxn id="55" idx="2"/>
              <a:endCxn id="54" idx="0"/>
            </p:cNvCxnSpPr>
            <p:nvPr/>
          </p:nvCxnSpPr>
          <p:spPr>
            <a:xfrm rot="5400000">
              <a:off x="9318809" y="5210894"/>
              <a:ext cx="1586154" cy="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17F24E29-F2E3-0848-1226-01A43C8CCD11}"/>
                </a:ext>
              </a:extLst>
            </p:cNvPr>
            <p:cNvSpPr txBox="1"/>
            <p:nvPr/>
          </p:nvSpPr>
          <p:spPr>
            <a:xfrm>
              <a:off x="10111885" y="4649205"/>
              <a:ext cx="154314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工单排序</a:t>
              </a:r>
            </a:p>
          </p:txBody>
        </p:sp>
      </p:grpSp>
      <p:grpSp>
        <p:nvGrpSpPr>
          <p:cNvPr id="62" name="组合 61">
            <a:extLst>
              <a:ext uri="{FF2B5EF4-FFF2-40B4-BE49-F238E27FC236}">
                <a16:creationId xmlns:a16="http://schemas.microsoft.com/office/drawing/2014/main" id="{F1D423EC-4474-796F-5662-54DD30C36EC4}"/>
              </a:ext>
            </a:extLst>
          </p:cNvPr>
          <p:cNvGrpSpPr/>
          <p:nvPr/>
        </p:nvGrpSpPr>
        <p:grpSpPr>
          <a:xfrm>
            <a:off x="8812138" y="4417819"/>
            <a:ext cx="1406547" cy="1019486"/>
            <a:chOff x="8812138" y="4417819"/>
            <a:chExt cx="1406547" cy="1019486"/>
          </a:xfrm>
        </p:grpSpPr>
        <p:cxnSp>
          <p:nvCxnSpPr>
            <p:cNvPr id="63" name="连接符: 肘形 62">
              <a:extLst>
                <a:ext uri="{FF2B5EF4-FFF2-40B4-BE49-F238E27FC236}">
                  <a16:creationId xmlns:a16="http://schemas.microsoft.com/office/drawing/2014/main" id="{0CED379F-F94A-8192-484E-E1FAA3B1FC3A}"/>
                </a:ext>
              </a:extLst>
            </p:cNvPr>
            <p:cNvCxnSpPr>
              <a:cxnSpLocks/>
              <a:stCxn id="55" idx="2"/>
              <a:endCxn id="50" idx="3"/>
            </p:cNvCxnSpPr>
            <p:nvPr/>
          </p:nvCxnSpPr>
          <p:spPr>
            <a:xfrm rot="5400000">
              <a:off x="8957916" y="4283333"/>
              <a:ext cx="1019486" cy="12884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1491E300-F4B7-284A-BA51-A692A62F6D84}"/>
                </a:ext>
              </a:extLst>
            </p:cNvPr>
            <p:cNvSpPr txBox="1"/>
            <p:nvPr/>
          </p:nvSpPr>
          <p:spPr>
            <a:xfrm>
              <a:off x="8812138" y="4787705"/>
              <a:ext cx="140654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排序</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工单行项目</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地点</a:t>
              </a:r>
            </a:p>
          </p:txBody>
        </p:sp>
      </p:grpSp>
      <p:grpSp>
        <p:nvGrpSpPr>
          <p:cNvPr id="65" name="组合 64">
            <a:extLst>
              <a:ext uri="{FF2B5EF4-FFF2-40B4-BE49-F238E27FC236}">
                <a16:creationId xmlns:a16="http://schemas.microsoft.com/office/drawing/2014/main" id="{093C5CE1-7FC3-021D-7218-31B45263350C}"/>
              </a:ext>
            </a:extLst>
          </p:cNvPr>
          <p:cNvGrpSpPr/>
          <p:nvPr/>
        </p:nvGrpSpPr>
        <p:grpSpPr>
          <a:xfrm>
            <a:off x="6096000" y="5709000"/>
            <a:ext cx="2241770" cy="589301"/>
            <a:chOff x="7443409" y="3515070"/>
            <a:chExt cx="2241770" cy="589301"/>
          </a:xfrm>
        </p:grpSpPr>
        <p:cxnSp>
          <p:nvCxnSpPr>
            <p:cNvPr id="66" name="连接符: 肘形 65">
              <a:extLst>
                <a:ext uri="{FF2B5EF4-FFF2-40B4-BE49-F238E27FC236}">
                  <a16:creationId xmlns:a16="http://schemas.microsoft.com/office/drawing/2014/main" id="{7EAB330A-DF4B-50FE-EE5D-9A910F54C1DB}"/>
                </a:ext>
              </a:extLst>
            </p:cNvPr>
            <p:cNvCxnSpPr>
              <a:cxnSpLocks/>
              <a:stCxn id="68" idx="2"/>
              <a:endCxn id="50" idx="2"/>
            </p:cNvCxnSpPr>
            <p:nvPr/>
          </p:nvCxnSpPr>
          <p:spPr>
            <a:xfrm rot="5400000" flipH="1" flipV="1">
              <a:off x="8564165" y="2394314"/>
              <a:ext cx="258" cy="2241770"/>
            </a:xfrm>
            <a:prstGeom prst="bentConnector3">
              <a:avLst>
                <a:gd name="adj1" fmla="val -8860465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5AD34A6-148D-6C07-7F72-8E85D83CFDAB}"/>
                </a:ext>
              </a:extLst>
            </p:cNvPr>
            <p:cNvSpPr txBox="1"/>
            <p:nvPr/>
          </p:nvSpPr>
          <p:spPr>
            <a:xfrm>
              <a:off x="8040472" y="3827372"/>
              <a:ext cx="112734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转储状态</a:t>
              </a:r>
            </a:p>
          </p:txBody>
        </p:sp>
      </p:grpSp>
      <p:sp>
        <p:nvSpPr>
          <p:cNvPr id="68" name="圆角矩形 2">
            <a:extLst>
              <a:ext uri="{FF2B5EF4-FFF2-40B4-BE49-F238E27FC236}">
                <a16:creationId xmlns:a16="http://schemas.microsoft.com/office/drawing/2014/main" id="{6FAC6E6A-79D4-9B76-CFF8-0ED692574F14}"/>
              </a:ext>
            </a:extLst>
          </p:cNvPr>
          <p:cNvSpPr/>
          <p:nvPr/>
        </p:nvSpPr>
        <p:spPr>
          <a:xfrm>
            <a:off x="5677852" y="5165865"/>
            <a:ext cx="836295" cy="543393"/>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WMS</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69" name="组合 68">
            <a:extLst>
              <a:ext uri="{FF2B5EF4-FFF2-40B4-BE49-F238E27FC236}">
                <a16:creationId xmlns:a16="http://schemas.microsoft.com/office/drawing/2014/main" id="{E85DEA29-EBC8-C519-7E68-01DF6C545426}"/>
              </a:ext>
            </a:extLst>
          </p:cNvPr>
          <p:cNvGrpSpPr/>
          <p:nvPr/>
        </p:nvGrpSpPr>
        <p:grpSpPr>
          <a:xfrm>
            <a:off x="8311182" y="2096597"/>
            <a:ext cx="1051893" cy="3037216"/>
            <a:chOff x="8311182" y="2096597"/>
            <a:chExt cx="1051893" cy="3037216"/>
          </a:xfrm>
        </p:grpSpPr>
        <p:cxnSp>
          <p:nvCxnSpPr>
            <p:cNvPr id="70" name="直接箭头连接符 69">
              <a:extLst>
                <a:ext uri="{FF2B5EF4-FFF2-40B4-BE49-F238E27FC236}">
                  <a16:creationId xmlns:a16="http://schemas.microsoft.com/office/drawing/2014/main" id="{62E64E3C-460F-0080-1BE6-0A3A27C5683B}"/>
                </a:ext>
              </a:extLst>
            </p:cNvPr>
            <p:cNvCxnSpPr>
              <a:cxnSpLocks/>
              <a:endCxn id="9" idx="2"/>
            </p:cNvCxnSpPr>
            <p:nvPr/>
          </p:nvCxnSpPr>
          <p:spPr>
            <a:xfrm flipV="1">
              <a:off x="8311182" y="2096597"/>
              <a:ext cx="5861" cy="3037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3F5ADB90-F4F4-B056-0233-57B2CBB1017C}"/>
                </a:ext>
              </a:extLst>
            </p:cNvPr>
            <p:cNvSpPr txBox="1"/>
            <p:nvPr/>
          </p:nvSpPr>
          <p:spPr>
            <a:xfrm>
              <a:off x="8374932" y="4530387"/>
              <a:ext cx="98814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工单状态</a:t>
              </a:r>
            </a:p>
          </p:txBody>
        </p:sp>
      </p:grpSp>
      <p:grpSp>
        <p:nvGrpSpPr>
          <p:cNvPr id="72" name="组合 71">
            <a:extLst>
              <a:ext uri="{FF2B5EF4-FFF2-40B4-BE49-F238E27FC236}">
                <a16:creationId xmlns:a16="http://schemas.microsoft.com/office/drawing/2014/main" id="{3D3F5988-DBA5-3D40-71DF-E5FB937C8A9D}"/>
              </a:ext>
            </a:extLst>
          </p:cNvPr>
          <p:cNvGrpSpPr/>
          <p:nvPr/>
        </p:nvGrpSpPr>
        <p:grpSpPr>
          <a:xfrm>
            <a:off x="8859187" y="1736552"/>
            <a:ext cx="3172940" cy="4539117"/>
            <a:chOff x="8859187" y="1736552"/>
            <a:chExt cx="3172940" cy="4539117"/>
          </a:xfrm>
        </p:grpSpPr>
        <p:cxnSp>
          <p:nvCxnSpPr>
            <p:cNvPr id="73" name="连接符: 肘形 72">
              <a:extLst>
                <a:ext uri="{FF2B5EF4-FFF2-40B4-BE49-F238E27FC236}">
                  <a16:creationId xmlns:a16="http://schemas.microsoft.com/office/drawing/2014/main" id="{1F0306A3-CC8A-78A0-B3A6-8DBBA0171BCB}"/>
                </a:ext>
              </a:extLst>
            </p:cNvPr>
            <p:cNvCxnSpPr>
              <a:stCxn id="9" idx="3"/>
              <a:endCxn id="54" idx="3"/>
            </p:cNvCxnSpPr>
            <p:nvPr/>
          </p:nvCxnSpPr>
          <p:spPr>
            <a:xfrm>
              <a:off x="8859187" y="1736552"/>
              <a:ext cx="1670845" cy="4539117"/>
            </a:xfrm>
            <a:prstGeom prst="bentConnector3">
              <a:avLst>
                <a:gd name="adj1" fmla="val 16285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A9F20726-4453-D9F1-DE7A-F4C60B05FA65}"/>
                </a:ext>
              </a:extLst>
            </p:cNvPr>
            <p:cNvSpPr txBox="1"/>
            <p:nvPr/>
          </p:nvSpPr>
          <p:spPr>
            <a:xfrm>
              <a:off x="10781621" y="3274706"/>
              <a:ext cx="125050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工单流程</a:t>
              </a:r>
            </a:p>
          </p:txBody>
        </p:sp>
      </p:grpSp>
      <p:sp>
        <p:nvSpPr>
          <p:cNvPr id="75" name="圆角矩形 2">
            <a:extLst>
              <a:ext uri="{FF2B5EF4-FFF2-40B4-BE49-F238E27FC236}">
                <a16:creationId xmlns:a16="http://schemas.microsoft.com/office/drawing/2014/main" id="{B3A19D84-111C-577B-943C-745AFDD1B658}"/>
              </a:ext>
            </a:extLst>
          </p:cNvPr>
          <p:cNvSpPr/>
          <p:nvPr/>
        </p:nvSpPr>
        <p:spPr>
          <a:xfrm>
            <a:off x="909437" y="3004278"/>
            <a:ext cx="836295" cy="543393"/>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ERP- MM</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76" name="组合 75">
            <a:extLst>
              <a:ext uri="{FF2B5EF4-FFF2-40B4-BE49-F238E27FC236}">
                <a16:creationId xmlns:a16="http://schemas.microsoft.com/office/drawing/2014/main" id="{E6076724-CF21-72A7-D68F-F25F4C432B0B}"/>
              </a:ext>
            </a:extLst>
          </p:cNvPr>
          <p:cNvGrpSpPr/>
          <p:nvPr/>
        </p:nvGrpSpPr>
        <p:grpSpPr>
          <a:xfrm>
            <a:off x="2020056" y="3176732"/>
            <a:ext cx="3410992" cy="2009850"/>
            <a:chOff x="4952116" y="3120713"/>
            <a:chExt cx="5186521" cy="2009850"/>
          </a:xfrm>
        </p:grpSpPr>
        <p:cxnSp>
          <p:nvCxnSpPr>
            <p:cNvPr id="77" name="连接符: 肘形 76">
              <a:extLst>
                <a:ext uri="{FF2B5EF4-FFF2-40B4-BE49-F238E27FC236}">
                  <a16:creationId xmlns:a16="http://schemas.microsoft.com/office/drawing/2014/main" id="{61E72D35-26D4-16CD-1A54-11EF4E8A8599}"/>
                </a:ext>
              </a:extLst>
            </p:cNvPr>
            <p:cNvCxnSpPr>
              <a:cxnSpLocks/>
              <a:stCxn id="10" idx="2"/>
              <a:endCxn id="30" idx="0"/>
            </p:cNvCxnSpPr>
            <p:nvPr/>
          </p:nvCxnSpPr>
          <p:spPr>
            <a:xfrm rot="5400000">
              <a:off x="7270530" y="2262456"/>
              <a:ext cx="2009850" cy="3726364"/>
            </a:xfrm>
            <a:prstGeom prst="bentConnector3">
              <a:avLst>
                <a:gd name="adj1" fmla="val 13789"/>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40C0AB39-2739-7792-C370-F1595A981524}"/>
                </a:ext>
              </a:extLst>
            </p:cNvPr>
            <p:cNvSpPr txBox="1"/>
            <p:nvPr/>
          </p:nvSpPr>
          <p:spPr>
            <a:xfrm>
              <a:off x="4952116" y="4395247"/>
              <a:ext cx="174348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成品预测承诺</a:t>
              </a:r>
            </a:p>
          </p:txBody>
        </p:sp>
      </p:grpSp>
      <p:grpSp>
        <p:nvGrpSpPr>
          <p:cNvPr id="79" name="组合 78">
            <a:extLst>
              <a:ext uri="{FF2B5EF4-FFF2-40B4-BE49-F238E27FC236}">
                <a16:creationId xmlns:a16="http://schemas.microsoft.com/office/drawing/2014/main" id="{F790F451-36F6-0CFF-4502-91A5613740ED}"/>
              </a:ext>
            </a:extLst>
          </p:cNvPr>
          <p:cNvGrpSpPr/>
          <p:nvPr/>
        </p:nvGrpSpPr>
        <p:grpSpPr>
          <a:xfrm>
            <a:off x="689981" y="1384003"/>
            <a:ext cx="4741066" cy="4074277"/>
            <a:chOff x="689981" y="1384003"/>
            <a:chExt cx="4741066" cy="4074277"/>
          </a:xfrm>
        </p:grpSpPr>
        <p:cxnSp>
          <p:nvCxnSpPr>
            <p:cNvPr id="80" name="连接符: 肘形 79">
              <a:extLst>
                <a:ext uri="{FF2B5EF4-FFF2-40B4-BE49-F238E27FC236}">
                  <a16:creationId xmlns:a16="http://schemas.microsoft.com/office/drawing/2014/main" id="{0D88AED4-AD84-9029-33A0-5039504AF28D}"/>
                </a:ext>
              </a:extLst>
            </p:cNvPr>
            <p:cNvCxnSpPr>
              <a:stCxn id="30" idx="1"/>
              <a:endCxn id="4" idx="0"/>
            </p:cNvCxnSpPr>
            <p:nvPr/>
          </p:nvCxnSpPr>
          <p:spPr>
            <a:xfrm rot="10800000" flipH="1">
              <a:off x="2562201" y="1384003"/>
              <a:ext cx="2868846" cy="4074277"/>
            </a:xfrm>
            <a:prstGeom prst="bentConnector4">
              <a:avLst>
                <a:gd name="adj1" fmla="val -65871"/>
                <a:gd name="adj2" fmla="val 10561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32D90406-C109-9D34-FF06-CA3C169F0FD6}"/>
                </a:ext>
              </a:extLst>
            </p:cNvPr>
            <p:cNvSpPr txBox="1"/>
            <p:nvPr/>
          </p:nvSpPr>
          <p:spPr>
            <a:xfrm>
              <a:off x="689981" y="3963012"/>
              <a:ext cx="141853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一致性预测</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补货需求单</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销售订单</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82" name="组合 81">
            <a:extLst>
              <a:ext uri="{FF2B5EF4-FFF2-40B4-BE49-F238E27FC236}">
                <a16:creationId xmlns:a16="http://schemas.microsoft.com/office/drawing/2014/main" id="{3A1C0F5F-BBDC-C1E2-6196-26A92DBE7F04}"/>
              </a:ext>
            </a:extLst>
          </p:cNvPr>
          <p:cNvGrpSpPr/>
          <p:nvPr/>
        </p:nvGrpSpPr>
        <p:grpSpPr>
          <a:xfrm>
            <a:off x="756425" y="1384003"/>
            <a:ext cx="4674622" cy="1891973"/>
            <a:chOff x="756425" y="1384003"/>
            <a:chExt cx="4674622" cy="1891973"/>
          </a:xfrm>
        </p:grpSpPr>
        <p:sp>
          <p:nvSpPr>
            <p:cNvPr id="83" name="文本框 82">
              <a:extLst>
                <a:ext uri="{FF2B5EF4-FFF2-40B4-BE49-F238E27FC236}">
                  <a16:creationId xmlns:a16="http://schemas.microsoft.com/office/drawing/2014/main" id="{5C5180CD-98E4-C284-A368-A466C1D79519}"/>
                </a:ext>
              </a:extLst>
            </p:cNvPr>
            <p:cNvSpPr txBox="1"/>
            <p:nvPr/>
          </p:nvSpPr>
          <p:spPr>
            <a:xfrm>
              <a:off x="756425" y="1932800"/>
              <a:ext cx="155555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OH</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计划到料</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主数据（</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MD)</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4" name="连接符: 肘形 83">
              <a:extLst>
                <a:ext uri="{FF2B5EF4-FFF2-40B4-BE49-F238E27FC236}">
                  <a16:creationId xmlns:a16="http://schemas.microsoft.com/office/drawing/2014/main" id="{797714AE-0DAF-6B9E-444A-BC8AF183C03E}"/>
                </a:ext>
              </a:extLst>
            </p:cNvPr>
            <p:cNvCxnSpPr>
              <a:cxnSpLocks/>
              <a:stCxn id="75" idx="1"/>
              <a:endCxn id="4" idx="0"/>
            </p:cNvCxnSpPr>
            <p:nvPr/>
          </p:nvCxnSpPr>
          <p:spPr>
            <a:xfrm rot="10800000" flipH="1">
              <a:off x="909437" y="1384003"/>
              <a:ext cx="4521610" cy="1891973"/>
            </a:xfrm>
            <a:prstGeom prst="bentConnector4">
              <a:avLst>
                <a:gd name="adj1" fmla="val -5056"/>
                <a:gd name="adj2" fmla="val 112083"/>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BC25D6C2-508B-0DA0-9BC9-7B72CF3738E7}"/>
              </a:ext>
            </a:extLst>
          </p:cNvPr>
          <p:cNvGrpSpPr/>
          <p:nvPr/>
        </p:nvGrpSpPr>
        <p:grpSpPr>
          <a:xfrm>
            <a:off x="1991554" y="3864551"/>
            <a:ext cx="2779102" cy="1322031"/>
            <a:chOff x="1991554" y="3864551"/>
            <a:chExt cx="2779102" cy="1322031"/>
          </a:xfrm>
        </p:grpSpPr>
        <p:cxnSp>
          <p:nvCxnSpPr>
            <p:cNvPr id="85" name="连接符: 肘形 84">
              <a:extLst>
                <a:ext uri="{FF2B5EF4-FFF2-40B4-BE49-F238E27FC236}">
                  <a16:creationId xmlns:a16="http://schemas.microsoft.com/office/drawing/2014/main" id="{06663C8C-9151-0204-8F4D-97282C087597}"/>
                </a:ext>
              </a:extLst>
            </p:cNvPr>
            <p:cNvCxnSpPr>
              <a:stCxn id="30" idx="0"/>
              <a:endCxn id="23" idx="1"/>
            </p:cNvCxnSpPr>
            <p:nvPr/>
          </p:nvCxnSpPr>
          <p:spPr>
            <a:xfrm rot="5400000" flipH="1" flipV="1">
              <a:off x="3366471" y="3782398"/>
              <a:ext cx="1018063" cy="179030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DA683F70-C8FE-FC15-FEF3-266E7F7DC1D2}"/>
                </a:ext>
              </a:extLst>
            </p:cNvPr>
            <p:cNvSpPr txBox="1"/>
            <p:nvPr/>
          </p:nvSpPr>
          <p:spPr>
            <a:xfrm>
              <a:off x="1991554" y="3864551"/>
              <a:ext cx="141853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补货需求单</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销售订单</a:t>
              </a:r>
              <a:endPar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172849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7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8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5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2"/>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6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51"/>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6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nodeType="click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500"/>
                                        <p:tgtEl>
                                          <p:spTgt spid="69"/>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72"/>
                                        </p:tgtEl>
                                        <p:attrNameLst>
                                          <p:attrName>style.visibility</p:attrName>
                                        </p:attrNameLst>
                                      </p:cBhvr>
                                      <p:to>
                                        <p:strVal val="visible"/>
                                      </p:to>
                                    </p:set>
                                    <p:animEffect transition="in" filter="fade">
                                      <p:cBhvr>
                                        <p:cTn id="15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23" grpId="0" animBg="1"/>
      <p:bldP spid="30" grpId="0" animBg="1"/>
      <p:bldP spid="46" grpId="0" animBg="1"/>
      <p:bldP spid="50" grpId="0" animBg="1"/>
      <p:bldP spid="54" grpId="0" animBg="1"/>
      <p:bldP spid="55" grpId="0" animBg="1"/>
      <p:bldP spid="68" grpId="0" animBg="1"/>
      <p:bldP spid="7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9A0732-441B-98D0-80A9-0525F5D91758}"/>
              </a:ext>
            </a:extLst>
          </p:cNvPr>
          <p:cNvSpPr>
            <a:spLocks noGrp="1"/>
          </p:cNvSpPr>
          <p:nvPr>
            <p:ph type="title"/>
          </p:nvPr>
        </p:nvSpPr>
        <p:spPr/>
        <p:txBody>
          <a:bodyPr vert="horz" lIns="91440" tIns="45720" rIns="91440" bIns="45720" rtlCol="0" anchor="b">
            <a:normAutofit/>
          </a:bodyPr>
          <a:lstStyle/>
          <a:p>
            <a:r>
              <a:rPr lang="en-US" altLang="zh-CN" dirty="0">
                <a:solidFill>
                  <a:schemeClr val="bg1"/>
                </a:solidFill>
                <a:latin typeface="Arial" panose="020B0604020202020204" pitchFamily="34" charset="0"/>
                <a:ea typeface="微软雅黑" panose="020B0503020204020204" pitchFamily="34" charset="-122"/>
              </a:rPr>
              <a:t>IPS – Operation Frequency</a:t>
            </a:r>
            <a:endParaRPr lang="zh-CN" altLang="en-US" dirty="0">
              <a:solidFill>
                <a:schemeClr val="bg1"/>
              </a:solidFill>
              <a:latin typeface="Arial" panose="020B0604020202020204" pitchFamily="34" charset="0"/>
              <a:ea typeface="微软雅黑" panose="020B0503020204020204" pitchFamily="34" charset="-122"/>
            </a:endParaRPr>
          </a:p>
        </p:txBody>
      </p:sp>
      <p:sp>
        <p:nvSpPr>
          <p:cNvPr id="4" name="矩形 3">
            <a:extLst>
              <a:ext uri="{FF2B5EF4-FFF2-40B4-BE49-F238E27FC236}">
                <a16:creationId xmlns:a16="http://schemas.microsoft.com/office/drawing/2014/main" id="{DEB119BC-3056-B91B-531A-F8A8569AA649}"/>
              </a:ext>
            </a:extLst>
          </p:cNvPr>
          <p:cNvSpPr/>
          <p:nvPr/>
        </p:nvSpPr>
        <p:spPr>
          <a:xfrm>
            <a:off x="4141250" y="1043031"/>
            <a:ext cx="8050750" cy="579543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cxnSp>
        <p:nvCxnSpPr>
          <p:cNvPr id="5" name="直接连接符 4">
            <a:extLst>
              <a:ext uri="{FF2B5EF4-FFF2-40B4-BE49-F238E27FC236}">
                <a16:creationId xmlns:a16="http://schemas.microsoft.com/office/drawing/2014/main" id="{5172F9E2-A9B8-BFFA-A81E-3723D1083A97}"/>
              </a:ext>
            </a:extLst>
          </p:cNvPr>
          <p:cNvCxnSpPr>
            <a:cxnSpLocks/>
          </p:cNvCxnSpPr>
          <p:nvPr/>
        </p:nvCxnSpPr>
        <p:spPr>
          <a:xfrm>
            <a:off x="58057" y="3388176"/>
            <a:ext cx="12133943" cy="52730"/>
          </a:xfrm>
          <a:prstGeom prst="line">
            <a:avLst/>
          </a:prstGeom>
          <a:ln>
            <a:headEnd type="none"/>
            <a:tailEnd type="none"/>
          </a:ln>
        </p:spPr>
        <p:style>
          <a:lnRef idx="3">
            <a:schemeClr val="accent3"/>
          </a:lnRef>
          <a:fillRef idx="0">
            <a:schemeClr val="accent3"/>
          </a:fillRef>
          <a:effectRef idx="2">
            <a:schemeClr val="accent3"/>
          </a:effectRef>
          <a:fontRef idx="minor">
            <a:schemeClr val="tx1"/>
          </a:fontRef>
        </p:style>
      </p:cxnSp>
      <p:grpSp>
        <p:nvGrpSpPr>
          <p:cNvPr id="6" name="组合 5">
            <a:extLst>
              <a:ext uri="{FF2B5EF4-FFF2-40B4-BE49-F238E27FC236}">
                <a16:creationId xmlns:a16="http://schemas.microsoft.com/office/drawing/2014/main" id="{BC3FB157-A76E-C32A-DC9A-F2E6E5D964DE}"/>
              </a:ext>
            </a:extLst>
          </p:cNvPr>
          <p:cNvGrpSpPr/>
          <p:nvPr/>
        </p:nvGrpSpPr>
        <p:grpSpPr>
          <a:xfrm>
            <a:off x="4740296" y="3669968"/>
            <a:ext cx="6928352" cy="3138424"/>
            <a:chOff x="1347309" y="1183074"/>
            <a:chExt cx="9419194" cy="4480378"/>
          </a:xfrm>
        </p:grpSpPr>
        <p:sp>
          <p:nvSpPr>
            <p:cNvPr id="7" name="矩形 6">
              <a:extLst>
                <a:ext uri="{FF2B5EF4-FFF2-40B4-BE49-F238E27FC236}">
                  <a16:creationId xmlns:a16="http://schemas.microsoft.com/office/drawing/2014/main" id="{861E9E0D-7D8C-5834-C194-8CE685E2E013}"/>
                </a:ext>
              </a:extLst>
            </p:cNvPr>
            <p:cNvSpPr/>
            <p:nvPr/>
          </p:nvSpPr>
          <p:spPr>
            <a:xfrm>
              <a:off x="9041620" y="3253339"/>
              <a:ext cx="1724883" cy="563819"/>
            </a:xfrm>
            <a:prstGeom prst="rect">
              <a:avLst/>
            </a:prstGeom>
            <a:solidFill>
              <a:schemeClr val="accent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Delivery Plan</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8" name="矩形 7">
              <a:extLst>
                <a:ext uri="{FF2B5EF4-FFF2-40B4-BE49-F238E27FC236}">
                  <a16:creationId xmlns:a16="http://schemas.microsoft.com/office/drawing/2014/main" id="{3D151C39-683E-0612-343B-426EF8A0CB97}"/>
                </a:ext>
              </a:extLst>
            </p:cNvPr>
            <p:cNvSpPr/>
            <p:nvPr/>
          </p:nvSpPr>
          <p:spPr>
            <a:xfrm>
              <a:off x="6203414" y="3253341"/>
              <a:ext cx="1836272" cy="571064"/>
            </a:xfrm>
            <a:prstGeom prst="rect">
              <a:avLst/>
            </a:prstGeom>
            <a:solidFill>
              <a:schemeClr val="accent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Replenishment Plan</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9" name="矩形 8">
              <a:extLst>
                <a:ext uri="{FF2B5EF4-FFF2-40B4-BE49-F238E27FC236}">
                  <a16:creationId xmlns:a16="http://schemas.microsoft.com/office/drawing/2014/main" id="{BAAA1518-8798-2219-C939-C064E4236A1F}"/>
                </a:ext>
              </a:extLst>
            </p:cNvPr>
            <p:cNvSpPr/>
            <p:nvPr/>
          </p:nvSpPr>
          <p:spPr>
            <a:xfrm>
              <a:off x="3646631" y="3260586"/>
              <a:ext cx="1724883" cy="563819"/>
            </a:xfrm>
            <a:prstGeom prst="rect">
              <a:avLst/>
            </a:prstGeom>
            <a:solidFill>
              <a:schemeClr val="accent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Factory Plan</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10" name="矩形 9">
              <a:extLst>
                <a:ext uri="{FF2B5EF4-FFF2-40B4-BE49-F238E27FC236}">
                  <a16:creationId xmlns:a16="http://schemas.microsoft.com/office/drawing/2014/main" id="{70507FA1-C660-4081-99A5-367C4D7C5ADD}"/>
                </a:ext>
              </a:extLst>
            </p:cNvPr>
            <p:cNvSpPr/>
            <p:nvPr/>
          </p:nvSpPr>
          <p:spPr>
            <a:xfrm>
              <a:off x="1347309" y="3253340"/>
              <a:ext cx="1724883" cy="563819"/>
            </a:xfrm>
            <a:prstGeom prst="rect">
              <a:avLst/>
            </a:prstGeom>
            <a:solidFill>
              <a:schemeClr val="accent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Delivery Notes</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11" name="椭圆 10">
              <a:extLst>
                <a:ext uri="{FF2B5EF4-FFF2-40B4-BE49-F238E27FC236}">
                  <a16:creationId xmlns:a16="http://schemas.microsoft.com/office/drawing/2014/main" id="{1F4653DD-D553-479C-5682-69F0F6A2D976}"/>
                </a:ext>
              </a:extLst>
            </p:cNvPr>
            <p:cNvSpPr/>
            <p:nvPr/>
          </p:nvSpPr>
          <p:spPr>
            <a:xfrm>
              <a:off x="3480474" y="4094962"/>
              <a:ext cx="2064992" cy="682783"/>
            </a:xfrm>
            <a:prstGeom prst="ellipse">
              <a:avLst/>
            </a:prstGeom>
            <a:solidFill>
              <a:schemeClr val="tx1">
                <a:lumMod val="75000"/>
                <a:lumOff val="2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FFFFFF"/>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Detailed Scheduling</a:t>
              </a:r>
              <a:endParaRPr kumimoji="0" lang="zh-CN" altLang="en-US" sz="1200" b="1" i="0" u="none" strike="noStrike" kern="1200" cap="none" spc="0" normalizeH="0" baseline="0" noProof="0" dirty="0">
                <a:ln w="0"/>
                <a:solidFill>
                  <a:srgbClr val="FFFFFF"/>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12" name="椭圆 11">
              <a:extLst>
                <a:ext uri="{FF2B5EF4-FFF2-40B4-BE49-F238E27FC236}">
                  <a16:creationId xmlns:a16="http://schemas.microsoft.com/office/drawing/2014/main" id="{9E82232E-AC75-9625-7917-D55B5A2E3F73}"/>
                </a:ext>
              </a:extLst>
            </p:cNvPr>
            <p:cNvSpPr/>
            <p:nvPr/>
          </p:nvSpPr>
          <p:spPr>
            <a:xfrm>
              <a:off x="3679088" y="5099633"/>
              <a:ext cx="1724882" cy="563819"/>
            </a:xfrm>
            <a:prstGeom prst="ellipse">
              <a:avLst/>
            </a:prstGeom>
            <a:solidFill>
              <a:srgbClr val="002060"/>
            </a:solidFill>
            <a:ln>
              <a:solidFill>
                <a:srgbClr val="002060"/>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FFFFFF"/>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Call</a:t>
              </a:r>
              <a:endParaRPr kumimoji="0" lang="zh-CN" altLang="en-US" sz="1200" b="1" i="0" u="none" strike="noStrike" kern="1200" cap="none" spc="0" normalizeH="0" baseline="0" noProof="0" dirty="0">
                <a:ln w="0"/>
                <a:solidFill>
                  <a:srgbClr val="FFFFFF"/>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13" name="椭圆 12">
              <a:extLst>
                <a:ext uri="{FF2B5EF4-FFF2-40B4-BE49-F238E27FC236}">
                  <a16:creationId xmlns:a16="http://schemas.microsoft.com/office/drawing/2014/main" id="{453F44E4-083E-3C53-CFEF-949B7A215D22}"/>
                </a:ext>
              </a:extLst>
            </p:cNvPr>
            <p:cNvSpPr/>
            <p:nvPr/>
          </p:nvSpPr>
          <p:spPr>
            <a:xfrm>
              <a:off x="4618078" y="1183074"/>
              <a:ext cx="2452465" cy="1110469"/>
            </a:xfrm>
            <a:prstGeom prst="ellipse">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IOP</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cxnSp>
          <p:nvCxnSpPr>
            <p:cNvPr id="14" name="连接符: 肘形 13">
              <a:extLst>
                <a:ext uri="{FF2B5EF4-FFF2-40B4-BE49-F238E27FC236}">
                  <a16:creationId xmlns:a16="http://schemas.microsoft.com/office/drawing/2014/main" id="{0391A407-61B5-BA1D-1590-57B3B9CC70A9}"/>
                </a:ext>
              </a:extLst>
            </p:cNvPr>
            <p:cNvCxnSpPr>
              <a:stCxn id="13" idx="2"/>
              <a:endCxn id="10" idx="0"/>
            </p:cNvCxnSpPr>
            <p:nvPr/>
          </p:nvCxnSpPr>
          <p:spPr>
            <a:xfrm rot="10800000" flipV="1">
              <a:off x="2209752" y="1738308"/>
              <a:ext cx="2408327" cy="1515031"/>
            </a:xfrm>
            <a:prstGeom prst="bentConnector2">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5" name="连接符: 肘形 14">
              <a:extLst>
                <a:ext uri="{FF2B5EF4-FFF2-40B4-BE49-F238E27FC236}">
                  <a16:creationId xmlns:a16="http://schemas.microsoft.com/office/drawing/2014/main" id="{751CB942-0E79-C765-B03F-55E8CEF5EBAC}"/>
                </a:ext>
              </a:extLst>
            </p:cNvPr>
            <p:cNvCxnSpPr>
              <a:cxnSpLocks/>
              <a:stCxn id="13" idx="4"/>
              <a:endCxn id="9" idx="0"/>
            </p:cNvCxnSpPr>
            <p:nvPr/>
          </p:nvCxnSpPr>
          <p:spPr>
            <a:xfrm rot="5400000">
              <a:off x="4693171" y="2109445"/>
              <a:ext cx="967043" cy="1335238"/>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连接符: 肘形 15">
              <a:extLst>
                <a:ext uri="{FF2B5EF4-FFF2-40B4-BE49-F238E27FC236}">
                  <a16:creationId xmlns:a16="http://schemas.microsoft.com/office/drawing/2014/main" id="{BF42595A-625E-AFFA-F202-534239BE2AF4}"/>
                </a:ext>
              </a:extLst>
            </p:cNvPr>
            <p:cNvCxnSpPr>
              <a:cxnSpLocks/>
              <a:stCxn id="13" idx="4"/>
              <a:endCxn id="8" idx="0"/>
            </p:cNvCxnSpPr>
            <p:nvPr/>
          </p:nvCxnSpPr>
          <p:spPr>
            <a:xfrm rot="16200000" flipH="1">
              <a:off x="6003031" y="2134822"/>
              <a:ext cx="959798" cy="1277239"/>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连接符: 肘形 16">
              <a:extLst>
                <a:ext uri="{FF2B5EF4-FFF2-40B4-BE49-F238E27FC236}">
                  <a16:creationId xmlns:a16="http://schemas.microsoft.com/office/drawing/2014/main" id="{BB2E077A-FEEA-D4CA-BFE9-C9266EFC564D}"/>
                </a:ext>
              </a:extLst>
            </p:cNvPr>
            <p:cNvCxnSpPr>
              <a:stCxn id="13" idx="6"/>
              <a:endCxn id="7" idx="0"/>
            </p:cNvCxnSpPr>
            <p:nvPr/>
          </p:nvCxnSpPr>
          <p:spPr>
            <a:xfrm>
              <a:off x="7070543" y="1738309"/>
              <a:ext cx="2833519" cy="1515030"/>
            </a:xfrm>
            <a:prstGeom prst="bentConnector2">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连接符: 肘形 17">
              <a:extLst>
                <a:ext uri="{FF2B5EF4-FFF2-40B4-BE49-F238E27FC236}">
                  <a16:creationId xmlns:a16="http://schemas.microsoft.com/office/drawing/2014/main" id="{4F0EFE69-10E2-23B2-8D61-9AF553F03643}"/>
                </a:ext>
              </a:extLst>
            </p:cNvPr>
            <p:cNvCxnSpPr>
              <a:cxnSpLocks/>
              <a:stCxn id="9" idx="2"/>
              <a:endCxn id="11" idx="0"/>
            </p:cNvCxnSpPr>
            <p:nvPr/>
          </p:nvCxnSpPr>
          <p:spPr>
            <a:xfrm rot="16200000" flipH="1">
              <a:off x="4375743" y="3957734"/>
              <a:ext cx="270556" cy="3898"/>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连接符: 肘形 18">
              <a:extLst>
                <a:ext uri="{FF2B5EF4-FFF2-40B4-BE49-F238E27FC236}">
                  <a16:creationId xmlns:a16="http://schemas.microsoft.com/office/drawing/2014/main" id="{EC27E264-3BBF-D270-0D58-929EF333D009}"/>
                </a:ext>
              </a:extLst>
            </p:cNvPr>
            <p:cNvCxnSpPr>
              <a:cxnSpLocks/>
            </p:cNvCxnSpPr>
            <p:nvPr/>
          </p:nvCxnSpPr>
          <p:spPr>
            <a:xfrm rot="5400000">
              <a:off x="4312721" y="4974300"/>
              <a:ext cx="392706" cy="17266"/>
            </a:xfrm>
            <a:prstGeom prst="bentConnector3">
              <a:avLst>
                <a:gd name="adj1" fmla="val 111914"/>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grpSp>
      <p:sp>
        <p:nvSpPr>
          <p:cNvPr id="20" name="椭圆 19">
            <a:extLst>
              <a:ext uri="{FF2B5EF4-FFF2-40B4-BE49-F238E27FC236}">
                <a16:creationId xmlns:a16="http://schemas.microsoft.com/office/drawing/2014/main" id="{47B376A0-A757-5E24-7A9C-E95B0C7D6BFB}"/>
              </a:ext>
            </a:extLst>
          </p:cNvPr>
          <p:cNvSpPr/>
          <p:nvPr/>
        </p:nvSpPr>
        <p:spPr>
          <a:xfrm>
            <a:off x="7146131" y="1246291"/>
            <a:ext cx="1803927" cy="777864"/>
          </a:xfrm>
          <a:prstGeom prst="ellipse">
            <a:avLst/>
          </a:prstGeom>
          <a:solidFill>
            <a:schemeClr val="accent1">
              <a:lumMod val="40000"/>
              <a:lumOff val="6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ITP - MRP</a:t>
            </a:r>
            <a:endParaRPr kumimoji="0" lang="zh-CN" altLang="en-US"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21" name="椭圆 20">
            <a:extLst>
              <a:ext uri="{FF2B5EF4-FFF2-40B4-BE49-F238E27FC236}">
                <a16:creationId xmlns:a16="http://schemas.microsoft.com/office/drawing/2014/main" id="{46FB948A-BBBD-27D7-D2C1-B3A23A917F2B}"/>
              </a:ext>
            </a:extLst>
          </p:cNvPr>
          <p:cNvSpPr/>
          <p:nvPr/>
        </p:nvSpPr>
        <p:spPr>
          <a:xfrm>
            <a:off x="7148707" y="2162121"/>
            <a:ext cx="1803927" cy="777864"/>
          </a:xfrm>
          <a:prstGeom prst="ellipse">
            <a:avLst/>
          </a:prstGeom>
          <a:solidFill>
            <a:schemeClr val="accent1">
              <a:lumMod val="40000"/>
              <a:lumOff val="6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ITP – Closed-Loop MRP</a:t>
            </a:r>
            <a:endParaRPr kumimoji="0" lang="zh-CN" altLang="en-US"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22" name="椭圆 21">
            <a:extLst>
              <a:ext uri="{FF2B5EF4-FFF2-40B4-BE49-F238E27FC236}">
                <a16:creationId xmlns:a16="http://schemas.microsoft.com/office/drawing/2014/main" id="{2E3B0580-D1E5-3DC4-E13C-526B70B1CE34}"/>
              </a:ext>
            </a:extLst>
          </p:cNvPr>
          <p:cNvSpPr/>
          <p:nvPr/>
        </p:nvSpPr>
        <p:spPr>
          <a:xfrm>
            <a:off x="4257364" y="1852245"/>
            <a:ext cx="1800000" cy="561452"/>
          </a:xfrm>
          <a:prstGeom prst="ellipse">
            <a:avLst/>
          </a:prstGeom>
          <a:solidFill>
            <a:schemeClr val="accent1">
              <a:lumMod val="40000"/>
              <a:lumOff val="6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Supplier Collaboration</a:t>
            </a:r>
            <a:endParaRPr kumimoji="0" lang="zh-CN" altLang="en-US"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sp>
        <p:nvSpPr>
          <p:cNvPr id="23" name="椭圆 22">
            <a:extLst>
              <a:ext uri="{FF2B5EF4-FFF2-40B4-BE49-F238E27FC236}">
                <a16:creationId xmlns:a16="http://schemas.microsoft.com/office/drawing/2014/main" id="{58B1E6CC-86FE-1C6E-0615-A873EEAD4B8B}"/>
              </a:ext>
            </a:extLst>
          </p:cNvPr>
          <p:cNvSpPr/>
          <p:nvPr/>
        </p:nvSpPr>
        <p:spPr>
          <a:xfrm>
            <a:off x="10298527" y="1852243"/>
            <a:ext cx="1800000" cy="561453"/>
          </a:xfrm>
          <a:prstGeom prst="ellipse">
            <a:avLst/>
          </a:prstGeom>
          <a:solidFill>
            <a:schemeClr val="accent1">
              <a:lumMod val="40000"/>
              <a:lumOff val="6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Capacity Planning</a:t>
            </a:r>
            <a:endParaRPr kumimoji="0" lang="zh-CN" altLang="en-US" sz="1200" b="1" i="0" u="none" strike="noStrike" kern="1200" cap="none" spc="0" normalizeH="0" baseline="0" noProof="0" dirty="0">
              <a:ln w="0"/>
              <a:solidFill>
                <a:srgbClr val="000000"/>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cxnSp>
        <p:nvCxnSpPr>
          <p:cNvPr id="24" name="连接符: 肘形 23">
            <a:extLst>
              <a:ext uri="{FF2B5EF4-FFF2-40B4-BE49-F238E27FC236}">
                <a16:creationId xmlns:a16="http://schemas.microsoft.com/office/drawing/2014/main" id="{BE7CE2E2-FA0B-CD26-3005-C55BC328EDA3}"/>
              </a:ext>
            </a:extLst>
          </p:cNvPr>
          <p:cNvCxnSpPr>
            <a:cxnSpLocks/>
            <a:stCxn id="20" idx="2"/>
            <a:endCxn id="22" idx="0"/>
          </p:cNvCxnSpPr>
          <p:nvPr/>
        </p:nvCxnSpPr>
        <p:spPr>
          <a:xfrm rot="10800000" flipV="1">
            <a:off x="5157365" y="1635223"/>
            <a:ext cx="1988767" cy="217022"/>
          </a:xfrm>
          <a:prstGeom prst="bentConnector2">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25" name="连接符: 肘形 24">
            <a:extLst>
              <a:ext uri="{FF2B5EF4-FFF2-40B4-BE49-F238E27FC236}">
                <a16:creationId xmlns:a16="http://schemas.microsoft.com/office/drawing/2014/main" id="{7026BC1C-5803-3C76-B25D-5FBECD2F898A}"/>
              </a:ext>
            </a:extLst>
          </p:cNvPr>
          <p:cNvCxnSpPr>
            <a:cxnSpLocks/>
            <a:stCxn id="20" idx="6"/>
            <a:endCxn id="23" idx="0"/>
          </p:cNvCxnSpPr>
          <p:nvPr/>
        </p:nvCxnSpPr>
        <p:spPr>
          <a:xfrm>
            <a:off x="8950058" y="1635223"/>
            <a:ext cx="2248469" cy="217020"/>
          </a:xfrm>
          <a:prstGeom prst="bentConnector2">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26" name="连接符: 肘形 25">
            <a:extLst>
              <a:ext uri="{FF2B5EF4-FFF2-40B4-BE49-F238E27FC236}">
                <a16:creationId xmlns:a16="http://schemas.microsoft.com/office/drawing/2014/main" id="{FA336A70-C090-8577-33ED-932B201FB6C2}"/>
              </a:ext>
            </a:extLst>
          </p:cNvPr>
          <p:cNvCxnSpPr>
            <a:cxnSpLocks/>
            <a:stCxn id="22" idx="4"/>
            <a:endCxn id="21" idx="2"/>
          </p:cNvCxnSpPr>
          <p:nvPr/>
        </p:nvCxnSpPr>
        <p:spPr>
          <a:xfrm rot="16200000" flipH="1">
            <a:off x="6084357" y="1486703"/>
            <a:ext cx="137356" cy="1991343"/>
          </a:xfrm>
          <a:prstGeom prst="bentConnector2">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27" name="连接符: 肘形 26">
            <a:extLst>
              <a:ext uri="{FF2B5EF4-FFF2-40B4-BE49-F238E27FC236}">
                <a16:creationId xmlns:a16="http://schemas.microsoft.com/office/drawing/2014/main" id="{9679E774-8D0E-983C-ACE6-2BDFE080FE2C}"/>
              </a:ext>
            </a:extLst>
          </p:cNvPr>
          <p:cNvCxnSpPr>
            <a:cxnSpLocks/>
            <a:stCxn id="23" idx="4"/>
            <a:endCxn id="21" idx="6"/>
          </p:cNvCxnSpPr>
          <p:nvPr/>
        </p:nvCxnSpPr>
        <p:spPr>
          <a:xfrm rot="5400000">
            <a:off x="10006903" y="1359428"/>
            <a:ext cx="137357" cy="2245893"/>
          </a:xfrm>
          <a:prstGeom prst="bentConnector2">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sp>
        <p:nvSpPr>
          <p:cNvPr id="28" name="矩形 27">
            <a:extLst>
              <a:ext uri="{FF2B5EF4-FFF2-40B4-BE49-F238E27FC236}">
                <a16:creationId xmlns:a16="http://schemas.microsoft.com/office/drawing/2014/main" id="{A7278224-43FD-F0F3-9BAB-69C0843CC0DB}"/>
              </a:ext>
            </a:extLst>
          </p:cNvPr>
          <p:cNvSpPr/>
          <p:nvPr/>
        </p:nvSpPr>
        <p:spPr>
          <a:xfrm>
            <a:off x="7413719" y="3127874"/>
            <a:ext cx="1268749" cy="394945"/>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rPr>
              <a:t>Allotment </a:t>
            </a:r>
            <a:endParaRPr kumimoji="0" lang="zh-CN" altLang="en-US" sz="1200" b="1" i="0" u="none" strike="noStrike" kern="1200" cap="none" spc="0" normalizeH="0" baseline="0" noProof="0" dirty="0">
              <a:ln w="0"/>
              <a:solidFill>
                <a:srgbClr val="E3E7F2">
                  <a:lumMod val="20000"/>
                  <a:lumOff val="80000"/>
                </a:srgbClr>
              </a:solidFill>
              <a:effectLst>
                <a:outerShdw blurRad="38100" dist="19050" dir="2700000" algn="tl" rotWithShape="0">
                  <a:srgbClr val="FFFFFF">
                    <a:alpha val="40000"/>
                  </a:srgbClr>
                </a:outerShdw>
              </a:effectLst>
              <a:uLnTx/>
              <a:uFillTx/>
              <a:latin typeface="Arial" panose="020B0604020202020204" pitchFamily="34" charset="0"/>
              <a:ea typeface="微软雅黑" panose="020B0503020204020204" pitchFamily="34" charset="-122"/>
              <a:cs typeface="+mn-cs"/>
            </a:endParaRPr>
          </a:p>
        </p:txBody>
      </p:sp>
      <p:cxnSp>
        <p:nvCxnSpPr>
          <p:cNvPr id="29" name="连接符: 肘形 28">
            <a:extLst>
              <a:ext uri="{FF2B5EF4-FFF2-40B4-BE49-F238E27FC236}">
                <a16:creationId xmlns:a16="http://schemas.microsoft.com/office/drawing/2014/main" id="{25DD4CD8-5705-BD29-2F08-89BC75E86E3D}"/>
              </a:ext>
            </a:extLst>
          </p:cNvPr>
          <p:cNvCxnSpPr>
            <a:cxnSpLocks/>
            <a:stCxn id="21" idx="4"/>
            <a:endCxn id="28" idx="0"/>
          </p:cNvCxnSpPr>
          <p:nvPr/>
        </p:nvCxnSpPr>
        <p:spPr>
          <a:xfrm rot="5400000">
            <a:off x="7955439" y="3032641"/>
            <a:ext cx="187889" cy="2577"/>
          </a:xfrm>
          <a:prstGeom prst="bentConnector3">
            <a:avLst>
              <a:gd name="adj1" fmla="val 50000"/>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0" name="连接符: 肘形 29">
            <a:extLst>
              <a:ext uri="{FF2B5EF4-FFF2-40B4-BE49-F238E27FC236}">
                <a16:creationId xmlns:a16="http://schemas.microsoft.com/office/drawing/2014/main" id="{08AFFC9B-34D2-2753-4EB1-42D36AD09B15}"/>
              </a:ext>
            </a:extLst>
          </p:cNvPr>
          <p:cNvCxnSpPr>
            <a:cxnSpLocks/>
            <a:stCxn id="28" idx="2"/>
            <a:endCxn id="13" idx="0"/>
          </p:cNvCxnSpPr>
          <p:nvPr/>
        </p:nvCxnSpPr>
        <p:spPr>
          <a:xfrm rot="16200000" flipH="1">
            <a:off x="7974521" y="3596392"/>
            <a:ext cx="147149" cy="2"/>
          </a:xfrm>
          <a:prstGeom prst="bentConnector3">
            <a:avLst>
              <a:gd name="adj1" fmla="val 50000"/>
            </a:avLst>
          </a:prstGeom>
          <a:ln w="12700">
            <a:solidFill>
              <a:schemeClr val="tx2"/>
            </a:solidFill>
            <a:headEnd type="none"/>
            <a:tailEnd type="triangle"/>
          </a:ln>
        </p:spPr>
        <p:style>
          <a:lnRef idx="1">
            <a:schemeClr val="accent2"/>
          </a:lnRef>
          <a:fillRef idx="0">
            <a:schemeClr val="accent2"/>
          </a:fillRef>
          <a:effectRef idx="0">
            <a:schemeClr val="accent2"/>
          </a:effectRef>
          <a:fontRef idx="minor">
            <a:schemeClr val="tx1"/>
          </a:fontRef>
        </p:style>
      </p:cxnSp>
      <p:sp>
        <p:nvSpPr>
          <p:cNvPr id="31" name="矩形 30">
            <a:extLst>
              <a:ext uri="{FF2B5EF4-FFF2-40B4-BE49-F238E27FC236}">
                <a16:creationId xmlns:a16="http://schemas.microsoft.com/office/drawing/2014/main" id="{6F9152B3-831F-6285-103E-CB35712B67AC}"/>
              </a:ext>
            </a:extLst>
          </p:cNvPr>
          <p:cNvSpPr/>
          <p:nvPr/>
        </p:nvSpPr>
        <p:spPr>
          <a:xfrm>
            <a:off x="10122" y="1043031"/>
            <a:ext cx="4131127" cy="2371509"/>
          </a:xfrm>
          <a:prstGeom prst="rect">
            <a:avLst/>
          </a:prstGeom>
          <a:solidFill>
            <a:schemeClr val="accent1">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战略到战术层：</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固定频次：</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MRP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每周一次备料，备资源</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识别瓶颈。</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MP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每周一次产销协同的发布物料和产能计划及配额。</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  By Demand: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环境变化时可一键加</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RUN,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也可适时</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What-if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p:txBody>
      </p:sp>
      <p:sp>
        <p:nvSpPr>
          <p:cNvPr id="32" name="矩形 31">
            <a:extLst>
              <a:ext uri="{FF2B5EF4-FFF2-40B4-BE49-F238E27FC236}">
                <a16:creationId xmlns:a16="http://schemas.microsoft.com/office/drawing/2014/main" id="{0B4AC5D0-A397-9E59-6453-E6D0716E0697}"/>
              </a:ext>
            </a:extLst>
          </p:cNvPr>
          <p:cNvSpPr/>
          <p:nvPr/>
        </p:nvSpPr>
        <p:spPr>
          <a:xfrm>
            <a:off x="12701" y="3414541"/>
            <a:ext cx="4131127" cy="3423926"/>
          </a:xfrm>
          <a:prstGeom prst="rect">
            <a:avLst/>
          </a:prstGeom>
          <a:solidFill>
            <a:schemeClr val="accent1">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战术到执行层：</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固定频次：</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Execution Planning</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Detailed Scheduling, CALL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 </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4</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次</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+/DAY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配合生产节奏</a:t>
            </a: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Delivery Notes</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可以更为频繁 </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10</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次</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+/DAY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 By Demand: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环境变化时可一键加</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RUN, </a:t>
            </a:r>
            <a:r>
              <a:rPr kumimoji="0" lang="zh-CN" altLang="en-US"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也可适时</a:t>
            </a:r>
            <a:r>
              <a:rPr kumimoji="0" lang="en-US" altLang="zh-CN" sz="1400" b="1" i="0" u="none" strike="noStrike" kern="1200" cap="none" spc="0" normalizeH="0" baseline="0" noProof="0" dirty="0">
                <a:ln>
                  <a:noFill/>
                </a:ln>
                <a:solidFill>
                  <a:srgbClr val="E3E7F2"/>
                </a:solidFill>
                <a:effectLst/>
                <a:uLnTx/>
                <a:uFillTx/>
                <a:latin typeface="Arial" panose="020B0604020202020204" pitchFamily="34" charset="0"/>
                <a:ea typeface="微软雅黑" panose="020B0503020204020204" pitchFamily="34" charset="-122"/>
                <a:cs typeface="+mn-cs"/>
              </a:rPr>
              <a:t>What-if</a:t>
            </a:r>
          </a:p>
        </p:txBody>
      </p:sp>
    </p:spTree>
    <p:extLst>
      <p:ext uri="{BB962C8B-B14F-4D97-AF65-F5344CB8AC3E}">
        <p14:creationId xmlns:p14="http://schemas.microsoft.com/office/powerpoint/2010/main" val="1873715262"/>
      </p:ext>
    </p:extLst>
  </p:cSld>
  <p:clrMapOvr>
    <a:overrideClrMapping bg1="dk1" tx1="lt1" bg2="dk2" tx2="lt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66E0D7-0583-C6E2-DEAC-99709C301A9E}"/>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“难”，从业务方案到模型算法的剥丝抽茧</a:t>
            </a:r>
          </a:p>
        </p:txBody>
      </p:sp>
      <p:graphicFrame>
        <p:nvGraphicFramePr>
          <p:cNvPr id="4" name="图示 3">
            <a:extLst>
              <a:ext uri="{FF2B5EF4-FFF2-40B4-BE49-F238E27FC236}">
                <a16:creationId xmlns:a16="http://schemas.microsoft.com/office/drawing/2014/main" id="{72D30ABE-79EC-C933-8FF3-00CDEB2C08F5}"/>
              </a:ext>
            </a:extLst>
          </p:cNvPr>
          <p:cNvGraphicFramePr/>
          <p:nvPr>
            <p:extLst>
              <p:ext uri="{D42A27DB-BD31-4B8C-83A1-F6EECF244321}">
                <p14:modId xmlns:p14="http://schemas.microsoft.com/office/powerpoint/2010/main" val="1389420955"/>
              </p:ext>
            </p:extLst>
          </p:nvPr>
        </p:nvGraphicFramePr>
        <p:xfrm>
          <a:off x="816023" y="755072"/>
          <a:ext cx="10969200" cy="5625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6752018"/>
      </p:ext>
    </p:extLst>
  </p:cSld>
  <p:clrMapOvr>
    <a:overrideClrMapping bg1="dk1" tx1="lt1" bg2="dk2" tx2="lt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9EFF35-FD1E-46DF-8468-4AB5AC7786AF}"/>
              </a:ext>
            </a:extLst>
          </p:cNvPr>
          <p:cNvSpPr>
            <a:spLocks noGrp="1"/>
          </p:cNvSpPr>
          <p:nvPr>
            <p:ph type="ctrTitle"/>
          </p:nvPr>
        </p:nvSpPr>
        <p:spPr>
          <a:xfrm>
            <a:off x="4391124" y="1326968"/>
            <a:ext cx="6749372" cy="2587173"/>
          </a:xfrm>
        </p:spPr>
        <p:txBody>
          <a:bodyPr/>
          <a:lstStyle/>
          <a:p>
            <a:pPr algn="ctr"/>
            <a:r>
              <a:rPr lang="en-US" altLang="zh-CN" sz="4000" dirty="0">
                <a:latin typeface="Arial" panose="020B0604020202020204" pitchFamily="34" charset="0"/>
                <a:ea typeface="微软雅黑" panose="020B0503020204020204" pitchFamily="34" charset="-122"/>
              </a:rPr>
              <a:t>IOP</a:t>
            </a:r>
            <a:br>
              <a:rPr lang="en-US" altLang="zh-CN" sz="3600" dirty="0">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Intelligent Operational Planning</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66334289"/>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00D69FE-BCA5-9A7A-EB05-61C17C2671DE}"/>
              </a:ext>
            </a:extLst>
          </p:cNvPr>
          <p:cNvSpPr txBox="1"/>
          <p:nvPr/>
        </p:nvSpPr>
        <p:spPr>
          <a:xfrm>
            <a:off x="400316" y="295325"/>
            <a:ext cx="610660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关键业务变革点</a:t>
            </a:r>
          </a:p>
        </p:txBody>
      </p:sp>
      <p:grpSp>
        <p:nvGrpSpPr>
          <p:cNvPr id="3" name="组合 2">
            <a:extLst>
              <a:ext uri="{FF2B5EF4-FFF2-40B4-BE49-F238E27FC236}">
                <a16:creationId xmlns:a16="http://schemas.microsoft.com/office/drawing/2014/main" id="{5C25EAEC-41DF-E89C-69F3-695039221E46}"/>
              </a:ext>
            </a:extLst>
          </p:cNvPr>
          <p:cNvGrpSpPr>
            <a:grpSpLocks noChangeAspect="1"/>
          </p:cNvGrpSpPr>
          <p:nvPr>
            <p:custDataLst>
              <p:tags r:id="rId1"/>
            </p:custDataLst>
          </p:nvPr>
        </p:nvGrpSpPr>
        <p:grpSpPr>
          <a:xfrm>
            <a:off x="699271" y="1247442"/>
            <a:ext cx="10632116" cy="4717243"/>
            <a:chOff x="675644" y="1328330"/>
            <a:chExt cx="7162045" cy="3452944"/>
          </a:xfrm>
        </p:grpSpPr>
        <p:grpSp>
          <p:nvGrpSpPr>
            <p:cNvPr id="4" name="组合 3">
              <a:extLst>
                <a:ext uri="{FF2B5EF4-FFF2-40B4-BE49-F238E27FC236}">
                  <a16:creationId xmlns:a16="http://schemas.microsoft.com/office/drawing/2014/main" id="{0F180DBF-823A-B2D9-329D-329B24A078BE}"/>
                </a:ext>
              </a:extLst>
            </p:cNvPr>
            <p:cNvGrpSpPr>
              <a:grpSpLocks/>
            </p:cNvGrpSpPr>
            <p:nvPr/>
          </p:nvGrpSpPr>
          <p:grpSpPr>
            <a:xfrm>
              <a:off x="675644" y="2250005"/>
              <a:ext cx="7162045" cy="1669034"/>
              <a:chOff x="6278556" y="1514786"/>
              <a:chExt cx="7162045" cy="1669034"/>
            </a:xfrm>
          </p:grpSpPr>
          <p:sp>
            <p:nvSpPr>
              <p:cNvPr id="13" name="2">
                <a:extLst>
                  <a:ext uri="{FF2B5EF4-FFF2-40B4-BE49-F238E27FC236}">
                    <a16:creationId xmlns:a16="http://schemas.microsoft.com/office/drawing/2014/main" id="{791154C2-27C6-C789-0B59-4234D48796BA}"/>
                  </a:ext>
                </a:extLst>
              </p:cNvPr>
              <p:cNvSpPr/>
              <p:nvPr>
                <p:custDataLst>
                  <p:tags r:id="rId8"/>
                </p:custDataLst>
              </p:nvPr>
            </p:nvSpPr>
            <p:spPr>
              <a:xfrm>
                <a:off x="8012106" y="1533417"/>
                <a:ext cx="5428495" cy="165040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Title-2">
                <a:extLst>
                  <a:ext uri="{FF2B5EF4-FFF2-40B4-BE49-F238E27FC236}">
                    <a16:creationId xmlns:a16="http://schemas.microsoft.com/office/drawing/2014/main" id="{19F3542A-2A70-5E14-8C97-89D49F34BAA5}"/>
                  </a:ext>
                </a:extLst>
              </p:cNvPr>
              <p:cNvSpPr/>
              <p:nvPr>
                <p:custDataLst>
                  <p:tags r:id="rId9"/>
                </p:custDataLst>
              </p:nvPr>
            </p:nvSpPr>
            <p:spPr>
              <a:xfrm>
                <a:off x="6278556" y="1533417"/>
                <a:ext cx="1733550" cy="1650403"/>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确保承诺</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Body-2">
                <a:extLst>
                  <a:ext uri="{FF2B5EF4-FFF2-40B4-BE49-F238E27FC236}">
                    <a16:creationId xmlns:a16="http://schemas.microsoft.com/office/drawing/2014/main" id="{2EC8A512-6E4A-BF56-04E7-50C0C2C75694}"/>
                  </a:ext>
                </a:extLst>
              </p:cNvPr>
              <p:cNvSpPr txBox="1"/>
              <p:nvPr>
                <p:custDataLst>
                  <p:tags r:id="rId10"/>
                </p:custDataLst>
              </p:nvPr>
            </p:nvSpPr>
            <p:spPr>
              <a:xfrm>
                <a:off x="8133949" y="1514786"/>
                <a:ext cx="5242238" cy="1565465"/>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利用优先级进行软预留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承诺需要预留供给和资源，但由于供应和约束条件可能存在波动，必须能够灵活适应这些变化，因此不宜采用 </a:t>
                </a:r>
                <a:r>
                  <a:rPr kumimoji="0" lang="en-US" altLang="zh-CN"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Pegging</a:t>
                </a: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刚性预留）方式。计划订单、未来到料和现有库存之间往往难以建立精确的跟踪关系。因此，预留机制更适合采用基于优先级的软预留，这种方式也为优化提供了更大空间。关键是要确保已承诺需求的优先级高于新需求的优先级。</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资源置换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紧急插单不应直接插入现有生产队列，而应通过资源置换的方式进行处理，这样可以明确指定影响范围并有效控制其波及效应。</a:t>
                </a:r>
                <a:endParaRPr kumimoji="0" lang="en-US" altLang="zh-CN" sz="1400" b="1" i="0" u="none" strike="noStrike" kern="1200" cap="none" spc="0" normalizeH="0" baseline="0" noProof="0" dirty="0">
                  <a:ln>
                    <a:noFill/>
                  </a:ln>
                  <a:solidFill>
                    <a:srgbClr val="000000"/>
                  </a:solidFill>
                  <a:effectLst/>
                  <a:uLnTx/>
                  <a:uFillTx/>
                  <a:ea typeface="微软雅黑" panose="020B0503020204020204" pitchFamily="34" charset="-122"/>
                  <a:cs typeface="+mn-cs"/>
                </a:endParaRPr>
              </a:p>
            </p:txBody>
          </p:sp>
        </p:grpSp>
        <p:grpSp>
          <p:nvGrpSpPr>
            <p:cNvPr id="5" name="组合 4">
              <a:extLst>
                <a:ext uri="{FF2B5EF4-FFF2-40B4-BE49-F238E27FC236}">
                  <a16:creationId xmlns:a16="http://schemas.microsoft.com/office/drawing/2014/main" id="{A604DC63-D5D7-6294-CE9C-ACB884470B49}"/>
                </a:ext>
              </a:extLst>
            </p:cNvPr>
            <p:cNvGrpSpPr>
              <a:grpSpLocks/>
            </p:cNvGrpSpPr>
            <p:nvPr/>
          </p:nvGrpSpPr>
          <p:grpSpPr>
            <a:xfrm>
              <a:off x="675644" y="1328330"/>
              <a:ext cx="7162045" cy="833626"/>
              <a:chOff x="675644" y="2028823"/>
              <a:chExt cx="7162045" cy="833626"/>
            </a:xfrm>
          </p:grpSpPr>
          <p:sp>
            <p:nvSpPr>
              <p:cNvPr id="10" name="1">
                <a:extLst>
                  <a:ext uri="{FF2B5EF4-FFF2-40B4-BE49-F238E27FC236}">
                    <a16:creationId xmlns:a16="http://schemas.microsoft.com/office/drawing/2014/main" id="{376E613B-0390-4250-2D66-C91342B13F0F}"/>
                  </a:ext>
                </a:extLst>
              </p:cNvPr>
              <p:cNvSpPr/>
              <p:nvPr>
                <p:custDataLst>
                  <p:tags r:id="rId5"/>
                </p:custDataLst>
              </p:nvPr>
            </p:nvSpPr>
            <p:spPr>
              <a:xfrm>
                <a:off x="2409194" y="2028823"/>
                <a:ext cx="5428495" cy="83362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Title-1">
                <a:extLst>
                  <a:ext uri="{FF2B5EF4-FFF2-40B4-BE49-F238E27FC236}">
                    <a16:creationId xmlns:a16="http://schemas.microsoft.com/office/drawing/2014/main" id="{F7BC1B6A-EC1C-7CAB-F263-DC983A9C6677}"/>
                  </a:ext>
                </a:extLst>
              </p:cNvPr>
              <p:cNvSpPr/>
              <p:nvPr>
                <p:custDataLst>
                  <p:tags r:id="rId6"/>
                </p:custDataLst>
              </p:nvPr>
            </p:nvSpPr>
            <p:spPr>
              <a:xfrm>
                <a:off x="675644" y="2028823"/>
                <a:ext cx="1733550" cy="833626"/>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E2E</a:t>
                </a: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一体化设计</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Body-1">
                <a:extLst>
                  <a:ext uri="{FF2B5EF4-FFF2-40B4-BE49-F238E27FC236}">
                    <a16:creationId xmlns:a16="http://schemas.microsoft.com/office/drawing/2014/main" id="{B7C5BABA-249C-C345-3CC6-23CEF8BE5596}"/>
                  </a:ext>
                </a:extLst>
              </p:cNvPr>
              <p:cNvSpPr txBox="1"/>
              <p:nvPr>
                <p:custDataLst>
                  <p:tags r:id="rId7"/>
                </p:custDataLst>
              </p:nvPr>
            </p:nvSpPr>
            <p:spPr>
              <a:xfrm>
                <a:off x="2563245" y="2105318"/>
                <a:ext cx="3649579" cy="619259"/>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横向对齐</a:t>
                </a: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统一需求，供应和约束的计算范围</a:t>
                </a:r>
                <a:r>
                  <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a:p>
                <a:pPr marL="742950" marR="0" lvl="1"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统一需求和供应，约束的智能化分配规则</a:t>
                </a:r>
                <a:endParaRPr kumimoji="0" lang="en-US" altLang="zh-CN" sz="17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6" name="组合 5">
              <a:extLst>
                <a:ext uri="{FF2B5EF4-FFF2-40B4-BE49-F238E27FC236}">
                  <a16:creationId xmlns:a16="http://schemas.microsoft.com/office/drawing/2014/main" id="{E62E44BA-315D-51B0-A1E1-B7C74FE175C4}"/>
                </a:ext>
              </a:extLst>
            </p:cNvPr>
            <p:cNvGrpSpPr/>
            <p:nvPr/>
          </p:nvGrpSpPr>
          <p:grpSpPr>
            <a:xfrm>
              <a:off x="675644" y="4007087"/>
              <a:ext cx="7162045" cy="774187"/>
              <a:chOff x="675644" y="3271868"/>
              <a:chExt cx="7162045" cy="774187"/>
            </a:xfrm>
          </p:grpSpPr>
          <p:sp>
            <p:nvSpPr>
              <p:cNvPr id="7" name="3">
                <a:extLst>
                  <a:ext uri="{FF2B5EF4-FFF2-40B4-BE49-F238E27FC236}">
                    <a16:creationId xmlns:a16="http://schemas.microsoft.com/office/drawing/2014/main" id="{2035A6D6-AD41-877F-DA5D-412178CDD655}"/>
                  </a:ext>
                </a:extLst>
              </p:cNvPr>
              <p:cNvSpPr/>
              <p:nvPr>
                <p:custDataLst>
                  <p:tags r:id="rId2"/>
                </p:custDataLst>
              </p:nvPr>
            </p:nvSpPr>
            <p:spPr>
              <a:xfrm>
                <a:off x="2409194" y="3271868"/>
                <a:ext cx="5428495" cy="77418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Title-3">
                <a:extLst>
                  <a:ext uri="{FF2B5EF4-FFF2-40B4-BE49-F238E27FC236}">
                    <a16:creationId xmlns:a16="http://schemas.microsoft.com/office/drawing/2014/main" id="{8BA34F70-4F74-9A29-4C33-177A68CDB843}"/>
                  </a:ext>
                </a:extLst>
              </p:cNvPr>
              <p:cNvSpPr/>
              <p:nvPr>
                <p:custDataLst>
                  <p:tags r:id="rId3"/>
                </p:custDataLst>
              </p:nvPr>
            </p:nvSpPr>
            <p:spPr>
              <a:xfrm>
                <a:off x="675644" y="3271868"/>
                <a:ext cx="1733550"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优化资源，加速交付</a:t>
                </a:r>
                <a:endPar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Body-3">
                <a:extLst>
                  <a:ext uri="{FF2B5EF4-FFF2-40B4-BE49-F238E27FC236}">
                    <a16:creationId xmlns:a16="http://schemas.microsoft.com/office/drawing/2014/main" id="{5DF97943-1D6E-4226-1D0E-42A4B9652DAC}"/>
                  </a:ext>
                </a:extLst>
              </p:cNvPr>
              <p:cNvSpPr txBox="1"/>
              <p:nvPr>
                <p:custDataLst>
                  <p:tags r:id="rId4"/>
                </p:custDataLst>
              </p:nvPr>
            </p:nvSpPr>
            <p:spPr>
              <a:xfrm>
                <a:off x="2531037" y="3422605"/>
                <a:ext cx="4684223" cy="430018"/>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在不影响承诺交期的前提下把资源优化给优先级低的订单和新订单来加速交付速度</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000000"/>
                    </a:solidFill>
                    <a:effectLst/>
                    <a:uLnTx/>
                    <a:uFillTx/>
                    <a:ea typeface="微软雅黑" panose="020B0503020204020204" pitchFamily="34" charset="-122"/>
                    <a:cs typeface="+mn-cs"/>
                  </a:rPr>
                  <a:t>依次解决资源最大化利用</a:t>
                </a:r>
                <a:endParaRPr kumimoji="0" lang="en-US" altLang="zh-CN" sz="1400" b="1" i="0" u="none" strike="noStrike" kern="1200" cap="none" spc="0" normalizeH="0" baseline="0" noProof="0" dirty="0">
                  <a:ln>
                    <a:noFill/>
                  </a:ln>
                  <a:solidFill>
                    <a:srgbClr val="000000"/>
                  </a:solidFill>
                  <a:effectLst/>
                  <a:uLnTx/>
                  <a:uFillTx/>
                  <a:ea typeface="微软雅黑" panose="020B0503020204020204" pitchFamily="34" charset="-122"/>
                  <a:cs typeface="+mn-cs"/>
                </a:endParaRPr>
              </a:p>
            </p:txBody>
          </p:sp>
        </p:grpSp>
      </p:grpSp>
    </p:spTree>
    <p:extLst>
      <p:ext uri="{BB962C8B-B14F-4D97-AF65-F5344CB8AC3E}">
        <p14:creationId xmlns:p14="http://schemas.microsoft.com/office/powerpoint/2010/main" val="18554752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1">
            <a:extLst>
              <a:ext uri="{FF2B5EF4-FFF2-40B4-BE49-F238E27FC236}">
                <a16:creationId xmlns:a16="http://schemas.microsoft.com/office/drawing/2014/main" id="{900D69FE-BCA5-9A7A-EB05-61C17C2671DE}"/>
              </a:ext>
            </a:extLst>
          </p:cNvPr>
          <p:cNvSpPr txBox="1"/>
          <p:nvPr/>
        </p:nvSpPr>
        <p:spPr>
          <a:xfrm>
            <a:off x="1423074" y="174072"/>
            <a:ext cx="9191137"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概念解读</a:t>
            </a:r>
          </a:p>
        </p:txBody>
      </p:sp>
      <p:grpSp>
        <p:nvGrpSpPr>
          <p:cNvPr id="77" name="组合 76">
            <a:extLst>
              <a:ext uri="{FF2B5EF4-FFF2-40B4-BE49-F238E27FC236}">
                <a16:creationId xmlns:a16="http://schemas.microsoft.com/office/drawing/2014/main" id="{DCD65C6B-E4DF-C8C3-AE0C-FCC2B85BF95F}"/>
              </a:ext>
            </a:extLst>
          </p:cNvPr>
          <p:cNvGrpSpPr>
            <a:grpSpLocks noChangeAspect="1"/>
          </p:cNvGrpSpPr>
          <p:nvPr>
            <p:custDataLst>
              <p:tags r:id="rId1"/>
            </p:custDataLst>
          </p:nvPr>
        </p:nvGrpSpPr>
        <p:grpSpPr>
          <a:xfrm>
            <a:off x="1083481" y="1005477"/>
            <a:ext cx="10188144" cy="5580594"/>
            <a:chOff x="1086810" y="1800049"/>
            <a:chExt cx="4887376" cy="5025715"/>
          </a:xfrm>
        </p:grpSpPr>
        <p:grpSp>
          <p:nvGrpSpPr>
            <p:cNvPr id="78" name="组合 77">
              <a:extLst>
                <a:ext uri="{FF2B5EF4-FFF2-40B4-BE49-F238E27FC236}">
                  <a16:creationId xmlns:a16="http://schemas.microsoft.com/office/drawing/2014/main" id="{EFC8646A-A95E-A16A-6B0E-2FC554DC76D1}"/>
                </a:ext>
              </a:extLst>
            </p:cNvPr>
            <p:cNvGrpSpPr/>
            <p:nvPr/>
          </p:nvGrpSpPr>
          <p:grpSpPr>
            <a:xfrm>
              <a:off x="1086810" y="1800049"/>
              <a:ext cx="4877969" cy="1533910"/>
              <a:chOff x="909643" y="1140079"/>
              <a:chExt cx="4877969" cy="1533910"/>
            </a:xfrm>
          </p:grpSpPr>
          <p:sp>
            <p:nvSpPr>
              <p:cNvPr id="91" name="1">
                <a:extLst>
                  <a:ext uri="{FF2B5EF4-FFF2-40B4-BE49-F238E27FC236}">
                    <a16:creationId xmlns:a16="http://schemas.microsoft.com/office/drawing/2014/main" id="{D12D599F-1867-5160-1C6E-988E2688D49B}"/>
                  </a:ext>
                </a:extLst>
              </p:cNvPr>
              <p:cNvSpPr/>
              <p:nvPr>
                <p:custDataLst>
                  <p:tags r:id="rId12"/>
                </p:custDataLst>
              </p:nvPr>
            </p:nvSpPr>
            <p:spPr>
              <a:xfrm>
                <a:off x="909643" y="1141058"/>
                <a:ext cx="4877969" cy="1532930"/>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92" name="Title-1">
                <a:extLst>
                  <a:ext uri="{FF2B5EF4-FFF2-40B4-BE49-F238E27FC236}">
                    <a16:creationId xmlns:a16="http://schemas.microsoft.com/office/drawing/2014/main" id="{90781000-E146-AD98-D9D9-DA602D4480BE}"/>
                  </a:ext>
                </a:extLst>
              </p:cNvPr>
              <p:cNvSpPr>
                <a:spLocks/>
              </p:cNvSpPr>
              <p:nvPr>
                <p:custDataLst>
                  <p:tags r:id="rId13"/>
                </p:custDataLst>
              </p:nvPr>
            </p:nvSpPr>
            <p:spPr>
              <a:xfrm>
                <a:off x="1495060" y="1140079"/>
                <a:ext cx="3960000" cy="525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软预留（</a:t>
                </a:r>
                <a:r>
                  <a:rPr kumimoji="0" lang="en-US" altLang="zh-CN"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Soft Reservation</a:t>
                </a:r>
                <a:r>
                  <a:rPr kumimoji="0" lang="zh-CN" altLang="en-US"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endParaRPr kumimoji="0" lang="en-US" altLang="zh-CN" sz="1800" b="1" i="0" u="none" strike="noStrike" kern="1200" cap="none" spc="0" normalizeH="0" baseline="0" noProof="0" dirty="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93" name="Body-1">
                <a:extLst>
                  <a:ext uri="{FF2B5EF4-FFF2-40B4-BE49-F238E27FC236}">
                    <a16:creationId xmlns:a16="http://schemas.microsoft.com/office/drawing/2014/main" id="{6B5481FD-F9EA-76DE-B122-4C97B2D790E4}"/>
                  </a:ext>
                </a:extLst>
              </p:cNvPr>
              <p:cNvSpPr>
                <a:spLocks/>
              </p:cNvSpPr>
              <p:nvPr>
                <p:custDataLst>
                  <p:tags r:id="rId14"/>
                </p:custDataLst>
              </p:nvPr>
            </p:nvSpPr>
            <p:spPr>
              <a:xfrm>
                <a:off x="1495060" y="1654869"/>
                <a:ext cx="3960000" cy="8441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其核心在于动态和灵活。它并非物理上锁定资源，而是通过一套规则（最常见的就是优先级）来影响资源分配决策。 当资源充足时，所有需求都能满足；当资源紧张时，系统会依据优先级决定分配的先后顺序。这就像机场的贵宾通道，乘客（需求）并没有一个固定的座位（资源）被锁死，但能保证在登机时（资源分配时）获得优先权。</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4" name="Index-1">
                <a:extLst>
                  <a:ext uri="{FF2B5EF4-FFF2-40B4-BE49-F238E27FC236}">
                    <a16:creationId xmlns:a16="http://schemas.microsoft.com/office/drawing/2014/main" id="{B6446DB9-6121-E39D-9E0A-363FB3AE3412}"/>
                  </a:ext>
                </a:extLst>
              </p:cNvPr>
              <p:cNvSpPr txBox="1"/>
              <p:nvPr>
                <p:custDataLst>
                  <p:tags r:id="rId15"/>
                </p:custDataLst>
              </p:nvPr>
            </p:nvSpPr>
            <p:spPr>
              <a:xfrm>
                <a:off x="946331" y="1141058"/>
                <a:ext cx="253148" cy="415762"/>
              </a:xfrm>
              <a:prstGeom prst="rect">
                <a:avLst/>
              </a:prstGeom>
              <a:solidFill>
                <a:schemeClr val="accent1"/>
              </a:solidFill>
              <a:effectLst/>
            </p:spPr>
            <p:txBody>
              <a:bodyPr wrap="none" rtlCol="0">
                <a:spAutoFit/>
              </a:bodyPr>
              <a:lstStyle>
                <a:defPPr>
                  <a:defRPr lang="zh-CN"/>
                </a:defPPr>
                <a:lvl1pPr algn="ctr">
                  <a:defRPr sz="2800" b="1">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01</a:t>
                </a:r>
                <a:endPar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95" name="1">
                <a:extLst>
                  <a:ext uri="{FF2B5EF4-FFF2-40B4-BE49-F238E27FC236}">
                    <a16:creationId xmlns:a16="http://schemas.microsoft.com/office/drawing/2014/main" id="{1F82AD30-12E6-5C9E-1C37-A20C8B775198}"/>
                  </a:ext>
                </a:extLst>
              </p:cNvPr>
              <p:cNvCxnSpPr>
                <a:cxnSpLocks/>
              </p:cNvCxnSpPr>
              <p:nvPr>
                <p:custDataLst>
                  <p:tags r:id="rId16"/>
                </p:custDataLst>
              </p:nvPr>
            </p:nvCxnSpPr>
            <p:spPr>
              <a:xfrm>
                <a:off x="909645" y="2673989"/>
                <a:ext cx="4877967"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6DE2F41D-061B-D8B4-DC97-C9C593B1FAF1}"/>
                </a:ext>
              </a:extLst>
            </p:cNvPr>
            <p:cNvGrpSpPr>
              <a:grpSpLocks/>
            </p:cNvGrpSpPr>
            <p:nvPr/>
          </p:nvGrpSpPr>
          <p:grpSpPr>
            <a:xfrm>
              <a:off x="1086810" y="3519111"/>
              <a:ext cx="4877969" cy="1538840"/>
              <a:chOff x="6669090" y="1140079"/>
              <a:chExt cx="4877969" cy="1538840"/>
            </a:xfrm>
          </p:grpSpPr>
          <p:sp>
            <p:nvSpPr>
              <p:cNvPr id="86" name="2">
                <a:extLst>
                  <a:ext uri="{FF2B5EF4-FFF2-40B4-BE49-F238E27FC236}">
                    <a16:creationId xmlns:a16="http://schemas.microsoft.com/office/drawing/2014/main" id="{9D8606EF-EC6C-5E7B-71E5-A5E16F4F4868}"/>
                  </a:ext>
                </a:extLst>
              </p:cNvPr>
              <p:cNvSpPr/>
              <p:nvPr>
                <p:custDataLst>
                  <p:tags r:id="rId7"/>
                </p:custDataLst>
              </p:nvPr>
            </p:nvSpPr>
            <p:spPr>
              <a:xfrm>
                <a:off x="6669090" y="1140079"/>
                <a:ext cx="4877969" cy="1532930"/>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87" name="Body-2">
                <a:extLst>
                  <a:ext uri="{FF2B5EF4-FFF2-40B4-BE49-F238E27FC236}">
                    <a16:creationId xmlns:a16="http://schemas.microsoft.com/office/drawing/2014/main" id="{127D7045-102B-D482-D1D3-3EF4A660498F}"/>
                  </a:ext>
                </a:extLst>
              </p:cNvPr>
              <p:cNvSpPr>
                <a:spLocks/>
              </p:cNvSpPr>
              <p:nvPr>
                <p:custDataLst>
                  <p:tags r:id="rId8"/>
                </p:custDataLst>
              </p:nvPr>
            </p:nvSpPr>
            <p:spPr>
              <a:xfrm>
                <a:off x="7252747" y="1535895"/>
                <a:ext cx="3960000" cy="114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这通常指在系统内建立明确的、一对一的刚性关联（例如，将特定的工单需求与特定的采购订单或库存批次绑定）。 这种方式在供应稳定、需求明确时很有效，但缺乏弹性，无法应对波动。</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8" name="Title-2">
                <a:extLst>
                  <a:ext uri="{FF2B5EF4-FFF2-40B4-BE49-F238E27FC236}">
                    <a16:creationId xmlns:a16="http://schemas.microsoft.com/office/drawing/2014/main" id="{AB6BA471-DFF0-3288-8BCA-8E82C25AE295}"/>
                  </a:ext>
                </a:extLst>
              </p:cNvPr>
              <p:cNvSpPr>
                <a:spLocks/>
              </p:cNvSpPr>
              <p:nvPr>
                <p:custDataLst>
                  <p:tags r:id="rId9"/>
                </p:custDataLst>
              </p:nvPr>
            </p:nvSpPr>
            <p:spPr>
              <a:xfrm>
                <a:off x="7252747" y="1145011"/>
                <a:ext cx="3960000" cy="390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Pegging</a:t>
                </a:r>
                <a:r>
                  <a:rPr kumimoji="0" lang="zh-CN" altLang="en-US" sz="1800" b="1" i="0" u="none" strike="noStrike" kern="1200" cap="none" spc="0" normalizeH="0" baseline="0" noProof="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（刚性预留）：</a:t>
                </a:r>
                <a:endParaRPr kumimoji="0" lang="en-US" altLang="zh-CN" sz="1800" b="1" i="0" u="none" strike="noStrike" kern="1200" cap="none" spc="0" normalizeH="0" baseline="0" noProof="0" dirty="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89" name="Index-2">
                <a:extLst>
                  <a:ext uri="{FF2B5EF4-FFF2-40B4-BE49-F238E27FC236}">
                    <a16:creationId xmlns:a16="http://schemas.microsoft.com/office/drawing/2014/main" id="{7E44389C-1370-DB7E-04AB-A93A8E2CDC63}"/>
                  </a:ext>
                </a:extLst>
              </p:cNvPr>
              <p:cNvSpPr txBox="1"/>
              <p:nvPr>
                <p:custDataLst>
                  <p:tags r:id="rId10"/>
                </p:custDataLst>
              </p:nvPr>
            </p:nvSpPr>
            <p:spPr>
              <a:xfrm>
                <a:off x="6699312" y="1162806"/>
                <a:ext cx="253148" cy="415762"/>
              </a:xfrm>
              <a:prstGeom prst="rect">
                <a:avLst/>
              </a:prstGeom>
              <a:solidFill>
                <a:srgbClr val="EB7E3B"/>
              </a:solidFill>
              <a:effectLst/>
            </p:spPr>
            <p:txBody>
              <a:bodyPr wrap="none" rtlCol="0">
                <a:spAutoFit/>
              </a:bodyPr>
              <a:lstStyle>
                <a:defPPr>
                  <a:defRPr lang="zh-CN"/>
                </a:defPPr>
                <a:lvl1pPr algn="ctr">
                  <a:defRPr sz="2400" b="1">
                    <a:solidFill>
                      <a:srgbClr val="FFFFFF"/>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02</a:t>
                </a:r>
                <a:endPar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90" name="2">
                <a:extLst>
                  <a:ext uri="{FF2B5EF4-FFF2-40B4-BE49-F238E27FC236}">
                    <a16:creationId xmlns:a16="http://schemas.microsoft.com/office/drawing/2014/main" id="{B4B7D665-33A6-473B-2FBD-5B485F5F3C8F}"/>
                  </a:ext>
                </a:extLst>
              </p:cNvPr>
              <p:cNvCxnSpPr>
                <a:cxnSpLocks/>
              </p:cNvCxnSpPr>
              <p:nvPr>
                <p:custDataLst>
                  <p:tags r:id="rId11"/>
                </p:custDataLst>
              </p:nvPr>
            </p:nvCxnSpPr>
            <p:spPr>
              <a:xfrm>
                <a:off x="6669092" y="2673009"/>
                <a:ext cx="4877967"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960E7C05-30AA-C7DD-EFD4-984C4684C400}"/>
                </a:ext>
              </a:extLst>
            </p:cNvPr>
            <p:cNvGrpSpPr>
              <a:grpSpLocks/>
            </p:cNvGrpSpPr>
            <p:nvPr/>
          </p:nvGrpSpPr>
          <p:grpSpPr>
            <a:xfrm>
              <a:off x="1089730" y="5286924"/>
              <a:ext cx="4884456" cy="1538840"/>
              <a:chOff x="6662604" y="2859140"/>
              <a:chExt cx="4884456" cy="1538840"/>
            </a:xfrm>
          </p:grpSpPr>
          <p:sp>
            <p:nvSpPr>
              <p:cNvPr id="81" name="3">
                <a:extLst>
                  <a:ext uri="{FF2B5EF4-FFF2-40B4-BE49-F238E27FC236}">
                    <a16:creationId xmlns:a16="http://schemas.microsoft.com/office/drawing/2014/main" id="{8F9825C3-30F5-242F-4F01-CFB053574DF2}"/>
                  </a:ext>
                </a:extLst>
              </p:cNvPr>
              <p:cNvSpPr/>
              <p:nvPr>
                <p:custDataLst>
                  <p:tags r:id="rId2"/>
                </p:custDataLst>
              </p:nvPr>
            </p:nvSpPr>
            <p:spPr>
              <a:xfrm>
                <a:off x="6669063" y="2860122"/>
                <a:ext cx="4863526" cy="1537858"/>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82" name="Title-3">
                <a:extLst>
                  <a:ext uri="{FF2B5EF4-FFF2-40B4-BE49-F238E27FC236}">
                    <a16:creationId xmlns:a16="http://schemas.microsoft.com/office/drawing/2014/main" id="{CCB79643-55AD-EB3C-2542-15D130273D58}"/>
                  </a:ext>
                </a:extLst>
              </p:cNvPr>
              <p:cNvSpPr>
                <a:spLocks/>
              </p:cNvSpPr>
              <p:nvPr>
                <p:custDataLst>
                  <p:tags r:id="rId3"/>
                </p:custDataLst>
              </p:nvPr>
            </p:nvSpPr>
            <p:spPr>
              <a:xfrm>
                <a:off x="7252747" y="2859140"/>
                <a:ext cx="3960000" cy="3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A5A5A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资源置换（</a:t>
                </a:r>
                <a:r>
                  <a:rPr kumimoji="0" lang="en-US" altLang="zh-CN" sz="1800" b="1" i="0" u="none" strike="noStrike" kern="1200" cap="none" spc="0" normalizeH="0" baseline="0" noProof="0">
                    <a:ln>
                      <a:noFill/>
                    </a:ln>
                    <a:solidFill>
                      <a:srgbClr val="A5A5A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Resource Replacement / Swapping</a:t>
                </a:r>
                <a:r>
                  <a:rPr kumimoji="0" lang="zh-CN" altLang="en-US" sz="1800" b="1" i="0" u="none" strike="noStrike" kern="1200" cap="none" spc="0" normalizeH="0" baseline="0" noProof="0">
                    <a:ln>
                      <a:noFill/>
                    </a:ln>
                    <a:solidFill>
                      <a:srgbClr val="A5A5A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endParaRPr kumimoji="0" lang="en-US" altLang="zh-CN" sz="1800" b="1" i="0" u="none" strike="noStrike" kern="1200" cap="none" spc="0" normalizeH="0" baseline="0" noProof="0" dirty="0">
                  <a:ln>
                    <a:noFill/>
                  </a:ln>
                  <a:solidFill>
                    <a:srgbClr val="A5A5A5"/>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83" name="Body-3">
                <a:extLst>
                  <a:ext uri="{FF2B5EF4-FFF2-40B4-BE49-F238E27FC236}">
                    <a16:creationId xmlns:a16="http://schemas.microsoft.com/office/drawing/2014/main" id="{54C9E8B8-BDDD-F506-40D6-180953C56C12}"/>
                  </a:ext>
                </a:extLst>
              </p:cNvPr>
              <p:cNvSpPr>
                <a:spLocks/>
              </p:cNvSpPr>
              <p:nvPr>
                <p:custDataLst>
                  <p:tags r:id="rId4"/>
                </p:custDataLst>
              </p:nvPr>
            </p:nvSpPr>
            <p:spPr>
              <a:xfrm>
                <a:off x="7252747" y="3251089"/>
                <a:ext cx="3960000" cy="1146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2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这指的是一种计划调整策略。当有更高优先级的任务（如紧急插单）进入时，不是简单地将它塞进现有计划导致所有后续计划顺延，而是评估当前已分配的资源，选择性地将较低优先级的任务所占用的资源（如机器时间段、物料）释放出来，分配给这个高优先级任务。 被置换出来的任务则重新进行排期。这样做的好处是能够最大限度地控制紧急插单对整体计划产生的“涟漪效应”</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4" name="Index-3">
                <a:extLst>
                  <a:ext uri="{FF2B5EF4-FFF2-40B4-BE49-F238E27FC236}">
                    <a16:creationId xmlns:a16="http://schemas.microsoft.com/office/drawing/2014/main" id="{9D5AC49B-8D0A-D943-3726-732F9D4F2886}"/>
                  </a:ext>
                </a:extLst>
              </p:cNvPr>
              <p:cNvSpPr txBox="1"/>
              <p:nvPr>
                <p:custDataLst>
                  <p:tags r:id="rId5"/>
                </p:custDataLst>
              </p:nvPr>
            </p:nvSpPr>
            <p:spPr>
              <a:xfrm>
                <a:off x="6662604" y="2860122"/>
                <a:ext cx="253148" cy="415762"/>
              </a:xfrm>
              <a:prstGeom prst="rect">
                <a:avLst/>
              </a:prstGeom>
              <a:solidFill>
                <a:schemeClr val="accent3"/>
              </a:solidFill>
              <a:effectLst/>
            </p:spPr>
            <p:txBody>
              <a:bodyPr wrap="none" rtlCol="0">
                <a:spAutoFit/>
              </a:bodyPr>
              <a:lstStyle>
                <a:defPPr>
                  <a:defRPr lang="zh-CN"/>
                </a:defPPr>
                <a:lvl1pPr algn="ctr">
                  <a:defRPr sz="2800" b="1">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03</a:t>
                </a:r>
                <a:endPar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5" name="3">
                <a:extLst>
                  <a:ext uri="{FF2B5EF4-FFF2-40B4-BE49-F238E27FC236}">
                    <a16:creationId xmlns:a16="http://schemas.microsoft.com/office/drawing/2014/main" id="{ABD822B8-168C-046B-171F-CECE29044428}"/>
                  </a:ext>
                </a:extLst>
              </p:cNvPr>
              <p:cNvCxnSpPr>
                <a:cxnSpLocks/>
              </p:cNvCxnSpPr>
              <p:nvPr>
                <p:custDataLst>
                  <p:tags r:id="rId6"/>
                </p:custDataLst>
              </p:nvPr>
            </p:nvCxnSpPr>
            <p:spPr>
              <a:xfrm flipV="1">
                <a:off x="6674127" y="4383418"/>
                <a:ext cx="4872933" cy="1456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84067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p:cNvSpPr>
            <a:spLocks noGrp="1"/>
          </p:cNvSpPr>
          <p:nvPr>
            <p:ph type="title" idx="4294967295"/>
          </p:nvPr>
        </p:nvSpPr>
        <p:spPr>
          <a:xfrm>
            <a:off x="0" y="41275"/>
            <a:ext cx="11077575" cy="520700"/>
          </a:xfrm>
          <a:prstGeom prst="rect">
            <a:avLst/>
          </a:prstGeom>
        </p:spPr>
        <p:txBody>
          <a:bodyPr vert="horz" lIns="91440" tIns="45720" rIns="91440" bIns="45720" rtlCol="0" anchor="b">
            <a:normAutofit/>
          </a:bodyPr>
          <a:lstStyle/>
          <a:p>
            <a:r>
              <a:rPr lang="en-US" altLang="zh-CN" sz="2400" dirty="0">
                <a:solidFill>
                  <a:schemeClr val="tx1"/>
                </a:solidFill>
                <a:latin typeface="Arial" panose="020B0604020202020204" pitchFamily="34" charset="0"/>
                <a:ea typeface="微软雅黑" panose="020B0503020204020204" pitchFamily="34" charset="-122"/>
              </a:rPr>
              <a:t>IOP – </a:t>
            </a:r>
            <a:r>
              <a:rPr kumimoji="0" lang="en-US" altLang="zh-CN"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j-cs"/>
              </a:rPr>
              <a:t>IPS </a:t>
            </a:r>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j-cs"/>
              </a:rPr>
              <a:t>情景演示</a:t>
            </a:r>
            <a:endParaRPr lang="en-US" altLang="zh-CN" sz="2400" dirty="0">
              <a:solidFill>
                <a:schemeClr val="tx1"/>
              </a:solidFill>
              <a:latin typeface="Arial" panose="020B0604020202020204" pitchFamily="34" charset="0"/>
              <a:ea typeface="微软雅黑" panose="020B0503020204020204" pitchFamily="34" charset="-122"/>
            </a:endParaRPr>
          </a:p>
        </p:txBody>
      </p:sp>
      <p:sp>
        <p:nvSpPr>
          <p:cNvPr id="3" name="Freeform 8"/>
          <p:cNvSpPr/>
          <p:nvPr/>
        </p:nvSpPr>
        <p:spPr>
          <a:xfrm>
            <a:off x="4146551" y="1686984"/>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不同的供应和需求数据源</a:t>
            </a:r>
            <a:endParaRPr kumimoji="0" lang="en-US" altLang="zh-CN"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不同的供需匹配逻辑</a:t>
            </a:r>
            <a:endParaRPr kumimoji="0" 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
        <p:nvSpPr>
          <p:cNvPr id="4" name="Freeform 9"/>
          <p:cNvSpPr/>
          <p:nvPr/>
        </p:nvSpPr>
        <p:spPr>
          <a:xfrm>
            <a:off x="2006601" y="1585384"/>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anchor="ctr"/>
          <a:lstStyle/>
          <a:p>
            <a:pPr marL="0" marR="0" lvl="0" indent="0" algn="ctr" defTabSz="888978" rtl="0" eaLnBrk="1" fontAlgn="base" latinLnBrk="0" hangingPunct="1">
              <a:lnSpc>
                <a:spcPct val="90000"/>
              </a:lnSpc>
              <a:spcBef>
                <a:spcPct val="0"/>
              </a:spcBef>
              <a:spcAft>
                <a:spcPct val="3500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数据和逻辑不一致</a:t>
            </a:r>
            <a:endPar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Freeform 11"/>
          <p:cNvSpPr/>
          <p:nvPr/>
        </p:nvSpPr>
        <p:spPr>
          <a:xfrm>
            <a:off x="2006601" y="2643718"/>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2"/>
              </a:gs>
              <a:gs pos="100000">
                <a:schemeClr val="accent2">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#2</a:t>
            </a:r>
          </a:p>
        </p:txBody>
      </p:sp>
      <p:sp>
        <p:nvSpPr>
          <p:cNvPr id="6" name="Freeform 13"/>
          <p:cNvSpPr/>
          <p:nvPr/>
        </p:nvSpPr>
        <p:spPr>
          <a:xfrm>
            <a:off x="2006601" y="3702051"/>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3"/>
              </a:gs>
              <a:gs pos="100000">
                <a:schemeClr val="accent3">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#3</a:t>
            </a:r>
          </a:p>
        </p:txBody>
      </p:sp>
    </p:spTree>
    <p:extLst>
      <p:ext uri="{BB962C8B-B14F-4D97-AF65-F5344CB8AC3E}">
        <p14:creationId xmlns:p14="http://schemas.microsoft.com/office/powerpoint/2010/main" val="24730711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a:extLst>
              <a:ext uri="{C183D7F6-B498-43B3-948B-1728B52AA6E4}">
                <adec:decorative xmlns:adec="http://schemas.microsoft.com/office/drawing/2017/decorative" val="1"/>
              </a:ext>
            </a:extLst>
          </p:cNvPr>
          <p:cNvCxnSpPr/>
          <p:nvPr/>
        </p:nvCxnSpPr>
        <p:spPr>
          <a:xfrm>
            <a:off x="1227667" y="3378200"/>
            <a:ext cx="93345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descr="Date"/>
          <p:cNvCxnSpPr>
            <a:stCxn id="26631" idx="2"/>
          </p:cNvCxnSpPr>
          <p:nvPr/>
        </p:nvCxnSpPr>
        <p:spPr>
          <a:xfrm flipH="1">
            <a:off x="4320117" y="2659544"/>
            <a:ext cx="1" cy="69325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a:cxnSpLocks/>
            <a:stCxn id="26632" idx="2"/>
          </p:cNvCxnSpPr>
          <p:nvPr/>
        </p:nvCxnSpPr>
        <p:spPr>
          <a:xfrm>
            <a:off x="6817785" y="2625315"/>
            <a:ext cx="0" cy="7528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p:nvPr/>
        </p:nvCxnSpPr>
        <p:spPr>
          <a:xfrm flipV="1">
            <a:off x="3266017" y="3378201"/>
            <a:ext cx="0" cy="6731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5"/>
          <p:cNvCxnSpPr/>
          <p:nvPr/>
        </p:nvCxnSpPr>
        <p:spPr>
          <a:xfrm flipV="1">
            <a:off x="3266017" y="4254500"/>
            <a:ext cx="0" cy="6709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631" name="矩形 27"/>
          <p:cNvSpPr/>
          <p:nvPr/>
        </p:nvSpPr>
        <p:spPr>
          <a:xfrm>
            <a:off x="3600451" y="2290234"/>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6632" name="矩形 38"/>
          <p:cNvSpPr/>
          <p:nvPr/>
        </p:nvSpPr>
        <p:spPr>
          <a:xfrm>
            <a:off x="6098118" y="2256005"/>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6633" name="矩形 28"/>
          <p:cNvSpPr/>
          <p:nvPr/>
        </p:nvSpPr>
        <p:spPr>
          <a:xfrm>
            <a:off x="1682751" y="3570817"/>
            <a:ext cx="1392767"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6634" name="矩形 41"/>
          <p:cNvSpPr/>
          <p:nvPr/>
        </p:nvSpPr>
        <p:spPr>
          <a:xfrm>
            <a:off x="1682751" y="4385733"/>
            <a:ext cx="1392767"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Line 58"/>
          <p:cNvSpPr/>
          <p:nvPr/>
        </p:nvSpPr>
        <p:spPr>
          <a:xfrm flipH="1">
            <a:off x="3266018" y="2995085"/>
            <a:ext cx="3551767" cy="781049"/>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Line 58"/>
          <p:cNvSpPr/>
          <p:nvPr/>
        </p:nvSpPr>
        <p:spPr>
          <a:xfrm flipH="1">
            <a:off x="3274485" y="2995084"/>
            <a:ext cx="3543300" cy="2224616"/>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矩形标注 12"/>
          <p:cNvSpPr/>
          <p:nvPr/>
        </p:nvSpPr>
        <p:spPr>
          <a:xfrm>
            <a:off x="6115051" y="1363133"/>
            <a:ext cx="1439333" cy="567267"/>
          </a:xfrm>
          <a:prstGeom prst="wedgeRectCallout">
            <a:avLst>
              <a:gd name="adj1" fmla="val 782"/>
              <a:gd name="adj2" fmla="val 9056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交付计划</a:t>
            </a:r>
          </a:p>
        </p:txBody>
      </p:sp>
      <p:sp>
        <p:nvSpPr>
          <p:cNvPr id="14" name="矩形标注 13"/>
          <p:cNvSpPr/>
          <p:nvPr/>
        </p:nvSpPr>
        <p:spPr>
          <a:xfrm>
            <a:off x="3562351" y="1422400"/>
            <a:ext cx="1439333" cy="508000"/>
          </a:xfrm>
          <a:prstGeom prst="wedgeRectCallout">
            <a:avLst>
              <a:gd name="adj1" fmla="val 782"/>
              <a:gd name="adj2" fmla="val 9056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交付计划</a:t>
            </a:r>
          </a:p>
        </p:txBody>
      </p:sp>
      <p:sp>
        <p:nvSpPr>
          <p:cNvPr id="15" name="Line 58"/>
          <p:cNvSpPr/>
          <p:nvPr/>
        </p:nvSpPr>
        <p:spPr>
          <a:xfrm flipH="1">
            <a:off x="3274484" y="2950633"/>
            <a:ext cx="1007533" cy="1651000"/>
          </a:xfrm>
          <a:prstGeom prst="line">
            <a:avLst/>
          </a:prstGeom>
          <a:ln w="9525" cap="flat" cmpd="sng">
            <a:solidFill>
              <a:schemeClr val="tx1"/>
            </a:solidFill>
            <a:prstDash val="dashDot"/>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6" name="Line 58"/>
          <p:cNvSpPr/>
          <p:nvPr/>
        </p:nvSpPr>
        <p:spPr>
          <a:xfrm flipH="1">
            <a:off x="3266018" y="2971801"/>
            <a:ext cx="999065" cy="804332"/>
          </a:xfrm>
          <a:prstGeom prst="line">
            <a:avLst/>
          </a:prstGeom>
          <a:ln w="9525" cap="flat" cmpd="sng">
            <a:solidFill>
              <a:schemeClr val="tx1"/>
            </a:solidFill>
            <a:prstDash val="solid"/>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Line 58"/>
          <p:cNvSpPr/>
          <p:nvPr/>
        </p:nvSpPr>
        <p:spPr>
          <a:xfrm flipH="1">
            <a:off x="3266018" y="2940049"/>
            <a:ext cx="1007533" cy="1651001"/>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 name="矩形标注 17"/>
          <p:cNvSpPr/>
          <p:nvPr/>
        </p:nvSpPr>
        <p:spPr>
          <a:xfrm>
            <a:off x="3562351" y="1420408"/>
            <a:ext cx="1439333" cy="510117"/>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4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19" name="TextBox 74"/>
          <p:cNvSpPr txBox="1"/>
          <p:nvPr/>
        </p:nvSpPr>
        <p:spPr>
          <a:xfrm>
            <a:off x="8303683" y="2044013"/>
            <a:ext cx="4188884"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生产计划：</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立即安排生产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p>
        </p:txBody>
      </p:sp>
      <p:cxnSp>
        <p:nvCxnSpPr>
          <p:cNvPr id="20" name="直接连接符 7"/>
          <p:cNvCxnSpPr/>
          <p:nvPr/>
        </p:nvCxnSpPr>
        <p:spPr>
          <a:xfrm>
            <a:off x="5541433" y="132926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圆角矩形标注 20"/>
          <p:cNvSpPr/>
          <p:nvPr/>
        </p:nvSpPr>
        <p:spPr>
          <a:xfrm>
            <a:off x="5651501" y="5372100"/>
            <a:ext cx="1392767" cy="609600"/>
          </a:xfrm>
          <a:prstGeom prst="wedgeRoundRectCallout">
            <a:avLst>
              <a:gd name="adj1" fmla="val -56580"/>
              <a:gd name="adj2" fmla="val -105809"/>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黑体" panose="02010609060101010101" charset="-122"/>
              </a:rPr>
              <a:t>生产计划窗口</a:t>
            </a:r>
          </a:p>
        </p:txBody>
      </p:sp>
      <p:sp>
        <p:nvSpPr>
          <p:cNvPr id="22" name="圆角矩形 21"/>
          <p:cNvSpPr/>
          <p:nvPr/>
        </p:nvSpPr>
        <p:spPr>
          <a:xfrm>
            <a:off x="7808382" y="3784600"/>
            <a:ext cx="4001495" cy="11641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需求范围不一致引发交付和生产矛盾：</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a:p>
            <a:pPr marL="742950" marR="0" lvl="1"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交付计划考虑所有订单</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a:p>
            <a:pPr marL="742950" marR="0" lvl="1"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生产计划只考虑近期会发的订单</a:t>
            </a:r>
          </a:p>
        </p:txBody>
      </p:sp>
      <p:sp>
        <p:nvSpPr>
          <p:cNvPr id="23" name="TextBox 39"/>
          <p:cNvSpPr txBox="1"/>
          <p:nvPr/>
        </p:nvSpPr>
        <p:spPr>
          <a:xfrm>
            <a:off x="3233699" y="3510342"/>
            <a:ext cx="1568045" cy="369310"/>
          </a:xfrm>
          <a:prstGeom prst="rect">
            <a:avLst/>
          </a:prstGeom>
          <a:noFill/>
          <a:scene3d>
            <a:camera prst="orthographicFront">
              <a:rot lat="1195241" lon="109017" rev="361914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unkitted</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6648" name="Title 44"/>
          <p:cNvSpPr>
            <a:spLocks noGrp="1"/>
          </p:cNvSpPr>
          <p:nvPr>
            <p:ph type="title" idx="4294967295"/>
          </p:nvPr>
        </p:nvSpPr>
        <p:spPr>
          <a:xfrm>
            <a:off x="1116013" y="165100"/>
            <a:ext cx="11075987" cy="520700"/>
          </a:xfrm>
          <a:prstGeom prst="rect">
            <a:avLst/>
          </a:prstGeom>
        </p:spPr>
        <p:txBody>
          <a:bodyPr vert="horz" lIns="91440" tIns="45720" rIns="91440" bIns="45720" rtlCol="0" anchor="b">
            <a:normAutofit/>
          </a:bodyPr>
          <a:lstStyle/>
          <a:p>
            <a:r>
              <a:rPr lang="zh-CN" altLang="en-US" sz="2400" dirty="0">
                <a:solidFill>
                  <a:schemeClr val="tx1"/>
                </a:solidFill>
                <a:latin typeface="Arial" panose="020B0604020202020204" pitchFamily="34" charset="0"/>
                <a:ea typeface="微软雅黑" panose="020B0503020204020204" pitchFamily="34" charset="-122"/>
              </a:rPr>
              <a:t>场景</a:t>
            </a:r>
            <a:r>
              <a:rPr lang="en-US" altLang="zh-CN" sz="2400" dirty="0">
                <a:solidFill>
                  <a:schemeClr val="tx1"/>
                </a:solidFill>
                <a:latin typeface="Arial" panose="020B0604020202020204" pitchFamily="34" charset="0"/>
                <a:ea typeface="微软雅黑" panose="020B0503020204020204" pitchFamily="34" charset="-122"/>
              </a:rPr>
              <a:t> #1: </a:t>
            </a:r>
            <a:r>
              <a:rPr lang="zh-CN" altLang="en-US" dirty="0">
                <a:latin typeface="Arial" panose="020B0604020202020204" pitchFamily="34" charset="0"/>
                <a:ea typeface="微软雅黑" panose="020B0503020204020204" pitchFamily="34" charset="-122"/>
              </a:rPr>
              <a:t>挑战</a:t>
            </a:r>
            <a:r>
              <a:rPr lang="en-US" altLang="zh-CN" sz="2400" dirty="0">
                <a:solidFill>
                  <a:schemeClr val="tx1"/>
                </a:solidFill>
                <a:latin typeface="Arial" panose="020B0604020202020204" pitchFamily="34" charset="0"/>
                <a:ea typeface="微软雅黑" panose="020B0503020204020204" pitchFamily="34" charset="-122"/>
              </a:rPr>
              <a:t> A</a:t>
            </a:r>
          </a:p>
        </p:txBody>
      </p:sp>
      <p:sp>
        <p:nvSpPr>
          <p:cNvPr id="26649" name="矩形 41"/>
          <p:cNvSpPr/>
          <p:nvPr/>
        </p:nvSpPr>
        <p:spPr>
          <a:xfrm>
            <a:off x="1682751" y="5120217"/>
            <a:ext cx="1392767"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6" name="直接箭头连接符 35"/>
          <p:cNvCxnSpPr/>
          <p:nvPr/>
        </p:nvCxnSpPr>
        <p:spPr>
          <a:xfrm flipV="1">
            <a:off x="3274484" y="5005917"/>
            <a:ext cx="0" cy="6709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33"/>
          <p:cNvSpPr txBox="1"/>
          <p:nvPr/>
        </p:nvSpPr>
        <p:spPr>
          <a:xfrm>
            <a:off x="8303683" y="844651"/>
            <a:ext cx="4188884"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Order No Supply</a:t>
            </a: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在</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Day11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a:t>
            </a:r>
          </a:p>
        </p:txBody>
      </p:sp>
      <p:sp>
        <p:nvSpPr>
          <p:cNvPr id="26652" name="文本框 1"/>
          <p:cNvSpPr txBox="1"/>
          <p:nvPr/>
        </p:nvSpPr>
        <p:spPr>
          <a:xfrm>
            <a:off x="3522134" y="9165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10</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6653" name="文本框 1"/>
          <p:cNvSpPr txBox="1"/>
          <p:nvPr/>
        </p:nvSpPr>
        <p:spPr>
          <a:xfrm>
            <a:off x="6060018" y="889001"/>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6654" name="TextBox 30"/>
          <p:cNvSpPr txBox="1"/>
          <p:nvPr/>
        </p:nvSpPr>
        <p:spPr>
          <a:xfrm>
            <a:off x="252943" y="880502"/>
            <a:ext cx="3159124"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1" name="TextBox 34"/>
          <p:cNvSpPr txBox="1"/>
          <p:nvPr/>
        </p:nvSpPr>
        <p:spPr>
          <a:xfrm>
            <a:off x="4396318" y="1898651"/>
            <a:ext cx="2377017" cy="338554"/>
          </a:xfrm>
          <a:prstGeom prst="rect">
            <a:avLst/>
          </a:prstGeom>
          <a:noFill/>
        </p:spPr>
        <p:txBody>
          <a:bodyP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需求发货日期</a:t>
            </a:r>
            <a:endParaRPr kumimoji="0" 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2" name="Line 58"/>
          <p:cNvSpPr/>
          <p:nvPr/>
        </p:nvSpPr>
        <p:spPr>
          <a:xfrm flipH="1">
            <a:off x="3274485" y="2989109"/>
            <a:ext cx="967316" cy="781049"/>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564FB8C1-EF05-73E2-E404-CFB9DFBD6372}"/>
              </a:ext>
            </a:extLst>
          </p:cNvPr>
          <p:cNvSpPr txBox="1"/>
          <p:nvPr/>
        </p:nvSpPr>
        <p:spPr>
          <a:xfrm>
            <a:off x="10650574" y="3141010"/>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E3E7F2">
                    <a:lumMod val="60000"/>
                    <a:lumOff val="40000"/>
                  </a:srgbClr>
                </a:solidFill>
                <a:effectLst/>
                <a:uLnTx/>
                <a:uFillTx/>
                <a:latin typeface="Arial" panose="020B0604020202020204" pitchFamily="34" charset="0"/>
                <a:ea typeface="微软雅黑" panose="020B0503020204020204" pitchFamily="34" charset="-122"/>
                <a:cs typeface="+mn-cs"/>
              </a:rPr>
              <a:t>需求日期</a:t>
            </a:r>
          </a:p>
        </p:txBody>
      </p:sp>
    </p:spTree>
    <p:custDataLst>
      <p:tags r:id="rId1"/>
    </p:custDataLst>
    <p:extLst>
      <p:ext uri="{BB962C8B-B14F-4D97-AF65-F5344CB8AC3E}">
        <p14:creationId xmlns:p14="http://schemas.microsoft.com/office/powerpoint/2010/main" val="123977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23" presetClass="entr" presetSubtype="16"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childTnLst>
                                </p:cTn>
                              </p:par>
                              <p:par>
                                <p:cTn id="15" presetID="23" presetClass="entr" presetSubtype="16"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23" presetClass="entr" presetSubtype="16"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p:cTn id="30" dur="500" fill="hold"/>
                                        <p:tgtEl>
                                          <p:spTgt spid="32"/>
                                        </p:tgtEl>
                                        <p:attrNameLst>
                                          <p:attrName>ppt_w</p:attrName>
                                        </p:attrNameLst>
                                      </p:cBhvr>
                                      <p:tavLst>
                                        <p:tav tm="0">
                                          <p:val>
                                            <p:fltVal val="0"/>
                                          </p:val>
                                        </p:tav>
                                        <p:tav tm="100000">
                                          <p:val>
                                            <p:strVal val="#ppt_w"/>
                                          </p:val>
                                        </p:tav>
                                      </p:tavLst>
                                    </p:anim>
                                    <p:anim calcmode="lin" valueType="num">
                                      <p:cBhvr>
                                        <p:cTn id="31" dur="500" fill="hold"/>
                                        <p:tgtEl>
                                          <p:spTgt spid="32"/>
                                        </p:tgtEl>
                                        <p:attrNameLst>
                                          <p:attrName>ppt_h</p:attrName>
                                        </p:attrNameLst>
                                      </p:cBhvr>
                                      <p:tavLst>
                                        <p:tav tm="0">
                                          <p:val>
                                            <p:fltVal val="0"/>
                                          </p:val>
                                        </p:tav>
                                        <p:tav tm="100000">
                                          <p:val>
                                            <p:strVal val="#ppt_h"/>
                                          </p:val>
                                        </p:tav>
                                      </p:tavLst>
                                    </p:anim>
                                  </p:childTnLst>
                                </p:cTn>
                              </p:par>
                              <p:par>
                                <p:cTn id="32" presetID="22" presetClass="entr" presetSubtype="4"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down)">
                                      <p:cBhvr>
                                        <p:cTn id="34" dur="500"/>
                                        <p:tgtEl>
                                          <p:spTgt spid="2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linds(horizont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xit" presetSubtype="0" fill="hold" grpId="1" nodeType="clickEffect">
                                  <p:stCondLst>
                                    <p:cond delay="0"/>
                                  </p:stCondLst>
                                  <p:childTnLst>
                                    <p:anim calcmode="lin" valueType="num">
                                      <p:cBhvr>
                                        <p:cTn id="41" dur="1000"/>
                                        <p:tgtEl>
                                          <p:spTgt spid="13"/>
                                        </p:tgtEl>
                                        <p:attrNameLst>
                                          <p:attrName>ppt_w</p:attrName>
                                        </p:attrNameLst>
                                      </p:cBhvr>
                                      <p:tavLst>
                                        <p:tav tm="0">
                                          <p:val>
                                            <p:strVal val="ppt_w"/>
                                          </p:val>
                                        </p:tav>
                                        <p:tav tm="100000">
                                          <p:val>
                                            <p:fltVal val="0"/>
                                          </p:val>
                                        </p:tav>
                                      </p:tavLst>
                                    </p:anim>
                                    <p:anim calcmode="lin" valueType="num">
                                      <p:cBhvr>
                                        <p:cTn id="42" dur="1000"/>
                                        <p:tgtEl>
                                          <p:spTgt spid="13"/>
                                        </p:tgtEl>
                                        <p:attrNameLst>
                                          <p:attrName>ppt_h</p:attrName>
                                        </p:attrNameLst>
                                      </p:cBhvr>
                                      <p:tavLst>
                                        <p:tav tm="0">
                                          <p:val>
                                            <p:strVal val="ppt_h"/>
                                          </p:val>
                                        </p:tav>
                                        <p:tav tm="100000">
                                          <p:val>
                                            <p:fltVal val="0"/>
                                          </p:val>
                                        </p:tav>
                                      </p:tavLst>
                                    </p:anim>
                                    <p:anim calcmode="lin" valueType="num">
                                      <p:cBhvr>
                                        <p:cTn id="43" dur="1000"/>
                                        <p:tgtEl>
                                          <p:spTgt spid="13"/>
                                        </p:tgtEl>
                                        <p:attrNameLst>
                                          <p:attrName>style.rotation</p:attrName>
                                        </p:attrNameLst>
                                      </p:cBhvr>
                                      <p:tavLst>
                                        <p:tav tm="0">
                                          <p:val>
                                            <p:fltVal val="0"/>
                                          </p:val>
                                        </p:tav>
                                        <p:tav tm="100000">
                                          <p:val>
                                            <p:fltVal val="90"/>
                                          </p:val>
                                        </p:tav>
                                      </p:tavLst>
                                    </p:anim>
                                    <p:animEffect transition="out" filter="fade">
                                      <p:cBhvr>
                                        <p:cTn id="44" dur="1000"/>
                                        <p:tgtEl>
                                          <p:spTgt spid="13"/>
                                        </p:tgtEl>
                                      </p:cBhvr>
                                    </p:animEffect>
                                    <p:set>
                                      <p:cBhvr>
                                        <p:cTn id="45" dur="1" fill="hold">
                                          <p:stCondLst>
                                            <p:cond delay="999"/>
                                          </p:stCondLst>
                                        </p:cTn>
                                        <p:tgtEl>
                                          <p:spTgt spid="13"/>
                                        </p:tgtEl>
                                        <p:attrNameLst>
                                          <p:attrName>style.visibility</p:attrName>
                                        </p:attrNameLst>
                                      </p:cBhvr>
                                      <p:to>
                                        <p:strVal val="hidden"/>
                                      </p:to>
                                    </p:set>
                                  </p:childTnLst>
                                </p:cTn>
                              </p:par>
                              <p:par>
                                <p:cTn id="46" presetID="31" presetClass="exit" presetSubtype="0" fill="hold" nodeType="withEffect">
                                  <p:stCondLst>
                                    <p:cond delay="0"/>
                                  </p:stCondLst>
                                  <p:childTnLst>
                                    <p:anim calcmode="lin" valueType="num">
                                      <p:cBhvr>
                                        <p:cTn id="47" dur="1000"/>
                                        <p:tgtEl>
                                          <p:spTgt spid="32"/>
                                        </p:tgtEl>
                                        <p:attrNameLst>
                                          <p:attrName>ppt_w</p:attrName>
                                        </p:attrNameLst>
                                      </p:cBhvr>
                                      <p:tavLst>
                                        <p:tav tm="0">
                                          <p:val>
                                            <p:strVal val="ppt_w"/>
                                          </p:val>
                                        </p:tav>
                                        <p:tav tm="100000">
                                          <p:val>
                                            <p:fltVal val="0"/>
                                          </p:val>
                                        </p:tav>
                                      </p:tavLst>
                                    </p:anim>
                                    <p:anim calcmode="lin" valueType="num">
                                      <p:cBhvr>
                                        <p:cTn id="48" dur="1000"/>
                                        <p:tgtEl>
                                          <p:spTgt spid="32"/>
                                        </p:tgtEl>
                                        <p:attrNameLst>
                                          <p:attrName>ppt_h</p:attrName>
                                        </p:attrNameLst>
                                      </p:cBhvr>
                                      <p:tavLst>
                                        <p:tav tm="0">
                                          <p:val>
                                            <p:strVal val="ppt_h"/>
                                          </p:val>
                                        </p:tav>
                                        <p:tav tm="100000">
                                          <p:val>
                                            <p:fltVal val="0"/>
                                          </p:val>
                                        </p:tav>
                                      </p:tavLst>
                                    </p:anim>
                                    <p:anim calcmode="lin" valueType="num">
                                      <p:cBhvr>
                                        <p:cTn id="49" dur="1000"/>
                                        <p:tgtEl>
                                          <p:spTgt spid="32"/>
                                        </p:tgtEl>
                                        <p:attrNameLst>
                                          <p:attrName>style.rotation</p:attrName>
                                        </p:attrNameLst>
                                      </p:cBhvr>
                                      <p:tavLst>
                                        <p:tav tm="0">
                                          <p:val>
                                            <p:fltVal val="0"/>
                                          </p:val>
                                        </p:tav>
                                        <p:tav tm="100000">
                                          <p:val>
                                            <p:fltVal val="90"/>
                                          </p:val>
                                        </p:tav>
                                      </p:tavLst>
                                    </p:anim>
                                    <p:animEffect transition="out" filter="fade">
                                      <p:cBhvr>
                                        <p:cTn id="50" dur="1000"/>
                                        <p:tgtEl>
                                          <p:spTgt spid="32"/>
                                        </p:tgtEl>
                                      </p:cBhvr>
                                    </p:animEffect>
                                    <p:set>
                                      <p:cBhvr>
                                        <p:cTn id="51" dur="1" fill="hold">
                                          <p:stCondLst>
                                            <p:cond delay="999"/>
                                          </p:stCondLst>
                                        </p:cTn>
                                        <p:tgtEl>
                                          <p:spTgt spid="32"/>
                                        </p:tgtEl>
                                        <p:attrNameLst>
                                          <p:attrName>style.visibility</p:attrName>
                                        </p:attrNameLst>
                                      </p:cBhvr>
                                      <p:to>
                                        <p:strVal val="hidden"/>
                                      </p:to>
                                    </p:set>
                                  </p:childTnLst>
                                </p:cTn>
                              </p:par>
                              <p:par>
                                <p:cTn id="52" presetID="31" presetClass="exit" presetSubtype="0" fill="hold" nodeType="withEffect">
                                  <p:stCondLst>
                                    <p:cond delay="0"/>
                                  </p:stCondLst>
                                  <p:childTnLst>
                                    <p:anim calcmode="lin" valueType="num">
                                      <p:cBhvr>
                                        <p:cTn id="53" dur="1000"/>
                                        <p:tgtEl>
                                          <p:spTgt spid="11"/>
                                        </p:tgtEl>
                                        <p:attrNameLst>
                                          <p:attrName>ppt_w</p:attrName>
                                        </p:attrNameLst>
                                      </p:cBhvr>
                                      <p:tavLst>
                                        <p:tav tm="0">
                                          <p:val>
                                            <p:strVal val="ppt_w"/>
                                          </p:val>
                                        </p:tav>
                                        <p:tav tm="100000">
                                          <p:val>
                                            <p:fltVal val="0"/>
                                          </p:val>
                                        </p:tav>
                                      </p:tavLst>
                                    </p:anim>
                                    <p:anim calcmode="lin" valueType="num">
                                      <p:cBhvr>
                                        <p:cTn id="54" dur="1000"/>
                                        <p:tgtEl>
                                          <p:spTgt spid="11"/>
                                        </p:tgtEl>
                                        <p:attrNameLst>
                                          <p:attrName>ppt_h</p:attrName>
                                        </p:attrNameLst>
                                      </p:cBhvr>
                                      <p:tavLst>
                                        <p:tav tm="0">
                                          <p:val>
                                            <p:strVal val="ppt_h"/>
                                          </p:val>
                                        </p:tav>
                                        <p:tav tm="100000">
                                          <p:val>
                                            <p:fltVal val="0"/>
                                          </p:val>
                                        </p:tav>
                                      </p:tavLst>
                                    </p:anim>
                                    <p:anim calcmode="lin" valueType="num">
                                      <p:cBhvr>
                                        <p:cTn id="55" dur="1000"/>
                                        <p:tgtEl>
                                          <p:spTgt spid="11"/>
                                        </p:tgtEl>
                                        <p:attrNameLst>
                                          <p:attrName>style.rotation</p:attrName>
                                        </p:attrNameLst>
                                      </p:cBhvr>
                                      <p:tavLst>
                                        <p:tav tm="0">
                                          <p:val>
                                            <p:fltVal val="0"/>
                                          </p:val>
                                        </p:tav>
                                        <p:tav tm="100000">
                                          <p:val>
                                            <p:fltVal val="90"/>
                                          </p:val>
                                        </p:tav>
                                      </p:tavLst>
                                    </p:anim>
                                    <p:animEffect transition="out" filter="fade">
                                      <p:cBhvr>
                                        <p:cTn id="56" dur="1000"/>
                                        <p:tgtEl>
                                          <p:spTgt spid="11"/>
                                        </p:tgtEl>
                                      </p:cBhvr>
                                    </p:animEffect>
                                    <p:set>
                                      <p:cBhvr>
                                        <p:cTn id="57" dur="1" fill="hold">
                                          <p:stCondLst>
                                            <p:cond delay="999"/>
                                          </p:stCondLst>
                                        </p:cTn>
                                        <p:tgtEl>
                                          <p:spTgt spid="11"/>
                                        </p:tgtEl>
                                        <p:attrNameLst>
                                          <p:attrName>style.visibility</p:attrName>
                                        </p:attrNameLst>
                                      </p:cBhvr>
                                      <p:to>
                                        <p:strVal val="hidden"/>
                                      </p:to>
                                    </p:set>
                                  </p:childTnLst>
                                </p:cTn>
                              </p:par>
                              <p:par>
                                <p:cTn id="58" presetID="31" presetClass="exit" presetSubtype="0" fill="hold" nodeType="withEffect">
                                  <p:stCondLst>
                                    <p:cond delay="0"/>
                                  </p:stCondLst>
                                  <p:childTnLst>
                                    <p:anim calcmode="lin" valueType="num">
                                      <p:cBhvr>
                                        <p:cTn id="59" dur="1000"/>
                                        <p:tgtEl>
                                          <p:spTgt spid="12"/>
                                        </p:tgtEl>
                                        <p:attrNameLst>
                                          <p:attrName>ppt_w</p:attrName>
                                        </p:attrNameLst>
                                      </p:cBhvr>
                                      <p:tavLst>
                                        <p:tav tm="0">
                                          <p:val>
                                            <p:strVal val="ppt_w"/>
                                          </p:val>
                                        </p:tav>
                                        <p:tav tm="100000">
                                          <p:val>
                                            <p:fltVal val="0"/>
                                          </p:val>
                                        </p:tav>
                                      </p:tavLst>
                                    </p:anim>
                                    <p:anim calcmode="lin" valueType="num">
                                      <p:cBhvr>
                                        <p:cTn id="60" dur="1000"/>
                                        <p:tgtEl>
                                          <p:spTgt spid="12"/>
                                        </p:tgtEl>
                                        <p:attrNameLst>
                                          <p:attrName>ppt_h</p:attrName>
                                        </p:attrNameLst>
                                      </p:cBhvr>
                                      <p:tavLst>
                                        <p:tav tm="0">
                                          <p:val>
                                            <p:strVal val="ppt_h"/>
                                          </p:val>
                                        </p:tav>
                                        <p:tav tm="100000">
                                          <p:val>
                                            <p:fltVal val="0"/>
                                          </p:val>
                                        </p:tav>
                                      </p:tavLst>
                                    </p:anim>
                                    <p:anim calcmode="lin" valueType="num">
                                      <p:cBhvr>
                                        <p:cTn id="61" dur="1000"/>
                                        <p:tgtEl>
                                          <p:spTgt spid="12"/>
                                        </p:tgtEl>
                                        <p:attrNameLst>
                                          <p:attrName>style.rotation</p:attrName>
                                        </p:attrNameLst>
                                      </p:cBhvr>
                                      <p:tavLst>
                                        <p:tav tm="0">
                                          <p:val>
                                            <p:fltVal val="0"/>
                                          </p:val>
                                        </p:tav>
                                        <p:tav tm="100000">
                                          <p:val>
                                            <p:fltVal val="90"/>
                                          </p:val>
                                        </p:tav>
                                      </p:tavLst>
                                    </p:anim>
                                    <p:animEffect transition="out" filter="fade">
                                      <p:cBhvr>
                                        <p:cTn id="62" dur="1000"/>
                                        <p:tgtEl>
                                          <p:spTgt spid="12"/>
                                        </p:tgtEl>
                                      </p:cBhvr>
                                    </p:animEffect>
                                    <p:set>
                                      <p:cBhvr>
                                        <p:cTn id="63" dur="1" fill="hold">
                                          <p:stCondLst>
                                            <p:cond delay="999"/>
                                          </p:stCondLst>
                                        </p:cTn>
                                        <p:tgtEl>
                                          <p:spTgt spid="12"/>
                                        </p:tgtEl>
                                        <p:attrNameLst>
                                          <p:attrName>style.visibility</p:attrName>
                                        </p:attrNameLst>
                                      </p:cBhvr>
                                      <p:to>
                                        <p:strVal val="hidden"/>
                                      </p:to>
                                    </p:set>
                                  </p:childTnLst>
                                </p:cTn>
                              </p:par>
                              <p:par>
                                <p:cTn id="64" presetID="31" presetClass="exit" presetSubtype="0" fill="hold" grpId="1" nodeType="withEffect">
                                  <p:stCondLst>
                                    <p:cond delay="0"/>
                                  </p:stCondLst>
                                  <p:childTnLst>
                                    <p:anim calcmode="lin" valueType="num">
                                      <p:cBhvr>
                                        <p:cTn id="65" dur="1000"/>
                                        <p:tgtEl>
                                          <p:spTgt spid="14"/>
                                        </p:tgtEl>
                                        <p:attrNameLst>
                                          <p:attrName>ppt_w</p:attrName>
                                        </p:attrNameLst>
                                      </p:cBhvr>
                                      <p:tavLst>
                                        <p:tav tm="0">
                                          <p:val>
                                            <p:strVal val="ppt_w"/>
                                          </p:val>
                                        </p:tav>
                                        <p:tav tm="100000">
                                          <p:val>
                                            <p:fltVal val="0"/>
                                          </p:val>
                                        </p:tav>
                                      </p:tavLst>
                                    </p:anim>
                                    <p:anim calcmode="lin" valueType="num">
                                      <p:cBhvr>
                                        <p:cTn id="66" dur="1000"/>
                                        <p:tgtEl>
                                          <p:spTgt spid="14"/>
                                        </p:tgtEl>
                                        <p:attrNameLst>
                                          <p:attrName>ppt_h</p:attrName>
                                        </p:attrNameLst>
                                      </p:cBhvr>
                                      <p:tavLst>
                                        <p:tav tm="0">
                                          <p:val>
                                            <p:strVal val="ppt_h"/>
                                          </p:val>
                                        </p:tav>
                                        <p:tav tm="100000">
                                          <p:val>
                                            <p:fltVal val="0"/>
                                          </p:val>
                                        </p:tav>
                                      </p:tavLst>
                                    </p:anim>
                                    <p:anim calcmode="lin" valueType="num">
                                      <p:cBhvr>
                                        <p:cTn id="67" dur="1000"/>
                                        <p:tgtEl>
                                          <p:spTgt spid="14"/>
                                        </p:tgtEl>
                                        <p:attrNameLst>
                                          <p:attrName>style.rotation</p:attrName>
                                        </p:attrNameLst>
                                      </p:cBhvr>
                                      <p:tavLst>
                                        <p:tav tm="0">
                                          <p:val>
                                            <p:fltVal val="0"/>
                                          </p:val>
                                        </p:tav>
                                        <p:tav tm="100000">
                                          <p:val>
                                            <p:fltVal val="90"/>
                                          </p:val>
                                        </p:tav>
                                      </p:tavLst>
                                    </p:anim>
                                    <p:animEffect transition="out" filter="fade">
                                      <p:cBhvr>
                                        <p:cTn id="68" dur="1000"/>
                                        <p:tgtEl>
                                          <p:spTgt spid="14"/>
                                        </p:tgtEl>
                                      </p:cBhvr>
                                    </p:animEffect>
                                    <p:set>
                                      <p:cBhvr>
                                        <p:cTn id="69" dur="1" fill="hold">
                                          <p:stCondLst>
                                            <p:cond delay="999"/>
                                          </p:stCondLst>
                                        </p:cTn>
                                        <p:tgtEl>
                                          <p:spTgt spid="14"/>
                                        </p:tgtEl>
                                        <p:attrNameLst>
                                          <p:attrName>style.visibility</p:attrName>
                                        </p:attrNameLst>
                                      </p:cBhvr>
                                      <p:to>
                                        <p:strVal val="hidden"/>
                                      </p:to>
                                    </p:set>
                                  </p:childTnLst>
                                </p:cTn>
                              </p:par>
                              <p:par>
                                <p:cTn id="70" presetID="31" presetClass="exit" presetSubtype="0" fill="hold" nodeType="withEffect">
                                  <p:stCondLst>
                                    <p:cond delay="0"/>
                                  </p:stCondLst>
                                  <p:childTnLst>
                                    <p:anim calcmode="lin" valueType="num">
                                      <p:cBhvr>
                                        <p:cTn id="71" dur="1000"/>
                                        <p:tgtEl>
                                          <p:spTgt spid="15"/>
                                        </p:tgtEl>
                                        <p:attrNameLst>
                                          <p:attrName>ppt_w</p:attrName>
                                        </p:attrNameLst>
                                      </p:cBhvr>
                                      <p:tavLst>
                                        <p:tav tm="0">
                                          <p:val>
                                            <p:strVal val="ppt_w"/>
                                          </p:val>
                                        </p:tav>
                                        <p:tav tm="100000">
                                          <p:val>
                                            <p:fltVal val="0"/>
                                          </p:val>
                                        </p:tav>
                                      </p:tavLst>
                                    </p:anim>
                                    <p:anim calcmode="lin" valueType="num">
                                      <p:cBhvr>
                                        <p:cTn id="72" dur="1000"/>
                                        <p:tgtEl>
                                          <p:spTgt spid="15"/>
                                        </p:tgtEl>
                                        <p:attrNameLst>
                                          <p:attrName>ppt_h</p:attrName>
                                        </p:attrNameLst>
                                      </p:cBhvr>
                                      <p:tavLst>
                                        <p:tav tm="0">
                                          <p:val>
                                            <p:strVal val="ppt_h"/>
                                          </p:val>
                                        </p:tav>
                                        <p:tav tm="100000">
                                          <p:val>
                                            <p:fltVal val="0"/>
                                          </p:val>
                                        </p:tav>
                                      </p:tavLst>
                                    </p:anim>
                                    <p:anim calcmode="lin" valueType="num">
                                      <p:cBhvr>
                                        <p:cTn id="73" dur="1000"/>
                                        <p:tgtEl>
                                          <p:spTgt spid="15"/>
                                        </p:tgtEl>
                                        <p:attrNameLst>
                                          <p:attrName>style.rotation</p:attrName>
                                        </p:attrNameLst>
                                      </p:cBhvr>
                                      <p:tavLst>
                                        <p:tav tm="0">
                                          <p:val>
                                            <p:fltVal val="0"/>
                                          </p:val>
                                        </p:tav>
                                        <p:tav tm="100000">
                                          <p:val>
                                            <p:fltVal val="90"/>
                                          </p:val>
                                        </p:tav>
                                      </p:tavLst>
                                    </p:anim>
                                    <p:animEffect transition="out" filter="fade">
                                      <p:cBhvr>
                                        <p:cTn id="74" dur="1000"/>
                                        <p:tgtEl>
                                          <p:spTgt spid="15"/>
                                        </p:tgtEl>
                                      </p:cBhvr>
                                    </p:animEffect>
                                    <p:set>
                                      <p:cBhvr>
                                        <p:cTn id="75" dur="1" fill="hold">
                                          <p:stCondLst>
                                            <p:cond delay="999"/>
                                          </p:stCondLst>
                                        </p:cTn>
                                        <p:tgtEl>
                                          <p:spTgt spid="15"/>
                                        </p:tgtEl>
                                        <p:attrNameLst>
                                          <p:attrName>style.visibility</p:attrName>
                                        </p:attrNameLst>
                                      </p:cBhvr>
                                      <p:to>
                                        <p:strVal val="hidden"/>
                                      </p:to>
                                    </p:set>
                                  </p:childTnLst>
                                </p:cTn>
                              </p:par>
                              <p:par>
                                <p:cTn id="76" presetID="31" presetClass="exit" presetSubtype="0" fill="hold" nodeType="withEffect">
                                  <p:stCondLst>
                                    <p:cond delay="0"/>
                                  </p:stCondLst>
                                  <p:childTnLst>
                                    <p:anim calcmode="lin" valueType="num">
                                      <p:cBhvr>
                                        <p:cTn id="77" dur="1000"/>
                                        <p:tgtEl>
                                          <p:spTgt spid="23"/>
                                        </p:tgtEl>
                                        <p:attrNameLst>
                                          <p:attrName>ppt_w</p:attrName>
                                        </p:attrNameLst>
                                      </p:cBhvr>
                                      <p:tavLst>
                                        <p:tav tm="0">
                                          <p:val>
                                            <p:strVal val="ppt_w"/>
                                          </p:val>
                                        </p:tav>
                                        <p:tav tm="100000">
                                          <p:val>
                                            <p:fltVal val="0"/>
                                          </p:val>
                                        </p:tav>
                                      </p:tavLst>
                                    </p:anim>
                                    <p:anim calcmode="lin" valueType="num">
                                      <p:cBhvr>
                                        <p:cTn id="78" dur="1000"/>
                                        <p:tgtEl>
                                          <p:spTgt spid="23"/>
                                        </p:tgtEl>
                                        <p:attrNameLst>
                                          <p:attrName>ppt_h</p:attrName>
                                        </p:attrNameLst>
                                      </p:cBhvr>
                                      <p:tavLst>
                                        <p:tav tm="0">
                                          <p:val>
                                            <p:strVal val="ppt_h"/>
                                          </p:val>
                                        </p:tav>
                                        <p:tav tm="100000">
                                          <p:val>
                                            <p:fltVal val="0"/>
                                          </p:val>
                                        </p:tav>
                                      </p:tavLst>
                                    </p:anim>
                                    <p:anim calcmode="lin" valueType="num">
                                      <p:cBhvr>
                                        <p:cTn id="79" dur="1000"/>
                                        <p:tgtEl>
                                          <p:spTgt spid="23"/>
                                        </p:tgtEl>
                                        <p:attrNameLst>
                                          <p:attrName>style.rotation</p:attrName>
                                        </p:attrNameLst>
                                      </p:cBhvr>
                                      <p:tavLst>
                                        <p:tav tm="0">
                                          <p:val>
                                            <p:fltVal val="0"/>
                                          </p:val>
                                        </p:tav>
                                        <p:tav tm="100000">
                                          <p:val>
                                            <p:fltVal val="90"/>
                                          </p:val>
                                        </p:tav>
                                      </p:tavLst>
                                    </p:anim>
                                    <p:animEffect transition="out" filter="fade">
                                      <p:cBhvr>
                                        <p:cTn id="80" dur="1000"/>
                                        <p:tgtEl>
                                          <p:spTgt spid="23"/>
                                        </p:tgtEl>
                                      </p:cBhvr>
                                    </p:animEffect>
                                    <p:set>
                                      <p:cBhvr>
                                        <p:cTn id="81" dur="1" fill="hold">
                                          <p:stCondLst>
                                            <p:cond delay="999"/>
                                          </p:stCondLst>
                                        </p:cTn>
                                        <p:tgtEl>
                                          <p:spTgt spid="23"/>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childTnLst>
                                </p:cTn>
                              </p:par>
                              <p:par>
                                <p:cTn id="87" presetID="3" presetClass="entr" presetSubtype="10" fill="hold"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linds(horizontal)">
                                      <p:cBhvr>
                                        <p:cTn id="89" dur="500"/>
                                        <p:tgtEl>
                                          <p:spTgt spid="20"/>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blinds(horizontal)">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3" presetClass="entr" presetSubtype="16" fill="hold"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ppt_w</p:attrName>
                                        </p:attrNameLst>
                                      </p:cBhvr>
                                      <p:tavLst>
                                        <p:tav tm="0">
                                          <p:val>
                                            <p:fltVal val="0"/>
                                          </p:val>
                                        </p:tav>
                                        <p:tav tm="100000">
                                          <p:val>
                                            <p:strVal val="#ppt_w"/>
                                          </p:val>
                                        </p:tav>
                                      </p:tavLst>
                                    </p:anim>
                                    <p:anim calcmode="lin" valueType="num">
                                      <p:cBhvr>
                                        <p:cTn id="98" dur="500" fill="hold"/>
                                        <p:tgtEl>
                                          <p:spTgt spid="16"/>
                                        </p:tgtEl>
                                        <p:attrNameLst>
                                          <p:attrName>ppt_h</p:attrName>
                                        </p:attrNameLst>
                                      </p:cBhvr>
                                      <p:tavLst>
                                        <p:tav tm="0">
                                          <p:val>
                                            <p:fltVal val="0"/>
                                          </p:val>
                                        </p:tav>
                                        <p:tav tm="100000">
                                          <p:val>
                                            <p:strVal val="#ppt_h"/>
                                          </p:val>
                                        </p:tav>
                                      </p:tavLst>
                                    </p:anim>
                                  </p:childTnLst>
                                </p:cTn>
                              </p:par>
                              <p:par>
                                <p:cTn id="99" presetID="23" presetClass="entr" presetSubtype="16" fill="hold" nodeType="withEffect">
                                  <p:stCondLst>
                                    <p:cond delay="0"/>
                                  </p:stCondLst>
                                  <p:childTnLst>
                                    <p:set>
                                      <p:cBhvr>
                                        <p:cTn id="100" dur="1" fill="hold">
                                          <p:stCondLst>
                                            <p:cond delay="0"/>
                                          </p:stCondLst>
                                        </p:cTn>
                                        <p:tgtEl>
                                          <p:spTgt spid="17"/>
                                        </p:tgtEl>
                                        <p:attrNameLst>
                                          <p:attrName>style.visibility</p:attrName>
                                        </p:attrNameLst>
                                      </p:cBhvr>
                                      <p:to>
                                        <p:strVal val="visible"/>
                                      </p:to>
                                    </p:set>
                                    <p:anim calcmode="lin" valueType="num">
                                      <p:cBhvr>
                                        <p:cTn id="101" dur="500" fill="hold"/>
                                        <p:tgtEl>
                                          <p:spTgt spid="17"/>
                                        </p:tgtEl>
                                        <p:attrNameLst>
                                          <p:attrName>ppt_w</p:attrName>
                                        </p:attrNameLst>
                                      </p:cBhvr>
                                      <p:tavLst>
                                        <p:tav tm="0">
                                          <p:val>
                                            <p:fltVal val="0"/>
                                          </p:val>
                                        </p:tav>
                                        <p:tav tm="100000">
                                          <p:val>
                                            <p:strVal val="#ppt_w"/>
                                          </p:val>
                                        </p:tav>
                                      </p:tavLst>
                                    </p:anim>
                                    <p:anim calcmode="lin" valueType="num">
                                      <p:cBhvr>
                                        <p:cTn id="102" dur="500" fill="hold"/>
                                        <p:tgtEl>
                                          <p:spTgt spid="17"/>
                                        </p:tgtEl>
                                        <p:attrNameLst>
                                          <p:attrName>ppt_h</p:attrName>
                                        </p:attrNameLst>
                                      </p:cBhvr>
                                      <p:tavLst>
                                        <p:tav tm="0">
                                          <p:val>
                                            <p:fltVal val="0"/>
                                          </p:val>
                                        </p:tav>
                                        <p:tav tm="100000">
                                          <p:val>
                                            <p:strVal val="#ppt_h"/>
                                          </p:val>
                                        </p:tav>
                                      </p:tavLst>
                                    </p:anim>
                                  </p:childTnLst>
                                </p:cTn>
                              </p:par>
                              <p:par>
                                <p:cTn id="103" presetID="6" presetClass="entr" presetSubtype="16" fill="hold" grpId="0" nodeType="withEffect">
                                  <p:stCondLst>
                                    <p:cond delay="0"/>
                                  </p:stCondLst>
                                  <p:childTnLst>
                                    <p:set>
                                      <p:cBhvr>
                                        <p:cTn id="104" dur="1" fill="hold">
                                          <p:stCondLst>
                                            <p:cond delay="0"/>
                                          </p:stCondLst>
                                        </p:cTn>
                                        <p:tgtEl>
                                          <p:spTgt spid="19"/>
                                        </p:tgtEl>
                                        <p:attrNameLst>
                                          <p:attrName>style.visibility</p:attrName>
                                        </p:attrNameLst>
                                      </p:cBhvr>
                                      <p:to>
                                        <p:strVal val="visible"/>
                                      </p:to>
                                    </p:set>
                                    <p:animEffect transition="in" filter="circle(in)">
                                      <p:cBhvr>
                                        <p:cTn id="105" dur="2000"/>
                                        <p:tgtEl>
                                          <p:spTgt spid="19"/>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blinds(horizontal)">
                                      <p:cBhvr>
                                        <p:cTn id="1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8" grpId="0" animBg="1"/>
      <p:bldP spid="19" grpId="0"/>
      <p:bldP spid="21" grpId="0" animBg="1"/>
      <p:bldP spid="22" grpId="0" animBg="1"/>
      <p:bldP spid="27" grpId="0"/>
      <p:bldP spid="3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箭头连接符 6"/>
          <p:cNvCxnSpPr/>
          <p:nvPr/>
        </p:nvCxnSpPr>
        <p:spPr>
          <a:xfrm>
            <a:off x="1081618" y="3524251"/>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3"/>
          <p:cNvCxnSpPr/>
          <p:nvPr/>
        </p:nvCxnSpPr>
        <p:spPr>
          <a:xfrm>
            <a:off x="3810000" y="2686051"/>
            <a:ext cx="0" cy="8382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5"/>
          <p:cNvCxnSpPr>
            <a:stCxn id="27657" idx="2"/>
          </p:cNvCxnSpPr>
          <p:nvPr/>
        </p:nvCxnSpPr>
        <p:spPr>
          <a:xfrm>
            <a:off x="6851651" y="2646844"/>
            <a:ext cx="0" cy="87740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23"/>
          <p:cNvCxnSpPr/>
          <p:nvPr/>
        </p:nvCxnSpPr>
        <p:spPr>
          <a:xfrm flipV="1">
            <a:off x="3119967" y="3524251"/>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34"/>
          <p:cNvCxnSpPr>
            <a:stCxn id="27659" idx="0"/>
          </p:cNvCxnSpPr>
          <p:nvPr/>
        </p:nvCxnSpPr>
        <p:spPr>
          <a:xfrm flipV="1">
            <a:off x="5341410" y="3524251"/>
            <a:ext cx="17991" cy="76835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p:cNvCxnSpPr/>
          <p:nvPr/>
        </p:nvCxnSpPr>
        <p:spPr>
          <a:xfrm flipV="1">
            <a:off x="3119967" y="4400551"/>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656" name="矩形 27"/>
          <p:cNvSpPr/>
          <p:nvPr/>
        </p:nvSpPr>
        <p:spPr>
          <a:xfrm>
            <a:off x="3160185" y="2277534"/>
            <a:ext cx="1441449"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57" name="矩形 38"/>
          <p:cNvSpPr/>
          <p:nvPr/>
        </p:nvSpPr>
        <p:spPr>
          <a:xfrm>
            <a:off x="6131984" y="2277534"/>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58" name="矩形 28"/>
          <p:cNvSpPr/>
          <p:nvPr/>
        </p:nvSpPr>
        <p:spPr>
          <a:xfrm>
            <a:off x="1536701" y="3716867"/>
            <a:ext cx="1392767"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59" name="矩形 40"/>
          <p:cNvSpPr/>
          <p:nvPr/>
        </p:nvSpPr>
        <p:spPr>
          <a:xfrm>
            <a:off x="4586818" y="4292601"/>
            <a:ext cx="1509183"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60" name="矩形 41"/>
          <p:cNvSpPr/>
          <p:nvPr/>
        </p:nvSpPr>
        <p:spPr>
          <a:xfrm>
            <a:off x="1536701" y="4531784"/>
            <a:ext cx="1392767"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4" name="Line 58"/>
          <p:cNvSpPr/>
          <p:nvPr/>
        </p:nvSpPr>
        <p:spPr>
          <a:xfrm flipH="1">
            <a:off x="3119967" y="3141133"/>
            <a:ext cx="3689351" cy="781051"/>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Line 58"/>
          <p:cNvSpPr/>
          <p:nvPr/>
        </p:nvSpPr>
        <p:spPr>
          <a:xfrm flipH="1">
            <a:off x="5520267" y="3141133"/>
            <a:ext cx="1289051" cy="1151467"/>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标注 15"/>
          <p:cNvSpPr/>
          <p:nvPr/>
        </p:nvSpPr>
        <p:spPr>
          <a:xfrm>
            <a:off x="6076951" y="1515534"/>
            <a:ext cx="1441451" cy="560917"/>
          </a:xfrm>
          <a:prstGeom prst="wedgeRectCallout">
            <a:avLst>
              <a:gd name="adj1" fmla="val 782"/>
              <a:gd name="adj2" fmla="val 9056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交付计划</a:t>
            </a:r>
          </a:p>
        </p:txBody>
      </p:sp>
      <p:sp>
        <p:nvSpPr>
          <p:cNvPr id="17" name="矩形标注 16"/>
          <p:cNvSpPr/>
          <p:nvPr/>
        </p:nvSpPr>
        <p:spPr>
          <a:xfrm>
            <a:off x="3147484" y="1534584"/>
            <a:ext cx="1439333" cy="560917"/>
          </a:xfrm>
          <a:prstGeom prst="wedgeRectCallout">
            <a:avLst>
              <a:gd name="adj1" fmla="val 782"/>
              <a:gd name="adj2" fmla="val 90562"/>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交付计划</a:t>
            </a:r>
          </a:p>
        </p:txBody>
      </p:sp>
      <p:sp>
        <p:nvSpPr>
          <p:cNvPr id="18" name="Line 58"/>
          <p:cNvSpPr/>
          <p:nvPr/>
        </p:nvSpPr>
        <p:spPr>
          <a:xfrm flipH="1">
            <a:off x="3119968" y="3141134"/>
            <a:ext cx="690033" cy="1648884"/>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Line 58"/>
          <p:cNvSpPr/>
          <p:nvPr/>
        </p:nvSpPr>
        <p:spPr>
          <a:xfrm flipH="1">
            <a:off x="3119968" y="2645834"/>
            <a:ext cx="690033" cy="1276351"/>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Line 58"/>
          <p:cNvSpPr/>
          <p:nvPr/>
        </p:nvSpPr>
        <p:spPr>
          <a:xfrm flipH="1">
            <a:off x="3119967" y="2654489"/>
            <a:ext cx="690033" cy="2051049"/>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TextBox 74"/>
          <p:cNvSpPr txBox="1"/>
          <p:nvPr/>
        </p:nvSpPr>
        <p:spPr>
          <a:xfrm>
            <a:off x="7823201" y="2436284"/>
            <a:ext cx="4146551"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生产计划</a:t>
            </a:r>
            <a:endPar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立即安排生产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342900" marR="0" lvl="0" indent="-34290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p>
        </p:txBody>
      </p:sp>
      <p:cxnSp>
        <p:nvCxnSpPr>
          <p:cNvPr id="23" name="直接连接符 7"/>
          <p:cNvCxnSpPr/>
          <p:nvPr/>
        </p:nvCxnSpPr>
        <p:spPr>
          <a:xfrm>
            <a:off x="7535333" y="1509185"/>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4" name="圆角矩形 23"/>
          <p:cNvSpPr/>
          <p:nvPr/>
        </p:nvSpPr>
        <p:spPr>
          <a:xfrm>
            <a:off x="7713133" y="3856857"/>
            <a:ext cx="3799417" cy="1409700"/>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供应不一致引发交付和生产矛盾：</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a:p>
            <a:pPr marL="742950" marR="0" lvl="1"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交付计划考虑所有供应</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a:p>
            <a:pPr marL="742950" marR="0" lvl="1"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生产计划只考虑在手库存</a:t>
            </a:r>
          </a:p>
        </p:txBody>
      </p:sp>
      <p:sp>
        <p:nvSpPr>
          <p:cNvPr id="25" name="矩形标注 24"/>
          <p:cNvSpPr/>
          <p:nvPr/>
        </p:nvSpPr>
        <p:spPr>
          <a:xfrm>
            <a:off x="6103504" y="1541698"/>
            <a:ext cx="1439333"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26" name="Line 58"/>
          <p:cNvSpPr/>
          <p:nvPr/>
        </p:nvSpPr>
        <p:spPr>
          <a:xfrm flipH="1">
            <a:off x="3119967" y="2686051"/>
            <a:ext cx="3689351" cy="1236133"/>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 name="TextBox 8"/>
          <p:cNvSpPr txBox="1"/>
          <p:nvPr/>
        </p:nvSpPr>
        <p:spPr>
          <a:xfrm>
            <a:off x="4521158" y="2788253"/>
            <a:ext cx="1527941" cy="369310"/>
          </a:xfrm>
          <a:prstGeom prst="rect">
            <a:avLst/>
          </a:prstGeom>
          <a:noFill/>
          <a:scene3d>
            <a:camera prst="orthographicFront">
              <a:rot lat="1195241" lon="109017" rev="91914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28" name="矩形标注 27"/>
          <p:cNvSpPr/>
          <p:nvPr/>
        </p:nvSpPr>
        <p:spPr>
          <a:xfrm>
            <a:off x="3168651" y="1550687"/>
            <a:ext cx="1439333" cy="510117"/>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27676" name="Title 37"/>
          <p:cNvSpPr>
            <a:spLocks noGrp="1"/>
          </p:cNvSpPr>
          <p:nvPr>
            <p:ph type="title" idx="4294967295"/>
          </p:nvPr>
        </p:nvSpPr>
        <p:spPr>
          <a:xfrm>
            <a:off x="1116013" y="157163"/>
            <a:ext cx="11075987" cy="520700"/>
          </a:xfrm>
          <a:prstGeom prst="rect">
            <a:avLst/>
          </a:prstGeom>
        </p:spPr>
        <p:txBody>
          <a:bodyPr vert="horz" wrap="square" lIns="121920" tIns="60960" rIns="121920" bIns="60960" anchor="ctr" anchorCtr="0">
            <a:normAutofit/>
          </a:bodyPr>
          <a:lstStyle/>
          <a:p>
            <a:pPr eaLnBrk="1" hangingPunct="1"/>
            <a:r>
              <a:rPr lang="zh-CN" altLang="en-US" b="1"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 B</a:t>
            </a:r>
          </a:p>
        </p:txBody>
      </p:sp>
      <p:sp>
        <p:nvSpPr>
          <p:cNvPr id="30" name="TextBox 43"/>
          <p:cNvSpPr txBox="1"/>
          <p:nvPr/>
        </p:nvSpPr>
        <p:spPr>
          <a:xfrm>
            <a:off x="7823201" y="1509184"/>
            <a:ext cx="4146551"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a:t>
            </a:r>
            <a:endPar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缺料</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Order No Supply</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第</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4</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天交付</a:t>
            </a:r>
          </a:p>
        </p:txBody>
      </p:sp>
      <p:cxnSp>
        <p:nvCxnSpPr>
          <p:cNvPr id="31" name="直接连接符 7"/>
          <p:cNvCxnSpPr/>
          <p:nvPr/>
        </p:nvCxnSpPr>
        <p:spPr>
          <a:xfrm>
            <a:off x="6068484" y="1534585"/>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p:cNvCxnSpPr/>
          <p:nvPr/>
        </p:nvCxnSpPr>
        <p:spPr>
          <a:xfrm>
            <a:off x="4586817" y="1572685"/>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7"/>
          <p:cNvCxnSpPr/>
          <p:nvPr/>
        </p:nvCxnSpPr>
        <p:spPr>
          <a:xfrm>
            <a:off x="3147484" y="1490134"/>
            <a:ext cx="0" cy="203411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7681" name="文本框 1"/>
          <p:cNvSpPr txBox="1"/>
          <p:nvPr/>
        </p:nvSpPr>
        <p:spPr>
          <a:xfrm>
            <a:off x="1413934" y="956734"/>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82" name="文本框 1"/>
          <p:cNvSpPr txBox="1"/>
          <p:nvPr/>
        </p:nvSpPr>
        <p:spPr>
          <a:xfrm>
            <a:off x="3064934" y="950385"/>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83" name="文本框 1"/>
          <p:cNvSpPr txBox="1"/>
          <p:nvPr/>
        </p:nvSpPr>
        <p:spPr>
          <a:xfrm>
            <a:off x="4576234"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684" name="文本框 1"/>
          <p:cNvSpPr txBox="1"/>
          <p:nvPr/>
        </p:nvSpPr>
        <p:spPr>
          <a:xfrm>
            <a:off x="6019801" y="922867"/>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8" name="TextBox 45"/>
          <p:cNvSpPr txBox="1"/>
          <p:nvPr/>
        </p:nvSpPr>
        <p:spPr>
          <a:xfrm>
            <a:off x="4464052" y="3947585"/>
            <a:ext cx="1822449" cy="338554"/>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Not accessible</a:t>
            </a:r>
            <a:endParaRPr kumimoji="1" lang="zh-CN" altLang="en-US" sz="2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9" name="Line 58"/>
          <p:cNvSpPr/>
          <p:nvPr/>
        </p:nvSpPr>
        <p:spPr>
          <a:xfrm flipH="1">
            <a:off x="3147485" y="3141133"/>
            <a:ext cx="662516" cy="694267"/>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897A37D-9ECE-8F26-911F-79AF64E5A3D8}"/>
              </a:ext>
            </a:extLst>
          </p:cNvPr>
          <p:cNvSpPr txBox="1"/>
          <p:nvPr/>
        </p:nvSpPr>
        <p:spPr>
          <a:xfrm>
            <a:off x="10500621" y="3304118"/>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9" name="TextBox 30">
            <a:extLst>
              <a:ext uri="{FF2B5EF4-FFF2-40B4-BE49-F238E27FC236}">
                <a16:creationId xmlns:a16="http://schemas.microsoft.com/office/drawing/2014/main" id="{8076669B-2425-BE72-CA18-DDF6DD82DFAE}"/>
              </a:ext>
            </a:extLst>
          </p:cNvPr>
          <p:cNvSpPr txBox="1"/>
          <p:nvPr/>
        </p:nvSpPr>
        <p:spPr>
          <a:xfrm>
            <a:off x="103189" y="1689390"/>
            <a:ext cx="3159124"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23" presetClass="entr" presetSubtype="16"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p:cTn id="10" dur="500" fill="hold"/>
                                        <p:tgtEl>
                                          <p:spTgt spid="14"/>
                                        </p:tgtEl>
                                        <p:attrNameLst>
                                          <p:attrName>ppt_w</p:attrName>
                                        </p:attrNameLst>
                                      </p:cBhvr>
                                      <p:tavLst>
                                        <p:tav tm="0">
                                          <p:val>
                                            <p:fltVal val="0"/>
                                          </p:val>
                                        </p:tav>
                                        <p:tav tm="100000">
                                          <p:val>
                                            <p:strVal val="#ppt_w"/>
                                          </p:val>
                                        </p:tav>
                                      </p:tavLst>
                                    </p:anim>
                                    <p:anim calcmode="lin" valueType="num">
                                      <p:cBhvr>
                                        <p:cTn id="11" dur="500" fill="hold"/>
                                        <p:tgtEl>
                                          <p:spTgt spid="14"/>
                                        </p:tgtEl>
                                        <p:attrNameLst>
                                          <p:attrName>ppt_h</p:attrName>
                                        </p:attrNameLst>
                                      </p:cBhvr>
                                      <p:tavLst>
                                        <p:tav tm="0">
                                          <p:val>
                                            <p:flt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23" presetClass="entr" presetSubtype="16"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fltVal val="0"/>
                                          </p:val>
                                        </p:tav>
                                        <p:tav tm="100000">
                                          <p:val>
                                            <p:strVal val="#ppt_w"/>
                                          </p:val>
                                        </p:tav>
                                      </p:tavLst>
                                    </p:anim>
                                    <p:anim calcmode="lin" valueType="num">
                                      <p:cBhvr>
                                        <p:cTn id="24" dur="500" fill="hold"/>
                                        <p:tgtEl>
                                          <p:spTgt spid="18"/>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p:cTn id="27" dur="500" fill="hold"/>
                                        <p:tgtEl>
                                          <p:spTgt spid="39"/>
                                        </p:tgtEl>
                                        <p:attrNameLst>
                                          <p:attrName>ppt_w</p:attrName>
                                        </p:attrNameLst>
                                      </p:cBhvr>
                                      <p:tavLst>
                                        <p:tav tm="0">
                                          <p:val>
                                            <p:fltVal val="0"/>
                                          </p:val>
                                        </p:tav>
                                        <p:tav tm="100000">
                                          <p:val>
                                            <p:strVal val="#ppt_w"/>
                                          </p:val>
                                        </p:tav>
                                      </p:tavLst>
                                    </p:anim>
                                    <p:anim calcmode="lin" valueType="num">
                                      <p:cBhvr>
                                        <p:cTn id="28" dur="500" fill="hold"/>
                                        <p:tgtEl>
                                          <p:spTgt spid="39"/>
                                        </p:tgtEl>
                                        <p:attrNameLst>
                                          <p:attrName>ppt_h</p:attrName>
                                        </p:attrNameLst>
                                      </p:cBhvr>
                                      <p:tavLst>
                                        <p:tav tm="0">
                                          <p:val>
                                            <p:fltVal val="0"/>
                                          </p:val>
                                        </p:tav>
                                        <p:tav tm="100000">
                                          <p:val>
                                            <p:strVal val="#ppt_h"/>
                                          </p:val>
                                        </p:tav>
                                      </p:tavLst>
                                    </p:anim>
                                  </p:childTnLst>
                                </p:cTn>
                              </p:par>
                              <p:par>
                                <p:cTn id="29" presetID="6" presetClass="entr" presetSubtype="16"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circle(in)">
                                      <p:cBhvr>
                                        <p:cTn id="31" dur="20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1" nodeType="clickEffect">
                                  <p:stCondLst>
                                    <p:cond delay="0"/>
                                  </p:stCondLst>
                                  <p:childTnLst>
                                    <p:animEffect transition="out" filter="blinds(horizontal)">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par>
                                <p:cTn id="37" presetID="3" presetClass="exit" presetSubtype="10" fill="hold" nodeType="withEffect">
                                  <p:stCondLst>
                                    <p:cond delay="0"/>
                                  </p:stCondLst>
                                  <p:childTnLst>
                                    <p:animEffect transition="out" filter="blinds(horizontal)">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par>
                                <p:cTn id="40" presetID="3" presetClass="exit" presetSubtype="10" fill="hold" nodeType="withEffect">
                                  <p:stCondLst>
                                    <p:cond delay="0"/>
                                  </p:stCondLst>
                                  <p:childTnLst>
                                    <p:animEffect transition="out" filter="blinds(horizontal)">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par>
                                <p:cTn id="43" presetID="3" presetClass="exit" presetSubtype="10" fill="hold" nodeType="withEffect">
                                  <p:stCondLst>
                                    <p:cond delay="0"/>
                                  </p:stCondLst>
                                  <p:childTnLst>
                                    <p:animEffect transition="out" filter="blinds(horizontal)">
                                      <p:cBhvr>
                                        <p:cTn id="44" dur="500"/>
                                        <p:tgtEl>
                                          <p:spTgt spid="39"/>
                                        </p:tgtEl>
                                      </p:cBhvr>
                                    </p:animEffect>
                                    <p:set>
                                      <p:cBhvr>
                                        <p:cTn id="45" dur="1" fill="hold">
                                          <p:stCondLst>
                                            <p:cond delay="499"/>
                                          </p:stCondLst>
                                        </p:cTn>
                                        <p:tgtEl>
                                          <p:spTgt spid="39"/>
                                        </p:tgtEl>
                                        <p:attrNameLst>
                                          <p:attrName>style.visibility</p:attrName>
                                        </p:attrNameLst>
                                      </p:cBhvr>
                                      <p:to>
                                        <p:strVal val="hidden"/>
                                      </p:to>
                                    </p:set>
                                  </p:childTnLst>
                                </p:cTn>
                              </p:par>
                              <p:par>
                                <p:cTn id="46" presetID="3" presetClass="exit" presetSubtype="10" fill="hold" nodeType="withEffect">
                                  <p:stCondLst>
                                    <p:cond delay="0"/>
                                  </p:stCondLst>
                                  <p:childTnLst>
                                    <p:animEffect transition="out" filter="blinds(horizontal)">
                                      <p:cBhvr>
                                        <p:cTn id="47" dur="500"/>
                                        <p:tgtEl>
                                          <p:spTgt spid="17"/>
                                        </p:tgtEl>
                                      </p:cBhvr>
                                    </p:animEffect>
                                    <p:set>
                                      <p:cBhvr>
                                        <p:cTn id="48" dur="1" fill="hold">
                                          <p:stCondLst>
                                            <p:cond delay="499"/>
                                          </p:stCondLst>
                                        </p:cTn>
                                        <p:tgtEl>
                                          <p:spTgt spid="17"/>
                                        </p:tgtEl>
                                        <p:attrNameLst>
                                          <p:attrName>style.visibility</p:attrName>
                                        </p:attrNameLst>
                                      </p:cBhvr>
                                      <p:to>
                                        <p:strVal val="hidden"/>
                                      </p:to>
                                    </p:set>
                                  </p:childTnLst>
                                </p:cTn>
                              </p:par>
                              <p:par>
                                <p:cTn id="49" presetID="3" presetClass="exit" presetSubtype="10" fill="hold" nodeType="withEffect">
                                  <p:stCondLst>
                                    <p:cond delay="0"/>
                                  </p:stCondLst>
                                  <p:childTnLst>
                                    <p:animEffect transition="out" filter="blinds(horizontal)">
                                      <p:cBhvr>
                                        <p:cTn id="50" dur="500"/>
                                        <p:tgtEl>
                                          <p:spTgt spid="18"/>
                                        </p:tgtEl>
                                      </p:cBhvr>
                                    </p:animEffect>
                                    <p:set>
                                      <p:cBhvr>
                                        <p:cTn id="51" dur="1" fill="hold">
                                          <p:stCondLst>
                                            <p:cond delay="499"/>
                                          </p:stCondLst>
                                        </p:cTn>
                                        <p:tgtEl>
                                          <p:spTgt spid="18"/>
                                        </p:tgtEl>
                                        <p:attrNameLst>
                                          <p:attrName>style.visibility</p:attrName>
                                        </p:attrNameLst>
                                      </p:cBhvr>
                                      <p:to>
                                        <p:strVal val="hidden"/>
                                      </p:to>
                                    </p:set>
                                  </p:childTnLst>
                                </p:cTn>
                              </p:par>
                              <p:par>
                                <p:cTn id="52" presetID="3" presetClass="exit" presetSubtype="10" fill="hold" nodeType="withEffect">
                                  <p:stCondLst>
                                    <p:cond delay="0"/>
                                  </p:stCondLst>
                                  <p:childTnLst>
                                    <p:animEffect transition="out" filter="blinds(horizontal)">
                                      <p:cBhvr>
                                        <p:cTn id="53" dur="500"/>
                                        <p:tgtEl>
                                          <p:spTgt spid="7"/>
                                        </p:tgtEl>
                                      </p:cBhvr>
                                    </p:animEffect>
                                    <p:set>
                                      <p:cBhvr>
                                        <p:cTn id="54" dur="1" fill="hold">
                                          <p:stCondLst>
                                            <p:cond delay="499"/>
                                          </p:stCondLst>
                                        </p:cTn>
                                        <p:tgtEl>
                                          <p:spTgt spid="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23" presetClass="entr" presetSubtype="16"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p:cTn id="62" dur="500" fill="hold"/>
                                        <p:tgtEl>
                                          <p:spTgt spid="26"/>
                                        </p:tgtEl>
                                        <p:attrNameLst>
                                          <p:attrName>ppt_w</p:attrName>
                                        </p:attrNameLst>
                                      </p:cBhvr>
                                      <p:tavLst>
                                        <p:tav tm="0">
                                          <p:val>
                                            <p:fltVal val="0"/>
                                          </p:val>
                                        </p:tav>
                                        <p:tav tm="100000">
                                          <p:val>
                                            <p:strVal val="#ppt_w"/>
                                          </p:val>
                                        </p:tav>
                                      </p:tavLst>
                                    </p:anim>
                                    <p:anim calcmode="lin" valueType="num">
                                      <p:cBhvr>
                                        <p:cTn id="63" dur="500" fill="hold"/>
                                        <p:tgtEl>
                                          <p:spTgt spid="26"/>
                                        </p:tgtEl>
                                        <p:attrNameLst>
                                          <p:attrName>ppt_h</p:attrName>
                                        </p:attrNameLst>
                                      </p:cBhvr>
                                      <p:tavLst>
                                        <p:tav tm="0">
                                          <p:val>
                                            <p:fltVal val="0"/>
                                          </p:val>
                                        </p:tav>
                                        <p:tav tm="100000">
                                          <p:val>
                                            <p:strVal val="#ppt_h"/>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par>
                          <p:cTn id="67" fill="hold">
                            <p:stCondLst>
                              <p:cond delay="500"/>
                            </p:stCondLst>
                            <p:childTnLst>
                              <p:par>
                                <p:cTn id="68" presetID="22" presetClass="entr" presetSubtype="4" fill="hold" nodeType="after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wipe(down)">
                                      <p:cBhvr>
                                        <p:cTn id="70" dur="50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23" presetClass="entr" presetSubtype="16"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p:cTn id="78" dur="500" fill="hold"/>
                                        <p:tgtEl>
                                          <p:spTgt spid="20"/>
                                        </p:tgtEl>
                                        <p:attrNameLst>
                                          <p:attrName>ppt_w</p:attrName>
                                        </p:attrNameLst>
                                      </p:cBhvr>
                                      <p:tavLst>
                                        <p:tav tm="0">
                                          <p:val>
                                            <p:fltVal val="0"/>
                                          </p:val>
                                        </p:tav>
                                        <p:tav tm="100000">
                                          <p:val>
                                            <p:strVal val="#ppt_w"/>
                                          </p:val>
                                        </p:tav>
                                      </p:tavLst>
                                    </p:anim>
                                    <p:anim calcmode="lin" valueType="num">
                                      <p:cBhvr>
                                        <p:cTn id="79" dur="500" fill="hold"/>
                                        <p:tgtEl>
                                          <p:spTgt spid="20"/>
                                        </p:tgtEl>
                                        <p:attrNameLst>
                                          <p:attrName>ppt_h</p:attrName>
                                        </p:attrNameLst>
                                      </p:cBhvr>
                                      <p:tavLst>
                                        <p:tav tm="0">
                                          <p:val>
                                            <p:fltVal val="0"/>
                                          </p:val>
                                        </p:tav>
                                        <p:tav tm="100000">
                                          <p:val>
                                            <p:strVal val="#ppt_h"/>
                                          </p:val>
                                        </p:tav>
                                      </p:tavLst>
                                    </p:anim>
                                  </p:childTnLst>
                                </p:cTn>
                              </p:par>
                              <p:par>
                                <p:cTn id="80" presetID="23" presetClass="entr" presetSubtype="16"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childTnLst>
                                </p:cTn>
                              </p:par>
                              <p:par>
                                <p:cTn id="84" presetID="6" presetClass="entr" presetSubtype="16"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circle(in)">
                                      <p:cBhvr>
                                        <p:cTn id="86" dur="200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blinds(horizontal)">
                                      <p:cBhvr>
                                        <p:cTn id="9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22" grpId="0"/>
      <p:bldP spid="24" grpId="0" animBg="1"/>
      <p:bldP spid="25" grpId="0" animBg="1"/>
      <p:bldP spid="28" grpId="0" animBg="1"/>
      <p:bldP spid="30" grpId="0"/>
      <p:bldP spid="3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p:cNvCxnSpPr/>
          <p:nvPr/>
        </p:nvCxnSpPr>
        <p:spPr>
          <a:xfrm>
            <a:off x="988485" y="3524251"/>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p:cNvCxnSpPr/>
          <p:nvPr/>
        </p:nvCxnSpPr>
        <p:spPr>
          <a:xfrm>
            <a:off x="3776133" y="2645834"/>
            <a:ext cx="0" cy="878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a:stCxn id="28681" idx="2"/>
          </p:cNvCxnSpPr>
          <p:nvPr/>
        </p:nvCxnSpPr>
        <p:spPr>
          <a:xfrm>
            <a:off x="6764867" y="2623561"/>
            <a:ext cx="0" cy="839306"/>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p:nvPr/>
        </p:nvCxnSpPr>
        <p:spPr>
          <a:xfrm flipV="1">
            <a:off x="3026833" y="3524251"/>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4"/>
          <p:cNvCxnSpPr>
            <a:stCxn id="11" idx="0"/>
          </p:cNvCxnSpPr>
          <p:nvPr/>
        </p:nvCxnSpPr>
        <p:spPr>
          <a:xfrm flipH="1" flipV="1">
            <a:off x="5272617" y="3549651"/>
            <a:ext cx="1" cy="74295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35"/>
          <p:cNvCxnSpPr/>
          <p:nvPr/>
        </p:nvCxnSpPr>
        <p:spPr>
          <a:xfrm flipV="1">
            <a:off x="3026833" y="4400551"/>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8680" name="矩形 27"/>
          <p:cNvSpPr/>
          <p:nvPr/>
        </p:nvSpPr>
        <p:spPr>
          <a:xfrm>
            <a:off x="3060700" y="2277534"/>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681" name="矩形 38"/>
          <p:cNvSpPr/>
          <p:nvPr/>
        </p:nvSpPr>
        <p:spPr>
          <a:xfrm>
            <a:off x="6045200" y="2254251"/>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682" name="矩形 28"/>
          <p:cNvSpPr/>
          <p:nvPr/>
        </p:nvSpPr>
        <p:spPr>
          <a:xfrm>
            <a:off x="1443567" y="3716867"/>
            <a:ext cx="1392767"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10"/>
          <p:cNvSpPr/>
          <p:nvPr/>
        </p:nvSpPr>
        <p:spPr>
          <a:xfrm>
            <a:off x="4493684" y="4292601"/>
            <a:ext cx="155786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684" name="矩形 41"/>
          <p:cNvSpPr/>
          <p:nvPr/>
        </p:nvSpPr>
        <p:spPr>
          <a:xfrm>
            <a:off x="1443567" y="4531784"/>
            <a:ext cx="1392767"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p:cNvSpPr/>
          <p:nvPr/>
        </p:nvSpPr>
        <p:spPr>
          <a:xfrm flipH="1">
            <a:off x="3026833" y="2969685"/>
            <a:ext cx="3718984" cy="952500"/>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Line 58"/>
          <p:cNvSpPr/>
          <p:nvPr/>
        </p:nvSpPr>
        <p:spPr>
          <a:xfrm flipH="1">
            <a:off x="5272617" y="2969684"/>
            <a:ext cx="1473200" cy="1227667"/>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矩形标注 14"/>
          <p:cNvSpPr/>
          <p:nvPr/>
        </p:nvSpPr>
        <p:spPr>
          <a:xfrm>
            <a:off x="6049434" y="1420284"/>
            <a:ext cx="1435100" cy="628651"/>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6" name="矩形标注 15"/>
          <p:cNvSpPr/>
          <p:nvPr/>
        </p:nvSpPr>
        <p:spPr>
          <a:xfrm>
            <a:off x="3026833" y="1420284"/>
            <a:ext cx="1466851" cy="628651"/>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7" name="Line 58"/>
          <p:cNvSpPr/>
          <p:nvPr/>
        </p:nvSpPr>
        <p:spPr>
          <a:xfrm flipH="1">
            <a:off x="3026834" y="2645833"/>
            <a:ext cx="749300" cy="2144184"/>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TextBox 26"/>
          <p:cNvSpPr txBox="1"/>
          <p:nvPr/>
        </p:nvSpPr>
        <p:spPr>
          <a:xfrm rot="21031543">
            <a:off x="2522741" y="2863095"/>
            <a:ext cx="1488092" cy="338532"/>
          </a:xfrm>
          <a:prstGeom prst="rect">
            <a:avLst/>
          </a:prstGeom>
          <a:noFill/>
          <a:scene3d>
            <a:camera prst="orthographicFront">
              <a:rot lat="1195241" lon="109017" rev="361914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28691" name="Title 30"/>
          <p:cNvSpPr>
            <a:spLocks noGrp="1"/>
          </p:cNvSpPr>
          <p:nvPr>
            <p:ph type="title" idx="4294967295"/>
          </p:nvPr>
        </p:nvSpPr>
        <p:spPr>
          <a:xfrm>
            <a:off x="1116013" y="133350"/>
            <a:ext cx="11075987" cy="520700"/>
          </a:xfrm>
          <a:prstGeom prst="rect">
            <a:avLst/>
          </a:prstGeom>
        </p:spPr>
        <p:txBody>
          <a:bodyPr vert="horz" wrap="square" lIns="121920" tIns="60960" rIns="121920" bIns="60960" anchor="ctr" anchorCtr="0">
            <a:normAutofit/>
          </a:bodyPr>
          <a:lstStyle/>
          <a:p>
            <a:pPr eaLnBrk="1" hangingPunct="1"/>
            <a:r>
              <a:rPr lang="zh-CN" altLang="en-US"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b="1"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A &amp; B </a:t>
            </a:r>
            <a:r>
              <a:rPr lang="zh-CN" altLang="en-US" dirty="0">
                <a:solidFill>
                  <a:schemeClr val="bg1"/>
                </a:solidFill>
                <a:latin typeface="Arial" panose="020B0604020202020204" pitchFamily="34" charset="0"/>
                <a:ea typeface="微软雅黑" panose="020B0503020204020204" pitchFamily="34" charset="-122"/>
              </a:rPr>
              <a:t>的方案</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20" name="TextBox 24"/>
          <p:cNvSpPr txBox="1"/>
          <p:nvPr/>
        </p:nvSpPr>
        <p:spPr>
          <a:xfrm>
            <a:off x="7736417" y="2277534"/>
            <a:ext cx="4188883"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生产计划</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短缺无法进行安排生产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第三天安排生产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1" name="TextBox 25"/>
          <p:cNvSpPr txBox="1"/>
          <p:nvPr/>
        </p:nvSpPr>
        <p:spPr>
          <a:xfrm>
            <a:off x="7736417" y="1187451"/>
            <a:ext cx="4188883" cy="861752"/>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a:t>
            </a:r>
            <a:endPar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在第</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4</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天交付</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2" name="圆角矩形 24"/>
          <p:cNvSpPr/>
          <p:nvPr/>
        </p:nvSpPr>
        <p:spPr>
          <a:xfrm>
            <a:off x="7736417" y="3613152"/>
            <a:ext cx="3793067" cy="1665817"/>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交付和生产协同：</a:t>
            </a:r>
            <a:endPar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统一需求和供应数据源</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p>
        </p:txBody>
      </p:sp>
      <p:cxnSp>
        <p:nvCxnSpPr>
          <p:cNvPr id="23" name="直接连接符 7"/>
          <p:cNvCxnSpPr/>
          <p:nvPr/>
        </p:nvCxnSpPr>
        <p:spPr>
          <a:xfrm>
            <a:off x="7442200" y="1509185"/>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7"/>
          <p:cNvCxnSpPr/>
          <p:nvPr/>
        </p:nvCxnSpPr>
        <p:spPr>
          <a:xfrm>
            <a:off x="6051551" y="1534585"/>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7"/>
          <p:cNvCxnSpPr/>
          <p:nvPr/>
        </p:nvCxnSpPr>
        <p:spPr>
          <a:xfrm>
            <a:off x="4493684" y="1572685"/>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7"/>
          <p:cNvCxnSpPr/>
          <p:nvPr/>
        </p:nvCxnSpPr>
        <p:spPr>
          <a:xfrm>
            <a:off x="3054351" y="1490134"/>
            <a:ext cx="0" cy="203411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8699" name="文本框 1"/>
          <p:cNvSpPr txBox="1"/>
          <p:nvPr/>
        </p:nvSpPr>
        <p:spPr>
          <a:xfrm>
            <a:off x="1320801" y="969434"/>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700" name="文本框 1"/>
          <p:cNvSpPr txBox="1"/>
          <p:nvPr/>
        </p:nvSpPr>
        <p:spPr>
          <a:xfrm>
            <a:off x="2971801" y="950385"/>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701" name="文本框 1"/>
          <p:cNvSpPr txBox="1"/>
          <p:nvPr/>
        </p:nvSpPr>
        <p:spPr>
          <a:xfrm>
            <a:off x="449580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702" name="文本框 1"/>
          <p:cNvSpPr txBox="1"/>
          <p:nvPr/>
        </p:nvSpPr>
        <p:spPr>
          <a:xfrm>
            <a:off x="6009218" y="9503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 name="Line 58"/>
          <p:cNvSpPr/>
          <p:nvPr/>
        </p:nvSpPr>
        <p:spPr>
          <a:xfrm flipH="1">
            <a:off x="3054351" y="2645834"/>
            <a:ext cx="721783" cy="1276351"/>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3AFF52D-6370-2BC3-C248-6BDBA833DDE8}"/>
              </a:ext>
            </a:extLst>
          </p:cNvPr>
          <p:cNvSpPr txBox="1"/>
          <p:nvPr/>
        </p:nvSpPr>
        <p:spPr>
          <a:xfrm>
            <a:off x="10500621" y="3304118"/>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9" name="TextBox 30">
            <a:extLst>
              <a:ext uri="{FF2B5EF4-FFF2-40B4-BE49-F238E27FC236}">
                <a16:creationId xmlns:a16="http://schemas.microsoft.com/office/drawing/2014/main" id="{37B15513-B7AD-3339-D733-B9C56336DDFC}"/>
              </a:ext>
            </a:extLst>
          </p:cNvPr>
          <p:cNvSpPr txBox="1"/>
          <p:nvPr/>
        </p:nvSpPr>
        <p:spPr>
          <a:xfrm>
            <a:off x="93664" y="1492958"/>
            <a:ext cx="3159124"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23" presetClass="entr" presetSubtype="16"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23" presetClass="entr" presetSubtype="16"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p:cTn id="28" dur="500" fill="hold"/>
                                        <p:tgtEl>
                                          <p:spTgt spid="32"/>
                                        </p:tgtEl>
                                        <p:attrNameLst>
                                          <p:attrName>ppt_w</p:attrName>
                                        </p:attrNameLst>
                                      </p:cBhvr>
                                      <p:tavLst>
                                        <p:tav tm="0">
                                          <p:val>
                                            <p:fltVal val="0"/>
                                          </p:val>
                                        </p:tav>
                                        <p:tav tm="100000">
                                          <p:val>
                                            <p:strVal val="#ppt_w"/>
                                          </p:val>
                                        </p:tav>
                                      </p:tavLst>
                                    </p:anim>
                                    <p:anim calcmode="lin" valueType="num">
                                      <p:cBhvr>
                                        <p:cTn id="29" dur="500" fill="hold"/>
                                        <p:tgtEl>
                                          <p:spTgt spid="32"/>
                                        </p:tgtEl>
                                        <p:attrNameLst>
                                          <p:attrName>ppt_h</p:attrName>
                                        </p:attrNameLst>
                                      </p:cBhvr>
                                      <p:tavLst>
                                        <p:tav tm="0">
                                          <p:val>
                                            <p:fltVal val="0"/>
                                          </p:val>
                                        </p:tav>
                                        <p:tav tm="100000">
                                          <p:val>
                                            <p:strVal val="#ppt_h"/>
                                          </p:val>
                                        </p:tav>
                                      </p:tavLst>
                                    </p:anim>
                                  </p:childTnLst>
                                </p:cTn>
                              </p:par>
                              <p:par>
                                <p:cTn id="30" presetID="2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childTnLst>
                                </p:cTn>
                              </p:par>
                              <p:par>
                                <p:cTn id="34" presetID="22" presetClass="entr" presetSubtype="4"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down)">
                                      <p:cBhvr>
                                        <p:cTn id="36" dur="500"/>
                                        <p:tgtEl>
                                          <p:spTgt spid="18"/>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blinds(horizontal)">
                                      <p:cBhvr>
                                        <p:cTn id="39" dur="500"/>
                                        <p:tgtEl>
                                          <p:spTgt spid="21"/>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ircle(in)">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P spid="20" grpId="0"/>
      <p:bldP spid="2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3"/>
          <p:cNvSpPr/>
          <p:nvPr/>
        </p:nvSpPr>
        <p:spPr>
          <a:xfrm>
            <a:off x="3005667" y="4914900"/>
            <a:ext cx="4660900" cy="1066800"/>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缺料补货需求</a:t>
            </a: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4" name="直接箭头连接符 6"/>
          <p:cNvCxnSpPr/>
          <p:nvPr/>
        </p:nvCxnSpPr>
        <p:spPr>
          <a:xfrm>
            <a:off x="960967" y="3367617"/>
            <a:ext cx="9330267"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p:cNvCxnSpPr>
            <a:stCxn id="29704" idx="2"/>
          </p:cNvCxnSpPr>
          <p:nvPr/>
        </p:nvCxnSpPr>
        <p:spPr>
          <a:xfrm flipH="1">
            <a:off x="4290484" y="2538895"/>
            <a:ext cx="1059" cy="854123"/>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p:cNvCxnSpPr>
            <a:stCxn id="29705" idx="2"/>
          </p:cNvCxnSpPr>
          <p:nvPr/>
        </p:nvCxnSpPr>
        <p:spPr>
          <a:xfrm>
            <a:off x="6546851" y="2526067"/>
            <a:ext cx="0" cy="87740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p:cNvCxnSpPr/>
          <p:nvPr/>
        </p:nvCxnSpPr>
        <p:spPr>
          <a:xfrm flipV="1">
            <a:off x="2999317" y="3367618"/>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p:cNvCxnSpPr/>
          <p:nvPr/>
        </p:nvCxnSpPr>
        <p:spPr>
          <a:xfrm flipV="1">
            <a:off x="2999317" y="4243917"/>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9704" name="矩形 8"/>
          <p:cNvSpPr/>
          <p:nvPr/>
        </p:nvSpPr>
        <p:spPr>
          <a:xfrm>
            <a:off x="3570818" y="2169585"/>
            <a:ext cx="1441449"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705" name="矩形 9"/>
          <p:cNvSpPr/>
          <p:nvPr/>
        </p:nvSpPr>
        <p:spPr>
          <a:xfrm>
            <a:off x="5827184" y="2156757"/>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706" name="矩形 10"/>
          <p:cNvSpPr/>
          <p:nvPr/>
        </p:nvSpPr>
        <p:spPr>
          <a:xfrm>
            <a:off x="1416052" y="3560235"/>
            <a:ext cx="1390649"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11"/>
          <p:cNvSpPr/>
          <p:nvPr/>
        </p:nvSpPr>
        <p:spPr>
          <a:xfrm>
            <a:off x="3581401" y="4940300"/>
            <a:ext cx="1361017" cy="369310"/>
          </a:xfrm>
          <a:prstGeom prst="rect">
            <a:avLst/>
          </a:prstGeom>
          <a:solidFill>
            <a:schemeClr val="accent3">
              <a:lumMod val="20000"/>
              <a:lumOff val="80000"/>
              <a:alpha val="50000"/>
            </a:schemeClr>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补货需求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 C</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29708" name="矩形 12"/>
          <p:cNvSpPr/>
          <p:nvPr/>
        </p:nvSpPr>
        <p:spPr>
          <a:xfrm>
            <a:off x="1416052" y="4375151"/>
            <a:ext cx="1390649"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4" name="Line 58"/>
          <p:cNvSpPr>
            <a:spLocks noChangeShapeType="1"/>
          </p:cNvSpPr>
          <p:nvPr/>
        </p:nvSpPr>
        <p:spPr bwMode="auto">
          <a:xfrm>
            <a:off x="6548967" y="2997200"/>
            <a:ext cx="213784" cy="2006600"/>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Line 58"/>
          <p:cNvSpPr>
            <a:spLocks noChangeShapeType="1"/>
          </p:cNvSpPr>
          <p:nvPr/>
        </p:nvSpPr>
        <p:spPr bwMode="auto">
          <a:xfrm flipH="1">
            <a:off x="2980267" y="2992967"/>
            <a:ext cx="3543300" cy="781051"/>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标注 15"/>
          <p:cNvSpPr/>
          <p:nvPr/>
        </p:nvSpPr>
        <p:spPr>
          <a:xfrm>
            <a:off x="3088218" y="1358900"/>
            <a:ext cx="2328333" cy="508000"/>
          </a:xfrm>
          <a:prstGeom prst="wedgeRectCallout">
            <a:avLst>
              <a:gd name="adj1" fmla="val 782"/>
              <a:gd name="adj2" fmla="val 90562"/>
            </a:avLst>
          </a:prstGeom>
          <a:ln>
            <a:noFill/>
          </a:ln>
        </p:spPr>
        <p:style>
          <a:lnRef idx="2">
            <a:schemeClr val="accent2">
              <a:shade val="50000"/>
            </a:schemeClr>
          </a:lnRef>
          <a:fillRef idx="1">
            <a:schemeClr val="accent2"/>
          </a:fillRef>
          <a:effectRef idx="0">
            <a:schemeClr val="accent2"/>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MRP</a:t>
            </a:r>
            <a:endParaRPr kumimoji="0" lang="zh-CN" altLang="en-US" sz="1333"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7" name="矩形标注 16"/>
          <p:cNvSpPr/>
          <p:nvPr/>
        </p:nvSpPr>
        <p:spPr>
          <a:xfrm>
            <a:off x="5416552" y="1358901"/>
            <a:ext cx="2250017" cy="522817"/>
          </a:xfrm>
          <a:prstGeom prst="wedgeRectCallout">
            <a:avLst>
              <a:gd name="adj1" fmla="val 782"/>
              <a:gd name="adj2" fmla="val 90562"/>
            </a:avLst>
          </a:prstGeom>
          <a:ln>
            <a:noFill/>
          </a:ln>
        </p:spPr>
        <p:style>
          <a:lnRef idx="2">
            <a:schemeClr val="accent2">
              <a:shade val="50000"/>
            </a:schemeClr>
          </a:lnRef>
          <a:fillRef idx="1">
            <a:schemeClr val="accent2"/>
          </a:fillRef>
          <a:effectRef idx="0">
            <a:schemeClr val="accent2"/>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MRP</a:t>
            </a:r>
            <a:endParaRPr kumimoji="0" lang="zh-CN" altLang="en-US" sz="1333"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8" name="Line 58"/>
          <p:cNvSpPr>
            <a:spLocks noChangeShapeType="1"/>
          </p:cNvSpPr>
          <p:nvPr/>
        </p:nvSpPr>
        <p:spPr bwMode="auto">
          <a:xfrm flipH="1">
            <a:off x="3943352" y="2529418"/>
            <a:ext cx="319617" cy="2465917"/>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矩形标注 19"/>
          <p:cNvSpPr/>
          <p:nvPr/>
        </p:nvSpPr>
        <p:spPr>
          <a:xfrm>
            <a:off x="5923936" y="1351652"/>
            <a:ext cx="1439333" cy="510117"/>
          </a:xfrm>
          <a:prstGeom prst="wedgeRectCallout">
            <a:avLst>
              <a:gd name="adj1" fmla="val 782"/>
              <a:gd name="adj2" fmla="val 90562"/>
            </a:avLst>
          </a:prstGeom>
          <a:ln>
            <a:noFill/>
          </a:ln>
        </p:spPr>
        <p:style>
          <a:lnRef idx="2">
            <a:schemeClr val="accent4">
              <a:shade val="50000"/>
            </a:schemeClr>
          </a:lnRef>
          <a:fillRef idx="1">
            <a:schemeClr val="accent4"/>
          </a:fillRef>
          <a:effectRef idx="0">
            <a:schemeClr val="accent4"/>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21" name="Line 58"/>
          <p:cNvSpPr>
            <a:spLocks noChangeShapeType="1"/>
          </p:cNvSpPr>
          <p:nvPr/>
        </p:nvSpPr>
        <p:spPr bwMode="auto">
          <a:xfrm flipH="1">
            <a:off x="3005667" y="2997200"/>
            <a:ext cx="3517900" cy="1583267"/>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Line 58"/>
          <p:cNvSpPr>
            <a:spLocks noChangeShapeType="1"/>
          </p:cNvSpPr>
          <p:nvPr/>
        </p:nvSpPr>
        <p:spPr bwMode="auto">
          <a:xfrm flipH="1">
            <a:off x="3005667" y="2529417"/>
            <a:ext cx="1272117" cy="1244600"/>
          </a:xfrm>
          <a:prstGeom prst="line">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矩形标注 22"/>
          <p:cNvSpPr/>
          <p:nvPr/>
        </p:nvSpPr>
        <p:spPr>
          <a:xfrm>
            <a:off x="3724399" y="1366105"/>
            <a:ext cx="1248957" cy="508000"/>
          </a:xfrm>
          <a:prstGeom prst="wedgeRectCallout">
            <a:avLst>
              <a:gd name="adj1" fmla="val 899"/>
              <a:gd name="adj2" fmla="val 86668"/>
            </a:avLst>
          </a:prstGeom>
          <a:ln>
            <a:noFill/>
          </a:ln>
        </p:spPr>
        <p:style>
          <a:lnRef idx="2">
            <a:schemeClr val="accent4">
              <a:shade val="50000"/>
            </a:schemeClr>
          </a:lnRef>
          <a:fillRef idx="1">
            <a:schemeClr val="accent4"/>
          </a:fillRef>
          <a:effectRef idx="0">
            <a:schemeClr val="accent4"/>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24" name="TextBox 48"/>
          <p:cNvSpPr txBox="1"/>
          <p:nvPr/>
        </p:nvSpPr>
        <p:spPr>
          <a:xfrm>
            <a:off x="8077200" y="753533"/>
            <a:ext cx="3454400" cy="902854"/>
          </a:xfrm>
          <a:prstGeom prst="rect">
            <a:avLst/>
          </a:prstGeom>
          <a:no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MRP:</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需要补货需求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需要补货需求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5" name="TextBox 74"/>
          <p:cNvSpPr txBox="1"/>
          <p:nvPr/>
        </p:nvSpPr>
        <p:spPr>
          <a:xfrm>
            <a:off x="8100486" y="1496974"/>
            <a:ext cx="4240537" cy="1846637"/>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生产计划</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工单下达，立即安排生产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需要</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补货需求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The Shortage A from Production Planning process  is earlier than the reported shortage. It will impact delivery speed of DEMAND2</a:t>
            </a:r>
          </a:p>
        </p:txBody>
      </p:sp>
      <p:sp>
        <p:nvSpPr>
          <p:cNvPr id="26" name="圆角矩形 25"/>
          <p:cNvSpPr/>
          <p:nvPr/>
        </p:nvSpPr>
        <p:spPr>
          <a:xfrm>
            <a:off x="8011585" y="3663951"/>
            <a:ext cx="3611033" cy="161925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marL="284480" indent="-284480"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不齐套也会占料，因为采购需求也是供应。</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生产计划</a:t>
            </a: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不齐套不占料，采购需求不为供应</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9722" name="Title 34"/>
          <p:cNvSpPr>
            <a:spLocks noGrp="1"/>
          </p:cNvSpPr>
          <p:nvPr>
            <p:ph type="title" idx="4294967295"/>
          </p:nvPr>
        </p:nvSpPr>
        <p:spPr>
          <a:xfrm>
            <a:off x="1116013" y="123825"/>
            <a:ext cx="11075987" cy="520700"/>
          </a:xfrm>
          <a:prstGeom prst="rect">
            <a:avLst/>
          </a:prstGeom>
        </p:spPr>
        <p:txBody>
          <a:bodyPr vert="horz" wrap="square" lIns="121920" tIns="60960" rIns="121920" bIns="60960" anchor="ctr" anchorCtr="0">
            <a:normAutofit/>
          </a:bodyPr>
          <a:lstStyle/>
          <a:p>
            <a:pPr eaLnBrk="1" hangingPunct="1"/>
            <a:r>
              <a:rPr lang="zh-CN" altLang="en-US"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 C</a:t>
            </a:r>
          </a:p>
        </p:txBody>
      </p:sp>
      <p:sp>
        <p:nvSpPr>
          <p:cNvPr id="28" name="矩形 27"/>
          <p:cNvSpPr/>
          <p:nvPr/>
        </p:nvSpPr>
        <p:spPr>
          <a:xfrm>
            <a:off x="5820834" y="4938184"/>
            <a:ext cx="1363133" cy="369310"/>
          </a:xfrm>
          <a:prstGeom prst="rect">
            <a:avLst/>
          </a:prstGeom>
          <a:solidFill>
            <a:schemeClr val="accent3">
              <a:lumMod val="20000"/>
              <a:lumOff val="80000"/>
              <a:alpha val="50000"/>
            </a:schemeClr>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补货需求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A</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29" name="Line 58"/>
          <p:cNvSpPr>
            <a:spLocks noChangeShapeType="1"/>
          </p:cNvSpPr>
          <p:nvPr/>
        </p:nvSpPr>
        <p:spPr bwMode="auto">
          <a:xfrm flipH="1">
            <a:off x="3005667" y="2529418"/>
            <a:ext cx="1272117" cy="1030817"/>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0" name="直接箭头连接符 4"/>
          <p:cNvCxnSpPr>
            <a:cxnSpLocks/>
            <a:stCxn id="18" idx="0"/>
            <a:endCxn id="12" idx="0"/>
          </p:cNvCxnSpPr>
          <p:nvPr/>
        </p:nvCxnSpPr>
        <p:spPr>
          <a:xfrm flipH="1">
            <a:off x="4261910" y="2529418"/>
            <a:ext cx="1059" cy="2410882"/>
          </a:xfrm>
          <a:prstGeom prst="straightConnector1">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31" name="矩形 30"/>
          <p:cNvSpPr/>
          <p:nvPr/>
        </p:nvSpPr>
        <p:spPr>
          <a:xfrm>
            <a:off x="3539067" y="5611284"/>
            <a:ext cx="1363133" cy="369310"/>
          </a:xfrm>
          <a:prstGeom prst="rect">
            <a:avLst/>
          </a:prstGeom>
          <a:solidFill>
            <a:schemeClr val="accent4">
              <a:alpha val="50000"/>
            </a:schemeClr>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补货需求 </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A</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32" name="直接箭头连接符 43"/>
          <p:cNvCxnSpPr>
            <a:cxnSpLocks/>
            <a:stCxn id="29704" idx="2"/>
          </p:cNvCxnSpPr>
          <p:nvPr/>
        </p:nvCxnSpPr>
        <p:spPr>
          <a:xfrm>
            <a:off x="4291543" y="2538895"/>
            <a:ext cx="455424" cy="3042756"/>
          </a:xfrm>
          <a:prstGeom prst="straightConnector1">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33" name="直接箭头连接符 11"/>
          <p:cNvCxnSpPr>
            <a:cxnSpLocks/>
            <a:stCxn id="29705" idx="2"/>
          </p:cNvCxnSpPr>
          <p:nvPr/>
        </p:nvCxnSpPr>
        <p:spPr>
          <a:xfrm flipH="1">
            <a:off x="2992966" y="2526067"/>
            <a:ext cx="3553885" cy="1283807"/>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直接箭头连接符 45"/>
          <p:cNvCxnSpPr/>
          <p:nvPr/>
        </p:nvCxnSpPr>
        <p:spPr>
          <a:xfrm flipH="1">
            <a:off x="3015345" y="2491397"/>
            <a:ext cx="3549651" cy="2091267"/>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直接连接符 7"/>
          <p:cNvCxnSpPr/>
          <p:nvPr/>
        </p:nvCxnSpPr>
        <p:spPr>
          <a:xfrm>
            <a:off x="3088217" y="1109134"/>
            <a:ext cx="0" cy="219921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7"/>
          <p:cNvCxnSpPr/>
          <p:nvPr/>
        </p:nvCxnSpPr>
        <p:spPr>
          <a:xfrm>
            <a:off x="5446184" y="1109134"/>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7"/>
          <p:cNvCxnSpPr/>
          <p:nvPr/>
        </p:nvCxnSpPr>
        <p:spPr>
          <a:xfrm>
            <a:off x="7666567" y="1109134"/>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9733" name="文本框 1"/>
          <p:cNvSpPr txBox="1"/>
          <p:nvPr/>
        </p:nvSpPr>
        <p:spPr>
          <a:xfrm>
            <a:off x="1411817" y="850901"/>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734" name="文本框 1"/>
          <p:cNvSpPr txBox="1"/>
          <p:nvPr/>
        </p:nvSpPr>
        <p:spPr>
          <a:xfrm>
            <a:off x="3547534" y="850901"/>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735" name="文本框 1"/>
          <p:cNvSpPr txBox="1"/>
          <p:nvPr/>
        </p:nvSpPr>
        <p:spPr>
          <a:xfrm>
            <a:off x="5820834" y="831851"/>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9" name="文本框 8">
            <a:extLst>
              <a:ext uri="{FF2B5EF4-FFF2-40B4-BE49-F238E27FC236}">
                <a16:creationId xmlns:a16="http://schemas.microsoft.com/office/drawing/2014/main" id="{5CF1EA1B-8593-C2CD-6447-3D9E1B51D716}"/>
              </a:ext>
            </a:extLst>
          </p:cNvPr>
          <p:cNvSpPr txBox="1"/>
          <p:nvPr/>
        </p:nvSpPr>
        <p:spPr>
          <a:xfrm>
            <a:off x="10291234" y="3259723"/>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27" name="TextBox 30">
            <a:extLst>
              <a:ext uri="{FF2B5EF4-FFF2-40B4-BE49-F238E27FC236}">
                <a16:creationId xmlns:a16="http://schemas.microsoft.com/office/drawing/2014/main" id="{A404D1D8-FDE2-BF6A-05DF-2B3D64DE4F7F}"/>
              </a:ext>
            </a:extLst>
          </p:cNvPr>
          <p:cNvSpPr txBox="1"/>
          <p:nvPr/>
        </p:nvSpPr>
        <p:spPr>
          <a:xfrm>
            <a:off x="62086" y="1468428"/>
            <a:ext cx="3159124"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500"/>
                                        <p:tgtEl>
                                          <p:spTgt spid="18"/>
                                        </p:tgtEl>
                                      </p:cBhvr>
                                    </p:animEffect>
                                  </p:childTnLst>
                                </p:cTn>
                              </p:par>
                              <p:par>
                                <p:cTn id="10" presetID="1"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16"/>
                                        </p:tgtEl>
                                      </p:cBhvr>
                                    </p:animEffect>
                                    <p:set>
                                      <p:cBhvr>
                                        <p:cTn id="39" dur="1" fill="hold">
                                          <p:stCondLst>
                                            <p:cond delay="499"/>
                                          </p:stCondLst>
                                        </p:cTn>
                                        <p:tgtEl>
                                          <p:spTgt spid="16"/>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22"/>
                                        </p:tgtEl>
                                      </p:cBhvr>
                                    </p:animEffect>
                                    <p:set>
                                      <p:cBhvr>
                                        <p:cTn id="42" dur="1" fill="hold">
                                          <p:stCondLst>
                                            <p:cond delay="499"/>
                                          </p:stCondLst>
                                        </p:cTn>
                                        <p:tgtEl>
                                          <p:spTgt spid="22"/>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17"/>
                                        </p:tgtEl>
                                      </p:cBhvr>
                                    </p:animEffect>
                                    <p:set>
                                      <p:cBhvr>
                                        <p:cTn id="45" dur="1" fill="hold">
                                          <p:stCondLst>
                                            <p:cond delay="499"/>
                                          </p:stCondLst>
                                        </p:cTn>
                                        <p:tgtEl>
                                          <p:spTgt spid="17"/>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15"/>
                                        </p:tgtEl>
                                      </p:cBhvr>
                                    </p:animEffect>
                                    <p:set>
                                      <p:cBhvr>
                                        <p:cTn id="48" dur="1" fill="hold">
                                          <p:stCondLst>
                                            <p:cond delay="499"/>
                                          </p:stCondLst>
                                        </p:cTn>
                                        <p:tgtEl>
                                          <p:spTgt spid="15"/>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1"/>
                                        </p:tgtEl>
                                      </p:cBhvr>
                                    </p:animEffect>
                                    <p:set>
                                      <p:cBhvr>
                                        <p:cTn id="51" dur="1" fill="hold">
                                          <p:stCondLst>
                                            <p:cond delay="499"/>
                                          </p:stCondLst>
                                        </p:cTn>
                                        <p:tgtEl>
                                          <p:spTgt spid="21"/>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18"/>
                                        </p:tgtEl>
                                      </p:cBhvr>
                                    </p:animEffect>
                                    <p:set>
                                      <p:cBhvr>
                                        <p:cTn id="54" dur="1" fill="hold">
                                          <p:stCondLst>
                                            <p:cond delay="499"/>
                                          </p:stCondLst>
                                        </p:cTn>
                                        <p:tgtEl>
                                          <p:spTgt spid="18"/>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nodeType="clickEffect">
                                  <p:stCondLst>
                                    <p:cond delay="0"/>
                                  </p:stCondLst>
                                  <p:childTnLst>
                                    <p:animEffect transition="out" filter="fade">
                                      <p:cBhvr>
                                        <p:cTn id="72" dur="500"/>
                                        <p:tgtEl>
                                          <p:spTgt spid="29"/>
                                        </p:tgtEl>
                                      </p:cBhvr>
                                    </p:animEffect>
                                    <p:set>
                                      <p:cBhvr>
                                        <p:cTn id="73" dur="1" fill="hold">
                                          <p:stCondLst>
                                            <p:cond delay="499"/>
                                          </p:stCondLst>
                                        </p:cTn>
                                        <p:tgtEl>
                                          <p:spTgt spid="29"/>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blinds(horizontal)">
                                      <p:cBhvr>
                                        <p:cTn id="93" dur="500"/>
                                        <p:tgtEl>
                                          <p:spTgt spid="31"/>
                                        </p:tgtEl>
                                      </p:cBhvr>
                                    </p:animEffect>
                                  </p:childTnLst>
                                </p:cTn>
                              </p:par>
                              <p:par>
                                <p:cTn id="94" presetID="1" presetClass="entr" presetSubtype="0" fill="hold" nodeType="withEffect">
                                  <p:stCondLst>
                                    <p:cond delay="0"/>
                                  </p:stCondLst>
                                  <p:childTnLst>
                                    <p:set>
                                      <p:cBhvr>
                                        <p:cTn id="95" dur="1" fill="hold">
                                          <p:stCondLst>
                                            <p:cond delay="0"/>
                                          </p:stCondLst>
                                        </p:cTn>
                                        <p:tgtEl>
                                          <p:spTgt spid="32"/>
                                        </p:tgtEl>
                                        <p:attrNameLst>
                                          <p:attrName>style.visibility</p:attrName>
                                        </p:attrNameLst>
                                      </p:cBhvr>
                                      <p:to>
                                        <p:strVal val="visible"/>
                                      </p:to>
                                    </p:set>
                                  </p:childTnLst>
                                </p:cTn>
                              </p:par>
                              <p:par>
                                <p:cTn id="96" presetID="3" presetClass="entr" presetSubtype="10" fill="hold" grpId="0" nodeType="with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blinds(horizontal)">
                                      <p:cBhvr>
                                        <p:cTn id="9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20" grpId="0" animBg="1"/>
      <p:bldP spid="23" grpId="0" animBg="1"/>
      <p:bldP spid="24" grpId="0"/>
      <p:bldP spid="25" grpId="0"/>
      <p:bldP spid="26" grpId="0" animBg="1"/>
      <p:bldP spid="3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9"/>
          <p:cNvSpPr/>
          <p:nvPr/>
        </p:nvSpPr>
        <p:spPr>
          <a:xfrm>
            <a:off x="3005667" y="4955117"/>
            <a:ext cx="4660900" cy="951734"/>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缺料补货需求</a:t>
            </a: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cxnSp>
        <p:nvCxnSpPr>
          <p:cNvPr id="3" name="直接箭头连接符 6"/>
          <p:cNvCxnSpPr/>
          <p:nvPr/>
        </p:nvCxnSpPr>
        <p:spPr>
          <a:xfrm>
            <a:off x="986367" y="3503084"/>
            <a:ext cx="9332384"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3"/>
          <p:cNvCxnSpPr>
            <a:cxnSpLocks/>
            <a:stCxn id="32" idx="0"/>
          </p:cNvCxnSpPr>
          <p:nvPr/>
        </p:nvCxnSpPr>
        <p:spPr>
          <a:xfrm flipH="1">
            <a:off x="4252384" y="2624668"/>
            <a:ext cx="1" cy="8784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5"/>
          <p:cNvCxnSpPr>
            <a:stCxn id="30729" idx="2"/>
          </p:cNvCxnSpPr>
          <p:nvPr/>
        </p:nvCxnSpPr>
        <p:spPr>
          <a:xfrm>
            <a:off x="6617759" y="2636261"/>
            <a:ext cx="9525" cy="90280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23"/>
          <p:cNvCxnSpPr/>
          <p:nvPr/>
        </p:nvCxnSpPr>
        <p:spPr>
          <a:xfrm flipV="1">
            <a:off x="3024717" y="3503085"/>
            <a:ext cx="0" cy="673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35"/>
          <p:cNvCxnSpPr/>
          <p:nvPr/>
        </p:nvCxnSpPr>
        <p:spPr>
          <a:xfrm flipV="1">
            <a:off x="3024717" y="4379385"/>
            <a:ext cx="0" cy="673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28" name="矩形 7"/>
          <p:cNvSpPr/>
          <p:nvPr/>
        </p:nvSpPr>
        <p:spPr>
          <a:xfrm>
            <a:off x="3581400" y="2256367"/>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0729" name="矩形 8"/>
          <p:cNvSpPr/>
          <p:nvPr/>
        </p:nvSpPr>
        <p:spPr>
          <a:xfrm>
            <a:off x="5897033" y="2266951"/>
            <a:ext cx="1441451"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0730" name="矩形 9"/>
          <p:cNvSpPr/>
          <p:nvPr/>
        </p:nvSpPr>
        <p:spPr>
          <a:xfrm>
            <a:off x="1443567" y="3695700"/>
            <a:ext cx="1390651"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10"/>
          <p:cNvSpPr/>
          <p:nvPr/>
        </p:nvSpPr>
        <p:spPr>
          <a:xfrm>
            <a:off x="3456519" y="5522143"/>
            <a:ext cx="1553633" cy="369310"/>
          </a:xfrm>
          <a:prstGeom prst="rect">
            <a:avLst/>
          </a:prstGeom>
          <a:solidFill>
            <a:schemeClr val="accent3">
              <a:lumMod val="20000"/>
              <a:lumOff val="80000"/>
              <a:alpha val="50000"/>
            </a:schemeClr>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补货需求 </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C</a:t>
            </a:r>
          </a:p>
        </p:txBody>
      </p:sp>
      <p:sp>
        <p:nvSpPr>
          <p:cNvPr id="30732" name="矩形 11"/>
          <p:cNvSpPr/>
          <p:nvPr/>
        </p:nvSpPr>
        <p:spPr>
          <a:xfrm>
            <a:off x="1443567" y="4510617"/>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p:cNvSpPr>
            <a:spLocks noChangeShapeType="1"/>
          </p:cNvSpPr>
          <p:nvPr/>
        </p:nvSpPr>
        <p:spPr bwMode="auto">
          <a:xfrm flipH="1">
            <a:off x="3024718" y="3009900"/>
            <a:ext cx="3545417" cy="823384"/>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4" name="Line 58"/>
          <p:cNvSpPr>
            <a:spLocks noChangeShapeType="1"/>
          </p:cNvSpPr>
          <p:nvPr/>
        </p:nvSpPr>
        <p:spPr bwMode="auto">
          <a:xfrm flipH="1">
            <a:off x="3024718" y="3009900"/>
            <a:ext cx="3560233" cy="1729317"/>
          </a:xfrm>
          <a:prstGeom prst="line">
            <a:avLst/>
          </a:prstGeom>
          <a:ln>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5" name="矩形标注 14"/>
          <p:cNvSpPr/>
          <p:nvPr/>
        </p:nvSpPr>
        <p:spPr>
          <a:xfrm>
            <a:off x="5740401" y="1386418"/>
            <a:ext cx="1629833" cy="615951"/>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6" name="矩形标注 15"/>
          <p:cNvSpPr/>
          <p:nvPr/>
        </p:nvSpPr>
        <p:spPr>
          <a:xfrm>
            <a:off x="3416302" y="1370945"/>
            <a:ext cx="1631951" cy="622300"/>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7" name="TextBox 33"/>
          <p:cNvSpPr txBox="1"/>
          <p:nvPr/>
        </p:nvSpPr>
        <p:spPr>
          <a:xfrm>
            <a:off x="7998667" y="1261536"/>
            <a:ext cx="3950878" cy="1107973"/>
          </a:xfrm>
          <a:prstGeom prst="rect">
            <a:avLst/>
          </a:prstGeom>
          <a:noFill/>
        </p:spPr>
        <p:txBody>
          <a:bodyPr wrap="square"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IPS:</a:t>
            </a:r>
          </a:p>
          <a:p>
            <a:pPr marL="380990"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工单下达立即生产</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t>
            </a:r>
          </a:p>
          <a:p>
            <a:pPr marL="380990"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1 </a:t>
            </a: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需要</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a:t>
            </a: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和</a:t>
            </a:r>
            <a:r>
              <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C</a:t>
            </a: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的补货需求</a:t>
            </a:r>
            <a:endPar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380990"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生产计划与采购计划协同</a:t>
            </a:r>
            <a:endPar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p:txBody>
      </p:sp>
      <p:sp>
        <p:nvSpPr>
          <p:cNvPr id="30746" name="Title 52"/>
          <p:cNvSpPr>
            <a:spLocks noGrp="1"/>
          </p:cNvSpPr>
          <p:nvPr>
            <p:ph type="title" idx="4294967295"/>
          </p:nvPr>
        </p:nvSpPr>
        <p:spPr>
          <a:xfrm>
            <a:off x="1116013" y="223838"/>
            <a:ext cx="11075987" cy="520700"/>
          </a:xfrm>
          <a:prstGeom prst="rect">
            <a:avLst/>
          </a:prstGeom>
        </p:spPr>
        <p:txBody>
          <a:bodyPr vert="horz" wrap="square" lIns="121920" tIns="60960" rIns="121920" bIns="60960" anchor="ctr" anchorCtr="0">
            <a:normAutofit/>
          </a:bodyPr>
          <a:lstStyle/>
          <a:p>
            <a:pPr eaLnBrk="1" hangingPunct="1"/>
            <a:r>
              <a:rPr lang="zh-CN" altLang="en-US" b="1"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dirty="0">
                <a:solidFill>
                  <a:schemeClr val="bg1"/>
                </a:solidFill>
                <a:latin typeface="Arial" panose="020B0604020202020204" pitchFamily="34" charset="0"/>
                <a:ea typeface="微软雅黑" panose="020B0503020204020204" pitchFamily="34" charset="-122"/>
              </a:rPr>
              <a:t>C</a:t>
            </a:r>
            <a:r>
              <a:rPr lang="zh-CN" altLang="en-US" dirty="0">
                <a:solidFill>
                  <a:schemeClr val="bg1"/>
                </a:solidFill>
                <a:latin typeface="Arial" panose="020B0604020202020204" pitchFamily="34" charset="0"/>
                <a:ea typeface="微软雅黑" panose="020B0503020204020204" pitchFamily="34" charset="-122"/>
              </a:rPr>
              <a:t>的方案</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28" name="圆角矩形 5"/>
          <p:cNvSpPr/>
          <p:nvPr/>
        </p:nvSpPr>
        <p:spPr>
          <a:xfrm>
            <a:off x="7922683" y="4034254"/>
            <a:ext cx="3560233" cy="196215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统一采购计划和生产计划的数据源和逻辑</a:t>
            </a:r>
            <a:endParaRPr kumimoji="0" lang="en-US" altLang="zh-CN" sz="16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0" name="矩形 29"/>
          <p:cNvSpPr/>
          <p:nvPr/>
        </p:nvSpPr>
        <p:spPr>
          <a:xfrm>
            <a:off x="3443818" y="4959351"/>
            <a:ext cx="1553633" cy="369310"/>
          </a:xfrm>
          <a:prstGeom prst="rect">
            <a:avLst/>
          </a:prstGeom>
          <a:solidFill>
            <a:schemeClr val="accent3">
              <a:lumMod val="20000"/>
              <a:lumOff val="80000"/>
              <a:alpha val="50000"/>
            </a:schemeClr>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补货需求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 A</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1" name="Line 58"/>
          <p:cNvSpPr>
            <a:spLocks noChangeShapeType="1"/>
          </p:cNvSpPr>
          <p:nvPr/>
        </p:nvSpPr>
        <p:spPr bwMode="auto">
          <a:xfrm flipH="1">
            <a:off x="3884085" y="2624667"/>
            <a:ext cx="368300" cy="2334684"/>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32" name="Line 58"/>
          <p:cNvSpPr>
            <a:spLocks noChangeShapeType="1"/>
          </p:cNvSpPr>
          <p:nvPr/>
        </p:nvSpPr>
        <p:spPr bwMode="auto">
          <a:xfrm>
            <a:off x="4252385" y="2624668"/>
            <a:ext cx="528630" cy="2910415"/>
          </a:xfrm>
          <a:prstGeom prst="line">
            <a:avLst/>
          </a:prstGeom>
          <a:ln>
            <a:tailEnd type="triangle" w="med" len="med"/>
          </a:ln>
        </p:spPr>
        <p:style>
          <a:lnRef idx="2">
            <a:schemeClr val="accent1"/>
          </a:lnRef>
          <a:fillRef idx="0">
            <a:schemeClr val="accent1"/>
          </a:fillRef>
          <a:effectRef idx="1">
            <a:schemeClr val="accent1"/>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cxnSp>
        <p:nvCxnSpPr>
          <p:cNvPr id="33" name="直接连接符 7"/>
          <p:cNvCxnSpPr/>
          <p:nvPr/>
        </p:nvCxnSpPr>
        <p:spPr>
          <a:xfrm>
            <a:off x="3052361" y="1149352"/>
            <a:ext cx="0" cy="219921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7"/>
          <p:cNvCxnSpPr/>
          <p:nvPr/>
        </p:nvCxnSpPr>
        <p:spPr>
          <a:xfrm>
            <a:off x="5446184" y="1149352"/>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7"/>
          <p:cNvCxnSpPr/>
          <p:nvPr/>
        </p:nvCxnSpPr>
        <p:spPr>
          <a:xfrm>
            <a:off x="7666567" y="1149351"/>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0" name="Line 58"/>
          <p:cNvSpPr>
            <a:spLocks noChangeShapeType="1"/>
          </p:cNvSpPr>
          <p:nvPr/>
        </p:nvSpPr>
        <p:spPr bwMode="auto">
          <a:xfrm flipH="1">
            <a:off x="3088218" y="2624668"/>
            <a:ext cx="1132417" cy="1208617"/>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162504" tIns="81251" rIns="162504" bIns="81251"/>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10096E1D-BA05-DF0F-D668-9ED24E94B8EB}"/>
              </a:ext>
            </a:extLst>
          </p:cNvPr>
          <p:cNvSpPr txBox="1"/>
          <p:nvPr/>
        </p:nvSpPr>
        <p:spPr>
          <a:xfrm>
            <a:off x="10500621" y="3304118"/>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9" name="文本框 1">
            <a:extLst>
              <a:ext uri="{FF2B5EF4-FFF2-40B4-BE49-F238E27FC236}">
                <a16:creationId xmlns:a16="http://schemas.microsoft.com/office/drawing/2014/main" id="{CA9FB627-5C0D-8E3E-64C3-6EFDBABC3649}"/>
              </a:ext>
            </a:extLst>
          </p:cNvPr>
          <p:cNvSpPr txBox="1"/>
          <p:nvPr/>
        </p:nvSpPr>
        <p:spPr>
          <a:xfrm>
            <a:off x="1411817" y="850901"/>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0" name="文本框 1">
            <a:extLst>
              <a:ext uri="{FF2B5EF4-FFF2-40B4-BE49-F238E27FC236}">
                <a16:creationId xmlns:a16="http://schemas.microsoft.com/office/drawing/2014/main" id="{D7AE3889-5042-4FD7-D4F4-753A9263EDA0}"/>
              </a:ext>
            </a:extLst>
          </p:cNvPr>
          <p:cNvSpPr txBox="1"/>
          <p:nvPr/>
        </p:nvSpPr>
        <p:spPr>
          <a:xfrm>
            <a:off x="3547534" y="850901"/>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文本框 1">
            <a:extLst>
              <a:ext uri="{FF2B5EF4-FFF2-40B4-BE49-F238E27FC236}">
                <a16:creationId xmlns:a16="http://schemas.microsoft.com/office/drawing/2014/main" id="{949E7EF3-16A9-11DE-19BE-E7693C98741F}"/>
              </a:ext>
            </a:extLst>
          </p:cNvPr>
          <p:cNvSpPr txBox="1"/>
          <p:nvPr/>
        </p:nvSpPr>
        <p:spPr>
          <a:xfrm>
            <a:off x="5820834" y="831851"/>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8" name="TextBox 30">
            <a:extLst>
              <a:ext uri="{FF2B5EF4-FFF2-40B4-BE49-F238E27FC236}">
                <a16:creationId xmlns:a16="http://schemas.microsoft.com/office/drawing/2014/main" id="{FFBE3BF8-5CC9-0D3C-8071-5B27D1E20290}"/>
              </a:ext>
            </a:extLst>
          </p:cNvPr>
          <p:cNvSpPr txBox="1"/>
          <p:nvPr/>
        </p:nvSpPr>
        <p:spPr>
          <a:xfrm>
            <a:off x="62086" y="1468428"/>
            <a:ext cx="3159124"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40"/>
                                        </p:tgtEl>
                                      </p:cBhvr>
                                    </p:animEffect>
                                    <p:set>
                                      <p:cBhvr>
                                        <p:cTn id="18" dur="1" fill="hold">
                                          <p:stCondLst>
                                            <p:cond delay="499"/>
                                          </p:stCondLst>
                                        </p:cTn>
                                        <p:tgtEl>
                                          <p:spTgt spid="40"/>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p:cNvCxnSpPr/>
          <p:nvPr/>
        </p:nvCxnSpPr>
        <p:spPr>
          <a:xfrm>
            <a:off x="349251" y="3642784"/>
            <a:ext cx="9810751"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p:cNvCxnSpPr>
            <a:stCxn id="31751" idx="2"/>
          </p:cNvCxnSpPr>
          <p:nvPr/>
        </p:nvCxnSpPr>
        <p:spPr>
          <a:xfrm flipH="1">
            <a:off x="3266017" y="2778077"/>
            <a:ext cx="25401" cy="83719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p:nvPr/>
        </p:nvCxnSpPr>
        <p:spPr>
          <a:xfrm flipH="1">
            <a:off x="5276851" y="2770718"/>
            <a:ext cx="0" cy="8868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p:nvPr/>
        </p:nvCxnSpPr>
        <p:spPr>
          <a:xfrm flipV="1">
            <a:off x="2129367" y="3642785"/>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5"/>
          <p:cNvCxnSpPr/>
          <p:nvPr/>
        </p:nvCxnSpPr>
        <p:spPr>
          <a:xfrm flipV="1">
            <a:off x="2129367" y="4519084"/>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1751" name="矩形 6"/>
          <p:cNvSpPr/>
          <p:nvPr/>
        </p:nvSpPr>
        <p:spPr>
          <a:xfrm>
            <a:off x="2571751" y="2408767"/>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1752" name="矩形 38"/>
          <p:cNvSpPr/>
          <p:nvPr/>
        </p:nvSpPr>
        <p:spPr>
          <a:xfrm>
            <a:off x="4559300" y="2400301"/>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p>
        </p:txBody>
      </p:sp>
      <p:sp>
        <p:nvSpPr>
          <p:cNvPr id="31753" name="矩形 28"/>
          <p:cNvSpPr/>
          <p:nvPr/>
        </p:nvSpPr>
        <p:spPr>
          <a:xfrm>
            <a:off x="546100" y="3835401"/>
            <a:ext cx="1390651"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 200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1754" name="矩形 41"/>
          <p:cNvSpPr/>
          <p:nvPr/>
        </p:nvSpPr>
        <p:spPr>
          <a:xfrm>
            <a:off x="546100" y="4648200"/>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TextBox 47"/>
          <p:cNvSpPr txBox="1"/>
          <p:nvPr/>
        </p:nvSpPr>
        <p:spPr>
          <a:xfrm>
            <a:off x="858310" y="5589806"/>
            <a:ext cx="6258984" cy="1200306"/>
          </a:xfrm>
          <a:prstGeom prst="rect">
            <a:avLst/>
          </a:prstGeom>
          <a:noFill/>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的优先级高于需求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 200;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足量</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Line 58"/>
          <p:cNvSpPr/>
          <p:nvPr/>
        </p:nvSpPr>
        <p:spPr>
          <a:xfrm flipH="1">
            <a:off x="2129367" y="2770717"/>
            <a:ext cx="1138767" cy="1270000"/>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Line 58"/>
          <p:cNvSpPr/>
          <p:nvPr/>
        </p:nvSpPr>
        <p:spPr>
          <a:xfrm flipH="1">
            <a:off x="2129367" y="2770717"/>
            <a:ext cx="1138767" cy="2082800"/>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7"/>
          <p:cNvCxnSpPr/>
          <p:nvPr/>
        </p:nvCxnSpPr>
        <p:spPr>
          <a:xfrm>
            <a:off x="6256867" y="164041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 name="矩形标注 14"/>
          <p:cNvSpPr/>
          <p:nvPr/>
        </p:nvSpPr>
        <p:spPr>
          <a:xfrm>
            <a:off x="4610100" y="1680633"/>
            <a:ext cx="1439333"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16" name="Line 58"/>
          <p:cNvSpPr/>
          <p:nvPr/>
        </p:nvSpPr>
        <p:spPr>
          <a:xfrm flipH="1">
            <a:off x="2129367" y="2770718"/>
            <a:ext cx="3147484" cy="1299633"/>
          </a:xfrm>
          <a:prstGeom prst="line">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TextBox 8"/>
          <p:cNvSpPr txBox="1"/>
          <p:nvPr/>
        </p:nvSpPr>
        <p:spPr>
          <a:xfrm rot="21233561">
            <a:off x="3280843" y="3258927"/>
            <a:ext cx="1527941" cy="369310"/>
          </a:xfrm>
          <a:prstGeom prst="rect">
            <a:avLst/>
          </a:prstGeom>
          <a:noFill/>
          <a:scene3d>
            <a:camera prst="orthographicFront">
              <a:rot lat="1195241" lon="109017" rev="91914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Arial" panose="020B0604020202020204" pitchFamily="34" charset="0"/>
                <a:ea typeface="微软雅黑" panose="020B0503020204020204" pitchFamily="34" charset="-122"/>
                <a:cs typeface="+mn-cs"/>
              </a:rPr>
              <a:t>不齐套</a:t>
            </a:r>
          </a:p>
        </p:txBody>
      </p:sp>
      <p:sp>
        <p:nvSpPr>
          <p:cNvPr id="18" name="矩形标注 17"/>
          <p:cNvSpPr/>
          <p:nvPr/>
        </p:nvSpPr>
        <p:spPr>
          <a:xfrm>
            <a:off x="2546351" y="1663700"/>
            <a:ext cx="1441451"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31763" name="Title 37"/>
          <p:cNvSpPr>
            <a:spLocks noGrp="1"/>
          </p:cNvSpPr>
          <p:nvPr>
            <p:ph type="title" idx="4294967295"/>
          </p:nvPr>
        </p:nvSpPr>
        <p:spPr>
          <a:xfrm>
            <a:off x="1116013" y="204788"/>
            <a:ext cx="11075987" cy="520700"/>
          </a:xfrm>
          <a:prstGeom prst="rect">
            <a:avLst/>
          </a:prstGeom>
        </p:spPr>
        <p:txBody>
          <a:bodyPr vert="horz" wrap="square" lIns="121920" tIns="60960" rIns="121920" bIns="60960" anchor="ctr" anchorCtr="0">
            <a:normAutofit/>
          </a:bodyPr>
          <a:lstStyle/>
          <a:p>
            <a:pPr eaLnBrk="1" hangingPunct="1"/>
            <a:r>
              <a:rPr lang="zh-CN" altLang="en-US"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 D</a:t>
            </a:r>
            <a:r>
              <a:rPr lang="zh-CN" altLang="en-US" b="1" dirty="0">
                <a:solidFill>
                  <a:schemeClr val="bg1"/>
                </a:solidFill>
                <a:latin typeface="Arial" panose="020B0604020202020204" pitchFamily="34" charset="0"/>
                <a:ea typeface="微软雅黑" panose="020B0503020204020204" pitchFamily="34" charset="-122"/>
              </a:rPr>
              <a:t>、第</a:t>
            </a:r>
            <a:r>
              <a:rPr lang="en-US" altLang="zh-CN" b="1" dirty="0">
                <a:solidFill>
                  <a:schemeClr val="bg1"/>
                </a:solidFill>
                <a:latin typeface="Arial" panose="020B0604020202020204" pitchFamily="34" charset="0"/>
                <a:ea typeface="微软雅黑" panose="020B0503020204020204" pitchFamily="34" charset="-122"/>
              </a:rPr>
              <a:t>1</a:t>
            </a:r>
            <a:r>
              <a:rPr lang="zh-CN" altLang="en-US" b="1" dirty="0">
                <a:solidFill>
                  <a:schemeClr val="bg1"/>
                </a:solidFill>
                <a:latin typeface="Arial" panose="020B0604020202020204" pitchFamily="34" charset="0"/>
                <a:ea typeface="微软雅黑" panose="020B0503020204020204" pitchFamily="34" charset="-122"/>
              </a:rPr>
              <a:t>天</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20" name="圆角矩形 19"/>
          <p:cNvSpPr/>
          <p:nvPr/>
        </p:nvSpPr>
        <p:spPr>
          <a:xfrm>
            <a:off x="8266851" y="812179"/>
            <a:ext cx="3835400" cy="256751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第一天生产计划：</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驱动工单下达</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并消耗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100B </a:t>
            </a: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缺料 </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 100</a:t>
            </a: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发现第三天有计划到货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 100</a:t>
            </a: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可以在第</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天发货</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1765" name="矩形 26"/>
          <p:cNvSpPr/>
          <p:nvPr/>
        </p:nvSpPr>
        <p:spPr>
          <a:xfrm>
            <a:off x="4459818" y="4411134"/>
            <a:ext cx="167216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 100</a:t>
            </a:r>
          </a:p>
        </p:txBody>
      </p:sp>
      <p:cxnSp>
        <p:nvCxnSpPr>
          <p:cNvPr id="22" name="直接箭头连接符 29"/>
          <p:cNvCxnSpPr>
            <a:stCxn id="31765" idx="0"/>
          </p:cNvCxnSpPr>
          <p:nvPr/>
        </p:nvCxnSpPr>
        <p:spPr>
          <a:xfrm flipH="1" flipV="1">
            <a:off x="5276851" y="3602567"/>
            <a:ext cx="19051" cy="80856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3" name="TextBox 4"/>
          <p:cNvSpPr txBox="1"/>
          <p:nvPr/>
        </p:nvSpPr>
        <p:spPr>
          <a:xfrm>
            <a:off x="4301067" y="4070351"/>
            <a:ext cx="1955800" cy="338554"/>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Not accessible</a:t>
            </a:r>
            <a:endParaRPr kumimoji="1" lang="zh-CN" altLang="en-US" sz="2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4" name="Line 58"/>
          <p:cNvSpPr/>
          <p:nvPr/>
        </p:nvSpPr>
        <p:spPr>
          <a:xfrm flipH="1">
            <a:off x="5105400" y="2770718"/>
            <a:ext cx="171451" cy="1638300"/>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30"/>
          <p:cNvCxnSpPr/>
          <p:nvPr/>
        </p:nvCxnSpPr>
        <p:spPr>
          <a:xfrm>
            <a:off x="2135717" y="1739900"/>
            <a:ext cx="0" cy="18626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7"/>
          <p:cNvCxnSpPr/>
          <p:nvPr/>
        </p:nvCxnSpPr>
        <p:spPr>
          <a:xfrm>
            <a:off x="4301067" y="164041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p:cNvCxnSpPr/>
          <p:nvPr/>
        </p:nvCxnSpPr>
        <p:spPr>
          <a:xfrm>
            <a:off x="8108951" y="1631951"/>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1776" name="矩形 30"/>
          <p:cNvSpPr/>
          <p:nvPr/>
        </p:nvSpPr>
        <p:spPr>
          <a:xfrm>
            <a:off x="6290734" y="4411134"/>
            <a:ext cx="1818217" cy="634020"/>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p>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33" name="直接箭头连接符 29"/>
          <p:cNvCxnSpPr/>
          <p:nvPr/>
        </p:nvCxnSpPr>
        <p:spPr>
          <a:xfrm flipV="1">
            <a:off x="7124700" y="3642785"/>
            <a:ext cx="0" cy="8022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4AB85A5-9F00-4AB0-E92E-6CE0996B4DD7}"/>
              </a:ext>
            </a:extLst>
          </p:cNvPr>
          <p:cNvSpPr txBox="1"/>
          <p:nvPr/>
        </p:nvSpPr>
        <p:spPr>
          <a:xfrm>
            <a:off x="10160002" y="3472935"/>
            <a:ext cx="13025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文本框 1">
            <a:extLst>
              <a:ext uri="{FF2B5EF4-FFF2-40B4-BE49-F238E27FC236}">
                <a16:creationId xmlns:a16="http://schemas.microsoft.com/office/drawing/2014/main" id="{E1F4D09C-7065-7FDA-03A6-57C5E7E893A0}"/>
              </a:ext>
            </a:extLst>
          </p:cNvPr>
          <p:cNvSpPr txBox="1"/>
          <p:nvPr/>
        </p:nvSpPr>
        <p:spPr>
          <a:xfrm>
            <a:off x="858310" y="9992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8" name="文本框 1">
            <a:extLst>
              <a:ext uri="{FF2B5EF4-FFF2-40B4-BE49-F238E27FC236}">
                <a16:creationId xmlns:a16="http://schemas.microsoft.com/office/drawing/2014/main" id="{C7E5B238-CBE5-0821-512D-442837EB4136}"/>
              </a:ext>
            </a:extLst>
          </p:cNvPr>
          <p:cNvSpPr txBox="1"/>
          <p:nvPr/>
        </p:nvSpPr>
        <p:spPr>
          <a:xfrm>
            <a:off x="2509310" y="98016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0" name="文本框 1">
            <a:extLst>
              <a:ext uri="{FF2B5EF4-FFF2-40B4-BE49-F238E27FC236}">
                <a16:creationId xmlns:a16="http://schemas.microsoft.com/office/drawing/2014/main" id="{BCA1168E-891C-029E-EFCA-8C1A229811D3}"/>
              </a:ext>
            </a:extLst>
          </p:cNvPr>
          <p:cNvSpPr txBox="1"/>
          <p:nvPr/>
        </p:nvSpPr>
        <p:spPr>
          <a:xfrm>
            <a:off x="4411133" y="98742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9" name="文本框 1">
            <a:extLst>
              <a:ext uri="{FF2B5EF4-FFF2-40B4-BE49-F238E27FC236}">
                <a16:creationId xmlns:a16="http://schemas.microsoft.com/office/drawing/2014/main" id="{3AD6163F-5AD9-65B3-1CA1-B75FB8393332}"/>
              </a:ext>
            </a:extLst>
          </p:cNvPr>
          <p:cNvSpPr txBox="1"/>
          <p:nvPr/>
        </p:nvSpPr>
        <p:spPr>
          <a:xfrm>
            <a:off x="6105734" y="1010072"/>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par>
                                <p:cTn id="18" presetID="23" presetClass="entr" presetSubtype="16"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p:cTn id="20" dur="500" fill="hold"/>
                                        <p:tgtEl>
                                          <p:spTgt spid="24"/>
                                        </p:tgtEl>
                                        <p:attrNameLst>
                                          <p:attrName>ppt_w</p:attrName>
                                        </p:attrNameLst>
                                      </p:cBhvr>
                                      <p:tavLst>
                                        <p:tav tm="0">
                                          <p:val>
                                            <p:fltVal val="0"/>
                                          </p:val>
                                        </p:tav>
                                        <p:tav tm="100000">
                                          <p:val>
                                            <p:strVal val="#ppt_w"/>
                                          </p:val>
                                        </p:tav>
                                      </p:tavLst>
                                    </p:anim>
                                    <p:anim calcmode="lin" valueType="num">
                                      <p:cBhvr>
                                        <p:cTn id="21" dur="500" fill="hold"/>
                                        <p:tgtEl>
                                          <p:spTgt spid="24"/>
                                        </p:tgtEl>
                                        <p:attrNameLst>
                                          <p:attrName>ppt_h</p:attrName>
                                        </p:attrNameLst>
                                      </p:cBhvr>
                                      <p:tavLst>
                                        <p:tav tm="0">
                                          <p:val>
                                            <p:fltVal val="0"/>
                                          </p:val>
                                        </p:tav>
                                        <p:tav tm="100000">
                                          <p:val>
                                            <p:strVal val="#ppt_h"/>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23" presetClass="entr" presetSubtype="16"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childTnLst>
                                </p:cTn>
                              </p:par>
                              <p:par>
                                <p:cTn id="34" presetID="23" presetClass="entr" presetSubtype="16"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20" grpId="0"/>
      <p:bldP spid="2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p:cNvCxnSpPr/>
          <p:nvPr/>
        </p:nvCxnSpPr>
        <p:spPr>
          <a:xfrm>
            <a:off x="1426634" y="3589867"/>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p:cNvCxnSpPr/>
          <p:nvPr/>
        </p:nvCxnSpPr>
        <p:spPr>
          <a:xfrm>
            <a:off x="5600701" y="2711452"/>
            <a:ext cx="6351" cy="878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p:nvPr/>
        </p:nvCxnSpPr>
        <p:spPr>
          <a:xfrm>
            <a:off x="7084484" y="2711452"/>
            <a:ext cx="0" cy="878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p:nvPr/>
        </p:nvCxnSpPr>
        <p:spPr>
          <a:xfrm flipV="1">
            <a:off x="3314700" y="3589867"/>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5"/>
          <p:cNvCxnSpPr/>
          <p:nvPr/>
        </p:nvCxnSpPr>
        <p:spPr>
          <a:xfrm flipV="1">
            <a:off x="3314700" y="4466167"/>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2775" name="矩形 27"/>
          <p:cNvSpPr/>
          <p:nvPr/>
        </p:nvSpPr>
        <p:spPr>
          <a:xfrm>
            <a:off x="4940300" y="2328334"/>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776" name="矩形 38"/>
          <p:cNvSpPr/>
          <p:nvPr/>
        </p:nvSpPr>
        <p:spPr>
          <a:xfrm>
            <a:off x="6453718" y="2328334"/>
            <a:ext cx="1439333" cy="369310"/>
          </a:xfrm>
          <a:prstGeom prst="rect">
            <a:avLst/>
          </a:prstGeom>
          <a:solidFill>
            <a:schemeClr val="accent1"/>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777" name="矩形 28"/>
          <p:cNvSpPr/>
          <p:nvPr/>
        </p:nvSpPr>
        <p:spPr>
          <a:xfrm>
            <a:off x="1924052" y="3782485"/>
            <a:ext cx="1390649" cy="615531"/>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p>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778" name="矩形 41"/>
          <p:cNvSpPr/>
          <p:nvPr/>
        </p:nvSpPr>
        <p:spPr>
          <a:xfrm>
            <a:off x="1924052" y="4597400"/>
            <a:ext cx="1390649"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Line 58"/>
          <p:cNvSpPr/>
          <p:nvPr/>
        </p:nvSpPr>
        <p:spPr>
          <a:xfrm flipH="1">
            <a:off x="3285067" y="3155951"/>
            <a:ext cx="3731684" cy="895349"/>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Line 58"/>
          <p:cNvSpPr/>
          <p:nvPr/>
        </p:nvSpPr>
        <p:spPr>
          <a:xfrm flipH="1">
            <a:off x="3285068" y="3117852"/>
            <a:ext cx="3799417" cy="1695449"/>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7"/>
          <p:cNvCxnSpPr/>
          <p:nvPr/>
        </p:nvCxnSpPr>
        <p:spPr>
          <a:xfrm>
            <a:off x="7909984" y="1498600"/>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 name="矩形标注 14"/>
          <p:cNvSpPr/>
          <p:nvPr/>
        </p:nvSpPr>
        <p:spPr>
          <a:xfrm>
            <a:off x="6417734" y="1600200"/>
            <a:ext cx="1369484"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16" name="Line 58"/>
          <p:cNvSpPr/>
          <p:nvPr/>
        </p:nvSpPr>
        <p:spPr>
          <a:xfrm flipH="1">
            <a:off x="3285067" y="3117852"/>
            <a:ext cx="2281767" cy="908049"/>
          </a:xfrm>
          <a:prstGeom prst="line">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TextBox 8"/>
          <p:cNvSpPr txBox="1"/>
          <p:nvPr/>
        </p:nvSpPr>
        <p:spPr>
          <a:xfrm>
            <a:off x="3832848" y="3117554"/>
            <a:ext cx="1527941" cy="369310"/>
          </a:xfrm>
          <a:prstGeom prst="rect">
            <a:avLst/>
          </a:prstGeom>
          <a:noFill/>
          <a:scene3d>
            <a:camera prst="orthographicFront">
              <a:rot lat="905603" lon="27023" rev="149445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18" name="矩形标注 17"/>
          <p:cNvSpPr/>
          <p:nvPr/>
        </p:nvSpPr>
        <p:spPr>
          <a:xfrm>
            <a:off x="4874685" y="1600200"/>
            <a:ext cx="1485900"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19" name="圆角矩形 18"/>
          <p:cNvSpPr/>
          <p:nvPr/>
        </p:nvSpPr>
        <p:spPr>
          <a:xfrm>
            <a:off x="8083551" y="929218"/>
            <a:ext cx="4055533" cy="256751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第二天的计划：</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会被需求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抢走</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endPar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 </a:t>
            </a: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工单下达</a:t>
            </a:r>
            <a:endPar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消耗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消耗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报缺</a:t>
            </a:r>
            <a:endPar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分别报缺补货</a:t>
            </a:r>
            <a:endPar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0" name="直接箭头连接符 25"/>
          <p:cNvCxnSpPr>
            <a:stCxn id="21" idx="2"/>
          </p:cNvCxnSpPr>
          <p:nvPr/>
        </p:nvCxnSpPr>
        <p:spPr>
          <a:xfrm flipH="1">
            <a:off x="4099985" y="2701877"/>
            <a:ext cx="29633" cy="85200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3409951" y="2332567"/>
            <a:ext cx="1439333" cy="369310"/>
          </a:xfrm>
          <a:prstGeom prst="rect">
            <a:avLst/>
          </a:prstGeom>
          <a:solidFill>
            <a:schemeClr val="accent6"/>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1</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2790" name="矩形 30"/>
          <p:cNvSpPr/>
          <p:nvPr/>
        </p:nvSpPr>
        <p:spPr>
          <a:xfrm>
            <a:off x="4874685" y="4417485"/>
            <a:ext cx="1534583" cy="584775"/>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 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3" name="直接箭头连接符 31"/>
          <p:cNvCxnSpPr/>
          <p:nvPr/>
        </p:nvCxnSpPr>
        <p:spPr>
          <a:xfrm flipV="1">
            <a:off x="5598584" y="3589868"/>
            <a:ext cx="8467" cy="8276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2792" name="TextBox 32"/>
          <p:cNvSpPr txBox="1"/>
          <p:nvPr/>
        </p:nvSpPr>
        <p:spPr>
          <a:xfrm>
            <a:off x="4836585" y="3926418"/>
            <a:ext cx="1680633" cy="338554"/>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Not accessible</a:t>
            </a:r>
            <a:endParaRPr kumimoji="1" lang="zh-CN" altLang="en-US" sz="2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grpSp>
        <p:nvGrpSpPr>
          <p:cNvPr id="32793" name="Group 70"/>
          <p:cNvGrpSpPr/>
          <p:nvPr/>
        </p:nvGrpSpPr>
        <p:grpSpPr>
          <a:xfrm>
            <a:off x="543984" y="1598084"/>
            <a:ext cx="2912533" cy="1071529"/>
            <a:chOff x="9122784" y="5273876"/>
            <a:chExt cx="2913049" cy="1071652"/>
          </a:xfrm>
        </p:grpSpPr>
        <p:sp>
          <p:nvSpPr>
            <p:cNvPr id="26" name="矩形 25"/>
            <p:cNvSpPr/>
            <p:nvPr/>
          </p:nvSpPr>
          <p:spPr>
            <a:xfrm>
              <a:off x="9122784" y="5282344"/>
              <a:ext cx="1200362" cy="328247"/>
            </a:xfrm>
            <a:prstGeom prst="rect">
              <a:avLst/>
            </a:prstGeom>
            <a:solidFill>
              <a:schemeClr val="accent6"/>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1</a:t>
              </a:r>
              <a:endPar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2806" name="TextBox 3"/>
            <p:cNvSpPr txBox="1"/>
            <p:nvPr/>
          </p:nvSpPr>
          <p:spPr>
            <a:xfrm>
              <a:off x="10350669" y="5273876"/>
              <a:ext cx="1674580"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工单下达</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807" name="矩形 49"/>
            <p:cNvSpPr/>
            <p:nvPr/>
          </p:nvSpPr>
          <p:spPr>
            <a:xfrm>
              <a:off x="9122784" y="5646865"/>
              <a:ext cx="1200587" cy="328247"/>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808" name="TextBox 50"/>
            <p:cNvSpPr txBox="1"/>
            <p:nvPr/>
          </p:nvSpPr>
          <p:spPr>
            <a:xfrm>
              <a:off x="10361254" y="5669737"/>
              <a:ext cx="1674579"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Backlog order</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809" name="矩形 51"/>
            <p:cNvSpPr/>
            <p:nvPr/>
          </p:nvSpPr>
          <p:spPr>
            <a:xfrm>
              <a:off x="9122784" y="6017281"/>
              <a:ext cx="1200587" cy="328247"/>
            </a:xfrm>
            <a:prstGeom prst="rect">
              <a:avLst/>
            </a:prstGeom>
            <a:solidFill>
              <a:schemeClr val="accent1"/>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810" name="TextBox 52"/>
            <p:cNvSpPr txBox="1"/>
            <p:nvPr/>
          </p:nvSpPr>
          <p:spPr>
            <a:xfrm>
              <a:off x="10350669" y="6016910"/>
              <a:ext cx="1674580"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新订单</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grpSp>
      <p:sp>
        <p:nvSpPr>
          <p:cNvPr id="32794" name="Title 37"/>
          <p:cNvSpPr>
            <a:spLocks noGrp="1"/>
          </p:cNvSpPr>
          <p:nvPr>
            <p:ph type="title" idx="4294967295"/>
          </p:nvPr>
        </p:nvSpPr>
        <p:spPr>
          <a:xfrm>
            <a:off x="1120775" y="185738"/>
            <a:ext cx="11071225" cy="520700"/>
          </a:xfrm>
          <a:prstGeom prst="rect">
            <a:avLst/>
          </a:prstGeom>
        </p:spPr>
        <p:txBody>
          <a:bodyPr vert="horz" wrap="square" lIns="121920" tIns="60960" rIns="121920" bIns="60960" anchor="ctr" anchorCtr="0">
            <a:normAutofit/>
          </a:bodyPr>
          <a:lstStyle/>
          <a:p>
            <a:pPr eaLnBrk="1" hangingPunct="1"/>
            <a:r>
              <a:rPr lang="zh-CN" altLang="en-US"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 D</a:t>
            </a:r>
            <a:r>
              <a:rPr lang="zh-CN" altLang="en-US" b="1" dirty="0">
                <a:solidFill>
                  <a:schemeClr val="bg1"/>
                </a:solidFill>
                <a:latin typeface="Arial" panose="020B0604020202020204" pitchFamily="34" charset="0"/>
                <a:ea typeface="微软雅黑" panose="020B0503020204020204" pitchFamily="34" charset="-122"/>
              </a:rPr>
              <a:t>，第</a:t>
            </a:r>
            <a:r>
              <a:rPr lang="en-US" altLang="zh-CN" b="1" dirty="0">
                <a:solidFill>
                  <a:schemeClr val="bg1"/>
                </a:solidFill>
                <a:latin typeface="Arial" panose="020B0604020202020204" pitchFamily="34" charset="0"/>
                <a:ea typeface="微软雅黑" panose="020B0503020204020204" pitchFamily="34" charset="-122"/>
              </a:rPr>
              <a:t>2</a:t>
            </a:r>
            <a:r>
              <a:rPr lang="zh-CN" altLang="en-US" b="1" dirty="0">
                <a:solidFill>
                  <a:schemeClr val="bg1"/>
                </a:solidFill>
                <a:latin typeface="Arial" panose="020B0604020202020204" pitchFamily="34" charset="0"/>
                <a:ea typeface="微软雅黑" panose="020B0503020204020204" pitchFamily="34" charset="-122"/>
              </a:rPr>
              <a:t>天</a:t>
            </a:r>
            <a:endParaRPr lang="en-US" altLang="zh-CN" b="1" dirty="0">
              <a:solidFill>
                <a:schemeClr val="bg1"/>
              </a:solidFill>
              <a:latin typeface="Arial" panose="020B0604020202020204" pitchFamily="34" charset="0"/>
              <a:ea typeface="微软雅黑" panose="020B0503020204020204" pitchFamily="34" charset="-122"/>
            </a:endParaRPr>
          </a:p>
        </p:txBody>
      </p:sp>
      <p:cxnSp>
        <p:nvCxnSpPr>
          <p:cNvPr id="36" name="直接连接符 7"/>
          <p:cNvCxnSpPr/>
          <p:nvPr/>
        </p:nvCxnSpPr>
        <p:spPr>
          <a:xfrm>
            <a:off x="3327400" y="1498600"/>
            <a:ext cx="0" cy="20912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7"/>
          <p:cNvCxnSpPr/>
          <p:nvPr/>
        </p:nvCxnSpPr>
        <p:spPr>
          <a:xfrm flipH="1">
            <a:off x="4874684" y="1498600"/>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7"/>
          <p:cNvCxnSpPr/>
          <p:nvPr/>
        </p:nvCxnSpPr>
        <p:spPr>
          <a:xfrm>
            <a:off x="6409267" y="1498600"/>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2802" name="矩形 30"/>
          <p:cNvSpPr/>
          <p:nvPr/>
        </p:nvSpPr>
        <p:spPr>
          <a:xfrm>
            <a:off x="6424085" y="4417485"/>
            <a:ext cx="1483783" cy="584775"/>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 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41" name="直接箭头连接符 31"/>
          <p:cNvCxnSpPr/>
          <p:nvPr/>
        </p:nvCxnSpPr>
        <p:spPr>
          <a:xfrm flipV="1">
            <a:off x="7069667" y="3575052"/>
            <a:ext cx="10584" cy="8276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2804" name="TextBox 61"/>
          <p:cNvSpPr txBox="1"/>
          <p:nvPr/>
        </p:nvSpPr>
        <p:spPr>
          <a:xfrm>
            <a:off x="6337301" y="3913718"/>
            <a:ext cx="1739900" cy="338554"/>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Not accessible</a:t>
            </a:r>
            <a:endParaRPr kumimoji="1" lang="zh-CN" altLang="en-US" sz="2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8" name="文本框 7">
            <a:extLst>
              <a:ext uri="{FF2B5EF4-FFF2-40B4-BE49-F238E27FC236}">
                <a16:creationId xmlns:a16="http://schemas.microsoft.com/office/drawing/2014/main" id="{10096E1D-BA05-DF0F-D668-9ED24E94B8EB}"/>
              </a:ext>
            </a:extLst>
          </p:cNvPr>
          <p:cNvSpPr txBox="1"/>
          <p:nvPr/>
        </p:nvSpPr>
        <p:spPr>
          <a:xfrm>
            <a:off x="10761134" y="3418959"/>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9" name="文本框 8">
            <a:extLst>
              <a:ext uri="{FF2B5EF4-FFF2-40B4-BE49-F238E27FC236}">
                <a16:creationId xmlns:a16="http://schemas.microsoft.com/office/drawing/2014/main" id="{2438C881-797A-6FD9-106E-E4BAC25F6D05}"/>
              </a:ext>
            </a:extLst>
          </p:cNvPr>
          <p:cNvSpPr txBox="1"/>
          <p:nvPr/>
        </p:nvSpPr>
        <p:spPr>
          <a:xfrm>
            <a:off x="784848" y="5172839"/>
            <a:ext cx="6096000" cy="160043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的优先级高于需求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 200;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足量</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文本框 1">
            <a:extLst>
              <a:ext uri="{FF2B5EF4-FFF2-40B4-BE49-F238E27FC236}">
                <a16:creationId xmlns:a16="http://schemas.microsoft.com/office/drawing/2014/main" id="{773372A6-71FE-8C07-872A-4DE582D9CBED}"/>
              </a:ext>
            </a:extLst>
          </p:cNvPr>
          <p:cNvSpPr txBox="1"/>
          <p:nvPr/>
        </p:nvSpPr>
        <p:spPr>
          <a:xfrm>
            <a:off x="1444254" y="99833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2" name="文本框 1">
            <a:extLst>
              <a:ext uri="{FF2B5EF4-FFF2-40B4-BE49-F238E27FC236}">
                <a16:creationId xmlns:a16="http://schemas.microsoft.com/office/drawing/2014/main" id="{01C93B8E-CA9B-1B1A-F7EC-C735E7706B60}"/>
              </a:ext>
            </a:extLst>
          </p:cNvPr>
          <p:cNvSpPr txBox="1"/>
          <p:nvPr/>
        </p:nvSpPr>
        <p:spPr>
          <a:xfrm>
            <a:off x="3118537" y="1002850"/>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4" name="文本框 1">
            <a:extLst>
              <a:ext uri="{FF2B5EF4-FFF2-40B4-BE49-F238E27FC236}">
                <a16:creationId xmlns:a16="http://schemas.microsoft.com/office/drawing/2014/main" id="{A4C4339D-C3AC-A0AA-A2E4-809A7449CE65}"/>
              </a:ext>
            </a:extLst>
          </p:cNvPr>
          <p:cNvSpPr txBox="1"/>
          <p:nvPr/>
        </p:nvSpPr>
        <p:spPr>
          <a:xfrm>
            <a:off x="4849284" y="1016630"/>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5" name="文本框 1">
            <a:extLst>
              <a:ext uri="{FF2B5EF4-FFF2-40B4-BE49-F238E27FC236}">
                <a16:creationId xmlns:a16="http://schemas.microsoft.com/office/drawing/2014/main" id="{CFF0A0AA-8AD7-97B3-DE05-A0FD642DF61F}"/>
              </a:ext>
            </a:extLst>
          </p:cNvPr>
          <p:cNvSpPr txBox="1"/>
          <p:nvPr/>
        </p:nvSpPr>
        <p:spPr>
          <a:xfrm>
            <a:off x="6372226" y="99833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23" presetClass="entr" presetSubtype="16"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23" presetClass="entr" presetSubtype="16"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childTnLst>
                                </p:cTn>
                              </p:par>
                              <p:par>
                                <p:cTn id="29" presetID="42" presetClass="entr" presetSubtype="0" fill="hold" grpId="0" nodeType="withEffect">
                                  <p:stCondLst>
                                    <p:cond delay="0"/>
                                  </p:stCondLst>
                                  <p:iterate type="lt">
                                    <p:tmPct val="0"/>
                                  </p:iterate>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p:cNvCxnSpPr/>
          <p:nvPr/>
        </p:nvCxnSpPr>
        <p:spPr>
          <a:xfrm>
            <a:off x="1187451" y="3748617"/>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p:cNvCxnSpPr/>
          <p:nvPr/>
        </p:nvCxnSpPr>
        <p:spPr>
          <a:xfrm>
            <a:off x="5361518" y="2870201"/>
            <a:ext cx="6351" cy="878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p:nvPr/>
        </p:nvCxnSpPr>
        <p:spPr>
          <a:xfrm>
            <a:off x="6805084" y="2870201"/>
            <a:ext cx="0" cy="878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p:nvPr/>
        </p:nvCxnSpPr>
        <p:spPr>
          <a:xfrm flipV="1">
            <a:off x="3075517" y="3748618"/>
            <a:ext cx="0" cy="6731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5"/>
          <p:cNvCxnSpPr/>
          <p:nvPr/>
        </p:nvCxnSpPr>
        <p:spPr>
          <a:xfrm flipV="1">
            <a:off x="3075517" y="4624917"/>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3799" name="矩形 27"/>
          <p:cNvSpPr/>
          <p:nvPr/>
        </p:nvSpPr>
        <p:spPr>
          <a:xfrm>
            <a:off x="4663018" y="2478618"/>
            <a:ext cx="1441449"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8" name="矩形 7"/>
          <p:cNvSpPr/>
          <p:nvPr/>
        </p:nvSpPr>
        <p:spPr>
          <a:xfrm>
            <a:off x="6201834" y="2470151"/>
            <a:ext cx="1439333" cy="369310"/>
          </a:xfrm>
          <a:prstGeom prst="rect">
            <a:avLst/>
          </a:prstGeom>
          <a:solidFill>
            <a:schemeClr val="accent6"/>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3</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3801" name="矩形 28"/>
          <p:cNvSpPr/>
          <p:nvPr/>
        </p:nvSpPr>
        <p:spPr>
          <a:xfrm>
            <a:off x="1684867" y="3941234"/>
            <a:ext cx="1390651" cy="348856"/>
          </a:xfrm>
          <a:prstGeom prst="rect">
            <a:avLst/>
          </a:prstGeom>
          <a:solidFill>
            <a:schemeClr val="accent2"/>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4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4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 0</a:t>
            </a:r>
            <a:endParaRPr kumimoji="1" lang="zh-CN" altLang="en-US" sz="14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3802" name="矩形 41"/>
          <p:cNvSpPr/>
          <p:nvPr/>
        </p:nvSpPr>
        <p:spPr>
          <a:xfrm>
            <a:off x="1684867" y="4756151"/>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12" name="直接连接符 7"/>
          <p:cNvCxnSpPr/>
          <p:nvPr/>
        </p:nvCxnSpPr>
        <p:spPr>
          <a:xfrm>
            <a:off x="7647517" y="1657351"/>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Line 58"/>
          <p:cNvSpPr/>
          <p:nvPr/>
        </p:nvSpPr>
        <p:spPr>
          <a:xfrm flipH="1">
            <a:off x="5122333" y="3062817"/>
            <a:ext cx="239184" cy="1513416"/>
          </a:xfrm>
          <a:prstGeom prst="line">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 name="TextBox 8"/>
          <p:cNvSpPr txBox="1"/>
          <p:nvPr/>
        </p:nvSpPr>
        <p:spPr>
          <a:xfrm rot="1341718">
            <a:off x="4358691" y="3873695"/>
            <a:ext cx="1527941" cy="369310"/>
          </a:xfrm>
          <a:prstGeom prst="rect">
            <a:avLst/>
          </a:prstGeom>
          <a:noFill/>
          <a:scene3d>
            <a:camera prst="orthographicFront">
              <a:rot lat="905603" lon="27023" rev="1494456"/>
            </a:camera>
            <a:lightRig rig="threePt" dir="t"/>
          </a:scene3d>
        </p:spPr>
        <p:txBody>
          <a:bodyPr lIns="121899" tIns="60949" rIns="121899" bIns="60949">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15" name="矩形标注 14"/>
          <p:cNvSpPr/>
          <p:nvPr/>
        </p:nvSpPr>
        <p:spPr>
          <a:xfrm>
            <a:off x="4640793" y="1775388"/>
            <a:ext cx="1485900" cy="508000"/>
          </a:xfrm>
          <a:prstGeom prst="wedgeRectCallout">
            <a:avLst>
              <a:gd name="adj1" fmla="val 782"/>
              <a:gd name="adj2" fmla="val 90562"/>
            </a:avLst>
          </a:prstGeom>
          <a:solidFill>
            <a:srgbClr val="66009B"/>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生产计划</a:t>
            </a:r>
          </a:p>
        </p:txBody>
      </p:sp>
      <p:sp>
        <p:nvSpPr>
          <p:cNvPr id="16" name="圆角矩形 15"/>
          <p:cNvSpPr/>
          <p:nvPr/>
        </p:nvSpPr>
        <p:spPr>
          <a:xfrm>
            <a:off x="7844367" y="1316567"/>
            <a:ext cx="4055533" cy="22521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第三天的生产计划：</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虽然</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已经到货但是需求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还是不齐套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不仅不能按时，而且交期到底在哪天已经不知道了</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这种情况会不断地发生</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7" name="直接箭头连接符 25"/>
          <p:cNvCxnSpPr>
            <a:stCxn id="18" idx="2"/>
          </p:cNvCxnSpPr>
          <p:nvPr/>
        </p:nvCxnSpPr>
        <p:spPr>
          <a:xfrm flipH="1">
            <a:off x="3845984" y="2854277"/>
            <a:ext cx="1" cy="85200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3126318" y="2484967"/>
            <a:ext cx="1439333" cy="369310"/>
          </a:xfrm>
          <a:prstGeom prst="rect">
            <a:avLst/>
          </a:prstGeom>
          <a:solidFill>
            <a:schemeClr val="accent6"/>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1</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3811" name="矩形 30"/>
          <p:cNvSpPr/>
          <p:nvPr/>
        </p:nvSpPr>
        <p:spPr>
          <a:xfrm>
            <a:off x="4552950" y="4576234"/>
            <a:ext cx="1617135" cy="634020"/>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p>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0" name="直接箭头连接符 31"/>
          <p:cNvCxnSpPr/>
          <p:nvPr/>
        </p:nvCxnSpPr>
        <p:spPr>
          <a:xfrm flipV="1">
            <a:off x="5359400" y="3748618"/>
            <a:ext cx="8467" cy="8276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3814" name="Title 37"/>
          <p:cNvSpPr>
            <a:spLocks noGrp="1"/>
          </p:cNvSpPr>
          <p:nvPr>
            <p:ph type="title" idx="4294967295"/>
          </p:nvPr>
        </p:nvSpPr>
        <p:spPr>
          <a:xfrm>
            <a:off x="1119188" y="228600"/>
            <a:ext cx="11072812" cy="520700"/>
          </a:xfrm>
          <a:prstGeom prst="rect">
            <a:avLst/>
          </a:prstGeom>
        </p:spPr>
        <p:txBody>
          <a:bodyPr vert="horz" wrap="square" lIns="121920" tIns="60960" rIns="121920" bIns="60960" anchor="ctr" anchorCtr="0">
            <a:normAutofit/>
          </a:bodyPr>
          <a:lstStyle/>
          <a:p>
            <a:pPr eaLnBrk="1" hangingPunct="1"/>
            <a:r>
              <a:rPr lang="zh-CN" altLang="en-US"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 D</a:t>
            </a:r>
            <a:r>
              <a:rPr lang="zh-CN" altLang="en-US" b="1" dirty="0">
                <a:solidFill>
                  <a:schemeClr val="bg1"/>
                </a:solidFill>
                <a:latin typeface="Arial" panose="020B0604020202020204" pitchFamily="34" charset="0"/>
                <a:ea typeface="微软雅黑" panose="020B0503020204020204" pitchFamily="34" charset="-122"/>
              </a:rPr>
              <a:t>，第</a:t>
            </a:r>
            <a:r>
              <a:rPr lang="en-US" altLang="zh-CN" dirty="0">
                <a:solidFill>
                  <a:schemeClr val="bg1"/>
                </a:solidFill>
                <a:latin typeface="Arial" panose="020B0604020202020204" pitchFamily="34" charset="0"/>
                <a:ea typeface="微软雅黑" panose="020B0503020204020204" pitchFamily="34" charset="-122"/>
              </a:rPr>
              <a:t>3</a:t>
            </a:r>
            <a:r>
              <a:rPr lang="zh-CN" altLang="en-US" b="1" dirty="0">
                <a:solidFill>
                  <a:schemeClr val="bg1"/>
                </a:solidFill>
                <a:latin typeface="Arial" panose="020B0604020202020204" pitchFamily="34" charset="0"/>
                <a:ea typeface="微软雅黑" panose="020B0503020204020204" pitchFamily="34" charset="-122"/>
              </a:rPr>
              <a:t>天</a:t>
            </a:r>
            <a:endParaRPr lang="en-US" altLang="zh-CN" b="1" dirty="0">
              <a:solidFill>
                <a:schemeClr val="bg1"/>
              </a:solidFill>
              <a:latin typeface="Arial" panose="020B0604020202020204" pitchFamily="34" charset="0"/>
              <a:ea typeface="微软雅黑" panose="020B0503020204020204" pitchFamily="34" charset="-122"/>
            </a:endParaRPr>
          </a:p>
        </p:txBody>
      </p:sp>
      <p:cxnSp>
        <p:nvCxnSpPr>
          <p:cNvPr id="32" name="直接连接符 7"/>
          <p:cNvCxnSpPr/>
          <p:nvPr/>
        </p:nvCxnSpPr>
        <p:spPr>
          <a:xfrm>
            <a:off x="3088217" y="1657351"/>
            <a:ext cx="0" cy="20912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7"/>
          <p:cNvCxnSpPr/>
          <p:nvPr/>
        </p:nvCxnSpPr>
        <p:spPr>
          <a:xfrm flipH="1">
            <a:off x="4635500" y="1657351"/>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7"/>
          <p:cNvCxnSpPr/>
          <p:nvPr/>
        </p:nvCxnSpPr>
        <p:spPr>
          <a:xfrm>
            <a:off x="6170084" y="1657351"/>
            <a:ext cx="0" cy="40132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6" name="圆角矩形 45"/>
          <p:cNvSpPr/>
          <p:nvPr/>
        </p:nvSpPr>
        <p:spPr>
          <a:xfrm>
            <a:off x="7808384" y="4042834"/>
            <a:ext cx="4091517" cy="1424517"/>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marL="284480" indent="-284480"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当生产计划不考虑未来供应时会影响交付速度</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7" name="Line 58"/>
          <p:cNvSpPr/>
          <p:nvPr/>
        </p:nvSpPr>
        <p:spPr>
          <a:xfrm flipH="1">
            <a:off x="3045885" y="3062818"/>
            <a:ext cx="2313516" cy="1147233"/>
          </a:xfrm>
          <a:prstGeom prst="line">
            <a:avLst/>
          </a:prstGeom>
          <a:ln w="1905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3824" name="矩形 30"/>
          <p:cNvSpPr/>
          <p:nvPr/>
        </p:nvSpPr>
        <p:spPr>
          <a:xfrm>
            <a:off x="6230037" y="4585879"/>
            <a:ext cx="1369732" cy="584775"/>
          </a:xfrm>
          <a:prstGeom prst="rect">
            <a:avLst/>
          </a:prstGeom>
          <a:solidFill>
            <a:srgbClr val="00B050">
              <a:alpha val="50195"/>
            </a:srgbClr>
          </a:solidFill>
          <a:ln w="9525">
            <a:noFill/>
          </a:ln>
        </p:spPr>
        <p:txBody>
          <a:bodyPr wrap="square">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 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39" name="直接箭头连接符 31"/>
          <p:cNvCxnSpPr/>
          <p:nvPr/>
        </p:nvCxnSpPr>
        <p:spPr>
          <a:xfrm flipV="1">
            <a:off x="6790267" y="3733801"/>
            <a:ext cx="8467" cy="8276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 name="文本框 7">
            <a:extLst>
              <a:ext uri="{FF2B5EF4-FFF2-40B4-BE49-F238E27FC236}">
                <a16:creationId xmlns:a16="http://schemas.microsoft.com/office/drawing/2014/main" id="{10096E1D-BA05-DF0F-D668-9ED24E94B8EB}"/>
              </a:ext>
            </a:extLst>
          </p:cNvPr>
          <p:cNvSpPr txBox="1"/>
          <p:nvPr/>
        </p:nvSpPr>
        <p:spPr>
          <a:xfrm>
            <a:off x="10539065" y="3557172"/>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grpSp>
        <p:nvGrpSpPr>
          <p:cNvPr id="24" name="Group 70">
            <a:extLst>
              <a:ext uri="{FF2B5EF4-FFF2-40B4-BE49-F238E27FC236}">
                <a16:creationId xmlns:a16="http://schemas.microsoft.com/office/drawing/2014/main" id="{1B7C8B2E-83D3-6FA1-DFC9-2250F98C9789}"/>
              </a:ext>
            </a:extLst>
          </p:cNvPr>
          <p:cNvGrpSpPr/>
          <p:nvPr/>
        </p:nvGrpSpPr>
        <p:grpSpPr>
          <a:xfrm>
            <a:off x="543984" y="1598084"/>
            <a:ext cx="2912533" cy="1071529"/>
            <a:chOff x="9122784" y="5273876"/>
            <a:chExt cx="2913049" cy="1071652"/>
          </a:xfrm>
        </p:grpSpPr>
        <p:sp>
          <p:nvSpPr>
            <p:cNvPr id="25" name="矩形 24">
              <a:extLst>
                <a:ext uri="{FF2B5EF4-FFF2-40B4-BE49-F238E27FC236}">
                  <a16:creationId xmlns:a16="http://schemas.microsoft.com/office/drawing/2014/main" id="{4A72B6E2-A2B2-0B98-E6B0-EADF6ECC0E4C}"/>
                </a:ext>
              </a:extLst>
            </p:cNvPr>
            <p:cNvSpPr/>
            <p:nvPr/>
          </p:nvSpPr>
          <p:spPr>
            <a:xfrm>
              <a:off x="9122784" y="5282344"/>
              <a:ext cx="1200362" cy="328247"/>
            </a:xfrm>
            <a:prstGeom prst="rect">
              <a:avLst/>
            </a:prstGeom>
            <a:solidFill>
              <a:schemeClr val="accent6"/>
            </a:solidFill>
          </p:spPr>
          <p:txBody>
            <a:bodyPr lIns="121899" tIns="60949" rIns="121899" bIns="60949">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1</a:t>
              </a:r>
              <a:endPar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27" name="TextBox 3">
              <a:extLst>
                <a:ext uri="{FF2B5EF4-FFF2-40B4-BE49-F238E27FC236}">
                  <a16:creationId xmlns:a16="http://schemas.microsoft.com/office/drawing/2014/main" id="{0DC7D6C6-0E94-B760-40F7-91CEC0E462F2}"/>
                </a:ext>
              </a:extLst>
            </p:cNvPr>
            <p:cNvSpPr txBox="1"/>
            <p:nvPr/>
          </p:nvSpPr>
          <p:spPr>
            <a:xfrm>
              <a:off x="10350669" y="5273876"/>
              <a:ext cx="1674580"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工单下达</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 name="矩形 49">
              <a:extLst>
                <a:ext uri="{FF2B5EF4-FFF2-40B4-BE49-F238E27FC236}">
                  <a16:creationId xmlns:a16="http://schemas.microsoft.com/office/drawing/2014/main" id="{D66DEC46-F87D-2E72-4FA4-043D8FE9B148}"/>
                </a:ext>
              </a:extLst>
            </p:cNvPr>
            <p:cNvSpPr/>
            <p:nvPr/>
          </p:nvSpPr>
          <p:spPr>
            <a:xfrm>
              <a:off x="9122784" y="5646865"/>
              <a:ext cx="1200587" cy="328247"/>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 name="TextBox 50">
              <a:extLst>
                <a:ext uri="{FF2B5EF4-FFF2-40B4-BE49-F238E27FC236}">
                  <a16:creationId xmlns:a16="http://schemas.microsoft.com/office/drawing/2014/main" id="{D642816E-AC4F-A7D7-53FB-7AE70610F643}"/>
                </a:ext>
              </a:extLst>
            </p:cNvPr>
            <p:cNvSpPr txBox="1"/>
            <p:nvPr/>
          </p:nvSpPr>
          <p:spPr>
            <a:xfrm>
              <a:off x="10361254" y="5669737"/>
              <a:ext cx="1674579"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Backlog order</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0" name="矩形 51">
              <a:extLst>
                <a:ext uri="{FF2B5EF4-FFF2-40B4-BE49-F238E27FC236}">
                  <a16:creationId xmlns:a16="http://schemas.microsoft.com/office/drawing/2014/main" id="{75C2ED00-8C36-F654-7BAD-AD23B05B0CB2}"/>
                </a:ext>
              </a:extLst>
            </p:cNvPr>
            <p:cNvSpPr/>
            <p:nvPr/>
          </p:nvSpPr>
          <p:spPr>
            <a:xfrm>
              <a:off x="9122784" y="6017281"/>
              <a:ext cx="1200587" cy="328247"/>
            </a:xfrm>
            <a:prstGeom prst="rect">
              <a:avLst/>
            </a:prstGeom>
            <a:solidFill>
              <a:schemeClr val="accent1"/>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1" name="TextBox 52">
              <a:extLst>
                <a:ext uri="{FF2B5EF4-FFF2-40B4-BE49-F238E27FC236}">
                  <a16:creationId xmlns:a16="http://schemas.microsoft.com/office/drawing/2014/main" id="{33E5C7C3-E5D7-9902-FA13-67F5F65BB5ED}"/>
                </a:ext>
              </a:extLst>
            </p:cNvPr>
            <p:cNvSpPr txBox="1"/>
            <p:nvPr/>
          </p:nvSpPr>
          <p:spPr>
            <a:xfrm>
              <a:off x="10350669" y="6016910"/>
              <a:ext cx="1674580" cy="29748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新订单</a:t>
              </a:r>
              <a:endParaRPr kumimoji="1" lang="zh-CN" altLang="en-US" sz="13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grpSp>
      <p:sp>
        <p:nvSpPr>
          <p:cNvPr id="38" name="文本框 1">
            <a:extLst>
              <a:ext uri="{FF2B5EF4-FFF2-40B4-BE49-F238E27FC236}">
                <a16:creationId xmlns:a16="http://schemas.microsoft.com/office/drawing/2014/main" id="{5B81B803-24B4-9844-58E1-00E74F242D57}"/>
              </a:ext>
            </a:extLst>
          </p:cNvPr>
          <p:cNvSpPr txBox="1"/>
          <p:nvPr/>
        </p:nvSpPr>
        <p:spPr>
          <a:xfrm>
            <a:off x="1444254" y="99833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0" name="文本框 1">
            <a:extLst>
              <a:ext uri="{FF2B5EF4-FFF2-40B4-BE49-F238E27FC236}">
                <a16:creationId xmlns:a16="http://schemas.microsoft.com/office/drawing/2014/main" id="{AE4EC6D4-6B8B-7D4B-2C1F-61D0FD8A6272}"/>
              </a:ext>
            </a:extLst>
          </p:cNvPr>
          <p:cNvSpPr txBox="1"/>
          <p:nvPr/>
        </p:nvSpPr>
        <p:spPr>
          <a:xfrm>
            <a:off x="3118537" y="1002850"/>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1" name="文本框 1">
            <a:extLst>
              <a:ext uri="{FF2B5EF4-FFF2-40B4-BE49-F238E27FC236}">
                <a16:creationId xmlns:a16="http://schemas.microsoft.com/office/drawing/2014/main" id="{C6FA4361-0749-C93F-2B88-1161902D6831}"/>
              </a:ext>
            </a:extLst>
          </p:cNvPr>
          <p:cNvSpPr txBox="1"/>
          <p:nvPr/>
        </p:nvSpPr>
        <p:spPr>
          <a:xfrm>
            <a:off x="4849284" y="1016630"/>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2" name="文本框 1">
            <a:extLst>
              <a:ext uri="{FF2B5EF4-FFF2-40B4-BE49-F238E27FC236}">
                <a16:creationId xmlns:a16="http://schemas.microsoft.com/office/drawing/2014/main" id="{0FD822F4-C993-E64E-E854-9834CB7CA6FF}"/>
              </a:ext>
            </a:extLst>
          </p:cNvPr>
          <p:cNvSpPr txBox="1"/>
          <p:nvPr/>
        </p:nvSpPr>
        <p:spPr>
          <a:xfrm>
            <a:off x="6372226" y="99833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3" name="文本框 42">
            <a:extLst>
              <a:ext uri="{FF2B5EF4-FFF2-40B4-BE49-F238E27FC236}">
                <a16:creationId xmlns:a16="http://schemas.microsoft.com/office/drawing/2014/main" id="{5D4DC240-E485-4C37-FFC3-CF2A06B1C337}"/>
              </a:ext>
            </a:extLst>
          </p:cNvPr>
          <p:cNvSpPr txBox="1"/>
          <p:nvPr/>
        </p:nvSpPr>
        <p:spPr>
          <a:xfrm>
            <a:off x="797984" y="5262911"/>
            <a:ext cx="6096000" cy="160043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的优先级高于需求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 200;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足量</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extLst>
      <p:ext uri="{BB962C8B-B14F-4D97-AF65-F5344CB8AC3E}">
        <p14:creationId xmlns:p14="http://schemas.microsoft.com/office/powerpoint/2010/main" val="250397338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23" presetClass="entr" presetSubtype="16"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 calcmode="lin" valueType="num">
                                      <p:cBhvr>
                                        <p:cTn id="10" dur="500" fill="hold"/>
                                        <p:tgtEl>
                                          <p:spTgt spid="13"/>
                                        </p:tgtEl>
                                        <p:attrNameLst>
                                          <p:attrName>ppt_w</p:attrName>
                                        </p:attrNameLst>
                                      </p:cBhvr>
                                      <p:tavLst>
                                        <p:tav tm="0">
                                          <p:val>
                                            <p:fltVal val="0"/>
                                          </p:val>
                                        </p:tav>
                                        <p:tav tm="100000">
                                          <p:val>
                                            <p:strVal val="#ppt_w"/>
                                          </p:val>
                                        </p:tav>
                                      </p:tavLst>
                                    </p:anim>
                                    <p:anim calcmode="lin" valueType="num">
                                      <p:cBhvr>
                                        <p:cTn id="11" dur="500" fill="hold"/>
                                        <p:tgtEl>
                                          <p:spTgt spid="13"/>
                                        </p:tgtEl>
                                        <p:attrNameLst>
                                          <p:attrName>ppt_h</p:attrName>
                                        </p:attrNameLst>
                                      </p:cBhvr>
                                      <p:tavLst>
                                        <p:tav tm="0">
                                          <p:val>
                                            <p:flt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42" presetClass="entr" presetSubtype="0" fill="hold" grpId="0" nodeType="withEffect">
                                  <p:stCondLst>
                                    <p:cond delay="0"/>
                                  </p:stCondLst>
                                  <p:iterate type="lt">
                                    <p:tmPct val="0"/>
                                  </p:iterate>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iterate type="lt">
                                    <p:tmPct val="0"/>
                                  </p:iterate>
                                  <p:childTnLst>
                                    <p:set>
                                      <p:cBhvr>
                                        <p:cTn id="28" dur="1" fill="hold">
                                          <p:stCondLst>
                                            <p:cond delay="0"/>
                                          </p:stCondLst>
                                        </p:cTn>
                                        <p:tgtEl>
                                          <p:spTgt spid="36"/>
                                        </p:tgtEl>
                                        <p:attrNameLst>
                                          <p:attrName>style.visibility</p:attrName>
                                        </p:attrNameLst>
                                      </p:cBhvr>
                                      <p:to>
                                        <p:strVal val="visible"/>
                                      </p:to>
                                    </p:set>
                                    <p:animEffect transition="in" filter="fade">
                                      <p:cBhvr>
                                        <p:cTn id="29" dur="1000"/>
                                        <p:tgtEl>
                                          <p:spTgt spid="36"/>
                                        </p:tgtEl>
                                      </p:cBhvr>
                                    </p:animEffect>
                                    <p:anim calcmode="lin" valueType="num">
                                      <p:cBhvr>
                                        <p:cTn id="30" dur="1000" fill="hold"/>
                                        <p:tgtEl>
                                          <p:spTgt spid="36"/>
                                        </p:tgtEl>
                                        <p:attrNameLst>
                                          <p:attrName>ppt_x</p:attrName>
                                        </p:attrNameLst>
                                      </p:cBhvr>
                                      <p:tavLst>
                                        <p:tav tm="0">
                                          <p:val>
                                            <p:strVal val="#ppt_x"/>
                                          </p:val>
                                        </p:tav>
                                        <p:tav tm="100000">
                                          <p:val>
                                            <p:strVal val="#ppt_x"/>
                                          </p:val>
                                        </p:tav>
                                      </p:tavLst>
                                    </p:anim>
                                    <p:anim calcmode="lin" valueType="num">
                                      <p:cBhvr>
                                        <p:cTn id="3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3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6"/>
          <p:cNvCxnSpPr/>
          <p:nvPr/>
        </p:nvCxnSpPr>
        <p:spPr>
          <a:xfrm>
            <a:off x="370418" y="3524251"/>
            <a:ext cx="100457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13"/>
          <p:cNvCxnSpPr>
            <a:stCxn id="34823" idx="2"/>
          </p:cNvCxnSpPr>
          <p:nvPr/>
        </p:nvCxnSpPr>
        <p:spPr>
          <a:xfrm flipH="1">
            <a:off x="3348568" y="2646844"/>
            <a:ext cx="29633" cy="824491"/>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15"/>
          <p:cNvCxnSpPr/>
          <p:nvPr/>
        </p:nvCxnSpPr>
        <p:spPr>
          <a:xfrm>
            <a:off x="5249333" y="2690285"/>
            <a:ext cx="0" cy="8530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23"/>
          <p:cNvCxnSpPr>
            <a:cxnSpLocks/>
          </p:cNvCxnSpPr>
          <p:nvPr/>
        </p:nvCxnSpPr>
        <p:spPr>
          <a:xfrm flipV="1">
            <a:off x="2459567" y="3495300"/>
            <a:ext cx="0" cy="85021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35"/>
          <p:cNvCxnSpPr/>
          <p:nvPr/>
        </p:nvCxnSpPr>
        <p:spPr>
          <a:xfrm flipV="1">
            <a:off x="2459567" y="4401608"/>
            <a:ext cx="0" cy="67098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4823" name="矩形 27"/>
          <p:cNvSpPr/>
          <p:nvPr/>
        </p:nvSpPr>
        <p:spPr>
          <a:xfrm>
            <a:off x="2658534" y="2277534"/>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4824" name="矩形 38"/>
          <p:cNvSpPr/>
          <p:nvPr/>
        </p:nvSpPr>
        <p:spPr>
          <a:xfrm>
            <a:off x="4548718" y="2307167"/>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4825" name="矩形 28"/>
          <p:cNvSpPr/>
          <p:nvPr/>
        </p:nvSpPr>
        <p:spPr>
          <a:xfrm>
            <a:off x="855133" y="3716867"/>
            <a:ext cx="1390651" cy="615531"/>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p>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200</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4826" name="矩形 41"/>
          <p:cNvSpPr/>
          <p:nvPr/>
        </p:nvSpPr>
        <p:spPr>
          <a:xfrm>
            <a:off x="855133" y="4531784"/>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Line 58"/>
          <p:cNvSpPr/>
          <p:nvPr/>
        </p:nvSpPr>
        <p:spPr>
          <a:xfrm flipH="1">
            <a:off x="2459567" y="2645834"/>
            <a:ext cx="891117" cy="1242484"/>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Line 58"/>
          <p:cNvSpPr/>
          <p:nvPr/>
        </p:nvSpPr>
        <p:spPr>
          <a:xfrm flipH="1">
            <a:off x="2438401" y="2645833"/>
            <a:ext cx="920751" cy="2091267"/>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连接符 7"/>
          <p:cNvCxnSpPr/>
          <p:nvPr/>
        </p:nvCxnSpPr>
        <p:spPr>
          <a:xfrm>
            <a:off x="6189133" y="1473201"/>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4" name="矩形标注 13"/>
          <p:cNvSpPr/>
          <p:nvPr/>
        </p:nvSpPr>
        <p:spPr>
          <a:xfrm>
            <a:off x="4540251" y="1509184"/>
            <a:ext cx="1441451" cy="508000"/>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矩形标注 14"/>
          <p:cNvSpPr/>
          <p:nvPr/>
        </p:nvSpPr>
        <p:spPr>
          <a:xfrm>
            <a:off x="2664884" y="1545167"/>
            <a:ext cx="1439333" cy="510117"/>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832" name="Title 37"/>
          <p:cNvSpPr>
            <a:spLocks noGrp="1"/>
          </p:cNvSpPr>
          <p:nvPr>
            <p:ph type="title" idx="4294967295"/>
          </p:nvPr>
        </p:nvSpPr>
        <p:spPr>
          <a:xfrm>
            <a:off x="1116013" y="179388"/>
            <a:ext cx="11075987" cy="520700"/>
          </a:xfrm>
          <a:prstGeom prst="rect">
            <a:avLst/>
          </a:prstGeom>
        </p:spPr>
        <p:txBody>
          <a:bodyPr vert="horz" wrap="square" lIns="121920" tIns="60960" rIns="121920" bIns="60960" anchor="ctr" anchorCtr="0">
            <a:normAutofit/>
          </a:bodyPr>
          <a:lstStyle/>
          <a:p>
            <a:pPr eaLnBrk="1" hangingPunct="1"/>
            <a:r>
              <a:rPr lang="zh-CN" altLang="en-US" b="1"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#1: </a:t>
            </a:r>
            <a:r>
              <a:rPr lang="zh-CN" altLang="en-US" b="1" dirty="0">
                <a:solidFill>
                  <a:schemeClr val="bg1"/>
                </a:solidFill>
                <a:latin typeface="Arial" panose="020B0604020202020204" pitchFamily="34" charset="0"/>
                <a:ea typeface="微软雅黑" panose="020B0503020204020204" pitchFamily="34" charset="-122"/>
              </a:rPr>
              <a:t>方案</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17" name="圆角矩形 16"/>
          <p:cNvSpPr/>
          <p:nvPr/>
        </p:nvSpPr>
        <p:spPr>
          <a:xfrm>
            <a:off x="8235951" y="1318721"/>
            <a:ext cx="3797300" cy="222038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lvl1pPr defTabSz="913130">
              <a:defRPr kumimoji="1" sz="2400">
                <a:solidFill>
                  <a:schemeClr val="tx1"/>
                </a:solidFill>
                <a:latin typeface="Calibri" panose="020F0502020204030204" pitchFamily="34" charset="0"/>
                <a:ea typeface="宋体" panose="02010600030101010101" pitchFamily="2" charset="-122"/>
              </a:defRPr>
            </a:lvl1pPr>
            <a:lvl2pPr marL="742950" indent="-285750" defTabSz="913130">
              <a:defRPr kumimoji="1" sz="2400">
                <a:solidFill>
                  <a:schemeClr val="tx1"/>
                </a:solidFill>
                <a:latin typeface="Calibri" panose="020F0502020204030204" pitchFamily="34" charset="0"/>
                <a:ea typeface="宋体" panose="02010600030101010101" pitchFamily="2" charset="-122"/>
              </a:defRPr>
            </a:lvl2pPr>
            <a:lvl3pPr marL="1143000" indent="-228600" defTabSz="913130">
              <a:defRPr kumimoji="1" sz="2400">
                <a:solidFill>
                  <a:schemeClr val="tx1"/>
                </a:solidFill>
                <a:latin typeface="Calibri" panose="020F0502020204030204" pitchFamily="34" charset="0"/>
                <a:ea typeface="宋体" panose="02010600030101010101" pitchFamily="2" charset="-122"/>
              </a:defRPr>
            </a:lvl3pPr>
            <a:lvl4pPr marL="1600200" indent="-228600" defTabSz="913130">
              <a:defRPr kumimoji="1" sz="2400">
                <a:solidFill>
                  <a:schemeClr val="tx1"/>
                </a:solidFill>
                <a:latin typeface="Calibri" panose="020F0502020204030204" pitchFamily="34" charset="0"/>
                <a:ea typeface="宋体" panose="02010600030101010101" pitchFamily="2" charset="-122"/>
              </a:defRPr>
            </a:lvl4pPr>
            <a:lvl5pPr marL="2057400" indent="-228600" defTabSz="913130">
              <a:defRPr kumimoji="1" sz="2400">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工单下达</a:t>
            </a:r>
            <a:endPar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消耗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消耗</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分配给需求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2 100</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，计划到货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分别给需求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工单将会在第</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天下达</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834" name="矩形 24"/>
          <p:cNvSpPr/>
          <p:nvPr/>
        </p:nvSpPr>
        <p:spPr>
          <a:xfrm>
            <a:off x="4375151" y="4292601"/>
            <a:ext cx="1803400" cy="634020"/>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p>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19" name="直接箭头连接符 25"/>
          <p:cNvCxnSpPr>
            <a:stCxn id="34834" idx="0"/>
          </p:cNvCxnSpPr>
          <p:nvPr/>
        </p:nvCxnSpPr>
        <p:spPr>
          <a:xfrm flipH="1" flipV="1">
            <a:off x="5249334" y="3524251"/>
            <a:ext cx="27517" cy="76835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0" name="Line 58"/>
          <p:cNvSpPr/>
          <p:nvPr/>
        </p:nvSpPr>
        <p:spPr>
          <a:xfrm flipH="1">
            <a:off x="4933951" y="2690285"/>
            <a:ext cx="315383" cy="1655233"/>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1" name="Line 58"/>
          <p:cNvSpPr/>
          <p:nvPr/>
        </p:nvSpPr>
        <p:spPr>
          <a:xfrm flipH="1">
            <a:off x="2438400" y="2675467"/>
            <a:ext cx="2810933" cy="1212851"/>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25" name="直接连接符 7"/>
          <p:cNvCxnSpPr/>
          <p:nvPr/>
        </p:nvCxnSpPr>
        <p:spPr>
          <a:xfrm>
            <a:off x="2459567" y="1509184"/>
            <a:ext cx="0" cy="20150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7"/>
          <p:cNvCxnSpPr/>
          <p:nvPr/>
        </p:nvCxnSpPr>
        <p:spPr>
          <a:xfrm>
            <a:off x="4358217" y="1473201"/>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8" name="矩形 38"/>
          <p:cNvSpPr/>
          <p:nvPr/>
        </p:nvSpPr>
        <p:spPr>
          <a:xfrm>
            <a:off x="6347884" y="2319867"/>
            <a:ext cx="1439333"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9" name="直接箭头连接符 15"/>
          <p:cNvCxnSpPr/>
          <p:nvPr/>
        </p:nvCxnSpPr>
        <p:spPr>
          <a:xfrm>
            <a:off x="6997700" y="2690285"/>
            <a:ext cx="16933" cy="8530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4846" name="矩形 30"/>
          <p:cNvSpPr/>
          <p:nvPr/>
        </p:nvSpPr>
        <p:spPr>
          <a:xfrm>
            <a:off x="6216651" y="4292601"/>
            <a:ext cx="1739900" cy="634020"/>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p>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100</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31" name="直接箭头连接符 31"/>
          <p:cNvCxnSpPr/>
          <p:nvPr/>
        </p:nvCxnSpPr>
        <p:spPr>
          <a:xfrm flipV="1">
            <a:off x="6997700" y="3543301"/>
            <a:ext cx="16933" cy="7493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2" name="矩形标注 33"/>
          <p:cNvSpPr/>
          <p:nvPr/>
        </p:nvSpPr>
        <p:spPr>
          <a:xfrm>
            <a:off x="6394451" y="1509184"/>
            <a:ext cx="1439333" cy="508000"/>
          </a:xfrm>
          <a:prstGeom prst="wedgeRectCallout">
            <a:avLst>
              <a:gd name="adj1" fmla="val -6801"/>
              <a:gd name="adj2" fmla="val 117405"/>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121899" tIns="60949" rIns="121899" bIns="60949"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 name="Line 58"/>
          <p:cNvSpPr/>
          <p:nvPr/>
        </p:nvSpPr>
        <p:spPr>
          <a:xfrm flipH="1">
            <a:off x="2438401" y="2690284"/>
            <a:ext cx="4559300" cy="2046816"/>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5" name="Line 58"/>
          <p:cNvSpPr/>
          <p:nvPr/>
        </p:nvSpPr>
        <p:spPr>
          <a:xfrm>
            <a:off x="7014633" y="2690284"/>
            <a:ext cx="389467" cy="1642533"/>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9" name="圆角矩形 45"/>
          <p:cNvSpPr/>
          <p:nvPr/>
        </p:nvSpPr>
        <p:spPr>
          <a:xfrm>
            <a:off x="8250767" y="3471334"/>
            <a:ext cx="3795184" cy="119168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600" b="0"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3</a:t>
            </a: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库存 </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和计划到货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分配给需求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3</a:t>
            </a: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工单将会在第</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天下达</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p:txBody>
      </p:sp>
      <p:cxnSp>
        <p:nvCxnSpPr>
          <p:cNvPr id="40" name="直接连接符 7"/>
          <p:cNvCxnSpPr/>
          <p:nvPr/>
        </p:nvCxnSpPr>
        <p:spPr>
          <a:xfrm>
            <a:off x="7998884" y="148801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10096E1D-BA05-DF0F-D668-9ED24E94B8EB}"/>
              </a:ext>
            </a:extLst>
          </p:cNvPr>
          <p:cNvSpPr txBox="1"/>
          <p:nvPr/>
        </p:nvSpPr>
        <p:spPr>
          <a:xfrm>
            <a:off x="10557934" y="3348624"/>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33" name="文本框 1">
            <a:extLst>
              <a:ext uri="{FF2B5EF4-FFF2-40B4-BE49-F238E27FC236}">
                <a16:creationId xmlns:a16="http://schemas.microsoft.com/office/drawing/2014/main" id="{72A1FC28-FD81-7749-9673-D03E2B801494}"/>
              </a:ext>
            </a:extLst>
          </p:cNvPr>
          <p:cNvSpPr txBox="1"/>
          <p:nvPr/>
        </p:nvSpPr>
        <p:spPr>
          <a:xfrm>
            <a:off x="1043846" y="99833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1" name="文本框 1">
            <a:extLst>
              <a:ext uri="{FF2B5EF4-FFF2-40B4-BE49-F238E27FC236}">
                <a16:creationId xmlns:a16="http://schemas.microsoft.com/office/drawing/2014/main" id="{188BB894-8F41-45B4-00D9-D160F80AF10F}"/>
              </a:ext>
            </a:extLst>
          </p:cNvPr>
          <p:cNvSpPr txBox="1"/>
          <p:nvPr/>
        </p:nvSpPr>
        <p:spPr>
          <a:xfrm>
            <a:off x="2718129" y="1002850"/>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2" name="文本框 1">
            <a:extLst>
              <a:ext uri="{FF2B5EF4-FFF2-40B4-BE49-F238E27FC236}">
                <a16:creationId xmlns:a16="http://schemas.microsoft.com/office/drawing/2014/main" id="{966DDE50-B2F9-D843-8334-D1030D6266E7}"/>
              </a:ext>
            </a:extLst>
          </p:cNvPr>
          <p:cNvSpPr txBox="1"/>
          <p:nvPr/>
        </p:nvSpPr>
        <p:spPr>
          <a:xfrm>
            <a:off x="4448876" y="1016630"/>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3" name="文本框 1">
            <a:extLst>
              <a:ext uri="{FF2B5EF4-FFF2-40B4-BE49-F238E27FC236}">
                <a16:creationId xmlns:a16="http://schemas.microsoft.com/office/drawing/2014/main" id="{0438FDAC-B286-D725-C491-DAAB98E4DD72}"/>
              </a:ext>
            </a:extLst>
          </p:cNvPr>
          <p:cNvSpPr txBox="1"/>
          <p:nvPr/>
        </p:nvSpPr>
        <p:spPr>
          <a:xfrm>
            <a:off x="6189133" y="993130"/>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6" name="文本框 45">
            <a:extLst>
              <a:ext uri="{FF2B5EF4-FFF2-40B4-BE49-F238E27FC236}">
                <a16:creationId xmlns:a16="http://schemas.microsoft.com/office/drawing/2014/main" id="{8C417A56-120F-ED99-8BDF-A5FF4028409C}"/>
              </a:ext>
            </a:extLst>
          </p:cNvPr>
          <p:cNvSpPr txBox="1"/>
          <p:nvPr/>
        </p:nvSpPr>
        <p:spPr>
          <a:xfrm>
            <a:off x="797984" y="5262911"/>
            <a:ext cx="6096000" cy="160043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数量</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的优先级高于需求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高于需求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p>
          <a:p>
            <a:pPr marL="171869" marR="0" lvl="0" indent="-171869"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 200;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库存</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 </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足量</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23" presetClass="entr" presetSubtype="16"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p:cTn id="10" dur="500" fill="hold"/>
                                        <p:tgtEl>
                                          <p:spTgt spid="21"/>
                                        </p:tgtEl>
                                        <p:attrNameLst>
                                          <p:attrName>ppt_w</p:attrName>
                                        </p:attrNameLst>
                                      </p:cBhvr>
                                      <p:tavLst>
                                        <p:tav tm="0">
                                          <p:val>
                                            <p:fltVal val="0"/>
                                          </p:val>
                                        </p:tav>
                                        <p:tav tm="100000">
                                          <p:val>
                                            <p:strVal val="#ppt_w"/>
                                          </p:val>
                                        </p:tav>
                                      </p:tavLst>
                                    </p:anim>
                                    <p:anim calcmode="lin" valueType="num">
                                      <p:cBhvr>
                                        <p:cTn id="11" dur="500" fill="hold"/>
                                        <p:tgtEl>
                                          <p:spTgt spid="21"/>
                                        </p:tgtEl>
                                        <p:attrNameLst>
                                          <p:attrName>ppt_h</p:attrName>
                                        </p:attrNameLst>
                                      </p:cBhvr>
                                      <p:tavLst>
                                        <p:tav tm="0">
                                          <p:val>
                                            <p:flt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childTnLst>
                                </p:cTn>
                              </p:par>
                              <p:par>
                                <p:cTn id="16" presetID="23" presetClass="entr" presetSubtype="16"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23" presetClass="entr" presetSubtype="16"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childTnLst>
                                </p:cTn>
                              </p:par>
                              <p:par>
                                <p:cTn id="27" presetID="42" presetClass="entr" presetSubtype="0" fill="hold" grpId="0" nodeType="withEffect">
                                  <p:stCondLst>
                                    <p:cond delay="0"/>
                                  </p:stCondLst>
                                  <p:iterate type="lt">
                                    <p:tmPct val="0"/>
                                  </p:iterate>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blinds(horizontal)">
                                      <p:cBhvr>
                                        <p:cTn id="36" dur="500"/>
                                        <p:tgtEl>
                                          <p:spTgt spid="3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blinds(horizontal)">
                                      <p:cBhvr>
                                        <p:cTn id="39" dur="500"/>
                                        <p:tgtEl>
                                          <p:spTgt spid="28"/>
                                        </p:tgtEl>
                                      </p:cBhvr>
                                    </p:animEffect>
                                  </p:childTnLst>
                                </p:cTn>
                              </p:par>
                              <p:par>
                                <p:cTn id="40" presetID="3" presetClass="entr" presetSubtype="10" fill="hold"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blinds(horizontal)">
                                      <p:cBhvr>
                                        <p:cTn id="42" dur="500"/>
                                        <p:tgtEl>
                                          <p:spTgt spid="34"/>
                                        </p:tgtEl>
                                      </p:cBhvr>
                                    </p:animEffect>
                                  </p:childTnLst>
                                </p:cTn>
                              </p:par>
                              <p:par>
                                <p:cTn id="43" presetID="3" presetClass="entr" presetSubtype="1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blinds(horizontal)">
                                      <p:cBhvr>
                                        <p:cTn id="45" dur="500"/>
                                        <p:tgtEl>
                                          <p:spTgt spid="35"/>
                                        </p:tgtEl>
                                      </p:cBhvr>
                                    </p:animEffect>
                                  </p:childTnLst>
                                </p:cTn>
                              </p:par>
                              <p:par>
                                <p:cTn id="46" presetID="3" presetClass="entr" presetSubtype="1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blinds(horizontal)">
                                      <p:cBhvr>
                                        <p:cTn id="48" dur="500"/>
                                        <p:tgtEl>
                                          <p:spTgt spid="29"/>
                                        </p:tgtEl>
                                      </p:cBhvr>
                                    </p:animEffect>
                                  </p:childTnLst>
                                </p:cTn>
                              </p:par>
                              <p:par>
                                <p:cTn id="49" presetID="42" presetClass="entr" presetSubtype="0" fill="hold" grpId="0" nodeType="withEffect">
                                  <p:stCondLst>
                                    <p:cond delay="0"/>
                                  </p:stCondLst>
                                  <p:iterate type="lt">
                                    <p:tmPct val="0"/>
                                  </p:iterate>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p:bldP spid="28" grpId="0" animBg="1"/>
      <p:bldP spid="32" grpId="0" animBg="1"/>
      <p:bldP spid="39"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2"/>
          <p:cNvSpPr>
            <a:spLocks noGrp="1"/>
          </p:cNvSpPr>
          <p:nvPr>
            <p:ph type="title" idx="4294967295"/>
          </p:nvPr>
        </p:nvSpPr>
        <p:spPr>
          <a:xfrm>
            <a:off x="1116013" y="150813"/>
            <a:ext cx="11075987" cy="520700"/>
          </a:xfrm>
          <a:prstGeom prst="rect">
            <a:avLst/>
          </a:prstGeom>
        </p:spPr>
        <p:txBody>
          <a:bodyPr vert="horz" wrap="square" lIns="121920" tIns="60960" rIns="121920" bIns="60960" anchor="ctr" anchorCtr="0">
            <a:normAutofit/>
          </a:bodyPr>
          <a:lstStyle/>
          <a:p>
            <a:pPr eaLnBrk="1" hangingPunct="1"/>
            <a:r>
              <a:rPr lang="en-US" altLang="zh-CN" b="1" dirty="0">
                <a:solidFill>
                  <a:schemeClr val="bg1"/>
                </a:solidFill>
                <a:latin typeface="Arial" panose="020B0604020202020204" pitchFamily="34" charset="0"/>
                <a:ea typeface="微软雅黑" panose="020B0503020204020204" pitchFamily="34" charset="-122"/>
              </a:rPr>
              <a:t>IPS </a:t>
            </a:r>
            <a:r>
              <a:rPr lang="zh-CN" altLang="en-US" b="1" dirty="0">
                <a:solidFill>
                  <a:schemeClr val="bg1"/>
                </a:solidFill>
                <a:latin typeface="Arial" panose="020B0604020202020204" pitchFamily="34" charset="0"/>
                <a:ea typeface="微软雅黑" panose="020B0503020204020204" pitchFamily="34" charset="-122"/>
              </a:rPr>
              <a:t>方案</a:t>
            </a:r>
            <a:r>
              <a:rPr lang="en-US" altLang="zh-CN" b="1" dirty="0">
                <a:solidFill>
                  <a:schemeClr val="bg1"/>
                </a:solidFill>
                <a:latin typeface="Arial" panose="020B0604020202020204" pitchFamily="34" charset="0"/>
                <a:ea typeface="微软雅黑" panose="020B0503020204020204" pitchFamily="34" charset="-122"/>
              </a:rPr>
              <a:t> – </a:t>
            </a:r>
            <a:r>
              <a:rPr lang="zh-CN" altLang="en-US" b="1" dirty="0">
                <a:solidFill>
                  <a:schemeClr val="bg1"/>
                </a:solidFill>
                <a:latin typeface="Arial" panose="020B0604020202020204" pitchFamily="34" charset="0"/>
                <a:ea typeface="微软雅黑" panose="020B0503020204020204" pitchFamily="34" charset="-122"/>
              </a:rPr>
              <a:t>情景演示</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3" name="Freeform 8"/>
          <p:cNvSpPr/>
          <p:nvPr/>
        </p:nvSpPr>
        <p:spPr>
          <a:xfrm>
            <a:off x="4093634" y="1693333"/>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统一数据源和逻辑提高计划准确性</a:t>
            </a:r>
            <a:endParaRPr kumimoji="0" lang="en-US" altLang="zh-CN"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
        <p:nvSpPr>
          <p:cNvPr id="4" name="Freeform 9"/>
          <p:cNvSpPr/>
          <p:nvPr/>
        </p:nvSpPr>
        <p:spPr>
          <a:xfrm>
            <a:off x="1953685" y="1591734"/>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spcCol="1270" anchor="ct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zh-CN" altLang="en-US"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横向协同计划与执行</a:t>
            </a:r>
            <a:endParaRPr kumimoji="0" lang="en-US" altLang="zh-CN"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5" name="Freeform 10"/>
          <p:cNvSpPr/>
          <p:nvPr/>
        </p:nvSpPr>
        <p:spPr>
          <a:xfrm>
            <a:off x="4093634" y="2751667"/>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优先级存在差异</a:t>
            </a: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
        <p:nvSpPr>
          <p:cNvPr id="6" name="Freeform 11"/>
          <p:cNvSpPr/>
          <p:nvPr/>
        </p:nvSpPr>
        <p:spPr>
          <a:xfrm>
            <a:off x="1953685" y="2650067"/>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2"/>
              </a:gs>
              <a:gs pos="100000">
                <a:schemeClr val="accent2">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zh-CN" altLang="en-US"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优先级机制存在矛盾</a:t>
            </a:r>
            <a:endParaRPr kumimoji="0" lang="en-US"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7" name="Freeform 14"/>
          <p:cNvSpPr/>
          <p:nvPr/>
        </p:nvSpPr>
        <p:spPr>
          <a:xfrm>
            <a:off x="1953685" y="3708400"/>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3"/>
              </a:gs>
              <a:gs pos="100000">
                <a:schemeClr val="accent3">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场景</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#3</a:t>
            </a:r>
          </a:p>
        </p:txBody>
      </p:sp>
    </p:spTree>
    <p:custDataLst>
      <p:tags r:id="rId1"/>
    </p:custDataLst>
    <p:extLst>
      <p:ext uri="{BB962C8B-B14F-4D97-AF65-F5344CB8AC3E}">
        <p14:creationId xmlns:p14="http://schemas.microsoft.com/office/powerpoint/2010/main" val="1945685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7"/>
          <p:cNvSpPr>
            <a:spLocks noGrp="1"/>
          </p:cNvSpPr>
          <p:nvPr>
            <p:ph type="title" idx="4294967295"/>
          </p:nvPr>
        </p:nvSpPr>
        <p:spPr>
          <a:xfrm>
            <a:off x="1120775" y="161925"/>
            <a:ext cx="11071225" cy="520700"/>
          </a:xfrm>
          <a:prstGeom prst="rect">
            <a:avLst/>
          </a:prstGeom>
        </p:spPr>
        <p:txBody>
          <a:bodyPr vert="horz" wrap="square" lIns="121920" tIns="60960" rIns="121920" bIns="60960" anchor="ctr" anchorCtr="0">
            <a:normAutofit/>
          </a:bodyPr>
          <a:lstStyle/>
          <a:p>
            <a:pPr eaLnBrk="1" hangingPunct="1"/>
            <a:r>
              <a:rPr lang="zh-CN" altLang="en-US" b="1"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#2: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E</a:t>
            </a:r>
          </a:p>
        </p:txBody>
      </p:sp>
      <p:cxnSp>
        <p:nvCxnSpPr>
          <p:cNvPr id="3" name="直接箭头连接符 38"/>
          <p:cNvCxnSpPr/>
          <p:nvPr/>
        </p:nvCxnSpPr>
        <p:spPr>
          <a:xfrm>
            <a:off x="897467" y="3473451"/>
            <a:ext cx="9334500" cy="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9"/>
          <p:cNvCxnSpPr/>
          <p:nvPr/>
        </p:nvCxnSpPr>
        <p:spPr>
          <a:xfrm>
            <a:off x="3951817" y="2707218"/>
            <a:ext cx="0" cy="766233"/>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0"/>
          <p:cNvCxnSpPr/>
          <p:nvPr/>
        </p:nvCxnSpPr>
        <p:spPr>
          <a:xfrm>
            <a:off x="6487584" y="2707218"/>
            <a:ext cx="0" cy="766233"/>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41"/>
          <p:cNvCxnSpPr/>
          <p:nvPr/>
        </p:nvCxnSpPr>
        <p:spPr>
          <a:xfrm flipV="1">
            <a:off x="2935817" y="3473451"/>
            <a:ext cx="0" cy="6731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42"/>
          <p:cNvCxnSpPr>
            <a:cxnSpLocks/>
            <a:stCxn id="36876" idx="0"/>
          </p:cNvCxnSpPr>
          <p:nvPr/>
        </p:nvCxnSpPr>
        <p:spPr>
          <a:xfrm flipV="1">
            <a:off x="5903595" y="3473451"/>
            <a:ext cx="8255" cy="75273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43"/>
          <p:cNvCxnSpPr/>
          <p:nvPr/>
        </p:nvCxnSpPr>
        <p:spPr>
          <a:xfrm flipV="1">
            <a:off x="2935817" y="4349751"/>
            <a:ext cx="0" cy="6709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6873" name="矩形 44"/>
          <p:cNvSpPr/>
          <p:nvPr/>
        </p:nvSpPr>
        <p:spPr>
          <a:xfrm>
            <a:off x="3179234" y="2353734"/>
            <a:ext cx="1200151"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874" name="矩形 45"/>
          <p:cNvSpPr/>
          <p:nvPr/>
        </p:nvSpPr>
        <p:spPr>
          <a:xfrm>
            <a:off x="6060018" y="2347385"/>
            <a:ext cx="1200149"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875" name="矩形 46"/>
          <p:cNvSpPr/>
          <p:nvPr/>
        </p:nvSpPr>
        <p:spPr>
          <a:xfrm>
            <a:off x="1354667" y="3666067"/>
            <a:ext cx="1390651" cy="338554"/>
          </a:xfrm>
          <a:prstGeom prst="rect">
            <a:avLst/>
          </a:prstGeom>
          <a:solidFill>
            <a:srgbClr val="00B05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876" name="矩形 47"/>
          <p:cNvSpPr/>
          <p:nvPr/>
        </p:nvSpPr>
        <p:spPr>
          <a:xfrm>
            <a:off x="4818803" y="4226181"/>
            <a:ext cx="2169584"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877" name="矩形 48"/>
          <p:cNvSpPr/>
          <p:nvPr/>
        </p:nvSpPr>
        <p:spPr>
          <a:xfrm>
            <a:off x="1354667" y="4480984"/>
            <a:ext cx="1390651" cy="338554"/>
          </a:xfrm>
          <a:prstGeom prst="rect">
            <a:avLst/>
          </a:prstGeom>
          <a:solidFill>
            <a:srgbClr val="00B05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4" name="Line 58"/>
          <p:cNvSpPr>
            <a:spLocks noChangeShapeType="1"/>
          </p:cNvSpPr>
          <p:nvPr/>
        </p:nvSpPr>
        <p:spPr bwMode="auto">
          <a:xfrm flipH="1">
            <a:off x="2935818" y="3090333"/>
            <a:ext cx="3551767" cy="781051"/>
          </a:xfrm>
          <a:prstGeom prst="line">
            <a:avLst/>
          </a:prstGeom>
          <a:noFill/>
          <a:ln w="12700">
            <a:solidFill>
              <a:schemeClr val="bg1"/>
            </a:solidFill>
            <a:round/>
            <a:tailEnd type="triangle" w="med" len="med"/>
          </a:ln>
        </p:spPr>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 name="Line 58"/>
          <p:cNvSpPr>
            <a:spLocks noChangeShapeType="1"/>
          </p:cNvSpPr>
          <p:nvPr/>
        </p:nvSpPr>
        <p:spPr bwMode="auto">
          <a:xfrm flipH="1">
            <a:off x="5911851" y="3090333"/>
            <a:ext cx="575733" cy="781051"/>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6" name="矩形标注 15"/>
          <p:cNvSpPr/>
          <p:nvPr/>
        </p:nvSpPr>
        <p:spPr>
          <a:xfrm>
            <a:off x="5784851" y="1517651"/>
            <a:ext cx="1439333" cy="508000"/>
          </a:xfrm>
          <a:prstGeom prst="wedgeRectCallout">
            <a:avLst>
              <a:gd name="adj1" fmla="val 782"/>
              <a:gd name="adj2" fmla="val 9056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黑体" panose="02010609060101010101" charset="-122"/>
              </a:rPr>
              <a:t>交付计划</a:t>
            </a:r>
          </a:p>
        </p:txBody>
      </p:sp>
      <p:sp>
        <p:nvSpPr>
          <p:cNvPr id="17" name="矩形标注 16"/>
          <p:cNvSpPr/>
          <p:nvPr/>
        </p:nvSpPr>
        <p:spPr>
          <a:xfrm>
            <a:off x="3232151" y="1517651"/>
            <a:ext cx="1439333" cy="508000"/>
          </a:xfrm>
          <a:prstGeom prst="wedgeRectCallout">
            <a:avLst>
              <a:gd name="adj1" fmla="val 782"/>
              <a:gd name="adj2" fmla="val 9056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黑体" panose="02010609060101010101" charset="-122"/>
              </a:rPr>
              <a:t>交付计划</a:t>
            </a:r>
          </a:p>
        </p:txBody>
      </p:sp>
      <p:sp>
        <p:nvSpPr>
          <p:cNvPr id="18" name="Line 58"/>
          <p:cNvSpPr>
            <a:spLocks noChangeShapeType="1"/>
          </p:cNvSpPr>
          <p:nvPr/>
        </p:nvSpPr>
        <p:spPr bwMode="auto">
          <a:xfrm flipH="1">
            <a:off x="2935817" y="3090334"/>
            <a:ext cx="1009651" cy="1648884"/>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TextBox 48"/>
          <p:cNvSpPr txBox="1"/>
          <p:nvPr/>
        </p:nvSpPr>
        <p:spPr>
          <a:xfrm>
            <a:off x="7480300" y="908051"/>
            <a:ext cx="4260851" cy="625684"/>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342891" marR="0" lvl="0" indent="-342891"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交付计划依赖于</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p>
          <a:p>
            <a:pPr marL="342891" marR="0" lvl="0" indent="-342891"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 </a:t>
            </a: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短缺补货</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endPar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2" name="圆角矩形 21"/>
          <p:cNvSpPr/>
          <p:nvPr/>
        </p:nvSpPr>
        <p:spPr>
          <a:xfrm>
            <a:off x="7613651" y="3666067"/>
            <a:ext cx="4127500" cy="1439333"/>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如何兑现承诺？</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却有急单应如何处理？</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3" name="TextBox 8"/>
          <p:cNvSpPr txBox="1"/>
          <p:nvPr/>
        </p:nvSpPr>
        <p:spPr>
          <a:xfrm>
            <a:off x="2840761" y="3641891"/>
            <a:ext cx="1568041" cy="379656"/>
          </a:xfrm>
          <a:prstGeom prst="rect">
            <a:avLst/>
          </a:prstGeom>
          <a:noFill/>
          <a:scene3d>
            <a:camera prst="orthographicFront">
              <a:rot lat="1195241" lon="109017" rev="3619146"/>
            </a:camera>
            <a:lightRig rig="threePt" dir="t"/>
          </a:scene3d>
        </p:spPr>
        <p:txBody>
          <a:bodyPr>
            <a:spAutoFit/>
          </a:bodyP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867"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unkitted</a:t>
            </a:r>
            <a:endParaRPr kumimoji="0" lang="zh-CN" altLang="en-US" sz="18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4" name="矩形 23"/>
          <p:cNvSpPr/>
          <p:nvPr/>
        </p:nvSpPr>
        <p:spPr>
          <a:xfrm>
            <a:off x="895351" y="2042584"/>
            <a:ext cx="783167" cy="256545"/>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Cycle-1</a:t>
            </a:r>
            <a:endParaRPr kumimoji="0" lang="zh-CN" altLang="en-US" sz="1067"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5" name="矩形 24"/>
          <p:cNvSpPr/>
          <p:nvPr/>
        </p:nvSpPr>
        <p:spPr>
          <a:xfrm>
            <a:off x="895351" y="2453217"/>
            <a:ext cx="783167" cy="256545"/>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Cycle-2</a:t>
            </a:r>
            <a:endParaRPr kumimoji="0" lang="zh-CN" altLang="en-US" sz="1067"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6" name="TextBox 43"/>
          <p:cNvSpPr txBox="1"/>
          <p:nvPr/>
        </p:nvSpPr>
        <p:spPr>
          <a:xfrm>
            <a:off x="895351" y="5473671"/>
            <a:ext cx="5520267" cy="1138751"/>
          </a:xfrm>
          <a:prstGeom prst="rect">
            <a:avLst/>
          </a:prstGeom>
          <a:noFill/>
        </p:spPr>
        <p:txBody>
          <a:bodyPr lIns="121899" tIns="60949" rIns="121899" bIns="60949">
            <a:spAutoFit/>
          </a:bodyPr>
          <a:lstStyle>
            <a:defPPr>
              <a:defRPr lang="en-US"/>
            </a:defPPr>
            <a:lvl1pPr>
              <a:defRPr sz="1400" b="1">
                <a:latin typeface="Century Gothic" panose="020B0502020202020204" pitchFamily="34" charset="0"/>
                <a:ea typeface="微软雅黑" panose="020B0503020204020204" pitchFamily="34" charset="-122"/>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cs typeface="+mn-cs"/>
              </a:rPr>
              <a:t>场景：</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cs typeface="+mn-cs"/>
            </a:endParaRP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3&gt;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2&gt;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p>
        </p:txBody>
      </p:sp>
      <p:sp>
        <p:nvSpPr>
          <p:cNvPr id="27" name="矩形 26"/>
          <p:cNvSpPr/>
          <p:nvPr/>
        </p:nvSpPr>
        <p:spPr>
          <a:xfrm>
            <a:off x="4624918" y="2355852"/>
            <a:ext cx="1200149"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8" name="直接箭头连接符 64"/>
          <p:cNvCxnSpPr/>
          <p:nvPr/>
        </p:nvCxnSpPr>
        <p:spPr>
          <a:xfrm>
            <a:off x="5228167" y="2707218"/>
            <a:ext cx="0" cy="766233"/>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9" name="Line 58"/>
          <p:cNvSpPr>
            <a:spLocks noChangeShapeType="1"/>
          </p:cNvSpPr>
          <p:nvPr/>
        </p:nvSpPr>
        <p:spPr bwMode="auto">
          <a:xfrm flipH="1">
            <a:off x="2935818" y="3090333"/>
            <a:ext cx="2292351" cy="781051"/>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0" name="Line 58"/>
          <p:cNvSpPr>
            <a:spLocks noChangeShapeType="1"/>
          </p:cNvSpPr>
          <p:nvPr/>
        </p:nvSpPr>
        <p:spPr bwMode="auto">
          <a:xfrm flipH="1">
            <a:off x="2935818" y="3090334"/>
            <a:ext cx="2292351" cy="1648884"/>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1" name="TextBox 44"/>
          <p:cNvSpPr txBox="1"/>
          <p:nvPr/>
        </p:nvSpPr>
        <p:spPr>
          <a:xfrm>
            <a:off x="7480300" y="1631951"/>
            <a:ext cx="3454400" cy="892360"/>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286166" marR="0" lvl="0" indent="-286166"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 </a:t>
            </a: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今天发货</a:t>
            </a:r>
            <a:endPar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286166" marR="0" lvl="0" indent="-286166"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短缺补货</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b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b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 </a:t>
            </a:r>
            <a:r>
              <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短缺补货</a:t>
            </a:r>
            <a:r>
              <a:rPr kumimoji="1" lang="en-US" altLang="zh-CN"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endParaRPr kumimoji="1" lang="zh-CN" altLang="en-US" sz="17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 name="Line 58"/>
          <p:cNvSpPr>
            <a:spLocks noChangeShapeType="1"/>
          </p:cNvSpPr>
          <p:nvPr/>
        </p:nvSpPr>
        <p:spPr bwMode="auto">
          <a:xfrm flipH="1">
            <a:off x="2935818" y="3090334"/>
            <a:ext cx="3551767" cy="905933"/>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3" name="TextBox 8"/>
          <p:cNvSpPr txBox="1"/>
          <p:nvPr/>
        </p:nvSpPr>
        <p:spPr>
          <a:xfrm rot="3057702">
            <a:off x="4622841" y="3383848"/>
            <a:ext cx="1568043" cy="307777"/>
          </a:xfrm>
          <a:prstGeom prst="rect">
            <a:avLst/>
          </a:prstGeom>
          <a:noFill/>
          <a:scene3d>
            <a:camera prst="orthographicFront">
              <a:rot lat="1195241" lon="109017" rev="3619146"/>
            </a:camera>
            <a:lightRig rig="threePt" dir="t"/>
          </a:scene3d>
        </p:spPr>
        <p:txBody>
          <a:bodyPr>
            <a:spAutoFit/>
          </a:bodyP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34" name="Line 58"/>
          <p:cNvSpPr>
            <a:spLocks noChangeShapeType="1"/>
          </p:cNvSpPr>
          <p:nvPr/>
        </p:nvSpPr>
        <p:spPr bwMode="auto">
          <a:xfrm flipH="1">
            <a:off x="2935817" y="3107268"/>
            <a:ext cx="1009651" cy="751417"/>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162491" tIns="81244" rIns="162491" bIns="81244"/>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5" name="TextBox 8"/>
          <p:cNvSpPr txBox="1"/>
          <p:nvPr/>
        </p:nvSpPr>
        <p:spPr>
          <a:xfrm>
            <a:off x="2838885" y="3669821"/>
            <a:ext cx="1568041" cy="379656"/>
          </a:xfrm>
          <a:prstGeom prst="rect">
            <a:avLst/>
          </a:prstGeom>
          <a:noFill/>
          <a:scene3d>
            <a:camera prst="orthographicFront">
              <a:rot lat="1195241" lon="109017" rev="3619146"/>
            </a:camera>
            <a:lightRig rig="threePt" dir="t"/>
          </a:scene3d>
        </p:spPr>
        <p:txBody>
          <a:bodyPr>
            <a:spAutoFit/>
          </a:bodyP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8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Un-kitted</a:t>
            </a:r>
            <a:endParaRPr kumimoji="0" lang="zh-CN" altLang="en-US" sz="1867"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1" name="文本框 7">
            <a:extLst>
              <a:ext uri="{FF2B5EF4-FFF2-40B4-BE49-F238E27FC236}">
                <a16:creationId xmlns:a16="http://schemas.microsoft.com/office/drawing/2014/main" id="{10096E1D-BA05-DF0F-D668-9ED24E94B8EB}"/>
              </a:ext>
            </a:extLst>
          </p:cNvPr>
          <p:cNvSpPr txBox="1"/>
          <p:nvPr/>
        </p:nvSpPr>
        <p:spPr>
          <a:xfrm>
            <a:off x="10210394" y="3272559"/>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14"/>
                                        </p:tgtEl>
                                      </p:cBhvr>
                                    </p:animEffect>
                                    <p:set>
                                      <p:cBhvr>
                                        <p:cTn id="40" dur="1" fill="hold">
                                          <p:stCondLst>
                                            <p:cond delay="499"/>
                                          </p:stCondLst>
                                        </p:cTn>
                                        <p:tgtEl>
                                          <p:spTgt spid="14"/>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18"/>
                                        </p:tgtEl>
                                      </p:cBhvr>
                                    </p:animEffect>
                                    <p:set>
                                      <p:cBhvr>
                                        <p:cTn id="48" dur="1" fill="hold">
                                          <p:stCondLst>
                                            <p:cond delay="499"/>
                                          </p:stCondLst>
                                        </p:cTn>
                                        <p:tgtEl>
                                          <p:spTgt spid="18"/>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3"/>
                                        </p:tgtEl>
                                      </p:cBhvr>
                                    </p:animEffect>
                                    <p:set>
                                      <p:cBhvr>
                                        <p:cTn id="51" dur="1" fill="hold">
                                          <p:stCondLst>
                                            <p:cond delay="4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500"/>
                                        <p:tgtEl>
                                          <p:spTgt spid="34"/>
                                        </p:tgtEl>
                                      </p:cBhvr>
                                    </p:animEffect>
                                    <p:set>
                                      <p:cBhvr>
                                        <p:cTn id="97" dur="1" fill="hold">
                                          <p:stCondLst>
                                            <p:cond delay="499"/>
                                          </p:stCondLst>
                                        </p:cTn>
                                        <p:tgtEl>
                                          <p:spTgt spid="3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35"/>
                                        </p:tgtEl>
                                      </p:cBhvr>
                                    </p:animEffect>
                                    <p:set>
                                      <p:cBhvr>
                                        <p:cTn id="100" dur="1" fill="hold">
                                          <p:stCondLst>
                                            <p:cond delay="499"/>
                                          </p:stCondLst>
                                        </p:cTn>
                                        <p:tgtEl>
                                          <p:spTgt spid="35"/>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p:bldP spid="22" grpId="0" animBg="1"/>
      <p:bldP spid="24" grpId="0" animBg="1"/>
      <p:bldP spid="25" grpId="0" animBg="1"/>
      <p:bldP spid="27" grpId="0" animBg="1"/>
      <p:bldP spid="3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4"/>
          <p:cNvCxnSpPr/>
          <p:nvPr/>
        </p:nvCxnSpPr>
        <p:spPr>
          <a:xfrm>
            <a:off x="1081618" y="3524251"/>
            <a:ext cx="9334500" cy="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5"/>
          <p:cNvCxnSpPr>
            <a:stCxn id="37896" idx="2"/>
          </p:cNvCxnSpPr>
          <p:nvPr/>
        </p:nvCxnSpPr>
        <p:spPr>
          <a:xfrm flipH="1">
            <a:off x="4165601" y="2604622"/>
            <a:ext cx="7409" cy="88153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6"/>
          <p:cNvCxnSpPr>
            <a:cxnSpLocks/>
          </p:cNvCxnSpPr>
          <p:nvPr/>
        </p:nvCxnSpPr>
        <p:spPr>
          <a:xfrm>
            <a:off x="6656387" y="2628303"/>
            <a:ext cx="15346" cy="895948"/>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7"/>
          <p:cNvCxnSpPr/>
          <p:nvPr/>
        </p:nvCxnSpPr>
        <p:spPr>
          <a:xfrm flipV="1">
            <a:off x="3119967" y="3524251"/>
            <a:ext cx="0" cy="6731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8"/>
          <p:cNvCxnSpPr/>
          <p:nvPr/>
        </p:nvCxnSpPr>
        <p:spPr>
          <a:xfrm flipV="1">
            <a:off x="6096000" y="3524251"/>
            <a:ext cx="0" cy="6731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9"/>
          <p:cNvCxnSpPr/>
          <p:nvPr/>
        </p:nvCxnSpPr>
        <p:spPr>
          <a:xfrm flipV="1">
            <a:off x="3119967" y="4400551"/>
            <a:ext cx="0" cy="6709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7896" name="矩形 10"/>
          <p:cNvSpPr/>
          <p:nvPr/>
        </p:nvSpPr>
        <p:spPr>
          <a:xfrm>
            <a:off x="3572934" y="2307168"/>
            <a:ext cx="1200151"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897" name="矩形 11"/>
          <p:cNvSpPr/>
          <p:nvPr/>
        </p:nvSpPr>
        <p:spPr>
          <a:xfrm>
            <a:off x="6284384" y="2307168"/>
            <a:ext cx="1200149"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898" name="矩形 12"/>
          <p:cNvSpPr/>
          <p:nvPr/>
        </p:nvSpPr>
        <p:spPr>
          <a:xfrm>
            <a:off x="1536701" y="3716867"/>
            <a:ext cx="1392767" cy="338554"/>
          </a:xfrm>
          <a:prstGeom prst="rect">
            <a:avLst/>
          </a:prstGeom>
          <a:solidFill>
            <a:srgbClr val="00B05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899" name="矩形 13"/>
          <p:cNvSpPr/>
          <p:nvPr/>
        </p:nvSpPr>
        <p:spPr>
          <a:xfrm>
            <a:off x="5065184" y="4292600"/>
            <a:ext cx="20066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900" name="矩形 14"/>
          <p:cNvSpPr/>
          <p:nvPr/>
        </p:nvSpPr>
        <p:spPr>
          <a:xfrm>
            <a:off x="1536701" y="4531784"/>
            <a:ext cx="1392767" cy="338554"/>
          </a:xfrm>
          <a:prstGeom prst="rect">
            <a:avLst/>
          </a:prstGeom>
          <a:solidFill>
            <a:srgbClr val="00B05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p:cNvSpPr>
            <a:spLocks noChangeShapeType="1"/>
          </p:cNvSpPr>
          <p:nvPr/>
        </p:nvSpPr>
        <p:spPr bwMode="auto">
          <a:xfrm flipH="1">
            <a:off x="3119967" y="3141133"/>
            <a:ext cx="3551767" cy="781051"/>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Line 58"/>
          <p:cNvSpPr>
            <a:spLocks noChangeShapeType="1"/>
          </p:cNvSpPr>
          <p:nvPr/>
        </p:nvSpPr>
        <p:spPr bwMode="auto">
          <a:xfrm flipH="1">
            <a:off x="6096000" y="3141133"/>
            <a:ext cx="575733" cy="781051"/>
          </a:xfrm>
          <a:prstGeom prst="line">
            <a:avLst/>
          </a:prstGeom>
          <a:noFill/>
          <a:ln w="9525">
            <a:solidFill>
              <a:schemeClr val="tx1"/>
            </a:solidFill>
            <a:round/>
            <a:tailEnd type="triangle" w="med" len="med"/>
          </a:ln>
        </p:spPr>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7"/>
          <p:cNvGrpSpPr/>
          <p:nvPr/>
        </p:nvGrpSpPr>
        <p:grpSpPr>
          <a:xfrm>
            <a:off x="432849" y="1477434"/>
            <a:ext cx="2111683" cy="417922"/>
            <a:chOff x="0" y="1668023"/>
            <a:chExt cx="4342049" cy="720081"/>
          </a:xfrm>
          <a:solidFill>
            <a:srgbClr val="00B050"/>
          </a:solidFill>
        </p:grpSpPr>
        <p:sp>
          <p:nvSpPr>
            <p:cNvPr id="16" name="五边形 15"/>
            <p:cNvSpPr/>
            <p:nvPr/>
          </p:nvSpPr>
          <p:spPr>
            <a:xfrm>
              <a:off x="0" y="1668023"/>
              <a:ext cx="4342049" cy="720081"/>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TextBox 8"/>
            <p:cNvSpPr txBox="1"/>
            <p:nvPr/>
          </p:nvSpPr>
          <p:spPr>
            <a:xfrm>
              <a:off x="830180" y="1789660"/>
              <a:ext cx="2067313" cy="583330"/>
            </a:xfrm>
            <a:prstGeom prst="rect">
              <a:avLst/>
            </a:prstGeom>
            <a:grp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Solution</a:t>
              </a:r>
              <a:endParaRPr kumimoji="0" lang="zh-CN" altLang="en-US"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sp>
        <p:nvSpPr>
          <p:cNvPr id="18" name="矩形标注 17"/>
          <p:cNvSpPr/>
          <p:nvPr/>
        </p:nvSpPr>
        <p:spPr>
          <a:xfrm>
            <a:off x="5797551" y="1477434"/>
            <a:ext cx="1610784" cy="599017"/>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19" name="矩形标注 18"/>
          <p:cNvSpPr/>
          <p:nvPr/>
        </p:nvSpPr>
        <p:spPr>
          <a:xfrm>
            <a:off x="3416301" y="1477434"/>
            <a:ext cx="1680633" cy="599017"/>
          </a:xfrm>
          <a:prstGeom prst="wedgeRectCallout">
            <a:avLst>
              <a:gd name="adj1" fmla="val 782"/>
              <a:gd name="adj2" fmla="val 90562"/>
            </a:avLst>
          </a:prstGeom>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IPS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20" name="Line 58"/>
          <p:cNvSpPr>
            <a:spLocks noChangeShapeType="1"/>
          </p:cNvSpPr>
          <p:nvPr/>
        </p:nvSpPr>
        <p:spPr bwMode="auto">
          <a:xfrm flipH="1">
            <a:off x="3119967" y="3141134"/>
            <a:ext cx="1007533" cy="1648884"/>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162491" tIns="81244" rIns="162491" bIns="81244"/>
          <a:lstStyle/>
          <a:p>
            <a:pPr marL="0" marR="0" lvl="0" indent="0" algn="l" defTabSz="1624713"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TextBox 26"/>
          <p:cNvSpPr txBox="1"/>
          <p:nvPr/>
        </p:nvSpPr>
        <p:spPr>
          <a:xfrm>
            <a:off x="3080167" y="3760731"/>
            <a:ext cx="1408340" cy="307777"/>
          </a:xfrm>
          <a:prstGeom prst="rect">
            <a:avLst/>
          </a:prstGeom>
          <a:noFill/>
          <a:scene3d>
            <a:camera prst="orthographicFront">
              <a:rot lat="1195241" lon="109017" rev="3619146"/>
            </a:camera>
            <a:lightRig rig="threePt" dir="t"/>
          </a:scene3d>
        </p:spPr>
        <p:txBody>
          <a:bodyP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不齐套</a:t>
            </a:r>
          </a:p>
        </p:txBody>
      </p:sp>
      <p:sp>
        <p:nvSpPr>
          <p:cNvPr id="23" name="矩形 22"/>
          <p:cNvSpPr/>
          <p:nvPr/>
        </p:nvSpPr>
        <p:spPr>
          <a:xfrm>
            <a:off x="1079501" y="2093384"/>
            <a:ext cx="783167" cy="256545"/>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Cycle-1</a:t>
            </a:r>
            <a:endParaRPr kumimoji="0" lang="zh-CN" altLang="en-US" sz="1067"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4" name="矩形 23"/>
          <p:cNvSpPr/>
          <p:nvPr/>
        </p:nvSpPr>
        <p:spPr>
          <a:xfrm>
            <a:off x="1079501" y="2501900"/>
            <a:ext cx="783167" cy="256545"/>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Cycle-2</a:t>
            </a:r>
            <a:endParaRPr kumimoji="0" lang="zh-CN" altLang="en-US" sz="1067"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5" name="矩形 24"/>
          <p:cNvSpPr/>
          <p:nvPr/>
        </p:nvSpPr>
        <p:spPr>
          <a:xfrm>
            <a:off x="1079501" y="2914651"/>
            <a:ext cx="783167" cy="256545"/>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Cycle-3</a:t>
            </a:r>
            <a:endParaRPr kumimoji="0" lang="zh-CN" altLang="en-US" sz="1067"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26" name="矩形 25"/>
          <p:cNvSpPr/>
          <p:nvPr/>
        </p:nvSpPr>
        <p:spPr>
          <a:xfrm>
            <a:off x="4946651" y="2307168"/>
            <a:ext cx="1200149" cy="297454"/>
          </a:xfrm>
          <a:prstGeom prst="rect">
            <a:avLst/>
          </a:prstGeom>
          <a:solidFill>
            <a:srgbClr val="0070C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7" name="直接箭头连接符 30"/>
          <p:cNvCxnSpPr>
            <a:cxnSpLocks/>
            <a:stCxn id="32" idx="2"/>
          </p:cNvCxnSpPr>
          <p:nvPr/>
        </p:nvCxnSpPr>
        <p:spPr>
          <a:xfrm>
            <a:off x="5546727" y="2604061"/>
            <a:ext cx="6347" cy="882091"/>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290733" y="2305489"/>
            <a:ext cx="1200151" cy="297454"/>
          </a:xfrm>
          <a:prstGeom prst="rect">
            <a:avLst/>
          </a:prstGeom>
          <a:solidFill>
            <a:srgbClr val="FF0000"/>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9" name="Line 58"/>
          <p:cNvSpPr>
            <a:spLocks noChangeShapeType="1"/>
          </p:cNvSpPr>
          <p:nvPr/>
        </p:nvSpPr>
        <p:spPr bwMode="auto">
          <a:xfrm flipH="1">
            <a:off x="3139017" y="3058584"/>
            <a:ext cx="3549651" cy="863600"/>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 name="Line 58"/>
          <p:cNvSpPr>
            <a:spLocks noChangeShapeType="1"/>
          </p:cNvSpPr>
          <p:nvPr/>
        </p:nvSpPr>
        <p:spPr bwMode="auto">
          <a:xfrm flipH="1">
            <a:off x="6096000" y="3058584"/>
            <a:ext cx="575733" cy="863600"/>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1" name="TextBox 48"/>
          <p:cNvSpPr txBox="1"/>
          <p:nvPr/>
        </p:nvSpPr>
        <p:spPr>
          <a:xfrm>
            <a:off x="8293100" y="2042584"/>
            <a:ext cx="3877733" cy="136434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依赖计划到货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2" name="矩形 31"/>
          <p:cNvSpPr/>
          <p:nvPr/>
        </p:nvSpPr>
        <p:spPr>
          <a:xfrm>
            <a:off x="4946651" y="2306607"/>
            <a:ext cx="1200151" cy="297454"/>
          </a:xfrm>
          <a:prstGeom prst="rect">
            <a:avLst/>
          </a:prstGeom>
          <a:solidFill>
            <a:schemeClr val="accent6"/>
          </a:solidFill>
        </p:spPr>
        <p:txBody>
          <a:bodyPr>
            <a:spAutoFit/>
          </a:bodyP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需求</a:t>
            </a:r>
            <a:r>
              <a:rPr kumimoji="0" lang="en-US" altLang="zh-CN"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3</a:t>
            </a:r>
            <a:endParaRPr kumimoji="0" lang="zh-CN" altLang="en-US" sz="13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33" name="TextBox 8"/>
          <p:cNvSpPr txBox="1"/>
          <p:nvPr/>
        </p:nvSpPr>
        <p:spPr>
          <a:xfrm>
            <a:off x="4334934" y="2628303"/>
            <a:ext cx="1056216" cy="420756"/>
          </a:xfrm>
          <a:prstGeom prst="rect">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重新分配物料和资源</a:t>
            </a:r>
          </a:p>
        </p:txBody>
      </p:sp>
      <p:sp>
        <p:nvSpPr>
          <p:cNvPr id="34" name="Line 58"/>
          <p:cNvSpPr>
            <a:spLocks noChangeShapeType="1"/>
          </p:cNvSpPr>
          <p:nvPr/>
        </p:nvSpPr>
        <p:spPr bwMode="auto">
          <a:xfrm flipH="1">
            <a:off x="3139016" y="3049059"/>
            <a:ext cx="2452801" cy="873125"/>
          </a:xfrm>
          <a:prstGeom prst="line">
            <a:avLst/>
          </a:prstGeom>
          <a:ln>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5" name="Line 58"/>
          <p:cNvSpPr>
            <a:spLocks noChangeShapeType="1"/>
          </p:cNvSpPr>
          <p:nvPr/>
        </p:nvSpPr>
        <p:spPr bwMode="auto">
          <a:xfrm flipH="1">
            <a:off x="3139016" y="3058023"/>
            <a:ext cx="2448983" cy="1676961"/>
          </a:xfrm>
          <a:prstGeom prst="line">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txBody>
          <a:bodyPr lIns="162491" tIns="81244" rIns="162491" bIns="81244"/>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6" name="TextBox 56"/>
          <p:cNvSpPr txBox="1"/>
          <p:nvPr/>
        </p:nvSpPr>
        <p:spPr>
          <a:xfrm>
            <a:off x="8312151" y="889001"/>
            <a:ext cx="3877733" cy="136434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交付计划</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3  : Today</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 </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短缺补货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短缺补货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 name="文本框 36"/>
          <p:cNvSpPr txBox="1"/>
          <p:nvPr/>
        </p:nvSpPr>
        <p:spPr>
          <a:xfrm>
            <a:off x="6989233" y="2575985"/>
            <a:ext cx="1303867" cy="420756"/>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0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已经的需求具备较高的优先级</a:t>
            </a:r>
          </a:p>
        </p:txBody>
      </p:sp>
      <p:sp>
        <p:nvSpPr>
          <p:cNvPr id="39" name="圆角矩形 38"/>
          <p:cNvSpPr/>
          <p:nvPr/>
        </p:nvSpPr>
        <p:spPr>
          <a:xfrm>
            <a:off x="7556501" y="3947584"/>
            <a:ext cx="4127500" cy="2347384"/>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统一优先级规则</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(w/CTP, delivery priority, create date, RSD, qty).</a:t>
            </a:r>
          </a:p>
          <a:p>
            <a:pPr marL="0" marR="0" lvl="0" indent="0" algn="l" defTabSz="1217476"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重新分配物料和资源到相应需求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 </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rPr>
              <a:t>而不是插队</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charset="0"/>
            </a:endParaRPr>
          </a:p>
        </p:txBody>
      </p:sp>
      <p:sp>
        <p:nvSpPr>
          <p:cNvPr id="11" name="文本框 7">
            <a:extLst>
              <a:ext uri="{FF2B5EF4-FFF2-40B4-BE49-F238E27FC236}">
                <a16:creationId xmlns:a16="http://schemas.microsoft.com/office/drawing/2014/main" id="{10096E1D-BA05-DF0F-D668-9ED24E94B8EB}"/>
              </a:ext>
            </a:extLst>
          </p:cNvPr>
          <p:cNvSpPr txBox="1"/>
          <p:nvPr/>
        </p:nvSpPr>
        <p:spPr>
          <a:xfrm>
            <a:off x="10459100" y="3365840"/>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8" name="Title 37">
            <a:extLst>
              <a:ext uri="{FF2B5EF4-FFF2-40B4-BE49-F238E27FC236}">
                <a16:creationId xmlns:a16="http://schemas.microsoft.com/office/drawing/2014/main" id="{7C63B281-DF3E-C9DD-B54F-0DD0E9919195}"/>
              </a:ext>
            </a:extLst>
          </p:cNvPr>
          <p:cNvSpPr>
            <a:spLocks noGrp="1"/>
          </p:cNvSpPr>
          <p:nvPr>
            <p:ph type="title" idx="4294967295"/>
          </p:nvPr>
        </p:nvSpPr>
        <p:spPr>
          <a:xfrm>
            <a:off x="1120775" y="227013"/>
            <a:ext cx="11071225" cy="520700"/>
          </a:xfrm>
          <a:prstGeom prst="rect">
            <a:avLst/>
          </a:prstGeom>
        </p:spPr>
        <p:txBody>
          <a:bodyPr vert="horz" wrap="square" lIns="121920" tIns="60960" rIns="121920" bIns="60960" anchor="ctr" anchorCtr="0">
            <a:normAutofit/>
          </a:bodyPr>
          <a:lstStyle/>
          <a:p>
            <a:pPr eaLnBrk="1" hangingPunct="1"/>
            <a:r>
              <a:rPr lang="zh-CN" altLang="en-US" b="1" dirty="0">
                <a:solidFill>
                  <a:schemeClr val="bg1"/>
                </a:solidFill>
                <a:latin typeface="Arial" panose="020B0604020202020204" pitchFamily="34" charset="0"/>
                <a:ea typeface="微软雅黑" panose="020B0503020204020204" pitchFamily="34" charset="-122"/>
              </a:rPr>
              <a:t>场景</a:t>
            </a:r>
            <a:r>
              <a:rPr lang="en-US" altLang="zh-CN" b="1" dirty="0">
                <a:solidFill>
                  <a:schemeClr val="bg1"/>
                </a:solidFill>
                <a:latin typeface="Arial" panose="020B0604020202020204" pitchFamily="34" charset="0"/>
                <a:ea typeface="微软雅黑" panose="020B0503020204020204" pitchFamily="34" charset="-122"/>
              </a:rPr>
              <a:t> #2: </a:t>
            </a:r>
            <a:r>
              <a:rPr lang="zh-CN" altLang="en-US" dirty="0">
                <a:solidFill>
                  <a:schemeClr val="bg1"/>
                </a:solidFill>
                <a:latin typeface="Arial" panose="020B0604020202020204" pitchFamily="34" charset="0"/>
                <a:ea typeface="微软雅黑" panose="020B0503020204020204" pitchFamily="34" charset="-122"/>
              </a:rPr>
              <a:t>挑战</a:t>
            </a:r>
            <a:r>
              <a:rPr lang="en-US" altLang="zh-CN" b="1" dirty="0">
                <a:solidFill>
                  <a:schemeClr val="bg1"/>
                </a:solidFill>
                <a:latin typeface="Arial" panose="020B0604020202020204" pitchFamily="34" charset="0"/>
                <a:ea typeface="微软雅黑" panose="020B0503020204020204" pitchFamily="34" charset="-122"/>
              </a:rPr>
              <a:t>E</a:t>
            </a:r>
          </a:p>
        </p:txBody>
      </p:sp>
      <p:sp>
        <p:nvSpPr>
          <p:cNvPr id="12" name="TextBox 43">
            <a:extLst>
              <a:ext uri="{FF2B5EF4-FFF2-40B4-BE49-F238E27FC236}">
                <a16:creationId xmlns:a16="http://schemas.microsoft.com/office/drawing/2014/main" id="{1715E7C4-3775-BAFC-6317-3B4AD11BE620}"/>
              </a:ext>
            </a:extLst>
          </p:cNvPr>
          <p:cNvSpPr txBox="1"/>
          <p:nvPr/>
        </p:nvSpPr>
        <p:spPr>
          <a:xfrm>
            <a:off x="895351" y="5473671"/>
            <a:ext cx="5520267" cy="1138751"/>
          </a:xfrm>
          <a:prstGeom prst="rect">
            <a:avLst/>
          </a:prstGeom>
          <a:noFill/>
        </p:spPr>
        <p:txBody>
          <a:bodyPr lIns="121899" tIns="60949" rIns="121899" bIns="60949">
            <a:spAutoFit/>
          </a:bodyPr>
          <a:lstStyle>
            <a:defPPr>
              <a:defRPr lang="en-US"/>
            </a:defPPr>
            <a:lvl1pPr>
              <a:defRPr sz="1400" b="1">
                <a:latin typeface="Century Gothic" panose="020B0502020202020204" pitchFamily="34" charset="0"/>
                <a:ea typeface="微软雅黑" panose="020B0503020204020204" pitchFamily="34" charset="-122"/>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cs typeface="+mn-cs"/>
              </a:rPr>
              <a:t>场景：</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cs typeface="+mn-cs"/>
            </a:endParaRP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3&gt;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2&gt;</a:t>
            </a: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1"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par>
                          <p:cTn id="14" fill="hold">
                            <p:stCondLst>
                              <p:cond delay="500"/>
                            </p:stCondLst>
                            <p:childTnLst>
                              <p:par>
                                <p:cTn id="15" presetID="26" presetClass="emph" presetSubtype="0" fill="hold" grpId="0" nodeType="afterEffect">
                                  <p:stCondLst>
                                    <p:cond delay="0"/>
                                  </p:stCondLst>
                                  <p:childTnLst>
                                    <p:animEffect transition="out" filter="fade">
                                      <p:cBhvr>
                                        <p:cTn id="16" dur="500" tmFilter="0, 0; .2, .5; .8, .5; 1, 0"/>
                                        <p:tgtEl>
                                          <p:spTgt spid="18"/>
                                        </p:tgtEl>
                                      </p:cBhvr>
                                    </p:animEffect>
                                    <p:animScale>
                                      <p:cBhvr>
                                        <p:cTn id="17" dur="250" autoRev="1" fill="hold"/>
                                        <p:tgtEl>
                                          <p:spTgt spid="18"/>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1"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par>
                          <p:cTn id="35" fill="hold">
                            <p:stCondLst>
                              <p:cond delay="500"/>
                            </p:stCondLst>
                            <p:childTnLst>
                              <p:par>
                                <p:cTn id="36" presetID="26" presetClass="emph" presetSubtype="0" fill="hold" grpId="0" nodeType="afterEffect">
                                  <p:stCondLst>
                                    <p:cond delay="0"/>
                                  </p:stCondLst>
                                  <p:childTnLst>
                                    <p:animEffect transition="out" filter="fade">
                                      <p:cBhvr>
                                        <p:cTn id="37" dur="500" tmFilter="0, 0; .2, .5; .8, .5; 1, 0"/>
                                        <p:tgtEl>
                                          <p:spTgt spid="19"/>
                                        </p:tgtEl>
                                      </p:cBhvr>
                                    </p:animEffect>
                                    <p:animScale>
                                      <p:cBhvr>
                                        <p:cTn id="38" dur="250" autoRev="1" fill="hold"/>
                                        <p:tgtEl>
                                          <p:spTgt spid="19"/>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childTnLst>
                                </p:cTn>
                              </p:par>
                            </p:childTnLst>
                          </p:cTn>
                        </p:par>
                        <p:par>
                          <p:cTn id="45" fill="hold">
                            <p:stCondLst>
                              <p:cond delay="500"/>
                            </p:stCondLst>
                            <p:childTnLst>
                              <p:par>
                                <p:cTn id="46" presetID="22" presetClass="entr" presetSubtype="4" fill="hold"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down)">
                                      <p:cBhvr>
                                        <p:cTn id="48" dur="500"/>
                                        <p:tgtEl>
                                          <p:spTgt spid="22"/>
                                        </p:tgtEl>
                                      </p:cBhvr>
                                    </p:animEffect>
                                  </p:childTnLst>
                                </p:cTn>
                              </p:par>
                            </p:childTnLst>
                          </p:cTn>
                        </p:par>
                        <p:par>
                          <p:cTn id="49" fill="hold">
                            <p:stCondLst>
                              <p:cond delay="1000"/>
                            </p:stCondLst>
                            <p:childTnLst>
                              <p:par>
                                <p:cTn id="50" presetID="10" presetClass="entr" presetSubtype="0" fill="hold" grpId="1"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par>
                          <p:cTn id="53" fill="hold">
                            <p:stCondLst>
                              <p:cond delay="1500"/>
                            </p:stCondLst>
                            <p:childTnLst>
                              <p:par>
                                <p:cTn id="54" presetID="27" presetClass="emph" presetSubtype="0" fill="remove" grpId="0" nodeType="afterEffect">
                                  <p:stCondLst>
                                    <p:cond delay="0"/>
                                  </p:stCondLst>
                                  <p:childTnLst>
                                    <p:animClr clrSpc="rgb" dir="cw">
                                      <p:cBhvr override="childStyle">
                                        <p:cTn id="55" dur="250" autoRev="1" fill="remove"/>
                                        <p:tgtEl>
                                          <p:spTgt spid="28"/>
                                        </p:tgtEl>
                                        <p:attrNameLst>
                                          <p:attrName>style.color</p:attrName>
                                        </p:attrNameLst>
                                      </p:cBhvr>
                                      <p:to>
                                        <a:schemeClr val="bg1"/>
                                      </p:to>
                                    </p:animClr>
                                    <p:animClr clrSpc="rgb" dir="cw">
                                      <p:cBhvr>
                                        <p:cTn id="56" dur="250" autoRev="1" fill="remove"/>
                                        <p:tgtEl>
                                          <p:spTgt spid="28"/>
                                        </p:tgtEl>
                                        <p:attrNameLst>
                                          <p:attrName>fillcolor</p:attrName>
                                        </p:attrNameLst>
                                      </p:cBhvr>
                                      <p:to>
                                        <a:schemeClr val="bg1"/>
                                      </p:to>
                                    </p:animClr>
                                    <p:set>
                                      <p:cBhvr>
                                        <p:cTn id="57" dur="250" autoRev="1" fill="remove"/>
                                        <p:tgtEl>
                                          <p:spTgt spid="28"/>
                                        </p:tgtEl>
                                        <p:attrNameLst>
                                          <p:attrName>fill.type</p:attrName>
                                        </p:attrNameLst>
                                      </p:cBhvr>
                                      <p:to>
                                        <p:strVal val="solid"/>
                                      </p:to>
                                    </p:set>
                                    <p:set>
                                      <p:cBhvr>
                                        <p:cTn id="58" dur="250" autoRev="1" fill="remove"/>
                                        <p:tgtEl>
                                          <p:spTgt spid="28"/>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13"/>
                                        </p:tgtEl>
                                      </p:cBhvr>
                                    </p:animEffect>
                                    <p:set>
                                      <p:cBhvr>
                                        <p:cTn id="67" dur="1" fill="hold">
                                          <p:stCondLst>
                                            <p:cond delay="499"/>
                                          </p:stCondLst>
                                        </p:cTn>
                                        <p:tgtEl>
                                          <p:spTgt spid="13"/>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14"/>
                                        </p:tgtEl>
                                      </p:cBhvr>
                                    </p:animEffect>
                                    <p:set>
                                      <p:cBhvr>
                                        <p:cTn id="70" dur="1" fill="hold">
                                          <p:stCondLst>
                                            <p:cond delay="499"/>
                                          </p:stCondLst>
                                        </p:cTn>
                                        <p:tgtEl>
                                          <p:spTgt spid="14"/>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0"/>
                                        </p:tgtEl>
                                      </p:cBhvr>
                                    </p:animEffect>
                                    <p:set>
                                      <p:cBhvr>
                                        <p:cTn id="73" dur="1" fill="hold">
                                          <p:stCondLst>
                                            <p:cond delay="499"/>
                                          </p:stCondLst>
                                        </p:cTn>
                                        <p:tgtEl>
                                          <p:spTgt spid="20"/>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22"/>
                                        </p:tgtEl>
                                      </p:cBhvr>
                                    </p:animEffect>
                                    <p:set>
                                      <p:cBhvr>
                                        <p:cTn id="76" dur="1" fill="hold">
                                          <p:stCondLst>
                                            <p:cond delay="499"/>
                                          </p:stCondLst>
                                        </p:cTn>
                                        <p:tgtEl>
                                          <p:spTgt spid="22"/>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23"/>
                                        </p:tgtEl>
                                      </p:cBhvr>
                                    </p:animEffect>
                                    <p:set>
                                      <p:cBhvr>
                                        <p:cTn id="79" dur="1" fill="hold">
                                          <p:stCondLst>
                                            <p:cond delay="499"/>
                                          </p:stCondLst>
                                        </p:cTn>
                                        <p:tgtEl>
                                          <p:spTgt spid="23"/>
                                        </p:tgtEl>
                                        <p:attrNameLst>
                                          <p:attrName>style.visibility</p:attrName>
                                        </p:attrNameLst>
                                      </p:cBhvr>
                                      <p:to>
                                        <p:strVal val="hidden"/>
                                      </p:to>
                                    </p:set>
                                  </p:childTnLst>
                                </p:cTn>
                              </p:par>
                            </p:childTnLst>
                          </p:cTn>
                        </p:par>
                        <p:par>
                          <p:cTn id="80" fill="hold">
                            <p:stCondLst>
                              <p:cond delay="500"/>
                            </p:stCondLst>
                            <p:childTnLst>
                              <p:par>
                                <p:cTn id="81" presetID="10" presetClass="entr" presetSubtype="0"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childTnLst>
                          </p:cTn>
                        </p:par>
                        <p:par>
                          <p:cTn id="84" fill="hold">
                            <p:stCondLst>
                              <p:cond delay="1000"/>
                            </p:stCondLst>
                            <p:childTnLst>
                              <p:par>
                                <p:cTn id="85" presetID="42" presetClass="entr" presetSubtype="0" fill="hold" grpId="0" nodeType="after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1000"/>
                                        <p:tgtEl>
                                          <p:spTgt spid="26"/>
                                        </p:tgtEl>
                                      </p:cBhvr>
                                    </p:animEffect>
                                    <p:anim calcmode="lin" valueType="num">
                                      <p:cBhvr>
                                        <p:cTn id="88" dur="1000" fill="hold"/>
                                        <p:tgtEl>
                                          <p:spTgt spid="26"/>
                                        </p:tgtEl>
                                        <p:attrNameLst>
                                          <p:attrName>ppt_x</p:attrName>
                                        </p:attrNameLst>
                                      </p:cBhvr>
                                      <p:tavLst>
                                        <p:tav tm="0">
                                          <p:val>
                                            <p:strVal val="#ppt_x"/>
                                          </p:val>
                                        </p:tav>
                                        <p:tav tm="100000">
                                          <p:val>
                                            <p:strVal val="#ppt_x"/>
                                          </p:val>
                                        </p:tav>
                                      </p:tavLst>
                                    </p:anim>
                                    <p:anim calcmode="lin" valueType="num">
                                      <p:cBhvr>
                                        <p:cTn id="89" dur="1000" fill="hold"/>
                                        <p:tgtEl>
                                          <p:spTgt spid="26"/>
                                        </p:tgtEl>
                                        <p:attrNameLst>
                                          <p:attrName>ppt_y</p:attrName>
                                        </p:attrNameLst>
                                      </p:cBhvr>
                                      <p:tavLst>
                                        <p:tav tm="0">
                                          <p:val>
                                            <p:strVal val="#ppt_y+.1"/>
                                          </p:val>
                                        </p:tav>
                                        <p:tav tm="100000">
                                          <p:val>
                                            <p:strVal val="#ppt_y"/>
                                          </p:val>
                                        </p:tav>
                                      </p:tavLst>
                                    </p:anim>
                                  </p:childTnLst>
                                </p:cTn>
                              </p:par>
                            </p:childTnLst>
                          </p:cTn>
                        </p:par>
                        <p:par>
                          <p:cTn id="90" fill="hold">
                            <p:stCondLst>
                              <p:cond delay="2000"/>
                            </p:stCondLst>
                            <p:childTnLst>
                              <p:par>
                                <p:cTn id="91" presetID="10" presetClass="entr" presetSubtype="0" fill="hold" nodeType="after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500"/>
                                        <p:tgtEl>
                                          <p:spTgt spid="27"/>
                                        </p:tgtEl>
                                      </p:cBhvr>
                                    </p:animEffect>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p:cTn id="98" dur="500" fill="hold"/>
                                        <p:tgtEl>
                                          <p:spTgt spid="29"/>
                                        </p:tgtEl>
                                        <p:attrNameLst>
                                          <p:attrName>ppt_w</p:attrName>
                                        </p:attrNameLst>
                                      </p:cBhvr>
                                      <p:tavLst>
                                        <p:tav tm="0">
                                          <p:val>
                                            <p:fltVal val="0"/>
                                          </p:val>
                                        </p:tav>
                                        <p:tav tm="100000">
                                          <p:val>
                                            <p:strVal val="#ppt_w"/>
                                          </p:val>
                                        </p:tav>
                                      </p:tavLst>
                                    </p:anim>
                                    <p:anim calcmode="lin" valueType="num">
                                      <p:cBhvr>
                                        <p:cTn id="99"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3" presetClass="entr" presetSubtype="16" fill="hold" nodeType="clickEffect">
                                  <p:stCondLst>
                                    <p:cond delay="0"/>
                                  </p:stCondLst>
                                  <p:childTnLst>
                                    <p:set>
                                      <p:cBhvr>
                                        <p:cTn id="103" dur="1" fill="hold">
                                          <p:stCondLst>
                                            <p:cond delay="0"/>
                                          </p:stCondLst>
                                        </p:cTn>
                                        <p:tgtEl>
                                          <p:spTgt spid="30"/>
                                        </p:tgtEl>
                                        <p:attrNameLst>
                                          <p:attrName>style.visibility</p:attrName>
                                        </p:attrNameLst>
                                      </p:cBhvr>
                                      <p:to>
                                        <p:strVal val="visible"/>
                                      </p:to>
                                    </p:set>
                                    <p:anim calcmode="lin" valueType="num">
                                      <p:cBhvr>
                                        <p:cTn id="104" dur="500" fill="hold"/>
                                        <p:tgtEl>
                                          <p:spTgt spid="30"/>
                                        </p:tgtEl>
                                        <p:attrNameLst>
                                          <p:attrName>ppt_w</p:attrName>
                                        </p:attrNameLst>
                                      </p:cBhvr>
                                      <p:tavLst>
                                        <p:tav tm="0">
                                          <p:val>
                                            <p:fltVal val="0"/>
                                          </p:val>
                                        </p:tav>
                                        <p:tav tm="100000">
                                          <p:val>
                                            <p:strVal val="#ppt_w"/>
                                          </p:val>
                                        </p:tav>
                                      </p:tavLst>
                                    </p:anim>
                                    <p:anim calcmode="lin" valueType="num">
                                      <p:cBhvr>
                                        <p:cTn id="105" dur="500" fill="hold"/>
                                        <p:tgtEl>
                                          <p:spTgt spid="30"/>
                                        </p:tgtEl>
                                        <p:attrNameLst>
                                          <p:attrName>ppt_h</p:attrName>
                                        </p:attrNameLst>
                                      </p:cBhvr>
                                      <p:tavLst>
                                        <p:tav tm="0">
                                          <p:val>
                                            <p:fltVal val="0"/>
                                          </p:val>
                                        </p:tav>
                                        <p:tav tm="100000">
                                          <p:val>
                                            <p:strVal val="#ppt_h"/>
                                          </p:val>
                                        </p:tav>
                                      </p:tavLst>
                                    </p:anim>
                                  </p:childTnLst>
                                </p:cTn>
                              </p:par>
                            </p:childTnLst>
                          </p:cTn>
                        </p:par>
                        <p:par>
                          <p:cTn id="106" fill="hold">
                            <p:stCondLst>
                              <p:cond delay="500"/>
                            </p:stCondLst>
                            <p:childTnLst>
                              <p:par>
                                <p:cTn id="107" presetID="42" presetClass="entr" presetSubtype="0" fill="hold" grpId="0" nodeType="after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1000"/>
                                        <p:tgtEl>
                                          <p:spTgt spid="31"/>
                                        </p:tgtEl>
                                      </p:cBhvr>
                                    </p:animEffect>
                                    <p:anim calcmode="lin" valueType="num">
                                      <p:cBhvr>
                                        <p:cTn id="110" dur="1000" fill="hold"/>
                                        <p:tgtEl>
                                          <p:spTgt spid="31"/>
                                        </p:tgtEl>
                                        <p:attrNameLst>
                                          <p:attrName>ppt_x</p:attrName>
                                        </p:attrNameLst>
                                      </p:cBhvr>
                                      <p:tavLst>
                                        <p:tav tm="0">
                                          <p:val>
                                            <p:strVal val="#ppt_x"/>
                                          </p:val>
                                        </p:tav>
                                        <p:tav tm="100000">
                                          <p:val>
                                            <p:strVal val="#ppt_x"/>
                                          </p:val>
                                        </p:tav>
                                      </p:tavLst>
                                    </p:anim>
                                    <p:anim calcmode="lin" valueType="num">
                                      <p:cBhvr>
                                        <p:cTn id="11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0" presetClass="exit" presetSubtype="0" fill="hold" grpId="1" nodeType="clickEffect">
                                  <p:stCondLst>
                                    <p:cond delay="0"/>
                                  </p:stCondLst>
                                  <p:childTnLst>
                                    <p:animEffect transition="out" filter="fade">
                                      <p:cBhvr>
                                        <p:cTn id="115" dur="500"/>
                                        <p:tgtEl>
                                          <p:spTgt spid="24"/>
                                        </p:tgtEl>
                                      </p:cBhvr>
                                    </p:animEffect>
                                    <p:set>
                                      <p:cBhvr>
                                        <p:cTn id="116" dur="1" fill="hold">
                                          <p:stCondLst>
                                            <p:cond delay="499"/>
                                          </p:stCondLst>
                                        </p:cTn>
                                        <p:tgtEl>
                                          <p:spTgt spid="2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500"/>
                                        <p:tgtEl>
                                          <p:spTgt spid="29"/>
                                        </p:tgtEl>
                                      </p:cBhvr>
                                    </p:animEffect>
                                    <p:set>
                                      <p:cBhvr>
                                        <p:cTn id="119" dur="1" fill="hold">
                                          <p:stCondLst>
                                            <p:cond delay="499"/>
                                          </p:stCondLst>
                                        </p:cTn>
                                        <p:tgtEl>
                                          <p:spTgt spid="2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500"/>
                                        <p:tgtEl>
                                          <p:spTgt spid="30"/>
                                        </p:tgtEl>
                                      </p:cBhvr>
                                    </p:animEffect>
                                    <p:set>
                                      <p:cBhvr>
                                        <p:cTn id="122" dur="1" fill="hold">
                                          <p:stCondLst>
                                            <p:cond delay="499"/>
                                          </p:stCondLst>
                                        </p:cTn>
                                        <p:tgtEl>
                                          <p:spTgt spid="30"/>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31"/>
                                        </p:tgtEl>
                                      </p:cBhvr>
                                    </p:animEffect>
                                    <p:set>
                                      <p:cBhvr>
                                        <p:cTn id="125" dur="1" fill="hold">
                                          <p:stCondLst>
                                            <p:cond delay="499"/>
                                          </p:stCondLst>
                                        </p:cTn>
                                        <p:tgtEl>
                                          <p:spTgt spid="31"/>
                                        </p:tgtEl>
                                        <p:attrNameLst>
                                          <p:attrName>style.visibility</p:attrName>
                                        </p:attrNameLst>
                                      </p:cBhvr>
                                      <p:to>
                                        <p:strVal val="hidden"/>
                                      </p:to>
                                    </p:set>
                                  </p:childTnLst>
                                </p:cTn>
                              </p:par>
                            </p:childTnLst>
                          </p:cTn>
                        </p:par>
                        <p:par>
                          <p:cTn id="126" fill="hold">
                            <p:stCondLst>
                              <p:cond delay="500"/>
                            </p:stCondLst>
                            <p:childTnLst>
                              <p:par>
                                <p:cTn id="127" presetID="10" presetClass="entr" presetSubtype="0" fill="hold" grpId="0" nodeType="afterEffect">
                                  <p:stCondLst>
                                    <p:cond delay="0"/>
                                  </p:stCondLst>
                                  <p:childTnLst>
                                    <p:set>
                                      <p:cBhvr>
                                        <p:cTn id="128" dur="1" fill="hold">
                                          <p:stCondLst>
                                            <p:cond delay="0"/>
                                          </p:stCondLst>
                                        </p:cTn>
                                        <p:tgtEl>
                                          <p:spTgt spid="25"/>
                                        </p:tgtEl>
                                        <p:attrNameLst>
                                          <p:attrName>style.visibility</p:attrName>
                                        </p:attrNameLst>
                                      </p:cBhvr>
                                      <p:to>
                                        <p:strVal val="visible"/>
                                      </p:to>
                                    </p:set>
                                    <p:animEffect transition="in" filter="fade">
                                      <p:cBhvr>
                                        <p:cTn id="129" dur="500"/>
                                        <p:tgtEl>
                                          <p:spTgt spid="25"/>
                                        </p:tgtEl>
                                      </p:cBhvr>
                                    </p:animEffect>
                                  </p:childTnLst>
                                </p:cTn>
                              </p:par>
                            </p:childTnLst>
                          </p:cTn>
                        </p:par>
                        <p:par>
                          <p:cTn id="130" fill="hold">
                            <p:stCondLst>
                              <p:cond delay="1000"/>
                            </p:stCondLst>
                            <p:childTnLst>
                              <p:par>
                                <p:cTn id="131" presetID="10" presetClass="entr" presetSubtype="0" fill="hold" grpId="0" nodeType="after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500"/>
                                        <p:tgtEl>
                                          <p:spTgt spid="32"/>
                                        </p:tgtEl>
                                      </p:cBhvr>
                                    </p:animEffect>
                                  </p:childTnLst>
                                </p:cTn>
                              </p:par>
                            </p:childTnLst>
                          </p:cTn>
                        </p:par>
                        <p:par>
                          <p:cTn id="134" fill="hold">
                            <p:stCondLst>
                              <p:cond delay="1500"/>
                            </p:stCondLst>
                            <p:childTnLst>
                              <p:par>
                                <p:cTn id="135" presetID="27" presetClass="emph" presetSubtype="0" fill="remove" grpId="1" nodeType="afterEffect">
                                  <p:stCondLst>
                                    <p:cond delay="0"/>
                                  </p:stCondLst>
                                  <p:childTnLst>
                                    <p:animClr clrSpc="rgb" dir="cw">
                                      <p:cBhvr override="childStyle">
                                        <p:cTn id="136" dur="250" autoRev="1" fill="remove"/>
                                        <p:tgtEl>
                                          <p:spTgt spid="32"/>
                                        </p:tgtEl>
                                        <p:attrNameLst>
                                          <p:attrName>style.color</p:attrName>
                                        </p:attrNameLst>
                                      </p:cBhvr>
                                      <p:to>
                                        <a:schemeClr val="bg1"/>
                                      </p:to>
                                    </p:animClr>
                                    <p:animClr clrSpc="rgb" dir="cw">
                                      <p:cBhvr>
                                        <p:cTn id="137" dur="250" autoRev="1" fill="remove"/>
                                        <p:tgtEl>
                                          <p:spTgt spid="32"/>
                                        </p:tgtEl>
                                        <p:attrNameLst>
                                          <p:attrName>fillcolor</p:attrName>
                                        </p:attrNameLst>
                                      </p:cBhvr>
                                      <p:to>
                                        <a:schemeClr val="bg1"/>
                                      </p:to>
                                    </p:animClr>
                                    <p:set>
                                      <p:cBhvr>
                                        <p:cTn id="138" dur="250" autoRev="1" fill="remove"/>
                                        <p:tgtEl>
                                          <p:spTgt spid="32"/>
                                        </p:tgtEl>
                                        <p:attrNameLst>
                                          <p:attrName>fill.type</p:attrName>
                                        </p:attrNameLst>
                                      </p:cBhvr>
                                      <p:to>
                                        <p:strVal val="solid"/>
                                      </p:to>
                                    </p:set>
                                    <p:set>
                                      <p:cBhvr>
                                        <p:cTn id="139" dur="250" autoRev="1" fill="remove"/>
                                        <p:tgtEl>
                                          <p:spTgt spid="32"/>
                                        </p:tgtEl>
                                        <p:attrNameLst>
                                          <p:attrName>fill.on</p:attrName>
                                        </p:attrNameLst>
                                      </p:cBhvr>
                                      <p:to>
                                        <p:strVal val="true"/>
                                      </p:to>
                                    </p:set>
                                  </p:childTnLst>
                                </p:cTn>
                              </p:par>
                            </p:childTnLst>
                          </p:cTn>
                        </p:par>
                        <p:par>
                          <p:cTn id="140" fill="hold">
                            <p:stCondLst>
                              <p:cond delay="2000"/>
                            </p:stCondLst>
                            <p:childTnLst>
                              <p:par>
                                <p:cTn id="141" presetID="10" presetClass="entr" presetSubtype="0" fill="hold" grpId="0" nodeType="afterEffect">
                                  <p:stCondLst>
                                    <p:cond delay="0"/>
                                  </p:stCondLst>
                                  <p:childTnLst>
                                    <p:set>
                                      <p:cBhvr>
                                        <p:cTn id="142" dur="1" fill="hold">
                                          <p:stCondLst>
                                            <p:cond delay="0"/>
                                          </p:stCondLst>
                                        </p:cTn>
                                        <p:tgtEl>
                                          <p:spTgt spid="33"/>
                                        </p:tgtEl>
                                        <p:attrNameLst>
                                          <p:attrName>style.visibility</p:attrName>
                                        </p:attrNameLst>
                                      </p:cBhvr>
                                      <p:to>
                                        <p:strVal val="visible"/>
                                      </p:to>
                                    </p:set>
                                    <p:animEffect transition="in" filter="fade">
                                      <p:cBhvr>
                                        <p:cTn id="143" dur="500"/>
                                        <p:tgtEl>
                                          <p:spTgt spid="33"/>
                                        </p:tgtEl>
                                      </p:cBhvr>
                                    </p:animEffect>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1" nodeType="clickEffect">
                                  <p:stCondLst>
                                    <p:cond delay="0"/>
                                  </p:stCondLst>
                                  <p:childTnLst>
                                    <p:set>
                                      <p:cBhvr>
                                        <p:cTn id="147" dur="1" fill="hold">
                                          <p:stCondLst>
                                            <p:cond delay="0"/>
                                          </p:stCondLst>
                                        </p:cTn>
                                        <p:tgtEl>
                                          <p:spTgt spid="37"/>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23" presetClass="entr" presetSubtype="16" fill="hold" nodeType="click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p:cTn id="152" dur="500" fill="hold"/>
                                        <p:tgtEl>
                                          <p:spTgt spid="34"/>
                                        </p:tgtEl>
                                        <p:attrNameLst>
                                          <p:attrName>ppt_w</p:attrName>
                                        </p:attrNameLst>
                                      </p:cBhvr>
                                      <p:tavLst>
                                        <p:tav tm="0">
                                          <p:val>
                                            <p:fltVal val="0"/>
                                          </p:val>
                                        </p:tav>
                                        <p:tav tm="100000">
                                          <p:val>
                                            <p:strVal val="#ppt_w"/>
                                          </p:val>
                                        </p:tav>
                                      </p:tavLst>
                                    </p:anim>
                                    <p:anim calcmode="lin" valueType="num">
                                      <p:cBhvr>
                                        <p:cTn id="153"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154" fill="hold">
                      <p:stCondLst>
                        <p:cond delay="indefinite"/>
                      </p:stCondLst>
                      <p:childTnLst>
                        <p:par>
                          <p:cTn id="155" fill="hold">
                            <p:stCondLst>
                              <p:cond delay="0"/>
                            </p:stCondLst>
                            <p:childTnLst>
                              <p:par>
                                <p:cTn id="156" presetID="23" presetClass="entr" presetSubtype="16" fill="hold" nodeType="clickEffect">
                                  <p:stCondLst>
                                    <p:cond delay="0"/>
                                  </p:stCondLst>
                                  <p:childTnLst>
                                    <p:set>
                                      <p:cBhvr>
                                        <p:cTn id="157" dur="1" fill="hold">
                                          <p:stCondLst>
                                            <p:cond delay="0"/>
                                          </p:stCondLst>
                                        </p:cTn>
                                        <p:tgtEl>
                                          <p:spTgt spid="35"/>
                                        </p:tgtEl>
                                        <p:attrNameLst>
                                          <p:attrName>style.visibility</p:attrName>
                                        </p:attrNameLst>
                                      </p:cBhvr>
                                      <p:to>
                                        <p:strVal val="visible"/>
                                      </p:to>
                                    </p:set>
                                    <p:anim calcmode="lin" valueType="num">
                                      <p:cBhvr>
                                        <p:cTn id="158" dur="500" fill="hold"/>
                                        <p:tgtEl>
                                          <p:spTgt spid="35"/>
                                        </p:tgtEl>
                                        <p:attrNameLst>
                                          <p:attrName>ppt_w</p:attrName>
                                        </p:attrNameLst>
                                      </p:cBhvr>
                                      <p:tavLst>
                                        <p:tav tm="0">
                                          <p:val>
                                            <p:fltVal val="0"/>
                                          </p:val>
                                        </p:tav>
                                        <p:tav tm="100000">
                                          <p:val>
                                            <p:strVal val="#ppt_w"/>
                                          </p:val>
                                        </p:tav>
                                      </p:tavLst>
                                    </p:anim>
                                    <p:anim calcmode="lin" valueType="num">
                                      <p:cBhvr>
                                        <p:cTn id="159" dur="500" fill="hold"/>
                                        <p:tgtEl>
                                          <p:spTgt spid="35"/>
                                        </p:tgtEl>
                                        <p:attrNameLst>
                                          <p:attrName>ppt_h</p:attrName>
                                        </p:attrNameLst>
                                      </p:cBhvr>
                                      <p:tavLst>
                                        <p:tav tm="0">
                                          <p:val>
                                            <p:fltVal val="0"/>
                                          </p:val>
                                        </p:tav>
                                        <p:tav tm="100000">
                                          <p:val>
                                            <p:strVal val="#ppt_h"/>
                                          </p:val>
                                        </p:tav>
                                      </p:tavLst>
                                    </p:anim>
                                  </p:childTnLst>
                                </p:cTn>
                              </p:par>
                            </p:childTnLst>
                          </p:cTn>
                        </p:par>
                        <p:par>
                          <p:cTn id="160" fill="hold">
                            <p:stCondLst>
                              <p:cond delay="500"/>
                            </p:stCondLst>
                            <p:childTnLst>
                              <p:par>
                                <p:cTn id="161" presetID="42" presetClass="entr" presetSubtype="0" fill="hold" grpId="0" nodeType="afterEffect">
                                  <p:stCondLst>
                                    <p:cond delay="0"/>
                                  </p:stCondLst>
                                  <p:childTnLst>
                                    <p:set>
                                      <p:cBhvr>
                                        <p:cTn id="162" dur="1" fill="hold">
                                          <p:stCondLst>
                                            <p:cond delay="0"/>
                                          </p:stCondLst>
                                        </p:cTn>
                                        <p:tgtEl>
                                          <p:spTgt spid="36"/>
                                        </p:tgtEl>
                                        <p:attrNameLst>
                                          <p:attrName>style.visibility</p:attrName>
                                        </p:attrNameLst>
                                      </p:cBhvr>
                                      <p:to>
                                        <p:strVal val="visible"/>
                                      </p:to>
                                    </p:set>
                                    <p:animEffect transition="in" filter="fade">
                                      <p:cBhvr>
                                        <p:cTn id="163" dur="1000"/>
                                        <p:tgtEl>
                                          <p:spTgt spid="36"/>
                                        </p:tgtEl>
                                      </p:cBhvr>
                                    </p:animEffect>
                                    <p:anim calcmode="lin" valueType="num">
                                      <p:cBhvr>
                                        <p:cTn id="164" dur="1000" fill="hold"/>
                                        <p:tgtEl>
                                          <p:spTgt spid="36"/>
                                        </p:tgtEl>
                                        <p:attrNameLst>
                                          <p:attrName>ppt_x</p:attrName>
                                        </p:attrNameLst>
                                      </p:cBhvr>
                                      <p:tavLst>
                                        <p:tav tm="0">
                                          <p:val>
                                            <p:strVal val="#ppt_x"/>
                                          </p:val>
                                        </p:tav>
                                        <p:tav tm="100000">
                                          <p:val>
                                            <p:strVal val="#ppt_x"/>
                                          </p:val>
                                        </p:tav>
                                      </p:tavLst>
                                    </p:anim>
                                    <p:anim calcmode="lin" valueType="num">
                                      <p:cBhvr>
                                        <p:cTn id="16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3" grpId="0" animBg="1"/>
      <p:bldP spid="24" grpId="0" animBg="1"/>
      <p:bldP spid="24" grpId="1" animBg="1"/>
      <p:bldP spid="25" grpId="0" animBg="1"/>
      <p:bldP spid="26" grpId="0" animBg="1"/>
      <p:bldP spid="28" grpId="0" animBg="1"/>
      <p:bldP spid="28" grpId="1" animBg="1"/>
      <p:bldP spid="31" grpId="0"/>
      <p:bldP spid="31" grpId="1"/>
      <p:bldP spid="32" grpId="0" animBg="1"/>
      <p:bldP spid="32" grpId="1" animBg="1"/>
      <p:bldP spid="33" grpId="0" animBg="1"/>
      <p:bldP spid="36" grpId="0"/>
      <p:bldP spid="37" grpId="0"/>
      <p:bldP spid="37"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2"/>
          <p:cNvSpPr>
            <a:spLocks noGrp="1"/>
          </p:cNvSpPr>
          <p:nvPr>
            <p:ph type="title" idx="4294967295"/>
          </p:nvPr>
        </p:nvSpPr>
        <p:spPr>
          <a:xfrm>
            <a:off x="1116013" y="147638"/>
            <a:ext cx="11075987" cy="520700"/>
          </a:xfrm>
          <a:prstGeom prst="rect">
            <a:avLst/>
          </a:prstGeom>
        </p:spPr>
        <p:txBody>
          <a:bodyPr vert="horz" wrap="square" lIns="121920" tIns="60960" rIns="121920" bIns="60960" anchor="ctr" anchorCtr="0">
            <a:normAutofit/>
          </a:bodyPr>
          <a:lstStyle/>
          <a:p>
            <a:pPr eaLnBrk="1" hangingPunct="1"/>
            <a:r>
              <a:rPr lang="en-US" altLang="zh-CN" b="1" dirty="0">
                <a:solidFill>
                  <a:schemeClr val="bg1"/>
                </a:solidFill>
                <a:latin typeface="Arial" panose="020B0604020202020204" pitchFamily="34" charset="0"/>
                <a:ea typeface="微软雅黑" panose="020B0503020204020204" pitchFamily="34" charset="-122"/>
              </a:rPr>
              <a:t>IPS </a:t>
            </a:r>
            <a:r>
              <a:rPr lang="zh-CN" altLang="en-US" b="1" dirty="0">
                <a:solidFill>
                  <a:schemeClr val="bg1"/>
                </a:solidFill>
                <a:latin typeface="Arial" panose="020B0604020202020204" pitchFamily="34" charset="0"/>
                <a:ea typeface="微软雅黑" panose="020B0503020204020204" pitchFamily="34" charset="-122"/>
              </a:rPr>
              <a:t>方案</a:t>
            </a:r>
            <a:r>
              <a:rPr lang="en-US" altLang="zh-CN" b="1" dirty="0">
                <a:solidFill>
                  <a:schemeClr val="bg1"/>
                </a:solidFill>
                <a:latin typeface="Arial" panose="020B0604020202020204" pitchFamily="34" charset="0"/>
                <a:ea typeface="微软雅黑" panose="020B0503020204020204" pitchFamily="34" charset="-122"/>
              </a:rPr>
              <a:t> – </a:t>
            </a:r>
            <a:r>
              <a:rPr lang="zh-CN" altLang="en-US" b="1" dirty="0">
                <a:solidFill>
                  <a:schemeClr val="bg1"/>
                </a:solidFill>
                <a:latin typeface="Arial" panose="020B0604020202020204" pitchFamily="34" charset="0"/>
                <a:ea typeface="微软雅黑" panose="020B0503020204020204" pitchFamily="34" charset="-122"/>
              </a:rPr>
              <a:t>情景演示</a:t>
            </a:r>
            <a:endParaRPr lang="en-US" altLang="zh-CN" b="1" dirty="0">
              <a:solidFill>
                <a:schemeClr val="bg1"/>
              </a:solidFill>
              <a:latin typeface="Arial" panose="020B0604020202020204" pitchFamily="34" charset="0"/>
              <a:ea typeface="微软雅黑" panose="020B0503020204020204" pitchFamily="34" charset="-122"/>
            </a:endParaRPr>
          </a:p>
        </p:txBody>
      </p:sp>
      <p:sp>
        <p:nvSpPr>
          <p:cNvPr id="3" name="Freeform 8"/>
          <p:cNvSpPr/>
          <p:nvPr/>
        </p:nvSpPr>
        <p:spPr>
          <a:xfrm>
            <a:off x="4093634" y="1559984"/>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统一数据源和逻辑提高计划准确性</a:t>
            </a:r>
            <a:endParaRPr kumimoji="0" lang="en-US" altLang="zh-CN"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
        <p:nvSpPr>
          <p:cNvPr id="4" name="Freeform 9"/>
          <p:cNvSpPr/>
          <p:nvPr/>
        </p:nvSpPr>
        <p:spPr>
          <a:xfrm>
            <a:off x="1953685" y="1458384"/>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spcCol="1270" anchor="ct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zh-CN" altLang="en-US"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横向协同计划与执行</a:t>
            </a:r>
            <a:endParaRPr kumimoji="0" lang="en-US" altLang="zh-CN"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6" name="Freeform 11"/>
          <p:cNvSpPr/>
          <p:nvPr/>
        </p:nvSpPr>
        <p:spPr>
          <a:xfrm>
            <a:off x="1953685" y="2516718"/>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2"/>
              </a:gs>
              <a:gs pos="100000">
                <a:schemeClr val="accent2">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zh-CN" altLang="en-US" sz="18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优先级机制存在矛盾</a:t>
            </a:r>
            <a:endParaRPr kumimoji="0" lang="en-US" altLang="zh-CN" sz="18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7" name="Freeform 12"/>
          <p:cNvSpPr/>
          <p:nvPr/>
        </p:nvSpPr>
        <p:spPr>
          <a:xfrm>
            <a:off x="4093634" y="3676651"/>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如何优化交付速度</a:t>
            </a: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
        <p:nvSpPr>
          <p:cNvPr id="8" name="Freeform 13"/>
          <p:cNvSpPr/>
          <p:nvPr/>
        </p:nvSpPr>
        <p:spPr>
          <a:xfrm>
            <a:off x="1953685" y="3575051"/>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a:gradFill flip="none" rotWithShape="1">
            <a:gsLst>
              <a:gs pos="0">
                <a:schemeClr val="accent3"/>
              </a:gs>
              <a:gs pos="100000">
                <a:schemeClr val="accent3">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平衡计划准确性和交付速度</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0" name="Freeform 10">
            <a:extLst>
              <a:ext uri="{FF2B5EF4-FFF2-40B4-BE49-F238E27FC236}">
                <a16:creationId xmlns:a16="http://schemas.microsoft.com/office/drawing/2014/main" id="{7E9F143F-2B71-485E-EF56-C2A63C284176}"/>
              </a:ext>
            </a:extLst>
          </p:cNvPr>
          <p:cNvSpPr/>
          <p:nvPr/>
        </p:nvSpPr>
        <p:spPr>
          <a:xfrm>
            <a:off x="4111174" y="2548466"/>
            <a:ext cx="5738284" cy="9969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zh-CN" altLang="en-US" sz="18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优先级存在差异</a:t>
            </a:r>
            <a:endParaRPr kumimoji="0" lang="en-US" altLang="zh-CN" sz="18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endParaRPr>
          </a:p>
        </p:txBody>
      </p:sp>
    </p:spTree>
  </p:cSld>
  <p:clrMapOvr>
    <a:overrideClrMapping bg1="dk1" tx1="lt1" bg2="dk2" tx2="lt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3A3958-37BF-8824-92C9-32906B94E028}"/>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保交期的物料和资源预留带来的挑战</a:t>
            </a:r>
          </a:p>
        </p:txBody>
      </p:sp>
      <p:cxnSp>
        <p:nvCxnSpPr>
          <p:cNvPr id="4" name="直接箭头连接符 6">
            <a:extLst>
              <a:ext uri="{FF2B5EF4-FFF2-40B4-BE49-F238E27FC236}">
                <a16:creationId xmlns:a16="http://schemas.microsoft.com/office/drawing/2014/main" id="{180ED46A-B303-9A3D-1CAC-CB859F9FAAFE}"/>
              </a:ext>
            </a:extLst>
          </p:cNvPr>
          <p:cNvCxnSpPr/>
          <p:nvPr/>
        </p:nvCxnSpPr>
        <p:spPr>
          <a:xfrm>
            <a:off x="893234" y="3507317"/>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a:extLst>
              <a:ext uri="{FF2B5EF4-FFF2-40B4-BE49-F238E27FC236}">
                <a16:creationId xmlns:a16="http://schemas.microsoft.com/office/drawing/2014/main" id="{F4C8CEBA-E445-77C0-D911-6B1A054F16B5}"/>
              </a:ext>
            </a:extLst>
          </p:cNvPr>
          <p:cNvCxnSpPr/>
          <p:nvPr/>
        </p:nvCxnSpPr>
        <p:spPr>
          <a:xfrm>
            <a:off x="3464984" y="2628901"/>
            <a:ext cx="0" cy="878417"/>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a:extLst>
              <a:ext uri="{FF2B5EF4-FFF2-40B4-BE49-F238E27FC236}">
                <a16:creationId xmlns:a16="http://schemas.microsoft.com/office/drawing/2014/main" id="{1955E7D1-651C-6507-725E-B97A398D8BE7}"/>
              </a:ext>
            </a:extLst>
          </p:cNvPr>
          <p:cNvCxnSpPr/>
          <p:nvPr/>
        </p:nvCxnSpPr>
        <p:spPr>
          <a:xfrm>
            <a:off x="7687734" y="2628901"/>
            <a:ext cx="14817" cy="878417"/>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a:extLst>
              <a:ext uri="{FF2B5EF4-FFF2-40B4-BE49-F238E27FC236}">
                <a16:creationId xmlns:a16="http://schemas.microsoft.com/office/drawing/2014/main" id="{24244035-5DC7-D6AD-3FEF-5027120F1A65}"/>
              </a:ext>
            </a:extLst>
          </p:cNvPr>
          <p:cNvCxnSpPr/>
          <p:nvPr/>
        </p:nvCxnSpPr>
        <p:spPr>
          <a:xfrm flipV="1">
            <a:off x="2722033" y="3507318"/>
            <a:ext cx="0" cy="6731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a:extLst>
              <a:ext uri="{FF2B5EF4-FFF2-40B4-BE49-F238E27FC236}">
                <a16:creationId xmlns:a16="http://schemas.microsoft.com/office/drawing/2014/main" id="{459F1F9D-24E3-C28D-87D3-A82DBBF380C3}"/>
              </a:ext>
            </a:extLst>
          </p:cNvPr>
          <p:cNvCxnSpPr/>
          <p:nvPr/>
        </p:nvCxnSpPr>
        <p:spPr>
          <a:xfrm flipV="1">
            <a:off x="2722033" y="4383617"/>
            <a:ext cx="0" cy="6709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 name="矩形 27">
            <a:extLst>
              <a:ext uri="{FF2B5EF4-FFF2-40B4-BE49-F238E27FC236}">
                <a16:creationId xmlns:a16="http://schemas.microsoft.com/office/drawing/2014/main" id="{A297C071-F35C-1E96-D1A0-07BB2B6BAFCF}"/>
              </a:ext>
            </a:extLst>
          </p:cNvPr>
          <p:cNvSpPr/>
          <p:nvPr/>
        </p:nvSpPr>
        <p:spPr>
          <a:xfrm>
            <a:off x="2672927" y="2241974"/>
            <a:ext cx="1471507" cy="369310"/>
          </a:xfrm>
          <a:prstGeom prst="rect">
            <a:avLst/>
          </a:prstGeom>
          <a:solidFill>
            <a:srgbClr val="0070C0"/>
          </a:solid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34290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sym typeface="+mn-ea"/>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sym typeface="+mn-ea"/>
              </a:rPr>
              <a:t>1</a:t>
            </a:r>
          </a:p>
        </p:txBody>
      </p:sp>
      <p:sp>
        <p:nvSpPr>
          <p:cNvPr id="10" name="矩形 38">
            <a:extLst>
              <a:ext uri="{FF2B5EF4-FFF2-40B4-BE49-F238E27FC236}">
                <a16:creationId xmlns:a16="http://schemas.microsoft.com/office/drawing/2014/main" id="{7CE8776A-1D00-995D-7103-C71D274BD65B}"/>
              </a:ext>
            </a:extLst>
          </p:cNvPr>
          <p:cNvSpPr/>
          <p:nvPr/>
        </p:nvSpPr>
        <p:spPr>
          <a:xfrm>
            <a:off x="6936740" y="2260601"/>
            <a:ext cx="1459653" cy="369310"/>
          </a:xfrm>
          <a:prstGeom prst="rect">
            <a:avLst/>
          </a:prstGeom>
          <a:solidFill>
            <a:srgbClr val="0070C0"/>
          </a:solid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28">
            <a:extLst>
              <a:ext uri="{FF2B5EF4-FFF2-40B4-BE49-F238E27FC236}">
                <a16:creationId xmlns:a16="http://schemas.microsoft.com/office/drawing/2014/main" id="{AA8E0B53-2490-9BB2-CC01-6DCB598EAF5D}"/>
              </a:ext>
            </a:extLst>
          </p:cNvPr>
          <p:cNvSpPr/>
          <p:nvPr/>
        </p:nvSpPr>
        <p:spPr>
          <a:xfrm>
            <a:off x="1300510" y="3699933"/>
            <a:ext cx="1390649"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41">
            <a:extLst>
              <a:ext uri="{FF2B5EF4-FFF2-40B4-BE49-F238E27FC236}">
                <a16:creationId xmlns:a16="http://schemas.microsoft.com/office/drawing/2014/main" id="{5D612D9C-B629-D79E-F408-A465BE226CB2}"/>
              </a:ext>
            </a:extLst>
          </p:cNvPr>
          <p:cNvSpPr/>
          <p:nvPr/>
        </p:nvSpPr>
        <p:spPr>
          <a:xfrm>
            <a:off x="1318438" y="4514851"/>
            <a:ext cx="1390649"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4" name="Line 58">
            <a:extLst>
              <a:ext uri="{FF2B5EF4-FFF2-40B4-BE49-F238E27FC236}">
                <a16:creationId xmlns:a16="http://schemas.microsoft.com/office/drawing/2014/main" id="{FD3DDD7A-024B-D09B-028F-DF0C53BB2D09}"/>
              </a:ext>
            </a:extLst>
          </p:cNvPr>
          <p:cNvSpPr/>
          <p:nvPr/>
        </p:nvSpPr>
        <p:spPr>
          <a:xfrm flipH="1">
            <a:off x="2722033" y="2628901"/>
            <a:ext cx="4936067" cy="1276351"/>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Line 58">
            <a:extLst>
              <a:ext uri="{FF2B5EF4-FFF2-40B4-BE49-F238E27FC236}">
                <a16:creationId xmlns:a16="http://schemas.microsoft.com/office/drawing/2014/main" id="{E0657733-AE8E-DD2F-A964-0F9A244E5D2E}"/>
              </a:ext>
            </a:extLst>
          </p:cNvPr>
          <p:cNvSpPr/>
          <p:nvPr/>
        </p:nvSpPr>
        <p:spPr>
          <a:xfrm flipH="1">
            <a:off x="6371167" y="2628900"/>
            <a:ext cx="1286933" cy="1625600"/>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标注 13">
            <a:extLst>
              <a:ext uri="{FF2B5EF4-FFF2-40B4-BE49-F238E27FC236}">
                <a16:creationId xmlns:a16="http://schemas.microsoft.com/office/drawing/2014/main" id="{A8812ECF-3A50-74A0-F79C-BA771E4B30E7}"/>
              </a:ext>
            </a:extLst>
          </p:cNvPr>
          <p:cNvSpPr/>
          <p:nvPr/>
        </p:nvSpPr>
        <p:spPr>
          <a:xfrm>
            <a:off x="6972300" y="1517651"/>
            <a:ext cx="1439333"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矩形标注 14">
            <a:extLst>
              <a:ext uri="{FF2B5EF4-FFF2-40B4-BE49-F238E27FC236}">
                <a16:creationId xmlns:a16="http://schemas.microsoft.com/office/drawing/2014/main" id="{7F4C9443-AF00-2395-0CCF-C07A1F9A3E31}"/>
              </a:ext>
            </a:extLst>
          </p:cNvPr>
          <p:cNvSpPr/>
          <p:nvPr/>
        </p:nvSpPr>
        <p:spPr>
          <a:xfrm>
            <a:off x="2743200" y="1517651"/>
            <a:ext cx="1439333"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圆角矩形 16">
            <a:extLst>
              <a:ext uri="{FF2B5EF4-FFF2-40B4-BE49-F238E27FC236}">
                <a16:creationId xmlns:a16="http://schemas.microsoft.com/office/drawing/2014/main" id="{28790614-36E1-E0D2-05D9-098EC396F550}"/>
              </a:ext>
            </a:extLst>
          </p:cNvPr>
          <p:cNvSpPr/>
          <p:nvPr/>
        </p:nvSpPr>
        <p:spPr>
          <a:xfrm>
            <a:off x="8517204" y="1033957"/>
            <a:ext cx="3600451" cy="22436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被优先满足</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1</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被次优来满足，但是交付晚了</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供应</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的分配形成交叉</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p:txBody>
      </p:sp>
      <p:sp>
        <p:nvSpPr>
          <p:cNvPr id="19" name="矩形 26">
            <a:extLst>
              <a:ext uri="{FF2B5EF4-FFF2-40B4-BE49-F238E27FC236}">
                <a16:creationId xmlns:a16="http://schemas.microsoft.com/office/drawing/2014/main" id="{9A301477-F5A4-3EDF-C2D7-9CB4B4BE2301}"/>
              </a:ext>
            </a:extLst>
          </p:cNvPr>
          <p:cNvSpPr/>
          <p:nvPr/>
        </p:nvSpPr>
        <p:spPr>
          <a:xfrm>
            <a:off x="5558367" y="4254500"/>
            <a:ext cx="13843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0" name="直接箭头连接符 29">
            <a:extLst>
              <a:ext uri="{FF2B5EF4-FFF2-40B4-BE49-F238E27FC236}">
                <a16:creationId xmlns:a16="http://schemas.microsoft.com/office/drawing/2014/main" id="{3AA46C42-1D2C-326A-F76B-B031C9115865}"/>
              </a:ext>
            </a:extLst>
          </p:cNvPr>
          <p:cNvCxnSpPr/>
          <p:nvPr/>
        </p:nvCxnSpPr>
        <p:spPr>
          <a:xfrm flipV="1">
            <a:off x="6371167" y="3507317"/>
            <a:ext cx="0" cy="7471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1" name="矩形 31">
            <a:extLst>
              <a:ext uri="{FF2B5EF4-FFF2-40B4-BE49-F238E27FC236}">
                <a16:creationId xmlns:a16="http://schemas.microsoft.com/office/drawing/2014/main" id="{278825ED-ED1C-F7E5-5A27-808A6FD0B414}"/>
              </a:ext>
            </a:extLst>
          </p:cNvPr>
          <p:cNvSpPr/>
          <p:nvPr/>
        </p:nvSpPr>
        <p:spPr>
          <a:xfrm>
            <a:off x="4216400" y="4756151"/>
            <a:ext cx="129751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2" name="直接箭头连接符 40">
            <a:extLst>
              <a:ext uri="{FF2B5EF4-FFF2-40B4-BE49-F238E27FC236}">
                <a16:creationId xmlns:a16="http://schemas.microsoft.com/office/drawing/2014/main" id="{98FBDDE1-0AEF-18E2-C35E-21FF66AB0122}"/>
              </a:ext>
            </a:extLst>
          </p:cNvPr>
          <p:cNvCxnSpPr/>
          <p:nvPr/>
        </p:nvCxnSpPr>
        <p:spPr>
          <a:xfrm flipV="1">
            <a:off x="4887384" y="3507317"/>
            <a:ext cx="0" cy="12192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3" name="Line 58">
            <a:extLst>
              <a:ext uri="{FF2B5EF4-FFF2-40B4-BE49-F238E27FC236}">
                <a16:creationId xmlns:a16="http://schemas.microsoft.com/office/drawing/2014/main" id="{EEDC3217-A347-2B6F-B9D6-775F82CEA784}"/>
              </a:ext>
            </a:extLst>
          </p:cNvPr>
          <p:cNvSpPr/>
          <p:nvPr/>
        </p:nvSpPr>
        <p:spPr>
          <a:xfrm flipH="1">
            <a:off x="2722034" y="2628901"/>
            <a:ext cx="742951" cy="1276351"/>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a:extLst>
              <a:ext uri="{FF2B5EF4-FFF2-40B4-BE49-F238E27FC236}">
                <a16:creationId xmlns:a16="http://schemas.microsoft.com/office/drawing/2014/main" id="{16EED479-741A-F98B-66DE-45C4D76C00F0}"/>
              </a:ext>
            </a:extLst>
          </p:cNvPr>
          <p:cNvSpPr txBox="1"/>
          <p:nvPr/>
        </p:nvSpPr>
        <p:spPr>
          <a:xfrm rot="-3458914">
            <a:off x="2745318" y="2909070"/>
            <a:ext cx="916516" cy="379463"/>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Reserved by DEMAND2</a:t>
            </a:r>
            <a:endPar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5" name="直接箭头连接符 5">
            <a:extLst>
              <a:ext uri="{FF2B5EF4-FFF2-40B4-BE49-F238E27FC236}">
                <a16:creationId xmlns:a16="http://schemas.microsoft.com/office/drawing/2014/main" id="{55B8AE45-6F3A-AAEE-2C0D-50FA27BFF33C}"/>
              </a:ext>
            </a:extLst>
          </p:cNvPr>
          <p:cNvCxnSpPr>
            <a:cxnSpLocks/>
          </p:cNvCxnSpPr>
          <p:nvPr/>
        </p:nvCxnSpPr>
        <p:spPr>
          <a:xfrm>
            <a:off x="3374814" y="2640917"/>
            <a:ext cx="1496484" cy="1041401"/>
          </a:xfrm>
          <a:prstGeom prst="straightConnector1">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直接箭头连接符 50">
            <a:extLst>
              <a:ext uri="{FF2B5EF4-FFF2-40B4-BE49-F238E27FC236}">
                <a16:creationId xmlns:a16="http://schemas.microsoft.com/office/drawing/2014/main" id="{1A67D773-9036-CDA9-E014-25A45218A556}"/>
              </a:ext>
            </a:extLst>
          </p:cNvPr>
          <p:cNvCxnSpPr>
            <a:endCxn id="12" idx="3"/>
          </p:cNvCxnSpPr>
          <p:nvPr/>
        </p:nvCxnSpPr>
        <p:spPr>
          <a:xfrm flipH="1">
            <a:off x="2709087" y="2658534"/>
            <a:ext cx="726018" cy="2040972"/>
          </a:xfrm>
          <a:prstGeom prst="straightConnector1">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7" name="圆角矩形标注 25">
            <a:extLst>
              <a:ext uri="{FF2B5EF4-FFF2-40B4-BE49-F238E27FC236}">
                <a16:creationId xmlns:a16="http://schemas.microsoft.com/office/drawing/2014/main" id="{B231793E-25CD-7428-9876-398F5A6B4DD8}"/>
              </a:ext>
            </a:extLst>
          </p:cNvPr>
          <p:cNvSpPr/>
          <p:nvPr/>
        </p:nvSpPr>
        <p:spPr>
          <a:xfrm>
            <a:off x="1348318" y="2241127"/>
            <a:ext cx="946151" cy="368300"/>
          </a:xfrm>
          <a:prstGeom prst="wedgeRoundRectCallout">
            <a:avLst>
              <a:gd name="adj1" fmla="val 92253"/>
              <a:gd name="adj2" fmla="val 7122"/>
              <a:gd name="adj3" fmla="val 16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Late</a:t>
            </a: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8" name="直接连接符 7">
            <a:extLst>
              <a:ext uri="{FF2B5EF4-FFF2-40B4-BE49-F238E27FC236}">
                <a16:creationId xmlns:a16="http://schemas.microsoft.com/office/drawing/2014/main" id="{4E8C0AB3-FFE3-408B-B011-8936D4FF3669}"/>
              </a:ext>
            </a:extLst>
          </p:cNvPr>
          <p:cNvCxnSpPr/>
          <p:nvPr/>
        </p:nvCxnSpPr>
        <p:spPr>
          <a:xfrm>
            <a:off x="2722033" y="1375834"/>
            <a:ext cx="0" cy="2131484"/>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7">
            <a:extLst>
              <a:ext uri="{FF2B5EF4-FFF2-40B4-BE49-F238E27FC236}">
                <a16:creationId xmlns:a16="http://schemas.microsoft.com/office/drawing/2014/main" id="{10AAE43C-F58C-391E-DFFC-8C6F179CD005}"/>
              </a:ext>
            </a:extLst>
          </p:cNvPr>
          <p:cNvCxnSpPr/>
          <p:nvPr/>
        </p:nvCxnSpPr>
        <p:spPr>
          <a:xfrm>
            <a:off x="4182533" y="1411818"/>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a:extLst>
              <a:ext uri="{FF2B5EF4-FFF2-40B4-BE49-F238E27FC236}">
                <a16:creationId xmlns:a16="http://schemas.microsoft.com/office/drawing/2014/main" id="{5C1C8290-688B-0042-C635-A2EC767CDBDD}"/>
              </a:ext>
            </a:extLst>
          </p:cNvPr>
          <p:cNvCxnSpPr/>
          <p:nvPr/>
        </p:nvCxnSpPr>
        <p:spPr>
          <a:xfrm>
            <a:off x="5528734" y="1473201"/>
            <a:ext cx="29633" cy="40089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2127C3EE-5A27-28F9-CBE7-DE6F3E421BFA}"/>
              </a:ext>
            </a:extLst>
          </p:cNvPr>
          <p:cNvCxnSpPr/>
          <p:nvPr/>
        </p:nvCxnSpPr>
        <p:spPr>
          <a:xfrm>
            <a:off x="6942667" y="1411818"/>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a:extLst>
              <a:ext uri="{FF2B5EF4-FFF2-40B4-BE49-F238E27FC236}">
                <a16:creationId xmlns:a16="http://schemas.microsoft.com/office/drawing/2014/main" id="{5CAAA153-8635-80A1-C249-CD2B811CA83F}"/>
              </a:ext>
            </a:extLst>
          </p:cNvPr>
          <p:cNvCxnSpPr/>
          <p:nvPr/>
        </p:nvCxnSpPr>
        <p:spPr>
          <a:xfrm>
            <a:off x="8428567" y="1375834"/>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1">
            <a:extLst>
              <a:ext uri="{FF2B5EF4-FFF2-40B4-BE49-F238E27FC236}">
                <a16:creationId xmlns:a16="http://schemas.microsoft.com/office/drawing/2014/main" id="{7C2E9B62-3FAC-B74F-9328-50782AA1316A}"/>
              </a:ext>
            </a:extLst>
          </p:cNvPr>
          <p:cNvSpPr txBox="1"/>
          <p:nvPr/>
        </p:nvSpPr>
        <p:spPr>
          <a:xfrm>
            <a:off x="1153584" y="941918"/>
            <a:ext cx="1589616"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4" name="文本框 1">
            <a:extLst>
              <a:ext uri="{FF2B5EF4-FFF2-40B4-BE49-F238E27FC236}">
                <a16:creationId xmlns:a16="http://schemas.microsoft.com/office/drawing/2014/main" id="{FE49B3BD-3137-D3A8-78A4-16B9C6F76A5F}"/>
              </a:ext>
            </a:extLst>
          </p:cNvPr>
          <p:cNvSpPr txBox="1"/>
          <p:nvPr/>
        </p:nvSpPr>
        <p:spPr>
          <a:xfrm>
            <a:off x="2580005" y="94191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5" name="文本框 1">
            <a:extLst>
              <a:ext uri="{FF2B5EF4-FFF2-40B4-BE49-F238E27FC236}">
                <a16:creationId xmlns:a16="http://schemas.microsoft.com/office/drawing/2014/main" id="{7F74220B-9DC9-A83E-95B6-3CF9D3C3E7B2}"/>
              </a:ext>
            </a:extLst>
          </p:cNvPr>
          <p:cNvSpPr txBox="1"/>
          <p:nvPr/>
        </p:nvSpPr>
        <p:spPr>
          <a:xfrm>
            <a:off x="555625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 name="文本框 1">
            <a:extLst>
              <a:ext uri="{FF2B5EF4-FFF2-40B4-BE49-F238E27FC236}">
                <a16:creationId xmlns:a16="http://schemas.microsoft.com/office/drawing/2014/main" id="{4336B5FF-54FF-CC89-0B93-E6C574D6773A}"/>
              </a:ext>
            </a:extLst>
          </p:cNvPr>
          <p:cNvSpPr txBox="1"/>
          <p:nvPr/>
        </p:nvSpPr>
        <p:spPr>
          <a:xfrm>
            <a:off x="7001934" y="9419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5</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 name="文本框 7">
            <a:extLst>
              <a:ext uri="{FF2B5EF4-FFF2-40B4-BE49-F238E27FC236}">
                <a16:creationId xmlns:a16="http://schemas.microsoft.com/office/drawing/2014/main" id="{A2D7F6F8-DE35-FB16-08C1-2BAB984D497B}"/>
              </a:ext>
            </a:extLst>
          </p:cNvPr>
          <p:cNvSpPr txBox="1"/>
          <p:nvPr/>
        </p:nvSpPr>
        <p:spPr>
          <a:xfrm>
            <a:off x="10192400" y="3308407"/>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3" name="文本框 1">
            <a:extLst>
              <a:ext uri="{FF2B5EF4-FFF2-40B4-BE49-F238E27FC236}">
                <a16:creationId xmlns:a16="http://schemas.microsoft.com/office/drawing/2014/main" id="{AAE23347-2A89-64AA-20F1-17019B6C2072}"/>
              </a:ext>
            </a:extLst>
          </p:cNvPr>
          <p:cNvSpPr txBox="1"/>
          <p:nvPr/>
        </p:nvSpPr>
        <p:spPr>
          <a:xfrm>
            <a:off x="4076025" y="9419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8" name="TextBox 30">
            <a:extLst>
              <a:ext uri="{FF2B5EF4-FFF2-40B4-BE49-F238E27FC236}">
                <a16:creationId xmlns:a16="http://schemas.microsoft.com/office/drawing/2014/main" id="{11892603-3C8F-9488-24BF-AA05C7EE9661}"/>
              </a:ext>
            </a:extLst>
          </p:cNvPr>
          <p:cNvSpPr txBox="1"/>
          <p:nvPr/>
        </p:nvSpPr>
        <p:spPr>
          <a:xfrm>
            <a:off x="991435" y="5444067"/>
            <a:ext cx="4497507"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足够</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900846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24"/>
                                        </p:tgtEl>
                                      </p:cBhvr>
                                    </p:animEffect>
                                    <p:set>
                                      <p:cBhvr>
                                        <p:cTn id="29" dur="1" fill="hold">
                                          <p:stCondLst>
                                            <p:cond delay="499"/>
                                          </p:stCondLst>
                                        </p:cTn>
                                        <p:tgtEl>
                                          <p:spTgt spid="24"/>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42" presetClass="entr" presetSubtype="0" fill="hold" grpId="0" nodeType="withEffect">
                                  <p:stCondLst>
                                    <p:cond delay="0"/>
                                  </p:stCondLst>
                                  <p:iterate type="lt">
                                    <p:tmPct val="0"/>
                                  </p:iterate>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5" presetClass="emph" presetSubtype="0" fill="hold" nodeType="clickEffect">
                                  <p:stCondLst>
                                    <p:cond delay="0"/>
                                  </p:stCondLst>
                                  <p:childTnLst>
                                    <p:anim calcmode="discrete" valueType="str">
                                      <p:cBhvr>
                                        <p:cTn id="52"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53" fill="hold">
                      <p:stCondLst>
                        <p:cond delay="indefinite"/>
                      </p:stCondLst>
                      <p:childTnLst>
                        <p:par>
                          <p:cTn id="54" fill="hold">
                            <p:stCondLst>
                              <p:cond delay="0"/>
                            </p:stCondLst>
                            <p:childTnLst>
                              <p:par>
                                <p:cTn id="55" presetID="35" presetClass="emph" presetSubtype="0" fill="hold" nodeType="clickEffect">
                                  <p:stCondLst>
                                    <p:cond delay="0"/>
                                  </p:stCondLst>
                                  <p:childTnLst>
                                    <p:anim calcmode="discrete" valueType="str">
                                      <p:cBhvr>
                                        <p:cTn id="56"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24" grpId="0"/>
      <p:bldP spid="24" grpId="1"/>
      <p:bldP spid="27"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35C03-3B29-73A5-237C-8515B181658E}"/>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物料和资源分配可以优化</a:t>
            </a:r>
          </a:p>
        </p:txBody>
      </p:sp>
      <p:cxnSp>
        <p:nvCxnSpPr>
          <p:cNvPr id="4" name="直接箭头连接符 6">
            <a:extLst>
              <a:ext uri="{FF2B5EF4-FFF2-40B4-BE49-F238E27FC236}">
                <a16:creationId xmlns:a16="http://schemas.microsoft.com/office/drawing/2014/main" id="{4A71B983-9E66-2358-3D59-FD8232581C2B}"/>
              </a:ext>
            </a:extLst>
          </p:cNvPr>
          <p:cNvCxnSpPr/>
          <p:nvPr/>
        </p:nvCxnSpPr>
        <p:spPr>
          <a:xfrm>
            <a:off x="715434" y="3558117"/>
            <a:ext cx="9334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a:extLst>
              <a:ext uri="{FF2B5EF4-FFF2-40B4-BE49-F238E27FC236}">
                <a16:creationId xmlns:a16="http://schemas.microsoft.com/office/drawing/2014/main" id="{1E219DEB-EE6A-4C66-332A-A9B0F09F8AE4}"/>
              </a:ext>
            </a:extLst>
          </p:cNvPr>
          <p:cNvCxnSpPr>
            <a:stCxn id="22" idx="0"/>
          </p:cNvCxnSpPr>
          <p:nvPr/>
        </p:nvCxnSpPr>
        <p:spPr>
          <a:xfrm>
            <a:off x="3579285" y="2679700"/>
            <a:ext cx="6351" cy="914400"/>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a:extLst>
              <a:ext uri="{FF2B5EF4-FFF2-40B4-BE49-F238E27FC236}">
                <a16:creationId xmlns:a16="http://schemas.microsoft.com/office/drawing/2014/main" id="{45BA285D-4646-34FB-B7B9-6FA62DC3E964}"/>
              </a:ext>
            </a:extLst>
          </p:cNvPr>
          <p:cNvCxnSpPr>
            <a:stCxn id="13" idx="0"/>
          </p:cNvCxnSpPr>
          <p:nvPr/>
        </p:nvCxnSpPr>
        <p:spPr>
          <a:xfrm>
            <a:off x="7452784" y="2679701"/>
            <a:ext cx="0" cy="878417"/>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a:extLst>
              <a:ext uri="{FF2B5EF4-FFF2-40B4-BE49-F238E27FC236}">
                <a16:creationId xmlns:a16="http://schemas.microsoft.com/office/drawing/2014/main" id="{616FC730-51ED-28F9-113C-0E621831CFCC}"/>
              </a:ext>
            </a:extLst>
          </p:cNvPr>
          <p:cNvCxnSpPr/>
          <p:nvPr/>
        </p:nvCxnSpPr>
        <p:spPr>
          <a:xfrm flipV="1">
            <a:off x="2755900" y="3558118"/>
            <a:ext cx="0" cy="673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a:extLst>
              <a:ext uri="{FF2B5EF4-FFF2-40B4-BE49-F238E27FC236}">
                <a16:creationId xmlns:a16="http://schemas.microsoft.com/office/drawing/2014/main" id="{C1C67C48-61D2-81E7-382E-54EF6BDF0581}"/>
              </a:ext>
            </a:extLst>
          </p:cNvPr>
          <p:cNvCxnSpPr/>
          <p:nvPr/>
        </p:nvCxnSpPr>
        <p:spPr>
          <a:xfrm flipV="1">
            <a:off x="2755900" y="4434417"/>
            <a:ext cx="0" cy="6709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矩形 27">
            <a:extLst>
              <a:ext uri="{FF2B5EF4-FFF2-40B4-BE49-F238E27FC236}">
                <a16:creationId xmlns:a16="http://schemas.microsoft.com/office/drawing/2014/main" id="{136DC139-B872-5540-997B-9DE6DEC4420A}"/>
              </a:ext>
            </a:extLst>
          </p:cNvPr>
          <p:cNvSpPr/>
          <p:nvPr/>
        </p:nvSpPr>
        <p:spPr>
          <a:xfrm>
            <a:off x="2878669" y="2347385"/>
            <a:ext cx="1375830" cy="369310"/>
          </a:xfrm>
          <a:prstGeom prst="rect">
            <a:avLst/>
          </a:prstGeom>
          <a:solidFill>
            <a:srgbClr val="0070C0"/>
          </a:solid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0" name="矩形 38">
            <a:extLst>
              <a:ext uri="{FF2B5EF4-FFF2-40B4-BE49-F238E27FC236}">
                <a16:creationId xmlns:a16="http://schemas.microsoft.com/office/drawing/2014/main" id="{223BF39A-4DE7-E47C-DDF4-BFB18EF97D63}"/>
              </a:ext>
            </a:extLst>
          </p:cNvPr>
          <p:cNvSpPr/>
          <p:nvPr/>
        </p:nvSpPr>
        <p:spPr>
          <a:xfrm>
            <a:off x="6828367" y="2330451"/>
            <a:ext cx="1344084"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28">
            <a:extLst>
              <a:ext uri="{FF2B5EF4-FFF2-40B4-BE49-F238E27FC236}">
                <a16:creationId xmlns:a16="http://schemas.microsoft.com/office/drawing/2014/main" id="{F1142D03-78B3-CBFB-4FFF-E3C0BDBF61B4}"/>
              </a:ext>
            </a:extLst>
          </p:cNvPr>
          <p:cNvSpPr/>
          <p:nvPr/>
        </p:nvSpPr>
        <p:spPr>
          <a:xfrm>
            <a:off x="1172633" y="3750733"/>
            <a:ext cx="1390651"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41">
            <a:extLst>
              <a:ext uri="{FF2B5EF4-FFF2-40B4-BE49-F238E27FC236}">
                <a16:creationId xmlns:a16="http://schemas.microsoft.com/office/drawing/2014/main" id="{4531B493-39A0-59CA-E6A0-F874C5729CDD}"/>
              </a:ext>
            </a:extLst>
          </p:cNvPr>
          <p:cNvSpPr/>
          <p:nvPr/>
        </p:nvSpPr>
        <p:spPr>
          <a:xfrm>
            <a:off x="1172633" y="4565651"/>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a:extLst>
              <a:ext uri="{FF2B5EF4-FFF2-40B4-BE49-F238E27FC236}">
                <a16:creationId xmlns:a16="http://schemas.microsoft.com/office/drawing/2014/main" id="{C930BD25-AB34-88FB-A533-E58E26F7BC4D}"/>
              </a:ext>
            </a:extLst>
          </p:cNvPr>
          <p:cNvSpPr/>
          <p:nvPr/>
        </p:nvSpPr>
        <p:spPr>
          <a:xfrm flipH="1">
            <a:off x="2755901" y="2679701"/>
            <a:ext cx="4696884" cy="1276351"/>
          </a:xfrm>
          <a:prstGeom prst="line">
            <a:avLst/>
          </a:prstGeom>
          <a:ln w="12700" cap="flat" cmpd="sng">
            <a:solidFill>
              <a:schemeClr val="bg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4" name="Line 58">
            <a:extLst>
              <a:ext uri="{FF2B5EF4-FFF2-40B4-BE49-F238E27FC236}">
                <a16:creationId xmlns:a16="http://schemas.microsoft.com/office/drawing/2014/main" id="{A00BCABC-33BE-366C-0849-334E822C9F18}"/>
              </a:ext>
            </a:extLst>
          </p:cNvPr>
          <p:cNvSpPr/>
          <p:nvPr/>
        </p:nvSpPr>
        <p:spPr>
          <a:xfrm flipH="1">
            <a:off x="6165851" y="2679700"/>
            <a:ext cx="1286933" cy="1625600"/>
          </a:xfrm>
          <a:prstGeom prst="line">
            <a:avLst/>
          </a:prstGeom>
          <a:ln w="12700" cap="flat" cmpd="sng">
            <a:solidFill>
              <a:schemeClr val="bg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5" name="矩形标注 12">
            <a:extLst>
              <a:ext uri="{FF2B5EF4-FFF2-40B4-BE49-F238E27FC236}">
                <a16:creationId xmlns:a16="http://schemas.microsoft.com/office/drawing/2014/main" id="{591A65C6-95C1-B4F6-C4CE-D6DF8C04F497}"/>
              </a:ext>
            </a:extLst>
          </p:cNvPr>
          <p:cNvSpPr/>
          <p:nvPr/>
        </p:nvSpPr>
        <p:spPr>
          <a:xfrm>
            <a:off x="6798734" y="1568451"/>
            <a:ext cx="1439333" cy="508000"/>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6" name="矩形标注 13">
            <a:extLst>
              <a:ext uri="{FF2B5EF4-FFF2-40B4-BE49-F238E27FC236}">
                <a16:creationId xmlns:a16="http://schemas.microsoft.com/office/drawing/2014/main" id="{C8339CF9-8727-4744-21AA-3903DEC2C50F}"/>
              </a:ext>
            </a:extLst>
          </p:cNvPr>
          <p:cNvSpPr/>
          <p:nvPr/>
        </p:nvSpPr>
        <p:spPr>
          <a:xfrm>
            <a:off x="2844800" y="1579034"/>
            <a:ext cx="1441451"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圆角矩形 15">
            <a:extLst>
              <a:ext uri="{FF2B5EF4-FFF2-40B4-BE49-F238E27FC236}">
                <a16:creationId xmlns:a16="http://schemas.microsoft.com/office/drawing/2014/main" id="{ED5C55E6-46A2-03F1-DAC1-243669852852}"/>
              </a:ext>
            </a:extLst>
          </p:cNvPr>
          <p:cNvSpPr/>
          <p:nvPr/>
        </p:nvSpPr>
        <p:spPr>
          <a:xfrm>
            <a:off x="8406585" y="1361018"/>
            <a:ext cx="3119967" cy="20616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IPS</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升级</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按照优先级软分配物料和资源</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在影响需求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的交期承诺前提下，释放</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给需求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1</a:t>
            </a:r>
          </a:p>
        </p:txBody>
      </p:sp>
      <p:sp>
        <p:nvSpPr>
          <p:cNvPr id="18" name="矩形 26">
            <a:extLst>
              <a:ext uri="{FF2B5EF4-FFF2-40B4-BE49-F238E27FC236}">
                <a16:creationId xmlns:a16="http://schemas.microsoft.com/office/drawing/2014/main" id="{F0F74EC9-D639-471F-7B59-96F7818F28A9}"/>
              </a:ext>
            </a:extLst>
          </p:cNvPr>
          <p:cNvSpPr/>
          <p:nvPr/>
        </p:nvSpPr>
        <p:spPr>
          <a:xfrm>
            <a:off x="5501217" y="4305300"/>
            <a:ext cx="132926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19" name="直接箭头连接符 29">
            <a:extLst>
              <a:ext uri="{FF2B5EF4-FFF2-40B4-BE49-F238E27FC236}">
                <a16:creationId xmlns:a16="http://schemas.microsoft.com/office/drawing/2014/main" id="{BAA205CC-65AA-7E3C-197A-8A1A23DA6705}"/>
              </a:ext>
            </a:extLst>
          </p:cNvPr>
          <p:cNvCxnSpPr>
            <a:stCxn id="18" idx="0"/>
          </p:cNvCxnSpPr>
          <p:nvPr/>
        </p:nvCxnSpPr>
        <p:spPr>
          <a:xfrm flipV="1">
            <a:off x="6165851" y="3564468"/>
            <a:ext cx="0" cy="740832"/>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0" name="矩形 31">
            <a:extLst>
              <a:ext uri="{FF2B5EF4-FFF2-40B4-BE49-F238E27FC236}">
                <a16:creationId xmlns:a16="http://schemas.microsoft.com/office/drawing/2014/main" id="{AA227D1F-D40C-91B8-E673-4BA981AEA2C3}"/>
              </a:ext>
            </a:extLst>
          </p:cNvPr>
          <p:cNvSpPr/>
          <p:nvPr/>
        </p:nvSpPr>
        <p:spPr>
          <a:xfrm>
            <a:off x="4273551" y="4836584"/>
            <a:ext cx="12319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1" name="直接箭头连接符 40">
            <a:extLst>
              <a:ext uri="{FF2B5EF4-FFF2-40B4-BE49-F238E27FC236}">
                <a16:creationId xmlns:a16="http://schemas.microsoft.com/office/drawing/2014/main" id="{FE4EF386-C74B-9BA7-3A7E-17F4128BCF4B}"/>
              </a:ext>
            </a:extLst>
          </p:cNvPr>
          <p:cNvCxnSpPr>
            <a:stCxn id="20" idx="0"/>
          </p:cNvCxnSpPr>
          <p:nvPr/>
        </p:nvCxnSpPr>
        <p:spPr>
          <a:xfrm flipV="1">
            <a:off x="4889501" y="3558117"/>
            <a:ext cx="29632" cy="1278467"/>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2" name="Line 58">
            <a:extLst>
              <a:ext uri="{FF2B5EF4-FFF2-40B4-BE49-F238E27FC236}">
                <a16:creationId xmlns:a16="http://schemas.microsoft.com/office/drawing/2014/main" id="{A08D643A-D8A5-2290-E487-4B90BF342422}"/>
              </a:ext>
            </a:extLst>
          </p:cNvPr>
          <p:cNvSpPr/>
          <p:nvPr/>
        </p:nvSpPr>
        <p:spPr>
          <a:xfrm flipH="1">
            <a:off x="2755900" y="2679701"/>
            <a:ext cx="823384" cy="1276351"/>
          </a:xfrm>
          <a:prstGeom prst="line">
            <a:avLst/>
          </a:prstGeom>
          <a:ln w="12700" cap="flat" cmpd="sng">
            <a:solidFill>
              <a:schemeClr val="bg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23" name="文本框 22">
            <a:extLst>
              <a:ext uri="{FF2B5EF4-FFF2-40B4-BE49-F238E27FC236}">
                <a16:creationId xmlns:a16="http://schemas.microsoft.com/office/drawing/2014/main" id="{08D3A089-D5F7-07DA-708E-5DDA5CA66885}"/>
              </a:ext>
            </a:extLst>
          </p:cNvPr>
          <p:cNvSpPr txBox="1"/>
          <p:nvPr/>
        </p:nvSpPr>
        <p:spPr>
          <a:xfrm rot="-3433726">
            <a:off x="2586567" y="3027883"/>
            <a:ext cx="914400" cy="23589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被需求</a:t>
            </a:r>
            <a:r>
              <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占用</a:t>
            </a:r>
            <a:endPar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4" name="直接箭头连接符 5">
            <a:extLst>
              <a:ext uri="{FF2B5EF4-FFF2-40B4-BE49-F238E27FC236}">
                <a16:creationId xmlns:a16="http://schemas.microsoft.com/office/drawing/2014/main" id="{3219F787-FE4B-227F-4377-15FDFF66D145}"/>
              </a:ext>
            </a:extLst>
          </p:cNvPr>
          <p:cNvCxnSpPr>
            <a:endCxn id="20" idx="0"/>
          </p:cNvCxnSpPr>
          <p:nvPr/>
        </p:nvCxnSpPr>
        <p:spPr>
          <a:xfrm>
            <a:off x="3653367" y="2791885"/>
            <a:ext cx="1236134" cy="2044699"/>
          </a:xfrm>
          <a:prstGeom prst="straightConnector1">
            <a:avLst/>
          </a:prstGeom>
          <a:ln w="12700" cap="flat" cmpd="sng">
            <a:solidFill>
              <a:schemeClr val="bg1"/>
            </a:solidFill>
            <a:prstDash val="lgDash"/>
            <a:headEnd type="none" w="med" len="med"/>
            <a:tailEnd type="triangle" w="med" len="med"/>
          </a:ln>
        </p:spPr>
      </p:cxnSp>
      <p:cxnSp>
        <p:nvCxnSpPr>
          <p:cNvPr id="25" name="直接箭头连接符 50">
            <a:extLst>
              <a:ext uri="{FF2B5EF4-FFF2-40B4-BE49-F238E27FC236}">
                <a16:creationId xmlns:a16="http://schemas.microsoft.com/office/drawing/2014/main" id="{6A666C4C-3661-8765-0882-52B2255C2C22}"/>
              </a:ext>
            </a:extLst>
          </p:cNvPr>
          <p:cNvCxnSpPr>
            <a:stCxn id="22" idx="0"/>
          </p:cNvCxnSpPr>
          <p:nvPr/>
        </p:nvCxnSpPr>
        <p:spPr>
          <a:xfrm flipH="1">
            <a:off x="2743201" y="2679701"/>
            <a:ext cx="836084" cy="2097617"/>
          </a:xfrm>
          <a:prstGeom prst="straightConnector1">
            <a:avLst/>
          </a:prstGeom>
          <a:ln w="12700" cap="flat" cmpd="sng">
            <a:solidFill>
              <a:schemeClr val="bg1"/>
            </a:solidFill>
            <a:prstDash val="lgDash"/>
            <a:headEnd type="none" w="med" len="med"/>
            <a:tailEnd type="triangle" w="med" len="med"/>
          </a:ln>
        </p:spPr>
      </p:cxnSp>
      <p:sp>
        <p:nvSpPr>
          <p:cNvPr id="26" name="圆角矩形标注 24">
            <a:extLst>
              <a:ext uri="{FF2B5EF4-FFF2-40B4-BE49-F238E27FC236}">
                <a16:creationId xmlns:a16="http://schemas.microsoft.com/office/drawing/2014/main" id="{BF35203F-B4A3-4701-2000-778AD95F3A2E}"/>
              </a:ext>
            </a:extLst>
          </p:cNvPr>
          <p:cNvSpPr/>
          <p:nvPr/>
        </p:nvSpPr>
        <p:spPr>
          <a:xfrm>
            <a:off x="1375833" y="1892300"/>
            <a:ext cx="1380067" cy="414867"/>
          </a:xfrm>
          <a:prstGeom prst="wedgeRoundRectCallout">
            <a:avLst>
              <a:gd name="adj1" fmla="val 86096"/>
              <a:gd name="adj2" fmla="val 93018"/>
              <a:gd name="adj3" fmla="val 16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Late</a:t>
            </a: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7" name="直接箭头连接符 3">
            <a:extLst>
              <a:ext uri="{FF2B5EF4-FFF2-40B4-BE49-F238E27FC236}">
                <a16:creationId xmlns:a16="http://schemas.microsoft.com/office/drawing/2014/main" id="{BDA8F927-FD2F-3408-78BD-CA3750794F30}"/>
              </a:ext>
            </a:extLst>
          </p:cNvPr>
          <p:cNvCxnSpPr>
            <a:stCxn id="13" idx="0"/>
          </p:cNvCxnSpPr>
          <p:nvPr/>
        </p:nvCxnSpPr>
        <p:spPr>
          <a:xfrm flipH="1">
            <a:off x="4961467" y="2679701"/>
            <a:ext cx="2491317" cy="1276351"/>
          </a:xfrm>
          <a:prstGeom prst="straightConnector1">
            <a:avLst/>
          </a:prstGeom>
          <a:ln w="12700" cap="flat" cmpd="sng">
            <a:solidFill>
              <a:schemeClr val="bg1"/>
            </a:solidFill>
            <a:prstDash val="lgDash"/>
            <a:headEnd type="none" w="med" len="med"/>
            <a:tailEnd type="triangle" w="med" len="med"/>
          </a:ln>
        </p:spPr>
      </p:cxnSp>
      <p:sp>
        <p:nvSpPr>
          <p:cNvPr id="28" name="圆角矩形标注 26">
            <a:extLst>
              <a:ext uri="{FF2B5EF4-FFF2-40B4-BE49-F238E27FC236}">
                <a16:creationId xmlns:a16="http://schemas.microsoft.com/office/drawing/2014/main" id="{39749B38-0F5E-AA2B-26E6-59E65952B8DC}"/>
              </a:ext>
            </a:extLst>
          </p:cNvPr>
          <p:cNvSpPr/>
          <p:nvPr/>
        </p:nvSpPr>
        <p:spPr>
          <a:xfrm>
            <a:off x="715434" y="2417233"/>
            <a:ext cx="2123017" cy="747184"/>
          </a:xfrm>
          <a:prstGeom prst="wedgeRoundRectCallout">
            <a:avLst>
              <a:gd name="adj1" fmla="val 70738"/>
              <a:gd name="adj2" fmla="val -32831"/>
              <a:gd name="adj3" fmla="val 16667"/>
            </a:avLst>
          </a:prstGeom>
          <a:solidFill>
            <a:srgbClr val="00B050"/>
          </a:solidFill>
          <a:ln>
            <a:solidFill>
              <a:srgbClr val="57CC00"/>
            </a:solidFill>
          </a:ln>
        </p:spPr>
        <p:style>
          <a:lnRef idx="1">
            <a:schemeClr val="dk1"/>
          </a:lnRef>
          <a:fillRef idx="2">
            <a:schemeClr val="dk1"/>
          </a:fillRef>
          <a:effectRef idx="1">
            <a:schemeClr val="dk1"/>
          </a:effectRef>
          <a:fontRef idx="minor">
            <a:schemeClr val="dk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工单下达，需求满足</a:t>
            </a:r>
          </a:p>
        </p:txBody>
      </p:sp>
      <p:cxnSp>
        <p:nvCxnSpPr>
          <p:cNvPr id="29" name="直接连接符 7">
            <a:extLst>
              <a:ext uri="{FF2B5EF4-FFF2-40B4-BE49-F238E27FC236}">
                <a16:creationId xmlns:a16="http://schemas.microsoft.com/office/drawing/2014/main" id="{70BCEB3F-30EF-7C5E-9EA0-909EE83282F0}"/>
              </a:ext>
            </a:extLst>
          </p:cNvPr>
          <p:cNvCxnSpPr/>
          <p:nvPr/>
        </p:nvCxnSpPr>
        <p:spPr>
          <a:xfrm>
            <a:off x="2838451" y="1361018"/>
            <a:ext cx="0" cy="2197100"/>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a:extLst>
              <a:ext uri="{FF2B5EF4-FFF2-40B4-BE49-F238E27FC236}">
                <a16:creationId xmlns:a16="http://schemas.microsoft.com/office/drawing/2014/main" id="{6DE48777-C835-2B75-06FA-B69DCFC25961}"/>
              </a:ext>
            </a:extLst>
          </p:cNvPr>
          <p:cNvCxnSpPr/>
          <p:nvPr/>
        </p:nvCxnSpPr>
        <p:spPr>
          <a:xfrm>
            <a:off x="4286251" y="136101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8E671C86-1424-003A-09D6-A730FDAB4852}"/>
              </a:ext>
            </a:extLst>
          </p:cNvPr>
          <p:cNvCxnSpPr/>
          <p:nvPr/>
        </p:nvCxnSpPr>
        <p:spPr>
          <a:xfrm>
            <a:off x="5505451" y="141816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a:extLst>
              <a:ext uri="{FF2B5EF4-FFF2-40B4-BE49-F238E27FC236}">
                <a16:creationId xmlns:a16="http://schemas.microsoft.com/office/drawing/2014/main" id="{E8B93C78-4C6A-DE74-C915-E6CB47382567}"/>
              </a:ext>
            </a:extLst>
          </p:cNvPr>
          <p:cNvCxnSpPr/>
          <p:nvPr/>
        </p:nvCxnSpPr>
        <p:spPr>
          <a:xfrm>
            <a:off x="6830484" y="1418168"/>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8" name="圆角矩形 45">
            <a:extLst>
              <a:ext uri="{FF2B5EF4-FFF2-40B4-BE49-F238E27FC236}">
                <a16:creationId xmlns:a16="http://schemas.microsoft.com/office/drawing/2014/main" id="{2EA30012-8194-209A-9607-0BC31FA38A6C}"/>
              </a:ext>
            </a:extLst>
          </p:cNvPr>
          <p:cNvSpPr/>
          <p:nvPr/>
        </p:nvSpPr>
        <p:spPr>
          <a:xfrm>
            <a:off x="8358718" y="3769784"/>
            <a:ext cx="3253317" cy="1439333"/>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软分配物料和资源</a:t>
            </a:r>
            <a:endPar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在影响交期承诺的前提下释放资源给优先级低</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新需求</a:t>
            </a:r>
            <a:endPar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0" name="圆角矩形标注 51">
            <a:extLst>
              <a:ext uri="{FF2B5EF4-FFF2-40B4-BE49-F238E27FC236}">
                <a16:creationId xmlns:a16="http://schemas.microsoft.com/office/drawing/2014/main" id="{4A8DD717-1CB2-3386-9EA2-05BE9203F556}"/>
              </a:ext>
            </a:extLst>
          </p:cNvPr>
          <p:cNvSpPr/>
          <p:nvPr/>
        </p:nvSpPr>
        <p:spPr>
          <a:xfrm>
            <a:off x="5444067" y="2307167"/>
            <a:ext cx="1380067" cy="372533"/>
          </a:xfrm>
          <a:prstGeom prst="wedgeRoundRectCallout">
            <a:avLst>
              <a:gd name="adj1" fmla="val 67310"/>
              <a:gd name="adj2" fmla="val 101445"/>
              <a:gd name="adj3" fmla="val 16667"/>
            </a:avLst>
          </a:prstGeom>
          <a:solidFill>
            <a:srgbClr val="00AA48"/>
          </a:solidFill>
          <a:ln/>
        </p:spPr>
        <p:style>
          <a:lnRef idx="1">
            <a:schemeClr val="accent6"/>
          </a:lnRef>
          <a:fillRef idx="2">
            <a:schemeClr val="accent6"/>
          </a:fillRef>
          <a:effectRef idx="1">
            <a:schemeClr val="accent6"/>
          </a:effectRef>
          <a:fontRef idx="minor">
            <a:schemeClr val="dk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不影响承诺</a:t>
            </a:r>
          </a:p>
        </p:txBody>
      </p:sp>
      <p:sp>
        <p:nvSpPr>
          <p:cNvPr id="41" name="文本框 40">
            <a:extLst>
              <a:ext uri="{FF2B5EF4-FFF2-40B4-BE49-F238E27FC236}">
                <a16:creationId xmlns:a16="http://schemas.microsoft.com/office/drawing/2014/main" id="{A9EF1E1B-41AD-3E8E-A65F-7BE736245855}"/>
              </a:ext>
            </a:extLst>
          </p:cNvPr>
          <p:cNvSpPr txBox="1"/>
          <p:nvPr/>
        </p:nvSpPr>
        <p:spPr>
          <a:xfrm>
            <a:off x="10092268" y="3388840"/>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3" name="文本框 1">
            <a:extLst>
              <a:ext uri="{FF2B5EF4-FFF2-40B4-BE49-F238E27FC236}">
                <a16:creationId xmlns:a16="http://schemas.microsoft.com/office/drawing/2014/main" id="{0B4ED3D0-7777-6567-E9FE-229B256742EC}"/>
              </a:ext>
            </a:extLst>
          </p:cNvPr>
          <p:cNvSpPr txBox="1"/>
          <p:nvPr/>
        </p:nvSpPr>
        <p:spPr>
          <a:xfrm>
            <a:off x="1153584" y="941918"/>
            <a:ext cx="1589616"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2" name="文本框 1">
            <a:extLst>
              <a:ext uri="{FF2B5EF4-FFF2-40B4-BE49-F238E27FC236}">
                <a16:creationId xmlns:a16="http://schemas.microsoft.com/office/drawing/2014/main" id="{7AC49BF6-1C80-3947-B83E-834769DDE8C0}"/>
              </a:ext>
            </a:extLst>
          </p:cNvPr>
          <p:cNvSpPr txBox="1"/>
          <p:nvPr/>
        </p:nvSpPr>
        <p:spPr>
          <a:xfrm>
            <a:off x="2580005" y="94191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3" name="文本框 1">
            <a:extLst>
              <a:ext uri="{FF2B5EF4-FFF2-40B4-BE49-F238E27FC236}">
                <a16:creationId xmlns:a16="http://schemas.microsoft.com/office/drawing/2014/main" id="{9B1A018B-0A55-7024-8CE7-5CC08B0B6855}"/>
              </a:ext>
            </a:extLst>
          </p:cNvPr>
          <p:cNvSpPr txBox="1"/>
          <p:nvPr/>
        </p:nvSpPr>
        <p:spPr>
          <a:xfrm>
            <a:off x="555625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4" name="文本框 1">
            <a:extLst>
              <a:ext uri="{FF2B5EF4-FFF2-40B4-BE49-F238E27FC236}">
                <a16:creationId xmlns:a16="http://schemas.microsoft.com/office/drawing/2014/main" id="{42FC082A-67AF-2BE3-FC68-BA90329468C4}"/>
              </a:ext>
            </a:extLst>
          </p:cNvPr>
          <p:cNvSpPr txBox="1"/>
          <p:nvPr/>
        </p:nvSpPr>
        <p:spPr>
          <a:xfrm>
            <a:off x="7001934" y="9419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5</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5" name="文本框 1">
            <a:extLst>
              <a:ext uri="{FF2B5EF4-FFF2-40B4-BE49-F238E27FC236}">
                <a16:creationId xmlns:a16="http://schemas.microsoft.com/office/drawing/2014/main" id="{1D094B49-351B-D1F5-35C2-52310FFFCBA9}"/>
              </a:ext>
            </a:extLst>
          </p:cNvPr>
          <p:cNvSpPr txBox="1"/>
          <p:nvPr/>
        </p:nvSpPr>
        <p:spPr>
          <a:xfrm>
            <a:off x="4076025" y="9419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6" name="TextBox 30">
            <a:extLst>
              <a:ext uri="{FF2B5EF4-FFF2-40B4-BE49-F238E27FC236}">
                <a16:creationId xmlns:a16="http://schemas.microsoft.com/office/drawing/2014/main" id="{98660F0F-936E-6E8D-A2F8-868DA540E792}"/>
              </a:ext>
            </a:extLst>
          </p:cNvPr>
          <p:cNvSpPr txBox="1"/>
          <p:nvPr/>
        </p:nvSpPr>
        <p:spPr>
          <a:xfrm>
            <a:off x="991435" y="5444067"/>
            <a:ext cx="4497507"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足够</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025072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23"/>
                                        </p:tgtEl>
                                      </p:cBhvr>
                                    </p:animEffect>
                                    <p:set>
                                      <p:cBhvr>
                                        <p:cTn id="33" dur="1" fill="hold">
                                          <p:stCondLst>
                                            <p:cond delay="499"/>
                                          </p:stCondLst>
                                        </p:cTn>
                                        <p:tgtEl>
                                          <p:spTgt spid="23"/>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22"/>
                                        </p:tgtEl>
                                      </p:cBhvr>
                                    </p:animEffect>
                                    <p:set>
                                      <p:cBhvr>
                                        <p:cTn id="36" dur="1" fill="hold">
                                          <p:stCondLst>
                                            <p:cond delay="499"/>
                                          </p:stCondLst>
                                        </p:cTn>
                                        <p:tgtEl>
                                          <p:spTgt spid="2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500"/>
                                        <p:tgtEl>
                                          <p:spTgt spid="24"/>
                                        </p:tgtEl>
                                      </p:cBhvr>
                                    </p:animEffect>
                                    <p:set>
                                      <p:cBhvr>
                                        <p:cTn id="60" dur="1" fill="hold">
                                          <p:stCondLst>
                                            <p:cond delay="499"/>
                                          </p:stCondLst>
                                        </p:cTn>
                                        <p:tgtEl>
                                          <p:spTgt spid="24"/>
                                        </p:tgtEl>
                                        <p:attrNameLst>
                                          <p:attrName>style.visibility</p:attrName>
                                        </p:attrNameLst>
                                      </p:cBhvr>
                                      <p:to>
                                        <p:strVal val="hidden"/>
                                      </p:to>
                                    </p:set>
                                  </p:childTnLst>
                                </p:cTn>
                              </p:par>
                              <p:par>
                                <p:cTn id="61" presetID="22" presetClass="exit" presetSubtype="4" fill="hold" grpId="1" nodeType="withEffect">
                                  <p:stCondLst>
                                    <p:cond delay="0"/>
                                  </p:stCondLst>
                                  <p:childTnLst>
                                    <p:animEffect transition="out" filter="wipe(down)">
                                      <p:cBhvr>
                                        <p:cTn id="62" dur="500"/>
                                        <p:tgtEl>
                                          <p:spTgt spid="40"/>
                                        </p:tgtEl>
                                      </p:cBhvr>
                                    </p:animEffect>
                                    <p:set>
                                      <p:cBhvr>
                                        <p:cTn id="63" dur="1" fill="hold">
                                          <p:stCondLst>
                                            <p:cond delay="499"/>
                                          </p:stCondLst>
                                        </p:cTn>
                                        <p:tgtEl>
                                          <p:spTgt spid="40"/>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22" presetClass="exit" presetSubtype="4" fill="hold" grpId="1" nodeType="withEffect">
                                  <p:stCondLst>
                                    <p:cond delay="0"/>
                                  </p:stCondLst>
                                  <p:childTnLst>
                                    <p:animEffect transition="out" filter="wipe(down)">
                                      <p:cBhvr>
                                        <p:cTn id="70" dur="500"/>
                                        <p:tgtEl>
                                          <p:spTgt spid="26"/>
                                        </p:tgtEl>
                                      </p:cBhvr>
                                    </p:animEffect>
                                    <p:set>
                                      <p:cBhvr>
                                        <p:cTn id="71" dur="1" fill="hold">
                                          <p:stCondLst>
                                            <p:cond delay="499"/>
                                          </p:stCondLst>
                                        </p:cTn>
                                        <p:tgtEl>
                                          <p:spTgt spid="26"/>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blinds(horizontal)">
                                      <p:cBhvr>
                                        <p:cTn id="79" dur="500"/>
                                        <p:tgtEl>
                                          <p:spTgt spid="17"/>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blinds(horizontal)">
                                      <p:cBhvr>
                                        <p:cTn id="8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23" grpId="0"/>
      <p:bldP spid="23" grpId="1"/>
      <p:bldP spid="26" grpId="0" animBg="1"/>
      <p:bldP spid="26" grpId="1" animBg="1"/>
      <p:bldP spid="28" grpId="0" animBg="1"/>
      <p:bldP spid="38" grpId="0" animBg="1"/>
      <p:bldP spid="40" grpId="0" animBg="1"/>
      <p:bldP spid="40"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3A3958-37BF-8824-92C9-32906B94E028}"/>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保交期的物料和资源预留带来的挑战</a:t>
            </a:r>
          </a:p>
        </p:txBody>
      </p:sp>
      <p:cxnSp>
        <p:nvCxnSpPr>
          <p:cNvPr id="4" name="直接箭头连接符 6">
            <a:extLst>
              <a:ext uri="{FF2B5EF4-FFF2-40B4-BE49-F238E27FC236}">
                <a16:creationId xmlns:a16="http://schemas.microsoft.com/office/drawing/2014/main" id="{180ED46A-B303-9A3D-1CAC-CB859F9FAAFE}"/>
              </a:ext>
            </a:extLst>
          </p:cNvPr>
          <p:cNvCxnSpPr/>
          <p:nvPr/>
        </p:nvCxnSpPr>
        <p:spPr>
          <a:xfrm>
            <a:off x="893234" y="3507317"/>
            <a:ext cx="9334500"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a:extLst>
              <a:ext uri="{FF2B5EF4-FFF2-40B4-BE49-F238E27FC236}">
                <a16:creationId xmlns:a16="http://schemas.microsoft.com/office/drawing/2014/main" id="{F4C8CEBA-E445-77C0-D911-6B1A054F16B5}"/>
              </a:ext>
            </a:extLst>
          </p:cNvPr>
          <p:cNvCxnSpPr/>
          <p:nvPr/>
        </p:nvCxnSpPr>
        <p:spPr>
          <a:xfrm>
            <a:off x="3464984" y="2628901"/>
            <a:ext cx="0" cy="878417"/>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a:extLst>
              <a:ext uri="{FF2B5EF4-FFF2-40B4-BE49-F238E27FC236}">
                <a16:creationId xmlns:a16="http://schemas.microsoft.com/office/drawing/2014/main" id="{1955E7D1-651C-6507-725E-B97A398D8BE7}"/>
              </a:ext>
            </a:extLst>
          </p:cNvPr>
          <p:cNvCxnSpPr/>
          <p:nvPr/>
        </p:nvCxnSpPr>
        <p:spPr>
          <a:xfrm>
            <a:off x="7687734" y="2628901"/>
            <a:ext cx="14817" cy="878417"/>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a:extLst>
              <a:ext uri="{FF2B5EF4-FFF2-40B4-BE49-F238E27FC236}">
                <a16:creationId xmlns:a16="http://schemas.microsoft.com/office/drawing/2014/main" id="{24244035-5DC7-D6AD-3FEF-5027120F1A65}"/>
              </a:ext>
            </a:extLst>
          </p:cNvPr>
          <p:cNvCxnSpPr/>
          <p:nvPr/>
        </p:nvCxnSpPr>
        <p:spPr>
          <a:xfrm flipV="1">
            <a:off x="2722033" y="3507318"/>
            <a:ext cx="0" cy="6731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a:extLst>
              <a:ext uri="{FF2B5EF4-FFF2-40B4-BE49-F238E27FC236}">
                <a16:creationId xmlns:a16="http://schemas.microsoft.com/office/drawing/2014/main" id="{459F1F9D-24E3-C28D-87D3-A82DBBF380C3}"/>
              </a:ext>
            </a:extLst>
          </p:cNvPr>
          <p:cNvCxnSpPr/>
          <p:nvPr/>
        </p:nvCxnSpPr>
        <p:spPr>
          <a:xfrm flipV="1">
            <a:off x="2722033" y="4383617"/>
            <a:ext cx="0" cy="6709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 name="矩形 27">
            <a:extLst>
              <a:ext uri="{FF2B5EF4-FFF2-40B4-BE49-F238E27FC236}">
                <a16:creationId xmlns:a16="http://schemas.microsoft.com/office/drawing/2014/main" id="{A297C071-F35C-1E96-D1A0-07BB2B6BAFCF}"/>
              </a:ext>
            </a:extLst>
          </p:cNvPr>
          <p:cNvSpPr/>
          <p:nvPr/>
        </p:nvSpPr>
        <p:spPr>
          <a:xfrm>
            <a:off x="2672927" y="2241974"/>
            <a:ext cx="1471507" cy="369310"/>
          </a:xfrm>
          <a:prstGeom prst="rect">
            <a:avLst/>
          </a:prstGeom>
          <a:solidFill>
            <a:srgbClr val="0070C0"/>
          </a:solid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34290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sym typeface="+mn-ea"/>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sym typeface="+mn-ea"/>
              </a:rPr>
              <a:t>1</a:t>
            </a:r>
          </a:p>
        </p:txBody>
      </p:sp>
      <p:sp>
        <p:nvSpPr>
          <p:cNvPr id="10" name="矩形 38">
            <a:extLst>
              <a:ext uri="{FF2B5EF4-FFF2-40B4-BE49-F238E27FC236}">
                <a16:creationId xmlns:a16="http://schemas.microsoft.com/office/drawing/2014/main" id="{7CE8776A-1D00-995D-7103-C71D274BD65B}"/>
              </a:ext>
            </a:extLst>
          </p:cNvPr>
          <p:cNvSpPr/>
          <p:nvPr/>
        </p:nvSpPr>
        <p:spPr>
          <a:xfrm>
            <a:off x="6936740" y="2260601"/>
            <a:ext cx="1459653" cy="369310"/>
          </a:xfrm>
          <a:prstGeom prst="rect">
            <a:avLst/>
          </a:prstGeom>
          <a:solidFill>
            <a:srgbClr val="0070C0"/>
          </a:solid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28">
            <a:extLst>
              <a:ext uri="{FF2B5EF4-FFF2-40B4-BE49-F238E27FC236}">
                <a16:creationId xmlns:a16="http://schemas.microsoft.com/office/drawing/2014/main" id="{AA8E0B53-2490-9BB2-CC01-6DCB598EAF5D}"/>
              </a:ext>
            </a:extLst>
          </p:cNvPr>
          <p:cNvSpPr/>
          <p:nvPr/>
        </p:nvSpPr>
        <p:spPr>
          <a:xfrm>
            <a:off x="1300510" y="3699933"/>
            <a:ext cx="1390649"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41">
            <a:extLst>
              <a:ext uri="{FF2B5EF4-FFF2-40B4-BE49-F238E27FC236}">
                <a16:creationId xmlns:a16="http://schemas.microsoft.com/office/drawing/2014/main" id="{5D612D9C-B629-D79E-F408-A465BE226CB2}"/>
              </a:ext>
            </a:extLst>
          </p:cNvPr>
          <p:cNvSpPr/>
          <p:nvPr/>
        </p:nvSpPr>
        <p:spPr>
          <a:xfrm>
            <a:off x="1318438" y="4514851"/>
            <a:ext cx="1390649"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4" name="Line 58">
            <a:extLst>
              <a:ext uri="{FF2B5EF4-FFF2-40B4-BE49-F238E27FC236}">
                <a16:creationId xmlns:a16="http://schemas.microsoft.com/office/drawing/2014/main" id="{FD3DDD7A-024B-D09B-028F-DF0C53BB2D09}"/>
              </a:ext>
            </a:extLst>
          </p:cNvPr>
          <p:cNvSpPr/>
          <p:nvPr/>
        </p:nvSpPr>
        <p:spPr>
          <a:xfrm flipH="1">
            <a:off x="2722033" y="2628901"/>
            <a:ext cx="4936067" cy="1276351"/>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Line 58">
            <a:extLst>
              <a:ext uri="{FF2B5EF4-FFF2-40B4-BE49-F238E27FC236}">
                <a16:creationId xmlns:a16="http://schemas.microsoft.com/office/drawing/2014/main" id="{E0657733-AE8E-DD2F-A964-0F9A244E5D2E}"/>
              </a:ext>
            </a:extLst>
          </p:cNvPr>
          <p:cNvSpPr/>
          <p:nvPr/>
        </p:nvSpPr>
        <p:spPr>
          <a:xfrm flipH="1">
            <a:off x="6371167" y="2628900"/>
            <a:ext cx="1286933" cy="1625600"/>
          </a:xfrm>
          <a:prstGeom prst="line">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标注 13">
            <a:extLst>
              <a:ext uri="{FF2B5EF4-FFF2-40B4-BE49-F238E27FC236}">
                <a16:creationId xmlns:a16="http://schemas.microsoft.com/office/drawing/2014/main" id="{A8812ECF-3A50-74A0-F79C-BA771E4B30E7}"/>
              </a:ext>
            </a:extLst>
          </p:cNvPr>
          <p:cNvSpPr/>
          <p:nvPr/>
        </p:nvSpPr>
        <p:spPr>
          <a:xfrm>
            <a:off x="6972300" y="1517651"/>
            <a:ext cx="1439333"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矩形标注 14">
            <a:extLst>
              <a:ext uri="{FF2B5EF4-FFF2-40B4-BE49-F238E27FC236}">
                <a16:creationId xmlns:a16="http://schemas.microsoft.com/office/drawing/2014/main" id="{7F4C9443-AF00-2395-0CCF-C07A1F9A3E31}"/>
              </a:ext>
            </a:extLst>
          </p:cNvPr>
          <p:cNvSpPr/>
          <p:nvPr/>
        </p:nvSpPr>
        <p:spPr>
          <a:xfrm>
            <a:off x="2743200" y="1517651"/>
            <a:ext cx="1439333"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圆角矩形 16">
            <a:extLst>
              <a:ext uri="{FF2B5EF4-FFF2-40B4-BE49-F238E27FC236}">
                <a16:creationId xmlns:a16="http://schemas.microsoft.com/office/drawing/2014/main" id="{28790614-36E1-E0D2-05D9-098EC396F550}"/>
              </a:ext>
            </a:extLst>
          </p:cNvPr>
          <p:cNvSpPr/>
          <p:nvPr/>
        </p:nvSpPr>
        <p:spPr>
          <a:xfrm>
            <a:off x="8517204" y="1033957"/>
            <a:ext cx="3600451" cy="22436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被优先满足</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1</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被次优来满足，但是交付晚了</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供应</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的分配形成交叉</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p:txBody>
      </p:sp>
      <p:sp>
        <p:nvSpPr>
          <p:cNvPr id="19" name="矩形 26">
            <a:extLst>
              <a:ext uri="{FF2B5EF4-FFF2-40B4-BE49-F238E27FC236}">
                <a16:creationId xmlns:a16="http://schemas.microsoft.com/office/drawing/2014/main" id="{9A301477-F5A4-3EDF-C2D7-9CB4B4BE2301}"/>
              </a:ext>
            </a:extLst>
          </p:cNvPr>
          <p:cNvSpPr/>
          <p:nvPr/>
        </p:nvSpPr>
        <p:spPr>
          <a:xfrm>
            <a:off x="5558367" y="4254500"/>
            <a:ext cx="13843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0" name="直接箭头连接符 29">
            <a:extLst>
              <a:ext uri="{FF2B5EF4-FFF2-40B4-BE49-F238E27FC236}">
                <a16:creationId xmlns:a16="http://schemas.microsoft.com/office/drawing/2014/main" id="{3AA46C42-1D2C-326A-F76B-B031C9115865}"/>
              </a:ext>
            </a:extLst>
          </p:cNvPr>
          <p:cNvCxnSpPr/>
          <p:nvPr/>
        </p:nvCxnSpPr>
        <p:spPr>
          <a:xfrm flipV="1">
            <a:off x="6371167" y="3507317"/>
            <a:ext cx="0" cy="74718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1" name="矩形 31">
            <a:extLst>
              <a:ext uri="{FF2B5EF4-FFF2-40B4-BE49-F238E27FC236}">
                <a16:creationId xmlns:a16="http://schemas.microsoft.com/office/drawing/2014/main" id="{278825ED-ED1C-F7E5-5A27-808A6FD0B414}"/>
              </a:ext>
            </a:extLst>
          </p:cNvPr>
          <p:cNvSpPr/>
          <p:nvPr/>
        </p:nvSpPr>
        <p:spPr>
          <a:xfrm>
            <a:off x="4216400" y="4756151"/>
            <a:ext cx="1297517" cy="584775"/>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新增计划到货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2" name="直接箭头连接符 40">
            <a:extLst>
              <a:ext uri="{FF2B5EF4-FFF2-40B4-BE49-F238E27FC236}">
                <a16:creationId xmlns:a16="http://schemas.microsoft.com/office/drawing/2014/main" id="{98FBDDE1-0AEF-18E2-C35E-21FF66AB0122}"/>
              </a:ext>
            </a:extLst>
          </p:cNvPr>
          <p:cNvCxnSpPr/>
          <p:nvPr/>
        </p:nvCxnSpPr>
        <p:spPr>
          <a:xfrm flipV="1">
            <a:off x="4887384" y="3507317"/>
            <a:ext cx="0" cy="1219200"/>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3" name="Line 58">
            <a:extLst>
              <a:ext uri="{FF2B5EF4-FFF2-40B4-BE49-F238E27FC236}">
                <a16:creationId xmlns:a16="http://schemas.microsoft.com/office/drawing/2014/main" id="{EEDC3217-A347-2B6F-B9D6-775F82CEA784}"/>
              </a:ext>
            </a:extLst>
          </p:cNvPr>
          <p:cNvSpPr/>
          <p:nvPr/>
        </p:nvSpPr>
        <p:spPr>
          <a:xfrm flipH="1">
            <a:off x="2722034" y="2628901"/>
            <a:ext cx="742951" cy="1276351"/>
          </a:xfrm>
          <a:prstGeom prst="line">
            <a:avLst/>
          </a:prstGeom>
          <a:ln w="19050"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a:extLst>
              <a:ext uri="{FF2B5EF4-FFF2-40B4-BE49-F238E27FC236}">
                <a16:creationId xmlns:a16="http://schemas.microsoft.com/office/drawing/2014/main" id="{16EED479-741A-F98B-66DE-45C4D76C00F0}"/>
              </a:ext>
            </a:extLst>
          </p:cNvPr>
          <p:cNvSpPr txBox="1"/>
          <p:nvPr/>
        </p:nvSpPr>
        <p:spPr>
          <a:xfrm rot="-3458914">
            <a:off x="2745318" y="2909070"/>
            <a:ext cx="916516" cy="379463"/>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Reserved by DEMAND2</a:t>
            </a:r>
            <a:endPar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5" name="直接箭头连接符 5">
            <a:extLst>
              <a:ext uri="{FF2B5EF4-FFF2-40B4-BE49-F238E27FC236}">
                <a16:creationId xmlns:a16="http://schemas.microsoft.com/office/drawing/2014/main" id="{55B8AE45-6F3A-AAEE-2C0D-50FA27BFF33C}"/>
              </a:ext>
            </a:extLst>
          </p:cNvPr>
          <p:cNvCxnSpPr>
            <a:cxnSpLocks/>
          </p:cNvCxnSpPr>
          <p:nvPr/>
        </p:nvCxnSpPr>
        <p:spPr>
          <a:xfrm>
            <a:off x="3374814" y="2640917"/>
            <a:ext cx="1496484" cy="1041401"/>
          </a:xfrm>
          <a:prstGeom prst="straightConnector1">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直接箭头连接符 50">
            <a:extLst>
              <a:ext uri="{FF2B5EF4-FFF2-40B4-BE49-F238E27FC236}">
                <a16:creationId xmlns:a16="http://schemas.microsoft.com/office/drawing/2014/main" id="{1A67D773-9036-CDA9-E014-25A45218A556}"/>
              </a:ext>
            </a:extLst>
          </p:cNvPr>
          <p:cNvCxnSpPr>
            <a:endCxn id="12" idx="3"/>
          </p:cNvCxnSpPr>
          <p:nvPr/>
        </p:nvCxnSpPr>
        <p:spPr>
          <a:xfrm flipH="1">
            <a:off x="2709087" y="2658534"/>
            <a:ext cx="726018" cy="2040972"/>
          </a:xfrm>
          <a:prstGeom prst="straightConnector1">
            <a:avLst/>
          </a:prstGeom>
          <a:ln>
            <a:solidFill>
              <a:schemeClr val="bg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7" name="圆角矩形标注 25">
            <a:extLst>
              <a:ext uri="{FF2B5EF4-FFF2-40B4-BE49-F238E27FC236}">
                <a16:creationId xmlns:a16="http://schemas.microsoft.com/office/drawing/2014/main" id="{B231793E-25CD-7428-9876-398F5A6B4DD8}"/>
              </a:ext>
            </a:extLst>
          </p:cNvPr>
          <p:cNvSpPr/>
          <p:nvPr/>
        </p:nvSpPr>
        <p:spPr>
          <a:xfrm>
            <a:off x="1348318" y="2241127"/>
            <a:ext cx="946151" cy="368300"/>
          </a:xfrm>
          <a:prstGeom prst="wedgeRoundRectCallout">
            <a:avLst>
              <a:gd name="adj1" fmla="val 92253"/>
              <a:gd name="adj2" fmla="val 7122"/>
              <a:gd name="adj3" fmla="val 16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Late</a:t>
            </a: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8" name="直接连接符 7">
            <a:extLst>
              <a:ext uri="{FF2B5EF4-FFF2-40B4-BE49-F238E27FC236}">
                <a16:creationId xmlns:a16="http://schemas.microsoft.com/office/drawing/2014/main" id="{4E8C0AB3-FFE3-408B-B011-8936D4FF3669}"/>
              </a:ext>
            </a:extLst>
          </p:cNvPr>
          <p:cNvCxnSpPr/>
          <p:nvPr/>
        </p:nvCxnSpPr>
        <p:spPr>
          <a:xfrm>
            <a:off x="2722033" y="1375834"/>
            <a:ext cx="0" cy="2131484"/>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7">
            <a:extLst>
              <a:ext uri="{FF2B5EF4-FFF2-40B4-BE49-F238E27FC236}">
                <a16:creationId xmlns:a16="http://schemas.microsoft.com/office/drawing/2014/main" id="{10AAE43C-F58C-391E-DFFC-8C6F179CD005}"/>
              </a:ext>
            </a:extLst>
          </p:cNvPr>
          <p:cNvCxnSpPr/>
          <p:nvPr/>
        </p:nvCxnSpPr>
        <p:spPr>
          <a:xfrm>
            <a:off x="4182533" y="1411818"/>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a:extLst>
              <a:ext uri="{FF2B5EF4-FFF2-40B4-BE49-F238E27FC236}">
                <a16:creationId xmlns:a16="http://schemas.microsoft.com/office/drawing/2014/main" id="{5C1C8290-688B-0042-C635-A2EC767CDBDD}"/>
              </a:ext>
            </a:extLst>
          </p:cNvPr>
          <p:cNvCxnSpPr/>
          <p:nvPr/>
        </p:nvCxnSpPr>
        <p:spPr>
          <a:xfrm>
            <a:off x="5528734" y="1473201"/>
            <a:ext cx="29633" cy="4008967"/>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2127C3EE-5A27-28F9-CBE7-DE6F3E421BFA}"/>
              </a:ext>
            </a:extLst>
          </p:cNvPr>
          <p:cNvCxnSpPr/>
          <p:nvPr/>
        </p:nvCxnSpPr>
        <p:spPr>
          <a:xfrm>
            <a:off x="6942667" y="1411818"/>
            <a:ext cx="0" cy="4070351"/>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a:extLst>
              <a:ext uri="{FF2B5EF4-FFF2-40B4-BE49-F238E27FC236}">
                <a16:creationId xmlns:a16="http://schemas.microsoft.com/office/drawing/2014/main" id="{5CAAA153-8635-80A1-C249-CD2B811CA83F}"/>
              </a:ext>
            </a:extLst>
          </p:cNvPr>
          <p:cNvCxnSpPr/>
          <p:nvPr/>
        </p:nvCxnSpPr>
        <p:spPr>
          <a:xfrm>
            <a:off x="8428567" y="1375834"/>
            <a:ext cx="0" cy="4068233"/>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1">
            <a:extLst>
              <a:ext uri="{FF2B5EF4-FFF2-40B4-BE49-F238E27FC236}">
                <a16:creationId xmlns:a16="http://schemas.microsoft.com/office/drawing/2014/main" id="{7C2E9B62-3FAC-B74F-9328-50782AA1316A}"/>
              </a:ext>
            </a:extLst>
          </p:cNvPr>
          <p:cNvSpPr txBox="1"/>
          <p:nvPr/>
        </p:nvSpPr>
        <p:spPr>
          <a:xfrm>
            <a:off x="1153584" y="941918"/>
            <a:ext cx="1589616"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4" name="文本框 1">
            <a:extLst>
              <a:ext uri="{FF2B5EF4-FFF2-40B4-BE49-F238E27FC236}">
                <a16:creationId xmlns:a16="http://schemas.microsoft.com/office/drawing/2014/main" id="{FE49B3BD-3137-D3A8-78A4-16B9C6F76A5F}"/>
              </a:ext>
            </a:extLst>
          </p:cNvPr>
          <p:cNvSpPr txBox="1"/>
          <p:nvPr/>
        </p:nvSpPr>
        <p:spPr>
          <a:xfrm>
            <a:off x="2580005" y="94191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5" name="文本框 1">
            <a:extLst>
              <a:ext uri="{FF2B5EF4-FFF2-40B4-BE49-F238E27FC236}">
                <a16:creationId xmlns:a16="http://schemas.microsoft.com/office/drawing/2014/main" id="{7F74220B-9DC9-A83E-95B6-3CF9D3C3E7B2}"/>
              </a:ext>
            </a:extLst>
          </p:cNvPr>
          <p:cNvSpPr txBox="1"/>
          <p:nvPr/>
        </p:nvSpPr>
        <p:spPr>
          <a:xfrm>
            <a:off x="555625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6" name="文本框 1">
            <a:extLst>
              <a:ext uri="{FF2B5EF4-FFF2-40B4-BE49-F238E27FC236}">
                <a16:creationId xmlns:a16="http://schemas.microsoft.com/office/drawing/2014/main" id="{4336B5FF-54FF-CC89-0B93-E6C574D6773A}"/>
              </a:ext>
            </a:extLst>
          </p:cNvPr>
          <p:cNvSpPr txBox="1"/>
          <p:nvPr/>
        </p:nvSpPr>
        <p:spPr>
          <a:xfrm>
            <a:off x="7001934" y="9419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5</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7" name="文本框 7">
            <a:extLst>
              <a:ext uri="{FF2B5EF4-FFF2-40B4-BE49-F238E27FC236}">
                <a16:creationId xmlns:a16="http://schemas.microsoft.com/office/drawing/2014/main" id="{A2D7F6F8-DE35-FB16-08C1-2BAB984D497B}"/>
              </a:ext>
            </a:extLst>
          </p:cNvPr>
          <p:cNvSpPr txBox="1"/>
          <p:nvPr/>
        </p:nvSpPr>
        <p:spPr>
          <a:xfrm>
            <a:off x="10192400" y="3308407"/>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p>
        </p:txBody>
      </p:sp>
      <p:sp>
        <p:nvSpPr>
          <p:cNvPr id="3" name="文本框 1">
            <a:extLst>
              <a:ext uri="{FF2B5EF4-FFF2-40B4-BE49-F238E27FC236}">
                <a16:creationId xmlns:a16="http://schemas.microsoft.com/office/drawing/2014/main" id="{AAE23347-2A89-64AA-20F1-17019B6C2072}"/>
              </a:ext>
            </a:extLst>
          </p:cNvPr>
          <p:cNvSpPr txBox="1"/>
          <p:nvPr/>
        </p:nvSpPr>
        <p:spPr>
          <a:xfrm>
            <a:off x="4076025" y="9419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38" name="TextBox 30">
            <a:extLst>
              <a:ext uri="{FF2B5EF4-FFF2-40B4-BE49-F238E27FC236}">
                <a16:creationId xmlns:a16="http://schemas.microsoft.com/office/drawing/2014/main" id="{11892603-3C8F-9488-24BF-AA05C7EE9661}"/>
              </a:ext>
            </a:extLst>
          </p:cNvPr>
          <p:cNvSpPr txBox="1"/>
          <p:nvPr/>
        </p:nvSpPr>
        <p:spPr>
          <a:xfrm>
            <a:off x="991435" y="5444067"/>
            <a:ext cx="4497507"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足够</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1541224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24"/>
                                        </p:tgtEl>
                                      </p:cBhvr>
                                    </p:animEffect>
                                    <p:set>
                                      <p:cBhvr>
                                        <p:cTn id="29" dur="1" fill="hold">
                                          <p:stCondLst>
                                            <p:cond delay="499"/>
                                          </p:stCondLst>
                                        </p:cTn>
                                        <p:tgtEl>
                                          <p:spTgt spid="24"/>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42" presetClass="entr" presetSubtype="0" fill="hold" grpId="0" nodeType="withEffect">
                                  <p:stCondLst>
                                    <p:cond delay="0"/>
                                  </p:stCondLst>
                                  <p:iterate type="lt">
                                    <p:tmPct val="0"/>
                                  </p:iterate>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5" presetClass="emph" presetSubtype="0" fill="hold" nodeType="clickEffect">
                                  <p:stCondLst>
                                    <p:cond delay="0"/>
                                  </p:stCondLst>
                                  <p:childTnLst>
                                    <p:anim calcmode="discrete" valueType="str">
                                      <p:cBhvr>
                                        <p:cTn id="52"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53" fill="hold">
                      <p:stCondLst>
                        <p:cond delay="indefinite"/>
                      </p:stCondLst>
                      <p:childTnLst>
                        <p:par>
                          <p:cTn id="54" fill="hold">
                            <p:stCondLst>
                              <p:cond delay="0"/>
                            </p:stCondLst>
                            <p:childTnLst>
                              <p:par>
                                <p:cTn id="55" presetID="35" presetClass="emph" presetSubtype="0" fill="hold" nodeType="clickEffect">
                                  <p:stCondLst>
                                    <p:cond delay="0"/>
                                  </p:stCondLst>
                                  <p:childTnLst>
                                    <p:anim calcmode="discrete" valueType="str">
                                      <p:cBhvr>
                                        <p:cTn id="56"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24" grpId="0"/>
      <p:bldP spid="24" grpId="1"/>
      <p:bldP spid="27"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41AB-25D8-E975-6A96-A444B06187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7348CC-3349-B10A-E4EF-1A397E9A2F68}"/>
              </a:ext>
            </a:extLst>
          </p:cNvPr>
          <p:cNvSpPr>
            <a:spLocks noGrp="1"/>
          </p:cNvSpPr>
          <p:nvPr>
            <p:ph type="title"/>
          </p:nvPr>
        </p:nvSpPr>
        <p:spPr>
          <a:xfrm>
            <a:off x="991435" y="14057"/>
            <a:ext cx="10714759" cy="711202"/>
          </a:xfrm>
        </p:spPr>
        <p:txBody>
          <a:bodyPr>
            <a:normAutofit/>
          </a:bodyPr>
          <a:lstStyle/>
          <a:p>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j-cs"/>
              </a:rPr>
              <a:t>物料和资源分配可以优化</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供应</a:t>
            </a:r>
            <a:r>
              <a:rPr lang="en-US" altLang="zh-CN" dirty="0">
                <a:latin typeface="Arial" panose="020B0604020202020204" pitchFamily="34" charset="0"/>
                <a:ea typeface="微软雅黑" panose="020B0503020204020204" pitchFamily="34" charset="-122"/>
              </a:rPr>
              <a:t>pull-in</a:t>
            </a:r>
            <a:r>
              <a:rPr lang="zh-CN" altLang="en-US" dirty="0">
                <a:latin typeface="Arial" panose="020B0604020202020204" pitchFamily="34" charset="0"/>
                <a:ea typeface="微软雅黑" panose="020B0503020204020204" pitchFamily="34" charset="-122"/>
              </a:rPr>
              <a:t>带来的挑战</a:t>
            </a:r>
          </a:p>
        </p:txBody>
      </p:sp>
      <p:cxnSp>
        <p:nvCxnSpPr>
          <p:cNvPr id="4" name="直接箭头连接符 6">
            <a:extLst>
              <a:ext uri="{FF2B5EF4-FFF2-40B4-BE49-F238E27FC236}">
                <a16:creationId xmlns:a16="http://schemas.microsoft.com/office/drawing/2014/main" id="{E87EEB3C-3897-60A9-F925-9623C4D7249E}"/>
              </a:ext>
            </a:extLst>
          </p:cNvPr>
          <p:cNvCxnSpPr/>
          <p:nvPr/>
        </p:nvCxnSpPr>
        <p:spPr>
          <a:xfrm>
            <a:off x="715434" y="3558117"/>
            <a:ext cx="93345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a:extLst>
              <a:ext uri="{FF2B5EF4-FFF2-40B4-BE49-F238E27FC236}">
                <a16:creationId xmlns:a16="http://schemas.microsoft.com/office/drawing/2014/main" id="{0DD3380D-9595-1C6C-9E29-0F108C6BBDED}"/>
              </a:ext>
            </a:extLst>
          </p:cNvPr>
          <p:cNvCxnSpPr>
            <a:stCxn id="22" idx="0"/>
          </p:cNvCxnSpPr>
          <p:nvPr/>
        </p:nvCxnSpPr>
        <p:spPr>
          <a:xfrm>
            <a:off x="3579285" y="2679700"/>
            <a:ext cx="6351" cy="914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a:extLst>
              <a:ext uri="{FF2B5EF4-FFF2-40B4-BE49-F238E27FC236}">
                <a16:creationId xmlns:a16="http://schemas.microsoft.com/office/drawing/2014/main" id="{0B41DD3B-7A97-7251-2D75-4C2BB41C9C6A}"/>
              </a:ext>
            </a:extLst>
          </p:cNvPr>
          <p:cNvCxnSpPr>
            <a:cxnSpLocks/>
          </p:cNvCxnSpPr>
          <p:nvPr/>
        </p:nvCxnSpPr>
        <p:spPr>
          <a:xfrm>
            <a:off x="4934148" y="2686051"/>
            <a:ext cx="0" cy="8784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a:extLst>
              <a:ext uri="{FF2B5EF4-FFF2-40B4-BE49-F238E27FC236}">
                <a16:creationId xmlns:a16="http://schemas.microsoft.com/office/drawing/2014/main" id="{E3209A65-1FB6-DA21-4F05-622728538EDC}"/>
              </a:ext>
            </a:extLst>
          </p:cNvPr>
          <p:cNvCxnSpPr/>
          <p:nvPr/>
        </p:nvCxnSpPr>
        <p:spPr>
          <a:xfrm flipV="1">
            <a:off x="2755900" y="3558118"/>
            <a:ext cx="0" cy="6731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a:extLst>
              <a:ext uri="{FF2B5EF4-FFF2-40B4-BE49-F238E27FC236}">
                <a16:creationId xmlns:a16="http://schemas.microsoft.com/office/drawing/2014/main" id="{7555AA97-AD94-C362-09C8-1363A24EBB48}"/>
              </a:ext>
            </a:extLst>
          </p:cNvPr>
          <p:cNvCxnSpPr/>
          <p:nvPr/>
        </p:nvCxnSpPr>
        <p:spPr>
          <a:xfrm flipV="1">
            <a:off x="2755900" y="4434417"/>
            <a:ext cx="0" cy="67098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矩形 27">
            <a:extLst>
              <a:ext uri="{FF2B5EF4-FFF2-40B4-BE49-F238E27FC236}">
                <a16:creationId xmlns:a16="http://schemas.microsoft.com/office/drawing/2014/main" id="{8018768D-B9FC-1399-8CB3-5CD817F56D81}"/>
              </a:ext>
            </a:extLst>
          </p:cNvPr>
          <p:cNvSpPr/>
          <p:nvPr/>
        </p:nvSpPr>
        <p:spPr>
          <a:xfrm>
            <a:off x="2906869" y="2304040"/>
            <a:ext cx="1344084"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0" name="矩形 38">
            <a:extLst>
              <a:ext uri="{FF2B5EF4-FFF2-40B4-BE49-F238E27FC236}">
                <a16:creationId xmlns:a16="http://schemas.microsoft.com/office/drawing/2014/main" id="{681E14F1-7512-8C56-2AC1-A4CC46F5B9E1}"/>
              </a:ext>
            </a:extLst>
          </p:cNvPr>
          <p:cNvSpPr/>
          <p:nvPr/>
        </p:nvSpPr>
        <p:spPr>
          <a:xfrm>
            <a:off x="4301718" y="2300479"/>
            <a:ext cx="1344084"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28">
            <a:extLst>
              <a:ext uri="{FF2B5EF4-FFF2-40B4-BE49-F238E27FC236}">
                <a16:creationId xmlns:a16="http://schemas.microsoft.com/office/drawing/2014/main" id="{D6C65CAE-871C-6208-F34D-A30FCB53789C}"/>
              </a:ext>
            </a:extLst>
          </p:cNvPr>
          <p:cNvSpPr/>
          <p:nvPr/>
        </p:nvSpPr>
        <p:spPr>
          <a:xfrm>
            <a:off x="1172633" y="3750733"/>
            <a:ext cx="1390651"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41">
            <a:extLst>
              <a:ext uri="{FF2B5EF4-FFF2-40B4-BE49-F238E27FC236}">
                <a16:creationId xmlns:a16="http://schemas.microsoft.com/office/drawing/2014/main" id="{1635A82C-4EDD-F5B9-DC1A-08610A0641BE}"/>
              </a:ext>
            </a:extLst>
          </p:cNvPr>
          <p:cNvSpPr/>
          <p:nvPr/>
        </p:nvSpPr>
        <p:spPr>
          <a:xfrm>
            <a:off x="1172633" y="4565651"/>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a:extLst>
              <a:ext uri="{FF2B5EF4-FFF2-40B4-BE49-F238E27FC236}">
                <a16:creationId xmlns:a16="http://schemas.microsoft.com/office/drawing/2014/main" id="{5A2DECA7-DF60-7A99-D636-73BE829D8E2A}"/>
              </a:ext>
            </a:extLst>
          </p:cNvPr>
          <p:cNvSpPr/>
          <p:nvPr/>
        </p:nvSpPr>
        <p:spPr>
          <a:xfrm flipH="1">
            <a:off x="2755899" y="2669788"/>
            <a:ext cx="2180857" cy="1286264"/>
          </a:xfrm>
          <a:prstGeom prst="line">
            <a:avLst/>
          </a:prstGeom>
          <a:ln w="9525" cap="flat" cmpd="sng">
            <a:solidFill>
              <a:schemeClr val="tx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 name="Line 58">
            <a:extLst>
              <a:ext uri="{FF2B5EF4-FFF2-40B4-BE49-F238E27FC236}">
                <a16:creationId xmlns:a16="http://schemas.microsoft.com/office/drawing/2014/main" id="{DE2D98C8-B027-050F-CD86-F724140B50FE}"/>
              </a:ext>
            </a:extLst>
          </p:cNvPr>
          <p:cNvSpPr/>
          <p:nvPr/>
        </p:nvSpPr>
        <p:spPr>
          <a:xfrm>
            <a:off x="5003392" y="2684605"/>
            <a:ext cx="1196633" cy="1450555"/>
          </a:xfrm>
          <a:prstGeom prst="line">
            <a:avLst/>
          </a:prstGeom>
          <a:ln w="9525" cap="flat" cmpd="sng">
            <a:solidFill>
              <a:schemeClr val="tx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 name="矩形标注 12">
            <a:extLst>
              <a:ext uri="{FF2B5EF4-FFF2-40B4-BE49-F238E27FC236}">
                <a16:creationId xmlns:a16="http://schemas.microsoft.com/office/drawing/2014/main" id="{7179120A-B9FB-27E9-470C-A928F799C7BA}"/>
              </a:ext>
            </a:extLst>
          </p:cNvPr>
          <p:cNvSpPr/>
          <p:nvPr/>
        </p:nvSpPr>
        <p:spPr>
          <a:xfrm>
            <a:off x="4244638" y="1228669"/>
            <a:ext cx="1256579" cy="508000"/>
          </a:xfrm>
          <a:prstGeom prst="wedgeRectCallout">
            <a:avLst>
              <a:gd name="adj1" fmla="val 782"/>
              <a:gd name="adj2" fmla="val 90562"/>
            </a:avLst>
          </a:prstGeom>
          <a:solidFill>
            <a:srgbClr val="7030A0"/>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6" name="矩形标注 13">
            <a:extLst>
              <a:ext uri="{FF2B5EF4-FFF2-40B4-BE49-F238E27FC236}">
                <a16:creationId xmlns:a16="http://schemas.microsoft.com/office/drawing/2014/main" id="{70C8A5AC-63D1-C13E-C2A4-DF250C3D2088}"/>
              </a:ext>
            </a:extLst>
          </p:cNvPr>
          <p:cNvSpPr/>
          <p:nvPr/>
        </p:nvSpPr>
        <p:spPr>
          <a:xfrm>
            <a:off x="2873750" y="1251764"/>
            <a:ext cx="1345177" cy="510117"/>
          </a:xfrm>
          <a:prstGeom prst="wedgeRectCallout">
            <a:avLst>
              <a:gd name="adj1" fmla="val 782"/>
              <a:gd name="adj2" fmla="val 90562"/>
            </a:avLst>
          </a:prstGeom>
          <a:solidFill>
            <a:srgbClr val="7030A0"/>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矩形 26">
            <a:extLst>
              <a:ext uri="{FF2B5EF4-FFF2-40B4-BE49-F238E27FC236}">
                <a16:creationId xmlns:a16="http://schemas.microsoft.com/office/drawing/2014/main" id="{4F6A81DE-CCC7-846B-599E-0D15AEE680C0}"/>
              </a:ext>
            </a:extLst>
          </p:cNvPr>
          <p:cNvSpPr/>
          <p:nvPr/>
        </p:nvSpPr>
        <p:spPr>
          <a:xfrm>
            <a:off x="5501217" y="4305300"/>
            <a:ext cx="132926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 </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19" name="直接箭头连接符 29">
            <a:extLst>
              <a:ext uri="{FF2B5EF4-FFF2-40B4-BE49-F238E27FC236}">
                <a16:creationId xmlns:a16="http://schemas.microsoft.com/office/drawing/2014/main" id="{42846B11-1A54-0C6F-4852-F6751478E3FA}"/>
              </a:ext>
            </a:extLst>
          </p:cNvPr>
          <p:cNvCxnSpPr>
            <a:stCxn id="18" idx="0"/>
          </p:cNvCxnSpPr>
          <p:nvPr/>
        </p:nvCxnSpPr>
        <p:spPr>
          <a:xfrm flipV="1">
            <a:off x="6165851" y="3564468"/>
            <a:ext cx="0" cy="74083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矩形 31">
            <a:extLst>
              <a:ext uri="{FF2B5EF4-FFF2-40B4-BE49-F238E27FC236}">
                <a16:creationId xmlns:a16="http://schemas.microsoft.com/office/drawing/2014/main" id="{5000F43F-57A7-B669-800E-ECA1CC042986}"/>
              </a:ext>
            </a:extLst>
          </p:cNvPr>
          <p:cNvSpPr/>
          <p:nvPr/>
        </p:nvSpPr>
        <p:spPr>
          <a:xfrm>
            <a:off x="4273551" y="4836584"/>
            <a:ext cx="12319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1" name="直接箭头连接符 40">
            <a:extLst>
              <a:ext uri="{FF2B5EF4-FFF2-40B4-BE49-F238E27FC236}">
                <a16:creationId xmlns:a16="http://schemas.microsoft.com/office/drawing/2014/main" id="{F5272962-31F9-0190-BFE6-72FD0799C5A6}"/>
              </a:ext>
            </a:extLst>
          </p:cNvPr>
          <p:cNvCxnSpPr>
            <a:stCxn id="20" idx="0"/>
          </p:cNvCxnSpPr>
          <p:nvPr/>
        </p:nvCxnSpPr>
        <p:spPr>
          <a:xfrm flipV="1">
            <a:off x="4889501" y="3558117"/>
            <a:ext cx="29632" cy="127846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Line 58">
            <a:extLst>
              <a:ext uri="{FF2B5EF4-FFF2-40B4-BE49-F238E27FC236}">
                <a16:creationId xmlns:a16="http://schemas.microsoft.com/office/drawing/2014/main" id="{154237A9-5914-1248-0E6C-0893B360B70B}"/>
              </a:ext>
            </a:extLst>
          </p:cNvPr>
          <p:cNvSpPr/>
          <p:nvPr/>
        </p:nvSpPr>
        <p:spPr>
          <a:xfrm flipH="1">
            <a:off x="2755900" y="2679701"/>
            <a:ext cx="823384" cy="1276351"/>
          </a:xfrm>
          <a:prstGeom prst="line">
            <a:avLst/>
          </a:prstGeom>
          <a:ln w="9525" cap="flat" cmpd="sng">
            <a:solidFill>
              <a:schemeClr val="tx1"/>
            </a:solidFill>
            <a:prstDash val="dashDot"/>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21799BC0-C949-FBC4-24E8-7AB15AE4C65F}"/>
              </a:ext>
            </a:extLst>
          </p:cNvPr>
          <p:cNvSpPr txBox="1"/>
          <p:nvPr/>
        </p:nvSpPr>
        <p:spPr>
          <a:xfrm rot="-3433726">
            <a:off x="2644617" y="2976176"/>
            <a:ext cx="914400" cy="23589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被需求</a:t>
            </a:r>
            <a:r>
              <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占用</a:t>
            </a:r>
            <a:endPar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4" name="直接箭头连接符 5">
            <a:extLst>
              <a:ext uri="{FF2B5EF4-FFF2-40B4-BE49-F238E27FC236}">
                <a16:creationId xmlns:a16="http://schemas.microsoft.com/office/drawing/2014/main" id="{4FA2028F-D9EC-A46D-FB50-7B1DE69FFA39}"/>
              </a:ext>
            </a:extLst>
          </p:cNvPr>
          <p:cNvCxnSpPr>
            <a:cxnSpLocks/>
            <a:stCxn id="22" idx="0"/>
            <a:endCxn id="20" idx="0"/>
          </p:cNvCxnSpPr>
          <p:nvPr/>
        </p:nvCxnSpPr>
        <p:spPr>
          <a:xfrm>
            <a:off x="3579284" y="2679701"/>
            <a:ext cx="1310217" cy="2156883"/>
          </a:xfrm>
          <a:prstGeom prst="straightConnector1">
            <a:avLst/>
          </a:prstGeom>
          <a:ln w="9525" cap="flat" cmpd="sng">
            <a:solidFill>
              <a:schemeClr val="tx1"/>
            </a:solidFill>
            <a:prstDash val="lgDash"/>
            <a:headEnd type="none" w="med" len="med"/>
            <a:tailEnd type="triangle" w="med" len="med"/>
          </a:ln>
        </p:spPr>
      </p:cxnSp>
      <p:cxnSp>
        <p:nvCxnSpPr>
          <p:cNvPr id="25" name="直接箭头连接符 50">
            <a:extLst>
              <a:ext uri="{FF2B5EF4-FFF2-40B4-BE49-F238E27FC236}">
                <a16:creationId xmlns:a16="http://schemas.microsoft.com/office/drawing/2014/main" id="{8CB2EC32-B240-15FD-EE1D-48010BF042D7}"/>
              </a:ext>
            </a:extLst>
          </p:cNvPr>
          <p:cNvCxnSpPr>
            <a:stCxn id="22" idx="0"/>
          </p:cNvCxnSpPr>
          <p:nvPr/>
        </p:nvCxnSpPr>
        <p:spPr>
          <a:xfrm flipH="1">
            <a:off x="2743201" y="2679701"/>
            <a:ext cx="836084" cy="2097617"/>
          </a:xfrm>
          <a:prstGeom prst="straightConnector1">
            <a:avLst/>
          </a:prstGeom>
          <a:ln w="9525" cap="flat" cmpd="sng">
            <a:solidFill>
              <a:schemeClr val="tx1"/>
            </a:solidFill>
            <a:prstDash val="lgDash"/>
            <a:headEnd type="none" w="med" len="med"/>
            <a:tailEnd type="triangle" w="med" len="med"/>
          </a:ln>
        </p:spPr>
      </p:cxnSp>
      <p:sp>
        <p:nvSpPr>
          <p:cNvPr id="26" name="圆角矩形标注 24">
            <a:extLst>
              <a:ext uri="{FF2B5EF4-FFF2-40B4-BE49-F238E27FC236}">
                <a16:creationId xmlns:a16="http://schemas.microsoft.com/office/drawing/2014/main" id="{C8F231C5-98F5-4873-CADA-3294DB75A058}"/>
              </a:ext>
            </a:extLst>
          </p:cNvPr>
          <p:cNvSpPr/>
          <p:nvPr/>
        </p:nvSpPr>
        <p:spPr>
          <a:xfrm>
            <a:off x="1375833" y="1892300"/>
            <a:ext cx="1380067" cy="414867"/>
          </a:xfrm>
          <a:prstGeom prst="wedgeRoundRectCallout">
            <a:avLst>
              <a:gd name="adj1" fmla="val 86096"/>
              <a:gd name="adj2" fmla="val 93018"/>
              <a:gd name="adj3" fmla="val 16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Late</a:t>
            </a: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7" name="直接箭头连接符 3">
            <a:extLst>
              <a:ext uri="{FF2B5EF4-FFF2-40B4-BE49-F238E27FC236}">
                <a16:creationId xmlns:a16="http://schemas.microsoft.com/office/drawing/2014/main" id="{C72C1348-26AF-F800-EDF8-A77E41BB89C8}"/>
              </a:ext>
            </a:extLst>
          </p:cNvPr>
          <p:cNvCxnSpPr>
            <a:cxnSpLocks/>
            <a:stCxn id="10" idx="2"/>
          </p:cNvCxnSpPr>
          <p:nvPr/>
        </p:nvCxnSpPr>
        <p:spPr>
          <a:xfrm>
            <a:off x="4973760" y="2669789"/>
            <a:ext cx="66634" cy="2133095"/>
          </a:xfrm>
          <a:prstGeom prst="straightConnector1">
            <a:avLst/>
          </a:prstGeom>
          <a:ln w="9525" cap="flat" cmpd="sng">
            <a:solidFill>
              <a:schemeClr val="tx1"/>
            </a:solidFill>
            <a:prstDash val="lgDash"/>
            <a:headEnd type="none" w="med" len="med"/>
            <a:tailEnd type="triangle" w="med" len="med"/>
          </a:ln>
        </p:spPr>
      </p:cxnSp>
      <p:sp>
        <p:nvSpPr>
          <p:cNvPr id="28" name="圆角矩形标注 26">
            <a:extLst>
              <a:ext uri="{FF2B5EF4-FFF2-40B4-BE49-F238E27FC236}">
                <a16:creationId xmlns:a16="http://schemas.microsoft.com/office/drawing/2014/main" id="{6332BE33-771C-47F2-A7F4-1F07B24456A0}"/>
              </a:ext>
            </a:extLst>
          </p:cNvPr>
          <p:cNvSpPr/>
          <p:nvPr/>
        </p:nvSpPr>
        <p:spPr>
          <a:xfrm>
            <a:off x="641730" y="2420176"/>
            <a:ext cx="2123017" cy="747184"/>
          </a:xfrm>
          <a:prstGeom prst="wedgeRoundRectCallout">
            <a:avLst>
              <a:gd name="adj1" fmla="val 70738"/>
              <a:gd name="adj2" fmla="val -32831"/>
              <a:gd name="adj3" fmla="val 16667"/>
            </a:avLst>
          </a:prstGeom>
          <a:solidFill>
            <a:srgbClr val="00B050"/>
          </a:solidFill>
          <a:ln>
            <a:solidFill>
              <a:srgbClr val="57CC00"/>
            </a:solidFill>
          </a:ln>
        </p:spPr>
        <p:style>
          <a:lnRef idx="1">
            <a:schemeClr val="dk1"/>
          </a:lnRef>
          <a:fillRef idx="2">
            <a:schemeClr val="dk1"/>
          </a:fillRef>
          <a:effectRef idx="1">
            <a:schemeClr val="dk1"/>
          </a:effectRef>
          <a:fontRef idx="minor">
            <a:schemeClr val="dk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Met requirement and create MO</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9" name="直接连接符 7">
            <a:extLst>
              <a:ext uri="{FF2B5EF4-FFF2-40B4-BE49-F238E27FC236}">
                <a16:creationId xmlns:a16="http://schemas.microsoft.com/office/drawing/2014/main" id="{77F0E889-2DD4-9161-62C1-B158E898F23E}"/>
              </a:ext>
            </a:extLst>
          </p:cNvPr>
          <p:cNvCxnSpPr/>
          <p:nvPr/>
        </p:nvCxnSpPr>
        <p:spPr>
          <a:xfrm>
            <a:off x="2772715" y="1361018"/>
            <a:ext cx="0" cy="219710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a:extLst>
              <a:ext uri="{FF2B5EF4-FFF2-40B4-BE49-F238E27FC236}">
                <a16:creationId xmlns:a16="http://schemas.microsoft.com/office/drawing/2014/main" id="{6A9B046A-1EBF-DBD5-25E2-C3EEC1524CB6}"/>
              </a:ext>
            </a:extLst>
          </p:cNvPr>
          <p:cNvCxnSpPr/>
          <p:nvPr/>
        </p:nvCxnSpPr>
        <p:spPr>
          <a:xfrm>
            <a:off x="4286251" y="136101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533067DC-78CE-65C0-4004-0BBD772D010E}"/>
              </a:ext>
            </a:extLst>
          </p:cNvPr>
          <p:cNvCxnSpPr/>
          <p:nvPr/>
        </p:nvCxnSpPr>
        <p:spPr>
          <a:xfrm>
            <a:off x="5505451" y="141816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a:extLst>
              <a:ext uri="{FF2B5EF4-FFF2-40B4-BE49-F238E27FC236}">
                <a16:creationId xmlns:a16="http://schemas.microsoft.com/office/drawing/2014/main" id="{B4495523-2B14-D925-ED6E-1B386E65AD56}"/>
              </a:ext>
            </a:extLst>
          </p:cNvPr>
          <p:cNvCxnSpPr/>
          <p:nvPr/>
        </p:nvCxnSpPr>
        <p:spPr>
          <a:xfrm>
            <a:off x="6830484" y="141816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 name="圆角矩形 45">
            <a:extLst>
              <a:ext uri="{FF2B5EF4-FFF2-40B4-BE49-F238E27FC236}">
                <a16:creationId xmlns:a16="http://schemas.microsoft.com/office/drawing/2014/main" id="{C9701345-1491-39F2-0BD9-B921FD79013B}"/>
              </a:ext>
            </a:extLst>
          </p:cNvPr>
          <p:cNvSpPr/>
          <p:nvPr/>
        </p:nvSpPr>
        <p:spPr>
          <a:xfrm>
            <a:off x="8358718" y="3769784"/>
            <a:ext cx="3253317" cy="143933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软分配物料和资源</a:t>
            </a:r>
            <a:endPar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在影响交期承诺的前提下释放资源给优先级低</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新需求</a:t>
            </a:r>
            <a:endPar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0" name="圆角矩形标注 51">
            <a:extLst>
              <a:ext uri="{FF2B5EF4-FFF2-40B4-BE49-F238E27FC236}">
                <a16:creationId xmlns:a16="http://schemas.microsoft.com/office/drawing/2014/main" id="{1BC90B40-ED93-BF84-7D13-9AE28C7E267B}"/>
              </a:ext>
            </a:extLst>
          </p:cNvPr>
          <p:cNvSpPr/>
          <p:nvPr/>
        </p:nvSpPr>
        <p:spPr>
          <a:xfrm>
            <a:off x="4064334" y="1699438"/>
            <a:ext cx="1380067" cy="372533"/>
          </a:xfrm>
          <a:prstGeom prst="wedgeRoundRectCallout">
            <a:avLst>
              <a:gd name="adj1" fmla="val 67310"/>
              <a:gd name="adj2" fmla="val 101445"/>
              <a:gd name="adj3" fmla="val 16667"/>
            </a:avLst>
          </a:prstGeom>
          <a:solidFill>
            <a:srgbClr val="00AA48"/>
          </a:solidFill>
          <a:ln/>
        </p:spPr>
        <p:style>
          <a:lnRef idx="1">
            <a:schemeClr val="accent6"/>
          </a:lnRef>
          <a:fillRef idx="2">
            <a:schemeClr val="accent6"/>
          </a:fillRef>
          <a:effectRef idx="1">
            <a:schemeClr val="accent6"/>
          </a:effectRef>
          <a:fontRef idx="minor">
            <a:schemeClr val="dk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No Later</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41" name="文本框 40">
            <a:extLst>
              <a:ext uri="{FF2B5EF4-FFF2-40B4-BE49-F238E27FC236}">
                <a16:creationId xmlns:a16="http://schemas.microsoft.com/office/drawing/2014/main" id="{7A9545F6-7FB3-4BC3-CD70-A7DD812759C0}"/>
              </a:ext>
            </a:extLst>
          </p:cNvPr>
          <p:cNvSpPr txBox="1"/>
          <p:nvPr/>
        </p:nvSpPr>
        <p:spPr>
          <a:xfrm>
            <a:off x="10029111" y="3388840"/>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E3E7F2">
                    <a:lumMod val="60000"/>
                    <a:lumOff val="40000"/>
                  </a:srgbClr>
                </a:solidFill>
                <a:effectLst/>
                <a:uLnTx/>
                <a:uFillTx/>
                <a:latin typeface="Arial" panose="020B0604020202020204" pitchFamily="34" charset="0"/>
                <a:ea typeface="微软雅黑" panose="020B0503020204020204" pitchFamily="34" charset="-122"/>
                <a:cs typeface="+mn-cs"/>
              </a:rPr>
              <a:t>需求日期</a:t>
            </a:r>
          </a:p>
        </p:txBody>
      </p:sp>
      <p:sp>
        <p:nvSpPr>
          <p:cNvPr id="3" name="文本框 2">
            <a:extLst>
              <a:ext uri="{FF2B5EF4-FFF2-40B4-BE49-F238E27FC236}">
                <a16:creationId xmlns:a16="http://schemas.microsoft.com/office/drawing/2014/main" id="{FF44EEAC-52B2-1E8E-D247-FD27C570554E}"/>
              </a:ext>
            </a:extLst>
          </p:cNvPr>
          <p:cNvSpPr txBox="1"/>
          <p:nvPr/>
        </p:nvSpPr>
        <p:spPr>
          <a:xfrm>
            <a:off x="158195" y="1373436"/>
            <a:ext cx="11041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en-US" altLang="zh-CN" sz="1800" b="0" i="0" u="none" strike="noStrike" kern="1200" cap="none" spc="0" normalizeH="0" baseline="30000" noProof="0" dirty="0">
                <a:ln>
                  <a:noFill/>
                </a:ln>
                <a:solidFill>
                  <a:srgbClr val="FFFFFF"/>
                </a:solidFill>
                <a:effectLst/>
                <a:uLnTx/>
                <a:uFillTx/>
                <a:latin typeface="Arial" panose="020B0604020202020204" pitchFamily="34" charset="0"/>
                <a:ea typeface="微软雅黑" panose="020B0503020204020204" pitchFamily="34" charset="-122"/>
                <a:cs typeface="+mn-cs"/>
              </a:rPr>
              <a:t>st</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RUN</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2" name="文本框 1">
            <a:extLst>
              <a:ext uri="{FF2B5EF4-FFF2-40B4-BE49-F238E27FC236}">
                <a16:creationId xmlns:a16="http://schemas.microsoft.com/office/drawing/2014/main" id="{41E56AF8-E1A9-C16B-4C14-5AA9327A3AD8}"/>
              </a:ext>
            </a:extLst>
          </p:cNvPr>
          <p:cNvSpPr txBox="1"/>
          <p:nvPr/>
        </p:nvSpPr>
        <p:spPr>
          <a:xfrm>
            <a:off x="1153584" y="941918"/>
            <a:ext cx="1589616"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3" name="文本框 1">
            <a:extLst>
              <a:ext uri="{FF2B5EF4-FFF2-40B4-BE49-F238E27FC236}">
                <a16:creationId xmlns:a16="http://schemas.microsoft.com/office/drawing/2014/main" id="{264BDAF5-A6A1-30BE-1DB6-D8ED2FA8ADB0}"/>
              </a:ext>
            </a:extLst>
          </p:cNvPr>
          <p:cNvSpPr txBox="1"/>
          <p:nvPr/>
        </p:nvSpPr>
        <p:spPr>
          <a:xfrm>
            <a:off x="2580005" y="94191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4" name="文本框 1">
            <a:extLst>
              <a:ext uri="{FF2B5EF4-FFF2-40B4-BE49-F238E27FC236}">
                <a16:creationId xmlns:a16="http://schemas.microsoft.com/office/drawing/2014/main" id="{FE6B8CFB-91FA-CDD7-E621-2362B9FDC979}"/>
              </a:ext>
            </a:extLst>
          </p:cNvPr>
          <p:cNvSpPr txBox="1"/>
          <p:nvPr/>
        </p:nvSpPr>
        <p:spPr>
          <a:xfrm>
            <a:off x="555625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5" name="文本框 1">
            <a:extLst>
              <a:ext uri="{FF2B5EF4-FFF2-40B4-BE49-F238E27FC236}">
                <a16:creationId xmlns:a16="http://schemas.microsoft.com/office/drawing/2014/main" id="{03C57F77-31C2-5FF3-5653-AC74661CC9EC}"/>
              </a:ext>
            </a:extLst>
          </p:cNvPr>
          <p:cNvSpPr txBox="1"/>
          <p:nvPr/>
        </p:nvSpPr>
        <p:spPr>
          <a:xfrm>
            <a:off x="7001934" y="9419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5</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6" name="文本框 1">
            <a:extLst>
              <a:ext uri="{FF2B5EF4-FFF2-40B4-BE49-F238E27FC236}">
                <a16:creationId xmlns:a16="http://schemas.microsoft.com/office/drawing/2014/main" id="{AA31CF59-28BC-C73F-348F-DFA476365D8D}"/>
              </a:ext>
            </a:extLst>
          </p:cNvPr>
          <p:cNvSpPr txBox="1"/>
          <p:nvPr/>
        </p:nvSpPr>
        <p:spPr>
          <a:xfrm>
            <a:off x="4076025" y="9419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7" name="圆角矩形 15">
            <a:extLst>
              <a:ext uri="{FF2B5EF4-FFF2-40B4-BE49-F238E27FC236}">
                <a16:creationId xmlns:a16="http://schemas.microsoft.com/office/drawing/2014/main" id="{08334DD6-520E-62A4-AF0F-21D4D4A34603}"/>
              </a:ext>
            </a:extLst>
          </p:cNvPr>
          <p:cNvSpPr/>
          <p:nvPr/>
        </p:nvSpPr>
        <p:spPr>
          <a:xfrm>
            <a:off x="8406585" y="1361018"/>
            <a:ext cx="3119967" cy="20616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IPS</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升级</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按照优先级软分配物料和资源</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endParaRPr>
          </a:p>
          <a:p>
            <a:pPr marL="342891" marR="0" lvl="0" indent="-342891"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在影响需求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2</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的交期承诺前提下，释放</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A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给需求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Unicode MS" panose="020B0604020202020204" pitchFamily="34" charset="-122"/>
              </a:rPr>
              <a:t>1</a:t>
            </a:r>
          </a:p>
        </p:txBody>
      </p:sp>
      <p:sp>
        <p:nvSpPr>
          <p:cNvPr id="49" name="TextBox 30">
            <a:extLst>
              <a:ext uri="{FF2B5EF4-FFF2-40B4-BE49-F238E27FC236}">
                <a16:creationId xmlns:a16="http://schemas.microsoft.com/office/drawing/2014/main" id="{00E8C12F-2FA2-0023-370A-DF04A103602A}"/>
              </a:ext>
            </a:extLst>
          </p:cNvPr>
          <p:cNvSpPr txBox="1"/>
          <p:nvPr/>
        </p:nvSpPr>
        <p:spPr>
          <a:xfrm>
            <a:off x="991435" y="5444067"/>
            <a:ext cx="4497507"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足够</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6132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p:cTn id="28" dur="500" fill="hold"/>
                                        <p:tgtEl>
                                          <p:spTgt spid="22"/>
                                        </p:tgtEl>
                                        <p:attrNameLst>
                                          <p:attrName>ppt_w</p:attrName>
                                        </p:attrNameLst>
                                      </p:cBhvr>
                                      <p:tavLst>
                                        <p:tav tm="0">
                                          <p:val>
                                            <p:fltVal val="0"/>
                                          </p:val>
                                        </p:tav>
                                        <p:tav tm="100000">
                                          <p:val>
                                            <p:strVal val="#ppt_w"/>
                                          </p:val>
                                        </p:tav>
                                      </p:tavLst>
                                    </p:anim>
                                    <p:anim calcmode="lin" valueType="num">
                                      <p:cBhvr>
                                        <p:cTn id="29" dur="500" fill="hold"/>
                                        <p:tgtEl>
                                          <p:spTgt spid="22"/>
                                        </p:tgtEl>
                                        <p:attrNameLst>
                                          <p:attrName>ppt_h</p:attrName>
                                        </p:attrNameLst>
                                      </p:cBhvr>
                                      <p:tavLst>
                                        <p:tav tm="0">
                                          <p:val>
                                            <p:fltVal val="0"/>
                                          </p:val>
                                        </p:tav>
                                        <p:tav tm="100000">
                                          <p:val>
                                            <p:strVal val="#ppt_h"/>
                                          </p:val>
                                        </p:tav>
                                      </p:tavLst>
                                    </p:anim>
                                  </p:childTnLst>
                                </p:cTn>
                              </p:par>
                              <p:par>
                                <p:cTn id="30" presetID="1"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ntr" presetSubtype="0" fill="hold" grpId="1"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23"/>
                                        </p:tgtEl>
                                      </p:cBhvr>
                                    </p:animEffect>
                                    <p:set>
                                      <p:cBhvr>
                                        <p:cTn id="38" dur="1" fill="hold">
                                          <p:stCondLst>
                                            <p:cond delay="499"/>
                                          </p:stCondLst>
                                        </p:cTn>
                                        <p:tgtEl>
                                          <p:spTgt spid="23"/>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par>
                                <p:cTn id="48" presetID="10"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500"/>
                                        <p:tgtEl>
                                          <p:spTgt spid="13"/>
                                        </p:tgtEl>
                                      </p:cBhvr>
                                    </p:animEffect>
                                    <p:set>
                                      <p:cBhvr>
                                        <p:cTn id="55" dur="1" fill="hold">
                                          <p:stCondLst>
                                            <p:cond delay="499"/>
                                          </p:stCondLst>
                                        </p:cTn>
                                        <p:tgtEl>
                                          <p:spTgt spid="13"/>
                                        </p:tgtEl>
                                        <p:attrNameLst>
                                          <p:attrName>style.visibility</p:attrName>
                                        </p:attrNameLst>
                                      </p:cBhvr>
                                      <p:to>
                                        <p:strVal val="hidden"/>
                                      </p:to>
                                    </p:set>
                                  </p:childTnLst>
                                </p:cTn>
                              </p:par>
                              <p:par>
                                <p:cTn id="56" presetID="1"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nodeType="clickEffect">
                                  <p:stCondLst>
                                    <p:cond delay="0"/>
                                  </p:stCondLst>
                                  <p:childTnLst>
                                    <p:animEffect transition="out" filter="fade">
                                      <p:cBhvr>
                                        <p:cTn id="64" dur="500"/>
                                        <p:tgtEl>
                                          <p:spTgt spid="24"/>
                                        </p:tgtEl>
                                      </p:cBhvr>
                                    </p:animEffect>
                                    <p:set>
                                      <p:cBhvr>
                                        <p:cTn id="65" dur="1" fill="hold">
                                          <p:stCondLst>
                                            <p:cond delay="499"/>
                                          </p:stCondLst>
                                        </p:cTn>
                                        <p:tgtEl>
                                          <p:spTgt spid="24"/>
                                        </p:tgtEl>
                                        <p:attrNameLst>
                                          <p:attrName>style.visibility</p:attrName>
                                        </p:attrNameLst>
                                      </p:cBhvr>
                                      <p:to>
                                        <p:strVal val="hidden"/>
                                      </p:to>
                                    </p:set>
                                  </p:childTnLst>
                                </p:cTn>
                              </p:par>
                              <p:par>
                                <p:cTn id="66" presetID="22" presetClass="exit" presetSubtype="4" fill="hold" grpId="1" nodeType="withEffect">
                                  <p:stCondLst>
                                    <p:cond delay="0"/>
                                  </p:stCondLst>
                                  <p:childTnLst>
                                    <p:animEffect transition="out" filter="wipe(down)">
                                      <p:cBhvr>
                                        <p:cTn id="67" dur="500"/>
                                        <p:tgtEl>
                                          <p:spTgt spid="40"/>
                                        </p:tgtEl>
                                      </p:cBhvr>
                                    </p:animEffect>
                                    <p:set>
                                      <p:cBhvr>
                                        <p:cTn id="68" dur="1" fill="hold">
                                          <p:stCondLst>
                                            <p:cond delay="499"/>
                                          </p:stCondLst>
                                        </p:cTn>
                                        <p:tgtEl>
                                          <p:spTgt spid="40"/>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4" presetID="22" presetClass="exit" presetSubtype="4" fill="hold" grpId="1" nodeType="withEffect">
                                  <p:stCondLst>
                                    <p:cond delay="0"/>
                                  </p:stCondLst>
                                  <p:childTnLst>
                                    <p:animEffect transition="out" filter="wipe(down)">
                                      <p:cBhvr>
                                        <p:cTn id="75" dur="500"/>
                                        <p:tgtEl>
                                          <p:spTgt spid="26"/>
                                        </p:tgtEl>
                                      </p:cBhvr>
                                    </p:animEffect>
                                    <p:set>
                                      <p:cBhvr>
                                        <p:cTn id="76" dur="1" fill="hold">
                                          <p:stCondLst>
                                            <p:cond delay="499"/>
                                          </p:stCondLst>
                                        </p:cTn>
                                        <p:tgtEl>
                                          <p:spTgt spid="26"/>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blinds(horizontal)">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blinds(horizontal)">
                                      <p:cBhvr>
                                        <p:cTn id="8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3" grpId="0"/>
      <p:bldP spid="23" grpId="1"/>
      <p:bldP spid="26" grpId="0" animBg="1"/>
      <p:bldP spid="26" grpId="1" animBg="1"/>
      <p:bldP spid="28" grpId="0" animBg="1"/>
      <p:bldP spid="38" grpId="0" animBg="1"/>
      <p:bldP spid="40" grpId="0" animBg="1"/>
      <p:bldP spid="40" grpId="1" animBg="1"/>
      <p:bldP spid="3" grpId="0"/>
      <p:bldP spid="4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F2F2-FF64-5BCE-5568-23C06B4CB34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8B7D02-7140-75CD-F678-CC0558081E8F}"/>
              </a:ext>
            </a:extLst>
          </p:cNvPr>
          <p:cNvSpPr>
            <a:spLocks noGrp="1"/>
          </p:cNvSpPr>
          <p:nvPr>
            <p:ph type="title"/>
          </p:nvPr>
        </p:nvSpPr>
        <p:spPr>
          <a:xfrm>
            <a:off x="991435" y="-10749"/>
            <a:ext cx="10714759" cy="711202"/>
          </a:xfrm>
        </p:spPr>
        <p:txBody>
          <a:bodyPr>
            <a:normAutofit/>
          </a:bodyPr>
          <a:lstStyle/>
          <a:p>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j-cs"/>
              </a:rPr>
              <a:t>物料和资源分配可以优化</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供应</a:t>
            </a:r>
            <a:r>
              <a:rPr lang="en-US" altLang="zh-CN" dirty="0">
                <a:latin typeface="Arial" panose="020B0604020202020204" pitchFamily="34" charset="0"/>
                <a:ea typeface="微软雅黑" panose="020B0503020204020204" pitchFamily="34" charset="-122"/>
              </a:rPr>
              <a:t>pull-in</a:t>
            </a:r>
            <a:r>
              <a:rPr lang="zh-CN" altLang="en-US" dirty="0">
                <a:latin typeface="Arial" panose="020B0604020202020204" pitchFamily="34" charset="0"/>
                <a:ea typeface="微软雅黑" panose="020B0503020204020204" pitchFamily="34" charset="-122"/>
              </a:rPr>
              <a:t>带来的挑战</a:t>
            </a:r>
          </a:p>
        </p:txBody>
      </p:sp>
      <p:cxnSp>
        <p:nvCxnSpPr>
          <p:cNvPr id="4" name="直接箭头连接符 6">
            <a:extLst>
              <a:ext uri="{FF2B5EF4-FFF2-40B4-BE49-F238E27FC236}">
                <a16:creationId xmlns:a16="http://schemas.microsoft.com/office/drawing/2014/main" id="{AB2C9ACC-0EAD-6515-1D42-0407E4BB5D3A}"/>
              </a:ext>
            </a:extLst>
          </p:cNvPr>
          <p:cNvCxnSpPr/>
          <p:nvPr/>
        </p:nvCxnSpPr>
        <p:spPr>
          <a:xfrm>
            <a:off x="715434" y="3558117"/>
            <a:ext cx="93345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13">
            <a:extLst>
              <a:ext uri="{FF2B5EF4-FFF2-40B4-BE49-F238E27FC236}">
                <a16:creationId xmlns:a16="http://schemas.microsoft.com/office/drawing/2014/main" id="{9495540E-1259-F086-7F91-FA31CB728D59}"/>
              </a:ext>
            </a:extLst>
          </p:cNvPr>
          <p:cNvCxnSpPr>
            <a:cxnSpLocks/>
          </p:cNvCxnSpPr>
          <p:nvPr/>
        </p:nvCxnSpPr>
        <p:spPr>
          <a:xfrm>
            <a:off x="3579285" y="2679700"/>
            <a:ext cx="6351" cy="914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15">
            <a:extLst>
              <a:ext uri="{FF2B5EF4-FFF2-40B4-BE49-F238E27FC236}">
                <a16:creationId xmlns:a16="http://schemas.microsoft.com/office/drawing/2014/main" id="{BB4A4D43-CE08-FC75-2070-21A82EAF4CDB}"/>
              </a:ext>
            </a:extLst>
          </p:cNvPr>
          <p:cNvCxnSpPr>
            <a:cxnSpLocks/>
          </p:cNvCxnSpPr>
          <p:nvPr/>
        </p:nvCxnSpPr>
        <p:spPr>
          <a:xfrm>
            <a:off x="5352003" y="2725208"/>
            <a:ext cx="0" cy="8784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23">
            <a:extLst>
              <a:ext uri="{FF2B5EF4-FFF2-40B4-BE49-F238E27FC236}">
                <a16:creationId xmlns:a16="http://schemas.microsoft.com/office/drawing/2014/main" id="{25140B7A-3DB3-BF3D-E991-A8CD09446C23}"/>
              </a:ext>
            </a:extLst>
          </p:cNvPr>
          <p:cNvCxnSpPr/>
          <p:nvPr/>
        </p:nvCxnSpPr>
        <p:spPr>
          <a:xfrm flipV="1">
            <a:off x="2755900" y="3558118"/>
            <a:ext cx="0" cy="6731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35">
            <a:extLst>
              <a:ext uri="{FF2B5EF4-FFF2-40B4-BE49-F238E27FC236}">
                <a16:creationId xmlns:a16="http://schemas.microsoft.com/office/drawing/2014/main" id="{14B16999-B6A1-F968-92E4-62ABA1F54962}"/>
              </a:ext>
            </a:extLst>
          </p:cNvPr>
          <p:cNvCxnSpPr/>
          <p:nvPr/>
        </p:nvCxnSpPr>
        <p:spPr>
          <a:xfrm flipV="1">
            <a:off x="2755900" y="4434417"/>
            <a:ext cx="0" cy="67098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矩形 27">
            <a:extLst>
              <a:ext uri="{FF2B5EF4-FFF2-40B4-BE49-F238E27FC236}">
                <a16:creationId xmlns:a16="http://schemas.microsoft.com/office/drawing/2014/main" id="{BC152E87-3B88-7F12-9B75-329ACC563DE3}"/>
              </a:ext>
            </a:extLst>
          </p:cNvPr>
          <p:cNvSpPr/>
          <p:nvPr/>
        </p:nvSpPr>
        <p:spPr>
          <a:xfrm>
            <a:off x="2992967" y="2347385"/>
            <a:ext cx="1344084"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DEMAND1</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0" name="矩形 38">
            <a:extLst>
              <a:ext uri="{FF2B5EF4-FFF2-40B4-BE49-F238E27FC236}">
                <a16:creationId xmlns:a16="http://schemas.microsoft.com/office/drawing/2014/main" id="{A112924E-6E40-18BE-CA73-91EAC685DE27}"/>
              </a:ext>
            </a:extLst>
          </p:cNvPr>
          <p:cNvSpPr/>
          <p:nvPr/>
        </p:nvSpPr>
        <p:spPr>
          <a:xfrm>
            <a:off x="4679263" y="2319191"/>
            <a:ext cx="1344084" cy="369310"/>
          </a:xfrm>
          <a:prstGeom prst="rect">
            <a:avLst/>
          </a:prstGeom>
          <a:solidFill>
            <a:srgbClr val="0070C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DEMAND2</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1" name="矩形 28">
            <a:extLst>
              <a:ext uri="{FF2B5EF4-FFF2-40B4-BE49-F238E27FC236}">
                <a16:creationId xmlns:a16="http://schemas.microsoft.com/office/drawing/2014/main" id="{EECF78E3-1099-4D92-83F7-201D2AC70EA0}"/>
              </a:ext>
            </a:extLst>
          </p:cNvPr>
          <p:cNvSpPr/>
          <p:nvPr/>
        </p:nvSpPr>
        <p:spPr>
          <a:xfrm>
            <a:off x="1172633" y="3750733"/>
            <a:ext cx="1390651" cy="369310"/>
          </a:xfrm>
          <a:prstGeom prst="rect">
            <a:avLst/>
          </a:prstGeom>
          <a:solidFill>
            <a:srgbClr val="FFC00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2" name="矩形 41">
            <a:extLst>
              <a:ext uri="{FF2B5EF4-FFF2-40B4-BE49-F238E27FC236}">
                <a16:creationId xmlns:a16="http://schemas.microsoft.com/office/drawing/2014/main" id="{178B0E5C-2F0D-07B4-29F7-B2B9CD6EC617}"/>
              </a:ext>
            </a:extLst>
          </p:cNvPr>
          <p:cNvSpPr/>
          <p:nvPr/>
        </p:nvSpPr>
        <p:spPr>
          <a:xfrm>
            <a:off x="1172633" y="4565651"/>
            <a:ext cx="1390651" cy="369310"/>
          </a:xfrm>
          <a:prstGeom prst="rect">
            <a:avLst/>
          </a:prstGeom>
          <a:solidFill>
            <a:srgbClr val="00B050"/>
          </a:solidFill>
          <a:ln w="9525">
            <a:noFill/>
          </a:ln>
        </p:spPr>
        <p:txBody>
          <a:bodyPr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 B</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13" name="Line 58">
            <a:extLst>
              <a:ext uri="{FF2B5EF4-FFF2-40B4-BE49-F238E27FC236}">
                <a16:creationId xmlns:a16="http://schemas.microsoft.com/office/drawing/2014/main" id="{D21B3B12-DAD0-9FCF-1CF8-CB3433F301A0}"/>
              </a:ext>
            </a:extLst>
          </p:cNvPr>
          <p:cNvSpPr/>
          <p:nvPr/>
        </p:nvSpPr>
        <p:spPr>
          <a:xfrm flipH="1">
            <a:off x="2755900" y="2725208"/>
            <a:ext cx="2546345" cy="1230844"/>
          </a:xfrm>
          <a:prstGeom prst="line">
            <a:avLst/>
          </a:prstGeom>
          <a:ln w="9525" cap="flat" cmpd="sng">
            <a:solidFill>
              <a:schemeClr val="tx1"/>
            </a:solidFill>
            <a:prstDash val="lgDash"/>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4" name="Line 58">
            <a:extLst>
              <a:ext uri="{FF2B5EF4-FFF2-40B4-BE49-F238E27FC236}">
                <a16:creationId xmlns:a16="http://schemas.microsoft.com/office/drawing/2014/main" id="{7EBFEF3B-FB01-8B3A-D3D2-D7C06721A915}"/>
              </a:ext>
            </a:extLst>
          </p:cNvPr>
          <p:cNvSpPr/>
          <p:nvPr/>
        </p:nvSpPr>
        <p:spPr>
          <a:xfrm flipH="1">
            <a:off x="3598943" y="2706102"/>
            <a:ext cx="1794696" cy="1470270"/>
          </a:xfrm>
          <a:prstGeom prst="line">
            <a:avLst/>
          </a:prstGeom>
          <a:ln w="9525" cap="flat" cmpd="sng">
            <a:solidFill>
              <a:schemeClr val="tx1"/>
            </a:solidFill>
            <a:prstDash val="dashDot"/>
            <a:headEnd type="non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5" name="矩形标注 12">
            <a:extLst>
              <a:ext uri="{FF2B5EF4-FFF2-40B4-BE49-F238E27FC236}">
                <a16:creationId xmlns:a16="http://schemas.microsoft.com/office/drawing/2014/main" id="{B16D2509-5EED-99C0-BA57-833365BD3C81}"/>
              </a:ext>
            </a:extLst>
          </p:cNvPr>
          <p:cNvSpPr/>
          <p:nvPr/>
        </p:nvSpPr>
        <p:spPr>
          <a:xfrm>
            <a:off x="6798734" y="1568451"/>
            <a:ext cx="1439333" cy="508000"/>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6" name="矩形标注 13">
            <a:extLst>
              <a:ext uri="{FF2B5EF4-FFF2-40B4-BE49-F238E27FC236}">
                <a16:creationId xmlns:a16="http://schemas.microsoft.com/office/drawing/2014/main" id="{CF41203F-9044-0E2D-C9D3-D4E1154851F9}"/>
              </a:ext>
            </a:extLst>
          </p:cNvPr>
          <p:cNvSpPr/>
          <p:nvPr/>
        </p:nvSpPr>
        <p:spPr>
          <a:xfrm>
            <a:off x="2844800" y="1579034"/>
            <a:ext cx="1441451" cy="510117"/>
          </a:xfrm>
          <a:prstGeom prst="wedgeRectCallout">
            <a:avLst>
              <a:gd name="adj1" fmla="val 782"/>
              <a:gd name="adj2" fmla="val 90562"/>
            </a:avLst>
          </a:prstGeom>
          <a:solidFill>
            <a:schemeClr val="bg2">
              <a:lumMod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1217476" rtl="0" eaLnBrk="1" fontAlgn="auto" latinLnBrk="0" hangingPunct="1">
              <a:lnSpc>
                <a:spcPct val="100000"/>
              </a:lnSpc>
              <a:spcBef>
                <a:spcPts val="0"/>
              </a:spcBef>
              <a:spcAft>
                <a:spcPts val="0"/>
              </a:spcAft>
              <a:buClrTx/>
              <a:buSzTx/>
              <a:buFontTx/>
              <a:buNone/>
              <a:tabLst/>
              <a:defRPr/>
            </a:pPr>
            <a:r>
              <a:rPr kumimoji="0" lang="en-US" altLang="zh-CN"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IPS</a:t>
            </a:r>
            <a:endParaRPr kumimoji="0" lang="zh-CN" altLang="en-US" sz="1867"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圆角矩形 15">
            <a:extLst>
              <a:ext uri="{FF2B5EF4-FFF2-40B4-BE49-F238E27FC236}">
                <a16:creationId xmlns:a16="http://schemas.microsoft.com/office/drawing/2014/main" id="{DABAE7BB-D5E4-C864-6B8F-7AD81DD8291B}"/>
              </a:ext>
            </a:extLst>
          </p:cNvPr>
          <p:cNvSpPr/>
          <p:nvPr/>
        </p:nvSpPr>
        <p:spPr>
          <a:xfrm>
            <a:off x="8406585" y="1361018"/>
            <a:ext cx="3119967" cy="20616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计划到货</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 pull in </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导致需求</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pull in </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但是</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r>
              <a:rPr kumimoji="0" lang="en-US" altLang="zh-CN"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 </a:t>
            </a:r>
            <a:r>
              <a:rPr kumimoji="0" lang="zh-CN" altLang="en-US" sz="1400" b="0" i="0" u="sng"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晚了</a:t>
            </a:r>
            <a:endParaRPr kumimoji="0" lang="en-US" altLang="zh-CN" sz="140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矩形 26">
            <a:extLst>
              <a:ext uri="{FF2B5EF4-FFF2-40B4-BE49-F238E27FC236}">
                <a16:creationId xmlns:a16="http://schemas.microsoft.com/office/drawing/2014/main" id="{F9BF0FF5-83F7-EB03-EC25-1A7B14EC0C6A}"/>
              </a:ext>
            </a:extLst>
          </p:cNvPr>
          <p:cNvSpPr/>
          <p:nvPr/>
        </p:nvSpPr>
        <p:spPr>
          <a:xfrm>
            <a:off x="2918885" y="4241414"/>
            <a:ext cx="1329267"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19" name="直接箭头连接符 29">
            <a:extLst>
              <a:ext uri="{FF2B5EF4-FFF2-40B4-BE49-F238E27FC236}">
                <a16:creationId xmlns:a16="http://schemas.microsoft.com/office/drawing/2014/main" id="{6849DAA2-3347-19B9-1A89-B934EFD63A8A}"/>
              </a:ext>
            </a:extLst>
          </p:cNvPr>
          <p:cNvCxnSpPr>
            <a:stCxn id="18" idx="0"/>
          </p:cNvCxnSpPr>
          <p:nvPr/>
        </p:nvCxnSpPr>
        <p:spPr>
          <a:xfrm flipV="1">
            <a:off x="3583519" y="3500582"/>
            <a:ext cx="0" cy="74083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矩形 31">
            <a:extLst>
              <a:ext uri="{FF2B5EF4-FFF2-40B4-BE49-F238E27FC236}">
                <a16:creationId xmlns:a16="http://schemas.microsoft.com/office/drawing/2014/main" id="{EA001D15-0F7F-149C-3717-48934711A016}"/>
              </a:ext>
            </a:extLst>
          </p:cNvPr>
          <p:cNvSpPr/>
          <p:nvPr/>
        </p:nvSpPr>
        <p:spPr>
          <a:xfrm>
            <a:off x="4273551" y="4836584"/>
            <a:ext cx="1231900" cy="338554"/>
          </a:xfrm>
          <a:prstGeom prst="rect">
            <a:avLst/>
          </a:prstGeom>
          <a:solidFill>
            <a:srgbClr val="00B050">
              <a:alpha val="50195"/>
            </a:srgbClr>
          </a:solid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计划到货</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endPar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1" name="直接箭头连接符 40">
            <a:extLst>
              <a:ext uri="{FF2B5EF4-FFF2-40B4-BE49-F238E27FC236}">
                <a16:creationId xmlns:a16="http://schemas.microsoft.com/office/drawing/2014/main" id="{1D832368-9B2E-0429-808C-1A98A731FEB0}"/>
              </a:ext>
            </a:extLst>
          </p:cNvPr>
          <p:cNvCxnSpPr>
            <a:stCxn id="20" idx="0"/>
          </p:cNvCxnSpPr>
          <p:nvPr/>
        </p:nvCxnSpPr>
        <p:spPr>
          <a:xfrm flipV="1">
            <a:off x="4889501" y="3558117"/>
            <a:ext cx="29632" cy="127846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F2D5B0B-5F6F-8085-AAB5-D6211ECB2421}"/>
              </a:ext>
            </a:extLst>
          </p:cNvPr>
          <p:cNvSpPr txBox="1"/>
          <p:nvPr/>
        </p:nvSpPr>
        <p:spPr>
          <a:xfrm rot="-3433726">
            <a:off x="2734733" y="3158652"/>
            <a:ext cx="914400" cy="235898"/>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被需求</a:t>
            </a:r>
            <a:r>
              <a:rPr kumimoji="1" lang="en-US" altLang="zh-CN"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占用</a:t>
            </a:r>
            <a:endParaRPr kumimoji="1" lang="zh-CN" altLang="en-US" sz="933"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cxnSp>
        <p:nvCxnSpPr>
          <p:cNvPr id="24" name="直接箭头连接符 5">
            <a:extLst>
              <a:ext uri="{FF2B5EF4-FFF2-40B4-BE49-F238E27FC236}">
                <a16:creationId xmlns:a16="http://schemas.microsoft.com/office/drawing/2014/main" id="{1E8BF258-33B9-803D-7A38-07044B350F21}"/>
              </a:ext>
            </a:extLst>
          </p:cNvPr>
          <p:cNvCxnSpPr>
            <a:cxnSpLocks/>
            <a:endCxn id="20" idx="0"/>
          </p:cNvCxnSpPr>
          <p:nvPr/>
        </p:nvCxnSpPr>
        <p:spPr>
          <a:xfrm>
            <a:off x="3579284" y="2679701"/>
            <a:ext cx="1310217" cy="2156883"/>
          </a:xfrm>
          <a:prstGeom prst="straightConnector1">
            <a:avLst/>
          </a:prstGeom>
          <a:ln w="9525" cap="flat" cmpd="sng">
            <a:solidFill>
              <a:schemeClr val="tx1"/>
            </a:solidFill>
            <a:prstDash val="lgDash"/>
            <a:headEnd type="none" w="med" len="med"/>
            <a:tailEnd type="triangle" w="med" len="med"/>
          </a:ln>
        </p:spPr>
      </p:cxnSp>
      <p:cxnSp>
        <p:nvCxnSpPr>
          <p:cNvPr id="25" name="直接箭头连接符 50">
            <a:extLst>
              <a:ext uri="{FF2B5EF4-FFF2-40B4-BE49-F238E27FC236}">
                <a16:creationId xmlns:a16="http://schemas.microsoft.com/office/drawing/2014/main" id="{A6D9826C-EEB3-B56C-06CF-8A06B1C4940D}"/>
              </a:ext>
            </a:extLst>
          </p:cNvPr>
          <p:cNvCxnSpPr>
            <a:cxnSpLocks/>
          </p:cNvCxnSpPr>
          <p:nvPr/>
        </p:nvCxnSpPr>
        <p:spPr>
          <a:xfrm flipH="1">
            <a:off x="2761192" y="2695482"/>
            <a:ext cx="836084" cy="2097617"/>
          </a:xfrm>
          <a:prstGeom prst="straightConnector1">
            <a:avLst/>
          </a:prstGeom>
          <a:ln w="9525" cap="flat" cmpd="sng">
            <a:solidFill>
              <a:schemeClr val="tx1"/>
            </a:solidFill>
            <a:prstDash val="lgDash"/>
            <a:headEnd type="none" w="med" len="med"/>
            <a:tailEnd type="triangle" w="med" len="med"/>
          </a:ln>
        </p:spPr>
      </p:cxnSp>
      <p:sp>
        <p:nvSpPr>
          <p:cNvPr id="26" name="圆角矩形标注 24">
            <a:extLst>
              <a:ext uri="{FF2B5EF4-FFF2-40B4-BE49-F238E27FC236}">
                <a16:creationId xmlns:a16="http://schemas.microsoft.com/office/drawing/2014/main" id="{3FDC3370-4E85-26AE-DED6-F7A76206BFB3}"/>
              </a:ext>
            </a:extLst>
          </p:cNvPr>
          <p:cNvSpPr/>
          <p:nvPr/>
        </p:nvSpPr>
        <p:spPr>
          <a:xfrm>
            <a:off x="1375833" y="1892300"/>
            <a:ext cx="1380067" cy="414867"/>
          </a:xfrm>
          <a:prstGeom prst="wedgeRoundRectCallout">
            <a:avLst>
              <a:gd name="adj1" fmla="val 86096"/>
              <a:gd name="adj2" fmla="val 93018"/>
              <a:gd name="adj3" fmla="val 16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交付日期</a:t>
            </a: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 Late</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cxnSp>
        <p:nvCxnSpPr>
          <p:cNvPr id="29" name="直接连接符 7">
            <a:extLst>
              <a:ext uri="{FF2B5EF4-FFF2-40B4-BE49-F238E27FC236}">
                <a16:creationId xmlns:a16="http://schemas.microsoft.com/office/drawing/2014/main" id="{64F9C202-B247-846B-DDAD-7C284DDC9613}"/>
              </a:ext>
            </a:extLst>
          </p:cNvPr>
          <p:cNvCxnSpPr/>
          <p:nvPr/>
        </p:nvCxnSpPr>
        <p:spPr>
          <a:xfrm>
            <a:off x="2772715" y="1361018"/>
            <a:ext cx="0" cy="219710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7">
            <a:extLst>
              <a:ext uri="{FF2B5EF4-FFF2-40B4-BE49-F238E27FC236}">
                <a16:creationId xmlns:a16="http://schemas.microsoft.com/office/drawing/2014/main" id="{65234D14-41CE-D80F-8237-EECB75E3CF2B}"/>
              </a:ext>
            </a:extLst>
          </p:cNvPr>
          <p:cNvCxnSpPr/>
          <p:nvPr/>
        </p:nvCxnSpPr>
        <p:spPr>
          <a:xfrm>
            <a:off x="4286251" y="136101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1D694F20-EFE1-AFAA-02BC-1DB1A1DD618C}"/>
              </a:ext>
            </a:extLst>
          </p:cNvPr>
          <p:cNvCxnSpPr/>
          <p:nvPr/>
        </p:nvCxnSpPr>
        <p:spPr>
          <a:xfrm>
            <a:off x="5505451" y="141816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7">
            <a:extLst>
              <a:ext uri="{FF2B5EF4-FFF2-40B4-BE49-F238E27FC236}">
                <a16:creationId xmlns:a16="http://schemas.microsoft.com/office/drawing/2014/main" id="{E9DB2BD9-B8A0-AC1C-5D5F-BAB5B63D27F9}"/>
              </a:ext>
            </a:extLst>
          </p:cNvPr>
          <p:cNvCxnSpPr/>
          <p:nvPr/>
        </p:nvCxnSpPr>
        <p:spPr>
          <a:xfrm>
            <a:off x="6830484" y="1418168"/>
            <a:ext cx="0" cy="406823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 name="圆角矩形 45">
            <a:extLst>
              <a:ext uri="{FF2B5EF4-FFF2-40B4-BE49-F238E27FC236}">
                <a16:creationId xmlns:a16="http://schemas.microsoft.com/office/drawing/2014/main" id="{86A7EC38-7CCE-1109-8BFE-949E5E852918}"/>
              </a:ext>
            </a:extLst>
          </p:cNvPr>
          <p:cNvSpPr/>
          <p:nvPr/>
        </p:nvSpPr>
        <p:spPr>
          <a:xfrm>
            <a:off x="8358718" y="3769785"/>
            <a:ext cx="3253317" cy="90381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0"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40" name="圆角矩形标注 51">
            <a:extLst>
              <a:ext uri="{FF2B5EF4-FFF2-40B4-BE49-F238E27FC236}">
                <a16:creationId xmlns:a16="http://schemas.microsoft.com/office/drawing/2014/main" id="{B732A010-D38A-2025-2321-2985BD362A6F}"/>
              </a:ext>
            </a:extLst>
          </p:cNvPr>
          <p:cNvSpPr/>
          <p:nvPr/>
        </p:nvSpPr>
        <p:spPr>
          <a:xfrm>
            <a:off x="4064334" y="1699438"/>
            <a:ext cx="1380067" cy="372533"/>
          </a:xfrm>
          <a:prstGeom prst="wedgeRoundRectCallout">
            <a:avLst>
              <a:gd name="adj1" fmla="val 67310"/>
              <a:gd name="adj2" fmla="val 101445"/>
              <a:gd name="adj3" fmla="val 16667"/>
            </a:avLst>
          </a:prstGeom>
          <a:solidFill>
            <a:srgbClr val="00AA48"/>
          </a:solidFill>
          <a:ln/>
        </p:spPr>
        <p:style>
          <a:lnRef idx="1">
            <a:schemeClr val="accent6"/>
          </a:lnRef>
          <a:fillRef idx="2">
            <a:schemeClr val="accent6"/>
          </a:fillRef>
          <a:effectRef idx="1">
            <a:schemeClr val="accent6"/>
          </a:effectRef>
          <a:fontRef idx="minor">
            <a:schemeClr val="dk1"/>
          </a:fontRef>
        </p:style>
        <p:txBody>
          <a:bodyPr lIns="121899" tIns="60949" rIns="121899" bIns="60949" anchor="ctr"/>
          <a:lstStyle/>
          <a:p>
            <a:pPr marL="0" marR="0" lvl="0" indent="0" algn="ctr" defTabSz="1217476"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rPr>
              <a:t>PSD Pull in</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微软雅黑" panose="020B0503020204020204" pitchFamily="34" charset="-122"/>
            </a:endParaRPr>
          </a:p>
        </p:txBody>
      </p:sp>
      <p:sp>
        <p:nvSpPr>
          <p:cNvPr id="41" name="文本框 40">
            <a:extLst>
              <a:ext uri="{FF2B5EF4-FFF2-40B4-BE49-F238E27FC236}">
                <a16:creationId xmlns:a16="http://schemas.microsoft.com/office/drawing/2014/main" id="{619CAEE8-3288-A033-D600-093289211468}"/>
              </a:ext>
            </a:extLst>
          </p:cNvPr>
          <p:cNvSpPr txBox="1"/>
          <p:nvPr/>
        </p:nvSpPr>
        <p:spPr>
          <a:xfrm>
            <a:off x="10134022" y="3341694"/>
            <a:ext cx="1302564" cy="338554"/>
          </a:xfrm>
          <a:prstGeom prst="rect">
            <a:avLst/>
          </a:prstGeom>
          <a:noFill/>
        </p:spPr>
        <p:txBody>
          <a:bodyPr wrap="square" rtlCol="0">
            <a:spAutoFit/>
          </a:bodyPr>
          <a:ls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E3E7F2">
                    <a:lumMod val="60000"/>
                    <a:lumOff val="40000"/>
                  </a:srgbClr>
                </a:solidFill>
                <a:effectLst/>
                <a:uLnTx/>
                <a:uFillTx/>
                <a:latin typeface="Arial" panose="020B0604020202020204" pitchFamily="34" charset="0"/>
                <a:ea typeface="微软雅黑" panose="020B0503020204020204" pitchFamily="34" charset="-122"/>
                <a:cs typeface="+mn-cs"/>
              </a:rPr>
              <a:t>需求日期</a:t>
            </a:r>
          </a:p>
        </p:txBody>
      </p:sp>
      <p:sp>
        <p:nvSpPr>
          <p:cNvPr id="3" name="文本框 2">
            <a:extLst>
              <a:ext uri="{FF2B5EF4-FFF2-40B4-BE49-F238E27FC236}">
                <a16:creationId xmlns:a16="http://schemas.microsoft.com/office/drawing/2014/main" id="{7CEA33A0-2F12-4AAA-8C25-2577087F65F9}"/>
              </a:ext>
            </a:extLst>
          </p:cNvPr>
          <p:cNvSpPr txBox="1"/>
          <p:nvPr/>
        </p:nvSpPr>
        <p:spPr>
          <a:xfrm>
            <a:off x="83430" y="1412594"/>
            <a:ext cx="18399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en-US" altLang="zh-CN" sz="1800" b="0" i="0" u="none" strike="noStrike" kern="1200" cap="none" spc="0" normalizeH="0" baseline="30000" noProof="0" dirty="0">
                <a:ln>
                  <a:noFill/>
                </a:ln>
                <a:solidFill>
                  <a:srgbClr val="FFFFFF"/>
                </a:solidFill>
                <a:effectLst/>
                <a:uLnTx/>
                <a:uFillTx/>
                <a:latin typeface="Arial" panose="020B0604020202020204" pitchFamily="34" charset="0"/>
                <a:ea typeface="微软雅黑" panose="020B0503020204020204" pitchFamily="34" charset="-122"/>
                <a:cs typeface="+mn-cs"/>
              </a:rPr>
              <a:t>nd</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RUN</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2" name="文本框 41">
            <a:extLst>
              <a:ext uri="{FF2B5EF4-FFF2-40B4-BE49-F238E27FC236}">
                <a16:creationId xmlns:a16="http://schemas.microsoft.com/office/drawing/2014/main" id="{8F6B8CA9-E19A-7131-AD97-399B83A981F9}"/>
              </a:ext>
            </a:extLst>
          </p:cNvPr>
          <p:cNvSpPr txBox="1"/>
          <p:nvPr/>
        </p:nvSpPr>
        <p:spPr>
          <a:xfrm>
            <a:off x="8417820" y="3902370"/>
            <a:ext cx="285131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最近的交付日期应该作为第二优先级</a:t>
            </a:r>
          </a:p>
        </p:txBody>
      </p:sp>
      <p:sp>
        <p:nvSpPr>
          <p:cNvPr id="22" name="文本框 1">
            <a:extLst>
              <a:ext uri="{FF2B5EF4-FFF2-40B4-BE49-F238E27FC236}">
                <a16:creationId xmlns:a16="http://schemas.microsoft.com/office/drawing/2014/main" id="{C58A9471-ECF8-6BEA-19A8-31B98DF40776}"/>
              </a:ext>
            </a:extLst>
          </p:cNvPr>
          <p:cNvSpPr txBox="1"/>
          <p:nvPr/>
        </p:nvSpPr>
        <p:spPr>
          <a:xfrm>
            <a:off x="1153584" y="941918"/>
            <a:ext cx="1589616"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1</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7" name="文本框 1">
            <a:extLst>
              <a:ext uri="{FF2B5EF4-FFF2-40B4-BE49-F238E27FC236}">
                <a16:creationId xmlns:a16="http://schemas.microsoft.com/office/drawing/2014/main" id="{75770B2E-0EC9-EA12-A6F2-20D45E5083E5}"/>
              </a:ext>
            </a:extLst>
          </p:cNvPr>
          <p:cNvSpPr txBox="1"/>
          <p:nvPr/>
        </p:nvSpPr>
        <p:spPr>
          <a:xfrm>
            <a:off x="2580005" y="941917"/>
            <a:ext cx="1589617"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2</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28" name="文本框 1">
            <a:extLst>
              <a:ext uri="{FF2B5EF4-FFF2-40B4-BE49-F238E27FC236}">
                <a16:creationId xmlns:a16="http://schemas.microsoft.com/office/drawing/2014/main" id="{40F3057E-D250-4CC4-3C1A-2DBCAA4FE5C2}"/>
              </a:ext>
            </a:extLst>
          </p:cNvPr>
          <p:cNvSpPr txBox="1"/>
          <p:nvPr/>
        </p:nvSpPr>
        <p:spPr>
          <a:xfrm>
            <a:off x="5556251" y="937685"/>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4</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3" name="文本框 1">
            <a:extLst>
              <a:ext uri="{FF2B5EF4-FFF2-40B4-BE49-F238E27FC236}">
                <a16:creationId xmlns:a16="http://schemas.microsoft.com/office/drawing/2014/main" id="{6CFF720C-DFC2-1E7B-C8A7-DD71C7305CB4}"/>
              </a:ext>
            </a:extLst>
          </p:cNvPr>
          <p:cNvSpPr txBox="1"/>
          <p:nvPr/>
        </p:nvSpPr>
        <p:spPr>
          <a:xfrm>
            <a:off x="7001934" y="941918"/>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5</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4" name="文本框 1">
            <a:extLst>
              <a:ext uri="{FF2B5EF4-FFF2-40B4-BE49-F238E27FC236}">
                <a16:creationId xmlns:a16="http://schemas.microsoft.com/office/drawing/2014/main" id="{420D520F-5AE2-A9F3-C254-3ABA4E4C6CAD}"/>
              </a:ext>
            </a:extLst>
          </p:cNvPr>
          <p:cNvSpPr txBox="1"/>
          <p:nvPr/>
        </p:nvSpPr>
        <p:spPr>
          <a:xfrm>
            <a:off x="4076025" y="941916"/>
            <a:ext cx="1587500" cy="359009"/>
          </a:xfrm>
          <a:prstGeom prst="rect">
            <a:avLst/>
          </a:prstGeom>
          <a:noFill/>
          <a:ln w="9525">
            <a:noFill/>
          </a:ln>
        </p:spPr>
        <p:txBody>
          <a:bodyPr>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ctr"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第</a:t>
            </a:r>
            <a:r>
              <a:rPr kumimoji="1" lang="en-US" altLang="zh-CN"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3</a:t>
            </a:r>
            <a:r>
              <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rPr>
              <a:t>天</a:t>
            </a:r>
            <a:endParaRPr kumimoji="1" lang="zh-CN" altLang="en-US" sz="1733"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
        <p:nvSpPr>
          <p:cNvPr id="45" name="TextBox 30">
            <a:extLst>
              <a:ext uri="{FF2B5EF4-FFF2-40B4-BE49-F238E27FC236}">
                <a16:creationId xmlns:a16="http://schemas.microsoft.com/office/drawing/2014/main" id="{0FB2973D-0758-60A3-9E26-5E8AE9873FD3}"/>
              </a:ext>
            </a:extLst>
          </p:cNvPr>
          <p:cNvSpPr txBox="1"/>
          <p:nvPr/>
        </p:nvSpPr>
        <p:spPr>
          <a:xfrm>
            <a:off x="991435" y="5444067"/>
            <a:ext cx="4497507" cy="1354195"/>
          </a:xfrm>
          <a:prstGeom prst="rect">
            <a:avLst/>
          </a:prstGeom>
          <a:noFill/>
          <a:ln w="9525">
            <a:noFill/>
          </a:ln>
        </p:spPr>
        <p:txBody>
          <a:bodyPr wrap="square" lIns="121899" tIns="60949" rIns="121899" bIns="60949">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宋体" panose="02010600030101010101" pitchFamily="2" charset="-122"/>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stStyle>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场景</a:t>
            </a:r>
            <a:r>
              <a:rPr kumimoji="1"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由</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和</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C</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生产</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2</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的优先级高于需求</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1</a:t>
            </a:r>
          </a:p>
          <a:p>
            <a:pPr marL="0" marR="0" lvl="0" indent="0" algn="l" defTabSz="1217476"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A</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只能满足其中一笔需求，库存</a:t>
            </a:r>
            <a:r>
              <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B</a:t>
            </a:r>
            <a:r>
              <a:rPr kumimoji="1"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rPr>
              <a:t>足够</a:t>
            </a:r>
            <a:endParaRPr kumimoji="1"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43845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23"/>
                                        </p:tgtEl>
                                      </p:cBhvr>
                                    </p:animEffect>
                                    <p:set>
                                      <p:cBhvr>
                                        <p:cTn id="30" dur="1" fill="hold">
                                          <p:stCondLst>
                                            <p:cond delay="499"/>
                                          </p:stCondLst>
                                        </p:cTn>
                                        <p:tgtEl>
                                          <p:spTgt spid="2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22" presetClass="exit" presetSubtype="4" fill="hold" grpId="1" nodeType="withEffect">
                                  <p:stCondLst>
                                    <p:cond delay="0"/>
                                  </p:stCondLst>
                                  <p:childTnLst>
                                    <p:animEffect transition="out" filter="wipe(down)">
                                      <p:cBhvr>
                                        <p:cTn id="44" dur="500"/>
                                        <p:tgtEl>
                                          <p:spTgt spid="40"/>
                                        </p:tgtEl>
                                      </p:cBhvr>
                                    </p:animEffect>
                                    <p:set>
                                      <p:cBhvr>
                                        <p:cTn id="45" dur="1" fill="hold">
                                          <p:stCondLst>
                                            <p:cond delay="499"/>
                                          </p:stCondLst>
                                        </p:cTn>
                                        <p:tgtEl>
                                          <p:spTgt spid="40"/>
                                        </p:tgtEl>
                                        <p:attrNameLst>
                                          <p:attrName>style.visibility</p:attrName>
                                        </p:attrNameLst>
                                      </p:cBhvr>
                                      <p:to>
                                        <p:strVal val="hidden"/>
                                      </p:to>
                                    </p:set>
                                  </p:childTnLst>
                                </p:cTn>
                              </p:par>
                              <p:par>
                                <p:cTn id="46" presetID="22" presetClass="exit" presetSubtype="4" fill="hold" grpId="1" nodeType="withEffect">
                                  <p:stCondLst>
                                    <p:cond delay="0"/>
                                  </p:stCondLst>
                                  <p:childTnLst>
                                    <p:animEffect transition="out" filter="wipe(down)">
                                      <p:cBhvr>
                                        <p:cTn id="47" dur="500"/>
                                        <p:tgtEl>
                                          <p:spTgt spid="26"/>
                                        </p:tgtEl>
                                      </p:cBhvr>
                                    </p:animEffect>
                                    <p:set>
                                      <p:cBhvr>
                                        <p:cTn id="48" dur="1" fill="hold">
                                          <p:stCondLst>
                                            <p:cond delay="499"/>
                                          </p:stCondLst>
                                        </p:cTn>
                                        <p:tgtEl>
                                          <p:spTgt spid="2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linds(horizontal)">
                                      <p:cBhvr>
                                        <p:cTn id="53" dur="500"/>
                                        <p:tgtEl>
                                          <p:spTgt spid="17"/>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blinds(horizontal)">
                                      <p:cBhvr>
                                        <p:cTn id="5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23" grpId="0"/>
      <p:bldP spid="23" grpId="1"/>
      <p:bldP spid="26" grpId="0" animBg="1"/>
      <p:bldP spid="26" grpId="1" animBg="1"/>
      <p:bldP spid="38" grpId="0" animBg="1"/>
      <p:bldP spid="40" grpId="0" animBg="1"/>
      <p:bldP spid="40" grpId="1" animBg="1"/>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724F57-D17F-F62C-4CB7-CEA780F3E24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OTP(Optimized to promise)</a:t>
            </a:r>
            <a:endParaRPr lang="zh-CN" altLang="en-US" dirty="0">
              <a:latin typeface="Arial" panose="020B0604020202020204" pitchFamily="34" charset="0"/>
              <a:ea typeface="微软雅黑" panose="020B0503020204020204" pitchFamily="34" charset="-122"/>
            </a:endParaRPr>
          </a:p>
        </p:txBody>
      </p:sp>
      <p:sp>
        <p:nvSpPr>
          <p:cNvPr id="4" name="椭圆 3">
            <a:extLst>
              <a:ext uri="{FF2B5EF4-FFF2-40B4-BE49-F238E27FC236}">
                <a16:creationId xmlns:a16="http://schemas.microsoft.com/office/drawing/2014/main" id="{CE58B136-830D-206F-E4EF-B3098F846E3A}"/>
              </a:ext>
            </a:extLst>
          </p:cNvPr>
          <p:cNvSpPr/>
          <p:nvPr/>
        </p:nvSpPr>
        <p:spPr>
          <a:xfrm>
            <a:off x="676896" y="2089223"/>
            <a:ext cx="6716107" cy="603054"/>
          </a:xfrm>
          <a:prstGeom prst="ellipse">
            <a:avLst/>
          </a:prstGeom>
          <a:noFill/>
          <a:ln w="12700" cap="flat" cmpd="sng" algn="ctr">
            <a:solidFill>
              <a:schemeClr val="tx1"/>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Verdana"/>
              <a:ea typeface="微软雅黑" panose="020B0503020204020204" pitchFamily="34" charset="-122"/>
              <a:cs typeface="+mn-cs"/>
            </a:endParaRPr>
          </a:p>
        </p:txBody>
      </p:sp>
      <p:sp>
        <p:nvSpPr>
          <p:cNvPr id="5" name="灯片编号占位符 3">
            <a:extLst>
              <a:ext uri="{FF2B5EF4-FFF2-40B4-BE49-F238E27FC236}">
                <a16:creationId xmlns:a16="http://schemas.microsoft.com/office/drawing/2014/main" id="{F76421B7-AD0C-56F1-858D-D6C4326AB54C}"/>
              </a:ext>
            </a:extLst>
          </p:cNvPr>
          <p:cNvSpPr txBox="1">
            <a:spLocks/>
          </p:cNvSpPr>
          <p:nvPr/>
        </p:nvSpPr>
        <p:spPr>
          <a:xfrm>
            <a:off x="9206057" y="6478934"/>
            <a:ext cx="2547595" cy="206381"/>
          </a:xfrm>
        </p:spPr>
        <p:txBody>
          <a:bodyPr/>
          <a:lstStyle>
            <a:defPPr>
              <a:defRPr lang="zh-CN"/>
            </a:defPPr>
            <a:lvl1pPr marL="0" algn="r" defTabSz="914400" rtl="0" eaLnBrk="1" latinLnBrk="0" hangingPunct="1">
              <a:defRPr sz="18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0" cap="none" spc="0" normalizeH="0" baseline="0" noProof="0" smtClean="0">
                <a:ln>
                  <a:noFill/>
                </a:ln>
                <a:solidFill>
                  <a:srgbClr val="FFFFFF">
                    <a:lumMod val="50000"/>
                  </a:srgbClr>
                </a:solidFill>
                <a:effectLst/>
                <a:uLnTx/>
                <a:uFillTx/>
                <a:latin typeface="Arial" panose="020B0604020202020204" pitchFamily="34" charset="0"/>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CN" altLang="en-US" sz="1000" b="0" i="0" u="none" strike="noStrike" kern="0" cap="none" spc="0" normalizeH="0" baseline="0" noProof="0" dirty="0">
              <a:ln>
                <a:noFill/>
              </a:ln>
              <a:solidFill>
                <a:srgbClr val="000000">
                  <a:lumMod val="50000"/>
                  <a:lumOff val="50000"/>
                </a:srgbClr>
              </a:solidFill>
              <a:effectLst/>
              <a:uLnTx/>
              <a:uFillTx/>
              <a:latin typeface="Arial" panose="020B0604020202020204" pitchFamily="34" charset="0"/>
              <a:ea typeface="微软雅黑" panose="020B0503020204020204" pitchFamily="34" charset="-122"/>
              <a:cs typeface="+mn-cs"/>
            </a:endParaRPr>
          </a:p>
        </p:txBody>
      </p:sp>
      <p:cxnSp>
        <p:nvCxnSpPr>
          <p:cNvPr id="6" name="直接连接符 5">
            <a:extLst>
              <a:ext uri="{FF2B5EF4-FFF2-40B4-BE49-F238E27FC236}">
                <a16:creationId xmlns:a16="http://schemas.microsoft.com/office/drawing/2014/main" id="{465A6E67-5B5D-7B77-9942-C0232F203166}"/>
              </a:ext>
            </a:extLst>
          </p:cNvPr>
          <p:cNvCxnSpPr/>
          <p:nvPr/>
        </p:nvCxnSpPr>
        <p:spPr>
          <a:xfrm>
            <a:off x="982262" y="1804945"/>
            <a:ext cx="0" cy="3978548"/>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7" name="文本框 6">
            <a:extLst>
              <a:ext uri="{FF2B5EF4-FFF2-40B4-BE49-F238E27FC236}">
                <a16:creationId xmlns:a16="http://schemas.microsoft.com/office/drawing/2014/main" id="{E95A3D32-4FA3-4D66-F6BB-25871BBEEE9C}"/>
              </a:ext>
            </a:extLst>
          </p:cNvPr>
          <p:cNvSpPr txBox="1"/>
          <p:nvPr/>
        </p:nvSpPr>
        <p:spPr>
          <a:xfrm>
            <a:off x="544487" y="1267216"/>
            <a:ext cx="834302" cy="2842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当前日期</a:t>
            </a:r>
          </a:p>
        </p:txBody>
      </p:sp>
      <p:grpSp>
        <p:nvGrpSpPr>
          <p:cNvPr id="8" name="组合 7">
            <a:extLst>
              <a:ext uri="{FF2B5EF4-FFF2-40B4-BE49-F238E27FC236}">
                <a16:creationId xmlns:a16="http://schemas.microsoft.com/office/drawing/2014/main" id="{6C4925BB-085D-8545-853D-1D7E91ECCDDC}"/>
              </a:ext>
            </a:extLst>
          </p:cNvPr>
          <p:cNvGrpSpPr/>
          <p:nvPr/>
        </p:nvGrpSpPr>
        <p:grpSpPr>
          <a:xfrm>
            <a:off x="1011290" y="1804945"/>
            <a:ext cx="8120749" cy="1347415"/>
            <a:chOff x="1011290" y="1804945"/>
            <a:chExt cx="8120749" cy="1347415"/>
          </a:xfrm>
        </p:grpSpPr>
        <p:sp>
          <p:nvSpPr>
            <p:cNvPr id="9" name="椭圆 8">
              <a:extLst>
                <a:ext uri="{FF2B5EF4-FFF2-40B4-BE49-F238E27FC236}">
                  <a16:creationId xmlns:a16="http://schemas.microsoft.com/office/drawing/2014/main" id="{7166F46F-DBD7-64A0-BF64-DBAAF1ED682E}"/>
                </a:ext>
              </a:extLst>
            </p:cNvPr>
            <p:cNvSpPr/>
            <p:nvPr/>
          </p:nvSpPr>
          <p:spPr>
            <a:xfrm>
              <a:off x="1011290" y="2202142"/>
              <a:ext cx="1001485" cy="370114"/>
            </a:xfrm>
            <a:prstGeom prst="ellipse">
              <a:avLst/>
            </a:prstGeom>
            <a:solidFill>
              <a:schemeClr val="accent1">
                <a:lumMod val="20000"/>
                <a:lumOff val="80000"/>
              </a:schemeClr>
            </a:solidFill>
            <a:ln w="6350" cap="flat" cmpd="sng" algn="ctr">
              <a:solidFill>
                <a:srgbClr val="6C92F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原材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椭圆 9">
              <a:extLst>
                <a:ext uri="{FF2B5EF4-FFF2-40B4-BE49-F238E27FC236}">
                  <a16:creationId xmlns:a16="http://schemas.microsoft.com/office/drawing/2014/main" id="{A9E857C7-824B-0A2C-E871-10AB2DBA2B4E}"/>
                </a:ext>
              </a:extLst>
            </p:cNvPr>
            <p:cNvSpPr/>
            <p:nvPr/>
          </p:nvSpPr>
          <p:spPr>
            <a:xfrm>
              <a:off x="2145225" y="2202142"/>
              <a:ext cx="1001485" cy="370114"/>
            </a:xfrm>
            <a:prstGeom prst="ellipse">
              <a:avLst/>
            </a:prstGeom>
            <a:solidFill>
              <a:schemeClr val="accent1">
                <a:lumMod val="40000"/>
                <a:lumOff val="60000"/>
              </a:schemeClr>
            </a:solidFill>
            <a:ln w="6350" cap="flat" cmpd="sng" algn="ctr">
              <a:solidFill>
                <a:srgbClr val="4765D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1" name="椭圆 10">
              <a:extLst>
                <a:ext uri="{FF2B5EF4-FFF2-40B4-BE49-F238E27FC236}">
                  <a16:creationId xmlns:a16="http://schemas.microsoft.com/office/drawing/2014/main" id="{6303FC94-14AA-CB36-8B0D-8C5550ECA868}"/>
                </a:ext>
              </a:extLst>
            </p:cNvPr>
            <p:cNvSpPr/>
            <p:nvPr/>
          </p:nvSpPr>
          <p:spPr>
            <a:xfrm>
              <a:off x="3823437" y="2202142"/>
              <a:ext cx="1001485" cy="370114"/>
            </a:xfrm>
            <a:prstGeom prst="ellipse">
              <a:avLst/>
            </a:prstGeom>
            <a:solidFill>
              <a:schemeClr val="accent1">
                <a:lumMod val="60000"/>
                <a:lumOff val="40000"/>
              </a:schemeClr>
            </a:solidFill>
            <a:ln w="6350" cap="flat" cmpd="sng" algn="ctr">
              <a:solidFill>
                <a:srgbClr val="09309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椭圆 11">
              <a:extLst>
                <a:ext uri="{FF2B5EF4-FFF2-40B4-BE49-F238E27FC236}">
                  <a16:creationId xmlns:a16="http://schemas.microsoft.com/office/drawing/2014/main" id="{D7C520D7-F74C-5871-1080-7553F8A210CA}"/>
                </a:ext>
              </a:extLst>
            </p:cNvPr>
            <p:cNvSpPr/>
            <p:nvPr/>
          </p:nvSpPr>
          <p:spPr>
            <a:xfrm>
              <a:off x="5973367" y="2202142"/>
              <a:ext cx="1001485" cy="370114"/>
            </a:xfrm>
            <a:prstGeom prst="ellipse">
              <a:avLst/>
            </a:prstGeom>
            <a:solidFill>
              <a:schemeClr val="accent1">
                <a:lumMod val="75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3" name="组合 12">
              <a:extLst>
                <a:ext uri="{FF2B5EF4-FFF2-40B4-BE49-F238E27FC236}">
                  <a16:creationId xmlns:a16="http://schemas.microsoft.com/office/drawing/2014/main" id="{8CCDE319-4511-F8DA-A531-BF79B7D56765}"/>
                </a:ext>
              </a:extLst>
            </p:cNvPr>
            <p:cNvGrpSpPr/>
            <p:nvPr/>
          </p:nvGrpSpPr>
          <p:grpSpPr>
            <a:xfrm>
              <a:off x="8130554" y="1810953"/>
              <a:ext cx="1001485" cy="761303"/>
              <a:chOff x="8130554" y="1804530"/>
              <a:chExt cx="1001485" cy="761303"/>
            </a:xfrm>
          </p:grpSpPr>
          <p:sp>
            <p:nvSpPr>
              <p:cNvPr id="30" name="椭圆 29">
                <a:extLst>
                  <a:ext uri="{FF2B5EF4-FFF2-40B4-BE49-F238E27FC236}">
                    <a16:creationId xmlns:a16="http://schemas.microsoft.com/office/drawing/2014/main" id="{2E6ADE7E-B06E-4D3D-8F25-A2FC1BCE8FB9}"/>
                  </a:ext>
                </a:extLst>
              </p:cNvPr>
              <p:cNvSpPr/>
              <p:nvPr/>
            </p:nvSpPr>
            <p:spPr>
              <a:xfrm>
                <a:off x="8130554" y="2195719"/>
                <a:ext cx="1001485" cy="370114"/>
              </a:xfrm>
              <a:prstGeom prst="ellipse">
                <a:avLst/>
              </a:prstGeom>
              <a:solidFill>
                <a:schemeClr val="accent1">
                  <a:lumMod val="50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成品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1" name="矩形 30">
                <a:extLst>
                  <a:ext uri="{FF2B5EF4-FFF2-40B4-BE49-F238E27FC236}">
                    <a16:creationId xmlns:a16="http://schemas.microsoft.com/office/drawing/2014/main" id="{B0E6ED27-4B2C-5434-12B3-A0756326957E}"/>
                  </a:ext>
                </a:extLst>
              </p:cNvPr>
              <p:cNvSpPr/>
              <p:nvPr/>
            </p:nvSpPr>
            <p:spPr>
              <a:xfrm>
                <a:off x="8256276" y="180453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rPr>
                  <a:t>Level 0</a:t>
                </a:r>
                <a:endParaRPr kumimoji="0" lang="zh-CN" altLang="en-US"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endParaRPr>
              </a:p>
            </p:txBody>
          </p:sp>
        </p:grpSp>
        <p:sp>
          <p:nvSpPr>
            <p:cNvPr id="14" name="矩形 13">
              <a:extLst>
                <a:ext uri="{FF2B5EF4-FFF2-40B4-BE49-F238E27FC236}">
                  <a16:creationId xmlns:a16="http://schemas.microsoft.com/office/drawing/2014/main" id="{04A42584-F4E2-21A2-A736-EA2AE802996A}"/>
                </a:ext>
              </a:extLst>
            </p:cNvPr>
            <p:cNvSpPr/>
            <p:nvPr/>
          </p:nvSpPr>
          <p:spPr>
            <a:xfrm>
              <a:off x="6099089" y="1804945"/>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rPr>
                <a:t>Level 1</a:t>
              </a:r>
              <a:endParaRPr kumimoji="0" lang="zh-CN" altLang="en-US"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endParaRPr>
            </a:p>
          </p:txBody>
        </p:sp>
        <p:sp>
          <p:nvSpPr>
            <p:cNvPr id="15" name="矩形 14">
              <a:extLst>
                <a:ext uri="{FF2B5EF4-FFF2-40B4-BE49-F238E27FC236}">
                  <a16:creationId xmlns:a16="http://schemas.microsoft.com/office/drawing/2014/main" id="{F70A4D29-5DAE-7A08-65FE-8DBDA7B262CA}"/>
                </a:ext>
              </a:extLst>
            </p:cNvPr>
            <p:cNvSpPr/>
            <p:nvPr/>
          </p:nvSpPr>
          <p:spPr>
            <a:xfrm>
              <a:off x="3943888" y="1804945"/>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rPr>
                <a:t>Level 2</a:t>
              </a:r>
              <a:endParaRPr kumimoji="0" lang="zh-CN" altLang="en-US"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endParaRPr>
            </a:p>
          </p:txBody>
        </p:sp>
        <p:sp>
          <p:nvSpPr>
            <p:cNvPr id="16" name="矩形 15">
              <a:extLst>
                <a:ext uri="{FF2B5EF4-FFF2-40B4-BE49-F238E27FC236}">
                  <a16:creationId xmlns:a16="http://schemas.microsoft.com/office/drawing/2014/main" id="{370F7AB0-A182-3AC8-C0C7-5425FBB13C84}"/>
                </a:ext>
              </a:extLst>
            </p:cNvPr>
            <p:cNvSpPr/>
            <p:nvPr/>
          </p:nvSpPr>
          <p:spPr>
            <a:xfrm>
              <a:off x="2275385" y="1804945"/>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rPr>
                <a:t>Level 3</a:t>
              </a:r>
              <a:endParaRPr kumimoji="0" lang="zh-CN" altLang="en-US"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47C1D59D-B616-9D20-D754-74E00F2AE98F}"/>
                </a:ext>
              </a:extLst>
            </p:cNvPr>
            <p:cNvSpPr/>
            <p:nvPr/>
          </p:nvSpPr>
          <p:spPr>
            <a:xfrm>
              <a:off x="1136179" y="1804945"/>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rPr>
                <a:t>Level 4</a:t>
              </a:r>
              <a:endParaRPr kumimoji="0" lang="zh-CN" altLang="en-US" sz="1200" b="0" i="0" u="none" strike="noStrike" kern="0" cap="none" spc="0" normalizeH="0" baseline="0" noProof="0" dirty="0">
                <a:ln>
                  <a:noFill/>
                </a:ln>
                <a:solidFill>
                  <a:srgbClr val="4674C1">
                    <a:lumMod val="50000"/>
                  </a:srgbClr>
                </a:solidFill>
                <a:effectLst/>
                <a:uLnTx/>
                <a:uFillTx/>
                <a:latin typeface="Arial" panose="020B0604020202020204" pitchFamily="34" charset="0"/>
                <a:ea typeface="微软雅黑" panose="020B0503020204020204" pitchFamily="34" charset="-122"/>
                <a:cs typeface="+mn-cs"/>
              </a:endParaRPr>
            </a:p>
          </p:txBody>
        </p:sp>
        <p:grpSp>
          <p:nvGrpSpPr>
            <p:cNvPr id="18" name="组合 17">
              <a:extLst>
                <a:ext uri="{FF2B5EF4-FFF2-40B4-BE49-F238E27FC236}">
                  <a16:creationId xmlns:a16="http://schemas.microsoft.com/office/drawing/2014/main" id="{13F1E82B-F83D-7DC6-7DED-C0AEC07DA562}"/>
                </a:ext>
              </a:extLst>
            </p:cNvPr>
            <p:cNvGrpSpPr/>
            <p:nvPr/>
          </p:nvGrpSpPr>
          <p:grpSpPr>
            <a:xfrm>
              <a:off x="1518382" y="2573163"/>
              <a:ext cx="1257190" cy="509210"/>
              <a:chOff x="1518382" y="2245986"/>
              <a:chExt cx="1257190" cy="509210"/>
            </a:xfrm>
          </p:grpSpPr>
          <p:cxnSp>
            <p:nvCxnSpPr>
              <p:cNvPr id="28" name="连接符: 曲线 27">
                <a:extLst>
                  <a:ext uri="{FF2B5EF4-FFF2-40B4-BE49-F238E27FC236}">
                    <a16:creationId xmlns:a16="http://schemas.microsoft.com/office/drawing/2014/main" id="{C4BFBB75-0D1A-C09D-569E-F4135B449FDD}"/>
                  </a:ext>
                </a:extLst>
              </p:cNvPr>
              <p:cNvCxnSpPr>
                <a:stCxn id="9" idx="4"/>
                <a:endCxn id="10" idx="4"/>
              </p:cNvCxnSpPr>
              <p:nvPr/>
            </p:nvCxnSpPr>
            <p:spPr>
              <a:xfrm rot="16200000" flipH="1">
                <a:off x="2079000" y="1685368"/>
                <a:ext cx="12700" cy="1133935"/>
              </a:xfrm>
              <a:prstGeom prst="curvedConnector3">
                <a:avLst>
                  <a:gd name="adj1" fmla="val 1800000"/>
                </a:avLst>
              </a:prstGeom>
              <a:ln w="127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文本框 28">
                <a:extLst>
                  <a:ext uri="{FF2B5EF4-FFF2-40B4-BE49-F238E27FC236}">
                    <a16:creationId xmlns:a16="http://schemas.microsoft.com/office/drawing/2014/main" id="{F181AEF1-59B8-97E8-B05A-D28DE73BC1CD}"/>
                  </a:ext>
                </a:extLst>
              </p:cNvPr>
              <p:cNvSpPr txBox="1"/>
              <p:nvPr/>
            </p:nvSpPr>
            <p:spPr>
              <a:xfrm>
                <a:off x="1578143" y="2478197"/>
                <a:ext cx="119742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19" name="组合 18">
              <a:extLst>
                <a:ext uri="{FF2B5EF4-FFF2-40B4-BE49-F238E27FC236}">
                  <a16:creationId xmlns:a16="http://schemas.microsoft.com/office/drawing/2014/main" id="{08D6DBE5-88AF-3025-4E1F-1C60394762C2}"/>
                </a:ext>
              </a:extLst>
            </p:cNvPr>
            <p:cNvGrpSpPr/>
            <p:nvPr/>
          </p:nvGrpSpPr>
          <p:grpSpPr>
            <a:xfrm>
              <a:off x="2899103" y="2594580"/>
              <a:ext cx="1283145" cy="508612"/>
              <a:chOff x="1518382" y="2559483"/>
              <a:chExt cx="1283145" cy="508612"/>
            </a:xfrm>
          </p:grpSpPr>
          <p:cxnSp>
            <p:nvCxnSpPr>
              <p:cNvPr id="26" name="连接符: 曲线 25">
                <a:extLst>
                  <a:ext uri="{FF2B5EF4-FFF2-40B4-BE49-F238E27FC236}">
                    <a16:creationId xmlns:a16="http://schemas.microsoft.com/office/drawing/2014/main" id="{9EEAD2B1-8FEB-7E28-61F0-5D8B63E4AA3B}"/>
                  </a:ext>
                </a:extLst>
              </p:cNvPr>
              <p:cNvCxnSpPr/>
              <p:nvPr/>
            </p:nvCxnSpPr>
            <p:spPr>
              <a:xfrm rot="16200000" flipH="1">
                <a:off x="2079000" y="1998865"/>
                <a:ext cx="12700" cy="1133935"/>
              </a:xfrm>
              <a:prstGeom prst="curvedConnector3">
                <a:avLst>
                  <a:gd name="adj1" fmla="val 1800000"/>
                </a:avLst>
              </a:prstGeom>
              <a:ln w="127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文本框 26">
                <a:extLst>
                  <a:ext uri="{FF2B5EF4-FFF2-40B4-BE49-F238E27FC236}">
                    <a16:creationId xmlns:a16="http://schemas.microsoft.com/office/drawing/2014/main" id="{E176883D-EFB0-1D9C-66A5-DCB17A79181D}"/>
                  </a:ext>
                </a:extLst>
              </p:cNvPr>
              <p:cNvSpPr txBox="1"/>
              <p:nvPr/>
            </p:nvSpPr>
            <p:spPr>
              <a:xfrm>
                <a:off x="1604098" y="2791096"/>
                <a:ext cx="1197429" cy="276999"/>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tabLst/>
                  <a:defRPr kumimoji="0" sz="1200" b="1" i="0" u="none" strike="noStrike" kern="0" cap="none" spc="0" normalizeH="0" baseline="0">
                    <a:ln>
                      <a:noFill/>
                    </a:ln>
                    <a:solidFill>
                      <a:schemeClr val="accent2">
                        <a:lumMod val="75000"/>
                      </a:schemeClr>
                    </a:solidFill>
                    <a:effectLst/>
                    <a:uLnTx/>
                    <a:uFillTx/>
                    <a:latin typeface="Verdana"/>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cs typeface="+mn-cs"/>
                </a:endParaRPr>
              </a:p>
            </p:txBody>
          </p:sp>
        </p:grpSp>
        <p:grpSp>
          <p:nvGrpSpPr>
            <p:cNvPr id="20" name="组合 19">
              <a:extLst>
                <a:ext uri="{FF2B5EF4-FFF2-40B4-BE49-F238E27FC236}">
                  <a16:creationId xmlns:a16="http://schemas.microsoft.com/office/drawing/2014/main" id="{523FF05F-ABAF-D1BF-A067-7CAA89E15955}"/>
                </a:ext>
              </a:extLst>
            </p:cNvPr>
            <p:cNvGrpSpPr/>
            <p:nvPr/>
          </p:nvGrpSpPr>
          <p:grpSpPr>
            <a:xfrm>
              <a:off x="4693927" y="2610434"/>
              <a:ext cx="1683803" cy="508612"/>
              <a:chOff x="1518382" y="2559483"/>
              <a:chExt cx="1283145" cy="508612"/>
            </a:xfrm>
          </p:grpSpPr>
          <p:cxnSp>
            <p:nvCxnSpPr>
              <p:cNvPr id="24" name="连接符: 曲线 23">
                <a:extLst>
                  <a:ext uri="{FF2B5EF4-FFF2-40B4-BE49-F238E27FC236}">
                    <a16:creationId xmlns:a16="http://schemas.microsoft.com/office/drawing/2014/main" id="{1EF24EE7-F17A-3570-1AD1-7A4ACAD3EA69}"/>
                  </a:ext>
                </a:extLst>
              </p:cNvPr>
              <p:cNvCxnSpPr/>
              <p:nvPr/>
            </p:nvCxnSpPr>
            <p:spPr>
              <a:xfrm rot="16200000" flipH="1">
                <a:off x="2079000" y="1998865"/>
                <a:ext cx="12700" cy="1133935"/>
              </a:xfrm>
              <a:prstGeom prst="curvedConnector3">
                <a:avLst>
                  <a:gd name="adj1" fmla="val 1800000"/>
                </a:avLst>
              </a:prstGeom>
              <a:ln w="127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文本框 24">
                <a:extLst>
                  <a:ext uri="{FF2B5EF4-FFF2-40B4-BE49-F238E27FC236}">
                    <a16:creationId xmlns:a16="http://schemas.microsoft.com/office/drawing/2014/main" id="{E8DB1D52-0DD8-17BD-1BB6-3BF1B78B4C8A}"/>
                  </a:ext>
                </a:extLst>
              </p:cNvPr>
              <p:cNvSpPr txBox="1"/>
              <p:nvPr/>
            </p:nvSpPr>
            <p:spPr>
              <a:xfrm>
                <a:off x="1604098" y="2791096"/>
                <a:ext cx="1197429" cy="276999"/>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tabLst/>
                  <a:defRPr kumimoji="0" sz="1200" b="1" i="0" u="none" strike="noStrike" kern="0" cap="none" spc="0" normalizeH="0" baseline="0">
                    <a:ln>
                      <a:noFill/>
                    </a:ln>
                    <a:solidFill>
                      <a:schemeClr val="accent2">
                        <a:lumMod val="75000"/>
                      </a:schemeClr>
                    </a:solidFill>
                    <a:effectLst/>
                    <a:uLnTx/>
                    <a:uFillTx/>
                    <a:latin typeface="Verdana"/>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cs typeface="+mn-cs"/>
                  </a:rPr>
                  <a:t>    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cs typeface="+mn-cs"/>
                </a:endParaRPr>
              </a:p>
            </p:txBody>
          </p:sp>
        </p:grpSp>
        <p:grpSp>
          <p:nvGrpSpPr>
            <p:cNvPr id="21" name="组合 20">
              <a:extLst>
                <a:ext uri="{FF2B5EF4-FFF2-40B4-BE49-F238E27FC236}">
                  <a16:creationId xmlns:a16="http://schemas.microsoft.com/office/drawing/2014/main" id="{E777976C-9585-F55C-0125-CA37AD63AE73}"/>
                </a:ext>
              </a:extLst>
            </p:cNvPr>
            <p:cNvGrpSpPr/>
            <p:nvPr/>
          </p:nvGrpSpPr>
          <p:grpSpPr>
            <a:xfrm>
              <a:off x="6904688" y="2643748"/>
              <a:ext cx="1683803" cy="508612"/>
              <a:chOff x="1518382" y="2559483"/>
              <a:chExt cx="1283145" cy="508612"/>
            </a:xfrm>
          </p:grpSpPr>
          <p:cxnSp>
            <p:nvCxnSpPr>
              <p:cNvPr id="22" name="连接符: 曲线 21">
                <a:extLst>
                  <a:ext uri="{FF2B5EF4-FFF2-40B4-BE49-F238E27FC236}">
                    <a16:creationId xmlns:a16="http://schemas.microsoft.com/office/drawing/2014/main" id="{D45C6652-8ECE-8DA0-B32A-98A775BFC60D}"/>
                  </a:ext>
                </a:extLst>
              </p:cNvPr>
              <p:cNvCxnSpPr/>
              <p:nvPr/>
            </p:nvCxnSpPr>
            <p:spPr>
              <a:xfrm rot="16200000" flipH="1">
                <a:off x="2079000" y="1998865"/>
                <a:ext cx="12700" cy="1133935"/>
              </a:xfrm>
              <a:prstGeom prst="curvedConnector3">
                <a:avLst>
                  <a:gd name="adj1" fmla="val 1800000"/>
                </a:avLst>
              </a:prstGeom>
              <a:ln w="127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a:extLst>
                  <a:ext uri="{FF2B5EF4-FFF2-40B4-BE49-F238E27FC236}">
                    <a16:creationId xmlns:a16="http://schemas.microsoft.com/office/drawing/2014/main" id="{7B341C3B-7D44-84C4-A78F-80F32C272FE8}"/>
                  </a:ext>
                </a:extLst>
              </p:cNvPr>
              <p:cNvSpPr txBox="1"/>
              <p:nvPr/>
            </p:nvSpPr>
            <p:spPr>
              <a:xfrm>
                <a:off x="1604098" y="2791096"/>
                <a:ext cx="119742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grpSp>
        <p:nvGrpSpPr>
          <p:cNvPr id="32" name="组合 31">
            <a:extLst>
              <a:ext uri="{FF2B5EF4-FFF2-40B4-BE49-F238E27FC236}">
                <a16:creationId xmlns:a16="http://schemas.microsoft.com/office/drawing/2014/main" id="{DCA9F296-AEA5-CB6A-44CD-7EFF6AC9650F}"/>
              </a:ext>
            </a:extLst>
          </p:cNvPr>
          <p:cNvGrpSpPr/>
          <p:nvPr/>
        </p:nvGrpSpPr>
        <p:grpSpPr>
          <a:xfrm>
            <a:off x="8665912" y="874943"/>
            <a:ext cx="1448374" cy="4816217"/>
            <a:chOff x="8665912" y="874943"/>
            <a:chExt cx="1448374" cy="4816217"/>
          </a:xfrm>
        </p:grpSpPr>
        <p:cxnSp>
          <p:nvCxnSpPr>
            <p:cNvPr id="33" name="直接连接符 32">
              <a:extLst>
                <a:ext uri="{FF2B5EF4-FFF2-40B4-BE49-F238E27FC236}">
                  <a16:creationId xmlns:a16="http://schemas.microsoft.com/office/drawing/2014/main" id="{9F05B20D-909C-E003-D689-31C0F483BA9B}"/>
                </a:ext>
              </a:extLst>
            </p:cNvPr>
            <p:cNvCxnSpPr/>
            <p:nvPr/>
          </p:nvCxnSpPr>
          <p:spPr>
            <a:xfrm>
              <a:off x="9201348" y="1712612"/>
              <a:ext cx="0" cy="3978548"/>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34" name="文本框 33">
              <a:extLst>
                <a:ext uri="{FF2B5EF4-FFF2-40B4-BE49-F238E27FC236}">
                  <a16:creationId xmlns:a16="http://schemas.microsoft.com/office/drawing/2014/main" id="{F2645410-FBDE-63A5-DD39-77B2F18F0FC7}"/>
                </a:ext>
              </a:extLst>
            </p:cNvPr>
            <p:cNvSpPr txBox="1"/>
            <p:nvPr/>
          </p:nvSpPr>
          <p:spPr>
            <a:xfrm>
              <a:off x="8665912" y="874943"/>
              <a:ext cx="144837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最早可交日期</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Best Can do</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35" name="组合 34">
            <a:extLst>
              <a:ext uri="{FF2B5EF4-FFF2-40B4-BE49-F238E27FC236}">
                <a16:creationId xmlns:a16="http://schemas.microsoft.com/office/drawing/2014/main" id="{EF4BD7A5-93C2-CF6E-2F5A-1F8A4B8F855E}"/>
              </a:ext>
            </a:extLst>
          </p:cNvPr>
          <p:cNvGrpSpPr/>
          <p:nvPr/>
        </p:nvGrpSpPr>
        <p:grpSpPr>
          <a:xfrm>
            <a:off x="2600875" y="3228080"/>
            <a:ext cx="6562475" cy="1335109"/>
            <a:chOff x="2600124" y="3247630"/>
            <a:chExt cx="6562475" cy="1335109"/>
          </a:xfrm>
        </p:grpSpPr>
        <p:sp>
          <p:nvSpPr>
            <p:cNvPr id="36" name="椭圆 35">
              <a:extLst>
                <a:ext uri="{FF2B5EF4-FFF2-40B4-BE49-F238E27FC236}">
                  <a16:creationId xmlns:a16="http://schemas.microsoft.com/office/drawing/2014/main" id="{56B729E9-B83E-E181-B720-B8B862308343}"/>
                </a:ext>
              </a:extLst>
            </p:cNvPr>
            <p:cNvSpPr/>
            <p:nvPr/>
          </p:nvSpPr>
          <p:spPr>
            <a:xfrm>
              <a:off x="2600124" y="3644827"/>
              <a:ext cx="1001485" cy="370114"/>
            </a:xfrm>
            <a:prstGeom prst="ellipse">
              <a:avLst/>
            </a:prstGeom>
            <a:solidFill>
              <a:schemeClr val="accent1">
                <a:lumMod val="20000"/>
                <a:lumOff val="80000"/>
              </a:schemeClr>
            </a:solidFill>
            <a:ln w="6350" cap="flat" cmpd="sng" algn="ctr">
              <a:solidFill>
                <a:srgbClr val="6C92F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原材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7" name="椭圆 36">
              <a:extLst>
                <a:ext uri="{FF2B5EF4-FFF2-40B4-BE49-F238E27FC236}">
                  <a16:creationId xmlns:a16="http://schemas.microsoft.com/office/drawing/2014/main" id="{1C2B5E1C-2BE2-0014-72CF-8F1D7B87657F}"/>
                </a:ext>
              </a:extLst>
            </p:cNvPr>
            <p:cNvSpPr/>
            <p:nvPr/>
          </p:nvSpPr>
          <p:spPr>
            <a:xfrm>
              <a:off x="3988058" y="3644827"/>
              <a:ext cx="1001485" cy="370114"/>
            </a:xfrm>
            <a:prstGeom prst="ellipse">
              <a:avLst/>
            </a:prstGeom>
            <a:solidFill>
              <a:schemeClr val="accent1">
                <a:lumMod val="40000"/>
                <a:lumOff val="60000"/>
              </a:schemeClr>
            </a:solidFill>
            <a:ln w="6350" cap="flat" cmpd="sng" algn="ctr">
              <a:solidFill>
                <a:srgbClr val="4765D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8" name="椭圆 37">
              <a:extLst>
                <a:ext uri="{FF2B5EF4-FFF2-40B4-BE49-F238E27FC236}">
                  <a16:creationId xmlns:a16="http://schemas.microsoft.com/office/drawing/2014/main" id="{CA509F93-6EA0-0709-B62D-337ACE1C0BF5}"/>
                </a:ext>
              </a:extLst>
            </p:cNvPr>
            <p:cNvSpPr/>
            <p:nvPr/>
          </p:nvSpPr>
          <p:spPr>
            <a:xfrm>
              <a:off x="5398229" y="3666013"/>
              <a:ext cx="1001485" cy="370114"/>
            </a:xfrm>
            <a:prstGeom prst="ellipse">
              <a:avLst/>
            </a:prstGeom>
            <a:solidFill>
              <a:schemeClr val="accent1">
                <a:lumMod val="60000"/>
                <a:lumOff val="40000"/>
              </a:schemeClr>
            </a:solidFill>
            <a:ln w="6350" cap="flat" cmpd="sng" algn="ctr">
              <a:solidFill>
                <a:srgbClr val="09309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9" name="椭圆 38">
              <a:extLst>
                <a:ext uri="{FF2B5EF4-FFF2-40B4-BE49-F238E27FC236}">
                  <a16:creationId xmlns:a16="http://schemas.microsoft.com/office/drawing/2014/main" id="{D7D58833-97E9-657C-B394-4FE6FC8F54E1}"/>
                </a:ext>
              </a:extLst>
            </p:cNvPr>
            <p:cNvSpPr/>
            <p:nvPr/>
          </p:nvSpPr>
          <p:spPr>
            <a:xfrm>
              <a:off x="6804042" y="3666013"/>
              <a:ext cx="1001485" cy="370114"/>
            </a:xfrm>
            <a:prstGeom prst="ellipse">
              <a:avLst/>
            </a:prstGeom>
            <a:solidFill>
              <a:schemeClr val="accent1">
                <a:lumMod val="75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40" name="组合 39">
              <a:extLst>
                <a:ext uri="{FF2B5EF4-FFF2-40B4-BE49-F238E27FC236}">
                  <a16:creationId xmlns:a16="http://schemas.microsoft.com/office/drawing/2014/main" id="{E2CA6AA6-72A7-597F-18B8-20950F95B777}"/>
                </a:ext>
              </a:extLst>
            </p:cNvPr>
            <p:cNvGrpSpPr/>
            <p:nvPr/>
          </p:nvGrpSpPr>
          <p:grpSpPr>
            <a:xfrm>
              <a:off x="8161114" y="3274824"/>
              <a:ext cx="1001485" cy="761303"/>
              <a:chOff x="8161114" y="1804530"/>
              <a:chExt cx="1001485" cy="761303"/>
            </a:xfrm>
          </p:grpSpPr>
          <p:sp>
            <p:nvSpPr>
              <p:cNvPr id="57" name="椭圆 56">
                <a:extLst>
                  <a:ext uri="{FF2B5EF4-FFF2-40B4-BE49-F238E27FC236}">
                    <a16:creationId xmlns:a16="http://schemas.microsoft.com/office/drawing/2014/main" id="{71B692DE-59E7-7480-72BF-5E9CE33E3524}"/>
                  </a:ext>
                </a:extLst>
              </p:cNvPr>
              <p:cNvSpPr/>
              <p:nvPr/>
            </p:nvSpPr>
            <p:spPr>
              <a:xfrm>
                <a:off x="8161114" y="2195719"/>
                <a:ext cx="1001485" cy="370114"/>
              </a:xfrm>
              <a:prstGeom prst="ellipse">
                <a:avLst/>
              </a:prstGeom>
              <a:solidFill>
                <a:schemeClr val="accent1">
                  <a:lumMod val="50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成品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8" name="矩形 57">
                <a:extLst>
                  <a:ext uri="{FF2B5EF4-FFF2-40B4-BE49-F238E27FC236}">
                    <a16:creationId xmlns:a16="http://schemas.microsoft.com/office/drawing/2014/main" id="{6109717B-B420-3416-2255-7F71404FF047}"/>
                  </a:ext>
                </a:extLst>
              </p:cNvPr>
              <p:cNvSpPr/>
              <p:nvPr/>
            </p:nvSpPr>
            <p:spPr>
              <a:xfrm>
                <a:off x="8256276" y="180453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0</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41" name="矩形 40">
              <a:extLst>
                <a:ext uri="{FF2B5EF4-FFF2-40B4-BE49-F238E27FC236}">
                  <a16:creationId xmlns:a16="http://schemas.microsoft.com/office/drawing/2014/main" id="{8ABCC03C-AE5D-C4AC-60DC-FDDBF0C7615F}"/>
                </a:ext>
              </a:extLst>
            </p:cNvPr>
            <p:cNvSpPr/>
            <p:nvPr/>
          </p:nvSpPr>
          <p:spPr>
            <a:xfrm>
              <a:off x="6919142" y="3268816"/>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1</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2" name="矩形 41">
              <a:extLst>
                <a:ext uri="{FF2B5EF4-FFF2-40B4-BE49-F238E27FC236}">
                  <a16:creationId xmlns:a16="http://schemas.microsoft.com/office/drawing/2014/main" id="{9236C212-7A11-5B50-4670-4D8EBA101312}"/>
                </a:ext>
              </a:extLst>
            </p:cNvPr>
            <p:cNvSpPr/>
            <p:nvPr/>
          </p:nvSpPr>
          <p:spPr>
            <a:xfrm>
              <a:off x="5518680" y="3268816"/>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2</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3" name="矩形 42">
              <a:extLst>
                <a:ext uri="{FF2B5EF4-FFF2-40B4-BE49-F238E27FC236}">
                  <a16:creationId xmlns:a16="http://schemas.microsoft.com/office/drawing/2014/main" id="{A7B3B75A-2128-CD87-23C8-5DD8B6FF6439}"/>
                </a:ext>
              </a:extLst>
            </p:cNvPr>
            <p:cNvSpPr/>
            <p:nvPr/>
          </p:nvSpPr>
          <p:spPr>
            <a:xfrm>
              <a:off x="4118218" y="324763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3</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44" name="矩形 43">
              <a:extLst>
                <a:ext uri="{FF2B5EF4-FFF2-40B4-BE49-F238E27FC236}">
                  <a16:creationId xmlns:a16="http://schemas.microsoft.com/office/drawing/2014/main" id="{417FCC5A-FAB3-3E0B-EBD1-9EE625AFA9F6}"/>
                </a:ext>
              </a:extLst>
            </p:cNvPr>
            <p:cNvSpPr/>
            <p:nvPr/>
          </p:nvSpPr>
          <p:spPr>
            <a:xfrm>
              <a:off x="2725013" y="324763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4</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45" name="组合 44">
              <a:extLst>
                <a:ext uri="{FF2B5EF4-FFF2-40B4-BE49-F238E27FC236}">
                  <a16:creationId xmlns:a16="http://schemas.microsoft.com/office/drawing/2014/main" id="{8B0569C3-183D-8A6E-1EEB-78DDAC354465}"/>
                </a:ext>
              </a:extLst>
            </p:cNvPr>
            <p:cNvGrpSpPr/>
            <p:nvPr/>
          </p:nvGrpSpPr>
          <p:grpSpPr>
            <a:xfrm>
              <a:off x="3107217" y="4015848"/>
              <a:ext cx="1438096" cy="515260"/>
              <a:chOff x="1932037" y="2165097"/>
              <a:chExt cx="1438096" cy="515260"/>
            </a:xfrm>
          </p:grpSpPr>
          <p:cxnSp>
            <p:nvCxnSpPr>
              <p:cNvPr id="55" name="连接符: 曲线 54">
                <a:extLst>
                  <a:ext uri="{FF2B5EF4-FFF2-40B4-BE49-F238E27FC236}">
                    <a16:creationId xmlns:a16="http://schemas.microsoft.com/office/drawing/2014/main" id="{AC81D8F2-134E-D2B7-165E-F32B55141867}"/>
                  </a:ext>
                </a:extLst>
              </p:cNvPr>
              <p:cNvCxnSpPr>
                <a:stCxn id="36" idx="4"/>
                <a:endCxn id="37" idx="4"/>
              </p:cNvCxnSpPr>
              <p:nvPr/>
            </p:nvCxnSpPr>
            <p:spPr>
              <a:xfrm rot="16200000" flipH="1">
                <a:off x="2619654" y="1477480"/>
                <a:ext cx="12700" cy="1387934"/>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56" name="文本框 55">
                <a:extLst>
                  <a:ext uri="{FF2B5EF4-FFF2-40B4-BE49-F238E27FC236}">
                    <a16:creationId xmlns:a16="http://schemas.microsoft.com/office/drawing/2014/main" id="{37ED83A2-0C63-3DEF-A501-DD5A89BE466C}"/>
                  </a:ext>
                </a:extLst>
              </p:cNvPr>
              <p:cNvSpPr txBox="1"/>
              <p:nvPr/>
            </p:nvSpPr>
            <p:spPr>
              <a:xfrm>
                <a:off x="2172704" y="2403358"/>
                <a:ext cx="119742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46" name="组合 45">
              <a:extLst>
                <a:ext uri="{FF2B5EF4-FFF2-40B4-BE49-F238E27FC236}">
                  <a16:creationId xmlns:a16="http://schemas.microsoft.com/office/drawing/2014/main" id="{98048EAA-F96F-3BBE-E7EA-73BCFF99DCFB}"/>
                </a:ext>
              </a:extLst>
            </p:cNvPr>
            <p:cNvGrpSpPr/>
            <p:nvPr/>
          </p:nvGrpSpPr>
          <p:grpSpPr>
            <a:xfrm>
              <a:off x="4741936" y="4037265"/>
              <a:ext cx="1283145" cy="508612"/>
              <a:chOff x="1518382" y="2559483"/>
              <a:chExt cx="1283145" cy="508612"/>
            </a:xfrm>
          </p:grpSpPr>
          <p:cxnSp>
            <p:nvCxnSpPr>
              <p:cNvPr id="53" name="连接符: 曲线 52">
                <a:extLst>
                  <a:ext uri="{FF2B5EF4-FFF2-40B4-BE49-F238E27FC236}">
                    <a16:creationId xmlns:a16="http://schemas.microsoft.com/office/drawing/2014/main" id="{E6C7A4F4-65B3-9E51-BAA1-60CE45D39246}"/>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54" name="文本框 53">
                <a:extLst>
                  <a:ext uri="{FF2B5EF4-FFF2-40B4-BE49-F238E27FC236}">
                    <a16:creationId xmlns:a16="http://schemas.microsoft.com/office/drawing/2014/main" id="{80BD6D12-B4AA-6AC8-14CD-6DEC970340FD}"/>
                  </a:ext>
                </a:extLst>
              </p:cNvPr>
              <p:cNvSpPr txBox="1"/>
              <p:nvPr/>
            </p:nvSpPr>
            <p:spPr>
              <a:xfrm>
                <a:off x="1604098" y="2791096"/>
                <a:ext cx="119742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47" name="组合 46">
              <a:extLst>
                <a:ext uri="{FF2B5EF4-FFF2-40B4-BE49-F238E27FC236}">
                  <a16:creationId xmlns:a16="http://schemas.microsoft.com/office/drawing/2014/main" id="{C882CFE7-22CA-0409-66B4-3A469BD8ADC2}"/>
                </a:ext>
              </a:extLst>
            </p:cNvPr>
            <p:cNvGrpSpPr/>
            <p:nvPr/>
          </p:nvGrpSpPr>
          <p:grpSpPr>
            <a:xfrm>
              <a:off x="6101076" y="4041697"/>
              <a:ext cx="1466020" cy="528872"/>
              <a:chOff x="1518382" y="2559483"/>
              <a:chExt cx="1283145" cy="486331"/>
            </a:xfrm>
          </p:grpSpPr>
          <p:cxnSp>
            <p:nvCxnSpPr>
              <p:cNvPr id="51" name="连接符: 曲线 50">
                <a:extLst>
                  <a:ext uri="{FF2B5EF4-FFF2-40B4-BE49-F238E27FC236}">
                    <a16:creationId xmlns:a16="http://schemas.microsoft.com/office/drawing/2014/main" id="{B7930499-7739-6197-6071-45756BFF0C55}"/>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52" name="文本框 51">
                <a:extLst>
                  <a:ext uri="{FF2B5EF4-FFF2-40B4-BE49-F238E27FC236}">
                    <a16:creationId xmlns:a16="http://schemas.microsoft.com/office/drawing/2014/main" id="{6CFD2178-04FA-6130-2205-3785AAFCB6FE}"/>
                  </a:ext>
                </a:extLst>
              </p:cNvPr>
              <p:cNvSpPr txBox="1"/>
              <p:nvPr/>
            </p:nvSpPr>
            <p:spPr>
              <a:xfrm>
                <a:off x="1604098" y="2791096"/>
                <a:ext cx="1197429" cy="2547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48" name="组合 47">
              <a:extLst>
                <a:ext uri="{FF2B5EF4-FFF2-40B4-BE49-F238E27FC236}">
                  <a16:creationId xmlns:a16="http://schemas.microsoft.com/office/drawing/2014/main" id="{67220D9A-AD5F-4EE2-6A07-AA568985FB31}"/>
                </a:ext>
              </a:extLst>
            </p:cNvPr>
            <p:cNvGrpSpPr/>
            <p:nvPr/>
          </p:nvGrpSpPr>
          <p:grpSpPr>
            <a:xfrm>
              <a:off x="7599591" y="4056288"/>
              <a:ext cx="1221489" cy="526451"/>
              <a:chOff x="1518382" y="2559483"/>
              <a:chExt cx="1443354" cy="526451"/>
            </a:xfrm>
          </p:grpSpPr>
          <p:cxnSp>
            <p:nvCxnSpPr>
              <p:cNvPr id="49" name="连接符: 曲线 48">
                <a:extLst>
                  <a:ext uri="{FF2B5EF4-FFF2-40B4-BE49-F238E27FC236}">
                    <a16:creationId xmlns:a16="http://schemas.microsoft.com/office/drawing/2014/main" id="{C8EE67C0-B4C8-5908-2311-3E7C26BE0215}"/>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50" name="文本框 49">
                <a:extLst>
                  <a:ext uri="{FF2B5EF4-FFF2-40B4-BE49-F238E27FC236}">
                    <a16:creationId xmlns:a16="http://schemas.microsoft.com/office/drawing/2014/main" id="{48F99593-0A2D-2350-5FBE-C972AEFEAF24}"/>
                  </a:ext>
                </a:extLst>
              </p:cNvPr>
              <p:cNvSpPr txBox="1"/>
              <p:nvPr/>
            </p:nvSpPr>
            <p:spPr>
              <a:xfrm>
                <a:off x="1632528" y="2624269"/>
                <a:ext cx="13292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grpSp>
        <p:nvGrpSpPr>
          <p:cNvPr id="59" name="组合 58">
            <a:extLst>
              <a:ext uri="{FF2B5EF4-FFF2-40B4-BE49-F238E27FC236}">
                <a16:creationId xmlns:a16="http://schemas.microsoft.com/office/drawing/2014/main" id="{AB11B3C4-CE8F-FE7A-C698-96189BE7D431}"/>
              </a:ext>
            </a:extLst>
          </p:cNvPr>
          <p:cNvGrpSpPr/>
          <p:nvPr/>
        </p:nvGrpSpPr>
        <p:grpSpPr>
          <a:xfrm>
            <a:off x="6911886" y="890006"/>
            <a:ext cx="1601475" cy="4778542"/>
            <a:chOff x="6868443" y="912618"/>
            <a:chExt cx="1601475" cy="4778542"/>
          </a:xfrm>
        </p:grpSpPr>
        <p:cxnSp>
          <p:nvCxnSpPr>
            <p:cNvPr id="60" name="直接连接符 59">
              <a:extLst>
                <a:ext uri="{FF2B5EF4-FFF2-40B4-BE49-F238E27FC236}">
                  <a16:creationId xmlns:a16="http://schemas.microsoft.com/office/drawing/2014/main" id="{BFD550BA-D5F6-1F0F-6724-6EBFE70B5A0D}"/>
                </a:ext>
              </a:extLst>
            </p:cNvPr>
            <p:cNvCxnSpPr/>
            <p:nvPr/>
          </p:nvCxnSpPr>
          <p:spPr>
            <a:xfrm>
              <a:off x="7669181" y="1712612"/>
              <a:ext cx="0" cy="3978548"/>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61" name="文本框 60">
              <a:extLst>
                <a:ext uri="{FF2B5EF4-FFF2-40B4-BE49-F238E27FC236}">
                  <a16:creationId xmlns:a16="http://schemas.microsoft.com/office/drawing/2014/main" id="{D825CC56-1B89-0EB7-C2CF-3FB89238BEA2}"/>
                </a:ext>
              </a:extLst>
            </p:cNvPr>
            <p:cNvSpPr txBox="1"/>
            <p:nvPr/>
          </p:nvSpPr>
          <p:spPr>
            <a:xfrm>
              <a:off x="6868443" y="912618"/>
              <a:ext cx="1601475" cy="646331"/>
            </a:xfrm>
            <a:prstGeom prst="rect">
              <a:avLst/>
            </a:prstGeom>
            <a:noFill/>
          </p:spPr>
          <p:txBody>
            <a:bodyPr wrap="square" rtlCol="0">
              <a:spAutoFit/>
            </a:bodyPr>
            <a:lstStyle>
              <a:defPPr>
                <a:defRPr lang="zh-CN"/>
              </a:defPPr>
              <a:lvl1pPr>
                <a:defRPr sz="1200"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&lt;=</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最早可交日期</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PSD</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为最早可交日期</a:t>
              </a:r>
            </a:p>
          </p:txBody>
        </p:sp>
      </p:grpSp>
      <p:grpSp>
        <p:nvGrpSpPr>
          <p:cNvPr id="62" name="组合 61">
            <a:extLst>
              <a:ext uri="{FF2B5EF4-FFF2-40B4-BE49-F238E27FC236}">
                <a16:creationId xmlns:a16="http://schemas.microsoft.com/office/drawing/2014/main" id="{77ECBDF5-87B1-6394-95CE-19F49EC1E035}"/>
              </a:ext>
            </a:extLst>
          </p:cNvPr>
          <p:cNvGrpSpPr/>
          <p:nvPr/>
        </p:nvGrpSpPr>
        <p:grpSpPr>
          <a:xfrm>
            <a:off x="10114286" y="844178"/>
            <a:ext cx="1448374" cy="4846982"/>
            <a:chOff x="10114286" y="844178"/>
            <a:chExt cx="1448374" cy="4846982"/>
          </a:xfrm>
        </p:grpSpPr>
        <p:cxnSp>
          <p:nvCxnSpPr>
            <p:cNvPr id="63" name="直接连接符 62">
              <a:extLst>
                <a:ext uri="{FF2B5EF4-FFF2-40B4-BE49-F238E27FC236}">
                  <a16:creationId xmlns:a16="http://schemas.microsoft.com/office/drawing/2014/main" id="{83C5A077-173F-2040-011D-34E2BF759045}"/>
                </a:ext>
              </a:extLst>
            </p:cNvPr>
            <p:cNvCxnSpPr/>
            <p:nvPr/>
          </p:nvCxnSpPr>
          <p:spPr>
            <a:xfrm>
              <a:off x="10622839" y="1712612"/>
              <a:ext cx="0" cy="3978548"/>
            </a:xfrm>
            <a:prstGeom prst="line">
              <a:avLst/>
            </a:prstGeom>
            <a:ln>
              <a:solidFill>
                <a:schemeClr val="accent1"/>
              </a:solidFill>
            </a:ln>
          </p:spPr>
          <p:style>
            <a:lnRef idx="3">
              <a:schemeClr val="accent2"/>
            </a:lnRef>
            <a:fillRef idx="0">
              <a:schemeClr val="accent2"/>
            </a:fillRef>
            <a:effectRef idx="2">
              <a:schemeClr val="accent2"/>
            </a:effectRef>
            <a:fontRef idx="minor">
              <a:schemeClr val="tx1"/>
            </a:fontRef>
          </p:style>
        </p:cxnSp>
        <p:sp>
          <p:nvSpPr>
            <p:cNvPr id="64" name="文本框 63">
              <a:extLst>
                <a:ext uri="{FF2B5EF4-FFF2-40B4-BE49-F238E27FC236}">
                  <a16:creationId xmlns:a16="http://schemas.microsoft.com/office/drawing/2014/main" id="{7C4B5B41-DD25-4BF7-7B91-B86162542119}"/>
                </a:ext>
              </a:extLst>
            </p:cNvPr>
            <p:cNvSpPr txBox="1"/>
            <p:nvPr/>
          </p:nvSpPr>
          <p:spPr>
            <a:xfrm>
              <a:off x="10114286" y="844178"/>
              <a:ext cx="1448374" cy="830997"/>
            </a:xfrm>
            <a:prstGeom prst="rect">
              <a:avLst/>
            </a:prstGeom>
            <a:noFill/>
          </p:spPr>
          <p:txBody>
            <a:bodyPr wrap="square" rtlCol="0">
              <a:spAutoFit/>
            </a:bodyPr>
            <a:lstStyle>
              <a:defPPr>
                <a:defRPr lang="zh-CN"/>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当需求日期</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&gt;</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最早可交日期</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PSD</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为需求日期</a:t>
              </a:r>
              <a:endPar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65" name="组合 64">
            <a:extLst>
              <a:ext uri="{FF2B5EF4-FFF2-40B4-BE49-F238E27FC236}">
                <a16:creationId xmlns:a16="http://schemas.microsoft.com/office/drawing/2014/main" id="{0B10E19C-8D57-FC26-2F64-B4EA56992420}"/>
              </a:ext>
            </a:extLst>
          </p:cNvPr>
          <p:cNvGrpSpPr/>
          <p:nvPr/>
        </p:nvGrpSpPr>
        <p:grpSpPr>
          <a:xfrm>
            <a:off x="1246380" y="926837"/>
            <a:ext cx="5396501" cy="825618"/>
            <a:chOff x="1246380" y="926837"/>
            <a:chExt cx="5396501" cy="825618"/>
          </a:xfrm>
        </p:grpSpPr>
        <p:sp>
          <p:nvSpPr>
            <p:cNvPr id="66" name="箭头: 右 65">
              <a:extLst>
                <a:ext uri="{FF2B5EF4-FFF2-40B4-BE49-F238E27FC236}">
                  <a16:creationId xmlns:a16="http://schemas.microsoft.com/office/drawing/2014/main" id="{8D594800-AD72-171B-5DEB-D0B7DD382895}"/>
                </a:ext>
              </a:extLst>
            </p:cNvPr>
            <p:cNvSpPr/>
            <p:nvPr/>
          </p:nvSpPr>
          <p:spPr>
            <a:xfrm>
              <a:off x="1246380" y="1392455"/>
              <a:ext cx="5270904" cy="36000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Verdana"/>
                <a:ea typeface="微软雅黑" panose="020B0503020204020204" pitchFamily="34" charset="-122"/>
                <a:cs typeface="+mn-cs"/>
              </a:endParaRPr>
            </a:p>
          </p:txBody>
        </p:sp>
        <p:sp>
          <p:nvSpPr>
            <p:cNvPr id="67" name="文本框 66">
              <a:extLst>
                <a:ext uri="{FF2B5EF4-FFF2-40B4-BE49-F238E27FC236}">
                  <a16:creationId xmlns:a16="http://schemas.microsoft.com/office/drawing/2014/main" id="{751D16CB-FD3D-4BD3-0432-DBDADF2A0055}"/>
                </a:ext>
              </a:extLst>
            </p:cNvPr>
            <p:cNvSpPr txBox="1"/>
            <p:nvPr/>
          </p:nvSpPr>
          <p:spPr>
            <a:xfrm>
              <a:off x="1511198" y="926837"/>
              <a:ext cx="513168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Forward</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由上游向下游推动，识别瓶颈，软分配物料和资源，由齐套和资源可用性检查计算得到最早可交付日期</a:t>
              </a:r>
            </a:p>
          </p:txBody>
        </p:sp>
      </p:grpSp>
      <p:grpSp>
        <p:nvGrpSpPr>
          <p:cNvPr id="68" name="组合 67">
            <a:extLst>
              <a:ext uri="{FF2B5EF4-FFF2-40B4-BE49-F238E27FC236}">
                <a16:creationId xmlns:a16="http://schemas.microsoft.com/office/drawing/2014/main" id="{8474A2AD-217C-B179-FA78-6E7F66CEB269}"/>
              </a:ext>
            </a:extLst>
          </p:cNvPr>
          <p:cNvGrpSpPr/>
          <p:nvPr/>
        </p:nvGrpSpPr>
        <p:grpSpPr>
          <a:xfrm>
            <a:off x="4056296" y="4587164"/>
            <a:ext cx="6531915" cy="1325066"/>
            <a:chOff x="4056296" y="4587164"/>
            <a:chExt cx="6531915" cy="1325066"/>
          </a:xfrm>
        </p:grpSpPr>
        <p:sp>
          <p:nvSpPr>
            <p:cNvPr id="69" name="椭圆 68">
              <a:extLst>
                <a:ext uri="{FF2B5EF4-FFF2-40B4-BE49-F238E27FC236}">
                  <a16:creationId xmlns:a16="http://schemas.microsoft.com/office/drawing/2014/main" id="{7FFF355F-9703-27D6-7D17-BA3FC925DCF8}"/>
                </a:ext>
              </a:extLst>
            </p:cNvPr>
            <p:cNvSpPr/>
            <p:nvPr/>
          </p:nvSpPr>
          <p:spPr>
            <a:xfrm>
              <a:off x="4056296" y="4984361"/>
              <a:ext cx="1001485" cy="370114"/>
            </a:xfrm>
            <a:prstGeom prst="ellipse">
              <a:avLst/>
            </a:prstGeom>
            <a:solidFill>
              <a:schemeClr val="accent1">
                <a:lumMod val="20000"/>
                <a:lumOff val="80000"/>
              </a:schemeClr>
            </a:solidFill>
            <a:ln w="6350" cap="flat" cmpd="sng" algn="ctr">
              <a:solidFill>
                <a:srgbClr val="6C92F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原材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0" name="椭圆 69">
              <a:extLst>
                <a:ext uri="{FF2B5EF4-FFF2-40B4-BE49-F238E27FC236}">
                  <a16:creationId xmlns:a16="http://schemas.microsoft.com/office/drawing/2014/main" id="{C4A7C4A6-EDA0-B5A9-CC4D-9EE2CC2D9ED0}"/>
                </a:ext>
              </a:extLst>
            </p:cNvPr>
            <p:cNvSpPr/>
            <p:nvPr/>
          </p:nvSpPr>
          <p:spPr>
            <a:xfrm>
              <a:off x="5444230" y="4984361"/>
              <a:ext cx="1001485" cy="370114"/>
            </a:xfrm>
            <a:prstGeom prst="ellipse">
              <a:avLst/>
            </a:prstGeom>
            <a:solidFill>
              <a:schemeClr val="accent1">
                <a:lumMod val="40000"/>
                <a:lumOff val="60000"/>
              </a:schemeClr>
            </a:solidFill>
            <a:ln w="6350" cap="flat" cmpd="sng" algn="ctr">
              <a:solidFill>
                <a:srgbClr val="4765D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1" name="椭圆 70">
              <a:extLst>
                <a:ext uri="{FF2B5EF4-FFF2-40B4-BE49-F238E27FC236}">
                  <a16:creationId xmlns:a16="http://schemas.microsoft.com/office/drawing/2014/main" id="{D324464B-6276-3FD5-6D74-C5A5A837E35F}"/>
                </a:ext>
              </a:extLst>
            </p:cNvPr>
            <p:cNvSpPr/>
            <p:nvPr/>
          </p:nvSpPr>
          <p:spPr>
            <a:xfrm>
              <a:off x="6854401" y="5005547"/>
              <a:ext cx="1001485" cy="370114"/>
            </a:xfrm>
            <a:prstGeom prst="ellipse">
              <a:avLst/>
            </a:prstGeom>
            <a:solidFill>
              <a:schemeClr val="accent1">
                <a:lumMod val="60000"/>
                <a:lumOff val="40000"/>
              </a:schemeClr>
            </a:solidFill>
            <a:ln w="6350" cap="flat" cmpd="sng" algn="ctr">
              <a:solidFill>
                <a:srgbClr val="09309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2" name="椭圆 71">
              <a:extLst>
                <a:ext uri="{FF2B5EF4-FFF2-40B4-BE49-F238E27FC236}">
                  <a16:creationId xmlns:a16="http://schemas.microsoft.com/office/drawing/2014/main" id="{6A631F85-2620-41AC-6C40-8E7F039B74B2}"/>
                </a:ext>
              </a:extLst>
            </p:cNvPr>
            <p:cNvSpPr/>
            <p:nvPr/>
          </p:nvSpPr>
          <p:spPr>
            <a:xfrm>
              <a:off x="8249592" y="5005547"/>
              <a:ext cx="1001485" cy="370114"/>
            </a:xfrm>
            <a:prstGeom prst="ellipse">
              <a:avLst/>
            </a:prstGeom>
            <a:solidFill>
              <a:schemeClr val="accent1">
                <a:lumMod val="75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部件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73" name="组合 72">
              <a:extLst>
                <a:ext uri="{FF2B5EF4-FFF2-40B4-BE49-F238E27FC236}">
                  <a16:creationId xmlns:a16="http://schemas.microsoft.com/office/drawing/2014/main" id="{9E8CE5C7-8320-3AEE-84B8-F4C37C4F452D}"/>
                </a:ext>
              </a:extLst>
            </p:cNvPr>
            <p:cNvGrpSpPr/>
            <p:nvPr/>
          </p:nvGrpSpPr>
          <p:grpSpPr>
            <a:xfrm>
              <a:off x="9586726" y="4614358"/>
              <a:ext cx="1001485" cy="761303"/>
              <a:chOff x="8130554" y="1804530"/>
              <a:chExt cx="1001485" cy="761303"/>
            </a:xfrm>
          </p:grpSpPr>
          <p:sp>
            <p:nvSpPr>
              <p:cNvPr id="90" name="椭圆 89">
                <a:extLst>
                  <a:ext uri="{FF2B5EF4-FFF2-40B4-BE49-F238E27FC236}">
                    <a16:creationId xmlns:a16="http://schemas.microsoft.com/office/drawing/2014/main" id="{E226668D-2841-F4A1-0CFB-E761F3BB691B}"/>
                  </a:ext>
                </a:extLst>
              </p:cNvPr>
              <p:cNvSpPr/>
              <p:nvPr/>
            </p:nvSpPr>
            <p:spPr>
              <a:xfrm>
                <a:off x="8130554" y="2195719"/>
                <a:ext cx="1001485" cy="370114"/>
              </a:xfrm>
              <a:prstGeom prst="ellipse">
                <a:avLst/>
              </a:prstGeom>
              <a:solidFill>
                <a:schemeClr val="accent1">
                  <a:lumMod val="50000"/>
                </a:schemeClr>
              </a:solidFill>
              <a:ln w="6350" cap="flat" cmpd="sng" algn="ctr">
                <a:solidFill>
                  <a:srgbClr val="2E3B7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成品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1" name="矩形 90">
                <a:extLst>
                  <a:ext uri="{FF2B5EF4-FFF2-40B4-BE49-F238E27FC236}">
                    <a16:creationId xmlns:a16="http://schemas.microsoft.com/office/drawing/2014/main" id="{DCAE55BA-32F0-C8A7-DCD6-9A06BB4D6961}"/>
                  </a:ext>
                </a:extLst>
              </p:cNvPr>
              <p:cNvSpPr/>
              <p:nvPr/>
            </p:nvSpPr>
            <p:spPr>
              <a:xfrm>
                <a:off x="8256276" y="180453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0</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74" name="矩形 73">
              <a:extLst>
                <a:ext uri="{FF2B5EF4-FFF2-40B4-BE49-F238E27FC236}">
                  <a16:creationId xmlns:a16="http://schemas.microsoft.com/office/drawing/2014/main" id="{85682F8D-6B6D-7389-BA8D-793745169963}"/>
                </a:ext>
              </a:extLst>
            </p:cNvPr>
            <p:cNvSpPr/>
            <p:nvPr/>
          </p:nvSpPr>
          <p:spPr>
            <a:xfrm>
              <a:off x="8375314" y="460835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1</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5" name="矩形 74">
              <a:extLst>
                <a:ext uri="{FF2B5EF4-FFF2-40B4-BE49-F238E27FC236}">
                  <a16:creationId xmlns:a16="http://schemas.microsoft.com/office/drawing/2014/main" id="{C553836C-E2CB-C1D0-B2A5-4F233FF861B8}"/>
                </a:ext>
              </a:extLst>
            </p:cNvPr>
            <p:cNvSpPr/>
            <p:nvPr/>
          </p:nvSpPr>
          <p:spPr>
            <a:xfrm>
              <a:off x="6974852" y="4608350"/>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2</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6" name="矩形 75">
              <a:extLst>
                <a:ext uri="{FF2B5EF4-FFF2-40B4-BE49-F238E27FC236}">
                  <a16:creationId xmlns:a16="http://schemas.microsoft.com/office/drawing/2014/main" id="{804728FE-CA5E-6DCD-D33D-AC70CFB66CF1}"/>
                </a:ext>
              </a:extLst>
            </p:cNvPr>
            <p:cNvSpPr/>
            <p:nvPr/>
          </p:nvSpPr>
          <p:spPr>
            <a:xfrm>
              <a:off x="5574390" y="4587164"/>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3</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7" name="矩形 76">
              <a:extLst>
                <a:ext uri="{FF2B5EF4-FFF2-40B4-BE49-F238E27FC236}">
                  <a16:creationId xmlns:a16="http://schemas.microsoft.com/office/drawing/2014/main" id="{E87EF6C6-A33A-8578-F5DE-508354BCAC03}"/>
                </a:ext>
              </a:extLst>
            </p:cNvPr>
            <p:cNvSpPr/>
            <p:nvPr/>
          </p:nvSpPr>
          <p:spPr>
            <a:xfrm>
              <a:off x="4181185" y="4587164"/>
              <a:ext cx="750039" cy="284278"/>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Level 4</a:t>
              </a:r>
              <a:endParaRPr kumimoji="0" lang="zh-CN" altLang="en-US" sz="12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78" name="组合 77">
              <a:extLst>
                <a:ext uri="{FF2B5EF4-FFF2-40B4-BE49-F238E27FC236}">
                  <a16:creationId xmlns:a16="http://schemas.microsoft.com/office/drawing/2014/main" id="{F6C67DCF-7588-B558-C32B-B9AEF8C81A51}"/>
                </a:ext>
              </a:extLst>
            </p:cNvPr>
            <p:cNvGrpSpPr/>
            <p:nvPr/>
          </p:nvGrpSpPr>
          <p:grpSpPr>
            <a:xfrm>
              <a:off x="4563389" y="5355382"/>
              <a:ext cx="1473254" cy="556848"/>
              <a:chOff x="2025007" y="2308400"/>
              <a:chExt cx="1473254" cy="556848"/>
            </a:xfrm>
          </p:grpSpPr>
          <p:cxnSp>
            <p:nvCxnSpPr>
              <p:cNvPr id="88" name="连接符: 曲线 87">
                <a:extLst>
                  <a:ext uri="{FF2B5EF4-FFF2-40B4-BE49-F238E27FC236}">
                    <a16:creationId xmlns:a16="http://schemas.microsoft.com/office/drawing/2014/main" id="{87268CCC-0697-CB38-14D3-DF660E571691}"/>
                  </a:ext>
                </a:extLst>
              </p:cNvPr>
              <p:cNvCxnSpPr>
                <a:stCxn id="69" idx="4"/>
                <a:endCxn id="70" idx="4"/>
              </p:cNvCxnSpPr>
              <p:nvPr/>
            </p:nvCxnSpPr>
            <p:spPr>
              <a:xfrm rot="16200000" flipH="1">
                <a:off x="2712624" y="1620783"/>
                <a:ext cx="12700" cy="1387934"/>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89" name="文本框 88">
                <a:extLst>
                  <a:ext uri="{FF2B5EF4-FFF2-40B4-BE49-F238E27FC236}">
                    <a16:creationId xmlns:a16="http://schemas.microsoft.com/office/drawing/2014/main" id="{A6E3586C-4D4D-FDCA-66CC-CC83C3083D20}"/>
                  </a:ext>
                </a:extLst>
              </p:cNvPr>
              <p:cNvSpPr txBox="1"/>
              <p:nvPr/>
            </p:nvSpPr>
            <p:spPr>
              <a:xfrm>
                <a:off x="2300832" y="2588249"/>
                <a:ext cx="1197429" cy="276999"/>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tabLst/>
                  <a:defRPr kumimoji="0" sz="1200" b="1" i="0" u="none" strike="noStrike" kern="0" cap="none" spc="0" normalizeH="0" baseline="0">
                    <a:ln>
                      <a:noFill/>
                    </a:ln>
                    <a:solidFill>
                      <a:schemeClr val="accent2">
                        <a:lumMod val="75000"/>
                      </a:schemeClr>
                    </a:solidFill>
                    <a:effectLst/>
                    <a:uLnTx/>
                    <a:uFillTx/>
                    <a:latin typeface="Verdana"/>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cs typeface="+mn-cs"/>
                </a:endParaRPr>
              </a:p>
            </p:txBody>
          </p:sp>
        </p:grpSp>
        <p:grpSp>
          <p:nvGrpSpPr>
            <p:cNvPr id="79" name="组合 78">
              <a:extLst>
                <a:ext uri="{FF2B5EF4-FFF2-40B4-BE49-F238E27FC236}">
                  <a16:creationId xmlns:a16="http://schemas.microsoft.com/office/drawing/2014/main" id="{D7EA4683-EE5C-A035-825D-BC6A6D23DE63}"/>
                </a:ext>
              </a:extLst>
            </p:cNvPr>
            <p:cNvGrpSpPr/>
            <p:nvPr/>
          </p:nvGrpSpPr>
          <p:grpSpPr>
            <a:xfrm>
              <a:off x="6198108" y="5376799"/>
              <a:ext cx="1303891" cy="528701"/>
              <a:chOff x="1518382" y="2559483"/>
              <a:chExt cx="1303891" cy="528701"/>
            </a:xfrm>
          </p:grpSpPr>
          <p:cxnSp>
            <p:nvCxnSpPr>
              <p:cNvPr id="86" name="连接符: 曲线 85">
                <a:extLst>
                  <a:ext uri="{FF2B5EF4-FFF2-40B4-BE49-F238E27FC236}">
                    <a16:creationId xmlns:a16="http://schemas.microsoft.com/office/drawing/2014/main" id="{2D429BFF-06FF-FE9E-6443-5B8B3DDA57CB}"/>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87" name="文本框 86">
                <a:extLst>
                  <a:ext uri="{FF2B5EF4-FFF2-40B4-BE49-F238E27FC236}">
                    <a16:creationId xmlns:a16="http://schemas.microsoft.com/office/drawing/2014/main" id="{986D0339-ACD3-9E91-82CF-58F9AD4815D6}"/>
                  </a:ext>
                </a:extLst>
              </p:cNvPr>
              <p:cNvSpPr txBox="1"/>
              <p:nvPr/>
            </p:nvSpPr>
            <p:spPr>
              <a:xfrm>
                <a:off x="1624844" y="2811185"/>
                <a:ext cx="119742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80" name="组合 79">
              <a:extLst>
                <a:ext uri="{FF2B5EF4-FFF2-40B4-BE49-F238E27FC236}">
                  <a16:creationId xmlns:a16="http://schemas.microsoft.com/office/drawing/2014/main" id="{707AE20F-BDB4-857A-C10F-FB8AE5E138DB}"/>
                </a:ext>
              </a:extLst>
            </p:cNvPr>
            <p:cNvGrpSpPr/>
            <p:nvPr/>
          </p:nvGrpSpPr>
          <p:grpSpPr>
            <a:xfrm>
              <a:off x="7429516" y="5382012"/>
              <a:ext cx="1531604" cy="518104"/>
              <a:chOff x="1518382" y="2559483"/>
              <a:chExt cx="1340548" cy="476429"/>
            </a:xfrm>
          </p:grpSpPr>
          <p:cxnSp>
            <p:nvCxnSpPr>
              <p:cNvPr id="84" name="连接符: 曲线 83">
                <a:extLst>
                  <a:ext uri="{FF2B5EF4-FFF2-40B4-BE49-F238E27FC236}">
                    <a16:creationId xmlns:a16="http://schemas.microsoft.com/office/drawing/2014/main" id="{284BFE4E-855E-7725-5667-46A9B2A14CD1}"/>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85" name="文本框 84">
                <a:extLst>
                  <a:ext uri="{FF2B5EF4-FFF2-40B4-BE49-F238E27FC236}">
                    <a16:creationId xmlns:a16="http://schemas.microsoft.com/office/drawing/2014/main" id="{346E9AA1-528F-D639-7F4F-B79566089079}"/>
                  </a:ext>
                </a:extLst>
              </p:cNvPr>
              <p:cNvSpPr txBox="1"/>
              <p:nvPr/>
            </p:nvSpPr>
            <p:spPr>
              <a:xfrm>
                <a:off x="1661501" y="2781194"/>
                <a:ext cx="1197429" cy="2547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4674C1"/>
                    </a:solidFill>
                    <a:effectLst/>
                    <a:uLnTx/>
                    <a:uFillTx/>
                    <a:latin typeface="Arial" panose="020B0604020202020204" pitchFamily="34" charset="0"/>
                    <a:ea typeface="微软雅黑" panose="020B0503020204020204" pitchFamily="34" charset="-122"/>
                    <a:cs typeface="+mn-cs"/>
                  </a:rPr>
                  <a:t>    </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81" name="组合 80">
              <a:extLst>
                <a:ext uri="{FF2B5EF4-FFF2-40B4-BE49-F238E27FC236}">
                  <a16:creationId xmlns:a16="http://schemas.microsoft.com/office/drawing/2014/main" id="{7E78D890-C93A-5A33-36D3-E912715F722B}"/>
                </a:ext>
              </a:extLst>
            </p:cNvPr>
            <p:cNvGrpSpPr/>
            <p:nvPr/>
          </p:nvGrpSpPr>
          <p:grpSpPr>
            <a:xfrm>
              <a:off x="9055763" y="5395822"/>
              <a:ext cx="1193892" cy="508576"/>
              <a:chOff x="1518382" y="2559483"/>
              <a:chExt cx="1410745" cy="508576"/>
            </a:xfrm>
          </p:grpSpPr>
          <p:cxnSp>
            <p:nvCxnSpPr>
              <p:cNvPr id="82" name="连接符: 曲线 81">
                <a:extLst>
                  <a:ext uri="{FF2B5EF4-FFF2-40B4-BE49-F238E27FC236}">
                    <a16:creationId xmlns:a16="http://schemas.microsoft.com/office/drawing/2014/main" id="{A8069FB3-E125-F897-C49D-FF3432450D0C}"/>
                  </a:ext>
                </a:extLst>
              </p:cNvPr>
              <p:cNvCxnSpPr/>
              <p:nvPr/>
            </p:nvCxnSpPr>
            <p:spPr>
              <a:xfrm rot="16200000" flipH="1">
                <a:off x="2079000" y="1998865"/>
                <a:ext cx="12700" cy="1133935"/>
              </a:xfrm>
              <a:prstGeom prst="curvedConnector3">
                <a:avLst>
                  <a:gd name="adj1" fmla="val 1800000"/>
                </a:avLst>
              </a:prstGeom>
              <a:noFill/>
              <a:ln w="12700" cap="flat" cmpd="sng" algn="ctr">
                <a:solidFill>
                  <a:schemeClr val="accent1"/>
                </a:solidFill>
                <a:prstDash val="dashDot"/>
                <a:miter lim="800000"/>
                <a:headEnd type="triangle"/>
                <a:tailEnd type="none"/>
              </a:ln>
              <a:effectLst/>
            </p:spPr>
          </p:cxnSp>
          <p:sp>
            <p:nvSpPr>
              <p:cNvPr id="83" name="文本框 82">
                <a:extLst>
                  <a:ext uri="{FF2B5EF4-FFF2-40B4-BE49-F238E27FC236}">
                    <a16:creationId xmlns:a16="http://schemas.microsoft.com/office/drawing/2014/main" id="{39456F50-90EE-B2FB-DC41-9F2A13714FD0}"/>
                  </a:ext>
                </a:extLst>
              </p:cNvPr>
              <p:cNvSpPr txBox="1"/>
              <p:nvPr/>
            </p:nvSpPr>
            <p:spPr>
              <a:xfrm>
                <a:off x="1599920" y="2606394"/>
                <a:ext cx="13292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grpSp>
        <p:nvGrpSpPr>
          <p:cNvPr id="92" name="组合 91">
            <a:extLst>
              <a:ext uri="{FF2B5EF4-FFF2-40B4-BE49-F238E27FC236}">
                <a16:creationId xmlns:a16="http://schemas.microsoft.com/office/drawing/2014/main" id="{B62136E8-5E10-D479-526D-9E7E7803238C}"/>
              </a:ext>
            </a:extLst>
          </p:cNvPr>
          <p:cNvGrpSpPr/>
          <p:nvPr/>
        </p:nvGrpSpPr>
        <p:grpSpPr>
          <a:xfrm>
            <a:off x="4233296" y="5873636"/>
            <a:ext cx="7567787" cy="882138"/>
            <a:chOff x="4233296" y="5873636"/>
            <a:chExt cx="7567787" cy="882138"/>
          </a:xfrm>
        </p:grpSpPr>
        <p:sp>
          <p:nvSpPr>
            <p:cNvPr id="93" name="箭头: 右 92">
              <a:extLst>
                <a:ext uri="{FF2B5EF4-FFF2-40B4-BE49-F238E27FC236}">
                  <a16:creationId xmlns:a16="http://schemas.microsoft.com/office/drawing/2014/main" id="{15F20BDD-A1C7-9595-C3CC-8AA921456B9F}"/>
                </a:ext>
              </a:extLst>
            </p:cNvPr>
            <p:cNvSpPr/>
            <p:nvPr/>
          </p:nvSpPr>
          <p:spPr>
            <a:xfrm rot="10800000">
              <a:off x="4233296" y="5873636"/>
              <a:ext cx="6392439" cy="36000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Verdana"/>
                <a:ea typeface="微软雅黑" panose="020B0503020204020204" pitchFamily="34" charset="-122"/>
                <a:cs typeface="+mn-cs"/>
              </a:endParaRPr>
            </a:p>
          </p:txBody>
        </p:sp>
        <p:sp>
          <p:nvSpPr>
            <p:cNvPr id="94" name="文本框 93">
              <a:extLst>
                <a:ext uri="{FF2B5EF4-FFF2-40B4-BE49-F238E27FC236}">
                  <a16:creationId xmlns:a16="http://schemas.microsoft.com/office/drawing/2014/main" id="{B51DC8BD-1CB0-F3E6-C30A-C465AF1AF54D}"/>
                </a:ext>
              </a:extLst>
            </p:cNvPr>
            <p:cNvSpPr txBox="1"/>
            <p:nvPr/>
          </p:nvSpPr>
          <p:spPr>
            <a:xfrm>
              <a:off x="4318907" y="6294109"/>
              <a:ext cx="7482176" cy="461665"/>
            </a:xfrm>
            <a:prstGeom prst="rect">
              <a:avLst/>
            </a:prstGeom>
            <a:noFill/>
          </p:spPr>
          <p:txBody>
            <a:bodyPr wrap="square" rtlCol="0">
              <a:spAutoFit/>
            </a:bodyPr>
            <a:lstStyle>
              <a:defPPr>
                <a:defRPr lang="zh-CN"/>
              </a:defPPr>
              <a:lvl1pPr>
                <a:defRPr sz="1200" b="1">
                  <a:latin typeface="+mn-ea"/>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以</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PSD Backward </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拉动，减少</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WIP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释放物料保障交付准确的同时可以提高</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15%+</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的交付速度</a:t>
              </a:r>
            </a:p>
          </p:txBody>
        </p:sp>
      </p:grpSp>
      <p:sp>
        <p:nvSpPr>
          <p:cNvPr id="96" name="对话气泡: 椭圆形 95">
            <a:extLst>
              <a:ext uri="{FF2B5EF4-FFF2-40B4-BE49-F238E27FC236}">
                <a16:creationId xmlns:a16="http://schemas.microsoft.com/office/drawing/2014/main" id="{78AC0E41-D938-5491-A097-F4AEF6C23B8D}"/>
              </a:ext>
            </a:extLst>
          </p:cNvPr>
          <p:cNvSpPr/>
          <p:nvPr/>
        </p:nvSpPr>
        <p:spPr>
          <a:xfrm>
            <a:off x="155069" y="1699870"/>
            <a:ext cx="659563" cy="397197"/>
          </a:xfrm>
          <a:prstGeom prst="wedgeEllipseCallout">
            <a:avLst>
              <a:gd name="adj1" fmla="val 32447"/>
              <a:gd name="adj2" fmla="val 78613"/>
            </a:avLst>
          </a:prstGeom>
          <a:gradFill rotWithShape="1">
            <a:gsLst>
              <a:gs pos="0">
                <a:srgbClr val="093091">
                  <a:satMod val="103000"/>
                  <a:lumMod val="102000"/>
                  <a:tint val="94000"/>
                </a:srgbClr>
              </a:gs>
              <a:gs pos="50000">
                <a:srgbClr val="093091">
                  <a:satMod val="110000"/>
                  <a:lumMod val="100000"/>
                  <a:shade val="100000"/>
                </a:srgbClr>
              </a:gs>
              <a:gs pos="100000">
                <a:srgbClr val="093091">
                  <a:lumMod val="99000"/>
                  <a:satMod val="120000"/>
                  <a:shade val="78000"/>
                </a:srgbClr>
              </a:gs>
            </a:gsLst>
            <a:lin ang="5400000" scaled="0"/>
          </a:gradFill>
          <a:ln w="6350" cap="flat" cmpd="sng" algn="ctr">
            <a:solidFill>
              <a:srgbClr val="09309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堆积</a:t>
            </a:r>
          </a:p>
        </p:txBody>
      </p:sp>
      <p:sp>
        <p:nvSpPr>
          <p:cNvPr id="247" name="任意多边形: 形状 246">
            <a:extLst>
              <a:ext uri="{FF2B5EF4-FFF2-40B4-BE49-F238E27FC236}">
                <a16:creationId xmlns:a16="http://schemas.microsoft.com/office/drawing/2014/main" id="{2E733E94-E897-051C-AFAA-5215372F0674}"/>
              </a:ext>
            </a:extLst>
          </p:cNvPr>
          <p:cNvSpPr/>
          <p:nvPr/>
        </p:nvSpPr>
        <p:spPr>
          <a:xfrm>
            <a:off x="2012775" y="6053636"/>
            <a:ext cx="808379" cy="721220"/>
          </a:xfrm>
          <a:custGeom>
            <a:avLst/>
            <a:gdLst>
              <a:gd name="T0" fmla="*/ 8327 w 8903"/>
              <a:gd name="T1" fmla="*/ 5437 h 9984"/>
              <a:gd name="T2" fmla="*/ 7677 w 8903"/>
              <a:gd name="T3" fmla="*/ 4670 h 9984"/>
              <a:gd name="T4" fmla="*/ 7694 w 8903"/>
              <a:gd name="T5" fmla="*/ 3413 h 9984"/>
              <a:gd name="T6" fmla="*/ 7473 w 8903"/>
              <a:gd name="T7" fmla="*/ 2330 h 9984"/>
              <a:gd name="T8" fmla="*/ 6505 w 8903"/>
              <a:gd name="T9" fmla="*/ 1028 h 9984"/>
              <a:gd name="T10" fmla="*/ 3807 w 8903"/>
              <a:gd name="T11" fmla="*/ 0 h 9984"/>
              <a:gd name="T12" fmla="*/ 0 w 8903"/>
              <a:gd name="T13" fmla="*/ 3482 h 9984"/>
              <a:gd name="T14" fmla="*/ 24 w 8903"/>
              <a:gd name="T15" fmla="*/ 3862 h 9984"/>
              <a:gd name="T16" fmla="*/ 1050 w 8903"/>
              <a:gd name="T17" fmla="*/ 6807 h 9984"/>
              <a:gd name="T18" fmla="*/ 0 w 8903"/>
              <a:gd name="T19" fmla="*/ 9977 h 9984"/>
              <a:gd name="T20" fmla="*/ 4618 w 8903"/>
              <a:gd name="T21" fmla="*/ 9984 h 9984"/>
              <a:gd name="T22" fmla="*/ 5528 w 8903"/>
              <a:gd name="T23" fmla="*/ 8608 h 9984"/>
              <a:gd name="T24" fmla="*/ 6963 w 8903"/>
              <a:gd name="T25" fmla="*/ 8617 h 9984"/>
              <a:gd name="T26" fmla="*/ 7189 w 8903"/>
              <a:gd name="T27" fmla="*/ 8599 h 9984"/>
              <a:gd name="T28" fmla="*/ 7198 w 8903"/>
              <a:gd name="T29" fmla="*/ 8598 h 9984"/>
              <a:gd name="T30" fmla="*/ 7198 w 8903"/>
              <a:gd name="T31" fmla="*/ 8594 h 9984"/>
              <a:gd name="T32" fmla="*/ 7298 w 8903"/>
              <a:gd name="T33" fmla="*/ 7675 h 9984"/>
              <a:gd name="T34" fmla="*/ 7603 w 8903"/>
              <a:gd name="T35" fmla="*/ 7365 h 9984"/>
              <a:gd name="T36" fmla="*/ 7603 w 8903"/>
              <a:gd name="T37" fmla="*/ 7344 h 9984"/>
              <a:gd name="T38" fmla="*/ 7158 w 8903"/>
              <a:gd name="T39" fmla="*/ 7080 h 9984"/>
              <a:gd name="T40" fmla="*/ 7278 w 8903"/>
              <a:gd name="T41" fmla="*/ 7080 h 9984"/>
              <a:gd name="T42" fmla="*/ 7633 w 8903"/>
              <a:gd name="T43" fmla="*/ 6843 h 9984"/>
              <a:gd name="T44" fmla="*/ 7633 w 8903"/>
              <a:gd name="T45" fmla="*/ 6825 h 9984"/>
              <a:gd name="T46" fmla="*/ 7598 w 8903"/>
              <a:gd name="T47" fmla="*/ 6724 h 9984"/>
              <a:gd name="T48" fmla="*/ 7803 w 8903"/>
              <a:gd name="T49" fmla="*/ 5887 h 9984"/>
              <a:gd name="T50" fmla="*/ 8327 w 8903"/>
              <a:gd name="T51" fmla="*/ 5437 h 9984"/>
              <a:gd name="T52" fmla="*/ 8327 w 8903"/>
              <a:gd name="T53" fmla="*/ 5437 h 9984"/>
              <a:gd name="T54" fmla="*/ 4452 w 8903"/>
              <a:gd name="T55" fmla="*/ 2668 h 9984"/>
              <a:gd name="T56" fmla="*/ 3917 w 8903"/>
              <a:gd name="T57" fmla="*/ 2977 h 9984"/>
              <a:gd name="T58" fmla="*/ 4024 w 8903"/>
              <a:gd name="T59" fmla="*/ 3438 h 9984"/>
              <a:gd name="T60" fmla="*/ 3843 w 8903"/>
              <a:gd name="T61" fmla="*/ 4035 h 9984"/>
              <a:gd name="T62" fmla="*/ 4847 w 8903"/>
              <a:gd name="T63" fmla="*/ 4615 h 9984"/>
              <a:gd name="T64" fmla="*/ 5098 w 8903"/>
              <a:gd name="T65" fmla="*/ 4511 h 9984"/>
              <a:gd name="T66" fmla="*/ 5455 w 8903"/>
              <a:gd name="T67" fmla="*/ 4869 h 9984"/>
              <a:gd name="T68" fmla="*/ 5098 w 8903"/>
              <a:gd name="T69" fmla="*/ 5226 h 9984"/>
              <a:gd name="T70" fmla="*/ 4740 w 8903"/>
              <a:gd name="T71" fmla="*/ 4869 h 9984"/>
              <a:gd name="T72" fmla="*/ 4760 w 8903"/>
              <a:gd name="T73" fmla="*/ 4770 h 9984"/>
              <a:gd name="T74" fmla="*/ 3728 w 8903"/>
              <a:gd name="T75" fmla="*/ 4174 h 9984"/>
              <a:gd name="T76" fmla="*/ 2950 w 8903"/>
              <a:gd name="T77" fmla="*/ 4510 h 9984"/>
              <a:gd name="T78" fmla="*/ 1877 w 8903"/>
              <a:gd name="T79" fmla="*/ 3437 h 9984"/>
              <a:gd name="T80" fmla="*/ 2950 w 8903"/>
              <a:gd name="T81" fmla="*/ 2363 h 9984"/>
              <a:gd name="T82" fmla="*/ 3828 w 8903"/>
              <a:gd name="T83" fmla="*/ 2820 h 9984"/>
              <a:gd name="T84" fmla="*/ 4395 w 8903"/>
              <a:gd name="T85" fmla="*/ 2493 h 9984"/>
              <a:gd name="T86" fmla="*/ 4382 w 8903"/>
              <a:gd name="T87" fmla="*/ 2363 h 9984"/>
              <a:gd name="T88" fmla="*/ 5098 w 8903"/>
              <a:gd name="T89" fmla="*/ 1647 h 9984"/>
              <a:gd name="T90" fmla="*/ 5814 w 8903"/>
              <a:gd name="T91" fmla="*/ 2363 h 9984"/>
              <a:gd name="T92" fmla="*/ 5098 w 8903"/>
              <a:gd name="T93" fmla="*/ 3079 h 9984"/>
              <a:gd name="T94" fmla="*/ 4452 w 8903"/>
              <a:gd name="T95" fmla="*/ 2668 h 9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903" h="9984">
                <a:moveTo>
                  <a:pt x="8327" y="5437"/>
                </a:moveTo>
                <a:cubicBezTo>
                  <a:pt x="8120" y="5205"/>
                  <a:pt x="7800" y="4960"/>
                  <a:pt x="7677" y="4670"/>
                </a:cubicBezTo>
                <a:cubicBezTo>
                  <a:pt x="7499" y="4255"/>
                  <a:pt x="7700" y="3839"/>
                  <a:pt x="7694" y="3413"/>
                </a:cubicBezTo>
                <a:cubicBezTo>
                  <a:pt x="7689" y="3072"/>
                  <a:pt x="7589" y="2647"/>
                  <a:pt x="7473" y="2330"/>
                </a:cubicBezTo>
                <a:cubicBezTo>
                  <a:pt x="7276" y="1797"/>
                  <a:pt x="6930" y="1363"/>
                  <a:pt x="6505" y="1028"/>
                </a:cubicBezTo>
                <a:cubicBezTo>
                  <a:pt x="5816" y="393"/>
                  <a:pt x="4861" y="0"/>
                  <a:pt x="3807" y="0"/>
                </a:cubicBezTo>
                <a:cubicBezTo>
                  <a:pt x="1704" y="0"/>
                  <a:pt x="0" y="1559"/>
                  <a:pt x="0" y="3482"/>
                </a:cubicBezTo>
                <a:cubicBezTo>
                  <a:pt x="0" y="3610"/>
                  <a:pt x="9" y="3737"/>
                  <a:pt x="24" y="3862"/>
                </a:cubicBezTo>
                <a:cubicBezTo>
                  <a:pt x="38" y="4695"/>
                  <a:pt x="299" y="5692"/>
                  <a:pt x="1050" y="6807"/>
                </a:cubicBezTo>
                <a:cubicBezTo>
                  <a:pt x="1050" y="6807"/>
                  <a:pt x="2099" y="8897"/>
                  <a:pt x="0" y="9977"/>
                </a:cubicBezTo>
                <a:lnTo>
                  <a:pt x="4618" y="9984"/>
                </a:lnTo>
                <a:cubicBezTo>
                  <a:pt x="4618" y="9984"/>
                  <a:pt x="4968" y="8608"/>
                  <a:pt x="5528" y="8608"/>
                </a:cubicBezTo>
                <a:cubicBezTo>
                  <a:pt x="6001" y="8608"/>
                  <a:pt x="6487" y="8643"/>
                  <a:pt x="6963" y="8617"/>
                </a:cubicBezTo>
                <a:cubicBezTo>
                  <a:pt x="7056" y="8633"/>
                  <a:pt x="7131" y="8625"/>
                  <a:pt x="7189" y="8599"/>
                </a:cubicBezTo>
                <a:cubicBezTo>
                  <a:pt x="7192" y="8599"/>
                  <a:pt x="7195" y="8598"/>
                  <a:pt x="7198" y="8598"/>
                </a:cubicBezTo>
                <a:lnTo>
                  <a:pt x="7198" y="8594"/>
                </a:lnTo>
                <a:cubicBezTo>
                  <a:pt x="7524" y="8432"/>
                  <a:pt x="7298" y="7675"/>
                  <a:pt x="7298" y="7675"/>
                </a:cubicBezTo>
                <a:cubicBezTo>
                  <a:pt x="7482" y="7597"/>
                  <a:pt x="7603" y="7464"/>
                  <a:pt x="7603" y="7365"/>
                </a:cubicBezTo>
                <a:lnTo>
                  <a:pt x="7603" y="7344"/>
                </a:lnTo>
                <a:cubicBezTo>
                  <a:pt x="7603" y="7220"/>
                  <a:pt x="7417" y="7117"/>
                  <a:pt x="7158" y="7080"/>
                </a:cubicBezTo>
                <a:lnTo>
                  <a:pt x="7278" y="7080"/>
                </a:lnTo>
                <a:cubicBezTo>
                  <a:pt x="7473" y="7080"/>
                  <a:pt x="7633" y="6974"/>
                  <a:pt x="7633" y="6843"/>
                </a:cubicBezTo>
                <a:lnTo>
                  <a:pt x="7633" y="6825"/>
                </a:lnTo>
                <a:cubicBezTo>
                  <a:pt x="7633" y="6789"/>
                  <a:pt x="7620" y="6755"/>
                  <a:pt x="7598" y="6724"/>
                </a:cubicBezTo>
                <a:cubicBezTo>
                  <a:pt x="7633" y="6568"/>
                  <a:pt x="7771" y="5888"/>
                  <a:pt x="7803" y="5887"/>
                </a:cubicBezTo>
                <a:cubicBezTo>
                  <a:pt x="8903" y="5834"/>
                  <a:pt x="8326" y="5437"/>
                  <a:pt x="8327" y="5437"/>
                </a:cubicBezTo>
                <a:close/>
                <a:moveTo>
                  <a:pt x="8327" y="5437"/>
                </a:moveTo>
                <a:close/>
                <a:moveTo>
                  <a:pt x="4452" y="2668"/>
                </a:moveTo>
                <a:lnTo>
                  <a:pt x="3917" y="2977"/>
                </a:lnTo>
                <a:cubicBezTo>
                  <a:pt x="3984" y="3117"/>
                  <a:pt x="4024" y="3272"/>
                  <a:pt x="4024" y="3438"/>
                </a:cubicBezTo>
                <a:cubicBezTo>
                  <a:pt x="4024" y="3659"/>
                  <a:pt x="3957" y="3864"/>
                  <a:pt x="3843" y="4035"/>
                </a:cubicBezTo>
                <a:lnTo>
                  <a:pt x="4847" y="4615"/>
                </a:lnTo>
                <a:cubicBezTo>
                  <a:pt x="4912" y="4551"/>
                  <a:pt x="4999" y="4511"/>
                  <a:pt x="5098" y="4511"/>
                </a:cubicBezTo>
                <a:cubicBezTo>
                  <a:pt x="5295" y="4511"/>
                  <a:pt x="5455" y="4671"/>
                  <a:pt x="5455" y="4869"/>
                </a:cubicBezTo>
                <a:cubicBezTo>
                  <a:pt x="5455" y="5067"/>
                  <a:pt x="5295" y="5226"/>
                  <a:pt x="5098" y="5226"/>
                </a:cubicBezTo>
                <a:cubicBezTo>
                  <a:pt x="4900" y="5226"/>
                  <a:pt x="4740" y="5067"/>
                  <a:pt x="4740" y="4869"/>
                </a:cubicBezTo>
                <a:cubicBezTo>
                  <a:pt x="4740" y="4834"/>
                  <a:pt x="4750" y="4803"/>
                  <a:pt x="4760" y="4770"/>
                </a:cubicBezTo>
                <a:lnTo>
                  <a:pt x="3728" y="4174"/>
                </a:lnTo>
                <a:cubicBezTo>
                  <a:pt x="3532" y="4380"/>
                  <a:pt x="3258" y="4510"/>
                  <a:pt x="2950" y="4510"/>
                </a:cubicBezTo>
                <a:cubicBezTo>
                  <a:pt x="2358" y="4510"/>
                  <a:pt x="1877" y="4029"/>
                  <a:pt x="1877" y="3437"/>
                </a:cubicBezTo>
                <a:cubicBezTo>
                  <a:pt x="1877" y="2844"/>
                  <a:pt x="2358" y="2363"/>
                  <a:pt x="2950" y="2363"/>
                </a:cubicBezTo>
                <a:cubicBezTo>
                  <a:pt x="3314" y="2363"/>
                  <a:pt x="3633" y="2544"/>
                  <a:pt x="3828" y="2820"/>
                </a:cubicBezTo>
                <a:lnTo>
                  <a:pt x="4395" y="2493"/>
                </a:lnTo>
                <a:cubicBezTo>
                  <a:pt x="4388" y="2450"/>
                  <a:pt x="4382" y="2408"/>
                  <a:pt x="4382" y="2363"/>
                </a:cubicBezTo>
                <a:cubicBezTo>
                  <a:pt x="4382" y="1968"/>
                  <a:pt x="4702" y="1647"/>
                  <a:pt x="5098" y="1647"/>
                </a:cubicBezTo>
                <a:cubicBezTo>
                  <a:pt x="5493" y="1647"/>
                  <a:pt x="5814" y="1967"/>
                  <a:pt x="5814" y="2363"/>
                </a:cubicBezTo>
                <a:cubicBezTo>
                  <a:pt x="5814" y="2758"/>
                  <a:pt x="5494" y="3079"/>
                  <a:pt x="5098" y="3079"/>
                </a:cubicBezTo>
                <a:cubicBezTo>
                  <a:pt x="4811" y="3079"/>
                  <a:pt x="4566" y="2910"/>
                  <a:pt x="4452" y="26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3" name="组合 2">
            <a:extLst>
              <a:ext uri="{FF2B5EF4-FFF2-40B4-BE49-F238E27FC236}">
                <a16:creationId xmlns:a16="http://schemas.microsoft.com/office/drawing/2014/main" id="{47BCC1C7-9D50-3376-097B-3110A27CFDED}"/>
              </a:ext>
            </a:extLst>
          </p:cNvPr>
          <p:cNvGrpSpPr>
            <a:grpSpLocks noChangeAspect="1"/>
          </p:cNvGrpSpPr>
          <p:nvPr>
            <p:custDataLst>
              <p:tags r:id="rId1"/>
            </p:custDataLst>
          </p:nvPr>
        </p:nvGrpSpPr>
        <p:grpSpPr>
          <a:xfrm>
            <a:off x="1105069" y="4369490"/>
            <a:ext cx="2664401" cy="1534712"/>
            <a:chOff x="2037739" y="2436581"/>
            <a:chExt cx="4890577" cy="2366558"/>
          </a:xfrm>
        </p:grpSpPr>
        <p:grpSp>
          <p:nvGrpSpPr>
            <p:cNvPr id="95" name="组合 94">
              <a:extLst>
                <a:ext uri="{FF2B5EF4-FFF2-40B4-BE49-F238E27FC236}">
                  <a16:creationId xmlns:a16="http://schemas.microsoft.com/office/drawing/2014/main" id="{D2CB95A2-AFCD-53E5-B773-C38235E5557A}"/>
                </a:ext>
              </a:extLst>
            </p:cNvPr>
            <p:cNvGrpSpPr/>
            <p:nvPr/>
          </p:nvGrpSpPr>
          <p:grpSpPr>
            <a:xfrm>
              <a:off x="2037739" y="3005527"/>
              <a:ext cx="1685543" cy="1796918"/>
              <a:chOff x="1222224" y="3002353"/>
              <a:chExt cx="1685543" cy="1796918"/>
            </a:xfrm>
          </p:grpSpPr>
          <p:sp>
            <p:nvSpPr>
              <p:cNvPr id="110" name="Title-1">
                <a:extLst>
                  <a:ext uri="{FF2B5EF4-FFF2-40B4-BE49-F238E27FC236}">
                    <a16:creationId xmlns:a16="http://schemas.microsoft.com/office/drawing/2014/main" id="{257D2694-63A1-8B89-0316-3094A7916405}"/>
                  </a:ext>
                </a:extLst>
              </p:cNvPr>
              <p:cNvSpPr/>
              <p:nvPr>
                <p:custDataLst>
                  <p:tags r:id="rId10"/>
                </p:custDataLst>
              </p:nvPr>
            </p:nvSpPr>
            <p:spPr>
              <a:xfrm>
                <a:off x="1406727" y="3348557"/>
                <a:ext cx="1309690" cy="1271209"/>
              </a:xfrm>
              <a:prstGeom prst="roundRect">
                <a:avLst>
                  <a:gd name="adj" fmla="val 10009"/>
                </a:avLst>
              </a:prstGeom>
              <a:solidFill>
                <a:schemeClr val="tx2">
                  <a:alpha val="15000"/>
                </a:schemeClr>
              </a:solidFill>
              <a:ln w="12700" cap="flat">
                <a:noFill/>
                <a:miter lim="400000"/>
              </a:ln>
              <a:effectLst/>
            </p:spPr>
            <p:txBody>
              <a:bodyPr wrap="square" lIns="0" tIns="0" rIns="0" bIns="0" numCol="1" anchor="ctr">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推拉结合的算法是什么？</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11" name="1">
                <a:extLst>
                  <a:ext uri="{FF2B5EF4-FFF2-40B4-BE49-F238E27FC236}">
                    <a16:creationId xmlns:a16="http://schemas.microsoft.com/office/drawing/2014/main" id="{9EDF2A63-124D-7DE4-05F7-E39EEBEC47F9}"/>
                  </a:ext>
                </a:extLst>
              </p:cNvPr>
              <p:cNvSpPr/>
              <p:nvPr>
                <p:custDataLst>
                  <p:tags r:id="rId11"/>
                </p:custDataLst>
              </p:nvPr>
            </p:nvSpPr>
            <p:spPr>
              <a:xfrm>
                <a:off x="1222224" y="3209219"/>
                <a:ext cx="1685543" cy="1590052"/>
              </a:xfrm>
              <a:custGeom>
                <a:avLst/>
                <a:gdLst/>
                <a:ahLst/>
                <a:cxnLst>
                  <a:cxn ang="0">
                    <a:pos x="wd2" y="hd2"/>
                  </a:cxn>
                  <a:cxn ang="5400000">
                    <a:pos x="wd2" y="hd2"/>
                  </a:cxn>
                  <a:cxn ang="10800000">
                    <a:pos x="wd2" y="hd2"/>
                  </a:cxn>
                  <a:cxn ang="16200000">
                    <a:pos x="wd2" y="hd2"/>
                  </a:cxn>
                </a:cxnLst>
                <a:rect l="0" t="0" r="r" b="b"/>
                <a:pathLst>
                  <a:path w="21550" h="21557" extrusionOk="0">
                    <a:moveTo>
                      <a:pt x="967" y="9092"/>
                    </a:moveTo>
                    <a:cubicBezTo>
                      <a:pt x="994" y="8809"/>
                      <a:pt x="785" y="8561"/>
                      <a:pt x="509" y="8549"/>
                    </a:cubicBezTo>
                    <a:cubicBezTo>
                      <a:pt x="215" y="8536"/>
                      <a:pt x="-23" y="8791"/>
                      <a:pt x="2" y="9092"/>
                    </a:cubicBezTo>
                    <a:lnTo>
                      <a:pt x="2" y="18268"/>
                    </a:lnTo>
                    <a:cubicBezTo>
                      <a:pt x="39" y="19091"/>
                      <a:pt x="361" y="19874"/>
                      <a:pt x="911" y="20473"/>
                    </a:cubicBezTo>
                    <a:cubicBezTo>
                      <a:pt x="1531" y="21148"/>
                      <a:pt x="2388" y="21539"/>
                      <a:pt x="3291" y="21557"/>
                    </a:cubicBezTo>
                    <a:lnTo>
                      <a:pt x="18209" y="21547"/>
                    </a:lnTo>
                    <a:cubicBezTo>
                      <a:pt x="19045" y="21529"/>
                      <a:pt x="19844" y="21191"/>
                      <a:pt x="20451" y="20597"/>
                    </a:cubicBezTo>
                    <a:cubicBezTo>
                      <a:pt x="21123" y="19939"/>
                      <a:pt x="21502" y="19024"/>
                      <a:pt x="21498" y="18069"/>
                    </a:cubicBezTo>
                    <a:lnTo>
                      <a:pt x="21547" y="587"/>
                    </a:lnTo>
                    <a:cubicBezTo>
                      <a:pt x="21577" y="302"/>
                      <a:pt x="21382" y="45"/>
                      <a:pt x="21107" y="5"/>
                    </a:cubicBezTo>
                    <a:cubicBezTo>
                      <a:pt x="20772" y="-43"/>
                      <a:pt x="20478" y="239"/>
                      <a:pt x="20502" y="587"/>
                    </a:cubicBezTo>
                    <a:lnTo>
                      <a:pt x="20502" y="17919"/>
                    </a:lnTo>
                    <a:cubicBezTo>
                      <a:pt x="20481" y="18612"/>
                      <a:pt x="20204" y="19270"/>
                      <a:pt x="19728" y="19760"/>
                    </a:cubicBezTo>
                    <a:cubicBezTo>
                      <a:pt x="19268" y="20234"/>
                      <a:pt x="18654" y="20517"/>
                      <a:pt x="18003" y="20554"/>
                    </a:cubicBezTo>
                    <a:lnTo>
                      <a:pt x="3591" y="20534"/>
                    </a:lnTo>
                    <a:cubicBezTo>
                      <a:pt x="2837" y="20570"/>
                      <a:pt x="2111" y="20235"/>
                      <a:pt x="1635" y="19632"/>
                    </a:cubicBezTo>
                    <a:cubicBezTo>
                      <a:pt x="1414" y="19353"/>
                      <a:pt x="1259" y="19030"/>
                      <a:pt x="1157" y="18693"/>
                    </a:cubicBezTo>
                    <a:cubicBezTo>
                      <a:pt x="1047" y="18329"/>
                      <a:pt x="997" y="17945"/>
                      <a:pt x="1013" y="17556"/>
                    </a:cubicBezTo>
                    <a:lnTo>
                      <a:pt x="967" y="9092"/>
                    </a:lnTo>
                    <a:close/>
                  </a:path>
                </a:pathLst>
              </a:custGeom>
              <a:solidFill>
                <a:schemeClr val="accent1"/>
              </a:solidFill>
              <a:ln w="12700" cap="flat">
                <a:noFill/>
                <a:miter lim="400000"/>
              </a:ln>
              <a:effectLst/>
            </p:spPr>
            <p:txBody>
              <a:bodyPr wrap="square" lIns="45718" tIns="45718" rIns="45718" bIns="45718"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2" name="1">
                <a:extLst>
                  <a:ext uri="{FF2B5EF4-FFF2-40B4-BE49-F238E27FC236}">
                    <a16:creationId xmlns:a16="http://schemas.microsoft.com/office/drawing/2014/main" id="{000EBF55-6FE6-19AC-8FBA-84A1C894EAD2}"/>
                  </a:ext>
                </a:extLst>
              </p:cNvPr>
              <p:cNvSpPr/>
              <p:nvPr>
                <p:custDataLst>
                  <p:tags r:id="rId12"/>
                </p:custDataLst>
              </p:nvPr>
            </p:nvSpPr>
            <p:spPr>
              <a:xfrm>
                <a:off x="1755783" y="3002353"/>
                <a:ext cx="611574" cy="593604"/>
              </a:xfrm>
              <a:prstGeom prst="ellipse">
                <a:avLst/>
              </a:prstGeom>
              <a:solidFill>
                <a:schemeClr val="bg1"/>
              </a:solidFill>
              <a:ln>
                <a:solidFill>
                  <a:schemeClr val="accent1">
                    <a:alpha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13" name="Index-1">
                <a:extLst>
                  <a:ext uri="{FF2B5EF4-FFF2-40B4-BE49-F238E27FC236}">
                    <a16:creationId xmlns:a16="http://schemas.microsoft.com/office/drawing/2014/main" id="{41F48855-BEBC-81E7-3522-E7B81D457DE9}"/>
                  </a:ext>
                </a:extLst>
              </p:cNvPr>
              <p:cNvSpPr/>
              <p:nvPr>
                <p:custDataLst>
                  <p:tags r:id="rId13"/>
                </p:custDataLst>
              </p:nvPr>
            </p:nvSpPr>
            <p:spPr>
              <a:xfrm>
                <a:off x="1823881" y="3068450"/>
                <a:ext cx="475378" cy="461408"/>
              </a:xfrm>
              <a:prstGeom prst="ellipse">
                <a:avLst/>
              </a:prstGeom>
              <a:solidFill>
                <a:schemeClr val="accent1"/>
              </a:solidFill>
              <a:ln w="25400">
                <a:noFill/>
              </a:ln>
            </p:spPr>
            <p:txBody>
              <a:bodyPr wrap="none" lIns="108000" tIns="108000" rIns="108000" bIns="108000" rtlCol="0" anchor="ctr"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01</a:t>
                </a:r>
                <a:endParaRPr kumimoji="1"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97" name="组合 96">
              <a:extLst>
                <a:ext uri="{FF2B5EF4-FFF2-40B4-BE49-F238E27FC236}">
                  <a16:creationId xmlns:a16="http://schemas.microsoft.com/office/drawing/2014/main" id="{8B0B9B3B-A6F9-DF51-F547-F5E64113EC56}"/>
                </a:ext>
              </a:extLst>
            </p:cNvPr>
            <p:cNvGrpSpPr/>
            <p:nvPr/>
          </p:nvGrpSpPr>
          <p:grpSpPr>
            <a:xfrm>
              <a:off x="3639082" y="2436581"/>
              <a:ext cx="1684046" cy="1746698"/>
              <a:chOff x="2823567" y="2433407"/>
              <a:chExt cx="1684046" cy="1746698"/>
            </a:xfrm>
          </p:grpSpPr>
          <p:sp>
            <p:nvSpPr>
              <p:cNvPr id="105" name="2">
                <a:extLst>
                  <a:ext uri="{FF2B5EF4-FFF2-40B4-BE49-F238E27FC236}">
                    <a16:creationId xmlns:a16="http://schemas.microsoft.com/office/drawing/2014/main" id="{2DBF55C1-7283-68C3-0405-5A25BC65EC9F}"/>
                  </a:ext>
                </a:extLst>
              </p:cNvPr>
              <p:cNvSpPr/>
              <p:nvPr>
                <p:custDataLst>
                  <p:tags r:id="rId6"/>
                </p:custDataLst>
              </p:nvPr>
            </p:nvSpPr>
            <p:spPr>
              <a:xfrm>
                <a:off x="2823567" y="2433407"/>
                <a:ext cx="1684046" cy="1595939"/>
              </a:xfrm>
              <a:custGeom>
                <a:avLst/>
                <a:gdLst/>
                <a:ahLst/>
                <a:cxnLst>
                  <a:cxn ang="0">
                    <a:pos x="wd2" y="hd2"/>
                  </a:cxn>
                  <a:cxn ang="5400000">
                    <a:pos x="wd2" y="hd2"/>
                  </a:cxn>
                  <a:cxn ang="10800000">
                    <a:pos x="wd2" y="hd2"/>
                  </a:cxn>
                  <a:cxn ang="16200000">
                    <a:pos x="wd2" y="hd2"/>
                  </a:cxn>
                </a:cxnLst>
                <a:rect l="0" t="0" r="r" b="b"/>
                <a:pathLst>
                  <a:path w="21565" h="21584" extrusionOk="0">
                    <a:moveTo>
                      <a:pt x="0" y="11078"/>
                    </a:moveTo>
                    <a:lnTo>
                      <a:pt x="1042" y="11078"/>
                    </a:lnTo>
                    <a:lnTo>
                      <a:pt x="1042" y="3470"/>
                    </a:lnTo>
                    <a:cubicBezTo>
                      <a:pt x="1066" y="2878"/>
                      <a:pt x="1292" y="2314"/>
                      <a:pt x="1680" y="1875"/>
                    </a:cubicBezTo>
                    <a:cubicBezTo>
                      <a:pt x="2127" y="1370"/>
                      <a:pt x="2752" y="1069"/>
                      <a:pt x="3416" y="1040"/>
                    </a:cubicBezTo>
                    <a:lnTo>
                      <a:pt x="18029" y="1068"/>
                    </a:lnTo>
                    <a:cubicBezTo>
                      <a:pt x="18650" y="1072"/>
                      <a:pt x="19247" y="1311"/>
                      <a:pt x="19707" y="1739"/>
                    </a:cubicBezTo>
                    <a:cubicBezTo>
                      <a:pt x="20152" y="2152"/>
                      <a:pt x="20438" y="2715"/>
                      <a:pt x="20514" y="3326"/>
                    </a:cubicBezTo>
                    <a:lnTo>
                      <a:pt x="20543" y="21042"/>
                    </a:lnTo>
                    <a:cubicBezTo>
                      <a:pt x="20527" y="21331"/>
                      <a:pt x="20747" y="21577"/>
                      <a:pt x="21030" y="21584"/>
                    </a:cubicBezTo>
                    <a:cubicBezTo>
                      <a:pt x="21323" y="21592"/>
                      <a:pt x="21561" y="21342"/>
                      <a:pt x="21546" y="21042"/>
                    </a:cubicBezTo>
                    <a:lnTo>
                      <a:pt x="21565" y="3393"/>
                    </a:lnTo>
                    <a:cubicBezTo>
                      <a:pt x="21529" y="2916"/>
                      <a:pt x="21417" y="2453"/>
                      <a:pt x="21236" y="2021"/>
                    </a:cubicBezTo>
                    <a:cubicBezTo>
                      <a:pt x="21063" y="1605"/>
                      <a:pt x="20824" y="1214"/>
                      <a:pt x="20495" y="899"/>
                    </a:cubicBezTo>
                    <a:cubicBezTo>
                      <a:pt x="20187" y="604"/>
                      <a:pt x="19821" y="394"/>
                      <a:pt x="19435" y="250"/>
                    </a:cubicBezTo>
                    <a:cubicBezTo>
                      <a:pt x="18982" y="81"/>
                      <a:pt x="18498" y="-1"/>
                      <a:pt x="18006" y="15"/>
                    </a:cubicBezTo>
                    <a:lnTo>
                      <a:pt x="3471" y="0"/>
                    </a:lnTo>
                    <a:cubicBezTo>
                      <a:pt x="2552" y="-8"/>
                      <a:pt x="1669" y="361"/>
                      <a:pt x="1017" y="1026"/>
                    </a:cubicBezTo>
                    <a:cubicBezTo>
                      <a:pt x="332" y="1725"/>
                      <a:pt x="-35" y="2686"/>
                      <a:pt x="5" y="3676"/>
                    </a:cubicBezTo>
                    <a:lnTo>
                      <a:pt x="0" y="11078"/>
                    </a:lnTo>
                    <a:close/>
                  </a:path>
                </a:pathLst>
              </a:custGeom>
              <a:solidFill>
                <a:schemeClr val="tx2">
                  <a:alpha val="15000"/>
                </a:schemeClr>
              </a:solidFill>
              <a:ln w="12700" cap="flat">
                <a:noFill/>
                <a:miter lim="400000"/>
              </a:ln>
              <a:effectLst/>
            </p:spPr>
            <p:txBody>
              <a:bodyPr wrap="square" lIns="45718" tIns="45718" rIns="45718" bIns="45718"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6" name="Title-2">
                <a:extLst>
                  <a:ext uri="{FF2B5EF4-FFF2-40B4-BE49-F238E27FC236}">
                    <a16:creationId xmlns:a16="http://schemas.microsoft.com/office/drawing/2014/main" id="{32F49634-4F11-FEA4-22B6-17722DE45E9C}"/>
                  </a:ext>
                </a:extLst>
              </p:cNvPr>
              <p:cNvSpPr/>
              <p:nvPr>
                <p:custDataLst>
                  <p:tags r:id="rId7"/>
                </p:custDataLst>
              </p:nvPr>
            </p:nvSpPr>
            <p:spPr>
              <a:xfrm>
                <a:off x="3010285" y="2614150"/>
                <a:ext cx="1309691" cy="1271209"/>
              </a:xfrm>
              <a:prstGeom prst="roundRect">
                <a:avLst>
                  <a:gd name="adj" fmla="val 10009"/>
                </a:avLst>
              </a:prstGeom>
              <a:solidFill>
                <a:schemeClr val="tx2">
                  <a:alpha val="15000"/>
                </a:schemeClr>
              </a:solidFill>
              <a:ln w="12700" cap="flat">
                <a:noFill/>
                <a:miter lim="400000"/>
              </a:ln>
              <a:effectLst/>
            </p:spPr>
            <p:txBody>
              <a:bodyPr wrap="square" lIns="0" tIns="0" rIns="0" bIns="0" numCol="1" anchor="ctr">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还有优化空间么？</a:t>
                </a:r>
              </a:p>
            </p:txBody>
          </p:sp>
          <p:sp>
            <p:nvSpPr>
              <p:cNvPr id="107" name="2">
                <a:extLst>
                  <a:ext uri="{FF2B5EF4-FFF2-40B4-BE49-F238E27FC236}">
                    <a16:creationId xmlns:a16="http://schemas.microsoft.com/office/drawing/2014/main" id="{6B114DED-A3F6-3FC6-DCDB-A576073ADAA9}"/>
                  </a:ext>
                </a:extLst>
              </p:cNvPr>
              <p:cNvSpPr/>
              <p:nvPr>
                <p:custDataLst>
                  <p:tags r:id="rId8"/>
                </p:custDataLst>
              </p:nvPr>
            </p:nvSpPr>
            <p:spPr>
              <a:xfrm>
                <a:off x="3319106" y="3586501"/>
                <a:ext cx="611574" cy="593604"/>
              </a:xfrm>
              <a:prstGeom prst="ellipse">
                <a:avLst/>
              </a:prstGeom>
              <a:solidFill>
                <a:schemeClr val="bg1"/>
              </a:solidFill>
              <a:ln>
                <a:solidFill>
                  <a:schemeClr val="tx2">
                    <a:alpha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08" name="Index-2">
                <a:extLst>
                  <a:ext uri="{FF2B5EF4-FFF2-40B4-BE49-F238E27FC236}">
                    <a16:creationId xmlns:a16="http://schemas.microsoft.com/office/drawing/2014/main" id="{8D324171-952E-F03F-7D1C-366D90224025}"/>
                  </a:ext>
                </a:extLst>
              </p:cNvPr>
              <p:cNvSpPr/>
              <p:nvPr>
                <p:custDataLst>
                  <p:tags r:id="rId9"/>
                </p:custDataLst>
              </p:nvPr>
            </p:nvSpPr>
            <p:spPr>
              <a:xfrm>
                <a:off x="3387204" y="3652598"/>
                <a:ext cx="475378" cy="461408"/>
              </a:xfrm>
              <a:prstGeom prst="ellipse">
                <a:avLst/>
              </a:prstGeom>
              <a:solidFill>
                <a:schemeClr val="tx2">
                  <a:alpha val="15000"/>
                </a:schemeClr>
              </a:solidFill>
              <a:ln w="25400">
                <a:noFill/>
              </a:ln>
            </p:spPr>
            <p:txBody>
              <a:bodyPr wrap="none" lIns="108000" tIns="108000" rIns="108000" bIns="108000" rtlCol="0" anchor="ctr"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02</a:t>
                </a:r>
                <a:endParaRPr kumimoji="0" lang="zh-CN" altLang="en-US" sz="105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98" name="组合 97">
              <a:extLst>
                <a:ext uri="{FF2B5EF4-FFF2-40B4-BE49-F238E27FC236}">
                  <a16:creationId xmlns:a16="http://schemas.microsoft.com/office/drawing/2014/main" id="{DB2D4575-7B04-C335-A74E-C4A24EB408E6}"/>
                </a:ext>
              </a:extLst>
            </p:cNvPr>
            <p:cNvGrpSpPr/>
            <p:nvPr/>
          </p:nvGrpSpPr>
          <p:grpSpPr>
            <a:xfrm>
              <a:off x="5243437" y="3005527"/>
              <a:ext cx="1684879" cy="1797612"/>
              <a:chOff x="5243437" y="3005527"/>
              <a:chExt cx="1684879" cy="1797612"/>
            </a:xfrm>
          </p:grpSpPr>
          <p:sp>
            <p:nvSpPr>
              <p:cNvPr id="99" name="3">
                <a:extLst>
                  <a:ext uri="{FF2B5EF4-FFF2-40B4-BE49-F238E27FC236}">
                    <a16:creationId xmlns:a16="http://schemas.microsoft.com/office/drawing/2014/main" id="{BBBED804-F972-75FF-D3EF-D75939C45735}"/>
                  </a:ext>
                </a:extLst>
              </p:cNvPr>
              <p:cNvSpPr/>
              <p:nvPr>
                <p:custDataLst>
                  <p:tags r:id="rId2"/>
                </p:custDataLst>
              </p:nvPr>
            </p:nvSpPr>
            <p:spPr>
              <a:xfrm>
                <a:off x="5243437" y="3216730"/>
                <a:ext cx="1684879" cy="1586409"/>
              </a:xfrm>
              <a:custGeom>
                <a:avLst/>
                <a:gdLst/>
                <a:ahLst/>
                <a:cxnLst>
                  <a:cxn ang="0">
                    <a:pos x="wd2" y="hd2"/>
                  </a:cxn>
                  <a:cxn ang="5400000">
                    <a:pos x="wd2" y="hd2"/>
                  </a:cxn>
                  <a:cxn ang="10800000">
                    <a:pos x="wd2" y="hd2"/>
                  </a:cxn>
                  <a:cxn ang="16200000">
                    <a:pos x="wd2" y="hd2"/>
                  </a:cxn>
                </a:cxnLst>
                <a:rect l="0" t="0" r="r" b="b"/>
                <a:pathLst>
                  <a:path w="21579" h="21557" extrusionOk="0">
                    <a:moveTo>
                      <a:pt x="0" y="10536"/>
                    </a:moveTo>
                    <a:lnTo>
                      <a:pt x="1037" y="10536"/>
                    </a:lnTo>
                    <a:lnTo>
                      <a:pt x="1037" y="17672"/>
                    </a:lnTo>
                    <a:cubicBezTo>
                      <a:pt x="997" y="18364"/>
                      <a:pt x="1217" y="19045"/>
                      <a:pt x="1651" y="19575"/>
                    </a:cubicBezTo>
                    <a:cubicBezTo>
                      <a:pt x="2152" y="20187"/>
                      <a:pt x="2888" y="20541"/>
                      <a:pt x="3665" y="20544"/>
                    </a:cubicBezTo>
                    <a:lnTo>
                      <a:pt x="17988" y="20514"/>
                    </a:lnTo>
                    <a:cubicBezTo>
                      <a:pt x="18720" y="20513"/>
                      <a:pt x="19418" y="20192"/>
                      <a:pt x="19906" y="19629"/>
                    </a:cubicBezTo>
                    <a:cubicBezTo>
                      <a:pt x="20352" y="19115"/>
                      <a:pt x="20585" y="18442"/>
                      <a:pt x="20556" y="17753"/>
                    </a:cubicBezTo>
                    <a:lnTo>
                      <a:pt x="20595" y="519"/>
                    </a:lnTo>
                    <a:cubicBezTo>
                      <a:pt x="20593" y="203"/>
                      <a:pt x="20866" y="-41"/>
                      <a:pt x="21170" y="6"/>
                    </a:cubicBezTo>
                    <a:cubicBezTo>
                      <a:pt x="21413" y="44"/>
                      <a:pt x="21590" y="266"/>
                      <a:pt x="21579" y="519"/>
                    </a:cubicBezTo>
                    <a:lnTo>
                      <a:pt x="21530" y="18190"/>
                    </a:lnTo>
                    <a:cubicBezTo>
                      <a:pt x="21525" y="19106"/>
                      <a:pt x="21161" y="19980"/>
                      <a:pt x="20520" y="20615"/>
                    </a:cubicBezTo>
                    <a:cubicBezTo>
                      <a:pt x="19925" y="21204"/>
                      <a:pt x="19137" y="21540"/>
                      <a:pt x="18312" y="21557"/>
                    </a:cubicBezTo>
                    <a:lnTo>
                      <a:pt x="3422" y="21526"/>
                    </a:lnTo>
                    <a:cubicBezTo>
                      <a:pt x="2553" y="21559"/>
                      <a:pt x="1707" y="21232"/>
                      <a:pt x="1073" y="20619"/>
                    </a:cubicBezTo>
                    <a:cubicBezTo>
                      <a:pt x="366" y="19935"/>
                      <a:pt x="-10" y="18965"/>
                      <a:pt x="45" y="17968"/>
                    </a:cubicBezTo>
                    <a:lnTo>
                      <a:pt x="0" y="10536"/>
                    </a:lnTo>
                    <a:close/>
                  </a:path>
                </a:pathLst>
              </a:custGeom>
              <a:solidFill>
                <a:schemeClr val="accent1"/>
              </a:solidFill>
              <a:ln w="12700" cap="flat">
                <a:noFill/>
                <a:miter lim="400000"/>
              </a:ln>
              <a:effectLst/>
            </p:spPr>
            <p:txBody>
              <a:bodyPr wrap="square" lIns="45718" tIns="45718" rIns="45718" bIns="45718"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0" name="Title-3">
                <a:extLst>
                  <a:ext uri="{FF2B5EF4-FFF2-40B4-BE49-F238E27FC236}">
                    <a16:creationId xmlns:a16="http://schemas.microsoft.com/office/drawing/2014/main" id="{AD0CA3C7-0785-2DA8-A4F4-F7509B818ED0}"/>
                  </a:ext>
                </a:extLst>
              </p:cNvPr>
              <p:cNvSpPr/>
              <p:nvPr>
                <p:custDataLst>
                  <p:tags r:id="rId3"/>
                </p:custDataLst>
              </p:nvPr>
            </p:nvSpPr>
            <p:spPr>
              <a:xfrm>
                <a:off x="5431715" y="3351731"/>
                <a:ext cx="1309690" cy="1271209"/>
              </a:xfrm>
              <a:prstGeom prst="roundRect">
                <a:avLst>
                  <a:gd name="adj" fmla="val 10009"/>
                </a:avLst>
              </a:prstGeom>
              <a:solidFill>
                <a:schemeClr val="tx2">
                  <a:alpha val="15000"/>
                </a:schemeClr>
              </a:solidFill>
              <a:ln w="12700" cap="flat">
                <a:noFill/>
                <a:miter lim="400000"/>
              </a:ln>
              <a:effectLst/>
            </p:spPr>
            <p:txBody>
              <a:bodyPr wrap="square" lIns="0" tIns="0" rIns="0" bIns="0" numCol="1" anchor="ctr">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Pegging </a:t>
                </a:r>
                <a:r>
                  <a:rPr kumimoji="0" lang="zh-CN" altLang="en-US" sz="11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是什么？</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1" name="3">
                <a:extLst>
                  <a:ext uri="{FF2B5EF4-FFF2-40B4-BE49-F238E27FC236}">
                    <a16:creationId xmlns:a16="http://schemas.microsoft.com/office/drawing/2014/main" id="{88D8E290-A4D0-BE07-6610-50F64D1955F7}"/>
                  </a:ext>
                </a:extLst>
              </p:cNvPr>
              <p:cNvSpPr/>
              <p:nvPr>
                <p:custDataLst>
                  <p:tags r:id="rId4"/>
                </p:custDataLst>
              </p:nvPr>
            </p:nvSpPr>
            <p:spPr>
              <a:xfrm>
                <a:off x="5783839" y="3005527"/>
                <a:ext cx="611574" cy="593604"/>
              </a:xfrm>
              <a:prstGeom prst="ellipse">
                <a:avLst/>
              </a:prstGeom>
              <a:solidFill>
                <a:schemeClr val="bg1"/>
              </a:solidFill>
              <a:ln>
                <a:solidFill>
                  <a:schemeClr val="accent1">
                    <a:alpha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02" name="Index-3">
                <a:extLst>
                  <a:ext uri="{FF2B5EF4-FFF2-40B4-BE49-F238E27FC236}">
                    <a16:creationId xmlns:a16="http://schemas.microsoft.com/office/drawing/2014/main" id="{78FFCF97-1C6E-D6AF-CE60-7B8184CEE77B}"/>
                  </a:ext>
                </a:extLst>
              </p:cNvPr>
              <p:cNvSpPr/>
              <p:nvPr>
                <p:custDataLst>
                  <p:tags r:id="rId5"/>
                </p:custDataLst>
              </p:nvPr>
            </p:nvSpPr>
            <p:spPr>
              <a:xfrm>
                <a:off x="5851937" y="3071624"/>
                <a:ext cx="475378" cy="461408"/>
              </a:xfrm>
              <a:prstGeom prst="ellipse">
                <a:avLst/>
              </a:prstGeom>
              <a:solidFill>
                <a:schemeClr val="accent1"/>
              </a:solidFill>
              <a:ln w="25400">
                <a:noFill/>
              </a:ln>
            </p:spPr>
            <p:txBody>
              <a:bodyPr wrap="none" lIns="108000" tIns="108000" rIns="108000" bIns="108000" rtlCol="0" anchor="ctr"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03</a:t>
                </a:r>
                <a:endParaRPr kumimoji="1"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spTree>
    <p:extLst>
      <p:ext uri="{BB962C8B-B14F-4D97-AF65-F5344CB8AC3E}">
        <p14:creationId xmlns:p14="http://schemas.microsoft.com/office/powerpoint/2010/main" val="393860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fade">
                                      <p:cBhvr>
                                        <p:cTn id="33" dur="500"/>
                                        <p:tgtEl>
                                          <p:spTgt spid="9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fade">
                                      <p:cBhvr>
                                        <p:cTn id="54" dur="500"/>
                                        <p:tgtEl>
                                          <p:spTgt spid="68"/>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96" grpId="0" animBg="1"/>
      <p:bldP spid="24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58BBA-5CD2-6348-83AE-7AF137DC50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259694-3249-DA6A-54D4-08E210F4CF24}"/>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推拉结合的计划模型 </a:t>
            </a:r>
            <a:r>
              <a:rPr lang="en-US" altLang="zh-CN" dirty="0">
                <a:solidFill>
                  <a:schemeClr val="bg1"/>
                </a:solidFill>
                <a:latin typeface="Arial" panose="020B0604020202020204" pitchFamily="34" charset="0"/>
                <a:ea typeface="微软雅黑" panose="020B0503020204020204" pitchFamily="34" charset="-122"/>
              </a:rPr>
              <a:t>– Traditional Algorithms </a:t>
            </a:r>
            <a:endParaRPr lang="zh-CN" altLang="en-US" dirty="0">
              <a:solidFill>
                <a:schemeClr val="bg1"/>
              </a:solidFill>
              <a:latin typeface="Arial" panose="020B0604020202020204" pitchFamily="34"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AD20DBB5-AD3D-376D-51FE-FA53E8433516}"/>
              </a:ext>
            </a:extLst>
          </p:cNvPr>
          <p:cNvSpPr txBox="1">
            <a:spLocks/>
          </p:cNvSpPr>
          <p:nvPr/>
        </p:nvSpPr>
        <p:spPr>
          <a:xfrm>
            <a:off x="9206057" y="6478934"/>
            <a:ext cx="2547595" cy="206381"/>
          </a:xfrm>
        </p:spPr>
        <p:txBody>
          <a:bodyPr/>
          <a:lstStyle>
            <a:defPPr>
              <a:defRPr lang="zh-CN"/>
            </a:defPPr>
            <a:lvl1pPr marL="0" algn="r" defTabSz="914400" rtl="0" eaLnBrk="1" latinLnBrk="0" hangingPunct="1">
              <a:defRPr sz="18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0" cap="none" spc="0" normalizeH="0" baseline="0" noProof="0" smtClean="0">
                <a:ln>
                  <a:noFill/>
                </a:ln>
                <a:solidFill>
                  <a:srgbClr val="FFFFFF">
                    <a:lumMod val="50000"/>
                  </a:srgbClr>
                </a:solidFill>
                <a:effectLst/>
                <a:uLnTx/>
                <a:uFillTx/>
                <a:latin typeface="Arial" panose="020B0604020202020204" pitchFamily="34" charset="0"/>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CN" altLang="en-US" sz="1000" b="0" i="0" u="none" strike="noStrike" kern="0" cap="none" spc="0" normalizeH="0" baseline="0" noProof="0" dirty="0">
              <a:ln>
                <a:noFill/>
              </a:ln>
              <a:solidFill>
                <a:srgbClr val="000000">
                  <a:lumMod val="50000"/>
                  <a:lumOff val="50000"/>
                </a:srgbClr>
              </a:solidFill>
              <a:effectLst/>
              <a:uLnTx/>
              <a:uFillTx/>
              <a:latin typeface="Arial" panose="020B0604020202020204" pitchFamily="34" charset="0"/>
              <a:ea typeface="微软雅黑" panose="020B0503020204020204" pitchFamily="34" charset="-122"/>
              <a:cs typeface="+mn-cs"/>
            </a:endParaRPr>
          </a:p>
        </p:txBody>
      </p:sp>
      <p:sp>
        <p:nvSpPr>
          <p:cNvPr id="3" name="矩形: 圆角 2">
            <a:extLst>
              <a:ext uri="{FF2B5EF4-FFF2-40B4-BE49-F238E27FC236}">
                <a16:creationId xmlns:a16="http://schemas.microsoft.com/office/drawing/2014/main" id="{B7BF2C60-8990-A6C7-5060-8455341757CB}"/>
              </a:ext>
            </a:extLst>
          </p:cNvPr>
          <p:cNvSpPr/>
          <p:nvPr/>
        </p:nvSpPr>
        <p:spPr>
          <a:xfrm>
            <a:off x="2307771" y="821871"/>
            <a:ext cx="751114" cy="342900"/>
          </a:xfrm>
          <a:prstGeom prst="roundRect">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4" name="矩形: 圆角 13">
            <a:extLst>
              <a:ext uri="{FF2B5EF4-FFF2-40B4-BE49-F238E27FC236}">
                <a16:creationId xmlns:a16="http://schemas.microsoft.com/office/drawing/2014/main" id="{1BA22D25-3573-6D9E-0255-BB05CAAC0BFA}"/>
              </a:ext>
            </a:extLst>
          </p:cNvPr>
          <p:cNvSpPr/>
          <p:nvPr/>
        </p:nvSpPr>
        <p:spPr>
          <a:xfrm>
            <a:off x="1687286" y="1469569"/>
            <a:ext cx="751114" cy="342900"/>
          </a:xfrm>
          <a:prstGeom prst="roundRect">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矩形: 圆角 14">
            <a:extLst>
              <a:ext uri="{FF2B5EF4-FFF2-40B4-BE49-F238E27FC236}">
                <a16:creationId xmlns:a16="http://schemas.microsoft.com/office/drawing/2014/main" id="{FFB67DF5-3ACB-4F9F-166B-70C19AB7FD60}"/>
              </a:ext>
            </a:extLst>
          </p:cNvPr>
          <p:cNvSpPr/>
          <p:nvPr/>
        </p:nvSpPr>
        <p:spPr>
          <a:xfrm>
            <a:off x="2950029" y="1469569"/>
            <a:ext cx="751114" cy="342900"/>
          </a:xfrm>
          <a:prstGeom prst="roundRect">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9" name="连接符: 肘形 18">
            <a:extLst>
              <a:ext uri="{FF2B5EF4-FFF2-40B4-BE49-F238E27FC236}">
                <a16:creationId xmlns:a16="http://schemas.microsoft.com/office/drawing/2014/main" id="{CD2FC7AF-8BA5-449F-2CA8-E3F048473199}"/>
              </a:ext>
            </a:extLst>
          </p:cNvPr>
          <p:cNvCxnSpPr>
            <a:stCxn id="3" idx="2"/>
            <a:endCxn id="14" idx="0"/>
          </p:cNvCxnSpPr>
          <p:nvPr/>
        </p:nvCxnSpPr>
        <p:spPr>
          <a:xfrm rot="5400000">
            <a:off x="2220687" y="1006928"/>
            <a:ext cx="304798" cy="62048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连接符: 肘形 19">
            <a:extLst>
              <a:ext uri="{FF2B5EF4-FFF2-40B4-BE49-F238E27FC236}">
                <a16:creationId xmlns:a16="http://schemas.microsoft.com/office/drawing/2014/main" id="{7439C24E-6774-9490-8D96-DE6140AD41FC}"/>
              </a:ext>
            </a:extLst>
          </p:cNvPr>
          <p:cNvCxnSpPr>
            <a:cxnSpLocks/>
            <a:stCxn id="3" idx="2"/>
            <a:endCxn id="15" idx="0"/>
          </p:cNvCxnSpPr>
          <p:nvPr/>
        </p:nvCxnSpPr>
        <p:spPr>
          <a:xfrm rot="16200000" flipH="1">
            <a:off x="2852058" y="996041"/>
            <a:ext cx="304798" cy="64225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7" name="表格 26">
            <a:extLst>
              <a:ext uri="{FF2B5EF4-FFF2-40B4-BE49-F238E27FC236}">
                <a16:creationId xmlns:a16="http://schemas.microsoft.com/office/drawing/2014/main" id="{142D87F6-55E4-CB27-1191-7B03413A4E02}"/>
              </a:ext>
            </a:extLst>
          </p:cNvPr>
          <p:cNvGraphicFramePr>
            <a:graphicFrameLocks noGrp="1"/>
          </p:cNvGraphicFramePr>
          <p:nvPr>
            <p:extLst>
              <p:ext uri="{D42A27DB-BD31-4B8C-83A1-F6EECF244321}">
                <p14:modId xmlns:p14="http://schemas.microsoft.com/office/powerpoint/2010/main" val="2122628261"/>
              </p:ext>
            </p:extLst>
          </p:nvPr>
        </p:nvGraphicFramePr>
        <p:xfrm>
          <a:off x="8110280" y="989509"/>
          <a:ext cx="3383155" cy="2194560"/>
        </p:xfrm>
        <a:graphic>
          <a:graphicData uri="http://schemas.openxmlformats.org/drawingml/2006/table">
            <a:tbl>
              <a:tblPr firstRow="1" bandRow="1">
                <a:tableStyleId>{5C22544A-7EE6-4342-B048-85BDC9FD1C3A}</a:tableStyleId>
              </a:tblPr>
              <a:tblGrid>
                <a:gridCol w="521018">
                  <a:extLst>
                    <a:ext uri="{9D8B030D-6E8A-4147-A177-3AD203B41FA5}">
                      <a16:colId xmlns:a16="http://schemas.microsoft.com/office/drawing/2014/main" val="3739084925"/>
                    </a:ext>
                  </a:extLst>
                </a:gridCol>
                <a:gridCol w="1122490">
                  <a:extLst>
                    <a:ext uri="{9D8B030D-6E8A-4147-A177-3AD203B41FA5}">
                      <a16:colId xmlns:a16="http://schemas.microsoft.com/office/drawing/2014/main" val="2015716019"/>
                    </a:ext>
                  </a:extLst>
                </a:gridCol>
                <a:gridCol w="479743">
                  <a:extLst>
                    <a:ext uri="{9D8B030D-6E8A-4147-A177-3AD203B41FA5}">
                      <a16:colId xmlns:a16="http://schemas.microsoft.com/office/drawing/2014/main" val="4883912"/>
                    </a:ext>
                  </a:extLst>
                </a:gridCol>
                <a:gridCol w="1259904">
                  <a:extLst>
                    <a:ext uri="{9D8B030D-6E8A-4147-A177-3AD203B41FA5}">
                      <a16:colId xmlns:a16="http://schemas.microsoft.com/office/drawing/2014/main" val="3755102202"/>
                    </a:ext>
                  </a:extLst>
                </a:gridCol>
              </a:tblGrid>
              <a:tr h="266014">
                <a:tc gridSpan="4">
                  <a:txBody>
                    <a:bodyPr/>
                    <a:lstStyle/>
                    <a:p>
                      <a:pPr algn="ctr"/>
                      <a:r>
                        <a:rPr lang="en-US" altLang="zh-CN" sz="1200" dirty="0">
                          <a:solidFill>
                            <a:schemeClr val="tx1"/>
                          </a:solidFill>
                          <a:latin typeface="Arial" panose="020B0604020202020204" pitchFamily="34" charset="0"/>
                          <a:ea typeface="微软雅黑" panose="020B0503020204020204" pitchFamily="34" charset="-122"/>
                        </a:rPr>
                        <a:t>Supply</a:t>
                      </a:r>
                      <a:endParaRPr lang="zh-CN" altLang="en-US" sz="1200" dirty="0">
                        <a:solidFill>
                          <a:schemeClr val="tx1"/>
                        </a:solidFill>
                        <a:latin typeface="Arial" panose="020B0604020202020204" pitchFamily="34" charset="0"/>
                        <a:ea typeface="微软雅黑" panose="020B0503020204020204" pitchFamily="34" charset="-122"/>
                      </a:endParaRPr>
                    </a:p>
                  </a:txBody>
                  <a:tcPr/>
                </a:tc>
                <a:tc hMerge="1">
                  <a:txBody>
                    <a:bodyPr/>
                    <a:lstStyle/>
                    <a:p>
                      <a:endParaRPr lang="zh-CN" altLang="en-US" sz="1200" dirty="0"/>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3566394691"/>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Part</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 Type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Available Date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66014">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SR(WO)</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473027153"/>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22212733"/>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357289973"/>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39132231"/>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6.7</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45645007"/>
                  </a:ext>
                </a:extLst>
              </a:tr>
            </a:tbl>
          </a:graphicData>
        </a:graphic>
      </p:graphicFrame>
      <p:sp>
        <p:nvSpPr>
          <p:cNvPr id="28" name="文本框 27">
            <a:extLst>
              <a:ext uri="{FF2B5EF4-FFF2-40B4-BE49-F238E27FC236}">
                <a16:creationId xmlns:a16="http://schemas.microsoft.com/office/drawing/2014/main" id="{8DF9DE5F-37D0-145D-EA0B-FF8EE505ABFC}"/>
              </a:ext>
            </a:extLst>
          </p:cNvPr>
          <p:cNvSpPr txBox="1"/>
          <p:nvPr/>
        </p:nvSpPr>
        <p:spPr>
          <a:xfrm>
            <a:off x="250373" y="870895"/>
            <a:ext cx="1687284" cy="40011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0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 </a:t>
            </a:r>
            <a:r>
              <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的前置期都是</a:t>
            </a: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天</a:t>
            </a:r>
            <a:endPar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r>
              <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a:t>
            </a: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per qty </a:t>
            </a:r>
            <a:r>
              <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a:t>
            </a: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9" name="表格 28">
            <a:extLst>
              <a:ext uri="{FF2B5EF4-FFF2-40B4-BE49-F238E27FC236}">
                <a16:creationId xmlns:a16="http://schemas.microsoft.com/office/drawing/2014/main" id="{1CE1EFAF-C900-2910-7BBC-D960A7274EE8}"/>
              </a:ext>
            </a:extLst>
          </p:cNvPr>
          <p:cNvGraphicFramePr>
            <a:graphicFrameLocks noGrp="1"/>
          </p:cNvGraphicFramePr>
          <p:nvPr>
            <p:extLst>
              <p:ext uri="{D42A27DB-BD31-4B8C-83A1-F6EECF244321}">
                <p14:modId xmlns:p14="http://schemas.microsoft.com/office/powerpoint/2010/main" val="1209631983"/>
              </p:ext>
            </p:extLst>
          </p:nvPr>
        </p:nvGraphicFramePr>
        <p:xfrm>
          <a:off x="4061734" y="989509"/>
          <a:ext cx="3687955" cy="822960"/>
        </p:xfrm>
        <a:graphic>
          <a:graphicData uri="http://schemas.openxmlformats.org/drawingml/2006/table">
            <a:tbl>
              <a:tblPr firstRow="1" bandRow="1">
                <a:tableStyleId>{5C22544A-7EE6-4342-B048-85BDC9FD1C3A}</a:tableStyleId>
              </a:tblPr>
              <a:tblGrid>
                <a:gridCol w="825818">
                  <a:extLst>
                    <a:ext uri="{9D8B030D-6E8A-4147-A177-3AD203B41FA5}">
                      <a16:colId xmlns:a16="http://schemas.microsoft.com/office/drawing/2014/main" val="3739084925"/>
                    </a:ext>
                  </a:extLst>
                </a:gridCol>
                <a:gridCol w="1122490">
                  <a:extLst>
                    <a:ext uri="{9D8B030D-6E8A-4147-A177-3AD203B41FA5}">
                      <a16:colId xmlns:a16="http://schemas.microsoft.com/office/drawing/2014/main" val="2015716019"/>
                    </a:ext>
                  </a:extLst>
                </a:gridCol>
                <a:gridCol w="479743">
                  <a:extLst>
                    <a:ext uri="{9D8B030D-6E8A-4147-A177-3AD203B41FA5}">
                      <a16:colId xmlns:a16="http://schemas.microsoft.com/office/drawing/2014/main" val="4883912"/>
                    </a:ext>
                  </a:extLst>
                </a:gridCol>
                <a:gridCol w="1259904">
                  <a:extLst>
                    <a:ext uri="{9D8B030D-6E8A-4147-A177-3AD203B41FA5}">
                      <a16:colId xmlns:a16="http://schemas.microsoft.com/office/drawing/2014/main" val="3755102202"/>
                    </a:ext>
                  </a:extLst>
                </a:gridCol>
              </a:tblGrid>
              <a:tr h="266014">
                <a:tc gridSpan="4">
                  <a:txBody>
                    <a:bodyPr/>
                    <a:lstStyle/>
                    <a:p>
                      <a:pPr algn="ctr"/>
                      <a:r>
                        <a:rPr lang="en-US" altLang="zh-CN" sz="1200" dirty="0">
                          <a:solidFill>
                            <a:schemeClr val="tx1"/>
                          </a:solidFill>
                          <a:latin typeface="Arial" panose="020B0604020202020204" pitchFamily="34" charset="0"/>
                          <a:ea typeface="微软雅黑" panose="020B0503020204020204" pitchFamily="34" charset="-122"/>
                        </a:rPr>
                        <a:t>Demand</a:t>
                      </a:r>
                      <a:endParaRPr lang="zh-CN" altLang="en-US" sz="1200" dirty="0">
                        <a:solidFill>
                          <a:schemeClr val="tx1"/>
                        </a:solidFill>
                        <a:latin typeface="Arial" panose="020B0604020202020204" pitchFamily="34" charset="0"/>
                        <a:ea typeface="微软雅黑" panose="020B0503020204020204" pitchFamily="34" charset="-122"/>
                      </a:endParaRPr>
                    </a:p>
                  </a:txBody>
                  <a:tcPr/>
                </a:tc>
                <a:tc hMerge="1">
                  <a:txBody>
                    <a:bodyPr/>
                    <a:lstStyle/>
                    <a:p>
                      <a:endParaRPr/>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4288766675"/>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Demand</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Part</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Request Date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bl>
          </a:graphicData>
        </a:graphic>
      </p:graphicFrame>
      <p:graphicFrame>
        <p:nvGraphicFramePr>
          <p:cNvPr id="30" name="表格 29">
            <a:extLst>
              <a:ext uri="{FF2B5EF4-FFF2-40B4-BE49-F238E27FC236}">
                <a16:creationId xmlns:a16="http://schemas.microsoft.com/office/drawing/2014/main" id="{A7D55B94-8971-E13E-FBEB-91517AD3C208}"/>
              </a:ext>
            </a:extLst>
          </p:cNvPr>
          <p:cNvGraphicFramePr>
            <a:graphicFrameLocks noGrp="1"/>
          </p:cNvGraphicFramePr>
          <p:nvPr>
            <p:extLst>
              <p:ext uri="{D42A27DB-BD31-4B8C-83A1-F6EECF244321}">
                <p14:modId xmlns:p14="http://schemas.microsoft.com/office/powerpoint/2010/main" val="2772973223"/>
              </p:ext>
            </p:extLst>
          </p:nvPr>
        </p:nvGraphicFramePr>
        <p:xfrm>
          <a:off x="158077" y="3262452"/>
          <a:ext cx="7805725" cy="2560320"/>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824709826"/>
                    </a:ext>
                  </a:extLst>
                </a:gridCol>
                <a:gridCol w="867246">
                  <a:extLst>
                    <a:ext uri="{9D8B030D-6E8A-4147-A177-3AD203B41FA5}">
                      <a16:colId xmlns:a16="http://schemas.microsoft.com/office/drawing/2014/main" val="3739084925"/>
                    </a:ext>
                  </a:extLst>
                </a:gridCol>
                <a:gridCol w="835090">
                  <a:extLst>
                    <a:ext uri="{9D8B030D-6E8A-4147-A177-3AD203B41FA5}">
                      <a16:colId xmlns:a16="http://schemas.microsoft.com/office/drawing/2014/main" val="2252723600"/>
                    </a:ext>
                  </a:extLst>
                </a:gridCol>
                <a:gridCol w="788091">
                  <a:extLst>
                    <a:ext uri="{9D8B030D-6E8A-4147-A177-3AD203B41FA5}">
                      <a16:colId xmlns:a16="http://schemas.microsoft.com/office/drawing/2014/main" val="159420575"/>
                    </a:ext>
                  </a:extLst>
                </a:gridCol>
                <a:gridCol w="825194">
                  <a:extLst>
                    <a:ext uri="{9D8B030D-6E8A-4147-A177-3AD203B41FA5}">
                      <a16:colId xmlns:a16="http://schemas.microsoft.com/office/drawing/2014/main" val="2015716019"/>
                    </a:ext>
                  </a:extLst>
                </a:gridCol>
                <a:gridCol w="1023951">
                  <a:extLst>
                    <a:ext uri="{9D8B030D-6E8A-4147-A177-3AD203B41FA5}">
                      <a16:colId xmlns:a16="http://schemas.microsoft.com/office/drawing/2014/main" val="126826503"/>
                    </a:ext>
                  </a:extLst>
                </a:gridCol>
                <a:gridCol w="1023951">
                  <a:extLst>
                    <a:ext uri="{9D8B030D-6E8A-4147-A177-3AD203B41FA5}">
                      <a16:colId xmlns:a16="http://schemas.microsoft.com/office/drawing/2014/main" val="4883912"/>
                    </a:ext>
                  </a:extLst>
                </a:gridCol>
                <a:gridCol w="950645">
                  <a:extLst>
                    <a:ext uri="{9D8B030D-6E8A-4147-A177-3AD203B41FA5}">
                      <a16:colId xmlns:a16="http://schemas.microsoft.com/office/drawing/2014/main" val="3755102202"/>
                    </a:ext>
                  </a:extLst>
                </a:gridCol>
                <a:gridCol w="692727">
                  <a:extLst>
                    <a:ext uri="{9D8B030D-6E8A-4147-A177-3AD203B41FA5}">
                      <a16:colId xmlns:a16="http://schemas.microsoft.com/office/drawing/2014/main" val="2658016956"/>
                    </a:ext>
                  </a:extLst>
                </a:gridCol>
              </a:tblGrid>
              <a:tr h="239151">
                <a:tc gridSpan="9">
                  <a:txBody>
                    <a:bodyPr/>
                    <a:lstStyle/>
                    <a:p>
                      <a:pPr algn="ctr"/>
                      <a:r>
                        <a:rPr lang="en-US" altLang="zh-CN" sz="1200" dirty="0">
                          <a:solidFill>
                            <a:schemeClr val="tx1"/>
                          </a:solidFill>
                          <a:latin typeface="Arial" panose="020B0604020202020204" pitchFamily="34" charset="0"/>
                          <a:ea typeface="微软雅黑" panose="020B0503020204020204" pitchFamily="34" charset="-122"/>
                        </a:rPr>
                        <a:t>Assignment</a:t>
                      </a:r>
                      <a:endParaRPr lang="zh-CN" altLang="en-US" sz="1200" dirty="0">
                        <a:solidFill>
                          <a:schemeClr val="tx1"/>
                        </a:solidFill>
                        <a:latin typeface="Arial" panose="020B0604020202020204" pitchFamily="34" charset="0"/>
                        <a:ea typeface="微软雅黑" panose="020B0503020204020204" pitchFamily="34" charset="-122"/>
                      </a:endParaRPr>
                    </a:p>
                  </a:txBody>
                  <a:tcPr/>
                </a:tc>
                <a:tc hMerge="1">
                  <a:txBody>
                    <a:bodyPr/>
                    <a:lstStyle/>
                    <a:p>
                      <a:endParaRP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tc hMerge="1">
                  <a:txBody>
                    <a:bodyPr/>
                    <a:lstStyle/>
                    <a:p>
                      <a:endParaRPr lang="zh-CN" altLang="en-US"/>
                    </a:p>
                  </a:txBody>
                  <a:tcPr/>
                </a:tc>
                <a:extLst>
                  <a:ext uri="{0D108BD9-81ED-4DB2-BD59-A6C34878D82A}">
                    <a16:rowId xmlns:a16="http://schemas.microsoft.com/office/drawing/2014/main" val="3566394691"/>
                  </a:ext>
                </a:extLst>
              </a:tr>
              <a:tr h="398585">
                <a:tc>
                  <a:txBody>
                    <a:bodyPr/>
                    <a:lstStyle/>
                    <a:p>
                      <a:r>
                        <a:rPr lang="en-US" altLang="zh-CN" sz="1200" dirty="0">
                          <a:solidFill>
                            <a:schemeClr val="tx1"/>
                          </a:solidFill>
                          <a:latin typeface="Arial" panose="020B0604020202020204" pitchFamily="34" charset="0"/>
                          <a:ea typeface="微软雅黑" panose="020B0503020204020204" pitchFamily="34" charset="-122"/>
                        </a:rPr>
                        <a:t>Demand</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Request Part</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Request 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 Part</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 Type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Available 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Assigned 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 Available Date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Netted 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39151">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70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39151">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70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SR(WO)</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473027153"/>
                  </a:ext>
                </a:extLst>
              </a:tr>
              <a:tr h="239151">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22212733"/>
                  </a:ext>
                </a:extLst>
              </a:tr>
              <a:tr h="239151">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357289973"/>
                  </a:ext>
                </a:extLst>
              </a:tr>
              <a:tr h="239151">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39132231"/>
                  </a:ext>
                </a:extLst>
              </a:tr>
              <a:tr h="239151">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80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6.7</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0</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45645007"/>
                  </a:ext>
                </a:extLst>
              </a:tr>
            </a:tbl>
          </a:graphicData>
        </a:graphic>
      </p:graphicFrame>
      <p:graphicFrame>
        <p:nvGraphicFramePr>
          <p:cNvPr id="31" name="表格 30">
            <a:extLst>
              <a:ext uri="{FF2B5EF4-FFF2-40B4-BE49-F238E27FC236}">
                <a16:creationId xmlns:a16="http://schemas.microsoft.com/office/drawing/2014/main" id="{494698B4-821C-34B1-6CC4-DE7FE041F556}"/>
              </a:ext>
            </a:extLst>
          </p:cNvPr>
          <p:cNvGraphicFramePr>
            <a:graphicFrameLocks noGrp="1"/>
          </p:cNvGraphicFramePr>
          <p:nvPr>
            <p:extLst>
              <p:ext uri="{D42A27DB-BD31-4B8C-83A1-F6EECF244321}">
                <p14:modId xmlns:p14="http://schemas.microsoft.com/office/powerpoint/2010/main" val="3509073538"/>
              </p:ext>
            </p:extLst>
          </p:nvPr>
        </p:nvGraphicFramePr>
        <p:xfrm>
          <a:off x="8110280" y="3262452"/>
          <a:ext cx="3722119" cy="2468880"/>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3739084925"/>
                    </a:ext>
                  </a:extLst>
                </a:gridCol>
                <a:gridCol w="509905">
                  <a:extLst>
                    <a:ext uri="{9D8B030D-6E8A-4147-A177-3AD203B41FA5}">
                      <a16:colId xmlns:a16="http://schemas.microsoft.com/office/drawing/2014/main" val="2015716019"/>
                    </a:ext>
                  </a:extLst>
                </a:gridCol>
                <a:gridCol w="1059180">
                  <a:extLst>
                    <a:ext uri="{9D8B030D-6E8A-4147-A177-3AD203B41FA5}">
                      <a16:colId xmlns:a16="http://schemas.microsoft.com/office/drawing/2014/main" val="1546522414"/>
                    </a:ext>
                  </a:extLst>
                </a:gridCol>
                <a:gridCol w="547255">
                  <a:extLst>
                    <a:ext uri="{9D8B030D-6E8A-4147-A177-3AD203B41FA5}">
                      <a16:colId xmlns:a16="http://schemas.microsoft.com/office/drawing/2014/main" val="4883912"/>
                    </a:ext>
                  </a:extLst>
                </a:gridCol>
                <a:gridCol w="806949">
                  <a:extLst>
                    <a:ext uri="{9D8B030D-6E8A-4147-A177-3AD203B41FA5}">
                      <a16:colId xmlns:a16="http://schemas.microsoft.com/office/drawing/2014/main" val="3755102202"/>
                    </a:ext>
                  </a:extLst>
                </a:gridCol>
              </a:tblGrid>
              <a:tr h="266014">
                <a:tc gridSpan="5">
                  <a:txBody>
                    <a:bodyPr/>
                    <a:lstStyle/>
                    <a:p>
                      <a:pPr algn="ctr"/>
                      <a:r>
                        <a:rPr lang="en-US" altLang="zh-CN" sz="1200" dirty="0">
                          <a:solidFill>
                            <a:schemeClr val="tx1"/>
                          </a:solidFill>
                          <a:latin typeface="Arial" panose="020B0604020202020204" pitchFamily="34" charset="0"/>
                          <a:ea typeface="微软雅黑" panose="020B0503020204020204" pitchFamily="34" charset="-122"/>
                        </a:rPr>
                        <a:t>PSD</a:t>
                      </a:r>
                      <a:endParaRPr lang="zh-CN" altLang="en-US" sz="1200" dirty="0">
                        <a:solidFill>
                          <a:schemeClr val="tx1"/>
                        </a:solidFill>
                        <a:latin typeface="Arial" panose="020B0604020202020204" pitchFamily="34" charset="0"/>
                        <a:ea typeface="微软雅黑" panose="020B0503020204020204" pitchFamily="34" charset="-122"/>
                      </a:endParaRPr>
                    </a:p>
                  </a:txBody>
                  <a:tcPr/>
                </a:tc>
                <a:tc hMerge="1">
                  <a:txBody>
                    <a:bodyPr/>
                    <a:lstStyle/>
                    <a:p>
                      <a:endParaRPr/>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4288766675"/>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Demand</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Part</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 Type</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Qty</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PSD</a:t>
                      </a:r>
                      <a:endParaRPr lang="zh-CN" altLang="en-US" sz="1200" dirty="0">
                        <a:solidFill>
                          <a:schemeClr val="tx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6.4</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6.5</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739533468"/>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Planned Order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6.6</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617422880"/>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Planned Order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30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6.8</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29677074"/>
                  </a:ext>
                </a:extLst>
              </a:tr>
              <a:tr h="266014">
                <a:tc>
                  <a:txBody>
                    <a:bodyPr/>
                    <a:lstStyle/>
                    <a:p>
                      <a:r>
                        <a:rPr lang="en-US" altLang="zh-CN" sz="1200" dirty="0">
                          <a:solidFill>
                            <a:schemeClr val="tx1"/>
                          </a:solidFill>
                          <a:latin typeface="Arial" panose="020B0604020202020204" pitchFamily="34" charset="0"/>
                          <a:ea typeface="微软雅黑" panose="020B0503020204020204" pitchFamily="34" charset="-122"/>
                        </a:rPr>
                        <a:t>SO1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a:solidFill>
                            <a:schemeClr val="tx1"/>
                          </a:solidFill>
                          <a:latin typeface="Arial" panose="020B0604020202020204" pitchFamily="34" charset="0"/>
                          <a:ea typeface="微软雅黑" panose="020B0503020204020204" pitchFamily="34" charset="-122"/>
                        </a:rPr>
                        <a:t>FG1</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Planned Order</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a:t>
                      </a:r>
                      <a:endParaRPr lang="zh-CN" altLang="en-US" sz="1200"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6.8</a:t>
                      </a:r>
                      <a:endParaRPr lang="zh-CN" altLang="en-US" sz="12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446969384"/>
                  </a:ext>
                </a:extLst>
              </a:tr>
            </a:tbl>
          </a:graphicData>
        </a:graphic>
      </p:graphicFrame>
    </p:spTree>
    <p:extLst>
      <p:ext uri="{BB962C8B-B14F-4D97-AF65-F5344CB8AC3E}">
        <p14:creationId xmlns:p14="http://schemas.microsoft.com/office/powerpoint/2010/main" val="10340057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F73C3C-5C8B-DED9-8070-1A777C9A993F}"/>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推拉结合的计划模型 </a:t>
            </a:r>
            <a:r>
              <a:rPr lang="en-US" altLang="zh-CN" dirty="0">
                <a:latin typeface="Arial" panose="020B0604020202020204" pitchFamily="34" charset="0"/>
                <a:ea typeface="微软雅黑" panose="020B0503020204020204" pitchFamily="34" charset="-122"/>
              </a:rPr>
              <a:t>– Patented Algorithms</a:t>
            </a:r>
            <a:endParaRPr lang="zh-CN" altLang="en-US" dirty="0">
              <a:latin typeface="Arial" panose="020B0604020202020204" pitchFamily="34" charset="0"/>
              <a:ea typeface="微软雅黑" panose="020B0503020204020204" pitchFamily="34" charset="-122"/>
            </a:endParaRPr>
          </a:p>
        </p:txBody>
      </p:sp>
      <p:graphicFrame>
        <p:nvGraphicFramePr>
          <p:cNvPr id="3" name="表格 2">
            <a:extLst>
              <a:ext uri="{FF2B5EF4-FFF2-40B4-BE49-F238E27FC236}">
                <a16:creationId xmlns:a16="http://schemas.microsoft.com/office/drawing/2014/main" id="{171616DC-A8C4-B8C4-B282-D40CE7325114}"/>
              </a:ext>
            </a:extLst>
          </p:cNvPr>
          <p:cNvGraphicFramePr>
            <a:graphicFrameLocks noGrp="1"/>
          </p:cNvGraphicFramePr>
          <p:nvPr>
            <p:extLst>
              <p:ext uri="{D42A27DB-BD31-4B8C-83A1-F6EECF244321}">
                <p14:modId xmlns:p14="http://schemas.microsoft.com/office/powerpoint/2010/main" val="4160878773"/>
              </p:ext>
            </p:extLst>
          </p:nvPr>
        </p:nvGraphicFramePr>
        <p:xfrm>
          <a:off x="985581" y="775066"/>
          <a:ext cx="3317252" cy="1604390"/>
        </p:xfrm>
        <a:graphic>
          <a:graphicData uri="http://schemas.openxmlformats.org/drawingml/2006/table">
            <a:tbl>
              <a:tblPr firstRow="1" bandRow="1">
                <a:tableStyleId>{5C22544A-7EE6-4342-B048-85BDC9FD1C3A}</a:tableStyleId>
              </a:tblPr>
              <a:tblGrid>
                <a:gridCol w="509905">
                  <a:extLst>
                    <a:ext uri="{9D8B030D-6E8A-4147-A177-3AD203B41FA5}">
                      <a16:colId xmlns:a16="http://schemas.microsoft.com/office/drawing/2014/main" val="2015716019"/>
                    </a:ext>
                  </a:extLst>
                </a:gridCol>
                <a:gridCol w="1059180">
                  <a:extLst>
                    <a:ext uri="{9D8B030D-6E8A-4147-A177-3AD203B41FA5}">
                      <a16:colId xmlns:a16="http://schemas.microsoft.com/office/drawing/2014/main" val="1546522414"/>
                    </a:ext>
                  </a:extLst>
                </a:gridCol>
                <a:gridCol w="547255">
                  <a:extLst>
                    <a:ext uri="{9D8B030D-6E8A-4147-A177-3AD203B41FA5}">
                      <a16:colId xmlns:a16="http://schemas.microsoft.com/office/drawing/2014/main" val="4883912"/>
                    </a:ext>
                  </a:extLst>
                </a:gridCol>
                <a:gridCol w="1200912">
                  <a:extLst>
                    <a:ext uri="{9D8B030D-6E8A-4147-A177-3AD203B41FA5}">
                      <a16:colId xmlns:a16="http://schemas.microsoft.com/office/drawing/2014/main" val="3755102202"/>
                    </a:ext>
                  </a:extLst>
                </a:gridCol>
              </a:tblGrid>
              <a:tr h="266014">
                <a:tc gridSpan="4">
                  <a:txBody>
                    <a:bodyPr/>
                    <a:lstStyle/>
                    <a:p>
                      <a:pPr algn="ctr"/>
                      <a:r>
                        <a:rPr lang="en-US" sz="1200" b="1">
                          <a:solidFill>
                            <a:schemeClr val="bg1"/>
                          </a:solidFill>
                          <a:latin typeface="Arial" panose="020B0604020202020204" pitchFamily="34" charset="0"/>
                          <a:ea typeface="微软雅黑" panose="020B0503020204020204" pitchFamily="34" charset="-122"/>
                        </a:rPr>
                        <a:t>FG1 </a:t>
                      </a:r>
                      <a:r>
                        <a:rPr lang="en-US" sz="1200" b="1" dirty="0">
                          <a:solidFill>
                            <a:schemeClr val="bg1"/>
                          </a:solidFill>
                          <a:latin typeface="Arial" panose="020B0604020202020204" pitchFamily="34" charset="0"/>
                          <a:ea typeface="微软雅黑" panose="020B0503020204020204" pitchFamily="34" charset="-122"/>
                        </a:rPr>
                        <a:t>Availability</a:t>
                      </a:r>
                      <a:endParaRPr sz="12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4288766675"/>
                  </a:ext>
                </a:extLst>
              </a:tr>
              <a:tr h="266014">
                <a:tc>
                  <a:txBody>
                    <a:bodyPr/>
                    <a:lstStyle/>
                    <a:p>
                      <a:r>
                        <a:rPr lang="en-US" altLang="zh-CN" sz="1000" b="1" dirty="0">
                          <a:solidFill>
                            <a:schemeClr val="bg1"/>
                          </a:solidFill>
                          <a:latin typeface="Arial" panose="020B0604020202020204" pitchFamily="34" charset="0"/>
                          <a:ea typeface="微软雅黑" panose="020B0503020204020204" pitchFamily="34" charset="-122"/>
                        </a:rPr>
                        <a:t>Part</a:t>
                      </a:r>
                      <a:endParaRPr lang="zh-CN" altLang="en-US" sz="10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Supply Type</a:t>
                      </a:r>
                      <a:endParaRPr lang="zh-CN" altLang="en-US" sz="10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Qty</a:t>
                      </a:r>
                      <a:endParaRPr lang="zh-CN" altLang="en-US" sz="10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Available Date</a:t>
                      </a:r>
                      <a:endParaRPr lang="zh-CN" altLang="en-US" sz="10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a:solidFill>
                            <a:schemeClr val="bg1"/>
                          </a:solidFill>
                          <a:latin typeface="Arial" panose="020B0604020202020204" pitchFamily="34" charset="0"/>
                          <a:ea typeface="微软雅黑" panose="020B0503020204020204" pitchFamily="34" charset="-122"/>
                        </a:rPr>
                        <a:t>FG1</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dirty="0">
                          <a:solidFill>
                            <a:schemeClr val="bg1"/>
                          </a:solidFill>
                          <a:latin typeface="Arial" panose="020B0604020202020204" pitchFamily="34" charset="0"/>
                          <a:ea typeface="微软雅黑" panose="020B0503020204020204" pitchFamily="34" charset="-122"/>
                        </a:rPr>
                        <a:t>OH</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10</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6.4</a:t>
                      </a:r>
                      <a:endParaRPr lang="zh-CN" altLang="en-US" sz="10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66014">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a:solidFill>
                            <a:schemeClr val="bg1"/>
                          </a:solidFill>
                          <a:latin typeface="Arial" panose="020B0604020202020204" pitchFamily="34" charset="0"/>
                          <a:ea typeface="微软雅黑" panose="020B0503020204020204" pitchFamily="34" charset="-122"/>
                        </a:rPr>
                        <a:t>FG1</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dirty="0">
                          <a:solidFill>
                            <a:schemeClr val="bg1"/>
                          </a:solidFill>
                          <a:latin typeface="Arial" panose="020B0604020202020204" pitchFamily="34" charset="0"/>
                          <a:ea typeface="微软雅黑" panose="020B0503020204020204" pitchFamily="34" charset="-122"/>
                        </a:rPr>
                        <a:t>SR</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10</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6.5</a:t>
                      </a:r>
                      <a:endParaRPr lang="zh-CN" altLang="en-US" sz="10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739533468"/>
                  </a:ext>
                </a:extLst>
              </a:tr>
              <a:tr h="266014">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a:solidFill>
                            <a:schemeClr val="bg1"/>
                          </a:solidFill>
                          <a:latin typeface="Arial" panose="020B0604020202020204" pitchFamily="34" charset="0"/>
                          <a:ea typeface="微软雅黑" panose="020B0503020204020204" pitchFamily="34" charset="-122"/>
                        </a:rPr>
                        <a:t>FG1</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dirty="0">
                          <a:solidFill>
                            <a:schemeClr val="bg1"/>
                          </a:solidFill>
                          <a:latin typeface="Arial" panose="020B0604020202020204" pitchFamily="34" charset="0"/>
                          <a:ea typeface="微软雅黑" panose="020B0503020204020204" pitchFamily="34" charset="-122"/>
                        </a:rPr>
                        <a:t>Planned Order</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20</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6.6</a:t>
                      </a:r>
                      <a:endParaRPr lang="zh-CN" altLang="en-US" sz="10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617422880"/>
                  </a:ext>
                </a:extLst>
              </a:tr>
              <a:tr h="266014">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a:solidFill>
                            <a:schemeClr val="bg1"/>
                          </a:solidFill>
                          <a:latin typeface="Arial" panose="020B0604020202020204" pitchFamily="34" charset="0"/>
                          <a:ea typeface="微软雅黑" panose="020B0503020204020204" pitchFamily="34" charset="-122"/>
                        </a:rPr>
                        <a:t>FG1</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000" b="1" dirty="0">
                          <a:solidFill>
                            <a:schemeClr val="bg1"/>
                          </a:solidFill>
                          <a:latin typeface="Arial" panose="020B0604020202020204" pitchFamily="34" charset="0"/>
                          <a:ea typeface="微软雅黑" panose="020B0503020204020204" pitchFamily="34" charset="-122"/>
                        </a:rPr>
                        <a:t>Planned Order</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80</a:t>
                      </a:r>
                      <a:endParaRPr lang="zh-CN" altLang="en-US" sz="10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000" b="1" dirty="0">
                          <a:solidFill>
                            <a:schemeClr val="bg1"/>
                          </a:solidFill>
                          <a:latin typeface="Arial" panose="020B0604020202020204" pitchFamily="34" charset="0"/>
                          <a:ea typeface="微软雅黑" panose="020B0503020204020204" pitchFamily="34" charset="-122"/>
                        </a:rPr>
                        <a:t>6.8</a:t>
                      </a:r>
                      <a:endParaRPr lang="zh-CN" altLang="en-US" sz="10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29677074"/>
                  </a:ext>
                </a:extLst>
              </a:tr>
            </a:tbl>
          </a:graphicData>
        </a:graphic>
      </p:graphicFrame>
      <p:sp>
        <p:nvSpPr>
          <p:cNvPr id="4" name="文本框 3">
            <a:extLst>
              <a:ext uri="{FF2B5EF4-FFF2-40B4-BE49-F238E27FC236}">
                <a16:creationId xmlns:a16="http://schemas.microsoft.com/office/drawing/2014/main" id="{8DC848CB-6A71-0E16-57C1-D90C5A2FDBD3}"/>
              </a:ext>
            </a:extLst>
          </p:cNvPr>
          <p:cNvSpPr txBox="1"/>
          <p:nvPr/>
        </p:nvSpPr>
        <p:spPr>
          <a:xfrm>
            <a:off x="4399643" y="806255"/>
            <a:ext cx="229391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 If request date could not be fulfilled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5" name="表格 4">
            <a:extLst>
              <a:ext uri="{FF2B5EF4-FFF2-40B4-BE49-F238E27FC236}">
                <a16:creationId xmlns:a16="http://schemas.microsoft.com/office/drawing/2014/main" id="{B9A1FF57-2BA1-4FCA-EEA9-7B175DB01986}"/>
              </a:ext>
            </a:extLst>
          </p:cNvPr>
          <p:cNvGraphicFramePr>
            <a:graphicFrameLocks noGrp="1"/>
          </p:cNvGraphicFramePr>
          <p:nvPr>
            <p:extLst>
              <p:ext uri="{D42A27DB-BD31-4B8C-83A1-F6EECF244321}">
                <p14:modId xmlns:p14="http://schemas.microsoft.com/office/powerpoint/2010/main" val="2902164010"/>
              </p:ext>
            </p:extLst>
          </p:nvPr>
        </p:nvGraphicFramePr>
        <p:xfrm>
          <a:off x="6645403" y="722244"/>
          <a:ext cx="3687955" cy="798042"/>
        </p:xfrm>
        <a:graphic>
          <a:graphicData uri="http://schemas.openxmlformats.org/drawingml/2006/table">
            <a:tbl>
              <a:tblPr firstRow="1" bandRow="1">
                <a:tableStyleId>{5C22544A-7EE6-4342-B048-85BDC9FD1C3A}</a:tableStyleId>
              </a:tblPr>
              <a:tblGrid>
                <a:gridCol w="825818">
                  <a:extLst>
                    <a:ext uri="{9D8B030D-6E8A-4147-A177-3AD203B41FA5}">
                      <a16:colId xmlns:a16="http://schemas.microsoft.com/office/drawing/2014/main" val="3739084925"/>
                    </a:ext>
                  </a:extLst>
                </a:gridCol>
                <a:gridCol w="1122490">
                  <a:extLst>
                    <a:ext uri="{9D8B030D-6E8A-4147-A177-3AD203B41FA5}">
                      <a16:colId xmlns:a16="http://schemas.microsoft.com/office/drawing/2014/main" val="2015716019"/>
                    </a:ext>
                  </a:extLst>
                </a:gridCol>
                <a:gridCol w="479743">
                  <a:extLst>
                    <a:ext uri="{9D8B030D-6E8A-4147-A177-3AD203B41FA5}">
                      <a16:colId xmlns:a16="http://schemas.microsoft.com/office/drawing/2014/main" val="4883912"/>
                    </a:ext>
                  </a:extLst>
                </a:gridCol>
                <a:gridCol w="1259904">
                  <a:extLst>
                    <a:ext uri="{9D8B030D-6E8A-4147-A177-3AD203B41FA5}">
                      <a16:colId xmlns:a16="http://schemas.microsoft.com/office/drawing/2014/main" val="3755102202"/>
                    </a:ext>
                  </a:extLst>
                </a:gridCol>
              </a:tblGrid>
              <a:tr h="266014">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Demand</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4288766675"/>
                  </a:ext>
                </a:extLst>
              </a:tr>
              <a:tr h="266014">
                <a:tc>
                  <a:txBody>
                    <a:bodyPr/>
                    <a:lstStyle/>
                    <a:p>
                      <a:r>
                        <a:rPr lang="en-US" altLang="zh-CN" sz="1100" b="1" dirty="0">
                          <a:solidFill>
                            <a:schemeClr val="bg1"/>
                          </a:solidFill>
                          <a:latin typeface="Arial" panose="020B0604020202020204" pitchFamily="34" charset="0"/>
                          <a:ea typeface="微软雅黑" panose="020B0503020204020204" pitchFamily="34" charset="-122"/>
                        </a:rPr>
                        <a:t>Demand</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Part</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Qty</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Request Date</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r>
                        <a:rPr lang="en-US" altLang="zh-CN" sz="1100" b="1" dirty="0">
                          <a:solidFill>
                            <a:schemeClr val="bg1"/>
                          </a:solidFill>
                          <a:latin typeface="Arial" panose="020B0604020202020204" pitchFamily="34" charset="0"/>
                          <a:ea typeface="微软雅黑" panose="020B0503020204020204" pitchFamily="34" charset="-122"/>
                        </a:rPr>
                        <a:t>SO1</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100" b="1">
                          <a:solidFill>
                            <a:schemeClr val="bg1"/>
                          </a:solidFill>
                          <a:latin typeface="Arial" panose="020B0604020202020204" pitchFamily="34" charset="0"/>
                          <a:ea typeface="微软雅黑" panose="020B0503020204020204" pitchFamily="34" charset="-122"/>
                        </a:rPr>
                        <a:t>FG1</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80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6.4(ASAP)</a:t>
                      </a: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bl>
          </a:graphicData>
        </a:graphic>
      </p:graphicFrame>
      <p:graphicFrame>
        <p:nvGraphicFramePr>
          <p:cNvPr id="7" name="表格 6">
            <a:extLst>
              <a:ext uri="{FF2B5EF4-FFF2-40B4-BE49-F238E27FC236}">
                <a16:creationId xmlns:a16="http://schemas.microsoft.com/office/drawing/2014/main" id="{9CD50043-CA60-DC7F-1463-FC4B9539EFBD}"/>
              </a:ext>
            </a:extLst>
          </p:cNvPr>
          <p:cNvGraphicFramePr>
            <a:graphicFrameLocks noGrp="1"/>
          </p:cNvGraphicFramePr>
          <p:nvPr>
            <p:extLst>
              <p:ext uri="{D42A27DB-BD31-4B8C-83A1-F6EECF244321}">
                <p14:modId xmlns:p14="http://schemas.microsoft.com/office/powerpoint/2010/main" val="3226644561"/>
              </p:ext>
            </p:extLst>
          </p:nvPr>
        </p:nvGraphicFramePr>
        <p:xfrm>
          <a:off x="173619" y="3429000"/>
          <a:ext cx="5726439" cy="2910840"/>
        </p:xfrm>
        <a:graphic>
          <a:graphicData uri="http://schemas.openxmlformats.org/drawingml/2006/table">
            <a:tbl>
              <a:tblPr firstRow="1" bandRow="1">
                <a:tableStyleId>{5C22544A-7EE6-4342-B048-85BDC9FD1C3A}</a:tableStyleId>
              </a:tblPr>
              <a:tblGrid>
                <a:gridCol w="505764">
                  <a:extLst>
                    <a:ext uri="{9D8B030D-6E8A-4147-A177-3AD203B41FA5}">
                      <a16:colId xmlns:a16="http://schemas.microsoft.com/office/drawing/2014/main" val="2555319132"/>
                    </a:ext>
                  </a:extLst>
                </a:gridCol>
                <a:gridCol w="474506">
                  <a:extLst>
                    <a:ext uri="{9D8B030D-6E8A-4147-A177-3AD203B41FA5}">
                      <a16:colId xmlns:a16="http://schemas.microsoft.com/office/drawing/2014/main" val="2252723600"/>
                    </a:ext>
                  </a:extLst>
                </a:gridCol>
                <a:gridCol w="460722">
                  <a:extLst>
                    <a:ext uri="{9D8B030D-6E8A-4147-A177-3AD203B41FA5}">
                      <a16:colId xmlns:a16="http://schemas.microsoft.com/office/drawing/2014/main" val="2015716019"/>
                    </a:ext>
                  </a:extLst>
                </a:gridCol>
                <a:gridCol w="763994">
                  <a:extLst>
                    <a:ext uri="{9D8B030D-6E8A-4147-A177-3AD203B41FA5}">
                      <a16:colId xmlns:a16="http://schemas.microsoft.com/office/drawing/2014/main" val="126826503"/>
                    </a:ext>
                  </a:extLst>
                </a:gridCol>
                <a:gridCol w="774333">
                  <a:extLst>
                    <a:ext uri="{9D8B030D-6E8A-4147-A177-3AD203B41FA5}">
                      <a16:colId xmlns:a16="http://schemas.microsoft.com/office/drawing/2014/main" val="4883912"/>
                    </a:ext>
                  </a:extLst>
                </a:gridCol>
                <a:gridCol w="431430">
                  <a:extLst>
                    <a:ext uri="{9D8B030D-6E8A-4147-A177-3AD203B41FA5}">
                      <a16:colId xmlns:a16="http://schemas.microsoft.com/office/drawing/2014/main" val="3755102202"/>
                    </a:ext>
                  </a:extLst>
                </a:gridCol>
                <a:gridCol w="342872">
                  <a:extLst>
                    <a:ext uri="{9D8B030D-6E8A-4147-A177-3AD203B41FA5}">
                      <a16:colId xmlns:a16="http://schemas.microsoft.com/office/drawing/2014/main" val="2658016956"/>
                    </a:ext>
                  </a:extLst>
                </a:gridCol>
                <a:gridCol w="986409">
                  <a:extLst>
                    <a:ext uri="{9D8B030D-6E8A-4147-A177-3AD203B41FA5}">
                      <a16:colId xmlns:a16="http://schemas.microsoft.com/office/drawing/2014/main" val="372874766"/>
                    </a:ext>
                  </a:extLst>
                </a:gridCol>
                <a:gridCol w="986409">
                  <a:extLst>
                    <a:ext uri="{9D8B030D-6E8A-4147-A177-3AD203B41FA5}">
                      <a16:colId xmlns:a16="http://schemas.microsoft.com/office/drawing/2014/main" val="2579154444"/>
                    </a:ext>
                  </a:extLst>
                </a:gridCol>
              </a:tblGrid>
              <a:tr h="242182">
                <a:tc gridSpan="8">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PSD Calculation</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b="1" dirty="0"/>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566394691"/>
                  </a:ext>
                </a:extLst>
              </a:tr>
              <a:tr h="618909">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Supply Type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PSD(Max Request vs 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Delivery Date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5273">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OH</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70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349818">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70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SR(WO)</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473027153"/>
                  </a:ext>
                </a:extLst>
              </a:tr>
              <a:tr h="484363">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22212733"/>
                  </a:ext>
                </a:extLst>
              </a:tr>
              <a:tr h="484363">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6.8</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6.8</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p>
                  </a:txBody>
                  <a:tcPr/>
                </a:tc>
                <a:extLst>
                  <a:ext uri="{0D108BD9-81ED-4DB2-BD59-A6C34878D82A}">
                    <a16:rowId xmlns:a16="http://schemas.microsoft.com/office/drawing/2014/main" val="1357289973"/>
                  </a:ext>
                </a:extLst>
              </a:tr>
            </a:tbl>
          </a:graphicData>
        </a:graphic>
      </p:graphicFrame>
      <p:sp>
        <p:nvSpPr>
          <p:cNvPr id="8" name="文本框 7">
            <a:extLst>
              <a:ext uri="{FF2B5EF4-FFF2-40B4-BE49-F238E27FC236}">
                <a16:creationId xmlns:a16="http://schemas.microsoft.com/office/drawing/2014/main" id="{A4CA8FF3-5F82-44BA-34C1-1F7AF0837CBA}"/>
              </a:ext>
            </a:extLst>
          </p:cNvPr>
          <p:cNvSpPr txBox="1"/>
          <p:nvPr/>
        </p:nvSpPr>
        <p:spPr>
          <a:xfrm>
            <a:off x="4399643" y="1886795"/>
            <a:ext cx="229391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If request date could  be fulfilled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9" name="表格 8">
            <a:extLst>
              <a:ext uri="{FF2B5EF4-FFF2-40B4-BE49-F238E27FC236}">
                <a16:creationId xmlns:a16="http://schemas.microsoft.com/office/drawing/2014/main" id="{1AF8C020-5205-6D53-C237-422F3D0238EA}"/>
              </a:ext>
            </a:extLst>
          </p:cNvPr>
          <p:cNvGraphicFramePr>
            <a:graphicFrameLocks noGrp="1"/>
          </p:cNvGraphicFramePr>
          <p:nvPr>
            <p:extLst>
              <p:ext uri="{D42A27DB-BD31-4B8C-83A1-F6EECF244321}">
                <p14:modId xmlns:p14="http://schemas.microsoft.com/office/powerpoint/2010/main" val="1054264672"/>
              </p:ext>
            </p:extLst>
          </p:nvPr>
        </p:nvGraphicFramePr>
        <p:xfrm>
          <a:off x="6645403" y="1802784"/>
          <a:ext cx="3687955" cy="798042"/>
        </p:xfrm>
        <a:graphic>
          <a:graphicData uri="http://schemas.openxmlformats.org/drawingml/2006/table">
            <a:tbl>
              <a:tblPr firstRow="1" bandRow="1">
                <a:tableStyleId>{5C22544A-7EE6-4342-B048-85BDC9FD1C3A}</a:tableStyleId>
              </a:tblPr>
              <a:tblGrid>
                <a:gridCol w="825818">
                  <a:extLst>
                    <a:ext uri="{9D8B030D-6E8A-4147-A177-3AD203B41FA5}">
                      <a16:colId xmlns:a16="http://schemas.microsoft.com/office/drawing/2014/main" val="3739084925"/>
                    </a:ext>
                  </a:extLst>
                </a:gridCol>
                <a:gridCol w="1122490">
                  <a:extLst>
                    <a:ext uri="{9D8B030D-6E8A-4147-A177-3AD203B41FA5}">
                      <a16:colId xmlns:a16="http://schemas.microsoft.com/office/drawing/2014/main" val="2015716019"/>
                    </a:ext>
                  </a:extLst>
                </a:gridCol>
                <a:gridCol w="479743">
                  <a:extLst>
                    <a:ext uri="{9D8B030D-6E8A-4147-A177-3AD203B41FA5}">
                      <a16:colId xmlns:a16="http://schemas.microsoft.com/office/drawing/2014/main" val="4883912"/>
                    </a:ext>
                  </a:extLst>
                </a:gridCol>
                <a:gridCol w="1259904">
                  <a:extLst>
                    <a:ext uri="{9D8B030D-6E8A-4147-A177-3AD203B41FA5}">
                      <a16:colId xmlns:a16="http://schemas.microsoft.com/office/drawing/2014/main" val="3755102202"/>
                    </a:ext>
                  </a:extLst>
                </a:gridCol>
              </a:tblGrid>
              <a:tr h="266014">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Demand</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a:p>
                  </a:txBody>
                  <a:tcPr/>
                </a:tc>
                <a:tc hMerge="1">
                  <a:txBody>
                    <a:bodyPr/>
                    <a:lstStyle/>
                    <a:p>
                      <a:endParaRPr lang="zh-CN" altLang="en-US" sz="1200" dirty="0"/>
                    </a:p>
                  </a:txBody>
                  <a:tcPr/>
                </a:tc>
                <a:tc hMerge="1">
                  <a:txBody>
                    <a:bodyPr/>
                    <a:lstStyle/>
                    <a:p>
                      <a:endParaRPr lang="zh-CN" altLang="en-US" sz="1200" dirty="0"/>
                    </a:p>
                  </a:txBody>
                  <a:tcPr/>
                </a:tc>
                <a:extLst>
                  <a:ext uri="{0D108BD9-81ED-4DB2-BD59-A6C34878D82A}">
                    <a16:rowId xmlns:a16="http://schemas.microsoft.com/office/drawing/2014/main" val="4288766675"/>
                  </a:ext>
                </a:extLst>
              </a:tr>
              <a:tr h="266014">
                <a:tc>
                  <a:txBody>
                    <a:bodyPr/>
                    <a:lstStyle/>
                    <a:p>
                      <a:r>
                        <a:rPr lang="en-US" altLang="zh-CN" sz="1100" b="1" dirty="0">
                          <a:solidFill>
                            <a:schemeClr val="bg1"/>
                          </a:solidFill>
                          <a:latin typeface="Arial" panose="020B0604020202020204" pitchFamily="34" charset="0"/>
                          <a:ea typeface="微软雅黑" panose="020B0503020204020204" pitchFamily="34" charset="-122"/>
                        </a:rPr>
                        <a:t>Demand</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Part</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Qty</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Request Date</a:t>
                      </a:r>
                      <a:endParaRPr lang="zh-CN" altLang="en-US" sz="11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66014">
                <a:tc>
                  <a:txBody>
                    <a:bodyPr/>
                    <a:lstStyle/>
                    <a:p>
                      <a:r>
                        <a:rPr lang="en-US" altLang="zh-CN" sz="1100" b="1" dirty="0">
                          <a:solidFill>
                            <a:schemeClr val="bg1"/>
                          </a:solidFill>
                          <a:latin typeface="Arial" panose="020B0604020202020204" pitchFamily="34" charset="0"/>
                          <a:ea typeface="微软雅黑" panose="020B0503020204020204" pitchFamily="34" charset="-122"/>
                        </a:rPr>
                        <a:t>SO1</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100" b="1">
                          <a:solidFill>
                            <a:schemeClr val="bg1"/>
                          </a:solidFill>
                          <a:latin typeface="Arial" panose="020B0604020202020204" pitchFamily="34" charset="0"/>
                          <a:ea typeface="微软雅黑" panose="020B0503020204020204" pitchFamily="34" charset="-122"/>
                        </a:rPr>
                        <a:t>FG1</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80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6.10</a:t>
                      </a: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bl>
          </a:graphicData>
        </a:graphic>
      </p:graphicFrame>
      <p:graphicFrame>
        <p:nvGraphicFramePr>
          <p:cNvPr id="10" name="表格 9">
            <a:extLst>
              <a:ext uri="{FF2B5EF4-FFF2-40B4-BE49-F238E27FC236}">
                <a16:creationId xmlns:a16="http://schemas.microsoft.com/office/drawing/2014/main" id="{A8296846-665E-5E24-5304-DA75D353759C}"/>
              </a:ext>
            </a:extLst>
          </p:cNvPr>
          <p:cNvGraphicFramePr>
            <a:graphicFrameLocks noGrp="1"/>
          </p:cNvGraphicFramePr>
          <p:nvPr>
            <p:extLst>
              <p:ext uri="{D42A27DB-BD31-4B8C-83A1-F6EECF244321}">
                <p14:modId xmlns:p14="http://schemas.microsoft.com/office/powerpoint/2010/main" val="3232749034"/>
              </p:ext>
            </p:extLst>
          </p:nvPr>
        </p:nvGraphicFramePr>
        <p:xfrm>
          <a:off x="6291943" y="3418114"/>
          <a:ext cx="5780312" cy="2636520"/>
        </p:xfrm>
        <a:graphic>
          <a:graphicData uri="http://schemas.openxmlformats.org/drawingml/2006/table">
            <a:tbl>
              <a:tblPr firstRow="1" bandRow="1">
                <a:tableStyleId>{5C22544A-7EE6-4342-B048-85BDC9FD1C3A}</a:tableStyleId>
              </a:tblPr>
              <a:tblGrid>
                <a:gridCol w="606403">
                  <a:extLst>
                    <a:ext uri="{9D8B030D-6E8A-4147-A177-3AD203B41FA5}">
                      <a16:colId xmlns:a16="http://schemas.microsoft.com/office/drawing/2014/main" val="2555319132"/>
                    </a:ext>
                  </a:extLst>
                </a:gridCol>
                <a:gridCol w="568923">
                  <a:extLst>
                    <a:ext uri="{9D8B030D-6E8A-4147-A177-3AD203B41FA5}">
                      <a16:colId xmlns:a16="http://schemas.microsoft.com/office/drawing/2014/main" val="2252723600"/>
                    </a:ext>
                  </a:extLst>
                </a:gridCol>
                <a:gridCol w="552397">
                  <a:extLst>
                    <a:ext uri="{9D8B030D-6E8A-4147-A177-3AD203B41FA5}">
                      <a16:colId xmlns:a16="http://schemas.microsoft.com/office/drawing/2014/main" val="2015716019"/>
                    </a:ext>
                  </a:extLst>
                </a:gridCol>
                <a:gridCol w="379419">
                  <a:extLst>
                    <a:ext uri="{9D8B030D-6E8A-4147-A177-3AD203B41FA5}">
                      <a16:colId xmlns:a16="http://schemas.microsoft.com/office/drawing/2014/main" val="126826503"/>
                    </a:ext>
                  </a:extLst>
                </a:gridCol>
                <a:gridCol w="379419">
                  <a:extLst>
                    <a:ext uri="{9D8B030D-6E8A-4147-A177-3AD203B41FA5}">
                      <a16:colId xmlns:a16="http://schemas.microsoft.com/office/drawing/2014/main" val="4883912"/>
                    </a:ext>
                  </a:extLst>
                </a:gridCol>
                <a:gridCol w="517278">
                  <a:extLst>
                    <a:ext uri="{9D8B030D-6E8A-4147-A177-3AD203B41FA5}">
                      <a16:colId xmlns:a16="http://schemas.microsoft.com/office/drawing/2014/main" val="3755102202"/>
                    </a:ext>
                  </a:extLst>
                </a:gridCol>
                <a:gridCol w="411097">
                  <a:extLst>
                    <a:ext uri="{9D8B030D-6E8A-4147-A177-3AD203B41FA5}">
                      <a16:colId xmlns:a16="http://schemas.microsoft.com/office/drawing/2014/main" val="2658016956"/>
                    </a:ext>
                  </a:extLst>
                </a:gridCol>
                <a:gridCol w="1182688">
                  <a:extLst>
                    <a:ext uri="{9D8B030D-6E8A-4147-A177-3AD203B41FA5}">
                      <a16:colId xmlns:a16="http://schemas.microsoft.com/office/drawing/2014/main" val="372874766"/>
                    </a:ext>
                  </a:extLst>
                </a:gridCol>
                <a:gridCol w="1182688">
                  <a:extLst>
                    <a:ext uri="{9D8B030D-6E8A-4147-A177-3AD203B41FA5}">
                      <a16:colId xmlns:a16="http://schemas.microsoft.com/office/drawing/2014/main" val="2579154444"/>
                    </a:ext>
                  </a:extLst>
                </a:gridCol>
              </a:tblGrid>
              <a:tr h="245301">
                <a:tc gridSpan="8">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PSD Calculation</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b="1" dirty="0"/>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566394691"/>
                  </a:ext>
                </a:extLst>
              </a:tr>
              <a:tr h="776602">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Supply Type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PSD(Max Request vs 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Delivery Date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OH</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70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rowSpan="4">
                  <a:txBody>
                    <a:bodyPr/>
                    <a:lstStyle/>
                    <a:p>
                      <a:r>
                        <a:rPr lang="en-US" altLang="zh-CN" sz="900" b="1" dirty="0">
                          <a:solidFill>
                            <a:schemeClr val="bg1"/>
                          </a:solidFill>
                          <a:latin typeface="Arial" panose="020B0604020202020204" pitchFamily="34" charset="0"/>
                          <a:ea typeface="微软雅黑" panose="020B0503020204020204" pitchFamily="34" charset="-122"/>
                        </a:rPr>
                        <a:t>80</a:t>
                      </a:r>
                    </a:p>
                  </a:txBody>
                  <a:tcPr/>
                </a:tc>
                <a:extLst>
                  <a:ext uri="{0D108BD9-81ED-4DB2-BD59-A6C34878D82A}">
                    <a16:rowId xmlns:a16="http://schemas.microsoft.com/office/drawing/2014/main" val="3778358875"/>
                  </a:ext>
                </a:extLst>
              </a:tr>
              <a:tr h="346307">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70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SR(WO)</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vMerge="1">
                  <a:txBody>
                    <a:bodyPr/>
                    <a:lstStyle/>
                    <a:p>
                      <a:endParaRPr/>
                    </a:p>
                  </a:txBody>
                  <a:tcPr/>
                </a:tc>
                <a:extLst>
                  <a:ext uri="{0D108BD9-81ED-4DB2-BD59-A6C34878D82A}">
                    <a16:rowId xmlns:a16="http://schemas.microsoft.com/office/drawing/2014/main" val="1473027153"/>
                  </a:ext>
                </a:extLst>
              </a:tr>
              <a:tr h="47617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vMerge="1">
                  <a:txBody>
                    <a:bodyPr/>
                    <a:lstStyle/>
                    <a:p>
                      <a:endParaRPr/>
                    </a:p>
                  </a:txBody>
                  <a:tcPr/>
                </a:tc>
                <a:extLst>
                  <a:ext uri="{0D108BD9-81ED-4DB2-BD59-A6C34878D82A}">
                    <a16:rowId xmlns:a16="http://schemas.microsoft.com/office/drawing/2014/main" val="2622212733"/>
                  </a:ext>
                </a:extLst>
              </a:tr>
              <a:tr h="47617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6.8</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vMerge="1">
                  <a:txBody>
                    <a:bodyPr/>
                    <a:lstStyle/>
                    <a:p>
                      <a:endParaRPr dirty="0"/>
                    </a:p>
                  </a:txBody>
                  <a:tcPr/>
                </a:tc>
                <a:extLst>
                  <a:ext uri="{0D108BD9-81ED-4DB2-BD59-A6C34878D82A}">
                    <a16:rowId xmlns:a16="http://schemas.microsoft.com/office/drawing/2014/main" val="1357289973"/>
                  </a:ext>
                </a:extLst>
              </a:tr>
            </a:tbl>
          </a:graphicData>
        </a:graphic>
      </p:graphicFrame>
    </p:spTree>
    <p:extLst>
      <p:ext uri="{BB962C8B-B14F-4D97-AF65-F5344CB8AC3E}">
        <p14:creationId xmlns:p14="http://schemas.microsoft.com/office/powerpoint/2010/main" val="86551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1C97-AB97-EB8B-8B4F-71025D8450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6E5437-5887-7019-8083-3BB8E6FAEFF7}"/>
              </a:ext>
            </a:extLst>
          </p:cNvPr>
          <p:cNvSpPr>
            <a:spLocks noGrp="1"/>
          </p:cNvSpPr>
          <p:nvPr>
            <p:ph type="title"/>
          </p:nvPr>
        </p:nvSpPr>
        <p:spPr>
          <a:xfrm>
            <a:off x="473033" y="171664"/>
            <a:ext cx="10714759" cy="457201"/>
          </a:xfrm>
        </p:spPr>
        <p:txBody>
          <a:bodyPr>
            <a:normAutofit/>
          </a:bodyPr>
          <a:lstStyle/>
          <a:p>
            <a:r>
              <a:rPr lang="zh-CN" altLang="en-US" dirty="0">
                <a:latin typeface="Arial" panose="020B0604020202020204" pitchFamily="34" charset="0"/>
                <a:ea typeface="微软雅黑" panose="020B0503020204020204" pitchFamily="34" charset="-122"/>
              </a:rPr>
              <a:t>推拉结合的计划模型 </a:t>
            </a:r>
            <a:r>
              <a:rPr lang="en-US" altLang="zh-CN" dirty="0">
                <a:latin typeface="Arial" panose="020B0604020202020204" pitchFamily="34" charset="0"/>
                <a:ea typeface="微软雅黑" panose="020B0503020204020204" pitchFamily="34" charset="-122"/>
              </a:rPr>
              <a:t>– Patented Algorithms(cont.)</a:t>
            </a:r>
            <a:endParaRPr lang="zh-CN" altLang="en-US" dirty="0">
              <a:latin typeface="Arial" panose="020B0604020202020204" pitchFamily="34" charset="0"/>
              <a:ea typeface="微软雅黑" panose="020B0503020204020204" pitchFamily="34" charset="-122"/>
            </a:endParaRPr>
          </a:p>
        </p:txBody>
      </p:sp>
      <p:graphicFrame>
        <p:nvGraphicFramePr>
          <p:cNvPr id="6" name="表格 5">
            <a:extLst>
              <a:ext uri="{FF2B5EF4-FFF2-40B4-BE49-F238E27FC236}">
                <a16:creationId xmlns:a16="http://schemas.microsoft.com/office/drawing/2014/main" id="{1F7877F3-E4EF-1259-C133-A670F5D7C16E}"/>
              </a:ext>
            </a:extLst>
          </p:cNvPr>
          <p:cNvGraphicFramePr>
            <a:graphicFrameLocks noGrp="1"/>
          </p:cNvGraphicFramePr>
          <p:nvPr>
            <p:extLst>
              <p:ext uri="{D42A27DB-BD31-4B8C-83A1-F6EECF244321}">
                <p14:modId xmlns:p14="http://schemas.microsoft.com/office/powerpoint/2010/main" val="1035919536"/>
              </p:ext>
            </p:extLst>
          </p:nvPr>
        </p:nvGraphicFramePr>
        <p:xfrm>
          <a:off x="647592" y="1072789"/>
          <a:ext cx="3250227" cy="944880"/>
        </p:xfrm>
        <a:graphic>
          <a:graphicData uri="http://schemas.openxmlformats.org/drawingml/2006/table">
            <a:tbl>
              <a:tblPr firstRow="1" bandRow="1">
                <a:tableStyleId>{5C22544A-7EE6-4342-B048-85BDC9FD1C3A}</a:tableStyleId>
              </a:tblPr>
              <a:tblGrid>
                <a:gridCol w="709930">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245301">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Order Header</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213902">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6.8</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FG1</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FG1</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796012435"/>
                  </a:ext>
                </a:extLst>
              </a:tr>
            </a:tbl>
          </a:graphicData>
        </a:graphic>
      </p:graphicFrame>
      <p:graphicFrame>
        <p:nvGraphicFramePr>
          <p:cNvPr id="11" name="表格 10">
            <a:extLst>
              <a:ext uri="{FF2B5EF4-FFF2-40B4-BE49-F238E27FC236}">
                <a16:creationId xmlns:a16="http://schemas.microsoft.com/office/drawing/2014/main" id="{C1435311-2534-FCC5-C73C-11406806C36F}"/>
              </a:ext>
            </a:extLst>
          </p:cNvPr>
          <p:cNvGraphicFramePr>
            <a:graphicFrameLocks noGrp="1"/>
          </p:cNvGraphicFramePr>
          <p:nvPr>
            <p:extLst>
              <p:ext uri="{D42A27DB-BD31-4B8C-83A1-F6EECF244321}">
                <p14:modId xmlns:p14="http://schemas.microsoft.com/office/powerpoint/2010/main" val="3682544259"/>
              </p:ext>
            </p:extLst>
          </p:nvPr>
        </p:nvGraphicFramePr>
        <p:xfrm>
          <a:off x="4662380" y="1072789"/>
          <a:ext cx="3378815" cy="957397"/>
        </p:xfrm>
        <a:graphic>
          <a:graphicData uri="http://schemas.openxmlformats.org/drawingml/2006/table">
            <a:tbl>
              <a:tblPr firstRow="1" bandRow="1">
                <a:tableStyleId>{5C22544A-7EE6-4342-B048-85BDC9FD1C3A}</a:tableStyleId>
              </a:tblPr>
              <a:tblGrid>
                <a:gridCol w="838518">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0">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241117">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6.8-1=6.7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6.8-1=6.7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bl>
          </a:graphicData>
        </a:graphic>
      </p:graphicFrame>
      <p:graphicFrame>
        <p:nvGraphicFramePr>
          <p:cNvPr id="12" name="表格 11">
            <a:extLst>
              <a:ext uri="{FF2B5EF4-FFF2-40B4-BE49-F238E27FC236}">
                <a16:creationId xmlns:a16="http://schemas.microsoft.com/office/drawing/2014/main" id="{1DA54CCE-BA2E-4952-C7B1-5D27F1F17891}"/>
              </a:ext>
            </a:extLst>
          </p:cNvPr>
          <p:cNvGraphicFramePr>
            <a:graphicFrameLocks noGrp="1"/>
          </p:cNvGraphicFramePr>
          <p:nvPr>
            <p:extLst>
              <p:ext uri="{D42A27DB-BD31-4B8C-83A1-F6EECF244321}">
                <p14:modId xmlns:p14="http://schemas.microsoft.com/office/powerpoint/2010/main" val="555643257"/>
              </p:ext>
            </p:extLst>
          </p:nvPr>
        </p:nvGraphicFramePr>
        <p:xfrm>
          <a:off x="647592" y="2206018"/>
          <a:ext cx="7517735" cy="1539240"/>
        </p:xfrm>
        <a:graphic>
          <a:graphicData uri="http://schemas.openxmlformats.org/drawingml/2006/table">
            <a:tbl>
              <a:tblPr firstRow="1" bandRow="1">
                <a:tableStyleId>{5C22544A-7EE6-4342-B048-85BDC9FD1C3A}</a:tableStyleId>
              </a:tblPr>
              <a:tblGrid>
                <a:gridCol w="590269">
                  <a:extLst>
                    <a:ext uri="{9D8B030D-6E8A-4147-A177-3AD203B41FA5}">
                      <a16:colId xmlns:a16="http://schemas.microsoft.com/office/drawing/2014/main" val="2555319132"/>
                    </a:ext>
                  </a:extLst>
                </a:gridCol>
                <a:gridCol w="738101">
                  <a:extLst>
                    <a:ext uri="{9D8B030D-6E8A-4147-A177-3AD203B41FA5}">
                      <a16:colId xmlns:a16="http://schemas.microsoft.com/office/drawing/2014/main" val="2252723600"/>
                    </a:ext>
                  </a:extLst>
                </a:gridCol>
                <a:gridCol w="988488">
                  <a:extLst>
                    <a:ext uri="{9D8B030D-6E8A-4147-A177-3AD203B41FA5}">
                      <a16:colId xmlns:a16="http://schemas.microsoft.com/office/drawing/2014/main" val="2015716019"/>
                    </a:ext>
                  </a:extLst>
                </a:gridCol>
                <a:gridCol w="363243">
                  <a:extLst>
                    <a:ext uri="{9D8B030D-6E8A-4147-A177-3AD203B41FA5}">
                      <a16:colId xmlns:a16="http://schemas.microsoft.com/office/drawing/2014/main" val="968652220"/>
                    </a:ext>
                  </a:extLst>
                </a:gridCol>
                <a:gridCol w="827855">
                  <a:extLst>
                    <a:ext uri="{9D8B030D-6E8A-4147-A177-3AD203B41FA5}">
                      <a16:colId xmlns:a16="http://schemas.microsoft.com/office/drawing/2014/main" val="3738065007"/>
                    </a:ext>
                  </a:extLst>
                </a:gridCol>
                <a:gridCol w="780337">
                  <a:extLst>
                    <a:ext uri="{9D8B030D-6E8A-4147-A177-3AD203B41FA5}">
                      <a16:colId xmlns:a16="http://schemas.microsoft.com/office/drawing/2014/main" val="2821112010"/>
                    </a:ext>
                  </a:extLst>
                </a:gridCol>
                <a:gridCol w="790897">
                  <a:extLst>
                    <a:ext uri="{9D8B030D-6E8A-4147-A177-3AD203B41FA5}">
                      <a16:colId xmlns:a16="http://schemas.microsoft.com/office/drawing/2014/main" val="591860406"/>
                    </a:ext>
                  </a:extLst>
                </a:gridCol>
                <a:gridCol w="699919">
                  <a:extLst>
                    <a:ext uri="{9D8B030D-6E8A-4147-A177-3AD203B41FA5}">
                      <a16:colId xmlns:a16="http://schemas.microsoft.com/office/drawing/2014/main" val="1836992881"/>
                    </a:ext>
                  </a:extLst>
                </a:gridCol>
                <a:gridCol w="869313">
                  <a:extLst>
                    <a:ext uri="{9D8B030D-6E8A-4147-A177-3AD203B41FA5}">
                      <a16:colId xmlns:a16="http://schemas.microsoft.com/office/drawing/2014/main" val="3719387610"/>
                    </a:ext>
                  </a:extLst>
                </a:gridCol>
                <a:gridCol w="869313">
                  <a:extLst>
                    <a:ext uri="{9D8B030D-6E8A-4147-A177-3AD203B41FA5}">
                      <a16:colId xmlns:a16="http://schemas.microsoft.com/office/drawing/2014/main" val="3771949066"/>
                    </a:ext>
                  </a:extLst>
                </a:gridCol>
              </a:tblGrid>
              <a:tr h="0">
                <a:tc gridSpan="10">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Allocation(Supply </a:t>
                      </a:r>
                      <a:r>
                        <a:rPr lang="zh-CN" altLang="en-US" sz="1100" b="1" dirty="0">
                          <a:solidFill>
                            <a:schemeClr val="bg1"/>
                          </a:solidFill>
                          <a:latin typeface="Arial" panose="020B0604020202020204" pitchFamily="34" charset="0"/>
                          <a:ea typeface="微软雅黑" panose="020B0503020204020204" pitchFamily="34" charset="-122"/>
                        </a:rPr>
                        <a:t>按</a:t>
                      </a:r>
                      <a:r>
                        <a:rPr lang="en-US" altLang="zh-CN" sz="1100" b="1" dirty="0">
                          <a:solidFill>
                            <a:schemeClr val="bg1"/>
                          </a:solidFill>
                          <a:latin typeface="Arial" panose="020B0604020202020204" pitchFamily="34" charset="0"/>
                          <a:ea typeface="微软雅黑" panose="020B0503020204020204" pitchFamily="34" charset="-122"/>
                        </a:rPr>
                        <a:t>available date &lt;=Due date</a:t>
                      </a:r>
                      <a:r>
                        <a:rPr lang="zh-CN" altLang="en-US" sz="1100" b="1" dirty="0">
                          <a:solidFill>
                            <a:schemeClr val="bg1"/>
                          </a:solidFill>
                          <a:latin typeface="Arial" panose="020B0604020202020204" pitchFamily="34" charset="0"/>
                          <a:ea typeface="微软雅黑" panose="020B0503020204020204" pitchFamily="34" charset="-122"/>
                        </a:rPr>
                        <a:t>倒排序）</a:t>
                      </a: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240002">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Remained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Supply Type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00826100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40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50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50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OH</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541986919"/>
                  </a:ext>
                </a:extLst>
              </a:tr>
            </a:tbl>
          </a:graphicData>
        </a:graphic>
      </p:graphicFrame>
      <p:sp>
        <p:nvSpPr>
          <p:cNvPr id="13" name="文本框 12">
            <a:extLst>
              <a:ext uri="{FF2B5EF4-FFF2-40B4-BE49-F238E27FC236}">
                <a16:creationId xmlns:a16="http://schemas.microsoft.com/office/drawing/2014/main" id="{CF885B23-4FA0-8B33-2147-A91915DA65CD}"/>
              </a:ext>
            </a:extLst>
          </p:cNvPr>
          <p:cNvSpPr txBox="1"/>
          <p:nvPr/>
        </p:nvSpPr>
        <p:spPr>
          <a:xfrm>
            <a:off x="8150052" y="1076741"/>
            <a:ext cx="3695700" cy="101566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如果需求日期不能满足的，上一步的分配已经决定了现有供应（</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OH,SR)</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的分配以及</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产生几个，</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Due Date</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分别为哪天。</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然后我们</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by Due Date</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到排序，一个一个</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确定其资源分配。</a:t>
            </a:r>
          </a:p>
        </p:txBody>
      </p:sp>
      <p:graphicFrame>
        <p:nvGraphicFramePr>
          <p:cNvPr id="14" name="表格 13">
            <a:extLst>
              <a:ext uri="{FF2B5EF4-FFF2-40B4-BE49-F238E27FC236}">
                <a16:creationId xmlns:a16="http://schemas.microsoft.com/office/drawing/2014/main" id="{4D467058-E89F-82E0-B90F-13652A645889}"/>
              </a:ext>
            </a:extLst>
          </p:cNvPr>
          <p:cNvGraphicFramePr>
            <a:graphicFrameLocks noGrp="1"/>
          </p:cNvGraphicFramePr>
          <p:nvPr>
            <p:extLst>
              <p:ext uri="{D42A27DB-BD31-4B8C-83A1-F6EECF244321}">
                <p14:modId xmlns:p14="http://schemas.microsoft.com/office/powerpoint/2010/main" val="2009623518"/>
              </p:ext>
            </p:extLst>
          </p:nvPr>
        </p:nvGraphicFramePr>
        <p:xfrm>
          <a:off x="661179" y="5027924"/>
          <a:ext cx="8591550" cy="1184882"/>
        </p:xfrm>
        <a:graphic>
          <a:graphicData uri="http://schemas.openxmlformats.org/drawingml/2006/table">
            <a:tbl>
              <a:tblPr firstRow="1" bandRow="1">
                <a:tableStyleId>{5C22544A-7EE6-4342-B048-85BDC9FD1C3A}</a:tableStyleId>
              </a:tblPr>
              <a:tblGrid>
                <a:gridCol w="709930">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436880">
                  <a:extLst>
                    <a:ext uri="{9D8B030D-6E8A-4147-A177-3AD203B41FA5}">
                      <a16:colId xmlns:a16="http://schemas.microsoft.com/office/drawing/2014/main" val="968652220"/>
                    </a:ext>
                  </a:extLst>
                </a:gridCol>
                <a:gridCol w="995680">
                  <a:extLst>
                    <a:ext uri="{9D8B030D-6E8A-4147-A177-3AD203B41FA5}">
                      <a16:colId xmlns:a16="http://schemas.microsoft.com/office/drawing/2014/main" val="3738065007"/>
                    </a:ext>
                  </a:extLst>
                </a:gridCol>
                <a:gridCol w="938530">
                  <a:extLst>
                    <a:ext uri="{9D8B030D-6E8A-4147-A177-3AD203B41FA5}">
                      <a16:colId xmlns:a16="http://schemas.microsoft.com/office/drawing/2014/main" val="2821112010"/>
                    </a:ext>
                  </a:extLst>
                </a:gridCol>
                <a:gridCol w="951230">
                  <a:extLst>
                    <a:ext uri="{9D8B030D-6E8A-4147-A177-3AD203B41FA5}">
                      <a16:colId xmlns:a16="http://schemas.microsoft.com/office/drawing/2014/main" val="591860406"/>
                    </a:ext>
                  </a:extLst>
                </a:gridCol>
                <a:gridCol w="792480">
                  <a:extLst>
                    <a:ext uri="{9D8B030D-6E8A-4147-A177-3AD203B41FA5}">
                      <a16:colId xmlns:a16="http://schemas.microsoft.com/office/drawing/2014/main" val="1836992881"/>
                    </a:ext>
                  </a:extLst>
                </a:gridCol>
                <a:gridCol w="982980">
                  <a:extLst>
                    <a:ext uri="{9D8B030D-6E8A-4147-A177-3AD203B41FA5}">
                      <a16:colId xmlns:a16="http://schemas.microsoft.com/office/drawing/2014/main" val="1805148646"/>
                    </a:ext>
                  </a:extLst>
                </a:gridCol>
                <a:gridCol w="894080">
                  <a:extLst>
                    <a:ext uri="{9D8B030D-6E8A-4147-A177-3AD203B41FA5}">
                      <a16:colId xmlns:a16="http://schemas.microsoft.com/office/drawing/2014/main" val="1938644201"/>
                    </a:ext>
                  </a:extLst>
                </a:gridCol>
              </a:tblGrid>
              <a:tr h="0">
                <a:tc gridSpan="7">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Allocation(Supply </a:t>
                      </a:r>
                      <a:r>
                        <a:rPr lang="zh-CN" altLang="en-US" sz="1100" b="1" dirty="0">
                          <a:solidFill>
                            <a:schemeClr val="bg1"/>
                          </a:solidFill>
                          <a:latin typeface="Arial" panose="020B0604020202020204" pitchFamily="34" charset="0"/>
                          <a:ea typeface="微软雅黑" panose="020B0503020204020204" pitchFamily="34" charset="-122"/>
                        </a:rPr>
                        <a:t>按</a:t>
                      </a:r>
                      <a:r>
                        <a:rPr lang="en-US" altLang="zh-CN" sz="1100" b="1" dirty="0">
                          <a:solidFill>
                            <a:schemeClr val="bg1"/>
                          </a:solidFill>
                          <a:latin typeface="Arial" panose="020B0604020202020204" pitchFamily="34" charset="0"/>
                          <a:ea typeface="微软雅黑" panose="020B0503020204020204" pitchFamily="34" charset="-122"/>
                        </a:rPr>
                        <a:t>available date &lt;=Due date</a:t>
                      </a:r>
                      <a:r>
                        <a:rPr lang="zh-CN" altLang="en-US" sz="1100" b="1" dirty="0">
                          <a:solidFill>
                            <a:schemeClr val="bg1"/>
                          </a:solidFill>
                          <a:latin typeface="Arial" panose="020B0604020202020204" pitchFamily="34" charset="0"/>
                          <a:ea typeface="微软雅黑" panose="020B0503020204020204" pitchFamily="34" charset="-122"/>
                        </a:rPr>
                        <a:t>倒排序）</a:t>
                      </a: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566394691"/>
                  </a:ext>
                </a:extLst>
              </a:tr>
              <a:tr h="240002">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Remained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Supply Type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SR</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50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50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OH</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541986919"/>
                  </a:ext>
                </a:extLst>
              </a:tr>
            </a:tbl>
          </a:graphicData>
        </a:graphic>
      </p:graphicFrame>
      <p:graphicFrame>
        <p:nvGraphicFramePr>
          <p:cNvPr id="15" name="表格 14">
            <a:extLst>
              <a:ext uri="{FF2B5EF4-FFF2-40B4-BE49-F238E27FC236}">
                <a16:creationId xmlns:a16="http://schemas.microsoft.com/office/drawing/2014/main" id="{74EA4907-8326-C586-A01C-4121B353001D}"/>
              </a:ext>
            </a:extLst>
          </p:cNvPr>
          <p:cNvGraphicFramePr>
            <a:graphicFrameLocks noGrp="1"/>
          </p:cNvGraphicFramePr>
          <p:nvPr>
            <p:extLst>
              <p:ext uri="{D42A27DB-BD31-4B8C-83A1-F6EECF244321}">
                <p14:modId xmlns:p14="http://schemas.microsoft.com/office/powerpoint/2010/main" val="477001689"/>
              </p:ext>
            </p:extLst>
          </p:nvPr>
        </p:nvGraphicFramePr>
        <p:xfrm>
          <a:off x="647591" y="3900927"/>
          <a:ext cx="3250227" cy="716280"/>
        </p:xfrm>
        <a:graphic>
          <a:graphicData uri="http://schemas.openxmlformats.org/drawingml/2006/table">
            <a:tbl>
              <a:tblPr firstRow="1" bandRow="1">
                <a:tableStyleId>{5C22544A-7EE6-4342-B048-85BDC9FD1C3A}</a:tableStyleId>
              </a:tblPr>
              <a:tblGrid>
                <a:gridCol w="709930">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245301">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Order Header</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213902">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FG1</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796012435"/>
                  </a:ext>
                </a:extLst>
              </a:tr>
            </a:tbl>
          </a:graphicData>
        </a:graphic>
      </p:graphicFrame>
      <p:graphicFrame>
        <p:nvGraphicFramePr>
          <p:cNvPr id="16" name="表格 15">
            <a:extLst>
              <a:ext uri="{FF2B5EF4-FFF2-40B4-BE49-F238E27FC236}">
                <a16:creationId xmlns:a16="http://schemas.microsoft.com/office/drawing/2014/main" id="{083CB6FD-77C1-1A1A-E999-F837CD773B5A}"/>
              </a:ext>
            </a:extLst>
          </p:cNvPr>
          <p:cNvGraphicFramePr>
            <a:graphicFrameLocks noGrp="1"/>
          </p:cNvGraphicFramePr>
          <p:nvPr>
            <p:extLst>
              <p:ext uri="{D42A27DB-BD31-4B8C-83A1-F6EECF244321}">
                <p14:modId xmlns:p14="http://schemas.microsoft.com/office/powerpoint/2010/main" val="1396038790"/>
              </p:ext>
            </p:extLst>
          </p:nvPr>
        </p:nvGraphicFramePr>
        <p:xfrm>
          <a:off x="4771237" y="3900927"/>
          <a:ext cx="3378815" cy="957397"/>
        </p:xfrm>
        <a:graphic>
          <a:graphicData uri="http://schemas.openxmlformats.org/drawingml/2006/table">
            <a:tbl>
              <a:tblPr firstRow="1" bandRow="1">
                <a:tableStyleId>{5C22544A-7EE6-4342-B048-85BDC9FD1C3A}</a:tableStyleId>
              </a:tblPr>
              <a:tblGrid>
                <a:gridCol w="838518">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0">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241117">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6.6-1=6.5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6.6-1=6.5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PL02</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bl>
          </a:graphicData>
        </a:graphic>
      </p:graphicFrame>
      <p:pic>
        <p:nvPicPr>
          <p:cNvPr id="5" name="图片 4">
            <a:extLst>
              <a:ext uri="{FF2B5EF4-FFF2-40B4-BE49-F238E27FC236}">
                <a16:creationId xmlns:a16="http://schemas.microsoft.com/office/drawing/2014/main" id="{32F538FF-DACA-7A94-46C6-CBEC03A8125A}"/>
              </a:ext>
            </a:extLst>
          </p:cNvPr>
          <p:cNvPicPr>
            <a:picLocks/>
          </p:cNvPicPr>
          <p:nvPr/>
        </p:nvPicPr>
        <p:blipFill>
          <a:blip r:embed="rId2">
            <a:extLst>
              <a:ext uri="{28A0092B-C50C-407E-A947-70E740481C1C}">
                <a14:useLocalDpi xmlns:a14="http://schemas.microsoft.com/office/drawing/2010/main" val="0"/>
              </a:ext>
            </a:extLst>
          </a:blip>
          <a:srcRect t="189" b="189"/>
          <a:stretch>
            <a:fillRect/>
          </a:stretch>
        </p:blipFill>
        <p:spPr>
          <a:xfrm>
            <a:off x="8434646" y="4411549"/>
            <a:ext cx="3926487" cy="1101332"/>
          </a:xfrm>
          <a:prstGeom prst="rect">
            <a:avLst/>
          </a:prstGeom>
        </p:spPr>
      </p:pic>
    </p:spTree>
    <p:extLst>
      <p:ext uri="{BB962C8B-B14F-4D97-AF65-F5344CB8AC3E}">
        <p14:creationId xmlns:p14="http://schemas.microsoft.com/office/powerpoint/2010/main" val="286897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2D63F-A389-B601-1D8E-FBF3E35FE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07315F-2AA9-090F-009B-0E61199601B5}"/>
              </a:ext>
            </a:extLst>
          </p:cNvPr>
          <p:cNvSpPr>
            <a:spLocks noGrp="1"/>
          </p:cNvSpPr>
          <p:nvPr>
            <p:ph type="title"/>
          </p:nvPr>
        </p:nvSpPr>
        <p:spPr>
          <a:xfrm>
            <a:off x="473033" y="171664"/>
            <a:ext cx="10714759" cy="457201"/>
          </a:xfrm>
        </p:spPr>
        <p:txBody>
          <a:bodyPr>
            <a:normAutofit/>
          </a:bodyPr>
          <a:lstStyle/>
          <a:p>
            <a:r>
              <a:rPr lang="zh-CN" altLang="en-US" dirty="0">
                <a:latin typeface="Arial" panose="020B0604020202020204" pitchFamily="34" charset="0"/>
                <a:ea typeface="微软雅黑" panose="020B0503020204020204" pitchFamily="34" charset="-122"/>
              </a:rPr>
              <a:t>推拉结合的计划模型 </a:t>
            </a:r>
            <a:r>
              <a:rPr lang="en-US" altLang="zh-CN" dirty="0">
                <a:latin typeface="Arial" panose="020B0604020202020204" pitchFamily="34" charset="0"/>
                <a:ea typeface="微软雅黑" panose="020B0503020204020204" pitchFamily="34" charset="-122"/>
              </a:rPr>
              <a:t>– Patented Algorithms(cont.)</a:t>
            </a:r>
            <a:endParaRPr lang="zh-CN" altLang="en-US" dirty="0">
              <a:latin typeface="Arial" panose="020B0604020202020204" pitchFamily="34" charset="0"/>
              <a:ea typeface="微软雅黑" panose="020B0503020204020204" pitchFamily="34" charset="-122"/>
            </a:endParaRPr>
          </a:p>
        </p:txBody>
      </p:sp>
      <p:graphicFrame>
        <p:nvGraphicFramePr>
          <p:cNvPr id="10" name="表格 9">
            <a:extLst>
              <a:ext uri="{FF2B5EF4-FFF2-40B4-BE49-F238E27FC236}">
                <a16:creationId xmlns:a16="http://schemas.microsoft.com/office/drawing/2014/main" id="{BA72D80C-CE72-425E-F205-59AAF9EF3740}"/>
              </a:ext>
            </a:extLst>
          </p:cNvPr>
          <p:cNvGraphicFramePr>
            <a:graphicFrameLocks noGrp="1"/>
          </p:cNvGraphicFramePr>
          <p:nvPr>
            <p:extLst>
              <p:ext uri="{D42A27DB-BD31-4B8C-83A1-F6EECF244321}">
                <p14:modId xmlns:p14="http://schemas.microsoft.com/office/powerpoint/2010/main" val="3124824889"/>
              </p:ext>
            </p:extLst>
          </p:nvPr>
        </p:nvGraphicFramePr>
        <p:xfrm>
          <a:off x="1629315" y="628865"/>
          <a:ext cx="6066133" cy="1767202"/>
        </p:xfrm>
        <a:graphic>
          <a:graphicData uri="http://schemas.openxmlformats.org/drawingml/2006/table">
            <a:tbl>
              <a:tblPr firstRow="1" bandRow="1">
                <a:tableStyleId>{5C22544A-7EE6-4342-B048-85BDC9FD1C3A}</a:tableStyleId>
              </a:tblPr>
              <a:tblGrid>
                <a:gridCol w="606403">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894080">
                  <a:extLst>
                    <a:ext uri="{9D8B030D-6E8A-4147-A177-3AD203B41FA5}">
                      <a16:colId xmlns:a16="http://schemas.microsoft.com/office/drawing/2014/main" val="2015716019"/>
                    </a:ext>
                  </a:extLst>
                </a:gridCol>
                <a:gridCol w="938530">
                  <a:extLst>
                    <a:ext uri="{9D8B030D-6E8A-4147-A177-3AD203B41FA5}">
                      <a16:colId xmlns:a16="http://schemas.microsoft.com/office/drawing/2014/main" val="126826503"/>
                    </a:ext>
                  </a:extLst>
                </a:gridCol>
                <a:gridCol w="951230">
                  <a:extLst>
                    <a:ext uri="{9D8B030D-6E8A-4147-A177-3AD203B41FA5}">
                      <a16:colId xmlns:a16="http://schemas.microsoft.com/office/drawing/2014/main" val="4883912"/>
                    </a:ext>
                  </a:extLst>
                </a:gridCol>
                <a:gridCol w="995680">
                  <a:extLst>
                    <a:ext uri="{9D8B030D-6E8A-4147-A177-3AD203B41FA5}">
                      <a16:colId xmlns:a16="http://schemas.microsoft.com/office/drawing/2014/main" val="3755102202"/>
                    </a:ext>
                  </a:extLst>
                </a:gridCol>
                <a:gridCol w="792480">
                  <a:extLst>
                    <a:ext uri="{9D8B030D-6E8A-4147-A177-3AD203B41FA5}">
                      <a16:colId xmlns:a16="http://schemas.microsoft.com/office/drawing/2014/main" val="2658016956"/>
                    </a:ext>
                  </a:extLst>
                </a:gridCol>
              </a:tblGrid>
              <a:tr h="245301">
                <a:tc gridSpan="7">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PSD Assignment(</a:t>
                      </a:r>
                      <a:r>
                        <a:rPr lang="zh-CN" altLang="en-US" sz="1100" b="1" dirty="0">
                          <a:solidFill>
                            <a:schemeClr val="bg1"/>
                          </a:solidFill>
                          <a:latin typeface="Arial" panose="020B0604020202020204" pitchFamily="34" charset="0"/>
                          <a:ea typeface="微软雅黑" panose="020B0503020204020204" pitchFamily="34" charset="-122"/>
                        </a:rPr>
                        <a:t>以</a:t>
                      </a:r>
                      <a:r>
                        <a:rPr lang="en-US" altLang="zh-CN" sz="1100" b="1" dirty="0">
                          <a:solidFill>
                            <a:schemeClr val="bg1"/>
                          </a:solidFill>
                          <a:latin typeface="Arial" panose="020B0604020202020204" pitchFamily="34" charset="0"/>
                          <a:ea typeface="微软雅黑" panose="020B0503020204020204" pitchFamily="34" charset="-122"/>
                        </a:rPr>
                        <a:t>PSD </a:t>
                      </a:r>
                      <a:r>
                        <a:rPr lang="zh-CN" altLang="en-US" sz="1100" b="1" dirty="0">
                          <a:solidFill>
                            <a:schemeClr val="bg1"/>
                          </a:solidFill>
                          <a:latin typeface="Arial" panose="020B0604020202020204" pitchFamily="34" charset="0"/>
                          <a:ea typeface="微软雅黑" panose="020B0503020204020204" pitchFamily="34" charset="-122"/>
                        </a:rPr>
                        <a:t>倒排序）</a:t>
                      </a:r>
                    </a:p>
                  </a:txBody>
                  <a:tcPr/>
                </a:tc>
                <a:tc hMerge="1">
                  <a:txBody>
                    <a:bodyPr/>
                    <a:lstStyle/>
                    <a:p>
                      <a:endParaRPr lang="zh-CN" altLang="en-US" sz="1200" b="1"/>
                    </a:p>
                  </a:txBody>
                  <a:tcPr/>
                </a:tc>
                <a:tc hMerge="1">
                  <a:txBody>
                    <a:bodyPr/>
                    <a:lstStyle/>
                    <a:p>
                      <a:endParaRPr lang="zh-CN" altLang="en-US" sz="1200" dirty="0"/>
                    </a:p>
                  </a:txBody>
                  <a:tcPr/>
                </a:tc>
                <a:tc hMerge="1">
                  <a:txBody>
                    <a:bodyPr/>
                    <a:lstStyle/>
                    <a:p>
                      <a:endParaRPr lang="zh-CN" altLang="en-US"/>
                    </a:p>
                  </a:txBody>
                  <a:tcPr/>
                </a:tc>
                <a:tc hMerge="1">
                  <a:txBody>
                    <a:bodyPr/>
                    <a:lstStyle/>
                    <a:p>
                      <a:endParaRPr lang="zh-CN" altLang="en-US" sz="1200" dirty="0"/>
                    </a:p>
                  </a:txBody>
                  <a:tcPr/>
                </a:tc>
                <a:tc hMerge="1">
                  <a:txBody>
                    <a:bodyPr/>
                    <a:lstStyle/>
                    <a:p>
                      <a:endParaRPr lang="zh-CN" altLang="en-US" sz="1200" dirty="0"/>
                    </a:p>
                  </a:txBody>
                  <a:tcPr/>
                </a:tc>
                <a:tc hMerge="1">
                  <a:txBody>
                    <a:bodyPr/>
                    <a:lstStyle/>
                    <a:p>
                      <a:endParaRPr lang="zh-CN" altLang="en-US"/>
                    </a:p>
                  </a:txBody>
                  <a:tcPr/>
                </a:tc>
                <a:extLst>
                  <a:ext uri="{0D108BD9-81ED-4DB2-BD59-A6C34878D82A}">
                    <a16:rowId xmlns:a16="http://schemas.microsoft.com/office/drawing/2014/main" val="3566394691"/>
                  </a:ext>
                </a:extLst>
              </a:tr>
              <a:tr h="776602">
                <a:tc>
                  <a:txBody>
                    <a:bodyPr/>
                    <a:lstStyle/>
                    <a:p>
                      <a:r>
                        <a:rPr lang="en-US" altLang="zh-CN" sz="900" b="1" dirty="0">
                          <a:solidFill>
                            <a:schemeClr val="bg1"/>
                          </a:solidFill>
                          <a:latin typeface="Arial" panose="020B0604020202020204" pitchFamily="34" charset="0"/>
                          <a:ea typeface="微软雅黑" panose="020B0503020204020204" pitchFamily="34" charset="-122"/>
                        </a:rPr>
                        <a:t>PSD</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Supply Type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6.8</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6.6</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401661643"/>
                  </a:ext>
                </a:extLst>
              </a:tr>
            </a:tbl>
          </a:graphicData>
        </a:graphic>
      </p:graphicFrame>
      <p:graphicFrame>
        <p:nvGraphicFramePr>
          <p:cNvPr id="6" name="表格 5">
            <a:extLst>
              <a:ext uri="{FF2B5EF4-FFF2-40B4-BE49-F238E27FC236}">
                <a16:creationId xmlns:a16="http://schemas.microsoft.com/office/drawing/2014/main" id="{4CAA1FC1-7973-C1E1-4DAC-4E6BB0CF16FB}"/>
              </a:ext>
            </a:extLst>
          </p:cNvPr>
          <p:cNvGraphicFramePr>
            <a:graphicFrameLocks noGrp="1"/>
          </p:cNvGraphicFramePr>
          <p:nvPr>
            <p:extLst>
              <p:ext uri="{D42A27DB-BD31-4B8C-83A1-F6EECF244321}">
                <p14:modId xmlns:p14="http://schemas.microsoft.com/office/powerpoint/2010/main" val="57431429"/>
              </p:ext>
            </p:extLst>
          </p:nvPr>
        </p:nvGraphicFramePr>
        <p:xfrm>
          <a:off x="658477" y="2775886"/>
          <a:ext cx="3250227" cy="858825"/>
        </p:xfrm>
        <a:graphic>
          <a:graphicData uri="http://schemas.openxmlformats.org/drawingml/2006/table">
            <a:tbl>
              <a:tblPr firstRow="1" bandRow="1">
                <a:tableStyleId>{5C22544A-7EE6-4342-B048-85BDC9FD1C3A}</a:tableStyleId>
              </a:tblPr>
              <a:tblGrid>
                <a:gridCol w="709930">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245301">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Order Header</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371145">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FG1</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bl>
          </a:graphicData>
        </a:graphic>
      </p:graphicFrame>
      <p:graphicFrame>
        <p:nvGraphicFramePr>
          <p:cNvPr id="11" name="表格 10">
            <a:extLst>
              <a:ext uri="{FF2B5EF4-FFF2-40B4-BE49-F238E27FC236}">
                <a16:creationId xmlns:a16="http://schemas.microsoft.com/office/drawing/2014/main" id="{70C69D99-C1ED-9089-61D7-9C2278EFE452}"/>
              </a:ext>
            </a:extLst>
          </p:cNvPr>
          <p:cNvGraphicFramePr>
            <a:graphicFrameLocks noGrp="1"/>
          </p:cNvGraphicFramePr>
          <p:nvPr>
            <p:extLst>
              <p:ext uri="{D42A27DB-BD31-4B8C-83A1-F6EECF244321}">
                <p14:modId xmlns:p14="http://schemas.microsoft.com/office/powerpoint/2010/main" val="4144757012"/>
              </p:ext>
            </p:extLst>
          </p:nvPr>
        </p:nvGraphicFramePr>
        <p:xfrm>
          <a:off x="5314797" y="2738996"/>
          <a:ext cx="3378815" cy="1087425"/>
        </p:xfrm>
        <a:graphic>
          <a:graphicData uri="http://schemas.openxmlformats.org/drawingml/2006/table">
            <a:tbl>
              <a:tblPr firstRow="1" bandRow="1">
                <a:tableStyleId>{5C22544A-7EE6-4342-B048-85BDC9FD1C3A}</a:tableStyleId>
              </a:tblPr>
              <a:tblGrid>
                <a:gridCol w="838518">
                  <a:extLst>
                    <a:ext uri="{9D8B030D-6E8A-4147-A177-3AD203B41FA5}">
                      <a16:colId xmlns:a16="http://schemas.microsoft.com/office/drawing/2014/main" val="2555319132"/>
                    </a:ext>
                  </a:extLst>
                </a:gridCol>
                <a:gridCol w="887730">
                  <a:extLst>
                    <a:ext uri="{9D8B030D-6E8A-4147-A177-3AD203B41FA5}">
                      <a16:colId xmlns:a16="http://schemas.microsoft.com/office/drawing/2014/main" val="2252723600"/>
                    </a:ext>
                  </a:extLst>
                </a:gridCol>
                <a:gridCol w="1002030">
                  <a:extLst>
                    <a:ext uri="{9D8B030D-6E8A-4147-A177-3AD203B41FA5}">
                      <a16:colId xmlns:a16="http://schemas.microsoft.com/office/drawing/2014/main" val="2015716019"/>
                    </a:ext>
                  </a:extLst>
                </a:gridCol>
                <a:gridCol w="650537">
                  <a:extLst>
                    <a:ext uri="{9D8B030D-6E8A-4147-A177-3AD203B41FA5}">
                      <a16:colId xmlns:a16="http://schemas.microsoft.com/office/drawing/2014/main" val="968652220"/>
                    </a:ext>
                  </a:extLst>
                </a:gridCol>
              </a:tblGrid>
              <a:tr h="0">
                <a:tc gridSpan="4">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extLst>
                  <a:ext uri="{0D108BD9-81ED-4DB2-BD59-A6C34878D82A}">
                    <a16:rowId xmlns:a16="http://schemas.microsoft.com/office/drawing/2014/main" val="3566394691"/>
                  </a:ext>
                </a:extLst>
              </a:tr>
              <a:tr h="371145">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bl>
          </a:graphicData>
        </a:graphic>
      </p:graphicFrame>
      <p:graphicFrame>
        <p:nvGraphicFramePr>
          <p:cNvPr id="12" name="表格 11">
            <a:extLst>
              <a:ext uri="{FF2B5EF4-FFF2-40B4-BE49-F238E27FC236}">
                <a16:creationId xmlns:a16="http://schemas.microsoft.com/office/drawing/2014/main" id="{B79427A7-4ACC-378D-CE03-4F104CF2FD12}"/>
              </a:ext>
            </a:extLst>
          </p:cNvPr>
          <p:cNvGraphicFramePr>
            <a:graphicFrameLocks noGrp="1"/>
          </p:cNvGraphicFramePr>
          <p:nvPr>
            <p:extLst>
              <p:ext uri="{D42A27DB-BD31-4B8C-83A1-F6EECF244321}">
                <p14:modId xmlns:p14="http://schemas.microsoft.com/office/powerpoint/2010/main" val="664455479"/>
              </p:ext>
            </p:extLst>
          </p:nvPr>
        </p:nvGraphicFramePr>
        <p:xfrm>
          <a:off x="1218890" y="4303002"/>
          <a:ext cx="7318055" cy="2093265"/>
        </p:xfrm>
        <a:graphic>
          <a:graphicData uri="http://schemas.openxmlformats.org/drawingml/2006/table">
            <a:tbl>
              <a:tblPr firstRow="1" bandRow="1">
                <a:tableStyleId>{5C22544A-7EE6-4342-B048-85BDC9FD1C3A}</a:tableStyleId>
              </a:tblPr>
              <a:tblGrid>
                <a:gridCol w="622581">
                  <a:extLst>
                    <a:ext uri="{9D8B030D-6E8A-4147-A177-3AD203B41FA5}">
                      <a16:colId xmlns:a16="http://schemas.microsoft.com/office/drawing/2014/main" val="2555319132"/>
                    </a:ext>
                  </a:extLst>
                </a:gridCol>
                <a:gridCol w="785613">
                  <a:extLst>
                    <a:ext uri="{9D8B030D-6E8A-4147-A177-3AD203B41FA5}">
                      <a16:colId xmlns:a16="http://schemas.microsoft.com/office/drawing/2014/main" val="2252723600"/>
                    </a:ext>
                  </a:extLst>
                </a:gridCol>
                <a:gridCol w="1188877">
                  <a:extLst>
                    <a:ext uri="{9D8B030D-6E8A-4147-A177-3AD203B41FA5}">
                      <a16:colId xmlns:a16="http://schemas.microsoft.com/office/drawing/2014/main" val="2015716019"/>
                    </a:ext>
                  </a:extLst>
                </a:gridCol>
                <a:gridCol w="1325654">
                  <a:extLst>
                    <a:ext uri="{9D8B030D-6E8A-4147-A177-3AD203B41FA5}">
                      <a16:colId xmlns:a16="http://schemas.microsoft.com/office/drawing/2014/main" val="968652220"/>
                    </a:ext>
                  </a:extLst>
                </a:gridCol>
                <a:gridCol w="881145">
                  <a:extLst>
                    <a:ext uri="{9D8B030D-6E8A-4147-A177-3AD203B41FA5}">
                      <a16:colId xmlns:a16="http://schemas.microsoft.com/office/drawing/2014/main" val="3738065007"/>
                    </a:ext>
                  </a:extLst>
                </a:gridCol>
                <a:gridCol w="830569">
                  <a:extLst>
                    <a:ext uri="{9D8B030D-6E8A-4147-A177-3AD203B41FA5}">
                      <a16:colId xmlns:a16="http://schemas.microsoft.com/office/drawing/2014/main" val="2821112010"/>
                    </a:ext>
                  </a:extLst>
                </a:gridCol>
                <a:gridCol w="841808">
                  <a:extLst>
                    <a:ext uri="{9D8B030D-6E8A-4147-A177-3AD203B41FA5}">
                      <a16:colId xmlns:a16="http://schemas.microsoft.com/office/drawing/2014/main" val="591860406"/>
                    </a:ext>
                  </a:extLst>
                </a:gridCol>
                <a:gridCol w="841808">
                  <a:extLst>
                    <a:ext uri="{9D8B030D-6E8A-4147-A177-3AD203B41FA5}">
                      <a16:colId xmlns:a16="http://schemas.microsoft.com/office/drawing/2014/main" val="1836992881"/>
                    </a:ext>
                  </a:extLst>
                </a:gridCol>
              </a:tblGrid>
              <a:tr h="0">
                <a:tc gridSpan="7">
                  <a:txBody>
                    <a:bodyPr/>
                    <a:lstStyle/>
                    <a:p>
                      <a:pPr algn="ctr"/>
                      <a:r>
                        <a:rPr lang="en-US" altLang="zh-CN" sz="1100" b="1" dirty="0">
                          <a:solidFill>
                            <a:schemeClr val="bg1"/>
                          </a:solidFill>
                          <a:latin typeface="Arial" panose="020B0604020202020204" pitchFamily="34" charset="0"/>
                          <a:ea typeface="微软雅黑" panose="020B0503020204020204" pitchFamily="34" charset="-122"/>
                        </a:rPr>
                        <a:t>Planned Allocation(Supply </a:t>
                      </a:r>
                      <a:r>
                        <a:rPr lang="zh-CN" altLang="en-US" sz="1100" b="1" dirty="0">
                          <a:solidFill>
                            <a:schemeClr val="bg1"/>
                          </a:solidFill>
                          <a:latin typeface="Arial" panose="020B0604020202020204" pitchFamily="34" charset="0"/>
                          <a:ea typeface="微软雅黑" panose="020B0503020204020204" pitchFamily="34" charset="-122"/>
                        </a:rPr>
                        <a:t>按</a:t>
                      </a:r>
                      <a:r>
                        <a:rPr lang="en-US" altLang="zh-CN" sz="1100" b="1" dirty="0">
                          <a:solidFill>
                            <a:schemeClr val="bg1"/>
                          </a:solidFill>
                          <a:latin typeface="Arial" panose="020B0604020202020204" pitchFamily="34" charset="0"/>
                          <a:ea typeface="微软雅黑" panose="020B0503020204020204" pitchFamily="34" charset="-122"/>
                        </a:rPr>
                        <a:t>available date &lt;=Due date</a:t>
                      </a:r>
                      <a:r>
                        <a:rPr lang="zh-CN" altLang="en-US" sz="1100" b="1" dirty="0">
                          <a:solidFill>
                            <a:schemeClr val="bg1"/>
                          </a:solidFill>
                          <a:latin typeface="Arial" panose="020B0604020202020204" pitchFamily="34" charset="0"/>
                          <a:ea typeface="微软雅黑" panose="020B0503020204020204" pitchFamily="34" charset="-122"/>
                        </a:rPr>
                        <a:t>倒排序）</a:t>
                      </a:r>
                    </a:p>
                  </a:txBody>
                  <a:tcPr/>
                </a:tc>
                <a:tc hMerge="1">
                  <a:txBody>
                    <a:bodyPr/>
                    <a:lstStyle/>
                    <a:p>
                      <a:endParaRPr lang="zh-CN" altLang="en-US" sz="1200" b="1"/>
                    </a:p>
                  </a:txBody>
                  <a:tcPr/>
                </a:tc>
                <a:tc hMerge="1">
                  <a:txBody>
                    <a:bodyPr/>
                    <a:lstStyle/>
                    <a:p>
                      <a:endParaRPr lang="zh-CN" altLang="en-US" sz="1200"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hMerge="1">
                  <a:txBody>
                    <a:bodyPr/>
                    <a:lstStyle/>
                    <a:p>
                      <a:pPr algn="ctr"/>
                      <a:endParaRPr lang="zh-CN" altLang="en-US" sz="1100" b="1" dirty="0"/>
                    </a:p>
                  </a:txBody>
                  <a:tcPr/>
                </a:tc>
                <a:tc>
                  <a:txBody>
                    <a:bodyPr/>
                    <a:lstStyle/>
                    <a:p>
                      <a:pPr algn="ct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566394691"/>
                  </a:ext>
                </a:extLst>
              </a:tr>
              <a:tr h="371145">
                <a:tc>
                  <a:txBody>
                    <a:bodyPr/>
                    <a:lstStyle/>
                    <a:p>
                      <a:r>
                        <a:rPr lang="en-US" altLang="zh-CN" sz="900" b="1" dirty="0">
                          <a:solidFill>
                            <a:schemeClr val="bg1"/>
                          </a:solidFill>
                          <a:latin typeface="Arial" panose="020B0604020202020204" pitchFamily="34" charset="0"/>
                          <a:ea typeface="微软雅黑" panose="020B0503020204020204" pitchFamily="34" charset="-122"/>
                        </a:rPr>
                        <a:t>Due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Request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Planned Order</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Part</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Date</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Available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Assigned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Netted Qty</a:t>
                      </a:r>
                      <a:endParaRPr lang="zh-CN" altLang="en-US" sz="900" b="1" dirty="0">
                        <a:solidFill>
                          <a:schemeClr val="bg1"/>
                        </a:solidFill>
                        <a:latin typeface="Arial" panose="020B0604020202020204" pitchFamily="34" charset="0"/>
                        <a:ea typeface="微软雅黑" panose="020B0503020204020204" pitchFamily="34" charset="-122"/>
                      </a:endParaRPr>
                    </a:p>
                  </a:txBody>
                  <a:tcPr>
                    <a:solidFill>
                      <a:schemeClr val="accent1">
                        <a:lumMod val="60000"/>
                        <a:lumOff val="40000"/>
                      </a:schemeClr>
                    </a:solidFill>
                  </a:tcPr>
                </a:tc>
                <a:extLst>
                  <a:ext uri="{0D108BD9-81ED-4DB2-BD59-A6C34878D82A}">
                    <a16:rowId xmlns:a16="http://schemas.microsoft.com/office/drawing/2014/main" val="885264342"/>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6.7</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778358875"/>
                  </a:ext>
                </a:extLst>
              </a:tr>
              <a:tr h="216442">
                <a:tc>
                  <a:txBody>
                    <a:bodyPr/>
                    <a:lstStyle/>
                    <a:p>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B</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20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008261002"/>
                  </a:ext>
                </a:extLst>
              </a:tr>
              <a:tr h="216442">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6.5</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96416447"/>
                  </a:ext>
                </a:extLst>
              </a:tr>
              <a:tr h="216442">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Arial" panose="020B0604020202020204" pitchFamily="34" charset="0"/>
                          <a:ea typeface="微软雅黑" panose="020B0503020204020204" pitchFamily="34" charset="-122"/>
                        </a:rPr>
                        <a:t>6.10-1=6.9</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80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PL01</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A</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6.4</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50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900" b="1" dirty="0">
                          <a:solidFill>
                            <a:schemeClr val="bg1"/>
                          </a:solidFill>
                          <a:latin typeface="Arial" panose="020B0604020202020204" pitchFamily="34" charset="0"/>
                          <a:ea typeface="微软雅黑" panose="020B0503020204020204" pitchFamily="34" charset="-122"/>
                        </a:rPr>
                        <a:t>0</a:t>
                      </a:r>
                      <a:endParaRPr lang="zh-CN" altLang="en-US" sz="9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541986919"/>
                  </a:ext>
                </a:extLst>
              </a:tr>
            </a:tbl>
          </a:graphicData>
        </a:graphic>
      </p:graphicFrame>
      <p:sp>
        <p:nvSpPr>
          <p:cNvPr id="13" name="文本框 12">
            <a:extLst>
              <a:ext uri="{FF2B5EF4-FFF2-40B4-BE49-F238E27FC236}">
                <a16:creationId xmlns:a16="http://schemas.microsoft.com/office/drawing/2014/main" id="{C18E60BC-9841-DE1E-5C79-02B75C6EA661}"/>
              </a:ext>
            </a:extLst>
          </p:cNvPr>
          <p:cNvSpPr txBox="1"/>
          <p:nvPr/>
        </p:nvSpPr>
        <p:spPr>
          <a:xfrm>
            <a:off x="7995558" y="811179"/>
            <a:ext cx="3695700" cy="116955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Date</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可以满足的时候，这一步的关键点是在于交付分别用现有供应和计划订单多少，</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Due date</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是什么。</a:t>
            </a:r>
            <a:endPar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此例子说明，现有供应不用会用，可以给优先级低的订单用。</a:t>
            </a:r>
          </a:p>
        </p:txBody>
      </p:sp>
    </p:spTree>
    <p:extLst>
      <p:ext uri="{BB962C8B-B14F-4D97-AF65-F5344CB8AC3E}">
        <p14:creationId xmlns:p14="http://schemas.microsoft.com/office/powerpoint/2010/main" val="420794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ED296-2938-454E-7A2C-34F48CC29B4C}"/>
            </a:ext>
          </a:extLst>
        </p:cNvPr>
        <p:cNvGrpSpPr/>
        <p:nvPr/>
      </p:nvGrpSpPr>
      <p:grpSpPr>
        <a:xfrm>
          <a:off x="0" y="0"/>
          <a:ext cx="0" cy="0"/>
          <a:chOff x="0" y="0"/>
          <a:chExt cx="0" cy="0"/>
        </a:xfrm>
      </p:grpSpPr>
      <p:sp>
        <p:nvSpPr>
          <p:cNvPr id="38914" name="Title 2">
            <a:extLst>
              <a:ext uri="{FF2B5EF4-FFF2-40B4-BE49-F238E27FC236}">
                <a16:creationId xmlns:a16="http://schemas.microsoft.com/office/drawing/2014/main" id="{1D0CDD96-0D03-CA2B-7BB2-E6B2621EB281}"/>
              </a:ext>
            </a:extLst>
          </p:cNvPr>
          <p:cNvSpPr>
            <a:spLocks noGrp="1"/>
          </p:cNvSpPr>
          <p:nvPr>
            <p:ph type="title" idx="4294967295"/>
          </p:nvPr>
        </p:nvSpPr>
        <p:spPr>
          <a:xfrm>
            <a:off x="1116013" y="350838"/>
            <a:ext cx="11075987" cy="520700"/>
          </a:xfrm>
          <a:prstGeom prst="rect">
            <a:avLst/>
          </a:prstGeom>
        </p:spPr>
        <p:txBody>
          <a:bodyPr vert="horz" wrap="square" lIns="121920" tIns="60960" rIns="121920" bIns="60960" anchor="ctr" anchorCtr="0">
            <a:normAutofit/>
          </a:bodyPr>
          <a:lstStyle/>
          <a:p>
            <a:pPr eaLnBrk="1" hangingPunct="1"/>
            <a:r>
              <a:rPr lang="en-US" altLang="zh-CN" b="1" dirty="0">
                <a:latin typeface="Arial" panose="020B0604020202020204" pitchFamily="34" charset="0"/>
                <a:ea typeface="微软雅黑" panose="020B0503020204020204" pitchFamily="34" charset="-122"/>
              </a:rPr>
              <a:t>IPC Solution - DEMOs</a:t>
            </a:r>
          </a:p>
        </p:txBody>
      </p:sp>
      <p:sp>
        <p:nvSpPr>
          <p:cNvPr id="3" name="Freeform 8">
            <a:extLst>
              <a:ext uri="{FF2B5EF4-FFF2-40B4-BE49-F238E27FC236}">
                <a16:creationId xmlns:a16="http://schemas.microsoft.com/office/drawing/2014/main" id="{550C350B-C3F7-48A4-36C7-110213E83078}"/>
              </a:ext>
            </a:extLst>
          </p:cNvPr>
          <p:cNvSpPr/>
          <p:nvPr/>
        </p:nvSpPr>
        <p:spPr>
          <a:xfrm>
            <a:off x="4093634" y="1559984"/>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en-US" altLang="zh-CN"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Unifying Production Planning</a:t>
            </a:r>
            <a:r>
              <a:rPr kumimoji="0" lang="zh-CN" alt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 </a:t>
            </a:r>
            <a:r>
              <a:rPr kumimoji="0" lang="en-US" altLang="zh-CN"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Shortage(MRP) and CTP process to </a:t>
            </a:r>
            <a:r>
              <a:rPr kumimoji="0" lang="en-US" altLang="zh-CN"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improve delivery accuracy </a:t>
            </a:r>
          </a:p>
        </p:txBody>
      </p:sp>
      <p:sp>
        <p:nvSpPr>
          <p:cNvPr id="4" name="Freeform 9">
            <a:extLst>
              <a:ext uri="{FF2B5EF4-FFF2-40B4-BE49-F238E27FC236}">
                <a16:creationId xmlns:a16="http://schemas.microsoft.com/office/drawing/2014/main" id="{1A282546-7F8C-5A5C-53C9-DA7D21470E2F}"/>
              </a:ext>
            </a:extLst>
          </p:cNvPr>
          <p:cNvSpPr/>
          <p:nvPr/>
        </p:nvSpPr>
        <p:spPr>
          <a:xfrm>
            <a:off x="1953685" y="1458384"/>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spcCol="1270" anchor="ct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altLang="zh-CN"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Unification of Planning and Execution</a:t>
            </a:r>
          </a:p>
        </p:txBody>
      </p:sp>
      <p:sp>
        <p:nvSpPr>
          <p:cNvPr id="6" name="Freeform 11">
            <a:extLst>
              <a:ext uri="{FF2B5EF4-FFF2-40B4-BE49-F238E27FC236}">
                <a16:creationId xmlns:a16="http://schemas.microsoft.com/office/drawing/2014/main" id="{66AC59F3-AF42-2CC8-1374-F55D12588F39}"/>
              </a:ext>
            </a:extLst>
          </p:cNvPr>
          <p:cNvSpPr/>
          <p:nvPr/>
        </p:nvSpPr>
        <p:spPr>
          <a:xfrm>
            <a:off x="1953685" y="2516718"/>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spcCol="1270" anchor="ct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altLang="zh-CN" sz="2000" b="1" i="0" u="sng"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Keep CTP Accuracy</a:t>
            </a:r>
          </a:p>
        </p:txBody>
      </p:sp>
      <p:sp>
        <p:nvSpPr>
          <p:cNvPr id="7" name="Freeform 12">
            <a:extLst>
              <a:ext uri="{FF2B5EF4-FFF2-40B4-BE49-F238E27FC236}">
                <a16:creationId xmlns:a16="http://schemas.microsoft.com/office/drawing/2014/main" id="{3F270C01-F998-4768-4060-0194526CB26A}"/>
              </a:ext>
            </a:extLst>
          </p:cNvPr>
          <p:cNvSpPr/>
          <p:nvPr/>
        </p:nvSpPr>
        <p:spPr>
          <a:xfrm>
            <a:off x="4093634" y="3676651"/>
            <a:ext cx="5738284" cy="8064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spcCol="1270" anchor="ctr"/>
          <a:lstStyle/>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How to give consideration to delivery </a:t>
            </a:r>
            <a:r>
              <a:rPr kumimoji="0" 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speed</a:t>
            </a:r>
          </a:p>
          <a:p>
            <a:pPr marL="228594" marR="0" lvl="1" indent="-228594" algn="l" defTabSz="888978" rtl="0" eaLnBrk="1" fontAlgn="auto" latinLnBrk="0" hangingPunct="1">
              <a:lnSpc>
                <a:spcPct val="90000"/>
              </a:lnSpc>
              <a:spcBef>
                <a:spcPct val="0"/>
              </a:spcBef>
              <a:spcAft>
                <a:spcPct val="15000"/>
              </a:spcAft>
              <a:buClrTx/>
              <a:buSzTx/>
              <a:buFontTx/>
              <a:buChar char="•"/>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How to </a:t>
            </a:r>
            <a:r>
              <a:rPr kumimoji="0" lang="en-US" sz="20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optimize</a:t>
            </a: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pitchFamily="34" charset="0"/>
                <a:ea typeface="微软雅黑" panose="020B0503020204020204" pitchFamily="34" charset="-122"/>
                <a:cs typeface="+mn-cs"/>
              </a:rPr>
              <a:t> capacity utilization</a:t>
            </a:r>
          </a:p>
        </p:txBody>
      </p:sp>
      <p:sp>
        <p:nvSpPr>
          <p:cNvPr id="8" name="Freeform 13">
            <a:extLst>
              <a:ext uri="{FF2B5EF4-FFF2-40B4-BE49-F238E27FC236}">
                <a16:creationId xmlns:a16="http://schemas.microsoft.com/office/drawing/2014/main" id="{99AF4DFA-CC97-AACE-960F-49C66C90F3F2}"/>
              </a:ext>
            </a:extLst>
          </p:cNvPr>
          <p:cNvSpPr/>
          <p:nvPr/>
        </p:nvSpPr>
        <p:spPr>
          <a:xfrm>
            <a:off x="1953685" y="3575051"/>
            <a:ext cx="2139951" cy="1007533"/>
          </a:xfrm>
          <a:custGeom>
            <a:avLst/>
            <a:gdLst>
              <a:gd name="connsiteX0" fmla="*/ 0 w 2139394"/>
              <a:gd name="connsiteY0" fmla="*/ 167984 h 1007882"/>
              <a:gd name="connsiteX1" fmla="*/ 49202 w 2139394"/>
              <a:gd name="connsiteY1" fmla="*/ 49201 h 1007882"/>
              <a:gd name="connsiteX2" fmla="*/ 167985 w 2139394"/>
              <a:gd name="connsiteY2" fmla="*/ 0 h 1007882"/>
              <a:gd name="connsiteX3" fmla="*/ 1971410 w 2139394"/>
              <a:gd name="connsiteY3" fmla="*/ 0 h 1007882"/>
              <a:gd name="connsiteX4" fmla="*/ 2090193 w 2139394"/>
              <a:gd name="connsiteY4" fmla="*/ 49202 h 1007882"/>
              <a:gd name="connsiteX5" fmla="*/ 2139394 w 2139394"/>
              <a:gd name="connsiteY5" fmla="*/ 167985 h 1007882"/>
              <a:gd name="connsiteX6" fmla="*/ 2139394 w 2139394"/>
              <a:gd name="connsiteY6" fmla="*/ 839898 h 1007882"/>
              <a:gd name="connsiteX7" fmla="*/ 2090193 w 2139394"/>
              <a:gd name="connsiteY7" fmla="*/ 958681 h 1007882"/>
              <a:gd name="connsiteX8" fmla="*/ 1971410 w 2139394"/>
              <a:gd name="connsiteY8" fmla="*/ 1007882 h 1007882"/>
              <a:gd name="connsiteX9" fmla="*/ 167984 w 2139394"/>
              <a:gd name="connsiteY9" fmla="*/ 1007882 h 1007882"/>
              <a:gd name="connsiteX10" fmla="*/ 49201 w 2139394"/>
              <a:gd name="connsiteY10" fmla="*/ 958681 h 1007882"/>
              <a:gd name="connsiteX11" fmla="*/ 0 w 2139394"/>
              <a:gd name="connsiteY11" fmla="*/ 839898 h 1007882"/>
              <a:gd name="connsiteX12" fmla="*/ 0 w 2139394"/>
              <a:gd name="connsiteY12" fmla="*/ 167984 h 10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9394" h="1007882">
                <a:moveTo>
                  <a:pt x="0" y="167984"/>
                </a:moveTo>
                <a:cubicBezTo>
                  <a:pt x="0" y="123432"/>
                  <a:pt x="17698" y="80704"/>
                  <a:pt x="49202" y="49201"/>
                </a:cubicBezTo>
                <a:cubicBezTo>
                  <a:pt x="80705" y="17698"/>
                  <a:pt x="123433" y="0"/>
                  <a:pt x="167985" y="0"/>
                </a:cubicBezTo>
                <a:lnTo>
                  <a:pt x="1971410" y="0"/>
                </a:lnTo>
                <a:cubicBezTo>
                  <a:pt x="2015962" y="0"/>
                  <a:pt x="2058690" y="17698"/>
                  <a:pt x="2090193" y="49202"/>
                </a:cubicBezTo>
                <a:cubicBezTo>
                  <a:pt x="2121696" y="80705"/>
                  <a:pt x="2139394" y="123433"/>
                  <a:pt x="2139394" y="167985"/>
                </a:cubicBezTo>
                <a:lnTo>
                  <a:pt x="2139394" y="839898"/>
                </a:lnTo>
                <a:cubicBezTo>
                  <a:pt x="2139394" y="884450"/>
                  <a:pt x="2121696" y="927178"/>
                  <a:pt x="2090193" y="958681"/>
                </a:cubicBezTo>
                <a:cubicBezTo>
                  <a:pt x="2058690" y="990184"/>
                  <a:pt x="2015962" y="1007882"/>
                  <a:pt x="1971410" y="1007882"/>
                </a:cubicBezTo>
                <a:lnTo>
                  <a:pt x="167984" y="1007882"/>
                </a:lnTo>
                <a:cubicBezTo>
                  <a:pt x="123432" y="1007882"/>
                  <a:pt x="80704" y="990184"/>
                  <a:pt x="49201" y="958681"/>
                </a:cubicBezTo>
                <a:cubicBezTo>
                  <a:pt x="17698" y="927178"/>
                  <a:pt x="0" y="884450"/>
                  <a:pt x="0" y="839898"/>
                </a:cubicBezTo>
                <a:lnTo>
                  <a:pt x="0" y="16798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25401" tIns="87301" rIns="125401" bIns="87301" anchor="ctr"/>
          <a:lstStyle/>
          <a:p>
            <a:pPr marL="0" marR="0" lvl="0" indent="0" algn="ctr" defTabSz="888978" rtl="0" eaLnBrk="1" fontAlgn="base" latinLnBrk="0" hangingPunct="1">
              <a:lnSpc>
                <a:spcPct val="90000"/>
              </a:lnSpc>
              <a:spcBef>
                <a:spcPct val="0"/>
              </a:spcBef>
              <a:spcAft>
                <a:spcPct val="3500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黑体" panose="02010609060101010101" charset="-122"/>
              </a:rPr>
              <a:t>Sync CTP and OTS/Capacity</a:t>
            </a:r>
            <a:endParaRPr kumimoji="0" lang="en-US" altLang="zh-CN" sz="2000" b="1" i="0" u="sng"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宋体" panose="02010600030101010101" pitchFamily="2" charset="-122"/>
            </a:endParaRPr>
          </a:p>
        </p:txBody>
      </p:sp>
      <p:sp>
        <p:nvSpPr>
          <p:cNvPr id="10" name="Freeform 10">
            <a:extLst>
              <a:ext uri="{FF2B5EF4-FFF2-40B4-BE49-F238E27FC236}">
                <a16:creationId xmlns:a16="http://schemas.microsoft.com/office/drawing/2014/main" id="{076622C2-20C9-AEF4-F59B-CB23A33787AF}"/>
              </a:ext>
            </a:extLst>
          </p:cNvPr>
          <p:cNvSpPr/>
          <p:nvPr/>
        </p:nvSpPr>
        <p:spPr>
          <a:xfrm>
            <a:off x="4111174" y="2548466"/>
            <a:ext cx="5738284" cy="996951"/>
          </a:xfrm>
          <a:custGeom>
            <a:avLst/>
            <a:gdLst>
              <a:gd name="connsiteX0" fmla="*/ 134387 w 806306"/>
              <a:gd name="connsiteY0" fmla="*/ 0 h 5737036"/>
              <a:gd name="connsiteX1" fmla="*/ 671919 w 806306"/>
              <a:gd name="connsiteY1" fmla="*/ 0 h 5737036"/>
              <a:gd name="connsiteX2" fmla="*/ 766945 w 806306"/>
              <a:gd name="connsiteY2" fmla="*/ 39361 h 5737036"/>
              <a:gd name="connsiteX3" fmla="*/ 806306 w 806306"/>
              <a:gd name="connsiteY3" fmla="*/ 134387 h 5737036"/>
              <a:gd name="connsiteX4" fmla="*/ 806306 w 806306"/>
              <a:gd name="connsiteY4" fmla="*/ 5737036 h 5737036"/>
              <a:gd name="connsiteX5" fmla="*/ 806306 w 806306"/>
              <a:gd name="connsiteY5" fmla="*/ 5737036 h 5737036"/>
              <a:gd name="connsiteX6" fmla="*/ 806306 w 806306"/>
              <a:gd name="connsiteY6" fmla="*/ 5737036 h 5737036"/>
              <a:gd name="connsiteX7" fmla="*/ 0 w 806306"/>
              <a:gd name="connsiteY7" fmla="*/ 5737036 h 5737036"/>
              <a:gd name="connsiteX8" fmla="*/ 0 w 806306"/>
              <a:gd name="connsiteY8" fmla="*/ 5737036 h 5737036"/>
              <a:gd name="connsiteX9" fmla="*/ 0 w 806306"/>
              <a:gd name="connsiteY9" fmla="*/ 5737036 h 5737036"/>
              <a:gd name="connsiteX10" fmla="*/ 0 w 806306"/>
              <a:gd name="connsiteY10" fmla="*/ 134387 h 5737036"/>
              <a:gd name="connsiteX11" fmla="*/ 39361 w 806306"/>
              <a:gd name="connsiteY11" fmla="*/ 39361 h 5737036"/>
              <a:gd name="connsiteX12" fmla="*/ 134387 w 806306"/>
              <a:gd name="connsiteY12" fmla="*/ 0 h 573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6306" h="5737036">
                <a:moveTo>
                  <a:pt x="806306" y="956194"/>
                </a:moveTo>
                <a:lnTo>
                  <a:pt x="806306" y="4780842"/>
                </a:lnTo>
                <a:cubicBezTo>
                  <a:pt x="806306" y="5034442"/>
                  <a:pt x="804316" y="5277654"/>
                  <a:pt x="800774" y="5456971"/>
                </a:cubicBezTo>
                <a:cubicBezTo>
                  <a:pt x="797232" y="5636288"/>
                  <a:pt x="792428" y="5737032"/>
                  <a:pt x="787419" y="5737032"/>
                </a:cubicBezTo>
                <a:lnTo>
                  <a:pt x="0" y="5737032"/>
                </a:lnTo>
                <a:lnTo>
                  <a:pt x="0" y="5737032"/>
                </a:lnTo>
                <a:lnTo>
                  <a:pt x="0" y="5737032"/>
                </a:lnTo>
                <a:lnTo>
                  <a:pt x="0" y="4"/>
                </a:lnTo>
                <a:lnTo>
                  <a:pt x="0" y="4"/>
                </a:lnTo>
                <a:lnTo>
                  <a:pt x="0" y="4"/>
                </a:lnTo>
                <a:lnTo>
                  <a:pt x="787419" y="4"/>
                </a:lnTo>
                <a:cubicBezTo>
                  <a:pt x="792428" y="4"/>
                  <a:pt x="797232" y="100748"/>
                  <a:pt x="800774" y="280065"/>
                </a:cubicBezTo>
                <a:cubicBezTo>
                  <a:pt x="804316" y="459382"/>
                  <a:pt x="806306" y="702594"/>
                  <a:pt x="806306" y="9561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247651" tIns="163185" rIns="287011" bIns="163187" anchor="ctr"/>
          <a:lstStyle/>
          <a:p>
            <a:pPr marL="228594" marR="0" lvl="1" indent="-228594" algn="l" defTabSz="888978" rtl="0" eaLnBrk="1" fontAlgn="base" latinLnBrk="0" hangingPunct="1">
              <a:lnSpc>
                <a:spcPct val="90000"/>
              </a:lnSpc>
              <a:spcBef>
                <a:spcPct val="0"/>
              </a:spcBef>
              <a:spcAft>
                <a:spcPct val="15000"/>
              </a:spcAft>
              <a:buClrTx/>
              <a:buSzTx/>
              <a:buFontTx/>
              <a:buChar char="•"/>
              <a:tabLst/>
              <a:defRPr/>
            </a:pPr>
            <a:r>
              <a:rPr kumimoji="0" lang="en-US" altLang="zh-CN" sz="1867"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Keep CTP for promised order through </a:t>
            </a:r>
            <a:r>
              <a:rPr kumimoji="0" lang="en-US" altLang="zh-CN" sz="1867"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微软雅黑" panose="020B0503020204020204" pitchFamily="34" charset="-122"/>
              </a:rPr>
              <a:t>Higher Priority</a:t>
            </a:r>
          </a:p>
          <a:p>
            <a:pPr marL="228594" marR="0" lvl="1" indent="-228594" algn="l" defTabSz="888978" rtl="0" eaLnBrk="1" fontAlgn="base" latinLnBrk="0" hangingPunct="1">
              <a:lnSpc>
                <a:spcPct val="90000"/>
              </a:lnSpc>
              <a:spcBef>
                <a:spcPct val="0"/>
              </a:spcBef>
              <a:spcAft>
                <a:spcPct val="15000"/>
              </a:spcAft>
              <a:buClrTx/>
              <a:buSzTx/>
              <a:buFontTx/>
              <a:buChar char="•"/>
              <a:tabLst/>
              <a:defRPr/>
            </a:pPr>
            <a:r>
              <a:rPr kumimoji="0" lang="en-US" altLang="zh-CN" sz="1867"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黑体" panose="02010609060101010101" charset="-122"/>
              </a:rPr>
              <a:t>Re-allocate resource to the expectation demand</a:t>
            </a:r>
          </a:p>
        </p:txBody>
      </p:sp>
    </p:spTree>
    <p:extLst>
      <p:ext uri="{BB962C8B-B14F-4D97-AF65-F5344CB8AC3E}">
        <p14:creationId xmlns:p14="http://schemas.microsoft.com/office/powerpoint/2010/main" val="18717035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06C6F-36CA-6BB9-2544-12019F824E7A}"/>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资源被前序需求占用</a:t>
            </a:r>
          </a:p>
        </p:txBody>
      </p:sp>
      <p:grpSp>
        <p:nvGrpSpPr>
          <p:cNvPr id="3" name="组合 2">
            <a:extLst>
              <a:ext uri="{FF2B5EF4-FFF2-40B4-BE49-F238E27FC236}">
                <a16:creationId xmlns:a16="http://schemas.microsoft.com/office/drawing/2014/main" id="{6DAEDFA4-C9CC-67FB-3831-C9920481DE1C}"/>
              </a:ext>
            </a:extLst>
          </p:cNvPr>
          <p:cNvGrpSpPr/>
          <p:nvPr/>
        </p:nvGrpSpPr>
        <p:grpSpPr>
          <a:xfrm>
            <a:off x="1507971" y="2047424"/>
            <a:ext cx="9485303" cy="3726209"/>
            <a:chOff x="391769" y="1497366"/>
            <a:chExt cx="7642522" cy="3002798"/>
          </a:xfrm>
        </p:grpSpPr>
        <p:cxnSp>
          <p:nvCxnSpPr>
            <p:cNvPr id="4" name="直接箭头连接符 3">
              <a:extLst>
                <a:ext uri="{FF2B5EF4-FFF2-40B4-BE49-F238E27FC236}">
                  <a16:creationId xmlns:a16="http://schemas.microsoft.com/office/drawing/2014/main" id="{0EF0DC45-FDC8-CE54-D862-EF21DCF840A6}"/>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B3EDDA59-3A41-A5B8-3E49-3E307D579510}"/>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E9C90C62-0DD3-3F18-EC1D-C72F6A7B0BF5}"/>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307B6CCB-4AAF-8C31-8AE5-D0AB3058A2C5}"/>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C6EA66AC-8845-73F9-C79A-BD18A2D929C9}"/>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56236170-64E4-B151-0428-FAFA4364C53A}"/>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FFDA6FDC-E89B-36AD-4A7D-EDD6AE164B98}"/>
                </a:ext>
              </a:extLst>
            </p:cNvPr>
            <p:cNvCxnSpPr>
              <a:cxnSpLocks/>
            </p:cNvCxnSpPr>
            <p:nvPr/>
          </p:nvCxnSpPr>
          <p:spPr>
            <a:xfrm>
              <a:off x="7395098"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BC8FA3A-CE9B-6162-934B-66CE4716BAD6}"/>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57E866B5-3830-80CD-21A3-C75A048A9810}"/>
                </a:ext>
              </a:extLst>
            </p:cNvPr>
            <p:cNvSpPr txBox="1"/>
            <p:nvPr/>
          </p:nvSpPr>
          <p:spPr>
            <a:xfrm>
              <a:off x="391769" y="3969367"/>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0000"/>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E1B2548B-11F6-81AE-239C-EA0A7FF5DAD1}"/>
                </a:ext>
              </a:extLst>
            </p:cNvPr>
            <p:cNvSpPr/>
            <p:nvPr/>
          </p:nvSpPr>
          <p:spPr>
            <a:xfrm>
              <a:off x="4125160" y="1686874"/>
              <a:ext cx="841895" cy="45634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100(Low)</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A3EB6237-91F1-CCA3-10E8-5B2F631A9C8E}"/>
                </a:ext>
              </a:extLst>
            </p:cNvPr>
            <p:cNvSpPr/>
            <p:nvPr/>
          </p:nvSpPr>
          <p:spPr>
            <a:xfrm>
              <a:off x="5294790" y="1689612"/>
              <a:ext cx="841895" cy="456343"/>
            </a:xfrm>
            <a:prstGeom prst="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200(High)</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椭圆 14">
              <a:extLst>
                <a:ext uri="{FF2B5EF4-FFF2-40B4-BE49-F238E27FC236}">
                  <a16:creationId xmlns:a16="http://schemas.microsoft.com/office/drawing/2014/main" id="{79B37B54-1B90-A1BD-7ACF-84FC6AE1E141}"/>
                </a:ext>
              </a:extLst>
            </p:cNvPr>
            <p:cNvSpPr/>
            <p:nvPr/>
          </p:nvSpPr>
          <p:spPr>
            <a:xfrm>
              <a:off x="5335480" y="2822728"/>
              <a:ext cx="760517" cy="606271"/>
            </a:xfrm>
            <a:prstGeom prst="ellipse">
              <a:avLst/>
            </a:prstGeom>
            <a:solidFill>
              <a:srgbClr val="00B050"/>
            </a:solidFill>
            <a:ln>
              <a:solidFill>
                <a:srgbClr val="00B050"/>
              </a:solidFill>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r>
                <a:rPr kumimoji="0" lang="zh-CN" altLang="en-US"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椭圆 15">
              <a:extLst>
                <a:ext uri="{FF2B5EF4-FFF2-40B4-BE49-F238E27FC236}">
                  <a16:creationId xmlns:a16="http://schemas.microsoft.com/office/drawing/2014/main" id="{3DB95099-4FB7-952D-9AE0-C98D9DBAAABC}"/>
                </a:ext>
              </a:extLst>
            </p:cNvPr>
            <p:cNvSpPr/>
            <p:nvPr/>
          </p:nvSpPr>
          <p:spPr>
            <a:xfrm>
              <a:off x="6365290" y="2822729"/>
              <a:ext cx="886284" cy="56162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p>
          </p:txBody>
        </p:sp>
        <p:sp>
          <p:nvSpPr>
            <p:cNvPr id="17" name="矩形 16">
              <a:extLst>
                <a:ext uri="{FF2B5EF4-FFF2-40B4-BE49-F238E27FC236}">
                  <a16:creationId xmlns:a16="http://schemas.microsoft.com/office/drawing/2014/main" id="{FAB35C98-4B59-FD9C-B04D-32511739E85B}"/>
                </a:ext>
              </a:extLst>
            </p:cNvPr>
            <p:cNvSpPr/>
            <p:nvPr/>
          </p:nvSpPr>
          <p:spPr>
            <a:xfrm>
              <a:off x="3921348" y="3778922"/>
              <a:ext cx="1137821" cy="630606"/>
            </a:xfrm>
            <a:prstGeom prst="rect">
              <a:avLst/>
            </a:prstGeom>
            <a:solidFill>
              <a:srgbClr val="00AA48"/>
            </a:solidFill>
            <a:ln w="1270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8" name="矩形 17">
              <a:extLst>
                <a:ext uri="{FF2B5EF4-FFF2-40B4-BE49-F238E27FC236}">
                  <a16:creationId xmlns:a16="http://schemas.microsoft.com/office/drawing/2014/main" id="{6EE468EA-1CF4-7640-2DB4-CAE14390CBE4}"/>
                </a:ext>
              </a:extLst>
            </p:cNvPr>
            <p:cNvSpPr/>
            <p:nvPr/>
          </p:nvSpPr>
          <p:spPr>
            <a:xfrm>
              <a:off x="2746159" y="3780999"/>
              <a:ext cx="1191087" cy="624982"/>
            </a:xfrm>
            <a:prstGeom prst="rect">
              <a:avLst/>
            </a:prstGeom>
            <a:solidFill>
              <a:srgbClr val="00AA48"/>
            </a:solidFill>
            <a:ln w="1270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9" name="直接箭头连接符 18">
              <a:extLst>
                <a:ext uri="{FF2B5EF4-FFF2-40B4-BE49-F238E27FC236}">
                  <a16:creationId xmlns:a16="http://schemas.microsoft.com/office/drawing/2014/main" id="{DAD6513E-BF96-C968-6535-5DA3B8CD3458}"/>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1C9569CB-60CD-9B83-E721-03C346CFC51F}"/>
                </a:ext>
              </a:extLst>
            </p:cNvPr>
            <p:cNvCxnSpPr>
              <a:cxnSpLocks/>
              <a:stCxn id="18" idx="0"/>
              <a:endCxn id="15" idx="2"/>
            </p:cNvCxnSpPr>
            <p:nvPr/>
          </p:nvCxnSpPr>
          <p:spPr>
            <a:xfrm rot="5400000" flipH="1" flipV="1">
              <a:off x="4011024" y="2456544"/>
              <a:ext cx="655135" cy="1993777"/>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连接符: 肘形 20">
              <a:extLst>
                <a:ext uri="{FF2B5EF4-FFF2-40B4-BE49-F238E27FC236}">
                  <a16:creationId xmlns:a16="http://schemas.microsoft.com/office/drawing/2014/main" id="{BF43203D-D04E-C803-2786-25DC048B0CB2}"/>
                </a:ext>
              </a:extLst>
            </p:cNvPr>
            <p:cNvCxnSpPr>
              <a:cxnSpLocks/>
              <a:stCxn id="17" idx="0"/>
              <a:endCxn id="15" idx="2"/>
            </p:cNvCxnSpPr>
            <p:nvPr/>
          </p:nvCxnSpPr>
          <p:spPr>
            <a:xfrm rot="5400000" flipH="1" flipV="1">
              <a:off x="4586341" y="3029783"/>
              <a:ext cx="653058" cy="845221"/>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A3583B2C-FE0E-6867-01E5-0D81DCDAE53E}"/>
                </a:ext>
              </a:extLst>
            </p:cNvPr>
            <p:cNvSpPr txBox="1"/>
            <p:nvPr/>
          </p:nvSpPr>
          <p:spPr>
            <a:xfrm>
              <a:off x="398033" y="4227337"/>
              <a:ext cx="1122023"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100/Bucket</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8DD3A7F4-1760-D98B-2635-6789A38C99B7}"/>
                </a:ext>
              </a:extLst>
            </p:cNvPr>
            <p:cNvSpPr/>
            <p:nvPr/>
          </p:nvSpPr>
          <p:spPr>
            <a:xfrm>
              <a:off x="1581704" y="3790465"/>
              <a:ext cx="1191087" cy="6155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空闲</a:t>
              </a:r>
            </a:p>
          </p:txBody>
        </p:sp>
        <p:sp>
          <p:nvSpPr>
            <p:cNvPr id="24" name="矩形 23">
              <a:extLst>
                <a:ext uri="{FF2B5EF4-FFF2-40B4-BE49-F238E27FC236}">
                  <a16:creationId xmlns:a16="http://schemas.microsoft.com/office/drawing/2014/main" id="{24934F32-4793-73F6-EF8D-264890147894}"/>
                </a:ext>
              </a:extLst>
            </p:cNvPr>
            <p:cNvSpPr/>
            <p:nvPr/>
          </p:nvSpPr>
          <p:spPr>
            <a:xfrm>
              <a:off x="5063373" y="3763535"/>
              <a:ext cx="1174815" cy="635332"/>
            </a:xfrm>
            <a:prstGeom prst="rect">
              <a:avLst/>
            </a:prstGeom>
            <a:ln/>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25" name="连接符: 肘形 24">
              <a:extLst>
                <a:ext uri="{FF2B5EF4-FFF2-40B4-BE49-F238E27FC236}">
                  <a16:creationId xmlns:a16="http://schemas.microsoft.com/office/drawing/2014/main" id="{C5C1732C-B02D-79FE-72C8-AFA73A7C5873}"/>
                </a:ext>
              </a:extLst>
            </p:cNvPr>
            <p:cNvCxnSpPr>
              <a:cxnSpLocks/>
              <a:stCxn id="24" idx="0"/>
              <a:endCxn id="16" idx="4"/>
            </p:cNvCxnSpPr>
            <p:nvPr/>
          </p:nvCxnSpPr>
          <p:spPr>
            <a:xfrm rot="5400000" flipH="1" flipV="1">
              <a:off x="6040017" y="2995120"/>
              <a:ext cx="379180" cy="1157652"/>
            </a:xfrm>
            <a:prstGeom prst="bentConnector3">
              <a:avLst>
                <a:gd name="adj1" fmla="val 50000"/>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grpSp>
      <p:cxnSp>
        <p:nvCxnSpPr>
          <p:cNvPr id="26" name="连接符: 肘形 25">
            <a:extLst>
              <a:ext uri="{FF2B5EF4-FFF2-40B4-BE49-F238E27FC236}">
                <a16:creationId xmlns:a16="http://schemas.microsoft.com/office/drawing/2014/main" id="{E4A556DD-B869-27DE-2B94-E25AB589E035}"/>
              </a:ext>
            </a:extLst>
          </p:cNvPr>
          <p:cNvCxnSpPr>
            <a:cxnSpLocks/>
            <a:stCxn id="16" idx="6"/>
            <a:endCxn id="27" idx="2"/>
          </p:cNvCxnSpPr>
          <p:nvPr/>
        </p:nvCxnSpPr>
        <p:spPr>
          <a:xfrm flipH="1">
            <a:off x="4579318" y="4040548"/>
            <a:ext cx="5442509" cy="2169144"/>
          </a:xfrm>
          <a:prstGeom prst="bentConnector4">
            <a:avLst>
              <a:gd name="adj1" fmla="val -3514"/>
              <a:gd name="adj2" fmla="val 110539"/>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文本框 26">
            <a:extLst>
              <a:ext uri="{FF2B5EF4-FFF2-40B4-BE49-F238E27FC236}">
                <a16:creationId xmlns:a16="http://schemas.microsoft.com/office/drawing/2014/main" id="{8B3D2018-8ADE-AB23-C227-A882BE8D6959}"/>
              </a:ext>
            </a:extLst>
          </p:cNvPr>
          <p:cNvSpPr txBox="1"/>
          <p:nvPr/>
        </p:nvSpPr>
        <p:spPr>
          <a:xfrm>
            <a:off x="3989437" y="5840360"/>
            <a:ext cx="11797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EMST</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B999C776-E3D0-5CA4-3EF5-1AD5FFF331B8}"/>
              </a:ext>
            </a:extLst>
          </p:cNvPr>
          <p:cNvSpPr txBox="1"/>
          <p:nvPr/>
        </p:nvSpPr>
        <p:spPr>
          <a:xfrm>
            <a:off x="1557957" y="3807806"/>
            <a:ext cx="161968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9" name="文本框 28">
            <a:extLst>
              <a:ext uri="{FF2B5EF4-FFF2-40B4-BE49-F238E27FC236}">
                <a16:creationId xmlns:a16="http://schemas.microsoft.com/office/drawing/2014/main" id="{A1D084BC-F025-9124-11E8-AD697B1D00A1}"/>
              </a:ext>
            </a:extLst>
          </p:cNvPr>
          <p:cNvSpPr txBox="1"/>
          <p:nvPr/>
        </p:nvSpPr>
        <p:spPr>
          <a:xfrm>
            <a:off x="9854553" y="3564413"/>
            <a:ext cx="14222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Late</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9104D0E9-E415-5205-4BCD-70012F4E7611}"/>
              </a:ext>
            </a:extLst>
          </p:cNvPr>
          <p:cNvSpPr txBox="1"/>
          <p:nvPr/>
        </p:nvSpPr>
        <p:spPr>
          <a:xfrm>
            <a:off x="372536" y="1341360"/>
            <a:ext cx="522457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有机会提前操作的</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Future</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69717770"/>
      </p:ext>
    </p:extLst>
  </p:cSld>
  <p:clrMapOvr>
    <a:overrideClrMapping bg1="dk1" tx1="lt1" bg2="dk2" tx2="lt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7092A7-4C3B-12B6-8970-CBB7E0172A71}"/>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资源跟前序需求置换（</a:t>
            </a:r>
            <a:r>
              <a:rPr lang="en-US" altLang="zh-CN" dirty="0">
                <a:latin typeface="Arial" panose="020B0604020202020204" pitchFamily="34" charset="0"/>
                <a:ea typeface="微软雅黑" panose="020B0503020204020204" pitchFamily="34" charset="-122"/>
              </a:rPr>
              <a:t>Scenario 1</a:t>
            </a:r>
            <a:r>
              <a:rPr lang="zh-CN" altLang="en-US" dirty="0">
                <a:latin typeface="Arial" panose="020B0604020202020204" pitchFamily="34" charset="0"/>
                <a:ea typeface="微软雅黑" panose="020B0503020204020204" pitchFamily="34" charset="-122"/>
              </a:rPr>
              <a:t>）</a:t>
            </a:r>
          </a:p>
        </p:txBody>
      </p:sp>
      <p:grpSp>
        <p:nvGrpSpPr>
          <p:cNvPr id="3" name="组合 2">
            <a:extLst>
              <a:ext uri="{FF2B5EF4-FFF2-40B4-BE49-F238E27FC236}">
                <a16:creationId xmlns:a16="http://schemas.microsoft.com/office/drawing/2014/main" id="{81C2CA00-F244-9D30-3675-A5774AF6B67A}"/>
              </a:ext>
            </a:extLst>
          </p:cNvPr>
          <p:cNvGrpSpPr/>
          <p:nvPr/>
        </p:nvGrpSpPr>
        <p:grpSpPr>
          <a:xfrm>
            <a:off x="1506341" y="2492870"/>
            <a:ext cx="9435316" cy="3626128"/>
            <a:chOff x="432045" y="1487893"/>
            <a:chExt cx="7602246" cy="2922147"/>
          </a:xfrm>
        </p:grpSpPr>
        <p:cxnSp>
          <p:nvCxnSpPr>
            <p:cNvPr id="4" name="直接箭头连接符 3">
              <a:extLst>
                <a:ext uri="{FF2B5EF4-FFF2-40B4-BE49-F238E27FC236}">
                  <a16:creationId xmlns:a16="http://schemas.microsoft.com/office/drawing/2014/main" id="{DB1E8FFD-C196-A072-7ED9-91736D501986}"/>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CC4789C6-9326-8A56-A5CD-65946A04B8F9}"/>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BC0C7986-EDB7-7195-DBEB-BE9DFAC0495F}"/>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7131308-900E-7309-0A77-95A7216083C9}"/>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FE068F48-927F-5EB6-DC69-95CE483BE1CF}"/>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57CA4A79-6033-B988-F544-DD733AA9C5E5}"/>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ABC272DA-7C16-A1E5-864C-AE35AA117DF6}"/>
                </a:ext>
              </a:extLst>
            </p:cNvPr>
            <p:cNvCxnSpPr>
              <a:cxnSpLocks/>
            </p:cNvCxnSpPr>
            <p:nvPr/>
          </p:nvCxnSpPr>
          <p:spPr>
            <a:xfrm>
              <a:off x="7418561" y="1487893"/>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CE6CC34-C5AD-1DA6-FC8D-C96BF94533DD}"/>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9435CE83-51A9-3623-A655-AB0EF73CE2C8}"/>
                </a:ext>
              </a:extLst>
            </p:cNvPr>
            <p:cNvSpPr txBox="1"/>
            <p:nvPr/>
          </p:nvSpPr>
          <p:spPr>
            <a:xfrm>
              <a:off x="476272" y="2719618"/>
              <a:ext cx="1305018" cy="471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199405B5-8C9E-42ED-7FD0-A41532D47584}"/>
                </a:ext>
              </a:extLst>
            </p:cNvPr>
            <p:cNvSpPr/>
            <p:nvPr/>
          </p:nvSpPr>
          <p:spPr>
            <a:xfrm>
              <a:off x="4115536" y="1724768"/>
              <a:ext cx="841895" cy="456343"/>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100(Low)</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9CBAE3E7-342F-3EAC-1C71-2B65C1434FEF}"/>
                </a:ext>
              </a:extLst>
            </p:cNvPr>
            <p:cNvSpPr/>
            <p:nvPr/>
          </p:nvSpPr>
          <p:spPr>
            <a:xfrm>
              <a:off x="5294790" y="1713079"/>
              <a:ext cx="841895" cy="456343"/>
            </a:xfrm>
            <a:prstGeom prst="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200(High)</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椭圆 14">
              <a:extLst>
                <a:ext uri="{FF2B5EF4-FFF2-40B4-BE49-F238E27FC236}">
                  <a16:creationId xmlns:a16="http://schemas.microsoft.com/office/drawing/2014/main" id="{2D7F3E86-1BC3-F64E-DF71-D61AAA1FC6FB}"/>
                </a:ext>
              </a:extLst>
            </p:cNvPr>
            <p:cNvSpPr/>
            <p:nvPr/>
          </p:nvSpPr>
          <p:spPr>
            <a:xfrm>
              <a:off x="5262604" y="2677004"/>
              <a:ext cx="1022851" cy="606271"/>
            </a:xfrm>
            <a:prstGeom prst="ellipse">
              <a:avLst/>
            </a:prstGeom>
            <a:solidFill>
              <a:srgbClr val="00B050"/>
            </a:solidFill>
            <a:ln>
              <a:solidFill>
                <a:srgbClr val="00B050"/>
              </a:solidFill>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r>
                <a:rPr kumimoji="0" lang="zh-CN" altLang="en-US" sz="1200" b="1"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200" b="1"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椭圆 15">
              <a:extLst>
                <a:ext uri="{FF2B5EF4-FFF2-40B4-BE49-F238E27FC236}">
                  <a16:creationId xmlns:a16="http://schemas.microsoft.com/office/drawing/2014/main" id="{320FCB9A-A5B0-DC3D-2FB5-EDD391C156FE}"/>
                </a:ext>
              </a:extLst>
            </p:cNvPr>
            <p:cNvSpPr/>
            <p:nvPr/>
          </p:nvSpPr>
          <p:spPr>
            <a:xfrm>
              <a:off x="4093343" y="2768645"/>
              <a:ext cx="886284" cy="56162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p>
          </p:txBody>
        </p:sp>
        <p:sp>
          <p:nvSpPr>
            <p:cNvPr id="17" name="矩形 16">
              <a:extLst>
                <a:ext uri="{FF2B5EF4-FFF2-40B4-BE49-F238E27FC236}">
                  <a16:creationId xmlns:a16="http://schemas.microsoft.com/office/drawing/2014/main" id="{970FCFB3-FB5B-EDEE-DC15-5AD9B5770BBE}"/>
                </a:ext>
              </a:extLst>
            </p:cNvPr>
            <p:cNvSpPr/>
            <p:nvPr/>
          </p:nvSpPr>
          <p:spPr>
            <a:xfrm>
              <a:off x="3962884" y="3779434"/>
              <a:ext cx="1137821" cy="630606"/>
            </a:xfrm>
            <a:prstGeom prst="rect">
              <a:avLst/>
            </a:prstGeom>
            <a:solidFill>
              <a:srgbClr val="00B05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8" name="矩形 17">
              <a:extLst>
                <a:ext uri="{FF2B5EF4-FFF2-40B4-BE49-F238E27FC236}">
                  <a16:creationId xmlns:a16="http://schemas.microsoft.com/office/drawing/2014/main" id="{8E103148-DF18-EB42-B845-EB33D46D2ED1}"/>
                </a:ext>
              </a:extLst>
            </p:cNvPr>
            <p:cNvSpPr/>
            <p:nvPr/>
          </p:nvSpPr>
          <p:spPr>
            <a:xfrm>
              <a:off x="1585403" y="3774203"/>
              <a:ext cx="1191087" cy="624982"/>
            </a:xfrm>
            <a:prstGeom prst="rect">
              <a:avLst/>
            </a:prstGeom>
            <a:solidFill>
              <a:srgbClr val="00B05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9" name="直接箭头连接符 18">
              <a:extLst>
                <a:ext uri="{FF2B5EF4-FFF2-40B4-BE49-F238E27FC236}">
                  <a16:creationId xmlns:a16="http://schemas.microsoft.com/office/drawing/2014/main" id="{6B9B24E5-076D-0F28-F503-532164B5982D}"/>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4E65C76F-496B-7526-9E00-84E169FBDFFA}"/>
                </a:ext>
              </a:extLst>
            </p:cNvPr>
            <p:cNvCxnSpPr>
              <a:cxnSpLocks/>
              <a:stCxn id="18" idx="0"/>
              <a:endCxn id="25" idx="2"/>
            </p:cNvCxnSpPr>
            <p:nvPr/>
          </p:nvCxnSpPr>
          <p:spPr>
            <a:xfrm rot="5400000" flipH="1" flipV="1">
              <a:off x="2258719" y="2971686"/>
              <a:ext cx="724745" cy="880290"/>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连接符: 肘形 20">
              <a:extLst>
                <a:ext uri="{FF2B5EF4-FFF2-40B4-BE49-F238E27FC236}">
                  <a16:creationId xmlns:a16="http://schemas.microsoft.com/office/drawing/2014/main" id="{05E62724-E620-7B40-665B-B4B009D1B887}"/>
                </a:ext>
              </a:extLst>
            </p:cNvPr>
            <p:cNvCxnSpPr>
              <a:cxnSpLocks/>
              <a:stCxn id="17" idx="3"/>
              <a:endCxn id="15" idx="4"/>
            </p:cNvCxnSpPr>
            <p:nvPr/>
          </p:nvCxnSpPr>
          <p:spPr>
            <a:xfrm flipV="1">
              <a:off x="5100705" y="3283275"/>
              <a:ext cx="673325" cy="811463"/>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65754C55-EEBC-BA0D-82D1-57C8A7FA4C32}"/>
                </a:ext>
              </a:extLst>
            </p:cNvPr>
            <p:cNvSpPr txBox="1"/>
            <p:nvPr/>
          </p:nvSpPr>
          <p:spPr>
            <a:xfrm>
              <a:off x="646590" y="3577987"/>
              <a:ext cx="642152"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A15A2DB3-3351-4BA1-C291-33012E13CD5E}"/>
                </a:ext>
              </a:extLst>
            </p:cNvPr>
            <p:cNvSpPr/>
            <p:nvPr/>
          </p:nvSpPr>
          <p:spPr>
            <a:xfrm>
              <a:off x="2776489" y="3763853"/>
              <a:ext cx="1174815" cy="635332"/>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24" name="连接符: 肘形 23">
              <a:extLst>
                <a:ext uri="{FF2B5EF4-FFF2-40B4-BE49-F238E27FC236}">
                  <a16:creationId xmlns:a16="http://schemas.microsoft.com/office/drawing/2014/main" id="{BABC4D1C-E74E-3B90-44F4-B467B62F27F4}"/>
                </a:ext>
              </a:extLst>
            </p:cNvPr>
            <p:cNvCxnSpPr>
              <a:cxnSpLocks/>
              <a:stCxn id="23" idx="0"/>
              <a:endCxn id="16" idx="4"/>
            </p:cNvCxnSpPr>
            <p:nvPr/>
          </p:nvCxnSpPr>
          <p:spPr>
            <a:xfrm rot="5400000" flipH="1" flipV="1">
              <a:off x="3733400" y="2960769"/>
              <a:ext cx="433582" cy="1172588"/>
            </a:xfrm>
            <a:prstGeom prst="bentConnector3">
              <a:avLst>
                <a:gd name="adj1" fmla="val 50000"/>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grpSp>
      <p:sp>
        <p:nvSpPr>
          <p:cNvPr id="25" name="椭圆 24">
            <a:extLst>
              <a:ext uri="{FF2B5EF4-FFF2-40B4-BE49-F238E27FC236}">
                <a16:creationId xmlns:a16="http://schemas.microsoft.com/office/drawing/2014/main" id="{F345C37B-AE72-9D0F-88AC-9BD216A3E17B}"/>
              </a:ext>
            </a:extLst>
          </p:cNvPr>
          <p:cNvSpPr/>
          <p:nvPr/>
        </p:nvSpPr>
        <p:spPr>
          <a:xfrm>
            <a:off x="4769489" y="4054470"/>
            <a:ext cx="943894" cy="752329"/>
          </a:xfrm>
          <a:prstGeom prst="ellipse">
            <a:avLst/>
          </a:prstGeom>
          <a:solidFill>
            <a:srgbClr val="00B050"/>
          </a:solidFill>
          <a:ln>
            <a:solidFill>
              <a:srgbClr val="00B050"/>
            </a:solidFill>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文本框 25">
            <a:extLst>
              <a:ext uri="{FF2B5EF4-FFF2-40B4-BE49-F238E27FC236}">
                <a16:creationId xmlns:a16="http://schemas.microsoft.com/office/drawing/2014/main" id="{7C77E0E0-C37A-E7A4-1737-2ACC7FBB88B6}"/>
              </a:ext>
            </a:extLst>
          </p:cNvPr>
          <p:cNvSpPr txBox="1"/>
          <p:nvPr/>
        </p:nvSpPr>
        <p:spPr>
          <a:xfrm>
            <a:off x="1506340" y="5570107"/>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17EABD96-8BFD-8489-1C2B-E7FFF0860B50}"/>
              </a:ext>
            </a:extLst>
          </p:cNvPr>
          <p:cNvSpPr txBox="1"/>
          <p:nvPr/>
        </p:nvSpPr>
        <p:spPr>
          <a:xfrm>
            <a:off x="558208" y="1128138"/>
            <a:ext cx="40852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Future order</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可以</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不连续</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生产时</a:t>
            </a:r>
          </a:p>
        </p:txBody>
      </p:sp>
    </p:spTree>
    <p:extLst>
      <p:ext uri="{BB962C8B-B14F-4D97-AF65-F5344CB8AC3E}">
        <p14:creationId xmlns:p14="http://schemas.microsoft.com/office/powerpoint/2010/main" val="22411103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3C2CAA-C744-221D-6537-CBCAAFC9FAA6}"/>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资源跟前序需求置换 </a:t>
            </a:r>
            <a:r>
              <a:rPr lang="en-US" altLang="zh-CN" dirty="0">
                <a:solidFill>
                  <a:schemeClr val="bg1"/>
                </a:solidFill>
                <a:latin typeface="Arial" panose="020B0604020202020204" pitchFamily="34" charset="0"/>
                <a:ea typeface="微软雅黑" panose="020B0503020204020204" pitchFamily="34" charset="-122"/>
              </a:rPr>
              <a:t>(Scenario 2)</a:t>
            </a:r>
            <a:endParaRPr lang="zh-CN" altLang="en-US" dirty="0">
              <a:solidFill>
                <a:schemeClr val="bg1"/>
              </a:solidFill>
              <a:latin typeface="Arial" panose="020B0604020202020204" pitchFamily="34" charset="0"/>
              <a:ea typeface="微软雅黑" panose="020B0503020204020204" pitchFamily="34" charset="-122"/>
            </a:endParaRPr>
          </a:p>
        </p:txBody>
      </p:sp>
      <p:grpSp>
        <p:nvGrpSpPr>
          <p:cNvPr id="3" name="组合 2">
            <a:extLst>
              <a:ext uri="{FF2B5EF4-FFF2-40B4-BE49-F238E27FC236}">
                <a16:creationId xmlns:a16="http://schemas.microsoft.com/office/drawing/2014/main" id="{28FECF96-9D07-0858-AD4D-B6B9E970F151}"/>
              </a:ext>
            </a:extLst>
          </p:cNvPr>
          <p:cNvGrpSpPr/>
          <p:nvPr/>
        </p:nvGrpSpPr>
        <p:grpSpPr>
          <a:xfrm>
            <a:off x="1506704" y="2289081"/>
            <a:ext cx="9435316" cy="3607881"/>
            <a:chOff x="432045" y="1497366"/>
            <a:chExt cx="7602246" cy="2907442"/>
          </a:xfrm>
        </p:grpSpPr>
        <p:cxnSp>
          <p:nvCxnSpPr>
            <p:cNvPr id="4" name="直接箭头连接符 3">
              <a:extLst>
                <a:ext uri="{FF2B5EF4-FFF2-40B4-BE49-F238E27FC236}">
                  <a16:creationId xmlns:a16="http://schemas.microsoft.com/office/drawing/2014/main" id="{93574EFE-A669-5999-94F9-788F57A4604D}"/>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C49E2585-2D9C-D4A6-18E6-C6EBCD94AB40}"/>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826ED534-43B6-EDD0-3F62-7E3A7891DEC3}"/>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9F09EBE9-83EE-789C-430E-19BD4888069B}"/>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C096A44-5BC9-875B-5464-E243BA808003}"/>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93B3FE17-B66E-15F3-29EA-073B2F7EEB98}"/>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19104D8-A436-0193-1099-4930FD76EF86}"/>
                </a:ext>
              </a:extLst>
            </p:cNvPr>
            <p:cNvCxnSpPr>
              <a:cxnSpLocks/>
            </p:cNvCxnSpPr>
            <p:nvPr/>
          </p:nvCxnSpPr>
          <p:spPr>
            <a:xfrm>
              <a:off x="7395098"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0EF809E-8184-EF81-FC7E-84E3EB980AB9}"/>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1896DE48-ADEA-4C80-529A-B2C916E002E2}"/>
                </a:ext>
              </a:extLst>
            </p:cNvPr>
            <p:cNvSpPr txBox="1"/>
            <p:nvPr/>
          </p:nvSpPr>
          <p:spPr>
            <a:xfrm>
              <a:off x="502378" y="2861468"/>
              <a:ext cx="1305018" cy="471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A1451EB0-83B5-A50E-51D5-EDA464CAC8B3}"/>
                </a:ext>
              </a:extLst>
            </p:cNvPr>
            <p:cNvSpPr/>
            <p:nvPr/>
          </p:nvSpPr>
          <p:spPr>
            <a:xfrm>
              <a:off x="4115536" y="1724768"/>
              <a:ext cx="841895" cy="456343"/>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100(Low)</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8630B0F0-11B2-9ED8-C879-D0C7466DD35D}"/>
                </a:ext>
              </a:extLst>
            </p:cNvPr>
            <p:cNvSpPr/>
            <p:nvPr/>
          </p:nvSpPr>
          <p:spPr>
            <a:xfrm>
              <a:off x="5294790" y="1713079"/>
              <a:ext cx="841895" cy="456343"/>
            </a:xfrm>
            <a:prstGeom prst="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200(High)</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椭圆 14">
              <a:extLst>
                <a:ext uri="{FF2B5EF4-FFF2-40B4-BE49-F238E27FC236}">
                  <a16:creationId xmlns:a16="http://schemas.microsoft.com/office/drawing/2014/main" id="{95ECE92C-26D5-15D2-45EE-731D60CFA43E}"/>
                </a:ext>
              </a:extLst>
            </p:cNvPr>
            <p:cNvSpPr/>
            <p:nvPr/>
          </p:nvSpPr>
          <p:spPr>
            <a:xfrm>
              <a:off x="4242708" y="2784884"/>
              <a:ext cx="760517" cy="606271"/>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r>
                <a:rPr kumimoji="0" lang="zh-CN" altLang="en-US" sz="1200" b="1"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200" b="1"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椭圆 15">
              <a:extLst>
                <a:ext uri="{FF2B5EF4-FFF2-40B4-BE49-F238E27FC236}">
                  <a16:creationId xmlns:a16="http://schemas.microsoft.com/office/drawing/2014/main" id="{5EB3DB59-0F1C-28BF-BF4D-6365FF3B3BB1}"/>
                </a:ext>
              </a:extLst>
            </p:cNvPr>
            <p:cNvSpPr/>
            <p:nvPr/>
          </p:nvSpPr>
          <p:spPr>
            <a:xfrm>
              <a:off x="5148309" y="2725939"/>
              <a:ext cx="886284" cy="56162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p>
          </p:txBody>
        </p:sp>
        <p:sp>
          <p:nvSpPr>
            <p:cNvPr id="17" name="矩形 16">
              <a:extLst>
                <a:ext uri="{FF2B5EF4-FFF2-40B4-BE49-F238E27FC236}">
                  <a16:creationId xmlns:a16="http://schemas.microsoft.com/office/drawing/2014/main" id="{07608216-06E2-B7EF-245F-F925CB290DB1}"/>
                </a:ext>
              </a:extLst>
            </p:cNvPr>
            <p:cNvSpPr/>
            <p:nvPr/>
          </p:nvSpPr>
          <p:spPr>
            <a:xfrm>
              <a:off x="2785538" y="3774202"/>
              <a:ext cx="1137821" cy="630606"/>
            </a:xfrm>
            <a:prstGeom prst="rect">
              <a:avLst/>
            </a:prstGeom>
            <a:solidFill>
              <a:srgbClr val="00B05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8" name="矩形 17">
              <a:extLst>
                <a:ext uri="{FF2B5EF4-FFF2-40B4-BE49-F238E27FC236}">
                  <a16:creationId xmlns:a16="http://schemas.microsoft.com/office/drawing/2014/main" id="{182C0467-92E1-3A14-E575-A1E37A551926}"/>
                </a:ext>
              </a:extLst>
            </p:cNvPr>
            <p:cNvSpPr/>
            <p:nvPr/>
          </p:nvSpPr>
          <p:spPr>
            <a:xfrm>
              <a:off x="1585403" y="3774203"/>
              <a:ext cx="1191087" cy="624982"/>
            </a:xfrm>
            <a:prstGeom prst="rect">
              <a:avLst/>
            </a:prstGeom>
            <a:solidFill>
              <a:srgbClr val="00B050">
                <a:alpha val="90000"/>
              </a:srgb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9" name="直接箭头连接符 18">
              <a:extLst>
                <a:ext uri="{FF2B5EF4-FFF2-40B4-BE49-F238E27FC236}">
                  <a16:creationId xmlns:a16="http://schemas.microsoft.com/office/drawing/2014/main" id="{764E78AB-49B6-DB81-847C-EFCA6AFEA08F}"/>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7E4092B9-136D-D271-B2B8-AB5E6BB8B5A5}"/>
                </a:ext>
              </a:extLst>
            </p:cNvPr>
            <p:cNvCxnSpPr>
              <a:cxnSpLocks/>
              <a:stCxn id="18" idx="0"/>
              <a:endCxn id="25" idx="2"/>
            </p:cNvCxnSpPr>
            <p:nvPr/>
          </p:nvCxnSpPr>
          <p:spPr>
            <a:xfrm rot="5400000" flipH="1" flipV="1">
              <a:off x="2258719" y="2971685"/>
              <a:ext cx="724745" cy="880290"/>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连接符: 肘形 20">
              <a:extLst>
                <a:ext uri="{FF2B5EF4-FFF2-40B4-BE49-F238E27FC236}">
                  <a16:creationId xmlns:a16="http://schemas.microsoft.com/office/drawing/2014/main" id="{6809B207-C11F-A67B-8AC8-1816B9EB4E2B}"/>
                </a:ext>
              </a:extLst>
            </p:cNvPr>
            <p:cNvCxnSpPr>
              <a:cxnSpLocks/>
              <a:stCxn id="17" idx="0"/>
              <a:endCxn id="15" idx="2"/>
            </p:cNvCxnSpPr>
            <p:nvPr/>
          </p:nvCxnSpPr>
          <p:spPr>
            <a:xfrm rot="5400000" flipH="1" flipV="1">
              <a:off x="3455487" y="2986982"/>
              <a:ext cx="686182" cy="888258"/>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6FC9D8C0-2A46-0118-4270-19DC89E02844}"/>
                </a:ext>
              </a:extLst>
            </p:cNvPr>
            <p:cNvSpPr txBox="1"/>
            <p:nvPr/>
          </p:nvSpPr>
          <p:spPr>
            <a:xfrm>
              <a:off x="646590" y="3577987"/>
              <a:ext cx="642152"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2924CFC6-D6A8-C781-E0F2-A957B81CC1E5}"/>
                </a:ext>
              </a:extLst>
            </p:cNvPr>
            <p:cNvSpPr/>
            <p:nvPr/>
          </p:nvSpPr>
          <p:spPr>
            <a:xfrm>
              <a:off x="3936295" y="3765384"/>
              <a:ext cx="1174815" cy="635332"/>
            </a:xfrm>
            <a:prstGeom prst="rect">
              <a:avLst/>
            </a:prstGeom>
            <a:ln/>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24" name="连接符: 肘形 23">
              <a:extLst>
                <a:ext uri="{FF2B5EF4-FFF2-40B4-BE49-F238E27FC236}">
                  <a16:creationId xmlns:a16="http://schemas.microsoft.com/office/drawing/2014/main" id="{5E845187-914A-FCD8-4D19-DA1595146CDD}"/>
                </a:ext>
              </a:extLst>
            </p:cNvPr>
            <p:cNvCxnSpPr>
              <a:cxnSpLocks/>
              <a:stCxn id="23" idx="0"/>
              <a:endCxn id="16" idx="4"/>
            </p:cNvCxnSpPr>
            <p:nvPr/>
          </p:nvCxnSpPr>
          <p:spPr>
            <a:xfrm rot="5400000" flipH="1" flipV="1">
              <a:off x="4818669" y="2992601"/>
              <a:ext cx="477819" cy="1067748"/>
            </a:xfrm>
            <a:prstGeom prst="bentConnector3">
              <a:avLst>
                <a:gd name="adj1" fmla="val 50000"/>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grpSp>
      <p:sp>
        <p:nvSpPr>
          <p:cNvPr id="25" name="椭圆 24">
            <a:extLst>
              <a:ext uri="{FF2B5EF4-FFF2-40B4-BE49-F238E27FC236}">
                <a16:creationId xmlns:a16="http://schemas.microsoft.com/office/drawing/2014/main" id="{20FC8D03-B3CD-9551-ED9C-529A517D8A3B}"/>
              </a:ext>
            </a:extLst>
          </p:cNvPr>
          <p:cNvSpPr/>
          <p:nvPr/>
        </p:nvSpPr>
        <p:spPr>
          <a:xfrm>
            <a:off x="4747366" y="3943857"/>
            <a:ext cx="943894" cy="752329"/>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文本框 25">
            <a:extLst>
              <a:ext uri="{FF2B5EF4-FFF2-40B4-BE49-F238E27FC236}">
                <a16:creationId xmlns:a16="http://schemas.microsoft.com/office/drawing/2014/main" id="{B7E55E02-8209-919B-8938-A675BA644A8F}"/>
              </a:ext>
            </a:extLst>
          </p:cNvPr>
          <p:cNvSpPr txBox="1"/>
          <p:nvPr/>
        </p:nvSpPr>
        <p:spPr>
          <a:xfrm>
            <a:off x="1520555" y="5373982"/>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DEFEA55E-C9A0-84E6-0DEC-C01692CE9250}"/>
              </a:ext>
            </a:extLst>
          </p:cNvPr>
          <p:cNvSpPr txBox="1"/>
          <p:nvPr/>
        </p:nvSpPr>
        <p:spPr>
          <a:xfrm>
            <a:off x="622064" y="1288446"/>
            <a:ext cx="40852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Future order</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连续生产</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时</a:t>
            </a:r>
          </a:p>
        </p:txBody>
      </p:sp>
    </p:spTree>
    <p:extLst>
      <p:ext uri="{BB962C8B-B14F-4D97-AF65-F5344CB8AC3E}">
        <p14:creationId xmlns:p14="http://schemas.microsoft.com/office/powerpoint/2010/main" val="2722707724"/>
      </p:ext>
    </p:extLst>
  </p:cSld>
  <p:clrMapOvr>
    <a:overrideClrMapping bg1="dk1" tx1="lt1" bg2="dk2" tx2="lt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4D810-3770-146A-14E4-58A7257FE0A8}"/>
              </a:ext>
            </a:extLst>
          </p:cNvPr>
          <p:cNvSpPr>
            <a:spLocks noGrp="1"/>
          </p:cNvSpPr>
          <p:nvPr>
            <p:ph type="title"/>
          </p:nvPr>
        </p:nvSpPr>
        <p:spPr/>
        <p:txBody>
          <a:bodyPr/>
          <a:lstStyle/>
          <a:p>
            <a:r>
              <a:rPr lang="en-US" altLang="zh-CN" dirty="0">
                <a:solidFill>
                  <a:schemeClr val="bg1"/>
                </a:solidFill>
                <a:latin typeface="Arial" panose="020B0604020202020204" pitchFamily="34" charset="0"/>
                <a:ea typeface="微软雅黑" panose="020B0503020204020204" pitchFamily="34" charset="-122"/>
              </a:rPr>
              <a:t>Changeover</a:t>
            </a:r>
            <a:r>
              <a:rPr lang="zh-CN" altLang="en-US" dirty="0">
                <a:solidFill>
                  <a:schemeClr val="bg1"/>
                </a:solidFill>
                <a:latin typeface="Arial" panose="020B0604020202020204" pitchFamily="34" charset="0"/>
                <a:ea typeface="微软雅黑" panose="020B0503020204020204" pitchFamily="34" charset="-122"/>
              </a:rPr>
              <a:t>出现</a:t>
            </a:r>
          </a:p>
        </p:txBody>
      </p:sp>
      <p:grpSp>
        <p:nvGrpSpPr>
          <p:cNvPr id="3" name="组合 2">
            <a:extLst>
              <a:ext uri="{FF2B5EF4-FFF2-40B4-BE49-F238E27FC236}">
                <a16:creationId xmlns:a16="http://schemas.microsoft.com/office/drawing/2014/main" id="{482DD55D-B0A7-24A3-FA6D-17D6A577A9E4}"/>
              </a:ext>
            </a:extLst>
          </p:cNvPr>
          <p:cNvGrpSpPr/>
          <p:nvPr/>
        </p:nvGrpSpPr>
        <p:grpSpPr>
          <a:xfrm>
            <a:off x="1484218" y="2394012"/>
            <a:ext cx="9435316" cy="3633926"/>
            <a:chOff x="432045" y="1497366"/>
            <a:chExt cx="7602246" cy="2928431"/>
          </a:xfrm>
        </p:grpSpPr>
        <p:cxnSp>
          <p:nvCxnSpPr>
            <p:cNvPr id="4" name="直接箭头连接符 3">
              <a:extLst>
                <a:ext uri="{FF2B5EF4-FFF2-40B4-BE49-F238E27FC236}">
                  <a16:creationId xmlns:a16="http://schemas.microsoft.com/office/drawing/2014/main" id="{1AA05787-4CB9-0F32-70E0-A65CA02551E2}"/>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7585BBF1-1585-8095-DD9F-2232CDDBB7B3}"/>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EBCCF20D-E013-FA12-6499-78610D034609}"/>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D9E13FE2-96AA-353A-BCEF-B5AEC6184EAB}"/>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0F4B2EF-5DD3-858B-9E23-03B0E84C634B}"/>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A79AE561-F413-EBD8-77EC-4EBE5D2D4696}"/>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472DCD5-E27E-FFC3-32AA-711A1E35D785}"/>
                </a:ext>
              </a:extLst>
            </p:cNvPr>
            <p:cNvCxnSpPr>
              <a:cxnSpLocks/>
            </p:cNvCxnSpPr>
            <p:nvPr/>
          </p:nvCxnSpPr>
          <p:spPr>
            <a:xfrm>
              <a:off x="7395098"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25AD13E1-254C-A571-7427-4997A162D9AB}"/>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DC45AABB-F7D4-958C-5BDB-226E655A6604}"/>
                </a:ext>
              </a:extLst>
            </p:cNvPr>
            <p:cNvSpPr txBox="1"/>
            <p:nvPr/>
          </p:nvSpPr>
          <p:spPr>
            <a:xfrm>
              <a:off x="545234" y="2721590"/>
              <a:ext cx="1305018" cy="471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6EE691BE-636B-44E0-2A32-5592D94477C5}"/>
                </a:ext>
              </a:extLst>
            </p:cNvPr>
            <p:cNvSpPr/>
            <p:nvPr/>
          </p:nvSpPr>
          <p:spPr>
            <a:xfrm>
              <a:off x="5254105" y="1622411"/>
              <a:ext cx="841895" cy="456343"/>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B8CA6859-BDD0-5E24-D695-7A78D7390EC3}"/>
                </a:ext>
              </a:extLst>
            </p:cNvPr>
            <p:cNvSpPr/>
            <p:nvPr/>
          </p:nvSpPr>
          <p:spPr>
            <a:xfrm>
              <a:off x="6418558" y="1622411"/>
              <a:ext cx="841895" cy="456343"/>
            </a:xfrm>
            <a:prstGeom prst="rect">
              <a:avLst/>
            </a:prstGeom>
            <a:solidFill>
              <a:schemeClr val="bg2">
                <a:lumMod val="50000"/>
              </a:schemeClr>
            </a:solidFill>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150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椭圆 14">
              <a:extLst>
                <a:ext uri="{FF2B5EF4-FFF2-40B4-BE49-F238E27FC236}">
                  <a16:creationId xmlns:a16="http://schemas.microsoft.com/office/drawing/2014/main" id="{69BC983B-D1E4-3DFD-64F2-B7C1F5104D7A}"/>
                </a:ext>
              </a:extLst>
            </p:cNvPr>
            <p:cNvSpPr/>
            <p:nvPr/>
          </p:nvSpPr>
          <p:spPr>
            <a:xfrm>
              <a:off x="5335480" y="2822728"/>
              <a:ext cx="760517" cy="606271"/>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椭圆 15">
              <a:extLst>
                <a:ext uri="{FF2B5EF4-FFF2-40B4-BE49-F238E27FC236}">
                  <a16:creationId xmlns:a16="http://schemas.microsoft.com/office/drawing/2014/main" id="{4E31FE24-70BB-7BF3-A89C-97DED1D12982}"/>
                </a:ext>
              </a:extLst>
            </p:cNvPr>
            <p:cNvSpPr/>
            <p:nvPr/>
          </p:nvSpPr>
          <p:spPr>
            <a:xfrm>
              <a:off x="6365290" y="2822729"/>
              <a:ext cx="886284" cy="561626"/>
            </a:xfrm>
            <a:prstGeom prst="ellipse">
              <a:avLst/>
            </a:prstGeom>
            <a:solidFill>
              <a:schemeClr val="bg2">
                <a:lumMod val="50000"/>
              </a:schemeClr>
            </a:solidFill>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150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40F66D92-3BC2-9F1D-C73E-00F1AE5468D7}"/>
                </a:ext>
              </a:extLst>
            </p:cNvPr>
            <p:cNvSpPr/>
            <p:nvPr/>
          </p:nvSpPr>
          <p:spPr>
            <a:xfrm>
              <a:off x="3942426" y="3778922"/>
              <a:ext cx="1137821" cy="630606"/>
            </a:xfrm>
            <a:prstGeom prst="rect">
              <a:avLst/>
            </a:prstGeom>
            <a:solidFill>
              <a:srgbClr val="00B05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8" name="矩形 17">
              <a:extLst>
                <a:ext uri="{FF2B5EF4-FFF2-40B4-BE49-F238E27FC236}">
                  <a16:creationId xmlns:a16="http://schemas.microsoft.com/office/drawing/2014/main" id="{2437B862-7AA4-9737-8DE4-67D16950E8D2}"/>
                </a:ext>
              </a:extLst>
            </p:cNvPr>
            <p:cNvSpPr/>
            <p:nvPr/>
          </p:nvSpPr>
          <p:spPr>
            <a:xfrm>
              <a:off x="2746159" y="3780999"/>
              <a:ext cx="1191087" cy="624982"/>
            </a:xfrm>
            <a:prstGeom prst="rect">
              <a:avLst/>
            </a:prstGeom>
            <a:solidFill>
              <a:srgbClr val="00B05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9" name="直接箭头连接符 18">
              <a:extLst>
                <a:ext uri="{FF2B5EF4-FFF2-40B4-BE49-F238E27FC236}">
                  <a16:creationId xmlns:a16="http://schemas.microsoft.com/office/drawing/2014/main" id="{2F4403DA-7987-7A62-F1EF-FE7EA14BB67C}"/>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2C56DE56-82B5-4D6D-807F-36343D6F73AD}"/>
                </a:ext>
              </a:extLst>
            </p:cNvPr>
            <p:cNvCxnSpPr>
              <a:cxnSpLocks/>
              <a:stCxn id="18" idx="0"/>
              <a:endCxn id="15" idx="2"/>
            </p:cNvCxnSpPr>
            <p:nvPr/>
          </p:nvCxnSpPr>
          <p:spPr>
            <a:xfrm rot="5400000" flipH="1" flipV="1">
              <a:off x="4011024" y="2456544"/>
              <a:ext cx="655135" cy="1993777"/>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连接符: 肘形 20">
              <a:extLst>
                <a:ext uri="{FF2B5EF4-FFF2-40B4-BE49-F238E27FC236}">
                  <a16:creationId xmlns:a16="http://schemas.microsoft.com/office/drawing/2014/main" id="{C89A5F67-044C-8909-E099-8AD3AE83CF39}"/>
                </a:ext>
              </a:extLst>
            </p:cNvPr>
            <p:cNvCxnSpPr>
              <a:cxnSpLocks/>
              <a:stCxn id="17" idx="0"/>
              <a:endCxn id="15" idx="2"/>
            </p:cNvCxnSpPr>
            <p:nvPr/>
          </p:nvCxnSpPr>
          <p:spPr>
            <a:xfrm rot="5400000" flipH="1" flipV="1">
              <a:off x="4596880" y="3040322"/>
              <a:ext cx="653059" cy="824143"/>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CD6635DC-AB44-5232-B227-01E444B35D5C}"/>
                </a:ext>
              </a:extLst>
            </p:cNvPr>
            <p:cNvSpPr txBox="1"/>
            <p:nvPr/>
          </p:nvSpPr>
          <p:spPr>
            <a:xfrm>
              <a:off x="646590" y="3577987"/>
              <a:ext cx="642152"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78BBB098-5C7B-7EC8-D406-658221FDF9C9}"/>
                </a:ext>
              </a:extLst>
            </p:cNvPr>
            <p:cNvSpPr/>
            <p:nvPr/>
          </p:nvSpPr>
          <p:spPr>
            <a:xfrm>
              <a:off x="1581704" y="3790465"/>
              <a:ext cx="1191087" cy="6155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4" name="矩形 23">
              <a:extLst>
                <a:ext uri="{FF2B5EF4-FFF2-40B4-BE49-F238E27FC236}">
                  <a16:creationId xmlns:a16="http://schemas.microsoft.com/office/drawing/2014/main" id="{206558AC-6A3D-ECF2-C1CB-E0A422A6D81F}"/>
                </a:ext>
              </a:extLst>
            </p:cNvPr>
            <p:cNvSpPr/>
            <p:nvPr/>
          </p:nvSpPr>
          <p:spPr>
            <a:xfrm>
              <a:off x="1581704" y="4093490"/>
              <a:ext cx="1191087" cy="321956"/>
            </a:xfrm>
            <a:prstGeom prst="rect">
              <a:avLst/>
            </a:prstGeom>
            <a:solidFill>
              <a:schemeClr val="bg2">
                <a:lumMod val="50000"/>
                <a:alpha val="98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25" name="矩形 24">
              <a:extLst>
                <a:ext uri="{FF2B5EF4-FFF2-40B4-BE49-F238E27FC236}">
                  <a16:creationId xmlns:a16="http://schemas.microsoft.com/office/drawing/2014/main" id="{AA767003-06A3-071D-33D2-8B64AED013A0}"/>
                </a:ext>
              </a:extLst>
            </p:cNvPr>
            <p:cNvSpPr/>
            <p:nvPr/>
          </p:nvSpPr>
          <p:spPr>
            <a:xfrm>
              <a:off x="5075067" y="3790465"/>
              <a:ext cx="1174815" cy="635332"/>
            </a:xfrm>
            <a:prstGeom prst="rect">
              <a:avLst/>
            </a:prstGeom>
            <a:solidFill>
              <a:schemeClr val="bg2">
                <a:lumMod val="50000"/>
                <a:alpha val="97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26" name="连接符: 肘形 25">
              <a:extLst>
                <a:ext uri="{FF2B5EF4-FFF2-40B4-BE49-F238E27FC236}">
                  <a16:creationId xmlns:a16="http://schemas.microsoft.com/office/drawing/2014/main" id="{0618A7C6-9535-584E-48BC-CBFC9571D11F}"/>
                </a:ext>
              </a:extLst>
            </p:cNvPr>
            <p:cNvCxnSpPr>
              <a:cxnSpLocks/>
              <a:stCxn id="25" idx="0"/>
              <a:endCxn id="16" idx="4"/>
            </p:cNvCxnSpPr>
            <p:nvPr/>
          </p:nvCxnSpPr>
          <p:spPr>
            <a:xfrm rot="5400000" flipH="1" flipV="1">
              <a:off x="6032398" y="3014432"/>
              <a:ext cx="406110" cy="1145957"/>
            </a:xfrm>
            <a:prstGeom prst="bentConnector3">
              <a:avLst>
                <a:gd name="adj1" fmla="val 50000"/>
              </a:avLst>
            </a:prstGeom>
            <a:ln w="25400" cap="flat" cmpd="sng" algn="ctr">
              <a:solidFill>
                <a:schemeClr val="tx2">
                  <a:lumMod val="2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连接符: 肘形 26">
              <a:extLst>
                <a:ext uri="{FF2B5EF4-FFF2-40B4-BE49-F238E27FC236}">
                  <a16:creationId xmlns:a16="http://schemas.microsoft.com/office/drawing/2014/main" id="{CB84CBEF-7377-5C56-1AF7-6CFCDC2E0DBD}"/>
                </a:ext>
              </a:extLst>
            </p:cNvPr>
            <p:cNvCxnSpPr>
              <a:cxnSpLocks/>
              <a:stCxn id="23" idx="0"/>
              <a:endCxn id="16" idx="4"/>
            </p:cNvCxnSpPr>
            <p:nvPr/>
          </p:nvCxnSpPr>
          <p:spPr>
            <a:xfrm rot="5400000" flipH="1" flipV="1">
              <a:off x="4289785" y="1271818"/>
              <a:ext cx="406110" cy="4631186"/>
            </a:xfrm>
            <a:prstGeom prst="bentConnector3">
              <a:avLst>
                <a:gd name="adj1" fmla="val 50000"/>
              </a:avLst>
            </a:prstGeom>
            <a:ln w="25400" cap="flat" cmpd="sng" algn="ctr">
              <a:solidFill>
                <a:schemeClr val="tx2">
                  <a:lumMod val="2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8" name="文本框 27">
            <a:extLst>
              <a:ext uri="{FF2B5EF4-FFF2-40B4-BE49-F238E27FC236}">
                <a16:creationId xmlns:a16="http://schemas.microsoft.com/office/drawing/2014/main" id="{F518FE28-5032-A523-7B0C-1D2DFA774718}"/>
              </a:ext>
            </a:extLst>
          </p:cNvPr>
          <p:cNvSpPr txBox="1"/>
          <p:nvPr/>
        </p:nvSpPr>
        <p:spPr>
          <a:xfrm>
            <a:off x="1500706" y="5539248"/>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992528236"/>
      </p:ext>
    </p:extLst>
  </p:cSld>
  <p:clrMapOvr>
    <a:overrideClrMapping bg1="dk1" tx1="lt1" bg2="dk2" tx2="lt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38B65-D2D3-1B19-16BC-5529C093848E}"/>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继续优化</a:t>
            </a:r>
            <a:r>
              <a:rPr lang="en-US" altLang="zh-CN" dirty="0">
                <a:solidFill>
                  <a:schemeClr val="bg1"/>
                </a:solidFill>
                <a:latin typeface="Arial" panose="020B0604020202020204" pitchFamily="34" charset="0"/>
                <a:ea typeface="微软雅黑" panose="020B0503020204020204" pitchFamily="34" charset="-122"/>
              </a:rPr>
              <a:t>Changeover</a:t>
            </a:r>
            <a:endParaRPr lang="zh-CN" altLang="en-US" dirty="0">
              <a:solidFill>
                <a:schemeClr val="bg1"/>
              </a:solidFill>
              <a:latin typeface="Arial" panose="020B0604020202020204" pitchFamily="34" charset="0"/>
              <a:ea typeface="微软雅黑" panose="020B0503020204020204" pitchFamily="34" charset="-122"/>
            </a:endParaRPr>
          </a:p>
        </p:txBody>
      </p:sp>
      <p:grpSp>
        <p:nvGrpSpPr>
          <p:cNvPr id="3" name="组合 2">
            <a:extLst>
              <a:ext uri="{FF2B5EF4-FFF2-40B4-BE49-F238E27FC236}">
                <a16:creationId xmlns:a16="http://schemas.microsoft.com/office/drawing/2014/main" id="{BBE73A5C-7F31-AEBE-312C-07B97EEA59B5}"/>
              </a:ext>
            </a:extLst>
          </p:cNvPr>
          <p:cNvGrpSpPr/>
          <p:nvPr/>
        </p:nvGrpSpPr>
        <p:grpSpPr>
          <a:xfrm>
            <a:off x="1249995" y="2185823"/>
            <a:ext cx="9323308" cy="3933792"/>
            <a:chOff x="1871336" y="4066052"/>
            <a:chExt cx="8113798" cy="2741993"/>
          </a:xfrm>
        </p:grpSpPr>
        <p:cxnSp>
          <p:nvCxnSpPr>
            <p:cNvPr id="4" name="直接箭头连接符 3">
              <a:extLst>
                <a:ext uri="{FF2B5EF4-FFF2-40B4-BE49-F238E27FC236}">
                  <a16:creationId xmlns:a16="http://schemas.microsoft.com/office/drawing/2014/main" id="{35197928-9455-70A4-DA2D-6F7B47A52723}"/>
                </a:ext>
              </a:extLst>
            </p:cNvPr>
            <p:cNvCxnSpPr>
              <a:cxnSpLocks/>
            </p:cNvCxnSpPr>
            <p:nvPr/>
          </p:nvCxnSpPr>
          <p:spPr>
            <a:xfrm>
              <a:off x="3080629" y="5128197"/>
              <a:ext cx="690450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F2432312-6D32-DFB6-B725-84B4D770A6B8}"/>
                </a:ext>
              </a:extLst>
            </p:cNvPr>
            <p:cNvCxnSpPr>
              <a:cxnSpLocks/>
            </p:cNvCxnSpPr>
            <p:nvPr/>
          </p:nvCxnSpPr>
          <p:spPr>
            <a:xfrm>
              <a:off x="3110579"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9A07399-E47C-218E-1FF8-D0A229D97DBF}"/>
                </a:ext>
              </a:extLst>
            </p:cNvPr>
            <p:cNvCxnSpPr>
              <a:cxnSpLocks/>
            </p:cNvCxnSpPr>
            <p:nvPr/>
          </p:nvCxnSpPr>
          <p:spPr>
            <a:xfrm>
              <a:off x="4351184"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6E5DEB94-AE75-F983-A0F9-F5D684DC6B86}"/>
                </a:ext>
              </a:extLst>
            </p:cNvPr>
            <p:cNvCxnSpPr>
              <a:cxnSpLocks/>
            </p:cNvCxnSpPr>
            <p:nvPr/>
          </p:nvCxnSpPr>
          <p:spPr>
            <a:xfrm>
              <a:off x="5620162"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2AFD4524-EA0D-5F80-2759-C97E716DDB97}"/>
                </a:ext>
              </a:extLst>
            </p:cNvPr>
            <p:cNvCxnSpPr>
              <a:cxnSpLocks/>
            </p:cNvCxnSpPr>
            <p:nvPr/>
          </p:nvCxnSpPr>
          <p:spPr>
            <a:xfrm>
              <a:off x="6832391"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514EF5A-E894-2F93-A387-5D77875A3DFB}"/>
                </a:ext>
              </a:extLst>
            </p:cNvPr>
            <p:cNvCxnSpPr>
              <a:cxnSpLocks/>
            </p:cNvCxnSpPr>
            <p:nvPr/>
          </p:nvCxnSpPr>
          <p:spPr>
            <a:xfrm>
              <a:off x="8063537"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57BFD6BA-40D6-9AC1-E6AE-26C52C78E261}"/>
                </a:ext>
              </a:extLst>
            </p:cNvPr>
            <p:cNvCxnSpPr>
              <a:cxnSpLocks/>
            </p:cNvCxnSpPr>
            <p:nvPr/>
          </p:nvCxnSpPr>
          <p:spPr>
            <a:xfrm>
              <a:off x="9304141" y="4066052"/>
              <a:ext cx="0" cy="213317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C9780A29-92C5-A160-7D3F-A84FE29C778B}"/>
                </a:ext>
              </a:extLst>
            </p:cNvPr>
            <p:cNvSpPr txBox="1"/>
            <p:nvPr/>
          </p:nvSpPr>
          <p:spPr>
            <a:xfrm>
              <a:off x="1885738" y="4143755"/>
              <a:ext cx="1390360" cy="2359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82F6A65A-1DEC-7D70-A277-B751A29AF6A2}"/>
                </a:ext>
              </a:extLst>
            </p:cNvPr>
            <p:cNvSpPr txBox="1"/>
            <p:nvPr/>
          </p:nvSpPr>
          <p:spPr>
            <a:xfrm>
              <a:off x="1871336" y="5079463"/>
              <a:ext cx="1390360" cy="407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F06749D7-AA25-BB99-B893-B1B6B0348B83}"/>
                </a:ext>
              </a:extLst>
            </p:cNvPr>
            <p:cNvSpPr/>
            <p:nvPr/>
          </p:nvSpPr>
          <p:spPr>
            <a:xfrm>
              <a:off x="7023137" y="4183314"/>
              <a:ext cx="896951" cy="427939"/>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4AFCC569-F207-7AF4-FB63-7F1824B0482A}"/>
                </a:ext>
              </a:extLst>
            </p:cNvPr>
            <p:cNvSpPr/>
            <p:nvPr/>
          </p:nvSpPr>
          <p:spPr>
            <a:xfrm>
              <a:off x="8263740" y="4183314"/>
              <a:ext cx="896951" cy="427939"/>
            </a:xfrm>
            <a:prstGeom prst="rect">
              <a:avLst/>
            </a:prstGeom>
            <a:solidFill>
              <a:schemeClr val="bg2">
                <a:lumMod val="50000"/>
              </a:schemeClr>
            </a:solidFill>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150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椭圆 14">
              <a:extLst>
                <a:ext uri="{FF2B5EF4-FFF2-40B4-BE49-F238E27FC236}">
                  <a16:creationId xmlns:a16="http://schemas.microsoft.com/office/drawing/2014/main" id="{C493E086-87CE-34B6-8C7A-E0C31642426F}"/>
                </a:ext>
              </a:extLst>
            </p:cNvPr>
            <p:cNvSpPr/>
            <p:nvPr/>
          </p:nvSpPr>
          <p:spPr>
            <a:xfrm>
              <a:off x="7109834" y="5308921"/>
              <a:ext cx="810251" cy="568536"/>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椭圆 15">
              <a:extLst>
                <a:ext uri="{FF2B5EF4-FFF2-40B4-BE49-F238E27FC236}">
                  <a16:creationId xmlns:a16="http://schemas.microsoft.com/office/drawing/2014/main" id="{81FDAB2F-2457-2C05-F602-AE94A0D7A67B}"/>
                </a:ext>
              </a:extLst>
            </p:cNvPr>
            <p:cNvSpPr/>
            <p:nvPr/>
          </p:nvSpPr>
          <p:spPr>
            <a:xfrm>
              <a:off x="8206988" y="5308922"/>
              <a:ext cx="944243" cy="526669"/>
            </a:xfrm>
            <a:prstGeom prst="ellipse">
              <a:avLst/>
            </a:prstGeom>
            <a:solidFill>
              <a:schemeClr val="accent2">
                <a:lumMod val="75000"/>
              </a:schemeClr>
            </a:solidFill>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150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9D1A0560-8AC8-4621-6309-B5F5E900D139}"/>
                </a:ext>
              </a:extLst>
            </p:cNvPr>
            <p:cNvSpPr/>
            <p:nvPr/>
          </p:nvSpPr>
          <p:spPr>
            <a:xfrm>
              <a:off x="4369105" y="6203320"/>
              <a:ext cx="1212229" cy="591356"/>
            </a:xfrm>
            <a:prstGeom prst="rect">
              <a:avLst/>
            </a:prstGeom>
            <a:solidFill>
              <a:srgbClr val="00B050"/>
            </a:solidFill>
            <a:ln w="12700">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8" name="矩形 17">
              <a:extLst>
                <a:ext uri="{FF2B5EF4-FFF2-40B4-BE49-F238E27FC236}">
                  <a16:creationId xmlns:a16="http://schemas.microsoft.com/office/drawing/2014/main" id="{E2EC9B1C-D82B-583E-74B1-FFFD46F3406C}"/>
                </a:ext>
              </a:extLst>
            </p:cNvPr>
            <p:cNvSpPr/>
            <p:nvPr/>
          </p:nvSpPr>
          <p:spPr>
            <a:xfrm>
              <a:off x="3090446" y="6209175"/>
              <a:ext cx="1268978" cy="586082"/>
            </a:xfrm>
            <a:prstGeom prst="rect">
              <a:avLst/>
            </a:prstGeom>
            <a:solidFill>
              <a:srgbClr val="00B050"/>
            </a:solidFill>
            <a:ln w="12700">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9" name="直接箭头连接符 18">
              <a:extLst>
                <a:ext uri="{FF2B5EF4-FFF2-40B4-BE49-F238E27FC236}">
                  <a16:creationId xmlns:a16="http://schemas.microsoft.com/office/drawing/2014/main" id="{3FB4F73B-C283-3471-94C8-C25D3F8B7824}"/>
                </a:ext>
              </a:extLst>
            </p:cNvPr>
            <p:cNvCxnSpPr>
              <a:cxnSpLocks/>
            </p:cNvCxnSpPr>
            <p:nvPr/>
          </p:nvCxnSpPr>
          <p:spPr>
            <a:xfrm>
              <a:off x="2825257" y="6190343"/>
              <a:ext cx="7159877" cy="17203"/>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F9192B93-45E8-E40A-71BA-1D2764B09E32}"/>
                </a:ext>
              </a:extLst>
            </p:cNvPr>
            <p:cNvCxnSpPr>
              <a:cxnSpLocks/>
              <a:stCxn id="18" idx="0"/>
              <a:endCxn id="15" idx="2"/>
            </p:cNvCxnSpPr>
            <p:nvPr/>
          </p:nvCxnSpPr>
          <p:spPr>
            <a:xfrm rot="5400000" flipH="1" flipV="1">
              <a:off x="5109391" y="4208733"/>
              <a:ext cx="615986" cy="3384899"/>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连接符: 肘形 20">
              <a:extLst>
                <a:ext uri="{FF2B5EF4-FFF2-40B4-BE49-F238E27FC236}">
                  <a16:creationId xmlns:a16="http://schemas.microsoft.com/office/drawing/2014/main" id="{C900A35E-A918-6C11-D6BB-F29F59849E71}"/>
                </a:ext>
              </a:extLst>
            </p:cNvPr>
            <p:cNvCxnSpPr>
              <a:cxnSpLocks/>
              <a:stCxn id="17" idx="0"/>
              <a:endCxn id="15" idx="2"/>
            </p:cNvCxnSpPr>
            <p:nvPr/>
          </p:nvCxnSpPr>
          <p:spPr>
            <a:xfrm rot="5400000" flipH="1" flipV="1">
              <a:off x="5737462" y="4830948"/>
              <a:ext cx="610131" cy="2134614"/>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文本框 21">
              <a:extLst>
                <a:ext uri="{FF2B5EF4-FFF2-40B4-BE49-F238E27FC236}">
                  <a16:creationId xmlns:a16="http://schemas.microsoft.com/office/drawing/2014/main" id="{A77D324C-5717-0BCF-C4ED-0F84F04027B3}"/>
                </a:ext>
              </a:extLst>
            </p:cNvPr>
            <p:cNvSpPr txBox="1"/>
            <p:nvPr/>
          </p:nvSpPr>
          <p:spPr>
            <a:xfrm>
              <a:off x="2114313" y="6017171"/>
              <a:ext cx="684146" cy="2359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FAEAD0F2-FFA5-B9BD-A29D-80809C02B51F}"/>
                </a:ext>
              </a:extLst>
            </p:cNvPr>
            <p:cNvSpPr/>
            <p:nvPr/>
          </p:nvSpPr>
          <p:spPr>
            <a:xfrm>
              <a:off x="6830815" y="6225578"/>
              <a:ext cx="1268978" cy="57720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4" name="矩形 23">
              <a:extLst>
                <a:ext uri="{FF2B5EF4-FFF2-40B4-BE49-F238E27FC236}">
                  <a16:creationId xmlns:a16="http://schemas.microsoft.com/office/drawing/2014/main" id="{E2C061DA-520F-4625-711E-D186A4F94CC4}"/>
                </a:ext>
              </a:extLst>
            </p:cNvPr>
            <p:cNvSpPr/>
            <p:nvPr/>
          </p:nvSpPr>
          <p:spPr>
            <a:xfrm>
              <a:off x="6852097" y="6492759"/>
              <a:ext cx="1268978" cy="301917"/>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25" name="矩形 24">
              <a:extLst>
                <a:ext uri="{FF2B5EF4-FFF2-40B4-BE49-F238E27FC236}">
                  <a16:creationId xmlns:a16="http://schemas.microsoft.com/office/drawing/2014/main" id="{6DF7624F-73B8-34B3-6813-33657E03967D}"/>
                </a:ext>
              </a:extLst>
            </p:cNvPr>
            <p:cNvSpPr/>
            <p:nvPr/>
          </p:nvSpPr>
          <p:spPr>
            <a:xfrm>
              <a:off x="5590053" y="6212257"/>
              <a:ext cx="1251642" cy="595788"/>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26" name="连接符: 肘形 25">
              <a:extLst>
                <a:ext uri="{FF2B5EF4-FFF2-40B4-BE49-F238E27FC236}">
                  <a16:creationId xmlns:a16="http://schemas.microsoft.com/office/drawing/2014/main" id="{D1D9B688-C362-449A-88C8-2A444E5438D8}"/>
                </a:ext>
              </a:extLst>
            </p:cNvPr>
            <p:cNvCxnSpPr>
              <a:cxnSpLocks/>
              <a:stCxn id="25" idx="0"/>
              <a:endCxn id="16" idx="4"/>
            </p:cNvCxnSpPr>
            <p:nvPr/>
          </p:nvCxnSpPr>
          <p:spPr>
            <a:xfrm rot="5400000" flipH="1" flipV="1">
              <a:off x="7259159" y="4792307"/>
              <a:ext cx="376666" cy="2463236"/>
            </a:xfrm>
            <a:prstGeom prst="bentConnector3">
              <a:avLst>
                <a:gd name="adj1" fmla="val 50000"/>
              </a:avLst>
            </a:prstGeom>
            <a:ln w="254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连接符: 肘形 26">
              <a:extLst>
                <a:ext uri="{FF2B5EF4-FFF2-40B4-BE49-F238E27FC236}">
                  <a16:creationId xmlns:a16="http://schemas.microsoft.com/office/drawing/2014/main" id="{78AD778A-7744-5B71-99FC-87A5FDAE2102}"/>
                </a:ext>
              </a:extLst>
            </p:cNvPr>
            <p:cNvCxnSpPr>
              <a:cxnSpLocks/>
              <a:stCxn id="23" idx="0"/>
              <a:endCxn id="16" idx="4"/>
            </p:cNvCxnSpPr>
            <p:nvPr/>
          </p:nvCxnSpPr>
          <p:spPr>
            <a:xfrm rot="5400000" flipH="1" flipV="1">
              <a:off x="7877214" y="5423682"/>
              <a:ext cx="389987" cy="1213806"/>
            </a:xfrm>
            <a:prstGeom prst="bentConnector3">
              <a:avLst>
                <a:gd name="adj1" fmla="val 50000"/>
              </a:avLst>
            </a:prstGeom>
            <a:ln w="254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8" name="文本框 27">
            <a:extLst>
              <a:ext uri="{FF2B5EF4-FFF2-40B4-BE49-F238E27FC236}">
                <a16:creationId xmlns:a16="http://schemas.microsoft.com/office/drawing/2014/main" id="{0601C6F5-53A6-B113-AAEE-1440050DC4C6}"/>
              </a:ext>
            </a:extLst>
          </p:cNvPr>
          <p:cNvSpPr txBox="1"/>
          <p:nvPr/>
        </p:nvSpPr>
        <p:spPr>
          <a:xfrm>
            <a:off x="1255509" y="5584329"/>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0545447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4B318D-2133-B0D7-881E-E4B0D13832E7}"/>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临近区间有资源空闲</a:t>
            </a:r>
          </a:p>
        </p:txBody>
      </p:sp>
      <p:grpSp>
        <p:nvGrpSpPr>
          <p:cNvPr id="3" name="组合 2">
            <a:extLst>
              <a:ext uri="{FF2B5EF4-FFF2-40B4-BE49-F238E27FC236}">
                <a16:creationId xmlns:a16="http://schemas.microsoft.com/office/drawing/2014/main" id="{55A2D9FA-24B2-A638-FD40-349D8404BEB7}"/>
              </a:ext>
            </a:extLst>
          </p:cNvPr>
          <p:cNvGrpSpPr/>
          <p:nvPr/>
        </p:nvGrpSpPr>
        <p:grpSpPr>
          <a:xfrm>
            <a:off x="1897171" y="2187532"/>
            <a:ext cx="9435316" cy="3613738"/>
            <a:chOff x="432045" y="1497366"/>
            <a:chExt cx="7602246" cy="2912162"/>
          </a:xfrm>
        </p:grpSpPr>
        <p:cxnSp>
          <p:nvCxnSpPr>
            <p:cNvPr id="4" name="直接箭头连接符 3">
              <a:extLst>
                <a:ext uri="{FF2B5EF4-FFF2-40B4-BE49-F238E27FC236}">
                  <a16:creationId xmlns:a16="http://schemas.microsoft.com/office/drawing/2014/main" id="{EEB83E2E-3B56-B504-2BD4-CA3E8CC153ED}"/>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C0961DA6-3662-0BEB-46C6-E3306EC46628}"/>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059253D4-BB06-BCC8-D3D6-0BE8CED8F901}"/>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EF1FFF9A-E76E-1D4D-D0A7-9FFB6B5ACEF6}"/>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98EB8898-7D04-D364-2790-F46B72DA34FB}"/>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AA2A5FC4-A45C-7EF3-8A4E-6597C7AA0C1E}"/>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34587BC-F891-F88B-5F2F-B6DB64A249FC}"/>
                </a:ext>
              </a:extLst>
            </p:cNvPr>
            <p:cNvCxnSpPr>
              <a:cxnSpLocks/>
            </p:cNvCxnSpPr>
            <p:nvPr/>
          </p:nvCxnSpPr>
          <p:spPr>
            <a:xfrm>
              <a:off x="7395098"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30D557F-8216-4095-DBAB-5173F1343673}"/>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C74F9B43-C77B-21B2-3D6C-EF992713A21D}"/>
                </a:ext>
              </a:extLst>
            </p:cNvPr>
            <p:cNvSpPr txBox="1"/>
            <p:nvPr/>
          </p:nvSpPr>
          <p:spPr>
            <a:xfrm>
              <a:off x="437642" y="2755110"/>
              <a:ext cx="1305018" cy="471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C21B2D19-C16F-92EA-4A9C-8FC6347B85CE}"/>
                </a:ext>
              </a:extLst>
            </p:cNvPr>
            <p:cNvSpPr/>
            <p:nvPr/>
          </p:nvSpPr>
          <p:spPr>
            <a:xfrm>
              <a:off x="5321425" y="1736772"/>
              <a:ext cx="841895" cy="456343"/>
            </a:xfrm>
            <a:prstGeom prst="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椭圆 13">
              <a:extLst>
                <a:ext uri="{FF2B5EF4-FFF2-40B4-BE49-F238E27FC236}">
                  <a16:creationId xmlns:a16="http://schemas.microsoft.com/office/drawing/2014/main" id="{17A30C2B-F6D9-3D8B-4C5B-880A6B7E5A00}"/>
                </a:ext>
              </a:extLst>
            </p:cNvPr>
            <p:cNvSpPr/>
            <p:nvPr/>
          </p:nvSpPr>
          <p:spPr>
            <a:xfrm>
              <a:off x="5335480" y="2822728"/>
              <a:ext cx="760517" cy="606271"/>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r>
                <a:rPr kumimoji="0" lang="zh-CN" altLang="en-US"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矩形 14">
              <a:extLst>
                <a:ext uri="{FF2B5EF4-FFF2-40B4-BE49-F238E27FC236}">
                  <a16:creationId xmlns:a16="http://schemas.microsoft.com/office/drawing/2014/main" id="{99DEE694-51CA-021D-5965-C938004D9DB4}"/>
                </a:ext>
              </a:extLst>
            </p:cNvPr>
            <p:cNvSpPr/>
            <p:nvPr/>
          </p:nvSpPr>
          <p:spPr>
            <a:xfrm>
              <a:off x="3942426" y="3778922"/>
              <a:ext cx="1137821" cy="630606"/>
            </a:xfrm>
            <a:prstGeom prst="rect">
              <a:avLst/>
            </a:prstGeom>
            <a:solidFill>
              <a:srgbClr val="00B05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6" name="矩形 15">
              <a:extLst>
                <a:ext uri="{FF2B5EF4-FFF2-40B4-BE49-F238E27FC236}">
                  <a16:creationId xmlns:a16="http://schemas.microsoft.com/office/drawing/2014/main" id="{3EF73053-AFD0-80A2-267B-B9619D061664}"/>
                </a:ext>
              </a:extLst>
            </p:cNvPr>
            <p:cNvSpPr/>
            <p:nvPr/>
          </p:nvSpPr>
          <p:spPr>
            <a:xfrm>
              <a:off x="2746159" y="3780999"/>
              <a:ext cx="1191087" cy="624982"/>
            </a:xfrm>
            <a:prstGeom prst="rect">
              <a:avLst/>
            </a:prstGeom>
            <a:solidFill>
              <a:srgbClr val="00B05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7" name="直接箭头连接符 16">
              <a:extLst>
                <a:ext uri="{FF2B5EF4-FFF2-40B4-BE49-F238E27FC236}">
                  <a16:creationId xmlns:a16="http://schemas.microsoft.com/office/drawing/2014/main" id="{395D357D-0D74-5B0F-8F76-4F9D8C63D290}"/>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D94F104F-CBBB-F084-0A9D-8149742EAF8C}"/>
                </a:ext>
              </a:extLst>
            </p:cNvPr>
            <p:cNvCxnSpPr>
              <a:cxnSpLocks/>
              <a:stCxn id="16" idx="0"/>
              <a:endCxn id="14" idx="2"/>
            </p:cNvCxnSpPr>
            <p:nvPr/>
          </p:nvCxnSpPr>
          <p:spPr>
            <a:xfrm rot="5400000" flipH="1" flipV="1">
              <a:off x="4011024" y="2456544"/>
              <a:ext cx="655135" cy="1993777"/>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连接符: 肘形 18">
              <a:extLst>
                <a:ext uri="{FF2B5EF4-FFF2-40B4-BE49-F238E27FC236}">
                  <a16:creationId xmlns:a16="http://schemas.microsoft.com/office/drawing/2014/main" id="{1D5DF243-61D1-0359-01D5-28553E956901}"/>
                </a:ext>
              </a:extLst>
            </p:cNvPr>
            <p:cNvCxnSpPr>
              <a:cxnSpLocks/>
              <a:stCxn id="15" idx="0"/>
              <a:endCxn id="14" idx="2"/>
            </p:cNvCxnSpPr>
            <p:nvPr/>
          </p:nvCxnSpPr>
          <p:spPr>
            <a:xfrm rot="5400000" flipH="1" flipV="1">
              <a:off x="4596880" y="3040322"/>
              <a:ext cx="653059" cy="824143"/>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文本框 19">
              <a:extLst>
                <a:ext uri="{FF2B5EF4-FFF2-40B4-BE49-F238E27FC236}">
                  <a16:creationId xmlns:a16="http://schemas.microsoft.com/office/drawing/2014/main" id="{BB357B91-2A80-CBE1-8123-BB57DDE15DAB}"/>
                </a:ext>
              </a:extLst>
            </p:cNvPr>
            <p:cNvSpPr txBox="1"/>
            <p:nvPr/>
          </p:nvSpPr>
          <p:spPr>
            <a:xfrm>
              <a:off x="646590" y="3577987"/>
              <a:ext cx="642152"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1" name="矩形 20">
              <a:extLst>
                <a:ext uri="{FF2B5EF4-FFF2-40B4-BE49-F238E27FC236}">
                  <a16:creationId xmlns:a16="http://schemas.microsoft.com/office/drawing/2014/main" id="{6778D2CC-0504-6A5F-F17C-470A31FDEECE}"/>
                </a:ext>
              </a:extLst>
            </p:cNvPr>
            <p:cNvSpPr/>
            <p:nvPr/>
          </p:nvSpPr>
          <p:spPr>
            <a:xfrm>
              <a:off x="1581704" y="3790465"/>
              <a:ext cx="1191087" cy="6155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空闲</a:t>
              </a:r>
            </a:p>
          </p:txBody>
        </p:sp>
      </p:grpSp>
      <p:sp>
        <p:nvSpPr>
          <p:cNvPr id="22" name="文本框 21">
            <a:extLst>
              <a:ext uri="{FF2B5EF4-FFF2-40B4-BE49-F238E27FC236}">
                <a16:creationId xmlns:a16="http://schemas.microsoft.com/office/drawing/2014/main" id="{20905FC0-006B-C76B-281F-ECE0D6821C90}"/>
              </a:ext>
            </a:extLst>
          </p:cNvPr>
          <p:cNvSpPr txBox="1"/>
          <p:nvPr/>
        </p:nvSpPr>
        <p:spPr>
          <a:xfrm>
            <a:off x="1841617" y="5312298"/>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258665710"/>
      </p:ext>
    </p:extLst>
  </p:cSld>
  <p:clrMapOvr>
    <a:overrideClrMapping bg1="dk1" tx1="lt1" bg2="dk2" tx2="lt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FF96A2-C036-CDB5-599C-65080340D66B}"/>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动态填补临近资源</a:t>
            </a:r>
          </a:p>
        </p:txBody>
      </p:sp>
      <p:grpSp>
        <p:nvGrpSpPr>
          <p:cNvPr id="3" name="组合 2">
            <a:extLst>
              <a:ext uri="{FF2B5EF4-FFF2-40B4-BE49-F238E27FC236}">
                <a16:creationId xmlns:a16="http://schemas.microsoft.com/office/drawing/2014/main" id="{A84E48EA-A191-96F7-75ED-6230090EBCF6}"/>
              </a:ext>
            </a:extLst>
          </p:cNvPr>
          <p:cNvGrpSpPr/>
          <p:nvPr/>
        </p:nvGrpSpPr>
        <p:grpSpPr>
          <a:xfrm>
            <a:off x="1378342" y="1745082"/>
            <a:ext cx="9435316" cy="3637896"/>
            <a:chOff x="432045" y="1497366"/>
            <a:chExt cx="7602246" cy="2931630"/>
          </a:xfrm>
        </p:grpSpPr>
        <p:cxnSp>
          <p:nvCxnSpPr>
            <p:cNvPr id="4" name="直接箭头连接符 3">
              <a:extLst>
                <a:ext uri="{FF2B5EF4-FFF2-40B4-BE49-F238E27FC236}">
                  <a16:creationId xmlns:a16="http://schemas.microsoft.com/office/drawing/2014/main" id="{0BB81B0A-B800-B072-E6E5-5F13492B9880}"/>
                </a:ext>
              </a:extLst>
            </p:cNvPr>
            <p:cNvCxnSpPr>
              <a:cxnSpLocks/>
            </p:cNvCxnSpPr>
            <p:nvPr/>
          </p:nvCxnSpPr>
          <p:spPr>
            <a:xfrm>
              <a:off x="1553592" y="2630009"/>
              <a:ext cx="648069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1B4ABE16-F960-AB1A-BA42-260F8E07B5FE}"/>
                </a:ext>
              </a:extLst>
            </p:cNvPr>
            <p:cNvCxnSpPr>
              <a:cxnSpLocks/>
            </p:cNvCxnSpPr>
            <p:nvPr/>
          </p:nvCxnSpPr>
          <p:spPr>
            <a:xfrm>
              <a:off x="158170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72456DE9-467A-C8E6-7498-7A21F853E32B}"/>
                </a:ext>
              </a:extLst>
            </p:cNvPr>
            <p:cNvCxnSpPr>
              <a:cxnSpLocks/>
            </p:cNvCxnSpPr>
            <p:nvPr/>
          </p:nvCxnSpPr>
          <p:spPr>
            <a:xfrm>
              <a:off x="2746159"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8DCF438F-0950-8739-8294-028350D51CCF}"/>
                </a:ext>
              </a:extLst>
            </p:cNvPr>
            <p:cNvCxnSpPr>
              <a:cxnSpLocks/>
            </p:cNvCxnSpPr>
            <p:nvPr/>
          </p:nvCxnSpPr>
          <p:spPr>
            <a:xfrm>
              <a:off x="3937246"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0873921C-7E2F-A43D-8DDC-92D197060D78}"/>
                </a:ext>
              </a:extLst>
            </p:cNvPr>
            <p:cNvCxnSpPr>
              <a:cxnSpLocks/>
            </p:cNvCxnSpPr>
            <p:nvPr/>
          </p:nvCxnSpPr>
          <p:spPr>
            <a:xfrm>
              <a:off x="5075067"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AC584A6-6A5D-E765-CB4E-D5A76C40E566}"/>
                </a:ext>
              </a:extLst>
            </p:cNvPr>
            <p:cNvCxnSpPr>
              <a:cxnSpLocks/>
            </p:cNvCxnSpPr>
            <p:nvPr/>
          </p:nvCxnSpPr>
          <p:spPr>
            <a:xfrm>
              <a:off x="6230644"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4D29B51-C7D0-CEA8-B379-C4F933CC8EE0}"/>
                </a:ext>
              </a:extLst>
            </p:cNvPr>
            <p:cNvCxnSpPr>
              <a:cxnSpLocks/>
            </p:cNvCxnSpPr>
            <p:nvPr/>
          </p:nvCxnSpPr>
          <p:spPr>
            <a:xfrm>
              <a:off x="7395098" y="1497366"/>
              <a:ext cx="0" cy="227476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7BCC008-7777-58B3-C6AE-FDB46BBA1CF0}"/>
                </a:ext>
              </a:extLst>
            </p:cNvPr>
            <p:cNvSpPr txBox="1"/>
            <p:nvPr/>
          </p:nvSpPr>
          <p:spPr>
            <a:xfrm>
              <a:off x="432045" y="1580226"/>
              <a:ext cx="1305018"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9D37F7AC-1D7C-F6B8-CD48-C3CFC56BEF6F}"/>
                </a:ext>
              </a:extLst>
            </p:cNvPr>
            <p:cNvSpPr txBox="1"/>
            <p:nvPr/>
          </p:nvSpPr>
          <p:spPr>
            <a:xfrm>
              <a:off x="490859" y="2857124"/>
              <a:ext cx="1305018" cy="471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Planned Orders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29E25B06-3792-7B98-2CFE-FA040DA4D3E7}"/>
                </a:ext>
              </a:extLst>
            </p:cNvPr>
            <p:cNvSpPr/>
            <p:nvPr/>
          </p:nvSpPr>
          <p:spPr>
            <a:xfrm>
              <a:off x="5321425" y="1736772"/>
              <a:ext cx="841895" cy="456343"/>
            </a:xfrm>
            <a:prstGeom prst="rect">
              <a:avLst/>
            </a:prstGeom>
            <a:solidFill>
              <a:srgbClr val="00B050"/>
            </a:solidFill>
            <a:ln>
              <a:solidFill>
                <a:srgbClr val="00B050"/>
              </a:solid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200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椭圆 13">
              <a:extLst>
                <a:ext uri="{FF2B5EF4-FFF2-40B4-BE49-F238E27FC236}">
                  <a16:creationId xmlns:a16="http://schemas.microsoft.com/office/drawing/2014/main" id="{608E4BFD-2315-9E8A-17DA-809E98B2716E}"/>
                </a:ext>
              </a:extLst>
            </p:cNvPr>
            <p:cNvSpPr/>
            <p:nvPr/>
          </p:nvSpPr>
          <p:spPr>
            <a:xfrm>
              <a:off x="5335480" y="2822728"/>
              <a:ext cx="760517" cy="606271"/>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r>
                <a:rPr kumimoji="0" lang="zh-CN" altLang="en-US"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050" b="0" i="1"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矩形 14">
              <a:extLst>
                <a:ext uri="{FF2B5EF4-FFF2-40B4-BE49-F238E27FC236}">
                  <a16:creationId xmlns:a16="http://schemas.microsoft.com/office/drawing/2014/main" id="{4F84D297-1571-4C77-971C-09C4EEBE66AC}"/>
                </a:ext>
              </a:extLst>
            </p:cNvPr>
            <p:cNvSpPr/>
            <p:nvPr/>
          </p:nvSpPr>
          <p:spPr>
            <a:xfrm>
              <a:off x="3950614" y="3793813"/>
              <a:ext cx="1137821" cy="630606"/>
            </a:xfrm>
            <a:prstGeom prst="rect">
              <a:avLst/>
            </a:prstGeom>
            <a:solidFill>
              <a:srgbClr val="00B050"/>
            </a:solidFill>
            <a:ln w="12700">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6" name="矩形 15">
              <a:extLst>
                <a:ext uri="{FF2B5EF4-FFF2-40B4-BE49-F238E27FC236}">
                  <a16:creationId xmlns:a16="http://schemas.microsoft.com/office/drawing/2014/main" id="{6A6E7E06-63EA-2A81-C7CA-1168645541E7}"/>
                </a:ext>
              </a:extLst>
            </p:cNvPr>
            <p:cNvSpPr/>
            <p:nvPr/>
          </p:nvSpPr>
          <p:spPr>
            <a:xfrm>
              <a:off x="1555072" y="3804014"/>
              <a:ext cx="1191087" cy="624982"/>
            </a:xfrm>
            <a:prstGeom prst="rect">
              <a:avLst/>
            </a:prstGeom>
            <a:solidFill>
              <a:srgbClr val="00B050"/>
            </a:solidFill>
            <a:ln w="12700">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cxnSp>
          <p:nvCxnSpPr>
            <p:cNvPr id="17" name="直接箭头连接符 16">
              <a:extLst>
                <a:ext uri="{FF2B5EF4-FFF2-40B4-BE49-F238E27FC236}">
                  <a16:creationId xmlns:a16="http://schemas.microsoft.com/office/drawing/2014/main" id="{74FA474C-9042-0DAE-BD87-3B59F2C46B1F}"/>
                </a:ext>
              </a:extLst>
            </p:cNvPr>
            <p:cNvCxnSpPr>
              <a:cxnSpLocks/>
            </p:cNvCxnSpPr>
            <p:nvPr/>
          </p:nvCxnSpPr>
          <p:spPr>
            <a:xfrm>
              <a:off x="1313895" y="3762653"/>
              <a:ext cx="6720396" cy="1834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1515BBA9-C0B4-29E8-31C2-38DB733AD236}"/>
                </a:ext>
              </a:extLst>
            </p:cNvPr>
            <p:cNvCxnSpPr>
              <a:cxnSpLocks/>
              <a:stCxn id="16" idx="0"/>
              <a:endCxn id="22" idx="2"/>
            </p:cNvCxnSpPr>
            <p:nvPr/>
          </p:nvCxnSpPr>
          <p:spPr>
            <a:xfrm rot="5400000" flipH="1" flipV="1">
              <a:off x="2245423" y="3042865"/>
              <a:ext cx="666342" cy="855956"/>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连接符: 肘形 18">
              <a:extLst>
                <a:ext uri="{FF2B5EF4-FFF2-40B4-BE49-F238E27FC236}">
                  <a16:creationId xmlns:a16="http://schemas.microsoft.com/office/drawing/2014/main" id="{C8DE85ED-7D0F-9D38-CCE0-3C36AEF93D1F}"/>
                </a:ext>
              </a:extLst>
            </p:cNvPr>
            <p:cNvCxnSpPr>
              <a:cxnSpLocks/>
              <a:stCxn id="15" idx="0"/>
              <a:endCxn id="14" idx="2"/>
            </p:cNvCxnSpPr>
            <p:nvPr/>
          </p:nvCxnSpPr>
          <p:spPr>
            <a:xfrm rot="5400000" flipH="1" flipV="1">
              <a:off x="4593528" y="3051861"/>
              <a:ext cx="667950" cy="815955"/>
            </a:xfrm>
            <a:prstGeom prst="bentConnector2">
              <a:avLst/>
            </a:prstGeom>
            <a:ln w="254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文本框 19">
              <a:extLst>
                <a:ext uri="{FF2B5EF4-FFF2-40B4-BE49-F238E27FC236}">
                  <a16:creationId xmlns:a16="http://schemas.microsoft.com/office/drawing/2014/main" id="{50FE621E-F64D-40F2-8E91-6C4A837CC5A2}"/>
                </a:ext>
              </a:extLst>
            </p:cNvPr>
            <p:cNvSpPr txBox="1"/>
            <p:nvPr/>
          </p:nvSpPr>
          <p:spPr>
            <a:xfrm>
              <a:off x="646590" y="3577987"/>
              <a:ext cx="642152" cy="272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rPr>
                <a:t>100</a:t>
              </a:r>
              <a:endParaRPr kumimoji="0" lang="zh-CN" altLang="en-US" sz="1600" b="1" i="0" u="none" strike="noStrike" kern="120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21" name="矩形 20">
              <a:extLst>
                <a:ext uri="{FF2B5EF4-FFF2-40B4-BE49-F238E27FC236}">
                  <a16:creationId xmlns:a16="http://schemas.microsoft.com/office/drawing/2014/main" id="{AA4D104D-D77B-000A-478F-386C78C80631}"/>
                </a:ext>
              </a:extLst>
            </p:cNvPr>
            <p:cNvSpPr/>
            <p:nvPr/>
          </p:nvSpPr>
          <p:spPr>
            <a:xfrm>
              <a:off x="2751339" y="3804014"/>
              <a:ext cx="1191087" cy="618395"/>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空闲</a:t>
              </a:r>
            </a:p>
          </p:txBody>
        </p:sp>
      </p:grpSp>
      <p:sp>
        <p:nvSpPr>
          <p:cNvPr id="22" name="椭圆 21">
            <a:extLst>
              <a:ext uri="{FF2B5EF4-FFF2-40B4-BE49-F238E27FC236}">
                <a16:creationId xmlns:a16="http://schemas.microsoft.com/office/drawing/2014/main" id="{7EBB2D5C-8F0B-DF3E-2D5C-48B993C23A6F}"/>
              </a:ext>
            </a:extLst>
          </p:cNvPr>
          <p:cNvSpPr/>
          <p:nvPr/>
        </p:nvSpPr>
        <p:spPr>
          <a:xfrm>
            <a:off x="4573644" y="3404393"/>
            <a:ext cx="943894" cy="752329"/>
          </a:xfrm>
          <a:prstGeom prst="ellipse">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B100</a:t>
            </a:r>
            <a:endPar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23" name="连接符: 肘形 22">
            <a:extLst>
              <a:ext uri="{FF2B5EF4-FFF2-40B4-BE49-F238E27FC236}">
                <a16:creationId xmlns:a16="http://schemas.microsoft.com/office/drawing/2014/main" id="{C70C6DC1-6324-F5B3-712C-CD44A7F39D93}"/>
              </a:ext>
            </a:extLst>
          </p:cNvPr>
          <p:cNvCxnSpPr>
            <a:cxnSpLocks/>
            <a:endCxn id="21" idx="2"/>
          </p:cNvCxnSpPr>
          <p:nvPr/>
        </p:nvCxnSpPr>
        <p:spPr>
          <a:xfrm rot="10800000">
            <a:off x="4996012" y="5374805"/>
            <a:ext cx="1055569" cy="775277"/>
          </a:xfrm>
          <a:prstGeom prst="bentConnector2">
            <a:avLst/>
          </a:prstGeom>
          <a:ln w="254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文本框 23">
            <a:extLst>
              <a:ext uri="{FF2B5EF4-FFF2-40B4-BE49-F238E27FC236}">
                <a16:creationId xmlns:a16="http://schemas.microsoft.com/office/drawing/2014/main" id="{59ED95F2-1245-1540-F58D-1EB2EDB0966D}"/>
              </a:ext>
            </a:extLst>
          </p:cNvPr>
          <p:cNvSpPr txBox="1"/>
          <p:nvPr/>
        </p:nvSpPr>
        <p:spPr>
          <a:xfrm>
            <a:off x="6152357" y="5973371"/>
            <a:ext cx="318811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动态</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设置移动的区间数</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未来计划区间，可等待</a:t>
            </a:r>
          </a:p>
        </p:txBody>
      </p:sp>
      <p:sp>
        <p:nvSpPr>
          <p:cNvPr id="25" name="文本框 24">
            <a:extLst>
              <a:ext uri="{FF2B5EF4-FFF2-40B4-BE49-F238E27FC236}">
                <a16:creationId xmlns:a16="http://schemas.microsoft.com/office/drawing/2014/main" id="{FC532E61-CEA4-DDFA-85CE-7FDC71A2FA45}"/>
              </a:ext>
            </a:extLst>
          </p:cNvPr>
          <p:cNvSpPr txBox="1"/>
          <p:nvPr/>
        </p:nvSpPr>
        <p:spPr>
          <a:xfrm>
            <a:off x="1378341" y="4917724"/>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Constraints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3933149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F981E-8BD2-A74E-E7DA-DD8352082DA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多级排产</a:t>
            </a:r>
          </a:p>
        </p:txBody>
      </p:sp>
      <p:cxnSp>
        <p:nvCxnSpPr>
          <p:cNvPr id="4" name="直接箭头连接符 3">
            <a:extLst>
              <a:ext uri="{FF2B5EF4-FFF2-40B4-BE49-F238E27FC236}">
                <a16:creationId xmlns:a16="http://schemas.microsoft.com/office/drawing/2014/main" id="{A41CE8F6-2642-0757-7D3A-3AD9D42FE5D1}"/>
              </a:ext>
            </a:extLst>
          </p:cNvPr>
          <p:cNvCxnSpPr>
            <a:cxnSpLocks/>
          </p:cNvCxnSpPr>
          <p:nvPr/>
        </p:nvCxnSpPr>
        <p:spPr>
          <a:xfrm>
            <a:off x="2205956" y="4645946"/>
            <a:ext cx="8043339"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60260C54-C412-B544-4A34-F63F6BAC867A}"/>
              </a:ext>
            </a:extLst>
          </p:cNvPr>
          <p:cNvCxnSpPr>
            <a:cxnSpLocks/>
          </p:cNvCxnSpPr>
          <p:nvPr/>
        </p:nvCxnSpPr>
        <p:spPr>
          <a:xfrm>
            <a:off x="2240846"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D2C4FEEF-DEDE-66B9-5C32-3B53B6E8C52A}"/>
              </a:ext>
            </a:extLst>
          </p:cNvPr>
          <p:cNvCxnSpPr>
            <a:cxnSpLocks/>
          </p:cNvCxnSpPr>
          <p:nvPr/>
        </p:nvCxnSpPr>
        <p:spPr>
          <a:xfrm>
            <a:off x="3686077"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832BC6C2-A8C7-A765-3864-15F3D37BF0E0}"/>
              </a:ext>
            </a:extLst>
          </p:cNvPr>
          <p:cNvCxnSpPr>
            <a:cxnSpLocks/>
          </p:cNvCxnSpPr>
          <p:nvPr/>
        </p:nvCxnSpPr>
        <p:spPr>
          <a:xfrm>
            <a:off x="5164362"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017D587F-7D73-A07B-B5F0-5DF63FC5771A}"/>
              </a:ext>
            </a:extLst>
          </p:cNvPr>
          <p:cNvCxnSpPr>
            <a:cxnSpLocks/>
          </p:cNvCxnSpPr>
          <p:nvPr/>
        </p:nvCxnSpPr>
        <p:spPr>
          <a:xfrm>
            <a:off x="6576537"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A216DE49-E9DF-A16B-A45C-AC223DFB2A1D}"/>
              </a:ext>
            </a:extLst>
          </p:cNvPr>
          <p:cNvCxnSpPr>
            <a:cxnSpLocks/>
          </p:cNvCxnSpPr>
          <p:nvPr/>
        </p:nvCxnSpPr>
        <p:spPr>
          <a:xfrm>
            <a:off x="8010749"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CD92898F-2E96-442A-E1D1-1FBF1890EBF0}"/>
              </a:ext>
            </a:extLst>
          </p:cNvPr>
          <p:cNvCxnSpPr>
            <a:cxnSpLocks/>
          </p:cNvCxnSpPr>
          <p:nvPr/>
        </p:nvCxnSpPr>
        <p:spPr>
          <a:xfrm>
            <a:off x="9455978" y="3240435"/>
            <a:ext cx="0" cy="282277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40374622-A289-1F11-124B-F96EC58BF6F1}"/>
              </a:ext>
            </a:extLst>
          </p:cNvPr>
          <p:cNvSpPr txBox="1"/>
          <p:nvPr/>
        </p:nvSpPr>
        <p:spPr>
          <a:xfrm>
            <a:off x="813979" y="3343257"/>
            <a:ext cx="161968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Demands</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784D3CD0-ABE1-1A8E-BC6F-AE9F0A8F8AED}"/>
              </a:ext>
            </a:extLst>
          </p:cNvPr>
          <p:cNvSpPr txBox="1"/>
          <p:nvPr/>
        </p:nvSpPr>
        <p:spPr>
          <a:xfrm>
            <a:off x="2318330" y="4870293"/>
            <a:ext cx="1367747"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OH 2400</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A5F26ABB-247F-8A54-1616-C652B49445C9}"/>
              </a:ext>
            </a:extLst>
          </p:cNvPr>
          <p:cNvSpPr txBox="1"/>
          <p:nvPr/>
        </p:nvSpPr>
        <p:spPr>
          <a:xfrm>
            <a:off x="2318330" y="5423810"/>
            <a:ext cx="1367747" cy="646331"/>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PLG 600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400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sp>
        <p:nvSpPr>
          <p:cNvPr id="29" name="文本框 28">
            <a:extLst>
              <a:ext uri="{FF2B5EF4-FFF2-40B4-BE49-F238E27FC236}">
                <a16:creationId xmlns:a16="http://schemas.microsoft.com/office/drawing/2014/main" id="{B5F44B18-1EB5-D772-5163-1A725AA0BF8C}"/>
              </a:ext>
            </a:extLst>
          </p:cNvPr>
          <p:cNvSpPr txBox="1"/>
          <p:nvPr/>
        </p:nvSpPr>
        <p:spPr>
          <a:xfrm>
            <a:off x="3723022" y="5423810"/>
            <a:ext cx="1367747" cy="646331"/>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PLG 600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300</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sp>
        <p:nvSpPr>
          <p:cNvPr id="30" name="文本框 29">
            <a:extLst>
              <a:ext uri="{FF2B5EF4-FFF2-40B4-BE49-F238E27FC236}">
                <a16:creationId xmlns:a16="http://schemas.microsoft.com/office/drawing/2014/main" id="{4C3B6D4A-86A7-CE5D-5B9A-A5F8FE65EF6E}"/>
              </a:ext>
            </a:extLst>
          </p:cNvPr>
          <p:cNvSpPr txBox="1"/>
          <p:nvPr/>
        </p:nvSpPr>
        <p:spPr>
          <a:xfrm>
            <a:off x="5201307" y="5423810"/>
            <a:ext cx="1367747" cy="584775"/>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defPPr>
              <a:defRPr lang="zh-CN"/>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PLG 600</a:t>
            </a:r>
            <a:r>
              <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150</a:t>
            </a:r>
            <a:r>
              <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sp>
        <p:nvSpPr>
          <p:cNvPr id="31" name="文本框 30">
            <a:extLst>
              <a:ext uri="{FF2B5EF4-FFF2-40B4-BE49-F238E27FC236}">
                <a16:creationId xmlns:a16="http://schemas.microsoft.com/office/drawing/2014/main" id="{735931EA-FA1F-91EB-6FBF-91AC40339A61}"/>
              </a:ext>
            </a:extLst>
          </p:cNvPr>
          <p:cNvSpPr txBox="1"/>
          <p:nvPr/>
        </p:nvSpPr>
        <p:spPr>
          <a:xfrm>
            <a:off x="6613482" y="5423810"/>
            <a:ext cx="1367747" cy="369332"/>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PLG 600</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2" name="文本框 31">
            <a:extLst>
              <a:ext uri="{FF2B5EF4-FFF2-40B4-BE49-F238E27FC236}">
                <a16:creationId xmlns:a16="http://schemas.microsoft.com/office/drawing/2014/main" id="{301E52A4-6794-2C9B-8B71-EC7CC4D827FA}"/>
              </a:ext>
            </a:extLst>
          </p:cNvPr>
          <p:cNvSpPr txBox="1"/>
          <p:nvPr/>
        </p:nvSpPr>
        <p:spPr>
          <a:xfrm>
            <a:off x="8049490" y="5432507"/>
            <a:ext cx="1367747" cy="584775"/>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PLG 600(150</a:t>
            </a:r>
            <a:r>
              <a:rPr kumimoji="0" lang="zh-CN" altLang="en-US" sz="16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p>
        </p:txBody>
      </p:sp>
      <p:sp>
        <p:nvSpPr>
          <p:cNvPr id="33" name="文本框 32">
            <a:extLst>
              <a:ext uri="{FF2B5EF4-FFF2-40B4-BE49-F238E27FC236}">
                <a16:creationId xmlns:a16="http://schemas.microsoft.com/office/drawing/2014/main" id="{AC15B4C0-36CA-5D10-91F7-390CA6776797}"/>
              </a:ext>
            </a:extLst>
          </p:cNvPr>
          <p:cNvSpPr txBox="1"/>
          <p:nvPr/>
        </p:nvSpPr>
        <p:spPr>
          <a:xfrm>
            <a:off x="8060524" y="2283921"/>
            <a:ext cx="1367747"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 2000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 name="文本框 33">
            <a:extLst>
              <a:ext uri="{FF2B5EF4-FFF2-40B4-BE49-F238E27FC236}">
                <a16:creationId xmlns:a16="http://schemas.microsoft.com/office/drawing/2014/main" id="{B76129BB-128F-82E3-BD5E-35B428E12582}"/>
              </a:ext>
            </a:extLst>
          </p:cNvPr>
          <p:cNvSpPr txBox="1"/>
          <p:nvPr/>
        </p:nvSpPr>
        <p:spPr>
          <a:xfrm>
            <a:off x="8058742" y="3343257"/>
            <a:ext cx="1367747"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 600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5" name="文本框 34">
            <a:extLst>
              <a:ext uri="{FF2B5EF4-FFF2-40B4-BE49-F238E27FC236}">
                <a16:creationId xmlns:a16="http://schemas.microsoft.com/office/drawing/2014/main" id="{0E444C66-928E-03BD-15E0-A733A57D64B4}"/>
              </a:ext>
            </a:extLst>
          </p:cNvPr>
          <p:cNvSpPr txBox="1"/>
          <p:nvPr/>
        </p:nvSpPr>
        <p:spPr>
          <a:xfrm>
            <a:off x="6585773" y="3345965"/>
            <a:ext cx="1367747"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 450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E8D929DE-E52D-11A9-CEEA-1DBB9E17CF56}"/>
              </a:ext>
            </a:extLst>
          </p:cNvPr>
          <p:cNvSpPr txBox="1"/>
          <p:nvPr/>
        </p:nvSpPr>
        <p:spPr>
          <a:xfrm>
            <a:off x="5160797" y="3354662"/>
            <a:ext cx="1367747"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 300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88476FD-7746-E271-87B8-4F95BC3D2957}"/>
              </a:ext>
            </a:extLst>
          </p:cNvPr>
          <p:cNvSpPr txBox="1"/>
          <p:nvPr/>
        </p:nvSpPr>
        <p:spPr>
          <a:xfrm>
            <a:off x="3730505" y="3363277"/>
            <a:ext cx="1367747"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 200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8" name="文本框 37">
            <a:extLst>
              <a:ext uri="{FF2B5EF4-FFF2-40B4-BE49-F238E27FC236}">
                <a16:creationId xmlns:a16="http://schemas.microsoft.com/office/drawing/2014/main" id="{0359F32B-1FBB-8E1F-E31F-6BE5DE02FB07}"/>
              </a:ext>
            </a:extLst>
          </p:cNvPr>
          <p:cNvSpPr txBox="1"/>
          <p:nvPr/>
        </p:nvSpPr>
        <p:spPr>
          <a:xfrm>
            <a:off x="9505752" y="3357370"/>
            <a:ext cx="1069887"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defPPr>
              <a:defRPr lang="zh-CN"/>
            </a:defPPr>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 450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40" name="连接符: 肘形 39">
            <a:extLst>
              <a:ext uri="{FF2B5EF4-FFF2-40B4-BE49-F238E27FC236}">
                <a16:creationId xmlns:a16="http://schemas.microsoft.com/office/drawing/2014/main" id="{CB6FC5A4-01D6-82CB-0910-0B6761FD3E85}"/>
              </a:ext>
            </a:extLst>
          </p:cNvPr>
          <p:cNvCxnSpPr>
            <a:stCxn id="33" idx="3"/>
            <a:endCxn id="38" idx="0"/>
          </p:cNvCxnSpPr>
          <p:nvPr/>
        </p:nvCxnSpPr>
        <p:spPr>
          <a:xfrm>
            <a:off x="9428271" y="2607087"/>
            <a:ext cx="612425" cy="750283"/>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41" name="连接符: 肘形 40">
            <a:extLst>
              <a:ext uri="{FF2B5EF4-FFF2-40B4-BE49-F238E27FC236}">
                <a16:creationId xmlns:a16="http://schemas.microsoft.com/office/drawing/2014/main" id="{C0CAEF1F-41CD-2AD8-B81B-6B496CE42AC4}"/>
              </a:ext>
            </a:extLst>
          </p:cNvPr>
          <p:cNvCxnSpPr>
            <a:cxnSpLocks/>
            <a:stCxn id="33" idx="2"/>
            <a:endCxn id="34" idx="0"/>
          </p:cNvCxnSpPr>
          <p:nvPr/>
        </p:nvCxnSpPr>
        <p:spPr>
          <a:xfrm rot="5400000">
            <a:off x="8537005" y="3135863"/>
            <a:ext cx="413005" cy="1782"/>
          </a:xfrm>
          <a:prstGeom prst="bentConnector3">
            <a:avLst>
              <a:gd name="adj1" fmla="val 50000"/>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45" name="连接符: 肘形 44">
            <a:extLst>
              <a:ext uri="{FF2B5EF4-FFF2-40B4-BE49-F238E27FC236}">
                <a16:creationId xmlns:a16="http://schemas.microsoft.com/office/drawing/2014/main" id="{D8F7D9AB-9317-E7A6-E845-030C620F7A02}"/>
              </a:ext>
            </a:extLst>
          </p:cNvPr>
          <p:cNvCxnSpPr>
            <a:cxnSpLocks/>
            <a:stCxn id="33" idx="1"/>
            <a:endCxn id="35" idx="0"/>
          </p:cNvCxnSpPr>
          <p:nvPr/>
        </p:nvCxnSpPr>
        <p:spPr>
          <a:xfrm rot="10800000" flipV="1">
            <a:off x="7269648" y="2607087"/>
            <a:ext cx="790877" cy="738878"/>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50" name="连接符: 肘形 49">
            <a:extLst>
              <a:ext uri="{FF2B5EF4-FFF2-40B4-BE49-F238E27FC236}">
                <a16:creationId xmlns:a16="http://schemas.microsoft.com/office/drawing/2014/main" id="{7FD624CB-E562-C373-6CD4-8E9938A27B9A}"/>
              </a:ext>
            </a:extLst>
          </p:cNvPr>
          <p:cNvCxnSpPr>
            <a:cxnSpLocks/>
            <a:stCxn id="33" idx="1"/>
            <a:endCxn id="36" idx="0"/>
          </p:cNvCxnSpPr>
          <p:nvPr/>
        </p:nvCxnSpPr>
        <p:spPr>
          <a:xfrm rot="10800000" flipV="1">
            <a:off x="5844672" y="2607086"/>
            <a:ext cx="2215853" cy="747575"/>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53" name="连接符: 肘形 52">
            <a:extLst>
              <a:ext uri="{FF2B5EF4-FFF2-40B4-BE49-F238E27FC236}">
                <a16:creationId xmlns:a16="http://schemas.microsoft.com/office/drawing/2014/main" id="{2FABD64A-29EC-EE7C-A3F6-D980F39F1221}"/>
              </a:ext>
            </a:extLst>
          </p:cNvPr>
          <p:cNvCxnSpPr>
            <a:cxnSpLocks/>
            <a:endCxn id="37" idx="0"/>
          </p:cNvCxnSpPr>
          <p:nvPr/>
        </p:nvCxnSpPr>
        <p:spPr>
          <a:xfrm rot="10800000" flipV="1">
            <a:off x="4414380" y="2621107"/>
            <a:ext cx="3660893" cy="742169"/>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56" name="直接箭头连接符 55">
            <a:extLst>
              <a:ext uri="{FF2B5EF4-FFF2-40B4-BE49-F238E27FC236}">
                <a16:creationId xmlns:a16="http://schemas.microsoft.com/office/drawing/2014/main" id="{88C907FD-230B-C6A3-B7E7-CC942295414A}"/>
              </a:ext>
            </a:extLst>
          </p:cNvPr>
          <p:cNvCxnSpPr>
            <a:cxnSpLocks/>
            <a:stCxn id="38" idx="2"/>
            <a:endCxn id="32" idx="0"/>
          </p:cNvCxnSpPr>
          <p:nvPr/>
        </p:nvCxnSpPr>
        <p:spPr>
          <a:xfrm flipH="1">
            <a:off x="8733364" y="3726702"/>
            <a:ext cx="1307332" cy="170580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7" name="直接箭头连接符 56">
            <a:extLst>
              <a:ext uri="{FF2B5EF4-FFF2-40B4-BE49-F238E27FC236}">
                <a16:creationId xmlns:a16="http://schemas.microsoft.com/office/drawing/2014/main" id="{610BB40E-7CDB-74D8-1DF8-EFDC19B0D89A}"/>
              </a:ext>
            </a:extLst>
          </p:cNvPr>
          <p:cNvCxnSpPr>
            <a:cxnSpLocks/>
            <a:endCxn id="31" idx="0"/>
          </p:cNvCxnSpPr>
          <p:nvPr/>
        </p:nvCxnSpPr>
        <p:spPr>
          <a:xfrm flipH="1">
            <a:off x="7297356" y="3723994"/>
            <a:ext cx="1482205" cy="169981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9" name="直接箭头连接符 58">
            <a:extLst>
              <a:ext uri="{FF2B5EF4-FFF2-40B4-BE49-F238E27FC236}">
                <a16:creationId xmlns:a16="http://schemas.microsoft.com/office/drawing/2014/main" id="{D38A6C72-1E26-062D-1A0A-004DF76AFA19}"/>
              </a:ext>
            </a:extLst>
          </p:cNvPr>
          <p:cNvCxnSpPr>
            <a:cxnSpLocks/>
          </p:cNvCxnSpPr>
          <p:nvPr/>
        </p:nvCxnSpPr>
        <p:spPr>
          <a:xfrm flipH="1">
            <a:off x="5807726" y="3700461"/>
            <a:ext cx="1482205" cy="169981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直接箭头连接符 63">
            <a:extLst>
              <a:ext uri="{FF2B5EF4-FFF2-40B4-BE49-F238E27FC236}">
                <a16:creationId xmlns:a16="http://schemas.microsoft.com/office/drawing/2014/main" id="{4B4C8E4D-71AA-D68C-8735-E2D71C1385EA}"/>
              </a:ext>
            </a:extLst>
          </p:cNvPr>
          <p:cNvCxnSpPr>
            <a:cxnSpLocks/>
          </p:cNvCxnSpPr>
          <p:nvPr/>
        </p:nvCxnSpPr>
        <p:spPr>
          <a:xfrm flipH="1">
            <a:off x="4331178" y="3747527"/>
            <a:ext cx="1482205" cy="169981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5" name="直接箭头连接符 64">
            <a:extLst>
              <a:ext uri="{FF2B5EF4-FFF2-40B4-BE49-F238E27FC236}">
                <a16:creationId xmlns:a16="http://schemas.microsoft.com/office/drawing/2014/main" id="{F875D392-0868-6B8C-6F04-8ACA9C4DB872}"/>
              </a:ext>
            </a:extLst>
          </p:cNvPr>
          <p:cNvCxnSpPr>
            <a:cxnSpLocks/>
            <a:endCxn id="28" idx="0"/>
          </p:cNvCxnSpPr>
          <p:nvPr/>
        </p:nvCxnSpPr>
        <p:spPr>
          <a:xfrm flipH="1">
            <a:off x="3002204" y="3740909"/>
            <a:ext cx="1439544" cy="168290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7" name="文本框 66">
            <a:extLst>
              <a:ext uri="{FF2B5EF4-FFF2-40B4-BE49-F238E27FC236}">
                <a16:creationId xmlns:a16="http://schemas.microsoft.com/office/drawing/2014/main" id="{86E7BD3A-99CA-CA2E-7DA1-CEE57E430278}"/>
              </a:ext>
            </a:extLst>
          </p:cNvPr>
          <p:cNvSpPr txBox="1"/>
          <p:nvPr/>
        </p:nvSpPr>
        <p:spPr>
          <a:xfrm>
            <a:off x="813979" y="877820"/>
            <a:ext cx="265083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PLF</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计划的工单</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PLG</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GB</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的工单</a:t>
            </a:r>
          </a:p>
        </p:txBody>
      </p:sp>
    </p:spTree>
    <p:extLst>
      <p:ext uri="{BB962C8B-B14F-4D97-AF65-F5344CB8AC3E}">
        <p14:creationId xmlns:p14="http://schemas.microsoft.com/office/powerpoint/2010/main" val="173022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a:extLst>
              <a:ext uri="{FF2B5EF4-FFF2-40B4-BE49-F238E27FC236}">
                <a16:creationId xmlns:a16="http://schemas.microsoft.com/office/drawing/2014/main" id="{9ABE6AF4-BD11-944D-45CA-E5FE2AAB8637}"/>
              </a:ext>
            </a:extLst>
          </p:cNvPr>
          <p:cNvSpPr/>
          <p:nvPr/>
        </p:nvSpPr>
        <p:spPr>
          <a:xfrm>
            <a:off x="6865374" y="2227006"/>
            <a:ext cx="4992329" cy="2979175"/>
          </a:xfrm>
          <a:prstGeom prst="rect">
            <a:avLst/>
          </a:prstGeom>
          <a:solidFill>
            <a:schemeClr val="accent4">
              <a:lumMod val="50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标题 1">
            <a:extLst>
              <a:ext uri="{FF2B5EF4-FFF2-40B4-BE49-F238E27FC236}">
                <a16:creationId xmlns:a16="http://schemas.microsoft.com/office/drawing/2014/main" id="{A8185940-C48D-E6F9-3E6D-2480532B71FA}"/>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计划的脊梁</a:t>
            </a:r>
            <a:r>
              <a:rPr lang="en-US" altLang="zh-CN" dirty="0">
                <a:solidFill>
                  <a:schemeClr val="bg1"/>
                </a:solidFill>
                <a:latin typeface="Arial" panose="020B0604020202020204" pitchFamily="34" charset="0"/>
                <a:ea typeface="微软雅黑" panose="020B0503020204020204" pitchFamily="34" charset="-122"/>
              </a:rPr>
              <a:t>-PEGGING</a:t>
            </a:r>
            <a:endParaRPr lang="zh-CN" altLang="en-US" dirty="0">
              <a:solidFill>
                <a:schemeClr val="bg1"/>
              </a:solidFill>
              <a:latin typeface="Arial" panose="020B0604020202020204" pitchFamily="34" charset="0"/>
              <a:ea typeface="微软雅黑" panose="020B0503020204020204" pitchFamily="34" charset="-122"/>
            </a:endParaRPr>
          </a:p>
        </p:txBody>
      </p:sp>
      <p:grpSp>
        <p:nvGrpSpPr>
          <p:cNvPr id="50" name="组合 49">
            <a:extLst>
              <a:ext uri="{FF2B5EF4-FFF2-40B4-BE49-F238E27FC236}">
                <a16:creationId xmlns:a16="http://schemas.microsoft.com/office/drawing/2014/main" id="{4465324C-F7D3-AA06-9F82-745AA1AC8165}"/>
              </a:ext>
            </a:extLst>
          </p:cNvPr>
          <p:cNvGrpSpPr/>
          <p:nvPr/>
        </p:nvGrpSpPr>
        <p:grpSpPr>
          <a:xfrm>
            <a:off x="704644" y="1460090"/>
            <a:ext cx="10895665" cy="4884242"/>
            <a:chOff x="432613" y="927060"/>
            <a:chExt cx="11167696" cy="5417272"/>
          </a:xfrm>
        </p:grpSpPr>
        <p:grpSp>
          <p:nvGrpSpPr>
            <p:cNvPr id="3" name="组合 2">
              <a:extLst>
                <a:ext uri="{FF2B5EF4-FFF2-40B4-BE49-F238E27FC236}">
                  <a16:creationId xmlns:a16="http://schemas.microsoft.com/office/drawing/2014/main" id="{04EFE495-6C6B-99D7-1527-5CEBAB7088A7}"/>
                </a:ext>
              </a:extLst>
            </p:cNvPr>
            <p:cNvGrpSpPr/>
            <p:nvPr/>
          </p:nvGrpSpPr>
          <p:grpSpPr>
            <a:xfrm>
              <a:off x="432613" y="927060"/>
              <a:ext cx="2322874" cy="5388101"/>
              <a:chOff x="432613" y="1090833"/>
              <a:chExt cx="2322874" cy="6076763"/>
            </a:xfrm>
          </p:grpSpPr>
          <p:sp>
            <p:nvSpPr>
              <p:cNvPr id="4" name="矩形: 圆角 3">
                <a:extLst>
                  <a:ext uri="{FF2B5EF4-FFF2-40B4-BE49-F238E27FC236}">
                    <a16:creationId xmlns:a16="http://schemas.microsoft.com/office/drawing/2014/main" id="{97299CB0-4395-8775-56B6-C39A10E0ADB0}"/>
                  </a:ext>
                </a:extLst>
              </p:cNvPr>
              <p:cNvSpPr/>
              <p:nvPr/>
            </p:nvSpPr>
            <p:spPr>
              <a:xfrm>
                <a:off x="460204" y="1090833"/>
                <a:ext cx="1673414" cy="830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5" name="矩形 4">
                <a:extLst>
                  <a:ext uri="{FF2B5EF4-FFF2-40B4-BE49-F238E27FC236}">
                    <a16:creationId xmlns:a16="http://schemas.microsoft.com/office/drawing/2014/main" id="{CC1804E2-2BD7-1874-3EB8-C4AFFD4EA549}"/>
                  </a:ext>
                </a:extLst>
              </p:cNvPr>
              <p:cNvSpPr/>
              <p:nvPr/>
            </p:nvSpPr>
            <p:spPr>
              <a:xfrm>
                <a:off x="591690" y="1206894"/>
                <a:ext cx="720000" cy="180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成品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 name="矩形 5">
                <a:extLst>
                  <a:ext uri="{FF2B5EF4-FFF2-40B4-BE49-F238E27FC236}">
                    <a16:creationId xmlns:a16="http://schemas.microsoft.com/office/drawing/2014/main" id="{0D424E8B-7970-D300-3DEE-A8C0E569C0F5}"/>
                  </a:ext>
                </a:extLst>
              </p:cNvPr>
              <p:cNvSpPr/>
              <p:nvPr/>
            </p:nvSpPr>
            <p:spPr>
              <a:xfrm>
                <a:off x="582562" y="1625503"/>
                <a:ext cx="720000" cy="180000"/>
              </a:xfrm>
              <a:prstGeom prst="rect">
                <a:avLst/>
              </a:prstGeom>
              <a:solidFill>
                <a:srgbClr val="3886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供应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7" name="直接箭头连接符 6">
                <a:extLst>
                  <a:ext uri="{FF2B5EF4-FFF2-40B4-BE49-F238E27FC236}">
                    <a16:creationId xmlns:a16="http://schemas.microsoft.com/office/drawing/2014/main" id="{B935613E-11BF-FF60-323E-A29EBAE2FD93}"/>
                  </a:ext>
                </a:extLst>
              </p:cNvPr>
              <p:cNvCxnSpPr>
                <a:cxnSpLocks/>
                <a:stCxn id="5" idx="2"/>
                <a:endCxn id="6" idx="0"/>
              </p:cNvCxnSpPr>
              <p:nvPr/>
            </p:nvCxnSpPr>
            <p:spPr>
              <a:xfrm flipH="1">
                <a:off x="942562" y="1386894"/>
                <a:ext cx="9128" cy="2386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8" name="文本框 7">
                <a:extLst>
                  <a:ext uri="{FF2B5EF4-FFF2-40B4-BE49-F238E27FC236}">
                    <a16:creationId xmlns:a16="http://schemas.microsoft.com/office/drawing/2014/main" id="{09A847CD-8B5B-DC93-ECD8-6D8B8949EFE5}"/>
                  </a:ext>
                </a:extLst>
              </p:cNvPr>
              <p:cNvSpPr txBox="1"/>
              <p:nvPr/>
            </p:nvSpPr>
            <p:spPr>
              <a:xfrm>
                <a:off x="1327824" y="1351859"/>
                <a:ext cx="1427663" cy="461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endPar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Planned A</a:t>
                </a:r>
                <a:endPar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9" name="组合 8">
                <a:extLst>
                  <a:ext uri="{FF2B5EF4-FFF2-40B4-BE49-F238E27FC236}">
                    <a16:creationId xmlns:a16="http://schemas.microsoft.com/office/drawing/2014/main" id="{002A7E06-8899-4E92-15E9-8361439D3ADA}"/>
                  </a:ext>
                </a:extLst>
              </p:cNvPr>
              <p:cNvGrpSpPr/>
              <p:nvPr/>
            </p:nvGrpSpPr>
            <p:grpSpPr>
              <a:xfrm>
                <a:off x="460204" y="2432514"/>
                <a:ext cx="1848850" cy="830730"/>
                <a:chOff x="1141504" y="2432514"/>
                <a:chExt cx="1848850" cy="830730"/>
              </a:xfrm>
            </p:grpSpPr>
            <p:sp>
              <p:nvSpPr>
                <p:cNvPr id="34" name="矩形: 圆角 33">
                  <a:extLst>
                    <a:ext uri="{FF2B5EF4-FFF2-40B4-BE49-F238E27FC236}">
                      <a16:creationId xmlns:a16="http://schemas.microsoft.com/office/drawing/2014/main" id="{EE40EC63-6E41-11BD-038A-C4C24DCD0918}"/>
                    </a:ext>
                  </a:extLst>
                </p:cNvPr>
                <p:cNvSpPr/>
                <p:nvPr/>
              </p:nvSpPr>
              <p:spPr>
                <a:xfrm>
                  <a:off x="1141504" y="2432514"/>
                  <a:ext cx="1673414" cy="830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35" name="矩形 34">
                  <a:extLst>
                    <a:ext uri="{FF2B5EF4-FFF2-40B4-BE49-F238E27FC236}">
                      <a16:creationId xmlns:a16="http://schemas.microsoft.com/office/drawing/2014/main" id="{81C1BB01-EEB2-35BE-6ED9-FB1FB04E401D}"/>
                    </a:ext>
                  </a:extLst>
                </p:cNvPr>
                <p:cNvSpPr/>
                <p:nvPr/>
              </p:nvSpPr>
              <p:spPr>
                <a:xfrm>
                  <a:off x="1272990" y="2548575"/>
                  <a:ext cx="720000" cy="180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6" name="矩形 35">
                  <a:extLst>
                    <a:ext uri="{FF2B5EF4-FFF2-40B4-BE49-F238E27FC236}">
                      <a16:creationId xmlns:a16="http://schemas.microsoft.com/office/drawing/2014/main" id="{94DC8422-6DCA-D7C1-B0E3-E8733BEB09ED}"/>
                    </a:ext>
                  </a:extLst>
                </p:cNvPr>
                <p:cNvSpPr/>
                <p:nvPr/>
              </p:nvSpPr>
              <p:spPr>
                <a:xfrm>
                  <a:off x="1263862" y="2967184"/>
                  <a:ext cx="720000" cy="180000"/>
                </a:xfrm>
                <a:prstGeom prst="rect">
                  <a:avLst/>
                </a:prstGeom>
                <a:solidFill>
                  <a:srgbClr val="3886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7" name="直接箭头连接符 36">
                  <a:extLst>
                    <a:ext uri="{FF2B5EF4-FFF2-40B4-BE49-F238E27FC236}">
                      <a16:creationId xmlns:a16="http://schemas.microsoft.com/office/drawing/2014/main" id="{E1666361-ED95-026C-F52A-E519FA7013EF}"/>
                    </a:ext>
                  </a:extLst>
                </p:cNvPr>
                <p:cNvCxnSpPr>
                  <a:cxnSpLocks/>
                  <a:stCxn id="35" idx="2"/>
                  <a:endCxn id="36" idx="0"/>
                </p:cNvCxnSpPr>
                <p:nvPr/>
              </p:nvCxnSpPr>
              <p:spPr>
                <a:xfrm flipH="1">
                  <a:off x="1623862" y="2728575"/>
                  <a:ext cx="9128" cy="2386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8" name="文本框 37">
                  <a:extLst>
                    <a:ext uri="{FF2B5EF4-FFF2-40B4-BE49-F238E27FC236}">
                      <a16:creationId xmlns:a16="http://schemas.microsoft.com/office/drawing/2014/main" id="{B4B5D5C6-4338-F561-4C79-24A537745E38}"/>
                    </a:ext>
                  </a:extLst>
                </p:cNvPr>
                <p:cNvSpPr txBox="1"/>
                <p:nvPr/>
              </p:nvSpPr>
              <p:spPr>
                <a:xfrm>
                  <a:off x="2009124" y="2709379"/>
                  <a:ext cx="981230" cy="461995"/>
                </a:xfrm>
                <a:prstGeom prst="rect">
                  <a:avLst/>
                </a:prstGeom>
                <a:noFill/>
              </p:spPr>
              <p:txBody>
                <a:bodyPr wrap="square" rtlCol="0">
                  <a:spAutoFit/>
                </a:bodyPr>
                <a:lstStyle>
                  <a:defPPr>
                    <a:defRPr lang="zh-CN"/>
                  </a:defPPr>
                  <a:lvl1pPr>
                    <a:defRPr sz="10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endPar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Planned B</a:t>
                  </a:r>
                  <a:endPar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cxnSp>
            <p:nvCxnSpPr>
              <p:cNvPr id="10" name="直接箭头连接符 9">
                <a:extLst>
                  <a:ext uri="{FF2B5EF4-FFF2-40B4-BE49-F238E27FC236}">
                    <a16:creationId xmlns:a16="http://schemas.microsoft.com/office/drawing/2014/main" id="{722CE3C0-0B73-B3BC-086A-7A6292C16F6A}"/>
                  </a:ext>
                </a:extLst>
              </p:cNvPr>
              <p:cNvCxnSpPr>
                <a:stCxn id="4" idx="2"/>
                <a:endCxn id="34" idx="0"/>
              </p:cNvCxnSpPr>
              <p:nvPr/>
            </p:nvCxnSpPr>
            <p:spPr>
              <a:xfrm>
                <a:off x="1296911" y="1921563"/>
                <a:ext cx="0" cy="510951"/>
              </a:xfrm>
              <a:prstGeom prst="straightConnector1">
                <a:avLst/>
              </a:prstGeom>
              <a:ln w="25400">
                <a:headEnd type="triangle"/>
                <a:tailEnd type="triangle"/>
              </a:ln>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BE2BC989-0EEA-B99C-0640-A48F20B6AD82}"/>
                  </a:ext>
                </a:extLst>
              </p:cNvPr>
              <p:cNvSpPr txBox="1"/>
              <p:nvPr/>
            </p:nvSpPr>
            <p:spPr>
              <a:xfrm>
                <a:off x="1296911" y="2055405"/>
                <a:ext cx="716146" cy="327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展开</a:t>
                </a:r>
              </a:p>
            </p:txBody>
          </p:sp>
          <p:grpSp>
            <p:nvGrpSpPr>
              <p:cNvPr id="12" name="组合 11">
                <a:extLst>
                  <a:ext uri="{FF2B5EF4-FFF2-40B4-BE49-F238E27FC236}">
                    <a16:creationId xmlns:a16="http://schemas.microsoft.com/office/drawing/2014/main" id="{44E40A12-4423-9822-B464-31D932D3DE97}"/>
                  </a:ext>
                </a:extLst>
              </p:cNvPr>
              <p:cNvGrpSpPr/>
              <p:nvPr/>
            </p:nvGrpSpPr>
            <p:grpSpPr>
              <a:xfrm>
                <a:off x="460204" y="3777452"/>
                <a:ext cx="1848850" cy="830730"/>
                <a:chOff x="1141504" y="2432514"/>
                <a:chExt cx="1848850" cy="830730"/>
              </a:xfrm>
            </p:grpSpPr>
            <p:sp>
              <p:nvSpPr>
                <p:cNvPr id="29" name="矩形: 圆角 28">
                  <a:extLst>
                    <a:ext uri="{FF2B5EF4-FFF2-40B4-BE49-F238E27FC236}">
                      <a16:creationId xmlns:a16="http://schemas.microsoft.com/office/drawing/2014/main" id="{0F901A82-0E29-4A54-9466-160811B9C7E4}"/>
                    </a:ext>
                  </a:extLst>
                </p:cNvPr>
                <p:cNvSpPr/>
                <p:nvPr/>
              </p:nvSpPr>
              <p:spPr>
                <a:xfrm>
                  <a:off x="1141504" y="2432514"/>
                  <a:ext cx="1673414" cy="830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30" name="矩形 29">
                  <a:extLst>
                    <a:ext uri="{FF2B5EF4-FFF2-40B4-BE49-F238E27FC236}">
                      <a16:creationId xmlns:a16="http://schemas.microsoft.com/office/drawing/2014/main" id="{3895EC04-1B3A-CF62-CF81-7DF7D87C1037}"/>
                    </a:ext>
                  </a:extLst>
                </p:cNvPr>
                <p:cNvSpPr/>
                <p:nvPr/>
              </p:nvSpPr>
              <p:spPr>
                <a:xfrm>
                  <a:off x="1272990" y="2548575"/>
                  <a:ext cx="720000" cy="180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1" name="矩形 30">
                  <a:extLst>
                    <a:ext uri="{FF2B5EF4-FFF2-40B4-BE49-F238E27FC236}">
                      <a16:creationId xmlns:a16="http://schemas.microsoft.com/office/drawing/2014/main" id="{48EBF227-EEE9-2742-6E44-12486071E998}"/>
                    </a:ext>
                  </a:extLst>
                </p:cNvPr>
                <p:cNvSpPr/>
                <p:nvPr/>
              </p:nvSpPr>
              <p:spPr>
                <a:xfrm>
                  <a:off x="1263862" y="2967184"/>
                  <a:ext cx="720000" cy="180000"/>
                </a:xfrm>
                <a:prstGeom prst="rect">
                  <a:avLst/>
                </a:prstGeom>
                <a:solidFill>
                  <a:srgbClr val="3886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2" name="直接箭头连接符 31">
                  <a:extLst>
                    <a:ext uri="{FF2B5EF4-FFF2-40B4-BE49-F238E27FC236}">
                      <a16:creationId xmlns:a16="http://schemas.microsoft.com/office/drawing/2014/main" id="{CF1EB21E-B549-7A63-1E5C-DA4BB3ACEC09}"/>
                    </a:ext>
                  </a:extLst>
                </p:cNvPr>
                <p:cNvCxnSpPr>
                  <a:cxnSpLocks/>
                  <a:stCxn id="30" idx="2"/>
                  <a:endCxn id="31" idx="0"/>
                </p:cNvCxnSpPr>
                <p:nvPr/>
              </p:nvCxnSpPr>
              <p:spPr>
                <a:xfrm flipH="1">
                  <a:off x="1623862" y="2728575"/>
                  <a:ext cx="9128" cy="2386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2E8A0FB4-7401-63BA-5AB2-AF31DF582030}"/>
                    </a:ext>
                  </a:extLst>
                </p:cNvPr>
                <p:cNvSpPr txBox="1"/>
                <p:nvPr/>
              </p:nvSpPr>
              <p:spPr>
                <a:xfrm>
                  <a:off x="2009124" y="2709379"/>
                  <a:ext cx="981230" cy="461995"/>
                </a:xfrm>
                <a:prstGeom prst="rect">
                  <a:avLst/>
                </a:prstGeom>
                <a:noFill/>
              </p:spPr>
              <p:txBody>
                <a:bodyPr wrap="square" rtlCol="0">
                  <a:spAutoFit/>
                </a:bodyPr>
                <a:lstStyle>
                  <a:defPPr>
                    <a:defRPr lang="zh-CN"/>
                  </a:defPPr>
                  <a:lvl1pPr>
                    <a:defRPr sz="10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endPar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Planned C</a:t>
                  </a:r>
                  <a:endPar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cxnSp>
            <p:nvCxnSpPr>
              <p:cNvPr id="13" name="直接箭头连接符 12">
                <a:extLst>
                  <a:ext uri="{FF2B5EF4-FFF2-40B4-BE49-F238E27FC236}">
                    <a16:creationId xmlns:a16="http://schemas.microsoft.com/office/drawing/2014/main" id="{75F12A32-1927-FD86-9F46-0F58C262D767}"/>
                  </a:ext>
                </a:extLst>
              </p:cNvPr>
              <p:cNvCxnSpPr>
                <a:endCxn id="29" idx="0"/>
              </p:cNvCxnSpPr>
              <p:nvPr/>
            </p:nvCxnSpPr>
            <p:spPr>
              <a:xfrm>
                <a:off x="1296911" y="3266501"/>
                <a:ext cx="0" cy="510951"/>
              </a:xfrm>
              <a:prstGeom prst="straightConnector1">
                <a:avLst/>
              </a:prstGeom>
              <a:ln w="25400">
                <a:headEnd type="triangle"/>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0A1771A0-A3F3-0457-818D-322E0F2610FE}"/>
                  </a:ext>
                </a:extLst>
              </p:cNvPr>
              <p:cNvSpPr txBox="1"/>
              <p:nvPr/>
            </p:nvSpPr>
            <p:spPr>
              <a:xfrm>
                <a:off x="1296911" y="3400342"/>
                <a:ext cx="716146" cy="327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展开</a:t>
                </a:r>
              </a:p>
            </p:txBody>
          </p:sp>
          <p:grpSp>
            <p:nvGrpSpPr>
              <p:cNvPr id="15" name="组合 14">
                <a:extLst>
                  <a:ext uri="{FF2B5EF4-FFF2-40B4-BE49-F238E27FC236}">
                    <a16:creationId xmlns:a16="http://schemas.microsoft.com/office/drawing/2014/main" id="{D29328E8-B82F-70CE-7A3D-92973D08408F}"/>
                  </a:ext>
                </a:extLst>
              </p:cNvPr>
              <p:cNvGrpSpPr/>
              <p:nvPr/>
            </p:nvGrpSpPr>
            <p:grpSpPr>
              <a:xfrm>
                <a:off x="432613" y="4991928"/>
                <a:ext cx="1803502" cy="830730"/>
                <a:chOff x="1186852" y="2432514"/>
                <a:chExt cx="1803502" cy="830730"/>
              </a:xfrm>
            </p:grpSpPr>
            <p:sp>
              <p:nvSpPr>
                <p:cNvPr id="24" name="矩形: 圆角 23">
                  <a:extLst>
                    <a:ext uri="{FF2B5EF4-FFF2-40B4-BE49-F238E27FC236}">
                      <a16:creationId xmlns:a16="http://schemas.microsoft.com/office/drawing/2014/main" id="{DD6DE365-B25F-BC4B-7743-695D07791DBE}"/>
                    </a:ext>
                  </a:extLst>
                </p:cNvPr>
                <p:cNvSpPr/>
                <p:nvPr/>
              </p:nvSpPr>
              <p:spPr>
                <a:xfrm>
                  <a:off x="1186852" y="2432514"/>
                  <a:ext cx="1673414" cy="830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25" name="矩形 24">
                  <a:extLst>
                    <a:ext uri="{FF2B5EF4-FFF2-40B4-BE49-F238E27FC236}">
                      <a16:creationId xmlns:a16="http://schemas.microsoft.com/office/drawing/2014/main" id="{53477990-8552-7E7D-48A1-AC1DED78C439}"/>
                    </a:ext>
                  </a:extLst>
                </p:cNvPr>
                <p:cNvSpPr/>
                <p:nvPr/>
              </p:nvSpPr>
              <p:spPr>
                <a:xfrm>
                  <a:off x="1272990" y="2548575"/>
                  <a:ext cx="720000" cy="180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矩形 25">
                  <a:extLst>
                    <a:ext uri="{FF2B5EF4-FFF2-40B4-BE49-F238E27FC236}">
                      <a16:creationId xmlns:a16="http://schemas.microsoft.com/office/drawing/2014/main" id="{ED62B518-DF58-63BA-A8A9-6DB4B1799DC7}"/>
                    </a:ext>
                  </a:extLst>
                </p:cNvPr>
                <p:cNvSpPr/>
                <p:nvPr/>
              </p:nvSpPr>
              <p:spPr>
                <a:xfrm>
                  <a:off x="1263862" y="2967184"/>
                  <a:ext cx="720000" cy="180000"/>
                </a:xfrm>
                <a:prstGeom prst="rect">
                  <a:avLst/>
                </a:prstGeom>
                <a:solidFill>
                  <a:srgbClr val="3886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组件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27" name="直接箭头连接符 26">
                  <a:extLst>
                    <a:ext uri="{FF2B5EF4-FFF2-40B4-BE49-F238E27FC236}">
                      <a16:creationId xmlns:a16="http://schemas.microsoft.com/office/drawing/2014/main" id="{686182A3-9856-9DA9-9257-6A9528B24021}"/>
                    </a:ext>
                  </a:extLst>
                </p:cNvPr>
                <p:cNvCxnSpPr>
                  <a:cxnSpLocks/>
                  <a:stCxn id="25" idx="2"/>
                  <a:endCxn id="26" idx="0"/>
                </p:cNvCxnSpPr>
                <p:nvPr/>
              </p:nvCxnSpPr>
              <p:spPr>
                <a:xfrm flipH="1">
                  <a:off x="1623862" y="2728575"/>
                  <a:ext cx="9128" cy="2386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8D4617C7-9DD8-8152-6FD3-F387691FE5EF}"/>
                    </a:ext>
                  </a:extLst>
                </p:cNvPr>
                <p:cNvSpPr txBox="1"/>
                <p:nvPr/>
              </p:nvSpPr>
              <p:spPr>
                <a:xfrm>
                  <a:off x="2009125" y="2709379"/>
                  <a:ext cx="981229" cy="461995"/>
                </a:xfrm>
                <a:prstGeom prst="rect">
                  <a:avLst/>
                </a:prstGeom>
                <a:noFill/>
              </p:spPr>
              <p:txBody>
                <a:bodyPr wrap="square" rtlCol="0">
                  <a:spAutoFit/>
                </a:bodyPr>
                <a:lstStyle>
                  <a:defPPr>
                    <a:defRPr lang="zh-CN"/>
                  </a:defPPr>
                  <a:lvl1pPr>
                    <a:defRPr sz="10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endPar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Planned D</a:t>
                  </a:r>
                  <a:endPar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16" name="组合 15">
                <a:extLst>
                  <a:ext uri="{FF2B5EF4-FFF2-40B4-BE49-F238E27FC236}">
                    <a16:creationId xmlns:a16="http://schemas.microsoft.com/office/drawing/2014/main" id="{12DB5245-E680-40F8-62B2-99DDEF7DBE7D}"/>
                  </a:ext>
                </a:extLst>
              </p:cNvPr>
              <p:cNvGrpSpPr/>
              <p:nvPr/>
            </p:nvGrpSpPr>
            <p:grpSpPr>
              <a:xfrm>
                <a:off x="440171" y="6336866"/>
                <a:ext cx="1795944" cy="830730"/>
                <a:chOff x="1194410" y="2432514"/>
                <a:chExt cx="1795944" cy="830730"/>
              </a:xfrm>
            </p:grpSpPr>
            <p:sp>
              <p:nvSpPr>
                <p:cNvPr id="19" name="矩形: 圆角 18">
                  <a:extLst>
                    <a:ext uri="{FF2B5EF4-FFF2-40B4-BE49-F238E27FC236}">
                      <a16:creationId xmlns:a16="http://schemas.microsoft.com/office/drawing/2014/main" id="{91456918-441F-A36D-400D-B728D804E7E9}"/>
                    </a:ext>
                  </a:extLst>
                </p:cNvPr>
                <p:cNvSpPr/>
                <p:nvPr/>
              </p:nvSpPr>
              <p:spPr>
                <a:xfrm>
                  <a:off x="1194410" y="2432514"/>
                  <a:ext cx="1673414" cy="830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20" name="矩形 19">
                  <a:extLst>
                    <a:ext uri="{FF2B5EF4-FFF2-40B4-BE49-F238E27FC236}">
                      <a16:creationId xmlns:a16="http://schemas.microsoft.com/office/drawing/2014/main" id="{1256CE21-5B48-DF38-9E02-F8E28A25FBB0}"/>
                    </a:ext>
                  </a:extLst>
                </p:cNvPr>
                <p:cNvSpPr/>
                <p:nvPr/>
              </p:nvSpPr>
              <p:spPr>
                <a:xfrm>
                  <a:off x="1272990" y="2548575"/>
                  <a:ext cx="720000" cy="180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原材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1" name="矩形 20">
                  <a:extLst>
                    <a:ext uri="{FF2B5EF4-FFF2-40B4-BE49-F238E27FC236}">
                      <a16:creationId xmlns:a16="http://schemas.microsoft.com/office/drawing/2014/main" id="{7A792407-FAB6-F545-874D-544D77412C9A}"/>
                    </a:ext>
                  </a:extLst>
                </p:cNvPr>
                <p:cNvSpPr/>
                <p:nvPr/>
              </p:nvSpPr>
              <p:spPr>
                <a:xfrm>
                  <a:off x="1263862" y="2967184"/>
                  <a:ext cx="720000" cy="180000"/>
                </a:xfrm>
                <a:prstGeom prst="rect">
                  <a:avLst/>
                </a:prstGeom>
                <a:solidFill>
                  <a:srgbClr val="3886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原材 </a:t>
                  </a:r>
                  <a:r>
                    <a:rPr kumimoji="0" lang="en-US" altLang="zh-CN"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a:t>
                  </a:r>
                  <a:endPar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22" name="直接箭头连接符 21">
                  <a:extLst>
                    <a:ext uri="{FF2B5EF4-FFF2-40B4-BE49-F238E27FC236}">
                      <a16:creationId xmlns:a16="http://schemas.microsoft.com/office/drawing/2014/main" id="{59C4549C-75D7-82E1-D785-A85EAC3F132D}"/>
                    </a:ext>
                  </a:extLst>
                </p:cNvPr>
                <p:cNvCxnSpPr>
                  <a:cxnSpLocks/>
                  <a:stCxn id="20" idx="2"/>
                  <a:endCxn id="21" idx="0"/>
                </p:cNvCxnSpPr>
                <p:nvPr/>
              </p:nvCxnSpPr>
              <p:spPr>
                <a:xfrm flipH="1">
                  <a:off x="1623862" y="2728575"/>
                  <a:ext cx="9128" cy="2386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F83EDFAF-D466-BB44-1222-02895863E6C0}"/>
                    </a:ext>
                  </a:extLst>
                </p:cNvPr>
                <p:cNvSpPr txBox="1"/>
                <p:nvPr/>
              </p:nvSpPr>
              <p:spPr>
                <a:xfrm>
                  <a:off x="2009124" y="2709379"/>
                  <a:ext cx="981230" cy="461995"/>
                </a:xfrm>
                <a:prstGeom prst="rect">
                  <a:avLst/>
                </a:prstGeom>
                <a:noFill/>
              </p:spPr>
              <p:txBody>
                <a:bodyPr wrap="square" rtlCol="0">
                  <a:spAutoFit/>
                </a:bodyPr>
                <a:lstStyle>
                  <a:defPPr>
                    <a:defRPr lang="zh-CN"/>
                  </a:defPPr>
                  <a:lvl1pPr>
                    <a:defRPr sz="10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endPar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Planned E</a:t>
                  </a:r>
                  <a:endParaRPr kumimoji="0" lang="zh-CN" altLang="en-US" sz="9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cxnSp>
            <p:nvCxnSpPr>
              <p:cNvPr id="17" name="直接箭头连接符 16">
                <a:extLst>
                  <a:ext uri="{FF2B5EF4-FFF2-40B4-BE49-F238E27FC236}">
                    <a16:creationId xmlns:a16="http://schemas.microsoft.com/office/drawing/2014/main" id="{4A6AF2F3-15EA-5B41-EB81-520BFEB1BDB8}"/>
                  </a:ext>
                </a:extLst>
              </p:cNvPr>
              <p:cNvCxnSpPr>
                <a:endCxn id="19" idx="0"/>
              </p:cNvCxnSpPr>
              <p:nvPr/>
            </p:nvCxnSpPr>
            <p:spPr>
              <a:xfrm>
                <a:off x="1276878" y="5825915"/>
                <a:ext cx="0" cy="510951"/>
              </a:xfrm>
              <a:prstGeom prst="straightConnector1">
                <a:avLst/>
              </a:prstGeom>
              <a:ln w="25400">
                <a:headEnd type="triangle"/>
                <a:tailEnd type="triangle"/>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AB264598-A4C6-9E26-C369-648DA413EEC9}"/>
                  </a:ext>
                </a:extLst>
              </p:cNvPr>
              <p:cNvSpPr txBox="1"/>
              <p:nvPr/>
            </p:nvSpPr>
            <p:spPr>
              <a:xfrm>
                <a:off x="1223972" y="5959757"/>
                <a:ext cx="716146" cy="3272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展开</a:t>
                </a:r>
              </a:p>
            </p:txBody>
          </p:sp>
        </p:grpSp>
        <p:sp>
          <p:nvSpPr>
            <p:cNvPr id="39" name="矩形: 圆角 38">
              <a:extLst>
                <a:ext uri="{FF2B5EF4-FFF2-40B4-BE49-F238E27FC236}">
                  <a16:creationId xmlns:a16="http://schemas.microsoft.com/office/drawing/2014/main" id="{71E6E16C-0733-0346-E638-6A0BE498D079}"/>
                </a:ext>
              </a:extLst>
            </p:cNvPr>
            <p:cNvSpPr/>
            <p:nvPr/>
          </p:nvSpPr>
          <p:spPr>
            <a:xfrm>
              <a:off x="3766781" y="5549403"/>
              <a:ext cx="2552131" cy="794929"/>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Pegging </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40" name="直接箭头连接符 39">
              <a:extLst>
                <a:ext uri="{FF2B5EF4-FFF2-40B4-BE49-F238E27FC236}">
                  <a16:creationId xmlns:a16="http://schemas.microsoft.com/office/drawing/2014/main" id="{7DC5431B-0558-8837-4576-B852E00ED1C2}"/>
                </a:ext>
              </a:extLst>
            </p:cNvPr>
            <p:cNvCxnSpPr>
              <a:cxnSpLocks/>
              <a:stCxn id="39" idx="1"/>
            </p:cNvCxnSpPr>
            <p:nvPr/>
          </p:nvCxnSpPr>
          <p:spPr>
            <a:xfrm flipH="1" flipV="1">
              <a:off x="2106027" y="5935711"/>
              <a:ext cx="1660754" cy="11157"/>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1" name="文本框 40">
              <a:extLst>
                <a:ext uri="{FF2B5EF4-FFF2-40B4-BE49-F238E27FC236}">
                  <a16:creationId xmlns:a16="http://schemas.microsoft.com/office/drawing/2014/main" id="{73CDF3B4-EB8F-F472-AF95-26B7CA2D709C}"/>
                </a:ext>
              </a:extLst>
            </p:cNvPr>
            <p:cNvSpPr txBox="1"/>
            <p:nvPr/>
          </p:nvSpPr>
          <p:spPr>
            <a:xfrm>
              <a:off x="2484118" y="5582014"/>
              <a:ext cx="1034659" cy="341366"/>
            </a:xfrm>
            <a:prstGeom prst="rect">
              <a:avLst/>
            </a:prstGeom>
            <a:noFill/>
          </p:spPr>
          <p:txBody>
            <a:bodyPr wrap="square" rtlCol="0">
              <a:spAutoFit/>
            </a:bodyPr>
            <a:lstStyle>
              <a:defPPr>
                <a:defRPr lang="zh-CN"/>
              </a:defPPr>
              <a:lvl1pPr>
                <a:defRPr sz="1400" b="1">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物料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42" name="直接箭头连接符 41">
              <a:extLst>
                <a:ext uri="{FF2B5EF4-FFF2-40B4-BE49-F238E27FC236}">
                  <a16:creationId xmlns:a16="http://schemas.microsoft.com/office/drawing/2014/main" id="{31798BFE-12A2-25FA-4E31-56078F4DF909}"/>
                </a:ext>
              </a:extLst>
            </p:cNvPr>
            <p:cNvCxnSpPr>
              <a:cxnSpLocks/>
              <a:stCxn id="39" idx="0"/>
            </p:cNvCxnSpPr>
            <p:nvPr/>
          </p:nvCxnSpPr>
          <p:spPr>
            <a:xfrm flipH="1" flipV="1">
              <a:off x="2060679" y="4743191"/>
              <a:ext cx="2982168" cy="806212"/>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3" name="文本框 42">
              <a:extLst>
                <a:ext uri="{FF2B5EF4-FFF2-40B4-BE49-F238E27FC236}">
                  <a16:creationId xmlns:a16="http://schemas.microsoft.com/office/drawing/2014/main" id="{C0132F54-2FFC-5F4F-385B-AD677E2DF47C}"/>
                </a:ext>
              </a:extLst>
            </p:cNvPr>
            <p:cNvSpPr txBox="1"/>
            <p:nvPr/>
          </p:nvSpPr>
          <p:spPr>
            <a:xfrm>
              <a:off x="2517103" y="4543290"/>
              <a:ext cx="3012840" cy="341366"/>
            </a:xfrm>
            <a:prstGeom prst="rect">
              <a:avLst/>
            </a:prstGeom>
            <a:noFill/>
          </p:spPr>
          <p:txBody>
            <a:bodyPr wrap="square" rtlCol="0">
              <a:spAutoFit/>
            </a:bodyPr>
            <a:lstStyle>
              <a:defPPr>
                <a:defRPr lang="zh-CN"/>
              </a:defPPr>
              <a:lvl1pPr>
                <a:defRPr sz="1400" b="1">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驱动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Father Demand + A + Site</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44" name="直接箭头连接符 43">
              <a:extLst>
                <a:ext uri="{FF2B5EF4-FFF2-40B4-BE49-F238E27FC236}">
                  <a16:creationId xmlns:a16="http://schemas.microsoft.com/office/drawing/2014/main" id="{A63EDDC2-6113-5DB7-8A2E-1E9F76E6DB6C}"/>
                </a:ext>
              </a:extLst>
            </p:cNvPr>
            <p:cNvCxnSpPr>
              <a:cxnSpLocks/>
              <a:stCxn id="39" idx="0"/>
            </p:cNvCxnSpPr>
            <p:nvPr/>
          </p:nvCxnSpPr>
          <p:spPr>
            <a:xfrm flipH="1" flipV="1">
              <a:off x="2133618" y="1275749"/>
              <a:ext cx="2909229" cy="4273654"/>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45" name="文本框 44">
              <a:extLst>
                <a:ext uri="{FF2B5EF4-FFF2-40B4-BE49-F238E27FC236}">
                  <a16:creationId xmlns:a16="http://schemas.microsoft.com/office/drawing/2014/main" id="{F949AA20-A6B1-E390-029A-BED4638EE877}"/>
                </a:ext>
              </a:extLst>
            </p:cNvPr>
            <p:cNvSpPr txBox="1"/>
            <p:nvPr/>
          </p:nvSpPr>
          <p:spPr>
            <a:xfrm>
              <a:off x="3182369" y="2314710"/>
              <a:ext cx="2591476" cy="3413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原始驱动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 +A+ Site</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46" name="组合 45">
              <a:extLst>
                <a:ext uri="{FF2B5EF4-FFF2-40B4-BE49-F238E27FC236}">
                  <a16:creationId xmlns:a16="http://schemas.microsoft.com/office/drawing/2014/main" id="{0A740687-D30E-A942-F889-C94A198AC1AD}"/>
                </a:ext>
              </a:extLst>
            </p:cNvPr>
            <p:cNvGrpSpPr/>
            <p:nvPr/>
          </p:nvGrpSpPr>
          <p:grpSpPr>
            <a:xfrm>
              <a:off x="5042846" y="1933557"/>
              <a:ext cx="6557463" cy="3615847"/>
              <a:chOff x="5042846" y="1933557"/>
              <a:chExt cx="6557463" cy="3615847"/>
            </a:xfrm>
          </p:grpSpPr>
          <p:graphicFrame>
            <p:nvGraphicFramePr>
              <p:cNvPr id="47" name="图示 46">
                <a:extLst>
                  <a:ext uri="{FF2B5EF4-FFF2-40B4-BE49-F238E27FC236}">
                    <a16:creationId xmlns:a16="http://schemas.microsoft.com/office/drawing/2014/main" id="{E6000B10-F442-4609-D62E-E70A8DAE71FB}"/>
                  </a:ext>
                </a:extLst>
              </p:cNvPr>
              <p:cNvGraphicFramePr/>
              <p:nvPr/>
            </p:nvGraphicFramePr>
            <p:xfrm>
              <a:off x="6974006" y="1933557"/>
              <a:ext cx="4626303" cy="28096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8" name="直接箭头连接符 47">
                <a:extLst>
                  <a:ext uri="{FF2B5EF4-FFF2-40B4-BE49-F238E27FC236}">
                    <a16:creationId xmlns:a16="http://schemas.microsoft.com/office/drawing/2014/main" id="{A9BD4CA9-EEED-D4ED-0B6E-675806339728}"/>
                  </a:ext>
                </a:extLst>
              </p:cNvPr>
              <p:cNvCxnSpPr>
                <a:cxnSpLocks/>
                <a:endCxn id="39" idx="0"/>
              </p:cNvCxnSpPr>
              <p:nvPr/>
            </p:nvCxnSpPr>
            <p:spPr>
              <a:xfrm flipH="1">
                <a:off x="5042846" y="3206803"/>
                <a:ext cx="1704310" cy="2342601"/>
              </a:xfrm>
              <a:prstGeom prst="straightConnector1">
                <a:avLst/>
              </a:prstGeom>
              <a:ln>
                <a:solidFill>
                  <a:schemeClr val="tx2">
                    <a:lumMod val="90000"/>
                  </a:schemeClr>
                </a:solidFill>
                <a:headEnd type="triangle"/>
                <a:tailEnd type="triangle"/>
              </a:ln>
            </p:spPr>
            <p:style>
              <a:lnRef idx="3">
                <a:schemeClr val="accent4"/>
              </a:lnRef>
              <a:fillRef idx="0">
                <a:schemeClr val="accent4"/>
              </a:fillRef>
              <a:effectRef idx="2">
                <a:schemeClr val="accent4"/>
              </a:effectRef>
              <a:fontRef idx="minor">
                <a:schemeClr val="tx1"/>
              </a:fontRef>
            </p:style>
          </p:cxnSp>
        </p:grpSp>
        <p:sp>
          <p:nvSpPr>
            <p:cNvPr id="49" name="文本框 48">
              <a:extLst>
                <a:ext uri="{FF2B5EF4-FFF2-40B4-BE49-F238E27FC236}">
                  <a16:creationId xmlns:a16="http://schemas.microsoft.com/office/drawing/2014/main" id="{F78C5898-2B19-BCAA-33BD-53B6EE12D378}"/>
                </a:ext>
              </a:extLst>
            </p:cNvPr>
            <p:cNvSpPr txBox="1"/>
            <p:nvPr/>
          </p:nvSpPr>
          <p:spPr>
            <a:xfrm>
              <a:off x="5529943" y="3724371"/>
              <a:ext cx="863614" cy="4096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p>
          </p:txBody>
        </p:sp>
      </p:grpSp>
    </p:spTree>
    <p:extLst>
      <p:ext uri="{BB962C8B-B14F-4D97-AF65-F5344CB8AC3E}">
        <p14:creationId xmlns:p14="http://schemas.microsoft.com/office/powerpoint/2010/main" val="2580453211"/>
      </p:ext>
    </p:extLst>
  </p:cSld>
  <p:clrMapOvr>
    <a:overrideClrMapping bg1="dk1" tx1="lt1" bg2="dk2" tx2="lt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567AD10-B0A6-573E-7DD5-88EDAE19CB41}"/>
              </a:ext>
            </a:extLst>
          </p:cNvPr>
          <p:cNvSpPr>
            <a:spLocks noGrp="1"/>
          </p:cNvSpPr>
          <p:nvPr>
            <p:ph type="ctrTitle"/>
          </p:nvPr>
        </p:nvSpPr>
        <p:spPr/>
        <p:txBody>
          <a:bodyPr/>
          <a:lstStyle/>
          <a:p>
            <a:r>
              <a:rPr lang="en-US" altLang="zh-CN" dirty="0">
                <a:latin typeface="Arial" panose="020B0604020202020204" pitchFamily="34" charset="0"/>
                <a:ea typeface="微软雅黑" panose="020B0503020204020204" pitchFamily="34" charset="-122"/>
              </a:rPr>
              <a:t>Alternate Production line/Resource</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4764622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A0D3-64E2-D620-B3E7-8AD370C9E1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D7E3DFD-B96C-5DB6-1319-B65EFE746D2B}"/>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主资源先分配，然后可作为替换资源再分配</a:t>
            </a:r>
          </a:p>
        </p:txBody>
      </p:sp>
      <p:grpSp>
        <p:nvGrpSpPr>
          <p:cNvPr id="3" name="组合 2">
            <a:extLst>
              <a:ext uri="{FF2B5EF4-FFF2-40B4-BE49-F238E27FC236}">
                <a16:creationId xmlns:a16="http://schemas.microsoft.com/office/drawing/2014/main" id="{88E9BCE6-1939-FD92-CB68-054EF8C2B8F5}"/>
              </a:ext>
            </a:extLst>
          </p:cNvPr>
          <p:cNvGrpSpPr/>
          <p:nvPr/>
        </p:nvGrpSpPr>
        <p:grpSpPr>
          <a:xfrm>
            <a:off x="561300" y="2302869"/>
            <a:ext cx="10522040" cy="4378817"/>
            <a:chOff x="341290" y="1674253"/>
            <a:chExt cx="10522040" cy="4378817"/>
          </a:xfrm>
        </p:grpSpPr>
        <p:grpSp>
          <p:nvGrpSpPr>
            <p:cNvPr id="4" name="组合 3">
              <a:extLst>
                <a:ext uri="{FF2B5EF4-FFF2-40B4-BE49-F238E27FC236}">
                  <a16:creationId xmlns:a16="http://schemas.microsoft.com/office/drawing/2014/main" id="{9E4E3218-54C1-57C4-1C01-FC8303557990}"/>
                </a:ext>
              </a:extLst>
            </p:cNvPr>
            <p:cNvGrpSpPr/>
            <p:nvPr/>
          </p:nvGrpSpPr>
          <p:grpSpPr>
            <a:xfrm>
              <a:off x="1493949" y="1674253"/>
              <a:ext cx="9369381" cy="4378817"/>
              <a:chOff x="1493949" y="1674253"/>
              <a:chExt cx="9369381" cy="4378817"/>
            </a:xfrm>
          </p:grpSpPr>
          <p:cxnSp>
            <p:nvCxnSpPr>
              <p:cNvPr id="9" name="直接连接符 8">
                <a:extLst>
                  <a:ext uri="{FF2B5EF4-FFF2-40B4-BE49-F238E27FC236}">
                    <a16:creationId xmlns:a16="http://schemas.microsoft.com/office/drawing/2014/main" id="{027E60BA-07D0-DDAC-DBF1-CE0FF232BE22}"/>
                  </a:ext>
                </a:extLst>
              </p:cNvPr>
              <p:cNvCxnSpPr/>
              <p:nvPr/>
            </p:nvCxnSpPr>
            <p:spPr>
              <a:xfrm>
                <a:off x="1500389" y="3844343"/>
                <a:ext cx="9362941" cy="0"/>
              </a:xfrm>
              <a:prstGeom prst="line">
                <a:avLst/>
              </a:prstGeom>
              <a:ln>
                <a:solidFill>
                  <a:schemeClr val="tx1"/>
                </a:solidFill>
              </a:ln>
            </p:spPr>
            <p:style>
              <a:lnRef idx="1">
                <a:schemeClr val="accent2"/>
              </a:lnRef>
              <a:fillRef idx="0">
                <a:schemeClr val="accent2"/>
              </a:fillRef>
              <a:effectRef idx="0">
                <a:schemeClr val="accent2"/>
              </a:effectRef>
              <a:fontRef idx="minor">
                <a:schemeClr val="tx1"/>
              </a:fontRef>
            </p:style>
          </p:cxnSp>
          <p:cxnSp>
            <p:nvCxnSpPr>
              <p:cNvPr id="10" name="直接连接符 9">
                <a:extLst>
                  <a:ext uri="{FF2B5EF4-FFF2-40B4-BE49-F238E27FC236}">
                    <a16:creationId xmlns:a16="http://schemas.microsoft.com/office/drawing/2014/main" id="{904E6C59-C16C-7683-0133-6C505E2D5852}"/>
                  </a:ext>
                </a:extLst>
              </p:cNvPr>
              <p:cNvCxnSpPr>
                <a:cxnSpLocks/>
              </p:cNvCxnSpPr>
              <p:nvPr/>
            </p:nvCxnSpPr>
            <p:spPr>
              <a:xfrm>
                <a:off x="1493949" y="1674253"/>
                <a:ext cx="0" cy="4378817"/>
              </a:xfrm>
              <a:prstGeom prst="line">
                <a:avLst/>
              </a:prstGeom>
              <a:ln>
                <a:solidFill>
                  <a:schemeClr val="tx1"/>
                </a:solidFill>
              </a:ln>
            </p:spPr>
            <p:style>
              <a:lnRef idx="1">
                <a:schemeClr val="accent2"/>
              </a:lnRef>
              <a:fillRef idx="0">
                <a:schemeClr val="accent2"/>
              </a:fillRef>
              <a:effectRef idx="0">
                <a:schemeClr val="accent2"/>
              </a:effectRef>
              <a:fontRef idx="minor">
                <a:schemeClr val="tx1"/>
              </a:fontRef>
            </p:style>
          </p:cxnSp>
        </p:grpSp>
        <p:sp>
          <p:nvSpPr>
            <p:cNvPr id="5" name="文本框 4">
              <a:extLst>
                <a:ext uri="{FF2B5EF4-FFF2-40B4-BE49-F238E27FC236}">
                  <a16:creationId xmlns:a16="http://schemas.microsoft.com/office/drawing/2014/main" id="{9CE589CC-A2A0-6619-4F78-92C575134259}"/>
                </a:ext>
              </a:extLst>
            </p:cNvPr>
            <p:cNvSpPr txBox="1"/>
            <p:nvPr/>
          </p:nvSpPr>
          <p:spPr>
            <a:xfrm>
              <a:off x="341290" y="2382592"/>
              <a:ext cx="11526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a:t>
              </a:r>
              <a:endParaRPr kumimoji="0" lang="zh-CN" altLang="en-US" sz="1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文本框 5">
              <a:extLst>
                <a:ext uri="{FF2B5EF4-FFF2-40B4-BE49-F238E27FC236}">
                  <a16:creationId xmlns:a16="http://schemas.microsoft.com/office/drawing/2014/main" id="{0C33520C-22CC-0086-7FD6-F6C3618D0534}"/>
                </a:ext>
              </a:extLst>
            </p:cNvPr>
            <p:cNvSpPr txBox="1"/>
            <p:nvPr/>
          </p:nvSpPr>
          <p:spPr>
            <a:xfrm>
              <a:off x="419638" y="4814415"/>
              <a:ext cx="11526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a:t>
              </a:r>
              <a:endParaRPr kumimoji="0" lang="zh-CN" altLang="en-US" sz="1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7" name="直接连接符 6">
              <a:extLst>
                <a:ext uri="{FF2B5EF4-FFF2-40B4-BE49-F238E27FC236}">
                  <a16:creationId xmlns:a16="http://schemas.microsoft.com/office/drawing/2014/main" id="{87732030-4BDF-C473-6BA1-3D9E5F5A522B}"/>
                </a:ext>
              </a:extLst>
            </p:cNvPr>
            <p:cNvCxnSpPr/>
            <p:nvPr/>
          </p:nvCxnSpPr>
          <p:spPr>
            <a:xfrm>
              <a:off x="6072542" y="3217046"/>
              <a:ext cx="0" cy="1339403"/>
            </a:xfrm>
            <a:prstGeom prst="line">
              <a:avLst/>
            </a:prstGeom>
            <a:noFill/>
            <a:ln w="12700" cap="flat" cmpd="sng" algn="ctr">
              <a:solidFill>
                <a:schemeClr val="tx1"/>
              </a:solidFill>
              <a:prstDash val="solid"/>
              <a:miter lim="800000"/>
            </a:ln>
            <a:effectLst/>
          </p:spPr>
        </p:cxnSp>
        <p:sp>
          <p:nvSpPr>
            <p:cNvPr id="8" name="文本框 7">
              <a:extLst>
                <a:ext uri="{FF2B5EF4-FFF2-40B4-BE49-F238E27FC236}">
                  <a16:creationId xmlns:a16="http://schemas.microsoft.com/office/drawing/2014/main" id="{6374510E-56DA-730D-2981-C25034C45A90}"/>
                </a:ext>
              </a:extLst>
            </p:cNvPr>
            <p:cNvSpPr txBox="1"/>
            <p:nvPr/>
          </p:nvSpPr>
          <p:spPr>
            <a:xfrm>
              <a:off x="5264565" y="4642236"/>
              <a:ext cx="1719818" cy="80021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1"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Could be defined dynamically</a:t>
              </a:r>
            </a:p>
          </p:txBody>
        </p:sp>
      </p:grpSp>
      <p:sp>
        <p:nvSpPr>
          <p:cNvPr id="11" name="矩形 10">
            <a:extLst>
              <a:ext uri="{FF2B5EF4-FFF2-40B4-BE49-F238E27FC236}">
                <a16:creationId xmlns:a16="http://schemas.microsoft.com/office/drawing/2014/main" id="{2CE8A865-B073-C2D7-4018-BABFC9A4AEAD}"/>
              </a:ext>
            </a:extLst>
          </p:cNvPr>
          <p:cNvSpPr/>
          <p:nvPr/>
        </p:nvSpPr>
        <p:spPr>
          <a:xfrm>
            <a:off x="2343955" y="3919166"/>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P1(15)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矩形 11">
            <a:extLst>
              <a:ext uri="{FF2B5EF4-FFF2-40B4-BE49-F238E27FC236}">
                <a16:creationId xmlns:a16="http://schemas.microsoft.com/office/drawing/2014/main" id="{E9F485BB-34F0-BA16-901C-2A2FE164862D}"/>
              </a:ext>
            </a:extLst>
          </p:cNvPr>
          <p:cNvSpPr/>
          <p:nvPr/>
        </p:nvSpPr>
        <p:spPr>
          <a:xfrm>
            <a:off x="2340732" y="357788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P2(10)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C19963E2-B693-5591-538E-13461C1C5060}"/>
              </a:ext>
            </a:extLst>
          </p:cNvPr>
          <p:cNvSpPr/>
          <p:nvPr/>
        </p:nvSpPr>
        <p:spPr>
          <a:xfrm>
            <a:off x="2340733" y="324947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4" name="直接箭头连接符 13">
            <a:extLst>
              <a:ext uri="{FF2B5EF4-FFF2-40B4-BE49-F238E27FC236}">
                <a16:creationId xmlns:a16="http://schemas.microsoft.com/office/drawing/2014/main" id="{8A5F36E8-F07F-9410-56D8-56D6F3BADF2A}"/>
              </a:ext>
            </a:extLst>
          </p:cNvPr>
          <p:cNvCxnSpPr/>
          <p:nvPr/>
        </p:nvCxnSpPr>
        <p:spPr>
          <a:xfrm>
            <a:off x="2215167" y="3210837"/>
            <a:ext cx="0" cy="1043180"/>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5" name="文本框 14">
            <a:extLst>
              <a:ext uri="{FF2B5EF4-FFF2-40B4-BE49-F238E27FC236}">
                <a16:creationId xmlns:a16="http://schemas.microsoft.com/office/drawing/2014/main" id="{43BCF4DC-1745-5656-9462-7842E8E4E91E}"/>
              </a:ext>
            </a:extLst>
          </p:cNvPr>
          <p:cNvSpPr txBox="1"/>
          <p:nvPr/>
        </p:nvSpPr>
        <p:spPr>
          <a:xfrm>
            <a:off x="1981200" y="2841958"/>
            <a:ext cx="1043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6" name="矩形 15">
            <a:extLst>
              <a:ext uri="{FF2B5EF4-FFF2-40B4-BE49-F238E27FC236}">
                <a16:creationId xmlns:a16="http://schemas.microsoft.com/office/drawing/2014/main" id="{D19D66F9-6CB5-4145-A3C1-18A767D94B45}"/>
              </a:ext>
            </a:extLst>
          </p:cNvPr>
          <p:cNvSpPr/>
          <p:nvPr/>
        </p:nvSpPr>
        <p:spPr>
          <a:xfrm>
            <a:off x="4432483" y="3892276"/>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F0E36616-827F-11A9-048B-17276F262047}"/>
              </a:ext>
            </a:extLst>
          </p:cNvPr>
          <p:cNvSpPr/>
          <p:nvPr/>
        </p:nvSpPr>
        <p:spPr>
          <a:xfrm>
            <a:off x="4429260" y="355099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矩形 17">
            <a:extLst>
              <a:ext uri="{FF2B5EF4-FFF2-40B4-BE49-F238E27FC236}">
                <a16:creationId xmlns:a16="http://schemas.microsoft.com/office/drawing/2014/main" id="{D2D78C58-EFAE-BE13-8F60-2083A6973501}"/>
              </a:ext>
            </a:extLst>
          </p:cNvPr>
          <p:cNvSpPr/>
          <p:nvPr/>
        </p:nvSpPr>
        <p:spPr>
          <a:xfrm>
            <a:off x="4429261" y="322258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9" name="直接箭头连接符 18">
            <a:extLst>
              <a:ext uri="{FF2B5EF4-FFF2-40B4-BE49-F238E27FC236}">
                <a16:creationId xmlns:a16="http://schemas.microsoft.com/office/drawing/2014/main" id="{53CBA763-EB0F-9D11-9C2B-D8699B3700F3}"/>
              </a:ext>
            </a:extLst>
          </p:cNvPr>
          <p:cNvCxnSpPr/>
          <p:nvPr/>
        </p:nvCxnSpPr>
        <p:spPr>
          <a:xfrm>
            <a:off x="5417717" y="3158181"/>
            <a:ext cx="0" cy="1043180"/>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0" name="文本框 19">
            <a:extLst>
              <a:ext uri="{FF2B5EF4-FFF2-40B4-BE49-F238E27FC236}">
                <a16:creationId xmlns:a16="http://schemas.microsoft.com/office/drawing/2014/main" id="{2E7DA251-8C9C-A5B6-EB9C-19B0030E625F}"/>
              </a:ext>
            </a:extLst>
          </p:cNvPr>
          <p:cNvSpPr txBox="1"/>
          <p:nvPr/>
        </p:nvSpPr>
        <p:spPr>
          <a:xfrm>
            <a:off x="5052811" y="2829675"/>
            <a:ext cx="1043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1" name="矩形 20">
            <a:extLst>
              <a:ext uri="{FF2B5EF4-FFF2-40B4-BE49-F238E27FC236}">
                <a16:creationId xmlns:a16="http://schemas.microsoft.com/office/drawing/2014/main" id="{E66A89D3-E892-AADC-2923-232F9B134BCB}"/>
              </a:ext>
            </a:extLst>
          </p:cNvPr>
          <p:cNvSpPr/>
          <p:nvPr/>
        </p:nvSpPr>
        <p:spPr>
          <a:xfrm>
            <a:off x="2936383" y="5252130"/>
            <a:ext cx="1867437" cy="800210"/>
          </a:xfrm>
          <a:prstGeom prst="rect">
            <a:avLst/>
          </a:prstGeom>
          <a:solidFill>
            <a:srgbClr val="388600"/>
          </a:solidFill>
          <a:ln w="12700" cap="flat" cmpd="sng" algn="ctr">
            <a:solidFill>
              <a:srgbClr val="52535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Line1</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50</a:t>
            </a: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份产能）</a:t>
            </a:r>
          </a:p>
        </p:txBody>
      </p:sp>
      <p:cxnSp>
        <p:nvCxnSpPr>
          <p:cNvPr id="22" name="连接符: 肘形 31">
            <a:extLst>
              <a:ext uri="{FF2B5EF4-FFF2-40B4-BE49-F238E27FC236}">
                <a16:creationId xmlns:a16="http://schemas.microsoft.com/office/drawing/2014/main" id="{BA26EF6E-9646-D197-6199-74086407A579}"/>
              </a:ext>
            </a:extLst>
          </p:cNvPr>
          <p:cNvCxnSpPr>
            <a:stCxn id="21" idx="0"/>
            <a:endCxn id="16" idx="1"/>
          </p:cNvCxnSpPr>
          <p:nvPr/>
        </p:nvCxnSpPr>
        <p:spPr>
          <a:xfrm rot="5400000" flipH="1" flipV="1">
            <a:off x="3548637" y="4368285"/>
            <a:ext cx="1205311" cy="562381"/>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连接符: 肘形 31">
            <a:extLst>
              <a:ext uri="{FF2B5EF4-FFF2-40B4-BE49-F238E27FC236}">
                <a16:creationId xmlns:a16="http://schemas.microsoft.com/office/drawing/2014/main" id="{5640C8A3-6DDF-F599-51FE-4A7153386AFD}"/>
              </a:ext>
            </a:extLst>
          </p:cNvPr>
          <p:cNvCxnSpPr>
            <a:cxnSpLocks/>
            <a:endCxn id="17" idx="1"/>
          </p:cNvCxnSpPr>
          <p:nvPr/>
        </p:nvCxnSpPr>
        <p:spPr>
          <a:xfrm rot="5400000" flipH="1" flipV="1">
            <a:off x="3390256" y="4188606"/>
            <a:ext cx="1522072" cy="555936"/>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4" name="连接符: 肘形 31">
            <a:extLst>
              <a:ext uri="{FF2B5EF4-FFF2-40B4-BE49-F238E27FC236}">
                <a16:creationId xmlns:a16="http://schemas.microsoft.com/office/drawing/2014/main" id="{35945EF2-B188-E430-5EF9-C6C0EE346B25}"/>
              </a:ext>
            </a:extLst>
          </p:cNvPr>
          <p:cNvCxnSpPr>
            <a:cxnSpLocks/>
            <a:stCxn id="21" idx="0"/>
            <a:endCxn id="18" idx="1"/>
          </p:cNvCxnSpPr>
          <p:nvPr/>
        </p:nvCxnSpPr>
        <p:spPr>
          <a:xfrm rot="5400000" flipH="1" flipV="1">
            <a:off x="3212180" y="4035050"/>
            <a:ext cx="1875002" cy="559159"/>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5" name="连接符: 肘形 31">
            <a:extLst>
              <a:ext uri="{FF2B5EF4-FFF2-40B4-BE49-F238E27FC236}">
                <a16:creationId xmlns:a16="http://schemas.microsoft.com/office/drawing/2014/main" id="{A8733B9D-00B6-C95F-9996-E156A223007B}"/>
              </a:ext>
            </a:extLst>
          </p:cNvPr>
          <p:cNvCxnSpPr>
            <a:cxnSpLocks/>
            <a:stCxn id="21" idx="0"/>
            <a:endCxn id="11" idx="3"/>
          </p:cNvCxnSpPr>
          <p:nvPr/>
        </p:nvCxnSpPr>
        <p:spPr>
          <a:xfrm rot="16200000" flipV="1">
            <a:off x="2876816" y="4258844"/>
            <a:ext cx="1178421" cy="808152"/>
          </a:xfrm>
          <a:prstGeom prst="curvedConnector2">
            <a:avLst/>
          </a:prstGeom>
          <a:noFill/>
          <a:ln w="9525" cap="flat" cmpd="sng" algn="ctr">
            <a:solidFill>
              <a:schemeClr val="tx1"/>
            </a:solidFill>
            <a:prstDash val="solid"/>
            <a:round/>
            <a:headEnd type="none" w="med" len="med"/>
            <a:tailEnd type="arrow" w="med" len="med"/>
          </a:ln>
          <a:effectLst/>
        </p:spPr>
      </p:cxnSp>
      <p:cxnSp>
        <p:nvCxnSpPr>
          <p:cNvPr id="26" name="连接符: 肘形 31">
            <a:extLst>
              <a:ext uri="{FF2B5EF4-FFF2-40B4-BE49-F238E27FC236}">
                <a16:creationId xmlns:a16="http://schemas.microsoft.com/office/drawing/2014/main" id="{D949A3C6-51F6-9046-2C04-54266487A7CD}"/>
              </a:ext>
            </a:extLst>
          </p:cNvPr>
          <p:cNvCxnSpPr>
            <a:cxnSpLocks/>
            <a:stCxn id="21" idx="0"/>
            <a:endCxn id="12" idx="3"/>
          </p:cNvCxnSpPr>
          <p:nvPr/>
        </p:nvCxnSpPr>
        <p:spPr>
          <a:xfrm rot="16200000" flipV="1">
            <a:off x="2704564" y="4086591"/>
            <a:ext cx="1519702" cy="811375"/>
          </a:xfrm>
          <a:prstGeom prst="curvedConnector2">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矩形 26">
            <a:extLst>
              <a:ext uri="{FF2B5EF4-FFF2-40B4-BE49-F238E27FC236}">
                <a16:creationId xmlns:a16="http://schemas.microsoft.com/office/drawing/2014/main" id="{B5FAFD89-C4C3-2A7E-956C-01A38143B81A}"/>
              </a:ext>
            </a:extLst>
          </p:cNvPr>
          <p:cNvSpPr/>
          <p:nvPr/>
        </p:nvSpPr>
        <p:spPr>
          <a:xfrm>
            <a:off x="7330227" y="3919166"/>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P1(15)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8" name="矩形 27">
            <a:extLst>
              <a:ext uri="{FF2B5EF4-FFF2-40B4-BE49-F238E27FC236}">
                <a16:creationId xmlns:a16="http://schemas.microsoft.com/office/drawing/2014/main" id="{2D19D9C3-D9A6-3B93-8E3C-1BD1D056C2A1}"/>
              </a:ext>
            </a:extLst>
          </p:cNvPr>
          <p:cNvSpPr/>
          <p:nvPr/>
        </p:nvSpPr>
        <p:spPr>
          <a:xfrm>
            <a:off x="7327004" y="357788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9" name="矩形 28">
            <a:extLst>
              <a:ext uri="{FF2B5EF4-FFF2-40B4-BE49-F238E27FC236}">
                <a16:creationId xmlns:a16="http://schemas.microsoft.com/office/drawing/2014/main" id="{355CDB43-A6CE-31D2-ED0D-886DCAA7238E}"/>
              </a:ext>
            </a:extLst>
          </p:cNvPr>
          <p:cNvSpPr/>
          <p:nvPr/>
        </p:nvSpPr>
        <p:spPr>
          <a:xfrm>
            <a:off x="7327005" y="324947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P2(10)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0" name="直接箭头连接符 29">
            <a:extLst>
              <a:ext uri="{FF2B5EF4-FFF2-40B4-BE49-F238E27FC236}">
                <a16:creationId xmlns:a16="http://schemas.microsoft.com/office/drawing/2014/main" id="{D2EA29AB-8D3E-6AC7-46ED-EB6621DCE41E}"/>
              </a:ext>
            </a:extLst>
          </p:cNvPr>
          <p:cNvCxnSpPr/>
          <p:nvPr/>
        </p:nvCxnSpPr>
        <p:spPr>
          <a:xfrm>
            <a:off x="7201439" y="3210837"/>
            <a:ext cx="0" cy="1043180"/>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31" name="文本框 30">
            <a:extLst>
              <a:ext uri="{FF2B5EF4-FFF2-40B4-BE49-F238E27FC236}">
                <a16:creationId xmlns:a16="http://schemas.microsoft.com/office/drawing/2014/main" id="{F8437C7C-A95A-A55B-6357-2D8D645EC92B}"/>
              </a:ext>
            </a:extLst>
          </p:cNvPr>
          <p:cNvSpPr txBox="1"/>
          <p:nvPr/>
        </p:nvSpPr>
        <p:spPr>
          <a:xfrm>
            <a:off x="6967472" y="2841958"/>
            <a:ext cx="1043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2" name="矩形 31">
            <a:extLst>
              <a:ext uri="{FF2B5EF4-FFF2-40B4-BE49-F238E27FC236}">
                <a16:creationId xmlns:a16="http://schemas.microsoft.com/office/drawing/2014/main" id="{197F0B35-5AAB-FA7A-0F38-68E0F0042FFC}"/>
              </a:ext>
            </a:extLst>
          </p:cNvPr>
          <p:cNvSpPr/>
          <p:nvPr/>
        </p:nvSpPr>
        <p:spPr>
          <a:xfrm>
            <a:off x="9418755" y="3892276"/>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3" name="矩形 32">
            <a:extLst>
              <a:ext uri="{FF2B5EF4-FFF2-40B4-BE49-F238E27FC236}">
                <a16:creationId xmlns:a16="http://schemas.microsoft.com/office/drawing/2014/main" id="{9D9D6BBE-9D13-A48D-9046-55EEF58BC422}"/>
              </a:ext>
            </a:extLst>
          </p:cNvPr>
          <p:cNvSpPr/>
          <p:nvPr/>
        </p:nvSpPr>
        <p:spPr>
          <a:xfrm>
            <a:off x="9415532" y="355099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P3(15)</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 name="矩形 33">
            <a:extLst>
              <a:ext uri="{FF2B5EF4-FFF2-40B4-BE49-F238E27FC236}">
                <a16:creationId xmlns:a16="http://schemas.microsoft.com/office/drawing/2014/main" id="{453C27D2-AFD3-2594-B7A1-F439B4121A0A}"/>
              </a:ext>
            </a:extLst>
          </p:cNvPr>
          <p:cNvSpPr/>
          <p:nvPr/>
        </p:nvSpPr>
        <p:spPr>
          <a:xfrm>
            <a:off x="9415533" y="3222585"/>
            <a:ext cx="717995" cy="309085"/>
          </a:xfrm>
          <a:prstGeom prst="rect">
            <a:avLst/>
          </a:prstGeom>
          <a:solidFill>
            <a:srgbClr val="093091"/>
          </a:solidFill>
          <a:ln w="12700" cap="flat" cmpd="sng" algn="ctr">
            <a:solidFill>
              <a:srgbClr val="093091">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P3(20)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5" name="直接箭头连接符 34">
            <a:extLst>
              <a:ext uri="{FF2B5EF4-FFF2-40B4-BE49-F238E27FC236}">
                <a16:creationId xmlns:a16="http://schemas.microsoft.com/office/drawing/2014/main" id="{38C8C09E-E7CE-630D-56B9-FB7689389C27}"/>
              </a:ext>
            </a:extLst>
          </p:cNvPr>
          <p:cNvCxnSpPr/>
          <p:nvPr/>
        </p:nvCxnSpPr>
        <p:spPr>
          <a:xfrm>
            <a:off x="10403989" y="3158181"/>
            <a:ext cx="0" cy="10431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6" name="文本框 35">
            <a:extLst>
              <a:ext uri="{FF2B5EF4-FFF2-40B4-BE49-F238E27FC236}">
                <a16:creationId xmlns:a16="http://schemas.microsoft.com/office/drawing/2014/main" id="{175025F0-1CA3-B041-1E6D-8CDD7F93A6C7}"/>
              </a:ext>
            </a:extLst>
          </p:cNvPr>
          <p:cNvSpPr txBox="1"/>
          <p:nvPr/>
        </p:nvSpPr>
        <p:spPr>
          <a:xfrm>
            <a:off x="10039083" y="2829675"/>
            <a:ext cx="1043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7" name="矩形 36">
            <a:extLst>
              <a:ext uri="{FF2B5EF4-FFF2-40B4-BE49-F238E27FC236}">
                <a16:creationId xmlns:a16="http://schemas.microsoft.com/office/drawing/2014/main" id="{A8CFE0B0-8CF9-989F-8AB3-0CF04E5706BC}"/>
              </a:ext>
            </a:extLst>
          </p:cNvPr>
          <p:cNvSpPr/>
          <p:nvPr/>
        </p:nvSpPr>
        <p:spPr>
          <a:xfrm>
            <a:off x="7922655" y="5252130"/>
            <a:ext cx="1867437" cy="800210"/>
          </a:xfrm>
          <a:prstGeom prst="rect">
            <a:avLst/>
          </a:prstGeom>
          <a:solidFill>
            <a:srgbClr val="388600"/>
          </a:solidFill>
          <a:ln w="12700" cap="flat" cmpd="sng" algn="ctr">
            <a:solidFill>
              <a:srgbClr val="52535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Line1 (40)</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8" name="连接符: 肘形 31">
            <a:extLst>
              <a:ext uri="{FF2B5EF4-FFF2-40B4-BE49-F238E27FC236}">
                <a16:creationId xmlns:a16="http://schemas.microsoft.com/office/drawing/2014/main" id="{7B40D7FF-8C7C-A633-B4A6-3BE6FEF6A882}"/>
              </a:ext>
            </a:extLst>
          </p:cNvPr>
          <p:cNvCxnSpPr>
            <a:stCxn id="37" idx="0"/>
            <a:endCxn id="32" idx="1"/>
          </p:cNvCxnSpPr>
          <p:nvPr/>
        </p:nvCxnSpPr>
        <p:spPr>
          <a:xfrm rot="5400000" flipH="1" flipV="1">
            <a:off x="8534909" y="4368285"/>
            <a:ext cx="1205311" cy="562381"/>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9" name="连接符: 肘形 31">
            <a:extLst>
              <a:ext uri="{FF2B5EF4-FFF2-40B4-BE49-F238E27FC236}">
                <a16:creationId xmlns:a16="http://schemas.microsoft.com/office/drawing/2014/main" id="{764395EB-7671-CDD6-6B82-C1F59922D1E9}"/>
              </a:ext>
            </a:extLst>
          </p:cNvPr>
          <p:cNvCxnSpPr>
            <a:cxnSpLocks/>
            <a:stCxn id="37" idx="0"/>
            <a:endCxn id="27" idx="3"/>
          </p:cNvCxnSpPr>
          <p:nvPr/>
        </p:nvCxnSpPr>
        <p:spPr>
          <a:xfrm rot="16200000" flipV="1">
            <a:off x="7863088" y="4258844"/>
            <a:ext cx="1178421" cy="808152"/>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40" name="连接符: 肘形 31">
            <a:extLst>
              <a:ext uri="{FF2B5EF4-FFF2-40B4-BE49-F238E27FC236}">
                <a16:creationId xmlns:a16="http://schemas.microsoft.com/office/drawing/2014/main" id="{AAA16EC6-150D-5099-D9C2-7B7D98EDF096}"/>
              </a:ext>
            </a:extLst>
          </p:cNvPr>
          <p:cNvCxnSpPr>
            <a:cxnSpLocks/>
            <a:stCxn id="37" idx="0"/>
            <a:endCxn id="28" idx="3"/>
          </p:cNvCxnSpPr>
          <p:nvPr/>
        </p:nvCxnSpPr>
        <p:spPr>
          <a:xfrm rot="16200000" flipV="1">
            <a:off x="7690836" y="4086591"/>
            <a:ext cx="1519702" cy="811375"/>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41" name="连接符: 肘形 31">
            <a:extLst>
              <a:ext uri="{FF2B5EF4-FFF2-40B4-BE49-F238E27FC236}">
                <a16:creationId xmlns:a16="http://schemas.microsoft.com/office/drawing/2014/main" id="{1FE30443-A230-2533-9CC1-8A5086373262}"/>
              </a:ext>
            </a:extLst>
          </p:cNvPr>
          <p:cNvCxnSpPr>
            <a:cxnSpLocks/>
            <a:stCxn id="37" idx="0"/>
            <a:endCxn id="29" idx="3"/>
          </p:cNvCxnSpPr>
          <p:nvPr/>
        </p:nvCxnSpPr>
        <p:spPr>
          <a:xfrm rot="16200000" flipV="1">
            <a:off x="7526631" y="3922387"/>
            <a:ext cx="1848112" cy="811374"/>
          </a:xfrm>
          <a:prstGeom prst="curvedConnector2">
            <a:avLst/>
          </a:prstGeom>
          <a:ln>
            <a:solidFill>
              <a:schemeClr val="tx1"/>
            </a:solidFill>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42" name="文本框 41">
            <a:extLst>
              <a:ext uri="{FF2B5EF4-FFF2-40B4-BE49-F238E27FC236}">
                <a16:creationId xmlns:a16="http://schemas.microsoft.com/office/drawing/2014/main" id="{06F3FF8B-D8F1-193E-6E55-3B921F6CA368}"/>
              </a:ext>
            </a:extLst>
          </p:cNvPr>
          <p:cNvSpPr txBox="1"/>
          <p:nvPr/>
        </p:nvSpPr>
        <p:spPr>
          <a:xfrm>
            <a:off x="10633652" y="5000426"/>
            <a:ext cx="11526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3" name="矩形 42">
            <a:extLst>
              <a:ext uri="{FF2B5EF4-FFF2-40B4-BE49-F238E27FC236}">
                <a16:creationId xmlns:a16="http://schemas.microsoft.com/office/drawing/2014/main" id="{40460A6D-FC2A-D5EC-9553-565B7DB5B4F5}"/>
              </a:ext>
            </a:extLst>
          </p:cNvPr>
          <p:cNvSpPr/>
          <p:nvPr/>
        </p:nvSpPr>
        <p:spPr>
          <a:xfrm>
            <a:off x="2871483" y="927790"/>
            <a:ext cx="846001" cy="312449"/>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FG11</a:t>
            </a:r>
            <a:r>
              <a:rPr kumimoji="0" lang="en-US" altLang="zh-CN" sz="105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….n</a:t>
            </a:r>
            <a:endParaRPr kumimoji="0" lang="zh-CN" altLang="en-US" sz="105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44" name="组合 43">
            <a:extLst>
              <a:ext uri="{FF2B5EF4-FFF2-40B4-BE49-F238E27FC236}">
                <a16:creationId xmlns:a16="http://schemas.microsoft.com/office/drawing/2014/main" id="{EAA55130-C3B0-CAB0-C138-F7BDF035E88E}"/>
              </a:ext>
            </a:extLst>
          </p:cNvPr>
          <p:cNvGrpSpPr/>
          <p:nvPr/>
        </p:nvGrpSpPr>
        <p:grpSpPr>
          <a:xfrm>
            <a:off x="2118092" y="1578371"/>
            <a:ext cx="956448" cy="482037"/>
            <a:chOff x="2678806" y="1841679"/>
            <a:chExt cx="811905" cy="384518"/>
          </a:xfrm>
        </p:grpSpPr>
        <p:sp>
          <p:nvSpPr>
            <p:cNvPr id="45" name="等腰三角形 44">
              <a:extLst>
                <a:ext uri="{FF2B5EF4-FFF2-40B4-BE49-F238E27FC236}">
                  <a16:creationId xmlns:a16="http://schemas.microsoft.com/office/drawing/2014/main" id="{CE73FF1F-8780-FDD3-1DF8-F14BA4BD45B3}"/>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FFFFFF"/>
                </a:solidFill>
                <a:effectLst/>
                <a:uLnTx/>
                <a:uFillTx/>
                <a:latin typeface="Arial"/>
                <a:ea typeface="微软雅黑"/>
                <a:cs typeface="+mn-cs"/>
              </a:endParaRPr>
            </a:p>
          </p:txBody>
        </p:sp>
        <p:sp>
          <p:nvSpPr>
            <p:cNvPr id="46" name="文本框 45">
              <a:extLst>
                <a:ext uri="{FF2B5EF4-FFF2-40B4-BE49-F238E27FC236}">
                  <a16:creationId xmlns:a16="http://schemas.microsoft.com/office/drawing/2014/main" id="{DB9EFA5C-2CC5-4A42-8E02-9044DC927726}"/>
                </a:ext>
              </a:extLst>
            </p:cNvPr>
            <p:cNvSpPr txBox="1"/>
            <p:nvPr/>
          </p:nvSpPr>
          <p:spPr>
            <a:xfrm>
              <a:off x="2751536" y="1977643"/>
              <a:ext cx="739175" cy="2209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Line1</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53" name="连接符: 肘形 52">
            <a:extLst>
              <a:ext uri="{FF2B5EF4-FFF2-40B4-BE49-F238E27FC236}">
                <a16:creationId xmlns:a16="http://schemas.microsoft.com/office/drawing/2014/main" id="{D15810C1-A7BC-6CE8-0B87-4047738787A9}"/>
              </a:ext>
            </a:extLst>
          </p:cNvPr>
          <p:cNvCxnSpPr>
            <a:cxnSpLocks/>
            <a:stCxn id="45" idx="0"/>
            <a:endCxn id="43" idx="2"/>
          </p:cNvCxnSpPr>
          <p:nvPr/>
        </p:nvCxnSpPr>
        <p:spPr>
          <a:xfrm rot="5400000" flipH="1" flipV="1">
            <a:off x="2719277" y="1003165"/>
            <a:ext cx="338132" cy="812281"/>
          </a:xfrm>
          <a:prstGeom prst="bentConnector3">
            <a:avLst>
              <a:gd name="adj1" fmla="val 50000"/>
            </a:avLst>
          </a:prstGeom>
          <a:noFill/>
          <a:ln w="9525" cap="flat" cmpd="sng" algn="ctr">
            <a:solidFill>
              <a:srgbClr val="031329"/>
            </a:solidFill>
            <a:prstDash val="dash"/>
            <a:round/>
            <a:headEnd type="none" w="med" len="med"/>
            <a:tailEnd type="none" w="med" len="med"/>
          </a:ln>
          <a:effectLst/>
        </p:spPr>
      </p:cxnSp>
      <p:cxnSp>
        <p:nvCxnSpPr>
          <p:cNvPr id="54" name="连接符: 肘形 53">
            <a:extLst>
              <a:ext uri="{FF2B5EF4-FFF2-40B4-BE49-F238E27FC236}">
                <a16:creationId xmlns:a16="http://schemas.microsoft.com/office/drawing/2014/main" id="{5ABEDA52-C01E-E7C1-75CC-FB07FB8EF0BA}"/>
              </a:ext>
            </a:extLst>
          </p:cNvPr>
          <p:cNvCxnSpPr>
            <a:cxnSpLocks/>
            <a:endCxn id="43" idx="2"/>
          </p:cNvCxnSpPr>
          <p:nvPr/>
        </p:nvCxnSpPr>
        <p:spPr>
          <a:xfrm rot="5400000" flipH="1" flipV="1">
            <a:off x="3039443" y="1428713"/>
            <a:ext cx="443514" cy="66567"/>
          </a:xfrm>
          <a:prstGeom prst="bentConnector3">
            <a:avLst/>
          </a:prstGeom>
          <a:noFill/>
          <a:ln w="9525" cap="flat" cmpd="sng" algn="ctr">
            <a:solidFill>
              <a:srgbClr val="031329"/>
            </a:solidFill>
            <a:prstDash val="dash"/>
            <a:round/>
            <a:headEnd type="none" w="med" len="med"/>
            <a:tailEnd type="none" w="med" len="med"/>
          </a:ln>
          <a:effectLst/>
        </p:spPr>
      </p:cxnSp>
      <p:sp>
        <p:nvSpPr>
          <p:cNvPr id="56" name="矩形 55">
            <a:extLst>
              <a:ext uri="{FF2B5EF4-FFF2-40B4-BE49-F238E27FC236}">
                <a16:creationId xmlns:a16="http://schemas.microsoft.com/office/drawing/2014/main" id="{8DB6CF68-E7B8-3D98-8533-38F77A46DCDF}"/>
              </a:ext>
            </a:extLst>
          </p:cNvPr>
          <p:cNvSpPr/>
          <p:nvPr/>
        </p:nvSpPr>
        <p:spPr>
          <a:xfrm>
            <a:off x="5561136" y="932361"/>
            <a:ext cx="866527" cy="273268"/>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FG21…m</a:t>
            </a:r>
            <a:endParaRPr kumimoji="0" lang="zh-CN" altLang="en-US" sz="105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57" name="组合 56">
            <a:extLst>
              <a:ext uri="{FF2B5EF4-FFF2-40B4-BE49-F238E27FC236}">
                <a16:creationId xmlns:a16="http://schemas.microsoft.com/office/drawing/2014/main" id="{D82ADC19-69E4-6171-E7C5-21C29191D8F6}"/>
              </a:ext>
            </a:extLst>
          </p:cNvPr>
          <p:cNvGrpSpPr/>
          <p:nvPr/>
        </p:nvGrpSpPr>
        <p:grpSpPr>
          <a:xfrm>
            <a:off x="5632907" y="1551478"/>
            <a:ext cx="951788" cy="463431"/>
            <a:chOff x="2678806" y="1841679"/>
            <a:chExt cx="811905" cy="384518"/>
          </a:xfrm>
        </p:grpSpPr>
        <p:sp>
          <p:nvSpPr>
            <p:cNvPr id="58" name="等腰三角形 57">
              <a:extLst>
                <a:ext uri="{FF2B5EF4-FFF2-40B4-BE49-F238E27FC236}">
                  <a16:creationId xmlns:a16="http://schemas.microsoft.com/office/drawing/2014/main" id="{716A29F8-BF3F-0D91-8EC6-253F0F6EDEFE}"/>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FFFFFF"/>
                </a:solidFill>
                <a:effectLst/>
                <a:uLnTx/>
                <a:uFillTx/>
                <a:latin typeface="Arial"/>
                <a:ea typeface="微软雅黑"/>
                <a:cs typeface="+mn-cs"/>
              </a:endParaRPr>
            </a:p>
          </p:txBody>
        </p:sp>
        <p:sp>
          <p:nvSpPr>
            <p:cNvPr id="59" name="文本框 58">
              <a:extLst>
                <a:ext uri="{FF2B5EF4-FFF2-40B4-BE49-F238E27FC236}">
                  <a16:creationId xmlns:a16="http://schemas.microsoft.com/office/drawing/2014/main" id="{4E193BE5-9B7D-45F5-F4CA-418B5FD17DE2}"/>
                </a:ext>
              </a:extLst>
            </p:cNvPr>
            <p:cNvSpPr txBox="1"/>
            <p:nvPr/>
          </p:nvSpPr>
          <p:spPr>
            <a:xfrm>
              <a:off x="2751536" y="1977643"/>
              <a:ext cx="739175" cy="229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Line1</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aphicFrame>
        <p:nvGraphicFramePr>
          <p:cNvPr id="61" name="图示 60">
            <a:extLst>
              <a:ext uri="{FF2B5EF4-FFF2-40B4-BE49-F238E27FC236}">
                <a16:creationId xmlns:a16="http://schemas.microsoft.com/office/drawing/2014/main" id="{92305AAE-72E9-AE68-78D4-DDDEB49982E4}"/>
              </a:ext>
            </a:extLst>
          </p:cNvPr>
          <p:cNvGraphicFramePr/>
          <p:nvPr/>
        </p:nvGraphicFramePr>
        <p:xfrm>
          <a:off x="6967472" y="954445"/>
          <a:ext cx="4404876" cy="11940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2" name="文本框 61">
            <a:extLst>
              <a:ext uri="{FF2B5EF4-FFF2-40B4-BE49-F238E27FC236}">
                <a16:creationId xmlns:a16="http://schemas.microsoft.com/office/drawing/2014/main" id="{CEF53524-3B38-06F8-6E90-DA05E3E879CF}"/>
              </a:ext>
            </a:extLst>
          </p:cNvPr>
          <p:cNvSpPr txBox="1"/>
          <p:nvPr/>
        </p:nvSpPr>
        <p:spPr>
          <a:xfrm>
            <a:off x="4102996" y="2440290"/>
            <a:ext cx="4753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主产线剩余的资源才可作为替换资源的供给</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66" name="组合 65">
            <a:extLst>
              <a:ext uri="{FF2B5EF4-FFF2-40B4-BE49-F238E27FC236}">
                <a16:creationId xmlns:a16="http://schemas.microsoft.com/office/drawing/2014/main" id="{E2204AD3-2692-D327-99B9-5BF865D6DFBF}"/>
              </a:ext>
            </a:extLst>
          </p:cNvPr>
          <p:cNvGrpSpPr/>
          <p:nvPr/>
        </p:nvGrpSpPr>
        <p:grpSpPr>
          <a:xfrm>
            <a:off x="2932730" y="1581521"/>
            <a:ext cx="956448" cy="482037"/>
            <a:chOff x="2678806" y="1841679"/>
            <a:chExt cx="811905" cy="384518"/>
          </a:xfrm>
        </p:grpSpPr>
        <p:sp>
          <p:nvSpPr>
            <p:cNvPr id="67" name="等腰三角形 66">
              <a:extLst>
                <a:ext uri="{FF2B5EF4-FFF2-40B4-BE49-F238E27FC236}">
                  <a16:creationId xmlns:a16="http://schemas.microsoft.com/office/drawing/2014/main" id="{27C83C3F-1FCB-E256-8254-25B9F917534C}"/>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FFFFFF"/>
                </a:solidFill>
                <a:effectLst/>
                <a:uLnTx/>
                <a:uFillTx/>
                <a:latin typeface="Arial"/>
                <a:ea typeface="微软雅黑"/>
                <a:cs typeface="+mn-cs"/>
              </a:endParaRPr>
            </a:p>
          </p:txBody>
        </p:sp>
        <p:sp>
          <p:nvSpPr>
            <p:cNvPr id="68" name="文本框 67">
              <a:extLst>
                <a:ext uri="{FF2B5EF4-FFF2-40B4-BE49-F238E27FC236}">
                  <a16:creationId xmlns:a16="http://schemas.microsoft.com/office/drawing/2014/main" id="{B0BF0893-F85B-5185-AA44-8D9E2D739AF6}"/>
                </a:ext>
              </a:extLst>
            </p:cNvPr>
            <p:cNvSpPr txBox="1"/>
            <p:nvPr/>
          </p:nvSpPr>
          <p:spPr>
            <a:xfrm>
              <a:off x="2751536" y="1977643"/>
              <a:ext cx="739175" cy="2209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Line2</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69" name="组合 68">
            <a:extLst>
              <a:ext uri="{FF2B5EF4-FFF2-40B4-BE49-F238E27FC236}">
                <a16:creationId xmlns:a16="http://schemas.microsoft.com/office/drawing/2014/main" id="{96019D24-8713-D911-DE6A-E2D4D2F16F66}"/>
              </a:ext>
            </a:extLst>
          </p:cNvPr>
          <p:cNvGrpSpPr/>
          <p:nvPr/>
        </p:nvGrpSpPr>
        <p:grpSpPr>
          <a:xfrm>
            <a:off x="3951306" y="1581521"/>
            <a:ext cx="956448" cy="482037"/>
            <a:chOff x="2678806" y="1841679"/>
            <a:chExt cx="811905" cy="384518"/>
          </a:xfrm>
        </p:grpSpPr>
        <p:sp>
          <p:nvSpPr>
            <p:cNvPr id="70" name="等腰三角形 69">
              <a:extLst>
                <a:ext uri="{FF2B5EF4-FFF2-40B4-BE49-F238E27FC236}">
                  <a16:creationId xmlns:a16="http://schemas.microsoft.com/office/drawing/2014/main" id="{5EED95E6-838F-0A33-8FF7-D52E87F866E7}"/>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0" cap="none" spc="0" normalizeH="0" baseline="0" noProof="0" dirty="0">
                <a:ln>
                  <a:noFill/>
                </a:ln>
                <a:solidFill>
                  <a:srgbClr val="FFFFFF"/>
                </a:solidFill>
                <a:effectLst/>
                <a:uLnTx/>
                <a:uFillTx/>
                <a:latin typeface="Arial"/>
                <a:ea typeface="微软雅黑"/>
                <a:cs typeface="+mn-cs"/>
              </a:endParaRPr>
            </a:p>
          </p:txBody>
        </p:sp>
        <p:sp>
          <p:nvSpPr>
            <p:cNvPr id="71" name="文本框 70">
              <a:extLst>
                <a:ext uri="{FF2B5EF4-FFF2-40B4-BE49-F238E27FC236}">
                  <a16:creationId xmlns:a16="http://schemas.microsoft.com/office/drawing/2014/main" id="{E2BFF5B1-2165-1C6C-A8E1-ABBA4E365A7E}"/>
                </a:ext>
              </a:extLst>
            </p:cNvPr>
            <p:cNvSpPr txBox="1"/>
            <p:nvPr/>
          </p:nvSpPr>
          <p:spPr>
            <a:xfrm>
              <a:off x="2751536" y="1977643"/>
              <a:ext cx="739175" cy="2209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Line3</a:t>
              </a:r>
              <a:endPar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74" name="连接符: 肘形 73">
            <a:extLst>
              <a:ext uri="{FF2B5EF4-FFF2-40B4-BE49-F238E27FC236}">
                <a16:creationId xmlns:a16="http://schemas.microsoft.com/office/drawing/2014/main" id="{2CCF26EE-C44C-CE54-2B39-A2DB3F4556ED}"/>
              </a:ext>
            </a:extLst>
          </p:cNvPr>
          <p:cNvCxnSpPr>
            <a:stCxn id="43" idx="2"/>
            <a:endCxn id="45" idx="0"/>
          </p:cNvCxnSpPr>
          <p:nvPr/>
        </p:nvCxnSpPr>
        <p:spPr>
          <a:xfrm rot="5400000">
            <a:off x="2719278" y="1003165"/>
            <a:ext cx="338132" cy="81228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E0E0DFB7-7326-E9D7-61EC-DEBB8AAC2492}"/>
              </a:ext>
            </a:extLst>
          </p:cNvPr>
          <p:cNvCxnSpPr>
            <a:cxnSpLocks/>
            <a:stCxn id="43" idx="2"/>
            <a:endCxn id="67" idx="0"/>
          </p:cNvCxnSpPr>
          <p:nvPr/>
        </p:nvCxnSpPr>
        <p:spPr>
          <a:xfrm rot="16200000" flipH="1">
            <a:off x="3125021" y="1409701"/>
            <a:ext cx="341282" cy="235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连接符: 肘形 77">
            <a:extLst>
              <a:ext uri="{FF2B5EF4-FFF2-40B4-BE49-F238E27FC236}">
                <a16:creationId xmlns:a16="http://schemas.microsoft.com/office/drawing/2014/main" id="{79E3375D-F3EC-3DC2-BE6D-389C5EDE63F3}"/>
              </a:ext>
            </a:extLst>
          </p:cNvPr>
          <p:cNvCxnSpPr>
            <a:cxnSpLocks/>
            <a:stCxn id="43" idx="2"/>
            <a:endCxn id="70" idx="0"/>
          </p:cNvCxnSpPr>
          <p:nvPr/>
        </p:nvCxnSpPr>
        <p:spPr>
          <a:xfrm rot="16200000" flipH="1">
            <a:off x="3634309" y="900413"/>
            <a:ext cx="341282" cy="102093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E1B6C7DC-A7DB-1D60-5209-8D5EED9C44FB}"/>
              </a:ext>
            </a:extLst>
          </p:cNvPr>
          <p:cNvCxnSpPr>
            <a:cxnSpLocks/>
            <a:stCxn id="56" idx="2"/>
            <a:endCxn id="58" idx="0"/>
          </p:cNvCxnSpPr>
          <p:nvPr/>
        </p:nvCxnSpPr>
        <p:spPr>
          <a:xfrm>
            <a:off x="5994400" y="1205629"/>
            <a:ext cx="844" cy="3458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532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AD20B-19E9-03F5-4874-9C4CAB087992}"/>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可配置仪表盘内置与计划引擎</a:t>
            </a:r>
          </a:p>
        </p:txBody>
      </p:sp>
      <p:pic>
        <p:nvPicPr>
          <p:cNvPr id="4" name="图片 3">
            <a:extLst>
              <a:ext uri="{FF2B5EF4-FFF2-40B4-BE49-F238E27FC236}">
                <a16:creationId xmlns:a16="http://schemas.microsoft.com/office/drawing/2014/main" id="{82E84AE1-2082-9D63-CB6A-18BCBC2FE685}"/>
              </a:ext>
            </a:extLst>
          </p:cNvPr>
          <p:cNvPicPr>
            <a:picLocks noChangeAspect="1"/>
          </p:cNvPicPr>
          <p:nvPr/>
        </p:nvPicPr>
        <p:blipFill>
          <a:blip r:embed="rId2"/>
          <a:stretch>
            <a:fillRect/>
          </a:stretch>
        </p:blipFill>
        <p:spPr>
          <a:xfrm>
            <a:off x="8013698" y="1169773"/>
            <a:ext cx="3813419" cy="233213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图片 4">
            <a:extLst>
              <a:ext uri="{FF2B5EF4-FFF2-40B4-BE49-F238E27FC236}">
                <a16:creationId xmlns:a16="http://schemas.microsoft.com/office/drawing/2014/main" id="{11A47E97-9F87-334F-2881-299EAFE19458}"/>
              </a:ext>
            </a:extLst>
          </p:cNvPr>
          <p:cNvPicPr>
            <a:picLocks noChangeAspect="1"/>
          </p:cNvPicPr>
          <p:nvPr/>
        </p:nvPicPr>
        <p:blipFill>
          <a:blip r:embed="rId3"/>
          <a:stretch>
            <a:fillRect/>
          </a:stretch>
        </p:blipFill>
        <p:spPr>
          <a:xfrm>
            <a:off x="4501923" y="2806141"/>
            <a:ext cx="3289513" cy="210484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6" name="图片 5">
            <a:extLst>
              <a:ext uri="{FF2B5EF4-FFF2-40B4-BE49-F238E27FC236}">
                <a16:creationId xmlns:a16="http://schemas.microsoft.com/office/drawing/2014/main" id="{7448529D-DA3F-5232-830D-460F787A5D3C}"/>
              </a:ext>
            </a:extLst>
          </p:cNvPr>
          <p:cNvPicPr>
            <a:picLocks noChangeAspect="1"/>
          </p:cNvPicPr>
          <p:nvPr/>
        </p:nvPicPr>
        <p:blipFill>
          <a:blip r:embed="rId4"/>
          <a:stretch>
            <a:fillRect/>
          </a:stretch>
        </p:blipFill>
        <p:spPr>
          <a:xfrm>
            <a:off x="765241" y="1249712"/>
            <a:ext cx="3289513" cy="210484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图片 6">
            <a:extLst>
              <a:ext uri="{FF2B5EF4-FFF2-40B4-BE49-F238E27FC236}">
                <a16:creationId xmlns:a16="http://schemas.microsoft.com/office/drawing/2014/main" id="{43FE8FD1-5A19-7C53-FA5B-B553B5022E47}"/>
              </a:ext>
            </a:extLst>
          </p:cNvPr>
          <p:cNvPicPr>
            <a:picLocks noChangeAspect="1"/>
          </p:cNvPicPr>
          <p:nvPr/>
        </p:nvPicPr>
        <p:blipFill>
          <a:blip r:embed="rId5"/>
          <a:stretch>
            <a:fillRect/>
          </a:stretch>
        </p:blipFill>
        <p:spPr>
          <a:xfrm>
            <a:off x="8195018" y="4374292"/>
            <a:ext cx="3632100" cy="22335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图片 7">
            <a:extLst>
              <a:ext uri="{FF2B5EF4-FFF2-40B4-BE49-F238E27FC236}">
                <a16:creationId xmlns:a16="http://schemas.microsoft.com/office/drawing/2014/main" id="{094835E9-EF28-821F-0495-EF40B42462D1}"/>
              </a:ext>
            </a:extLst>
          </p:cNvPr>
          <p:cNvPicPr>
            <a:picLocks noChangeAspect="1"/>
          </p:cNvPicPr>
          <p:nvPr/>
        </p:nvPicPr>
        <p:blipFill>
          <a:blip r:embed="rId6"/>
          <a:stretch>
            <a:fillRect/>
          </a:stretch>
        </p:blipFill>
        <p:spPr>
          <a:xfrm>
            <a:off x="765241" y="4176585"/>
            <a:ext cx="3551466" cy="24312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259855671"/>
      </p:ext>
    </p:extLst>
  </p:cSld>
  <p:clrMapOvr>
    <a:overrideClrMapping bg1="dk1" tx1="lt1" bg2="dk2" tx2="lt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570E2BF-5FCD-1E83-C7F4-8AD8E2826033}"/>
              </a:ext>
            </a:extLst>
          </p:cNvPr>
          <p:cNvSpPr>
            <a:spLocks noGrp="1"/>
          </p:cNvSpPr>
          <p:nvPr>
            <p:ph type="ctrTitle"/>
          </p:nvPr>
        </p:nvSpPr>
        <p:spPr>
          <a:xfrm>
            <a:off x="4551898" y="1462621"/>
            <a:ext cx="6749372" cy="2587173"/>
          </a:xfrm>
        </p:spPr>
        <p:txBody>
          <a:bodyPr/>
          <a:lstStyle/>
          <a:p>
            <a:r>
              <a:rPr lang="en-US" altLang="zh-CN" dirty="0">
                <a:latin typeface="Arial" panose="020B0604020202020204" pitchFamily="34" charset="0"/>
                <a:ea typeface="微软雅黑" panose="020B0503020204020204" pitchFamily="34" charset="-122"/>
              </a:rPr>
              <a:t>ITP</a:t>
            </a:r>
            <a:br>
              <a:rPr lang="en-US" altLang="zh-CN" dirty="0">
                <a:latin typeface="Arial" panose="020B0604020202020204" pitchFamily="34" charset="0"/>
                <a:ea typeface="微软雅黑" panose="020B0503020204020204" pitchFamily="34" charset="-122"/>
              </a:rPr>
            </a:br>
            <a:r>
              <a:rPr lang="en-US" altLang="zh-CN" dirty="0">
                <a:latin typeface="Arial" panose="020B0604020202020204" pitchFamily="34" charset="0"/>
                <a:ea typeface="微软雅黑" panose="020B0503020204020204" pitchFamily="34" charset="-122"/>
              </a:rPr>
              <a:t>Intelligent Tactical Planning</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27306679"/>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9EABC29-34DF-0803-A980-BFA0EE347771}"/>
              </a:ext>
            </a:extLst>
          </p:cNvPr>
          <p:cNvSpPr>
            <a:spLocks noGrp="1"/>
          </p:cNvSpPr>
          <p:nvPr>
            <p:ph type="ctrTitle"/>
          </p:nvPr>
        </p:nvSpPr>
        <p:spPr/>
        <p:txBody>
          <a:bodyPr/>
          <a:lstStyle/>
          <a:p>
            <a:r>
              <a:rPr lang="en-US" altLang="zh-CN" dirty="0">
                <a:latin typeface="Arial" panose="020B0604020202020204" pitchFamily="34" charset="0"/>
                <a:ea typeface="微软雅黑" panose="020B0503020204020204" pitchFamily="34" charset="-122"/>
              </a:rPr>
              <a:t>Prioritization</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905700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006B693-4DE1-674F-D4FA-BA7EAC804733}"/>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优先级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从战略到执行的端到端管理</a:t>
            </a:r>
          </a:p>
        </p:txBody>
      </p:sp>
      <p:grpSp>
        <p:nvGrpSpPr>
          <p:cNvPr id="39" name="组合 38">
            <a:extLst>
              <a:ext uri="{FF2B5EF4-FFF2-40B4-BE49-F238E27FC236}">
                <a16:creationId xmlns:a16="http://schemas.microsoft.com/office/drawing/2014/main" id="{0DE80535-EA83-8BB1-BEBC-62DF68835727}"/>
              </a:ext>
            </a:extLst>
          </p:cNvPr>
          <p:cNvGrpSpPr>
            <a:grpSpLocks noChangeAspect="1"/>
          </p:cNvGrpSpPr>
          <p:nvPr>
            <p:custDataLst>
              <p:tags r:id="rId1"/>
            </p:custDataLst>
          </p:nvPr>
        </p:nvGrpSpPr>
        <p:grpSpPr>
          <a:xfrm>
            <a:off x="663011" y="778214"/>
            <a:ext cx="3207356" cy="3672958"/>
            <a:chOff x="660400" y="1130300"/>
            <a:chExt cx="3526877" cy="3672958"/>
          </a:xfrm>
        </p:grpSpPr>
        <p:sp>
          <p:nvSpPr>
            <p:cNvPr id="40" name="1">
              <a:extLst>
                <a:ext uri="{FF2B5EF4-FFF2-40B4-BE49-F238E27FC236}">
                  <a16:creationId xmlns:a16="http://schemas.microsoft.com/office/drawing/2014/main" id="{8E99F4A6-DC8A-9E01-BA3F-C60017E8AB63}"/>
                </a:ext>
              </a:extLst>
            </p:cNvPr>
            <p:cNvSpPr/>
            <p:nvPr>
              <p:custDataLst>
                <p:tags r:id="rId3"/>
              </p:custDataLst>
            </p:nvPr>
          </p:nvSpPr>
          <p:spPr>
            <a:xfrm>
              <a:off x="660400" y="1130300"/>
              <a:ext cx="3526877" cy="3672958"/>
            </a:xfrm>
            <a:prstGeom prst="roundRect">
              <a:avLst>
                <a:gd name="adj" fmla="val 5900"/>
              </a:avLst>
            </a:prstGeom>
            <a:solidFill>
              <a:schemeClr val="accent1">
                <a:alpha val="10000"/>
              </a:schemeClr>
            </a:solidFill>
            <a:ln w="12700" cap="rnd">
              <a:gradFill>
                <a:gsLst>
                  <a:gs pos="0">
                    <a:schemeClr val="accent1"/>
                  </a:gs>
                  <a:gs pos="100000">
                    <a:schemeClr val="accent1">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srgbClr val="FFFFFF"/>
                </a:solidFill>
                <a:effectLst/>
                <a:uLnTx/>
                <a:uFillTx/>
                <a:latin typeface="+mn-lt"/>
                <a:ea typeface="+mn-ea"/>
                <a:cs typeface="+mn-cs"/>
              </a:endParaRPr>
            </a:p>
          </p:txBody>
        </p:sp>
        <p:sp>
          <p:nvSpPr>
            <p:cNvPr id="41" name="Body-1">
              <a:extLst>
                <a:ext uri="{FF2B5EF4-FFF2-40B4-BE49-F238E27FC236}">
                  <a16:creationId xmlns:a16="http://schemas.microsoft.com/office/drawing/2014/main" id="{AEFD53EE-41BA-0C10-CE39-6777BFA2AE15}"/>
                </a:ext>
              </a:extLst>
            </p:cNvPr>
            <p:cNvSpPr txBox="1"/>
            <p:nvPr>
              <p:custDataLst>
                <p:tags r:id="rId4"/>
              </p:custDataLst>
            </p:nvPr>
          </p:nvSpPr>
          <p:spPr>
            <a:xfrm>
              <a:off x="926059" y="1939332"/>
              <a:ext cx="2995558" cy="2863926"/>
            </a:xfrm>
            <a:prstGeom prst="rect">
              <a:avLst/>
            </a:prstGeom>
            <a:noFill/>
          </p:spPr>
          <p:txBody>
            <a:bodyPr wrap="square" rtlCol="0">
              <a:spAutoFit/>
            </a:body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已承诺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Commitment</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最新的承诺日期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Last PSD</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初次承诺日期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First PSD</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 value</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创建日期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 Date</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需求数量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Qty</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需求日期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Date</a:t>
              </a: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动态调整其他条件 </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Other conditions are customized dynamically</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2" name="Title-1">
              <a:extLst>
                <a:ext uri="{FF2B5EF4-FFF2-40B4-BE49-F238E27FC236}">
                  <a16:creationId xmlns:a16="http://schemas.microsoft.com/office/drawing/2014/main" id="{6F208BED-5CCD-B931-AEAF-89A72F3AA2F5}"/>
                </a:ext>
              </a:extLst>
            </p:cNvPr>
            <p:cNvSpPr/>
            <p:nvPr>
              <p:custDataLst>
                <p:tags r:id="rId5"/>
              </p:custDataLst>
            </p:nvPr>
          </p:nvSpPr>
          <p:spPr>
            <a:xfrm>
              <a:off x="1379547" y="1330187"/>
              <a:ext cx="1870792" cy="378932"/>
            </a:xfrm>
            <a:prstGeom prst="round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优先级排序规则</a:t>
              </a:r>
            </a:p>
          </p:txBody>
        </p:sp>
      </p:grpSp>
      <p:sp>
        <p:nvSpPr>
          <p:cNvPr id="43" name="文本框 42">
            <a:extLst>
              <a:ext uri="{FF2B5EF4-FFF2-40B4-BE49-F238E27FC236}">
                <a16:creationId xmlns:a16="http://schemas.microsoft.com/office/drawing/2014/main" id="{A018AEB2-C3B7-5B01-FA5C-5C5063E78AD6}"/>
              </a:ext>
            </a:extLst>
          </p:cNvPr>
          <p:cNvSpPr txBox="1"/>
          <p:nvPr/>
        </p:nvSpPr>
        <p:spPr>
          <a:xfrm>
            <a:off x="4484791" y="1329487"/>
            <a:ext cx="279775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优先级并不能保障其可得性，如大客户的订单来的比较晚</a:t>
            </a:r>
          </a:p>
        </p:txBody>
      </p:sp>
      <p:grpSp>
        <p:nvGrpSpPr>
          <p:cNvPr id="63" name="组合 62">
            <a:extLst>
              <a:ext uri="{FF2B5EF4-FFF2-40B4-BE49-F238E27FC236}">
                <a16:creationId xmlns:a16="http://schemas.microsoft.com/office/drawing/2014/main" id="{ADDA733E-8A05-F357-89EB-248246ECE57C}"/>
              </a:ext>
            </a:extLst>
          </p:cNvPr>
          <p:cNvGrpSpPr/>
          <p:nvPr/>
        </p:nvGrpSpPr>
        <p:grpSpPr>
          <a:xfrm>
            <a:off x="7068556" y="1529969"/>
            <a:ext cx="3221474" cy="2025712"/>
            <a:chOff x="7068556" y="1527798"/>
            <a:chExt cx="3221474" cy="2025712"/>
          </a:xfrm>
        </p:grpSpPr>
        <p:sp>
          <p:nvSpPr>
            <p:cNvPr id="5" name="矩形 4">
              <a:extLst>
                <a:ext uri="{FF2B5EF4-FFF2-40B4-BE49-F238E27FC236}">
                  <a16:creationId xmlns:a16="http://schemas.microsoft.com/office/drawing/2014/main" id="{F5F39694-5688-0787-7AC7-61CAB04A9318}"/>
                </a:ext>
              </a:extLst>
            </p:cNvPr>
            <p:cNvSpPr/>
            <p:nvPr/>
          </p:nvSpPr>
          <p:spPr>
            <a:xfrm>
              <a:off x="8327880" y="1527798"/>
              <a:ext cx="1962150" cy="438150"/>
            </a:xfrm>
            <a:prstGeom prst="rect">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Customer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矩形 5">
              <a:extLst>
                <a:ext uri="{FF2B5EF4-FFF2-40B4-BE49-F238E27FC236}">
                  <a16:creationId xmlns:a16="http://schemas.microsoft.com/office/drawing/2014/main" id="{6C5BAE79-BCED-524D-0B71-16DCD96864DC}"/>
                </a:ext>
              </a:extLst>
            </p:cNvPr>
            <p:cNvSpPr/>
            <p:nvPr/>
          </p:nvSpPr>
          <p:spPr>
            <a:xfrm>
              <a:off x="8327880" y="2393447"/>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Region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6">
              <a:extLst>
                <a:ext uri="{FF2B5EF4-FFF2-40B4-BE49-F238E27FC236}">
                  <a16:creationId xmlns:a16="http://schemas.microsoft.com/office/drawing/2014/main" id="{74BEA2DC-EF14-D5E2-1BE2-390367501E3F}"/>
                </a:ext>
              </a:extLst>
            </p:cNvPr>
            <p:cNvSpPr/>
            <p:nvPr/>
          </p:nvSpPr>
          <p:spPr>
            <a:xfrm>
              <a:off x="8327880" y="3115360"/>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48" name="连接符: 肘形 47">
              <a:extLst>
                <a:ext uri="{FF2B5EF4-FFF2-40B4-BE49-F238E27FC236}">
                  <a16:creationId xmlns:a16="http://schemas.microsoft.com/office/drawing/2014/main" id="{58B2FB9E-1BFF-4767-8D05-1C1FE7A7F20E}"/>
                </a:ext>
              </a:extLst>
            </p:cNvPr>
            <p:cNvCxnSpPr>
              <a:cxnSpLocks/>
              <a:stCxn id="5" idx="1"/>
              <a:endCxn id="12" idx="3"/>
            </p:cNvCxnSpPr>
            <p:nvPr/>
          </p:nvCxnSpPr>
          <p:spPr>
            <a:xfrm rot="10800000" flipV="1">
              <a:off x="7068556" y="1746872"/>
              <a:ext cx="1259324" cy="8656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连接符: 肘形 52">
              <a:extLst>
                <a:ext uri="{FF2B5EF4-FFF2-40B4-BE49-F238E27FC236}">
                  <a16:creationId xmlns:a16="http://schemas.microsoft.com/office/drawing/2014/main" id="{92DB80D8-3A2D-E327-C186-5ACC26AD0C04}"/>
                </a:ext>
              </a:extLst>
            </p:cNvPr>
            <p:cNvCxnSpPr>
              <a:cxnSpLocks/>
              <a:stCxn id="6" idx="1"/>
              <a:endCxn id="12" idx="3"/>
            </p:cNvCxnSpPr>
            <p:nvPr/>
          </p:nvCxnSpPr>
          <p:spPr>
            <a:xfrm rot="10800000">
              <a:off x="7068556" y="2612522"/>
              <a:ext cx="1259324"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连接符: 肘形 61">
              <a:extLst>
                <a:ext uri="{FF2B5EF4-FFF2-40B4-BE49-F238E27FC236}">
                  <a16:creationId xmlns:a16="http://schemas.microsoft.com/office/drawing/2014/main" id="{E7F38076-B084-E267-7F7E-F31E04DCBEEA}"/>
                </a:ext>
              </a:extLst>
            </p:cNvPr>
            <p:cNvCxnSpPr>
              <a:stCxn id="7" idx="1"/>
              <a:endCxn id="12" idx="3"/>
            </p:cNvCxnSpPr>
            <p:nvPr/>
          </p:nvCxnSpPr>
          <p:spPr>
            <a:xfrm rot="10800000">
              <a:off x="7068556" y="2612523"/>
              <a:ext cx="1259324" cy="72191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4" name="矩形: 圆角 63">
            <a:extLst>
              <a:ext uri="{FF2B5EF4-FFF2-40B4-BE49-F238E27FC236}">
                <a16:creationId xmlns:a16="http://schemas.microsoft.com/office/drawing/2014/main" id="{70DDDD83-4A10-C8E4-C8E9-4E5C8EAD7BEF}"/>
              </a:ext>
            </a:extLst>
          </p:cNvPr>
          <p:cNvSpPr/>
          <p:nvPr/>
        </p:nvSpPr>
        <p:spPr>
          <a:xfrm>
            <a:off x="1215382" y="2444882"/>
            <a:ext cx="2341022" cy="275508"/>
          </a:xfrm>
          <a:prstGeom prst="roundRect">
            <a:avLst/>
          </a:prstGeom>
          <a:solidFill>
            <a:srgbClr val="C00000">
              <a:alpha val="39000"/>
            </a:srgb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grpSp>
        <p:nvGrpSpPr>
          <p:cNvPr id="67" name="组合 66">
            <a:extLst>
              <a:ext uri="{FF2B5EF4-FFF2-40B4-BE49-F238E27FC236}">
                <a16:creationId xmlns:a16="http://schemas.microsoft.com/office/drawing/2014/main" id="{0E45DC78-67CF-DD4A-1FB8-3E3F17EDBE55}"/>
              </a:ext>
            </a:extLst>
          </p:cNvPr>
          <p:cNvGrpSpPr/>
          <p:nvPr/>
        </p:nvGrpSpPr>
        <p:grpSpPr>
          <a:xfrm>
            <a:off x="3349593" y="2395618"/>
            <a:ext cx="3718963" cy="438150"/>
            <a:chOff x="3540512" y="2395618"/>
            <a:chExt cx="3538104" cy="438150"/>
          </a:xfrm>
        </p:grpSpPr>
        <p:sp>
          <p:nvSpPr>
            <p:cNvPr id="12" name="矩形 11">
              <a:extLst>
                <a:ext uri="{FF2B5EF4-FFF2-40B4-BE49-F238E27FC236}">
                  <a16:creationId xmlns:a16="http://schemas.microsoft.com/office/drawing/2014/main" id="{22DB7DF8-119A-C238-1DC1-9868C55E9051}"/>
                </a:ext>
              </a:extLst>
            </p:cNvPr>
            <p:cNvSpPr/>
            <p:nvPr/>
          </p:nvSpPr>
          <p:spPr>
            <a:xfrm>
              <a:off x="4719880" y="2395618"/>
              <a:ext cx="2358736"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 value/code</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66" name="直接箭头连接符 65">
              <a:extLst>
                <a:ext uri="{FF2B5EF4-FFF2-40B4-BE49-F238E27FC236}">
                  <a16:creationId xmlns:a16="http://schemas.microsoft.com/office/drawing/2014/main" id="{EA920FD0-87B2-BD9B-9617-4E032785ABF7}"/>
                </a:ext>
              </a:extLst>
            </p:cNvPr>
            <p:cNvCxnSpPr>
              <a:endCxn id="12" idx="1"/>
            </p:cNvCxnSpPr>
            <p:nvPr/>
          </p:nvCxnSpPr>
          <p:spPr>
            <a:xfrm>
              <a:off x="3540512" y="2614693"/>
              <a:ext cx="11793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9" name="组合 78">
            <a:extLst>
              <a:ext uri="{FF2B5EF4-FFF2-40B4-BE49-F238E27FC236}">
                <a16:creationId xmlns:a16="http://schemas.microsoft.com/office/drawing/2014/main" id="{39314018-CEFE-9FBC-59D6-C1700F6A7C2E}"/>
              </a:ext>
            </a:extLst>
          </p:cNvPr>
          <p:cNvGrpSpPr/>
          <p:nvPr/>
        </p:nvGrpSpPr>
        <p:grpSpPr>
          <a:xfrm>
            <a:off x="5629647" y="771404"/>
            <a:ext cx="5180461" cy="4629828"/>
            <a:chOff x="5629647" y="771404"/>
            <a:chExt cx="5180461" cy="4629828"/>
          </a:xfrm>
        </p:grpSpPr>
        <p:sp>
          <p:nvSpPr>
            <p:cNvPr id="74" name="1">
              <a:extLst>
                <a:ext uri="{FF2B5EF4-FFF2-40B4-BE49-F238E27FC236}">
                  <a16:creationId xmlns:a16="http://schemas.microsoft.com/office/drawing/2014/main" id="{AACBBE23-9245-0536-3B1B-0F68B6950450}"/>
                </a:ext>
              </a:extLst>
            </p:cNvPr>
            <p:cNvSpPr/>
            <p:nvPr>
              <p:custDataLst>
                <p:tags r:id="rId2"/>
              </p:custDataLst>
            </p:nvPr>
          </p:nvSpPr>
          <p:spPr>
            <a:xfrm>
              <a:off x="7602752" y="771404"/>
              <a:ext cx="3207356" cy="3672958"/>
            </a:xfrm>
            <a:prstGeom prst="roundRect">
              <a:avLst>
                <a:gd name="adj" fmla="val 5900"/>
              </a:avLst>
            </a:prstGeom>
            <a:solidFill>
              <a:schemeClr val="accent1">
                <a:alpha val="10000"/>
              </a:schemeClr>
            </a:solidFill>
            <a:ln w="12700" cap="rnd">
              <a:gradFill>
                <a:gsLst>
                  <a:gs pos="0">
                    <a:schemeClr val="accent1"/>
                  </a:gs>
                  <a:gs pos="100000">
                    <a:schemeClr val="accent1">
                      <a:lumMod val="60000"/>
                      <a:lumOff val="40000"/>
                      <a:alpha val="20000"/>
                    </a:schemeClr>
                  </a:gs>
                </a:gsLst>
                <a:lin ang="27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srgbClr val="FFFFFF"/>
                </a:solidFill>
                <a:effectLst/>
                <a:uLnTx/>
                <a:uFillTx/>
                <a:latin typeface="+mn-lt"/>
                <a:ea typeface="+mn-ea"/>
                <a:cs typeface="+mn-cs"/>
              </a:endParaRPr>
            </a:p>
          </p:txBody>
        </p:sp>
        <p:sp>
          <p:nvSpPr>
            <p:cNvPr id="75" name="矩形 74">
              <a:extLst>
                <a:ext uri="{FF2B5EF4-FFF2-40B4-BE49-F238E27FC236}">
                  <a16:creationId xmlns:a16="http://schemas.microsoft.com/office/drawing/2014/main" id="{80A7CA94-685E-6670-594A-33F6B64A52AF}"/>
                </a:ext>
              </a:extLst>
            </p:cNvPr>
            <p:cNvSpPr/>
            <p:nvPr/>
          </p:nvSpPr>
          <p:spPr>
            <a:xfrm>
              <a:off x="5629647" y="4963082"/>
              <a:ext cx="2224088" cy="438150"/>
            </a:xfrm>
            <a:prstGeom prst="rect">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Forecasting</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77" name="连接符: 肘形 76">
              <a:extLst>
                <a:ext uri="{FF2B5EF4-FFF2-40B4-BE49-F238E27FC236}">
                  <a16:creationId xmlns:a16="http://schemas.microsoft.com/office/drawing/2014/main" id="{4435A31C-89E5-489D-5A3A-7DD9FABA7D11}"/>
                </a:ext>
              </a:extLst>
            </p:cNvPr>
            <p:cNvCxnSpPr>
              <a:stCxn id="75" idx="3"/>
              <a:endCxn id="74" idx="2"/>
            </p:cNvCxnSpPr>
            <p:nvPr/>
          </p:nvCxnSpPr>
          <p:spPr>
            <a:xfrm flipV="1">
              <a:off x="7853735" y="4444362"/>
              <a:ext cx="1352695" cy="7377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文本框 77">
              <a:extLst>
                <a:ext uri="{FF2B5EF4-FFF2-40B4-BE49-F238E27FC236}">
                  <a16:creationId xmlns:a16="http://schemas.microsoft.com/office/drawing/2014/main" id="{07757CF1-7A0D-DC8D-6856-CE7D3A690DD2}"/>
                </a:ext>
              </a:extLst>
            </p:cNvPr>
            <p:cNvSpPr txBox="1"/>
            <p:nvPr/>
          </p:nvSpPr>
          <p:spPr>
            <a:xfrm>
              <a:off x="7415558" y="4646337"/>
              <a:ext cx="333167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针对优先级（</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Segment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）预测</a:t>
              </a:r>
            </a:p>
          </p:txBody>
        </p:sp>
      </p:grpSp>
      <p:grpSp>
        <p:nvGrpSpPr>
          <p:cNvPr id="104" name="组合 103">
            <a:extLst>
              <a:ext uri="{FF2B5EF4-FFF2-40B4-BE49-F238E27FC236}">
                <a16:creationId xmlns:a16="http://schemas.microsoft.com/office/drawing/2014/main" id="{D1EE25C5-9F9D-BA4E-F807-934238ACB22D}"/>
              </a:ext>
            </a:extLst>
          </p:cNvPr>
          <p:cNvGrpSpPr/>
          <p:nvPr/>
        </p:nvGrpSpPr>
        <p:grpSpPr>
          <a:xfrm>
            <a:off x="5629647" y="5401232"/>
            <a:ext cx="4660383" cy="904439"/>
            <a:chOff x="5629647" y="5401232"/>
            <a:chExt cx="4660383" cy="904439"/>
          </a:xfrm>
        </p:grpSpPr>
        <p:sp>
          <p:nvSpPr>
            <p:cNvPr id="80" name="矩形 79">
              <a:extLst>
                <a:ext uri="{FF2B5EF4-FFF2-40B4-BE49-F238E27FC236}">
                  <a16:creationId xmlns:a16="http://schemas.microsoft.com/office/drawing/2014/main" id="{9BA7233E-B327-1F8D-957B-C3824B36AA03}"/>
                </a:ext>
              </a:extLst>
            </p:cNvPr>
            <p:cNvSpPr/>
            <p:nvPr/>
          </p:nvSpPr>
          <p:spPr>
            <a:xfrm>
              <a:off x="5629647" y="5867521"/>
              <a:ext cx="2224088" cy="438150"/>
            </a:xfrm>
            <a:prstGeom prst="rect">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Master Planning</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3" name="直接箭头连接符 82">
              <a:extLst>
                <a:ext uri="{FF2B5EF4-FFF2-40B4-BE49-F238E27FC236}">
                  <a16:creationId xmlns:a16="http://schemas.microsoft.com/office/drawing/2014/main" id="{8454E965-DD6B-9202-C704-0073B5F93BB2}"/>
                </a:ext>
              </a:extLst>
            </p:cNvPr>
            <p:cNvCxnSpPr>
              <a:cxnSpLocks/>
              <a:stCxn id="80" idx="0"/>
              <a:endCxn id="75" idx="2"/>
            </p:cNvCxnSpPr>
            <p:nvPr/>
          </p:nvCxnSpPr>
          <p:spPr>
            <a:xfrm flipV="1">
              <a:off x="6741691" y="5401232"/>
              <a:ext cx="0" cy="466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4" name="文本框 83">
              <a:extLst>
                <a:ext uri="{FF2B5EF4-FFF2-40B4-BE49-F238E27FC236}">
                  <a16:creationId xmlns:a16="http://schemas.microsoft.com/office/drawing/2014/main" id="{EB905069-825A-C36E-84E5-02A7A58C86CE}"/>
                </a:ext>
              </a:extLst>
            </p:cNvPr>
            <p:cNvSpPr txBox="1"/>
            <p:nvPr/>
          </p:nvSpPr>
          <p:spPr>
            <a:xfrm>
              <a:off x="6958358" y="5505430"/>
              <a:ext cx="333167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针对优先级（</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Segment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）的资源分配</a:t>
              </a:r>
            </a:p>
          </p:txBody>
        </p:sp>
      </p:grpSp>
      <p:cxnSp>
        <p:nvCxnSpPr>
          <p:cNvPr id="90" name="连接符: 肘形 89">
            <a:extLst>
              <a:ext uri="{FF2B5EF4-FFF2-40B4-BE49-F238E27FC236}">
                <a16:creationId xmlns:a16="http://schemas.microsoft.com/office/drawing/2014/main" id="{E4DAF7E0-2CA6-D563-BDA5-38DF93E4E618}"/>
              </a:ext>
            </a:extLst>
          </p:cNvPr>
          <p:cNvCxnSpPr>
            <a:stCxn id="85" idx="2"/>
            <a:endCxn id="80" idx="1"/>
          </p:cNvCxnSpPr>
          <p:nvPr/>
        </p:nvCxnSpPr>
        <p:spPr>
          <a:xfrm rot="16200000" flipH="1">
            <a:off x="4452932" y="4909881"/>
            <a:ext cx="685364" cy="166806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91" name="文本框 90">
            <a:extLst>
              <a:ext uri="{FF2B5EF4-FFF2-40B4-BE49-F238E27FC236}">
                <a16:creationId xmlns:a16="http://schemas.microsoft.com/office/drawing/2014/main" id="{6CEE134F-AAA0-EC6D-8C7F-9BC7CC09F35A}"/>
              </a:ext>
            </a:extLst>
          </p:cNvPr>
          <p:cNvSpPr txBox="1"/>
          <p:nvPr/>
        </p:nvSpPr>
        <p:spPr>
          <a:xfrm>
            <a:off x="995276" y="5568437"/>
            <a:ext cx="333167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针对优先级（</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Segment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）的约束性指导</a:t>
            </a:r>
          </a:p>
        </p:txBody>
      </p:sp>
      <p:grpSp>
        <p:nvGrpSpPr>
          <p:cNvPr id="103" name="组合 102">
            <a:extLst>
              <a:ext uri="{FF2B5EF4-FFF2-40B4-BE49-F238E27FC236}">
                <a16:creationId xmlns:a16="http://schemas.microsoft.com/office/drawing/2014/main" id="{F86B40D4-CB47-2630-BAFC-98B7BC1B9DA2}"/>
              </a:ext>
            </a:extLst>
          </p:cNvPr>
          <p:cNvGrpSpPr/>
          <p:nvPr/>
        </p:nvGrpSpPr>
        <p:grpSpPr>
          <a:xfrm>
            <a:off x="2849537" y="2833769"/>
            <a:ext cx="2979364" cy="2567463"/>
            <a:chOff x="2849537" y="2833769"/>
            <a:chExt cx="2979364" cy="2567463"/>
          </a:xfrm>
        </p:grpSpPr>
        <p:sp>
          <p:nvSpPr>
            <p:cNvPr id="85" name="矩形 84">
              <a:extLst>
                <a:ext uri="{FF2B5EF4-FFF2-40B4-BE49-F238E27FC236}">
                  <a16:creationId xmlns:a16="http://schemas.microsoft.com/office/drawing/2014/main" id="{1DF2B927-3367-02E5-D601-2B1330CF55ED}"/>
                </a:ext>
              </a:extLst>
            </p:cNvPr>
            <p:cNvSpPr/>
            <p:nvPr/>
          </p:nvSpPr>
          <p:spPr>
            <a:xfrm>
              <a:off x="2849537" y="4963082"/>
              <a:ext cx="2224088" cy="438150"/>
            </a:xfrm>
            <a:prstGeom prst="rect">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Execution Planning</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96" name="连接符: 肘形 95">
              <a:extLst>
                <a:ext uri="{FF2B5EF4-FFF2-40B4-BE49-F238E27FC236}">
                  <a16:creationId xmlns:a16="http://schemas.microsoft.com/office/drawing/2014/main" id="{982BC0F1-7E98-2BCF-146A-3DA0F22C540E}"/>
                </a:ext>
              </a:extLst>
            </p:cNvPr>
            <p:cNvCxnSpPr>
              <a:stCxn id="85" idx="0"/>
              <a:endCxn id="12" idx="2"/>
            </p:cNvCxnSpPr>
            <p:nvPr/>
          </p:nvCxnSpPr>
          <p:spPr>
            <a:xfrm rot="5400000" flipH="1" flipV="1">
              <a:off x="3830584" y="2964765"/>
              <a:ext cx="2129314" cy="186732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7" name="文本框 96">
              <a:extLst>
                <a:ext uri="{FF2B5EF4-FFF2-40B4-BE49-F238E27FC236}">
                  <a16:creationId xmlns:a16="http://schemas.microsoft.com/office/drawing/2014/main" id="{F7C5B85C-3ED6-2EF3-F9B9-00352FDC37D2}"/>
                </a:ext>
              </a:extLst>
            </p:cNvPr>
            <p:cNvSpPr txBox="1"/>
            <p:nvPr/>
          </p:nvSpPr>
          <p:spPr>
            <a:xfrm>
              <a:off x="4138859" y="3461192"/>
              <a:ext cx="14878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OBO by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a:t>
              </a:r>
            </a:p>
          </p:txBody>
        </p:sp>
      </p:grpSp>
    </p:spTree>
    <p:extLst>
      <p:ext uri="{BB962C8B-B14F-4D97-AF65-F5344CB8AC3E}">
        <p14:creationId xmlns:p14="http://schemas.microsoft.com/office/powerpoint/2010/main" val="203075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500"/>
                                        <p:tgtEl>
                                          <p:spTgt spid="6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fade">
                                      <p:cBhvr>
                                        <p:cTn id="28" dur="500"/>
                                        <p:tgtEl>
                                          <p:spTgt spid="7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4" grpId="0" animBg="1"/>
      <p:bldP spid="9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A745F280-BC5A-786A-49BB-4B8E3080148A}"/>
              </a:ext>
            </a:extLst>
          </p:cNvPr>
          <p:cNvSpPr/>
          <p:nvPr/>
        </p:nvSpPr>
        <p:spPr>
          <a:xfrm>
            <a:off x="261257" y="1639389"/>
            <a:ext cx="5452142" cy="3677194"/>
          </a:xfrm>
          <a:prstGeom prst="roundRect">
            <a:avLst/>
          </a:prstGeom>
          <a:solidFill>
            <a:schemeClr val="accent1">
              <a:lumMod val="75000"/>
              <a:alpha val="16000"/>
            </a:schemeClr>
          </a:solidFill>
          <a:ln>
            <a:solidFill>
              <a:schemeClr val="accent1">
                <a:lumMod val="75000"/>
                <a:alpha val="1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38" name="矩形: 圆角 37">
            <a:extLst>
              <a:ext uri="{FF2B5EF4-FFF2-40B4-BE49-F238E27FC236}">
                <a16:creationId xmlns:a16="http://schemas.microsoft.com/office/drawing/2014/main" id="{8E5A37F6-73BA-7A79-A06E-F2153826B627}"/>
              </a:ext>
            </a:extLst>
          </p:cNvPr>
          <p:cNvSpPr/>
          <p:nvPr/>
        </p:nvSpPr>
        <p:spPr>
          <a:xfrm>
            <a:off x="5870694" y="1637211"/>
            <a:ext cx="5452142" cy="3677194"/>
          </a:xfrm>
          <a:prstGeom prst="roundRect">
            <a:avLst/>
          </a:prstGeom>
          <a:solidFill>
            <a:srgbClr val="00B050">
              <a:alpha val="16000"/>
            </a:srgbClr>
          </a:solidFill>
          <a:ln>
            <a:solidFill>
              <a:schemeClr val="accent1">
                <a:lumMod val="75000"/>
                <a:alpha val="1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2" name="标题 1">
            <a:extLst>
              <a:ext uri="{FF2B5EF4-FFF2-40B4-BE49-F238E27FC236}">
                <a16:creationId xmlns:a16="http://schemas.microsoft.com/office/drawing/2014/main" id="{AF516374-5655-72AD-0625-2466E072EA6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优先级管理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插单</a:t>
            </a:r>
          </a:p>
        </p:txBody>
      </p:sp>
      <p:graphicFrame>
        <p:nvGraphicFramePr>
          <p:cNvPr id="5" name="表格 4">
            <a:extLst>
              <a:ext uri="{FF2B5EF4-FFF2-40B4-BE49-F238E27FC236}">
                <a16:creationId xmlns:a16="http://schemas.microsoft.com/office/drawing/2014/main" id="{BC52739F-348E-B25F-E66A-A054F4A21CCD}"/>
              </a:ext>
            </a:extLst>
          </p:cNvPr>
          <p:cNvGraphicFramePr>
            <a:graphicFrameLocks noGrp="1"/>
          </p:cNvGraphicFramePr>
          <p:nvPr>
            <p:extLst>
              <p:ext uri="{D42A27DB-BD31-4B8C-83A1-F6EECF244321}">
                <p14:modId xmlns:p14="http://schemas.microsoft.com/office/powerpoint/2010/main" val="3728110965"/>
              </p:ext>
            </p:extLst>
          </p:nvPr>
        </p:nvGraphicFramePr>
        <p:xfrm>
          <a:off x="957247" y="2129365"/>
          <a:ext cx="694872" cy="2377440"/>
        </p:xfrm>
        <a:graphic>
          <a:graphicData uri="http://schemas.openxmlformats.org/drawingml/2006/table">
            <a:tbl>
              <a:tblPr firstRow="1" bandRow="1">
                <a:tableStyleId>{5C22544A-7EE6-4342-B048-85BDC9FD1C3A}</a:tableStyleId>
              </a:tblPr>
              <a:tblGrid>
                <a:gridCol w="694872">
                  <a:extLst>
                    <a:ext uri="{9D8B030D-6E8A-4147-A177-3AD203B41FA5}">
                      <a16:colId xmlns:a16="http://schemas.microsoft.com/office/drawing/2014/main" val="162918968"/>
                    </a:ext>
                  </a:extLst>
                </a:gridCol>
              </a:tblGrid>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So1</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296568901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So2</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72483804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So3</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4171502573"/>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So4</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1328586158"/>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So5</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3184837989"/>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So6</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3687170746"/>
                  </a:ext>
                </a:extLst>
              </a:tr>
            </a:tbl>
          </a:graphicData>
        </a:graphic>
      </p:graphicFrame>
      <p:sp>
        <p:nvSpPr>
          <p:cNvPr id="6" name="箭头: 下弧形 5">
            <a:extLst>
              <a:ext uri="{FF2B5EF4-FFF2-40B4-BE49-F238E27FC236}">
                <a16:creationId xmlns:a16="http://schemas.microsoft.com/office/drawing/2014/main" id="{35459864-DBB9-D4AE-70F5-C3B3DE03AEF4}"/>
              </a:ext>
            </a:extLst>
          </p:cNvPr>
          <p:cNvSpPr/>
          <p:nvPr/>
        </p:nvSpPr>
        <p:spPr>
          <a:xfrm rot="16200000">
            <a:off x="1203084" y="3137808"/>
            <a:ext cx="1681843" cy="587826"/>
          </a:xfrm>
          <a:prstGeom prst="curvedUpArrow">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7" name="文本框 6">
            <a:extLst>
              <a:ext uri="{FF2B5EF4-FFF2-40B4-BE49-F238E27FC236}">
                <a16:creationId xmlns:a16="http://schemas.microsoft.com/office/drawing/2014/main" id="{10B9E01D-4EE8-2F1F-7A95-058ADEC2C34E}"/>
              </a:ext>
            </a:extLst>
          </p:cNvPr>
          <p:cNvSpPr txBox="1"/>
          <p:nvPr/>
        </p:nvSpPr>
        <p:spPr>
          <a:xfrm>
            <a:off x="2230874" y="3147124"/>
            <a:ext cx="16764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插单</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Jump the queue</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8" name="表格 7">
            <a:extLst>
              <a:ext uri="{FF2B5EF4-FFF2-40B4-BE49-F238E27FC236}">
                <a16:creationId xmlns:a16="http://schemas.microsoft.com/office/drawing/2014/main" id="{224AD432-C575-4DAF-F701-3BF1B1845128}"/>
              </a:ext>
            </a:extLst>
          </p:cNvPr>
          <p:cNvGraphicFramePr>
            <a:graphicFrameLocks noGrp="1"/>
          </p:cNvGraphicFramePr>
          <p:nvPr>
            <p:extLst>
              <p:ext uri="{D42A27DB-BD31-4B8C-83A1-F6EECF244321}">
                <p14:modId xmlns:p14="http://schemas.microsoft.com/office/powerpoint/2010/main" val="15473438"/>
              </p:ext>
            </p:extLst>
          </p:nvPr>
        </p:nvGraphicFramePr>
        <p:xfrm>
          <a:off x="3872797" y="2129365"/>
          <a:ext cx="694872" cy="2377440"/>
        </p:xfrm>
        <a:graphic>
          <a:graphicData uri="http://schemas.openxmlformats.org/drawingml/2006/table">
            <a:tbl>
              <a:tblPr firstRow="1" bandRow="1">
                <a:tableStyleId>{5C22544A-7EE6-4342-B048-85BDC9FD1C3A}</a:tableStyleId>
              </a:tblPr>
              <a:tblGrid>
                <a:gridCol w="694872">
                  <a:extLst>
                    <a:ext uri="{9D8B030D-6E8A-4147-A177-3AD203B41FA5}">
                      <a16:colId xmlns:a16="http://schemas.microsoft.com/office/drawing/2014/main" val="162918968"/>
                    </a:ext>
                  </a:extLst>
                </a:gridCol>
              </a:tblGrid>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So1</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296568901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So6</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72483804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So2</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4171502573"/>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So3</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1328586158"/>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So4</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3184837989"/>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So5</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3687170746"/>
                  </a:ext>
                </a:extLst>
              </a:tr>
            </a:tbl>
          </a:graphicData>
        </a:graphic>
      </p:graphicFrame>
      <p:sp>
        <p:nvSpPr>
          <p:cNvPr id="9" name="文本框 8">
            <a:extLst>
              <a:ext uri="{FF2B5EF4-FFF2-40B4-BE49-F238E27FC236}">
                <a16:creationId xmlns:a16="http://schemas.microsoft.com/office/drawing/2014/main" id="{BAECF9FA-B089-D5AF-4C09-09451ADE2662}"/>
              </a:ext>
            </a:extLst>
          </p:cNvPr>
          <p:cNvSpPr txBox="1"/>
          <p:nvPr/>
        </p:nvSpPr>
        <p:spPr>
          <a:xfrm>
            <a:off x="466482" y="4801924"/>
            <a:ext cx="493576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DBF2E">
                    <a:lumMod val="75000"/>
                  </a:srgbClr>
                </a:solidFill>
                <a:effectLst/>
                <a:uLnTx/>
                <a:uFillTx/>
                <a:latin typeface="Arial" panose="020B0604020202020204" pitchFamily="34" charset="0"/>
                <a:ea typeface="微软雅黑" panose="020B0503020204020204" pitchFamily="34" charset="-122"/>
                <a:cs typeface="+mn-cs"/>
              </a:rPr>
              <a:t>所有排在插队订单后边与其有共享资源的订单可能都被推迟</a:t>
            </a:r>
          </a:p>
        </p:txBody>
      </p:sp>
      <p:graphicFrame>
        <p:nvGraphicFramePr>
          <p:cNvPr id="10" name="表格 9">
            <a:extLst>
              <a:ext uri="{FF2B5EF4-FFF2-40B4-BE49-F238E27FC236}">
                <a16:creationId xmlns:a16="http://schemas.microsoft.com/office/drawing/2014/main" id="{79EDE951-50DA-DE53-3DE6-FE7530A12DEA}"/>
              </a:ext>
            </a:extLst>
          </p:cNvPr>
          <p:cNvGraphicFramePr>
            <a:graphicFrameLocks noGrp="1"/>
          </p:cNvGraphicFramePr>
          <p:nvPr>
            <p:extLst>
              <p:ext uri="{D42A27DB-BD31-4B8C-83A1-F6EECF244321}">
                <p14:modId xmlns:p14="http://schemas.microsoft.com/office/powerpoint/2010/main" val="2445262387"/>
              </p:ext>
            </p:extLst>
          </p:nvPr>
        </p:nvGraphicFramePr>
        <p:xfrm>
          <a:off x="6665684" y="2129365"/>
          <a:ext cx="694872" cy="2377440"/>
        </p:xfrm>
        <a:graphic>
          <a:graphicData uri="http://schemas.openxmlformats.org/drawingml/2006/table">
            <a:tbl>
              <a:tblPr firstRow="1" bandRow="1">
                <a:tableStyleId>{5C22544A-7EE6-4342-B048-85BDC9FD1C3A}</a:tableStyleId>
              </a:tblPr>
              <a:tblGrid>
                <a:gridCol w="694872">
                  <a:extLst>
                    <a:ext uri="{9D8B030D-6E8A-4147-A177-3AD203B41FA5}">
                      <a16:colId xmlns:a16="http://schemas.microsoft.com/office/drawing/2014/main" val="162918968"/>
                    </a:ext>
                  </a:extLst>
                </a:gridCol>
              </a:tblGrid>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So1</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296568901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So2</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72483804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So3</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4171502573"/>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So4</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1328586158"/>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So5</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3184837989"/>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So6</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3687170746"/>
                  </a:ext>
                </a:extLst>
              </a:tr>
            </a:tbl>
          </a:graphicData>
        </a:graphic>
      </p:graphicFrame>
      <p:sp>
        <p:nvSpPr>
          <p:cNvPr id="12" name="文本框 11">
            <a:extLst>
              <a:ext uri="{FF2B5EF4-FFF2-40B4-BE49-F238E27FC236}">
                <a16:creationId xmlns:a16="http://schemas.microsoft.com/office/drawing/2014/main" id="{AE5DCC8D-8C1F-CA0C-630D-E6147483B6E9}"/>
              </a:ext>
            </a:extLst>
          </p:cNvPr>
          <p:cNvSpPr txBox="1"/>
          <p:nvPr/>
        </p:nvSpPr>
        <p:spPr>
          <a:xfrm>
            <a:off x="7939311" y="3147124"/>
            <a:ext cx="16764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换位</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SWAP</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3" name="表格 12">
            <a:extLst>
              <a:ext uri="{FF2B5EF4-FFF2-40B4-BE49-F238E27FC236}">
                <a16:creationId xmlns:a16="http://schemas.microsoft.com/office/drawing/2014/main" id="{0F77ACA5-B41F-E40D-0E13-1E1C4DB604EB}"/>
              </a:ext>
            </a:extLst>
          </p:cNvPr>
          <p:cNvGraphicFramePr>
            <a:graphicFrameLocks noGrp="1"/>
          </p:cNvGraphicFramePr>
          <p:nvPr>
            <p:extLst>
              <p:ext uri="{D42A27DB-BD31-4B8C-83A1-F6EECF244321}">
                <p14:modId xmlns:p14="http://schemas.microsoft.com/office/powerpoint/2010/main" val="185131210"/>
              </p:ext>
            </p:extLst>
          </p:nvPr>
        </p:nvGraphicFramePr>
        <p:xfrm>
          <a:off x="9581234" y="2129365"/>
          <a:ext cx="694872" cy="2377440"/>
        </p:xfrm>
        <a:graphic>
          <a:graphicData uri="http://schemas.openxmlformats.org/drawingml/2006/table">
            <a:tbl>
              <a:tblPr firstRow="1" bandRow="1">
                <a:tableStyleId>{5C22544A-7EE6-4342-B048-85BDC9FD1C3A}</a:tableStyleId>
              </a:tblPr>
              <a:tblGrid>
                <a:gridCol w="694872">
                  <a:extLst>
                    <a:ext uri="{9D8B030D-6E8A-4147-A177-3AD203B41FA5}">
                      <a16:colId xmlns:a16="http://schemas.microsoft.com/office/drawing/2014/main" val="162918968"/>
                    </a:ext>
                  </a:extLst>
                </a:gridCol>
              </a:tblGrid>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So1</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296568901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So6</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724838042"/>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So3</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4171502573"/>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So4</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1328586158"/>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So5</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rgbClr val="00B050"/>
                    </a:solidFill>
                  </a:tcPr>
                </a:tc>
                <a:extLst>
                  <a:ext uri="{0D108BD9-81ED-4DB2-BD59-A6C34878D82A}">
                    <a16:rowId xmlns:a16="http://schemas.microsoft.com/office/drawing/2014/main" val="3184837989"/>
                  </a:ext>
                </a:extLst>
              </a:tr>
              <a:tr h="370840">
                <a:tc>
                  <a:txBody>
                    <a:bodyPr/>
                    <a:lstStyle/>
                    <a:p>
                      <a:r>
                        <a:rPr lang="en-US" altLang="zh-CN" sz="2000" dirty="0">
                          <a:solidFill>
                            <a:schemeClr val="tx1"/>
                          </a:solidFill>
                          <a:latin typeface="Arial" panose="020B0604020202020204" pitchFamily="34" charset="0"/>
                          <a:ea typeface="微软雅黑" panose="020B0503020204020204" pitchFamily="34" charset="-122"/>
                        </a:rPr>
                        <a:t>So2</a:t>
                      </a:r>
                      <a:endParaRPr lang="zh-CN" altLang="en-US" sz="2000" dirty="0">
                        <a:solidFill>
                          <a:schemeClr val="tx1"/>
                        </a:solidFill>
                        <a:latin typeface="Arial" panose="020B0604020202020204" pitchFamily="34" charset="0"/>
                        <a:ea typeface="微软雅黑" panose="020B0503020204020204" pitchFamily="34" charset="-122"/>
                      </a:endParaRPr>
                    </a:p>
                  </a:txBody>
                  <a:tcPr>
                    <a:solidFill>
                      <a:schemeClr val="accent1">
                        <a:lumMod val="75000"/>
                      </a:schemeClr>
                    </a:solidFill>
                  </a:tcPr>
                </a:tc>
                <a:extLst>
                  <a:ext uri="{0D108BD9-81ED-4DB2-BD59-A6C34878D82A}">
                    <a16:rowId xmlns:a16="http://schemas.microsoft.com/office/drawing/2014/main" val="3687170746"/>
                  </a:ext>
                </a:extLst>
              </a:tr>
            </a:tbl>
          </a:graphicData>
        </a:graphic>
      </p:graphicFrame>
      <p:sp>
        <p:nvSpPr>
          <p:cNvPr id="14" name="文本框 13">
            <a:extLst>
              <a:ext uri="{FF2B5EF4-FFF2-40B4-BE49-F238E27FC236}">
                <a16:creationId xmlns:a16="http://schemas.microsoft.com/office/drawing/2014/main" id="{F77A5D95-2E3D-9D54-B33B-10E2114F45CB}"/>
              </a:ext>
            </a:extLst>
          </p:cNvPr>
          <p:cNvSpPr txBox="1"/>
          <p:nvPr/>
        </p:nvSpPr>
        <p:spPr>
          <a:xfrm>
            <a:off x="6835502" y="4777122"/>
            <a:ext cx="493576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订单置换位置，减少影响，明确影响</a:t>
            </a:r>
            <a:endParaRPr kumimoji="0" lang="en-US" altLang="zh-CN"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一对多如何处理？</a:t>
            </a:r>
          </a:p>
        </p:txBody>
      </p:sp>
      <p:sp>
        <p:nvSpPr>
          <p:cNvPr id="36" name="任意多边形: 形状 35">
            <a:extLst>
              <a:ext uri="{FF2B5EF4-FFF2-40B4-BE49-F238E27FC236}">
                <a16:creationId xmlns:a16="http://schemas.microsoft.com/office/drawing/2014/main" id="{70A14F69-8D71-A227-888E-204038E1C782}"/>
              </a:ext>
            </a:extLst>
          </p:cNvPr>
          <p:cNvSpPr/>
          <p:nvPr/>
        </p:nvSpPr>
        <p:spPr>
          <a:xfrm>
            <a:off x="7360554" y="2631085"/>
            <a:ext cx="620697" cy="1731673"/>
          </a:xfrm>
          <a:custGeom>
            <a:avLst/>
            <a:gdLst>
              <a:gd name="connsiteX0" fmla="*/ 155177 w 620697"/>
              <a:gd name="connsiteY0" fmla="*/ 0 h 1731673"/>
              <a:gd name="connsiteX1" fmla="*/ 155177 w 620697"/>
              <a:gd name="connsiteY1" fmla="*/ 77587 h 1731673"/>
              <a:gd name="connsiteX2" fmla="*/ 249236 w 620697"/>
              <a:gd name="connsiteY2" fmla="*/ 115481 h 1731673"/>
              <a:gd name="connsiteX3" fmla="*/ 251664 w 620697"/>
              <a:gd name="connsiteY3" fmla="*/ 116998 h 1731673"/>
              <a:gd name="connsiteX4" fmla="*/ 253861 w 620697"/>
              <a:gd name="connsiteY4" fmla="*/ 117895 h 1731673"/>
              <a:gd name="connsiteX5" fmla="*/ 278899 w 620697"/>
              <a:gd name="connsiteY5" fmla="*/ 134004 h 1731673"/>
              <a:gd name="connsiteX6" fmla="*/ 334996 w 620697"/>
              <a:gd name="connsiteY6" fmla="*/ 169034 h 1731673"/>
              <a:gd name="connsiteX7" fmla="*/ 339432 w 620697"/>
              <a:gd name="connsiteY7" fmla="*/ 172951 h 1731673"/>
              <a:gd name="connsiteX8" fmla="*/ 343528 w 620697"/>
              <a:gd name="connsiteY8" fmla="*/ 175587 h 1731673"/>
              <a:gd name="connsiteX9" fmla="*/ 368993 w 620697"/>
              <a:gd name="connsiteY9" fmla="*/ 199056 h 1731673"/>
              <a:gd name="connsiteX10" fmla="*/ 411451 w 620697"/>
              <a:gd name="connsiteY10" fmla="*/ 236551 h 1731673"/>
              <a:gd name="connsiteX11" fmla="*/ 417204 w 620697"/>
              <a:gd name="connsiteY11" fmla="*/ 243489 h 1731673"/>
              <a:gd name="connsiteX12" fmla="*/ 422901 w 620697"/>
              <a:gd name="connsiteY12" fmla="*/ 248740 h 1731673"/>
              <a:gd name="connsiteX13" fmla="*/ 445303 w 620697"/>
              <a:gd name="connsiteY13" fmla="*/ 277383 h 1731673"/>
              <a:gd name="connsiteX14" fmla="*/ 477597 w 620697"/>
              <a:gd name="connsiteY14" fmla="*/ 316336 h 1731673"/>
              <a:gd name="connsiteX15" fmla="*/ 483925 w 620697"/>
              <a:gd name="connsiteY15" fmla="*/ 326763 h 1731673"/>
              <a:gd name="connsiteX16" fmla="*/ 490705 w 620697"/>
              <a:gd name="connsiteY16" fmla="*/ 335432 h 1731673"/>
              <a:gd name="connsiteX17" fmla="*/ 508487 w 620697"/>
              <a:gd name="connsiteY17" fmla="*/ 367240 h 1731673"/>
              <a:gd name="connsiteX18" fmla="*/ 532428 w 620697"/>
              <a:gd name="connsiteY18" fmla="*/ 406695 h 1731673"/>
              <a:gd name="connsiteX19" fmla="*/ 538609 w 620697"/>
              <a:gd name="connsiteY19" fmla="*/ 421123 h 1731673"/>
              <a:gd name="connsiteX20" fmla="*/ 545662 w 620697"/>
              <a:gd name="connsiteY20" fmla="*/ 433740 h 1731673"/>
              <a:gd name="connsiteX21" fmla="*/ 558060 w 620697"/>
              <a:gd name="connsiteY21" fmla="*/ 466529 h 1731673"/>
              <a:gd name="connsiteX22" fmla="*/ 574940 w 620697"/>
              <a:gd name="connsiteY22" fmla="*/ 505933 h 1731673"/>
              <a:gd name="connsiteX23" fmla="*/ 580172 w 620697"/>
              <a:gd name="connsiteY23" fmla="*/ 525009 h 1731673"/>
              <a:gd name="connsiteX24" fmla="*/ 586497 w 620697"/>
              <a:gd name="connsiteY24" fmla="*/ 541739 h 1731673"/>
              <a:gd name="connsiteX25" fmla="*/ 593497 w 620697"/>
              <a:gd name="connsiteY25" fmla="*/ 573597 h 1731673"/>
              <a:gd name="connsiteX26" fmla="*/ 604127 w 620697"/>
              <a:gd name="connsiteY26" fmla="*/ 612355 h 1731673"/>
              <a:gd name="connsiteX27" fmla="*/ 607354 w 620697"/>
              <a:gd name="connsiteY27" fmla="*/ 636660 h 1731673"/>
              <a:gd name="connsiteX28" fmla="*/ 611934 w 620697"/>
              <a:gd name="connsiteY28" fmla="*/ 657507 h 1731673"/>
              <a:gd name="connsiteX29" fmla="*/ 614086 w 620697"/>
              <a:gd name="connsiteY29" fmla="*/ 687371 h 1731673"/>
              <a:gd name="connsiteX30" fmla="*/ 618984 w 620697"/>
              <a:gd name="connsiteY30" fmla="*/ 724265 h 1731673"/>
              <a:gd name="connsiteX31" fmla="*/ 618619 w 620697"/>
              <a:gd name="connsiteY31" fmla="*/ 750289 h 1731673"/>
              <a:gd name="connsiteX32" fmla="*/ 620697 w 620697"/>
              <a:gd name="connsiteY32" fmla="*/ 779122 h 1731673"/>
              <a:gd name="connsiteX33" fmla="*/ 620697 w 620697"/>
              <a:gd name="connsiteY33" fmla="*/ 934296 h 1731673"/>
              <a:gd name="connsiteX34" fmla="*/ 620695 w 620697"/>
              <a:gd name="connsiteY34" fmla="*/ 934313 h 1731673"/>
              <a:gd name="connsiteX35" fmla="*/ 620695 w 620697"/>
              <a:gd name="connsiteY35" fmla="*/ 959077 h 1731673"/>
              <a:gd name="connsiteX36" fmla="*/ 618783 w 620697"/>
              <a:gd name="connsiteY36" fmla="*/ 982562 h 1731673"/>
              <a:gd name="connsiteX37" fmla="*/ 619246 w 620697"/>
              <a:gd name="connsiteY37" fmla="*/ 1006785 h 1731673"/>
              <a:gd name="connsiteX38" fmla="*/ 611804 w 620697"/>
              <a:gd name="connsiteY38" fmla="*/ 1068308 h 1731673"/>
              <a:gd name="connsiteX39" fmla="*/ 610300 w 620697"/>
              <a:gd name="connsiteY39" fmla="*/ 1086779 h 1731673"/>
              <a:gd name="connsiteX40" fmla="*/ 608879 w 620697"/>
              <a:gd name="connsiteY40" fmla="*/ 1092479 h 1731673"/>
              <a:gd name="connsiteX41" fmla="*/ 608057 w 620697"/>
              <a:gd name="connsiteY41" fmla="*/ 1099280 h 1731673"/>
              <a:gd name="connsiteX42" fmla="*/ 586042 w 620697"/>
              <a:gd name="connsiteY42" fmla="*/ 1189145 h 1731673"/>
              <a:gd name="connsiteX43" fmla="*/ 582374 w 620697"/>
              <a:gd name="connsiteY43" fmla="*/ 1198833 h 1731673"/>
              <a:gd name="connsiteX44" fmla="*/ 580282 w 620697"/>
              <a:gd name="connsiteY44" fmla="*/ 1207227 h 1731673"/>
              <a:gd name="connsiteX45" fmla="*/ 571448 w 620697"/>
              <a:gd name="connsiteY45" fmla="*/ 1227691 h 1731673"/>
              <a:gd name="connsiteX46" fmla="*/ 553479 w 620697"/>
              <a:gd name="connsiteY46" fmla="*/ 1275149 h 1731673"/>
              <a:gd name="connsiteX47" fmla="*/ 539827 w 620697"/>
              <a:gd name="connsiteY47" fmla="*/ 1300934 h 1731673"/>
              <a:gd name="connsiteX48" fmla="*/ 532394 w 620697"/>
              <a:gd name="connsiteY48" fmla="*/ 1318153 h 1731673"/>
              <a:gd name="connsiteX49" fmla="*/ 523047 w 620697"/>
              <a:gd name="connsiteY49" fmla="*/ 1332630 h 1731673"/>
              <a:gd name="connsiteX50" fmla="*/ 510640 w 620697"/>
              <a:gd name="connsiteY50" fmla="*/ 1356065 h 1731673"/>
              <a:gd name="connsiteX51" fmla="*/ 492768 w 620697"/>
              <a:gd name="connsiteY51" fmla="*/ 1379529 h 1731673"/>
              <a:gd name="connsiteX52" fmla="*/ 468387 w 620697"/>
              <a:gd name="connsiteY52" fmla="*/ 1417292 h 1731673"/>
              <a:gd name="connsiteX53" fmla="*/ 443059 w 620697"/>
              <a:gd name="connsiteY53" fmla="*/ 1444787 h 1731673"/>
              <a:gd name="connsiteX54" fmla="*/ 426870 w 620697"/>
              <a:gd name="connsiteY54" fmla="*/ 1466041 h 1731673"/>
              <a:gd name="connsiteX55" fmla="*/ 410188 w 620697"/>
              <a:gd name="connsiteY55" fmla="*/ 1480473 h 1731673"/>
              <a:gd name="connsiteX56" fmla="*/ 390013 w 620697"/>
              <a:gd name="connsiteY56" fmla="*/ 1502375 h 1731673"/>
              <a:gd name="connsiteX57" fmla="*/ 349346 w 620697"/>
              <a:gd name="connsiteY57" fmla="*/ 1533107 h 1731673"/>
              <a:gd name="connsiteX58" fmla="*/ 325875 w 620697"/>
              <a:gd name="connsiteY58" fmla="*/ 1553412 h 1731673"/>
              <a:gd name="connsiteX59" fmla="*/ 313782 w 620697"/>
              <a:gd name="connsiteY59" fmla="*/ 1559984 h 1731673"/>
              <a:gd name="connsiteX60" fmla="*/ 299024 w 620697"/>
              <a:gd name="connsiteY60" fmla="*/ 1571137 h 1731673"/>
              <a:gd name="connsiteX61" fmla="*/ 259170 w 620697"/>
              <a:gd name="connsiteY61" fmla="*/ 1590770 h 1731673"/>
              <a:gd name="connsiteX62" fmla="*/ 241605 w 620697"/>
              <a:gd name="connsiteY62" fmla="*/ 1601899 h 1731673"/>
              <a:gd name="connsiteX63" fmla="*/ 226726 w 620697"/>
              <a:gd name="connsiteY63" fmla="*/ 1607290 h 1731673"/>
              <a:gd name="connsiteX64" fmla="*/ 211155 w 620697"/>
              <a:gd name="connsiteY64" fmla="*/ 1615751 h 1731673"/>
              <a:gd name="connsiteX65" fmla="*/ 204929 w 620697"/>
              <a:gd name="connsiteY65" fmla="*/ 1617489 h 1731673"/>
              <a:gd name="connsiteX66" fmla="*/ 197172 w 620697"/>
              <a:gd name="connsiteY66" fmla="*/ 1621311 h 1731673"/>
              <a:gd name="connsiteX67" fmla="*/ 163427 w 620697"/>
              <a:gd name="connsiteY67" fmla="*/ 1630227 h 1731673"/>
              <a:gd name="connsiteX68" fmla="*/ 125094 w 620697"/>
              <a:gd name="connsiteY68" fmla="*/ 1644117 h 1731673"/>
              <a:gd name="connsiteX69" fmla="*/ 99424 w 620697"/>
              <a:gd name="connsiteY69" fmla="*/ 1647137 h 1731673"/>
              <a:gd name="connsiteX70" fmla="*/ 86208 w 620697"/>
              <a:gd name="connsiteY70" fmla="*/ 1650629 h 1731673"/>
              <a:gd name="connsiteX71" fmla="*/ 86208 w 620697"/>
              <a:gd name="connsiteY71" fmla="*/ 1731673 h 1731673"/>
              <a:gd name="connsiteX72" fmla="*/ 42052 w 620697"/>
              <a:gd name="connsiteY72" fmla="*/ 1653889 h 1731673"/>
              <a:gd name="connsiteX73" fmla="*/ 3 w 620697"/>
              <a:gd name="connsiteY73" fmla="*/ 1658837 h 1731673"/>
              <a:gd name="connsiteX74" fmla="*/ 3 w 620697"/>
              <a:gd name="connsiteY74" fmla="*/ 1579815 h 1731673"/>
              <a:gd name="connsiteX75" fmla="*/ 0 w 620697"/>
              <a:gd name="connsiteY75" fmla="*/ 1579810 h 1731673"/>
              <a:gd name="connsiteX76" fmla="*/ 3 w 620697"/>
              <a:gd name="connsiteY76" fmla="*/ 1579805 h 1731673"/>
              <a:gd name="connsiteX77" fmla="*/ 3 w 620697"/>
              <a:gd name="connsiteY77" fmla="*/ 1503663 h 1731673"/>
              <a:gd name="connsiteX78" fmla="*/ 4 w 620697"/>
              <a:gd name="connsiteY78" fmla="*/ 1503662 h 1731673"/>
              <a:gd name="connsiteX79" fmla="*/ 42282 w 620697"/>
              <a:gd name="connsiteY79" fmla="*/ 1498687 h 1731673"/>
              <a:gd name="connsiteX80" fmla="*/ 86208 w 620697"/>
              <a:gd name="connsiteY80" fmla="*/ 1414411 h 1731673"/>
              <a:gd name="connsiteX81" fmla="*/ 86208 w 620697"/>
              <a:gd name="connsiteY81" fmla="*/ 1493518 h 1731673"/>
              <a:gd name="connsiteX82" fmla="*/ 95314 w 620697"/>
              <a:gd name="connsiteY82" fmla="*/ 1492447 h 1731673"/>
              <a:gd name="connsiteX83" fmla="*/ 242675 w 620697"/>
              <a:gd name="connsiteY83" fmla="*/ 1443765 h 1731673"/>
              <a:gd name="connsiteX84" fmla="*/ 268305 w 620697"/>
              <a:gd name="connsiteY84" fmla="*/ 1429808 h 1731673"/>
              <a:gd name="connsiteX85" fmla="*/ 329599 w 620697"/>
              <a:gd name="connsiteY85" fmla="*/ 1390972 h 1731673"/>
              <a:gd name="connsiteX86" fmla="*/ 366866 w 620697"/>
              <a:gd name="connsiteY86" fmla="*/ 1360827 h 1731673"/>
              <a:gd name="connsiteX87" fmla="*/ 419225 w 620697"/>
              <a:gd name="connsiteY87" fmla="*/ 1310399 h 1731673"/>
              <a:gd name="connsiteX88" fmla="*/ 451538 w 620697"/>
              <a:gd name="connsiteY88" fmla="*/ 1273569 h 1731673"/>
              <a:gd name="connsiteX89" fmla="*/ 495630 w 620697"/>
              <a:gd name="connsiteY89" fmla="*/ 1211188 h 1731673"/>
              <a:gd name="connsiteX90" fmla="*/ 521150 w 620697"/>
              <a:gd name="connsiteY90" fmla="*/ 1170331 h 1731673"/>
              <a:gd name="connsiteX91" fmla="*/ 557439 w 620697"/>
              <a:gd name="connsiteY91" fmla="*/ 1092287 h 1731673"/>
              <a:gd name="connsiteX92" fmla="*/ 573975 w 620697"/>
              <a:gd name="connsiteY92" fmla="*/ 1053415 h 1731673"/>
              <a:gd name="connsiteX93" fmla="*/ 608086 w 620697"/>
              <a:gd name="connsiteY93" fmla="*/ 925145 h 1731673"/>
              <a:gd name="connsiteX94" fmla="*/ 608086 w 620697"/>
              <a:gd name="connsiteY94" fmla="*/ 925142 h 1731673"/>
              <a:gd name="connsiteX95" fmla="*/ 611247 w 620697"/>
              <a:gd name="connsiteY95" fmla="*/ 888543 h 1731673"/>
              <a:gd name="connsiteX96" fmla="*/ 612782 w 620697"/>
              <a:gd name="connsiteY96" fmla="*/ 870767 h 1731673"/>
              <a:gd name="connsiteX97" fmla="*/ 610213 w 620697"/>
              <a:gd name="connsiteY97" fmla="*/ 842093 h 1731673"/>
              <a:gd name="connsiteX98" fmla="*/ 608085 w 620697"/>
              <a:gd name="connsiteY98" fmla="*/ 818341 h 1731673"/>
              <a:gd name="connsiteX99" fmla="*/ 573974 w 620697"/>
              <a:gd name="connsiteY99" fmla="*/ 694710 h 1731673"/>
              <a:gd name="connsiteX100" fmla="*/ 557438 w 620697"/>
              <a:gd name="connsiteY100" fmla="*/ 657247 h 1731673"/>
              <a:gd name="connsiteX101" fmla="*/ 521148 w 620697"/>
              <a:gd name="connsiteY101" fmla="*/ 582025 h 1731673"/>
              <a:gd name="connsiteX102" fmla="*/ 495629 w 620697"/>
              <a:gd name="connsiteY102" fmla="*/ 542648 h 1731673"/>
              <a:gd name="connsiteX103" fmla="*/ 451536 w 620697"/>
              <a:gd name="connsiteY103" fmla="*/ 482524 h 1731673"/>
              <a:gd name="connsiteX104" fmla="*/ 419223 w 620697"/>
              <a:gd name="connsiteY104" fmla="*/ 447027 h 1731673"/>
              <a:gd name="connsiteX105" fmla="*/ 366864 w 620697"/>
              <a:gd name="connsiteY105" fmla="*/ 398424 h 1731673"/>
              <a:gd name="connsiteX106" fmla="*/ 329597 w 620697"/>
              <a:gd name="connsiteY106" fmla="*/ 369370 h 1731673"/>
              <a:gd name="connsiteX107" fmla="*/ 268302 w 620697"/>
              <a:gd name="connsiteY107" fmla="*/ 331939 h 1731673"/>
              <a:gd name="connsiteX108" fmla="*/ 228560 w 620697"/>
              <a:gd name="connsiteY108" fmla="*/ 311080 h 1731673"/>
              <a:gd name="connsiteX109" fmla="*/ 155176 w 620697"/>
              <a:gd name="connsiteY109" fmla="*/ 285451 h 1731673"/>
              <a:gd name="connsiteX110" fmla="*/ 155177 w 620697"/>
              <a:gd name="connsiteY110" fmla="*/ 310348 h 1731673"/>
              <a:gd name="connsiteX111" fmla="*/ 125669 w 620697"/>
              <a:gd name="connsiteY111" fmla="*/ 276465 h 1731673"/>
              <a:gd name="connsiteX112" fmla="*/ 118033 w 620697"/>
              <a:gd name="connsiteY112" fmla="*/ 274144 h 1731673"/>
              <a:gd name="connsiteX113" fmla="*/ 2 w 620697"/>
              <a:gd name="connsiteY113" fmla="*/ 260757 h 1731673"/>
              <a:gd name="connsiteX114" fmla="*/ 0 w 620697"/>
              <a:gd name="connsiteY114" fmla="*/ 260757 h 1731673"/>
              <a:gd name="connsiteX115" fmla="*/ 0 w 620697"/>
              <a:gd name="connsiteY115" fmla="*/ 105584 h 1731673"/>
              <a:gd name="connsiteX116" fmla="*/ 27955 w 620697"/>
              <a:gd name="connsiteY116" fmla="*/ 108359 h 173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620697" h="1731673">
                <a:moveTo>
                  <a:pt x="155177" y="0"/>
                </a:moveTo>
                <a:lnTo>
                  <a:pt x="155177" y="77587"/>
                </a:lnTo>
                <a:cubicBezTo>
                  <a:pt x="187801" y="87420"/>
                  <a:pt x="219210" y="100146"/>
                  <a:pt x="249236" y="115481"/>
                </a:cubicBezTo>
                <a:lnTo>
                  <a:pt x="251664" y="116998"/>
                </a:lnTo>
                <a:lnTo>
                  <a:pt x="253861" y="117895"/>
                </a:lnTo>
                <a:lnTo>
                  <a:pt x="278899" y="134004"/>
                </a:lnTo>
                <a:lnTo>
                  <a:pt x="334996" y="169034"/>
                </a:lnTo>
                <a:lnTo>
                  <a:pt x="339432" y="172951"/>
                </a:lnTo>
                <a:lnTo>
                  <a:pt x="343528" y="175587"/>
                </a:lnTo>
                <a:lnTo>
                  <a:pt x="368993" y="199056"/>
                </a:lnTo>
                <a:lnTo>
                  <a:pt x="411451" y="236551"/>
                </a:lnTo>
                <a:lnTo>
                  <a:pt x="417204" y="243489"/>
                </a:lnTo>
                <a:lnTo>
                  <a:pt x="422901" y="248740"/>
                </a:lnTo>
                <a:lnTo>
                  <a:pt x="445303" y="277383"/>
                </a:lnTo>
                <a:lnTo>
                  <a:pt x="477597" y="316336"/>
                </a:lnTo>
                <a:lnTo>
                  <a:pt x="483925" y="326763"/>
                </a:lnTo>
                <a:lnTo>
                  <a:pt x="490705" y="335432"/>
                </a:lnTo>
                <a:lnTo>
                  <a:pt x="508487" y="367240"/>
                </a:lnTo>
                <a:lnTo>
                  <a:pt x="532428" y="406695"/>
                </a:lnTo>
                <a:lnTo>
                  <a:pt x="538609" y="421123"/>
                </a:lnTo>
                <a:lnTo>
                  <a:pt x="545662" y="433740"/>
                </a:lnTo>
                <a:lnTo>
                  <a:pt x="558060" y="466529"/>
                </a:lnTo>
                <a:lnTo>
                  <a:pt x="574940" y="505933"/>
                </a:lnTo>
                <a:lnTo>
                  <a:pt x="580172" y="525009"/>
                </a:lnTo>
                <a:lnTo>
                  <a:pt x="586497" y="541739"/>
                </a:lnTo>
                <a:lnTo>
                  <a:pt x="593497" y="573597"/>
                </a:lnTo>
                <a:lnTo>
                  <a:pt x="604127" y="612355"/>
                </a:lnTo>
                <a:lnTo>
                  <a:pt x="607354" y="636660"/>
                </a:lnTo>
                <a:lnTo>
                  <a:pt x="611934" y="657507"/>
                </a:lnTo>
                <a:lnTo>
                  <a:pt x="614086" y="687371"/>
                </a:lnTo>
                <a:lnTo>
                  <a:pt x="618984" y="724265"/>
                </a:lnTo>
                <a:lnTo>
                  <a:pt x="618619" y="750289"/>
                </a:lnTo>
                <a:lnTo>
                  <a:pt x="620697" y="779122"/>
                </a:lnTo>
                <a:lnTo>
                  <a:pt x="620697" y="934296"/>
                </a:lnTo>
                <a:lnTo>
                  <a:pt x="620695" y="934313"/>
                </a:lnTo>
                <a:lnTo>
                  <a:pt x="620695" y="959077"/>
                </a:lnTo>
                <a:lnTo>
                  <a:pt x="618783" y="982562"/>
                </a:lnTo>
                <a:lnTo>
                  <a:pt x="619246" y="1006785"/>
                </a:lnTo>
                <a:lnTo>
                  <a:pt x="611804" y="1068308"/>
                </a:lnTo>
                <a:lnTo>
                  <a:pt x="610300" y="1086779"/>
                </a:lnTo>
                <a:lnTo>
                  <a:pt x="608879" y="1092479"/>
                </a:lnTo>
                <a:lnTo>
                  <a:pt x="608057" y="1099280"/>
                </a:lnTo>
                <a:cubicBezTo>
                  <a:pt x="602507" y="1129742"/>
                  <a:pt x="595154" y="1159765"/>
                  <a:pt x="586042" y="1189145"/>
                </a:cubicBezTo>
                <a:lnTo>
                  <a:pt x="582374" y="1198833"/>
                </a:lnTo>
                <a:lnTo>
                  <a:pt x="580282" y="1207227"/>
                </a:lnTo>
                <a:lnTo>
                  <a:pt x="571448" y="1227691"/>
                </a:lnTo>
                <a:lnTo>
                  <a:pt x="553479" y="1275149"/>
                </a:lnTo>
                <a:lnTo>
                  <a:pt x="539827" y="1300934"/>
                </a:lnTo>
                <a:lnTo>
                  <a:pt x="532394" y="1318153"/>
                </a:lnTo>
                <a:lnTo>
                  <a:pt x="523047" y="1332630"/>
                </a:lnTo>
                <a:lnTo>
                  <a:pt x="510640" y="1356065"/>
                </a:lnTo>
                <a:lnTo>
                  <a:pt x="492768" y="1379529"/>
                </a:lnTo>
                <a:lnTo>
                  <a:pt x="468387" y="1417292"/>
                </a:lnTo>
                <a:lnTo>
                  <a:pt x="443059" y="1444787"/>
                </a:lnTo>
                <a:lnTo>
                  <a:pt x="426870" y="1466041"/>
                </a:lnTo>
                <a:lnTo>
                  <a:pt x="410188" y="1480473"/>
                </a:lnTo>
                <a:lnTo>
                  <a:pt x="390013" y="1502375"/>
                </a:lnTo>
                <a:lnTo>
                  <a:pt x="349346" y="1533107"/>
                </a:lnTo>
                <a:lnTo>
                  <a:pt x="325875" y="1553412"/>
                </a:lnTo>
                <a:lnTo>
                  <a:pt x="313782" y="1559984"/>
                </a:lnTo>
                <a:lnTo>
                  <a:pt x="299024" y="1571137"/>
                </a:lnTo>
                <a:lnTo>
                  <a:pt x="259170" y="1590770"/>
                </a:lnTo>
                <a:lnTo>
                  <a:pt x="241605" y="1601899"/>
                </a:lnTo>
                <a:lnTo>
                  <a:pt x="226726" y="1607290"/>
                </a:lnTo>
                <a:lnTo>
                  <a:pt x="211155" y="1615751"/>
                </a:lnTo>
                <a:lnTo>
                  <a:pt x="204929" y="1617489"/>
                </a:lnTo>
                <a:lnTo>
                  <a:pt x="197172" y="1621311"/>
                </a:lnTo>
                <a:lnTo>
                  <a:pt x="163427" y="1630227"/>
                </a:lnTo>
                <a:lnTo>
                  <a:pt x="125094" y="1644117"/>
                </a:lnTo>
                <a:lnTo>
                  <a:pt x="99424" y="1647137"/>
                </a:lnTo>
                <a:lnTo>
                  <a:pt x="86208" y="1650629"/>
                </a:lnTo>
                <a:lnTo>
                  <a:pt x="86208" y="1731673"/>
                </a:lnTo>
                <a:lnTo>
                  <a:pt x="42052" y="1653889"/>
                </a:lnTo>
                <a:lnTo>
                  <a:pt x="3" y="1658837"/>
                </a:lnTo>
                <a:lnTo>
                  <a:pt x="3" y="1579815"/>
                </a:lnTo>
                <a:lnTo>
                  <a:pt x="0" y="1579810"/>
                </a:lnTo>
                <a:lnTo>
                  <a:pt x="3" y="1579805"/>
                </a:lnTo>
                <a:lnTo>
                  <a:pt x="3" y="1503663"/>
                </a:lnTo>
                <a:lnTo>
                  <a:pt x="4" y="1503662"/>
                </a:lnTo>
                <a:lnTo>
                  <a:pt x="42282" y="1498687"/>
                </a:lnTo>
                <a:lnTo>
                  <a:pt x="86208" y="1414411"/>
                </a:lnTo>
                <a:lnTo>
                  <a:pt x="86208" y="1493518"/>
                </a:lnTo>
                <a:lnTo>
                  <a:pt x="95314" y="1492447"/>
                </a:lnTo>
                <a:lnTo>
                  <a:pt x="242675" y="1443765"/>
                </a:lnTo>
                <a:lnTo>
                  <a:pt x="268305" y="1429808"/>
                </a:lnTo>
                <a:lnTo>
                  <a:pt x="329599" y="1390972"/>
                </a:lnTo>
                <a:lnTo>
                  <a:pt x="366866" y="1360827"/>
                </a:lnTo>
                <a:lnTo>
                  <a:pt x="419225" y="1310399"/>
                </a:lnTo>
                <a:lnTo>
                  <a:pt x="451538" y="1273569"/>
                </a:lnTo>
                <a:lnTo>
                  <a:pt x="495630" y="1211188"/>
                </a:lnTo>
                <a:lnTo>
                  <a:pt x="521150" y="1170331"/>
                </a:lnTo>
                <a:lnTo>
                  <a:pt x="557439" y="1092287"/>
                </a:lnTo>
                <a:lnTo>
                  <a:pt x="573975" y="1053415"/>
                </a:lnTo>
                <a:lnTo>
                  <a:pt x="608086" y="925145"/>
                </a:lnTo>
                <a:lnTo>
                  <a:pt x="608086" y="925142"/>
                </a:lnTo>
                <a:lnTo>
                  <a:pt x="611247" y="888543"/>
                </a:lnTo>
                <a:lnTo>
                  <a:pt x="612782" y="870767"/>
                </a:lnTo>
                <a:lnTo>
                  <a:pt x="610213" y="842093"/>
                </a:lnTo>
                <a:lnTo>
                  <a:pt x="608085" y="818341"/>
                </a:lnTo>
                <a:lnTo>
                  <a:pt x="573974" y="694710"/>
                </a:lnTo>
                <a:lnTo>
                  <a:pt x="557438" y="657247"/>
                </a:lnTo>
                <a:lnTo>
                  <a:pt x="521148" y="582025"/>
                </a:lnTo>
                <a:lnTo>
                  <a:pt x="495629" y="542648"/>
                </a:lnTo>
                <a:lnTo>
                  <a:pt x="451536" y="482524"/>
                </a:lnTo>
                <a:lnTo>
                  <a:pt x="419223" y="447027"/>
                </a:lnTo>
                <a:lnTo>
                  <a:pt x="366864" y="398424"/>
                </a:lnTo>
                <a:lnTo>
                  <a:pt x="329597" y="369370"/>
                </a:lnTo>
                <a:lnTo>
                  <a:pt x="268302" y="331939"/>
                </a:lnTo>
                <a:lnTo>
                  <a:pt x="228560" y="311080"/>
                </a:lnTo>
                <a:lnTo>
                  <a:pt x="155176" y="285451"/>
                </a:lnTo>
                <a:lnTo>
                  <a:pt x="155177" y="310348"/>
                </a:lnTo>
                <a:lnTo>
                  <a:pt x="125669" y="276465"/>
                </a:lnTo>
                <a:lnTo>
                  <a:pt x="118033" y="274144"/>
                </a:lnTo>
                <a:lnTo>
                  <a:pt x="2" y="260757"/>
                </a:lnTo>
                <a:lnTo>
                  <a:pt x="0" y="260757"/>
                </a:lnTo>
                <a:lnTo>
                  <a:pt x="0" y="105584"/>
                </a:lnTo>
                <a:lnTo>
                  <a:pt x="27955" y="108359"/>
                </a:lnTo>
                <a:close/>
              </a:path>
            </a:pathLst>
          </a:cu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pic>
        <p:nvPicPr>
          <p:cNvPr id="40" name="图形 39">
            <a:extLst>
              <a:ext uri="{FF2B5EF4-FFF2-40B4-BE49-F238E27FC236}">
                <a16:creationId xmlns:a16="http://schemas.microsoft.com/office/drawing/2014/main" id="{CDB4A79F-A04E-4F34-062A-43B418C8DA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21863" y="5524564"/>
            <a:ext cx="1160767" cy="1136423"/>
          </a:xfrm>
          <a:prstGeom prst="rect">
            <a:avLst/>
          </a:prstGeom>
        </p:spPr>
      </p:pic>
      <p:sp>
        <p:nvSpPr>
          <p:cNvPr id="41" name="文本框 40">
            <a:extLst>
              <a:ext uri="{FF2B5EF4-FFF2-40B4-BE49-F238E27FC236}">
                <a16:creationId xmlns:a16="http://schemas.microsoft.com/office/drawing/2014/main" id="{6321F92F-CC67-983E-1347-4EA0850F88DA}"/>
              </a:ext>
            </a:extLst>
          </p:cNvPr>
          <p:cNvSpPr txBox="1"/>
          <p:nvPr/>
        </p:nvSpPr>
        <p:spPr>
          <a:xfrm>
            <a:off x="3577794" y="5958289"/>
            <a:ext cx="222721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7030A0"/>
                </a:solidFill>
                <a:effectLst/>
                <a:uLnTx/>
                <a:uFillTx/>
                <a:latin typeface="Arial" panose="020B0604020202020204" pitchFamily="34" charset="0"/>
                <a:ea typeface="微软雅黑" panose="020B0503020204020204" pitchFamily="34" charset="-122"/>
                <a:cs typeface="+mn-cs"/>
              </a:rPr>
              <a:t>HOW ?</a:t>
            </a:r>
            <a:endParaRPr kumimoji="0" lang="zh-CN" altLang="en-US" sz="2000" b="1" i="0" u="none" strike="noStrike" kern="1200" cap="none" spc="0" normalizeH="0" baseline="0" noProof="0" dirty="0">
              <a:ln>
                <a:noFill/>
              </a:ln>
              <a:solidFill>
                <a:srgbClr val="7030A0"/>
              </a:solidFill>
              <a:effectLst/>
              <a:uLnTx/>
              <a:uFillTx/>
              <a:latin typeface="Arial" panose="020B0604020202020204" pitchFamily="34" charset="0"/>
              <a:ea typeface="微软雅黑" panose="020B0503020204020204" pitchFamily="34" charset="-122"/>
              <a:cs typeface="+mn-cs"/>
            </a:endParaRPr>
          </a:p>
        </p:txBody>
      </p:sp>
      <p:sp>
        <p:nvSpPr>
          <p:cNvPr id="42" name="文本框 41">
            <a:extLst>
              <a:ext uri="{FF2B5EF4-FFF2-40B4-BE49-F238E27FC236}">
                <a16:creationId xmlns:a16="http://schemas.microsoft.com/office/drawing/2014/main" id="{192BFB12-206A-8710-1F10-1B5A2EFAEE76}"/>
              </a:ext>
            </a:extLst>
          </p:cNvPr>
          <p:cNvSpPr txBox="1"/>
          <p:nvPr/>
        </p:nvSpPr>
        <p:spPr>
          <a:xfrm>
            <a:off x="6244069" y="5615721"/>
            <a:ext cx="4431212"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找出哪些</a:t>
            </a:r>
            <a:r>
              <a:rPr kumimoji="0" lang="en-US" altLang="zh-CN"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pegging</a:t>
            </a: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为潜在可置换资源</a:t>
            </a:r>
            <a:endParaRPr kumimoji="0" lang="en-US" altLang="zh-CN"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可置换资源按照优先级策略捯排序</a:t>
            </a:r>
            <a:endParaRPr kumimoji="0" lang="en-US" altLang="zh-CN"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在线审批是否可置换</a:t>
            </a:r>
            <a:endParaRPr kumimoji="0" lang="en-US" altLang="zh-CN"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en-US" sz="14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rPr>
              <a:t>置换资源</a:t>
            </a:r>
          </a:p>
        </p:txBody>
      </p:sp>
    </p:spTree>
    <p:extLst>
      <p:ext uri="{BB962C8B-B14F-4D97-AF65-F5344CB8AC3E}">
        <p14:creationId xmlns:p14="http://schemas.microsoft.com/office/powerpoint/2010/main" val="37693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6" grpId="0" animBg="1"/>
      <p:bldP spid="7" grpId="0"/>
      <p:bldP spid="9" grpId="0"/>
      <p:bldP spid="12" grpId="0"/>
      <p:bldP spid="14" grpId="0"/>
      <p:bldP spid="36" grpId="0" animBg="1"/>
      <p:bldP spid="41" grpId="0"/>
      <p:bldP spid="4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8D871AB-D800-DBFA-4924-455EB1FFF297}"/>
              </a:ext>
            </a:extLst>
          </p:cNvPr>
          <p:cNvSpPr>
            <a:spLocks noGrp="1"/>
          </p:cNvSpPr>
          <p:nvPr>
            <p:ph type="ctrTitle"/>
          </p:nvPr>
        </p:nvSpPr>
        <p:spPr/>
        <p:txBody>
          <a:bodyPr>
            <a:normAutofit/>
          </a:bodyPr>
          <a:lstStyle/>
          <a:p>
            <a:r>
              <a:rPr lang="en-US" altLang="zh-CN" dirty="0">
                <a:latin typeface="Arial" panose="020B0604020202020204" pitchFamily="34" charset="0"/>
                <a:ea typeface="微软雅黑" panose="020B0503020204020204" pitchFamily="34" charset="-122"/>
              </a:rPr>
              <a:t>IPS –</a:t>
            </a:r>
            <a:r>
              <a:rPr lang="zh-CN" altLang="en-US" dirty="0">
                <a:latin typeface="Arial" panose="020B0604020202020204" pitchFamily="34" charset="0"/>
                <a:ea typeface="微软雅黑" panose="020B0503020204020204" pitchFamily="34" charset="-122"/>
              </a:rPr>
              <a:t>主计划和执行计划的协同</a:t>
            </a:r>
            <a:r>
              <a:rPr lang="en-US" altLang="zh-CN" dirty="0">
                <a:latin typeface="Arial" panose="020B0604020202020204" pitchFamily="34" charset="0"/>
                <a:ea typeface="微软雅黑" panose="020B0503020204020204" pitchFamily="34" charset="-122"/>
              </a:rPr>
              <a:t>Allocation/Allotment</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476620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A6B8700-F3FD-6E17-841C-3A18DAEF4A2F}"/>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智能战术规划</a:t>
            </a:r>
            <a:r>
              <a:rPr lang="en-US" altLang="zh-CN" dirty="0">
                <a:latin typeface="Arial" panose="020B0604020202020204" pitchFamily="34" charset="0"/>
                <a:ea typeface="微软雅黑" panose="020B0503020204020204" pitchFamily="34" charset="-122"/>
              </a:rPr>
              <a:t>ITP(Intelligent Tactical Planning)</a:t>
            </a:r>
            <a:endParaRPr lang="zh-CN" altLang="en-US" dirty="0">
              <a:latin typeface="Arial" panose="020B0604020202020204" pitchFamily="34" charset="0"/>
              <a:ea typeface="微软雅黑" panose="020B0503020204020204" pitchFamily="34" charset="-122"/>
            </a:endParaRPr>
          </a:p>
        </p:txBody>
      </p:sp>
      <p:grpSp>
        <p:nvGrpSpPr>
          <p:cNvPr id="2" name="组合 1">
            <a:extLst>
              <a:ext uri="{FF2B5EF4-FFF2-40B4-BE49-F238E27FC236}">
                <a16:creationId xmlns:a16="http://schemas.microsoft.com/office/drawing/2014/main" id="{6B949145-7275-890D-61F0-914B9021BF82}"/>
              </a:ext>
            </a:extLst>
          </p:cNvPr>
          <p:cNvGrpSpPr>
            <a:grpSpLocks noChangeAspect="1"/>
          </p:cNvGrpSpPr>
          <p:nvPr>
            <p:custDataLst>
              <p:tags r:id="rId1"/>
            </p:custDataLst>
          </p:nvPr>
        </p:nvGrpSpPr>
        <p:grpSpPr>
          <a:xfrm>
            <a:off x="788894" y="866588"/>
            <a:ext cx="10960096" cy="5689600"/>
            <a:chOff x="675644" y="1047413"/>
            <a:chExt cx="5314970" cy="4481862"/>
          </a:xfrm>
        </p:grpSpPr>
        <p:grpSp>
          <p:nvGrpSpPr>
            <p:cNvPr id="4" name="组合 3">
              <a:extLst>
                <a:ext uri="{FF2B5EF4-FFF2-40B4-BE49-F238E27FC236}">
                  <a16:creationId xmlns:a16="http://schemas.microsoft.com/office/drawing/2014/main" id="{8E3BDE72-8997-1E44-E8F3-FEF2564C332A}"/>
                </a:ext>
              </a:extLst>
            </p:cNvPr>
            <p:cNvGrpSpPr>
              <a:grpSpLocks/>
            </p:cNvGrpSpPr>
            <p:nvPr/>
          </p:nvGrpSpPr>
          <p:grpSpPr>
            <a:xfrm>
              <a:off x="679722" y="2953078"/>
              <a:ext cx="5300080" cy="1494355"/>
              <a:chOff x="6282634" y="2217859"/>
              <a:chExt cx="5300080" cy="1494355"/>
            </a:xfrm>
          </p:grpSpPr>
          <p:sp>
            <p:nvSpPr>
              <p:cNvPr id="29" name="2">
                <a:extLst>
                  <a:ext uri="{FF2B5EF4-FFF2-40B4-BE49-F238E27FC236}">
                    <a16:creationId xmlns:a16="http://schemas.microsoft.com/office/drawing/2014/main" id="{06EBAC61-5F61-0905-AB5A-3E0576560AA0}"/>
                  </a:ext>
                </a:extLst>
              </p:cNvPr>
              <p:cNvSpPr/>
              <p:nvPr>
                <p:custDataLst>
                  <p:tags r:id="rId8"/>
                </p:custDataLst>
              </p:nvPr>
            </p:nvSpPr>
            <p:spPr>
              <a:xfrm>
                <a:off x="7657741" y="2247950"/>
                <a:ext cx="3878613" cy="146426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30" name="Title-2">
                <a:extLst>
                  <a:ext uri="{FF2B5EF4-FFF2-40B4-BE49-F238E27FC236}">
                    <a16:creationId xmlns:a16="http://schemas.microsoft.com/office/drawing/2014/main" id="{E5814B62-C1AC-C1DA-D70A-C75B47CA19C4}"/>
                  </a:ext>
                </a:extLst>
              </p:cNvPr>
              <p:cNvSpPr/>
              <p:nvPr>
                <p:custDataLst>
                  <p:tags r:id="rId9"/>
                </p:custDataLst>
              </p:nvPr>
            </p:nvSpPr>
            <p:spPr>
              <a:xfrm>
                <a:off x="6282634" y="2247950"/>
                <a:ext cx="1336863" cy="1464264"/>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MPS</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（主生产计划）</a:t>
                </a:r>
              </a:p>
            </p:txBody>
          </p:sp>
          <p:sp>
            <p:nvSpPr>
              <p:cNvPr id="31" name="Body-2">
                <a:extLst>
                  <a:ext uri="{FF2B5EF4-FFF2-40B4-BE49-F238E27FC236}">
                    <a16:creationId xmlns:a16="http://schemas.microsoft.com/office/drawing/2014/main" id="{822D99AC-1767-FD13-B84C-331FFA2E1D2A}"/>
                  </a:ext>
                </a:extLst>
              </p:cNvPr>
              <p:cNvSpPr txBox="1"/>
              <p:nvPr>
                <p:custDataLst>
                  <p:tags r:id="rId10"/>
                </p:custDataLst>
              </p:nvPr>
            </p:nvSpPr>
            <p:spPr>
              <a:xfrm>
                <a:off x="7657741" y="2217859"/>
                <a:ext cx="3924973" cy="1306423"/>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核心功能：</a:t>
                </a:r>
                <a:r>
                  <a:rPr kumimoji="0" lang="en-US" altLang="zh-CN"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MPS </a:t>
                </a: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是生产计划的核心，将物料和资源反馈转化为可执行的计划</a:t>
                </a:r>
                <a:r>
                  <a:rPr kumimoji="0" lang="zh-CN" altLang="en-US" sz="1200" b="0" i="0" u="none" strike="noStrike" kern="1200" cap="none" spc="0" normalizeH="0" baseline="0" noProof="0" dirty="0">
                    <a:ln>
                      <a:noFill/>
                    </a:ln>
                    <a:solidFill>
                      <a:srgbClr val="000000"/>
                    </a:solidFill>
                    <a:effectLst/>
                    <a:uLnTx/>
                    <a:uFillTx/>
                    <a:ea typeface="微软雅黑" panose="020B0503020204020204" pitchFamily="34" charset="-122"/>
                    <a:cs typeface="+mn-cs"/>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关键点：</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协同模拟分析：基于 </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MRP Netting </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的输出，进行多版本模拟（如“</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what-if”</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分析），优化产销协同（即销售与生产的匹配）。</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优化策略：在战略优先的前提下，实现公平公正的深度优化，平衡成本、交期和资源利用率。</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价值链整合：通过维度规划生成预测承诺，形成销售计划和供应计划，并转化为 </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IOP </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的约束性指导，确保计划与实际运营衔接。</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意义：</a:t>
                </a:r>
                <a:r>
                  <a:rPr kumimoji="0" lang="en-US" altLang="zh-CN"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MPS </a:t>
                </a: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充当了战术规划的“大脑”，将需求转化为具体指导，确保计划既符合战略目标，又具备可操作性。</a:t>
                </a:r>
                <a:endParaRPr kumimoji="0" lang="en-US" altLang="zh-CN" sz="1200" b="1" i="0" u="none" strike="noStrike" kern="1200" cap="none" spc="0" normalizeH="0" baseline="0" noProof="0" dirty="0">
                  <a:ln>
                    <a:noFill/>
                  </a:ln>
                  <a:solidFill>
                    <a:srgbClr val="000000"/>
                  </a:solidFill>
                  <a:effectLst/>
                  <a:uLnTx/>
                  <a:uFillTx/>
                  <a:ea typeface="微软雅黑" panose="020B0503020204020204" pitchFamily="34" charset="-122"/>
                  <a:cs typeface="+mn-cs"/>
                </a:endParaRPr>
              </a:p>
            </p:txBody>
          </p:sp>
        </p:grpSp>
        <p:grpSp>
          <p:nvGrpSpPr>
            <p:cNvPr id="5" name="组合 4">
              <a:extLst>
                <a:ext uri="{FF2B5EF4-FFF2-40B4-BE49-F238E27FC236}">
                  <a16:creationId xmlns:a16="http://schemas.microsoft.com/office/drawing/2014/main" id="{23212109-DAD7-FF49-23F7-131EDB934688}"/>
                </a:ext>
              </a:extLst>
            </p:cNvPr>
            <p:cNvGrpSpPr>
              <a:grpSpLocks/>
            </p:cNvGrpSpPr>
            <p:nvPr/>
          </p:nvGrpSpPr>
          <p:grpSpPr>
            <a:xfrm>
              <a:off x="675645" y="1047413"/>
              <a:ext cx="5271854" cy="1894125"/>
              <a:chOff x="675645" y="1747906"/>
              <a:chExt cx="5271854" cy="1894125"/>
            </a:xfrm>
          </p:grpSpPr>
          <p:sp>
            <p:nvSpPr>
              <p:cNvPr id="26" name="1">
                <a:extLst>
                  <a:ext uri="{FF2B5EF4-FFF2-40B4-BE49-F238E27FC236}">
                    <a16:creationId xmlns:a16="http://schemas.microsoft.com/office/drawing/2014/main" id="{3D970A3A-0CF2-254F-C14C-46B4458B6D84}"/>
                  </a:ext>
                </a:extLst>
              </p:cNvPr>
              <p:cNvSpPr/>
              <p:nvPr>
                <p:custDataLst>
                  <p:tags r:id="rId5"/>
                </p:custDataLst>
              </p:nvPr>
            </p:nvSpPr>
            <p:spPr>
              <a:xfrm>
                <a:off x="2051585" y="1747906"/>
                <a:ext cx="3881858" cy="189412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27" name="Title-1">
                <a:extLst>
                  <a:ext uri="{FF2B5EF4-FFF2-40B4-BE49-F238E27FC236}">
                    <a16:creationId xmlns:a16="http://schemas.microsoft.com/office/drawing/2014/main" id="{3E7184A1-0A51-18B0-EAC0-45FE3CCEA681}"/>
                  </a:ext>
                </a:extLst>
              </p:cNvPr>
              <p:cNvSpPr/>
              <p:nvPr>
                <p:custDataLst>
                  <p:tags r:id="rId6"/>
                </p:custDataLst>
              </p:nvPr>
            </p:nvSpPr>
            <p:spPr>
              <a:xfrm>
                <a:off x="675645" y="1747906"/>
                <a:ext cx="1336863" cy="1894125"/>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 Netting</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（每周净需求计算）</a:t>
                </a:r>
              </a:p>
            </p:txBody>
          </p:sp>
          <p:sp>
            <p:nvSpPr>
              <p:cNvPr id="28" name="Body-1">
                <a:extLst>
                  <a:ext uri="{FF2B5EF4-FFF2-40B4-BE49-F238E27FC236}">
                    <a16:creationId xmlns:a16="http://schemas.microsoft.com/office/drawing/2014/main" id="{7AF2A639-89CD-ADBD-1EAA-DBFEAD227431}"/>
                  </a:ext>
                </a:extLst>
              </p:cNvPr>
              <p:cNvSpPr txBox="1"/>
              <p:nvPr>
                <p:custDataLst>
                  <p:tags r:id="rId7"/>
                </p:custDataLst>
              </p:nvPr>
            </p:nvSpPr>
            <p:spPr>
              <a:xfrm>
                <a:off x="2065641" y="1802891"/>
                <a:ext cx="3881858" cy="1628722"/>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核心功能：这是物料需求计划（</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MRP</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）的每周净计算环节，基于“</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Planning BOM”</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（计划物料清单）进行优化。</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关键点：</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预测准确性提升：通过 </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Planning BOM </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细化预测，减少不确定性，降低跨部门协同的复杂度。</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预测冲减：动态调整预测以反映实际需求，更先进的做法是将此过程集成到 </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IOP</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Intelligent Operational Planning</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，智能运营规划）中，实现更前瞻性的调整。</a:t>
                </a:r>
              </a:p>
              <a:p>
                <a:pPr marL="628650" marR="0" lvl="1"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高效计算与瓶颈识别：利用内存计算、并行计算等高性能技术，实现分钟级计算速度。同时，结合维度规划、替换料方案等专利，快速识别物料和资源瓶颈，并将结果分发给供应商、第三方物流（</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3PL</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）及内外工厂，确保供应端及时响应。</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意义：</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MRP Netting </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 </a:t>
                </a: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ITP </a:t>
                </a: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的基础，确保物料需求计划快速、准确，为后续规划提供可靠输入。</a:t>
                </a:r>
                <a:endPar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22" name="组合 21">
              <a:extLst>
                <a:ext uri="{FF2B5EF4-FFF2-40B4-BE49-F238E27FC236}">
                  <a16:creationId xmlns:a16="http://schemas.microsoft.com/office/drawing/2014/main" id="{A843314D-0A56-2B6E-E9B6-641E01270C3C}"/>
                </a:ext>
              </a:extLst>
            </p:cNvPr>
            <p:cNvGrpSpPr/>
            <p:nvPr/>
          </p:nvGrpSpPr>
          <p:grpSpPr>
            <a:xfrm>
              <a:off x="675644" y="4484321"/>
              <a:ext cx="5314970" cy="1044954"/>
              <a:chOff x="675644" y="3749102"/>
              <a:chExt cx="5314970" cy="1044954"/>
            </a:xfrm>
          </p:grpSpPr>
          <p:sp>
            <p:nvSpPr>
              <p:cNvPr id="23" name="3">
                <a:extLst>
                  <a:ext uri="{FF2B5EF4-FFF2-40B4-BE49-F238E27FC236}">
                    <a16:creationId xmlns:a16="http://schemas.microsoft.com/office/drawing/2014/main" id="{2F595A55-5CD1-326D-AC77-CA362BE7C807}"/>
                  </a:ext>
                </a:extLst>
              </p:cNvPr>
              <p:cNvSpPr/>
              <p:nvPr>
                <p:custDataLst>
                  <p:tags r:id="rId2"/>
                </p:custDataLst>
              </p:nvPr>
            </p:nvSpPr>
            <p:spPr>
              <a:xfrm>
                <a:off x="2051584" y="3749102"/>
                <a:ext cx="3881858" cy="104021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44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24" name="Title-3">
                <a:extLst>
                  <a:ext uri="{FF2B5EF4-FFF2-40B4-BE49-F238E27FC236}">
                    <a16:creationId xmlns:a16="http://schemas.microsoft.com/office/drawing/2014/main" id="{46089832-C6B4-45BA-2A1E-EAF2A6043678}"/>
                  </a:ext>
                </a:extLst>
              </p:cNvPr>
              <p:cNvSpPr/>
              <p:nvPr>
                <p:custDataLst>
                  <p:tags r:id="rId3"/>
                </p:custDataLst>
              </p:nvPr>
            </p:nvSpPr>
            <p:spPr>
              <a:xfrm>
                <a:off x="675644" y="3753845"/>
                <a:ext cx="1336863" cy="1040211"/>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供应商协同</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5" name="Body-3">
                <a:extLst>
                  <a:ext uri="{FF2B5EF4-FFF2-40B4-BE49-F238E27FC236}">
                    <a16:creationId xmlns:a16="http://schemas.microsoft.com/office/drawing/2014/main" id="{C7166B3A-0CFD-D684-D99F-9C7762BB7E8B}"/>
                  </a:ext>
                </a:extLst>
              </p:cNvPr>
              <p:cNvSpPr txBox="1"/>
              <p:nvPr>
                <p:custDataLst>
                  <p:tags r:id="rId4"/>
                </p:custDataLst>
              </p:nvPr>
            </p:nvSpPr>
            <p:spPr>
              <a:xfrm>
                <a:off x="2065641" y="3753845"/>
                <a:ext cx="3924973" cy="872295"/>
              </a:xfrm>
              <a:prstGeom prst="rect">
                <a:avLst/>
              </a:prstGeom>
              <a:noFill/>
            </p:spPr>
            <p:txBody>
              <a:bodyPr wrap="square" rtlCol="0">
                <a:spAutoFit/>
              </a:bodyPr>
              <a:lstStyle>
                <a:defPPr>
                  <a:defRPr lang="zh-CN"/>
                </a:defPPr>
                <a:lvl1pPr>
                  <a:lnSpc>
                    <a:spcPct val="120000"/>
                  </a:lnSpc>
                  <a:defRPr sz="1400">
                    <a:latin typeface="Arial" panose="020B0604020202020204" pitchFamily="34" charset="0"/>
                    <a:ea typeface="Microsoft YaHei" panose="020B0503020204020204" pitchFamily="34" charset="-122"/>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核心功能：实现与供应商的实时协同，确保供应链流畅</a:t>
                </a:r>
                <a:r>
                  <a:rPr kumimoji="0" lang="zh-CN" altLang="en-US" sz="1200" b="0" i="0" u="none" strike="noStrike" kern="1200" cap="none" spc="0" normalizeH="0" baseline="0" noProof="0" dirty="0">
                    <a:ln>
                      <a:noFill/>
                    </a:ln>
                    <a:solidFill>
                      <a:srgbClr val="000000"/>
                    </a:solidFill>
                    <a:effectLst/>
                    <a:uLnTx/>
                    <a:uFillTx/>
                    <a:ea typeface="微软雅黑" panose="020B0503020204020204" pitchFamily="34" charset="-122"/>
                    <a:cs typeface="+mn-cs"/>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关键点：</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滚动协同：动态管理采购订单（</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PO</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）、服务请求（</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SR</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）、零件预测、供应承诺、预计到达时间（</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ETA</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）和收货挂钩（</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GR pegging</a:t>
                </a: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），形成“协同协奏”（即像音乐一样和谐配合）。</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ea typeface="微软雅黑" panose="020B0503020204020204" pitchFamily="34" charset="-122"/>
                    <a:cs typeface="+mn-cs"/>
                  </a:rPr>
                  <a:t>意义：</a:t>
                </a:r>
                <a:r>
                  <a:rPr kumimoji="0" lang="zh-CN" altLang="en-US" sz="1200" b="0" i="0" u="none" strike="noStrike" kern="1200" cap="none" spc="0" normalizeH="0" baseline="0" noProof="0" dirty="0">
                    <a:ln>
                      <a:noFill/>
                    </a:ln>
                    <a:solidFill>
                      <a:srgbClr val="000000"/>
                    </a:solidFill>
                    <a:effectLst/>
                    <a:uLnTx/>
                    <a:uFillTx/>
                    <a:ea typeface="微软雅黑" panose="020B0503020204020204" pitchFamily="34" charset="-122"/>
                    <a:cs typeface="+mn-cs"/>
                  </a:rPr>
                  <a:t>供应商协同是 </a:t>
                </a:r>
                <a:r>
                  <a:rPr kumimoji="0" lang="en-US" altLang="zh-CN" sz="1200" b="0" i="0" u="none" strike="noStrike" kern="1200" cap="none" spc="0" normalizeH="0" baseline="0" noProof="0" dirty="0">
                    <a:ln>
                      <a:noFill/>
                    </a:ln>
                    <a:solidFill>
                      <a:srgbClr val="000000"/>
                    </a:solidFill>
                    <a:effectLst/>
                    <a:uLnTx/>
                    <a:uFillTx/>
                    <a:ea typeface="微软雅黑" panose="020B0503020204020204" pitchFamily="34" charset="-122"/>
                    <a:cs typeface="+mn-cs"/>
                  </a:rPr>
                  <a:t>ITP </a:t>
                </a:r>
                <a:r>
                  <a:rPr kumimoji="0" lang="zh-CN" altLang="en-US" sz="1200" b="0" i="0" u="none" strike="noStrike" kern="1200" cap="none" spc="0" normalizeH="0" baseline="0" noProof="0" dirty="0">
                    <a:ln>
                      <a:noFill/>
                    </a:ln>
                    <a:solidFill>
                      <a:srgbClr val="000000"/>
                    </a:solidFill>
                    <a:effectLst/>
                    <a:uLnTx/>
                    <a:uFillTx/>
                    <a:ea typeface="微软雅黑" panose="020B0503020204020204" pitchFamily="34" charset="-122"/>
                    <a:cs typeface="+mn-cs"/>
                  </a:rPr>
                  <a:t>的落地环节，通过信息共享和实时更新，减少延迟和库存风险，提升整个供应链的敏捷性。</a:t>
                </a:r>
                <a:endParaRPr kumimoji="0" lang="en-US" altLang="zh-CN" sz="1200" b="0" i="0" u="none" strike="noStrike" kern="1200" cap="none" spc="0" normalizeH="0" baseline="0" noProof="0" dirty="0">
                  <a:ln>
                    <a:noFill/>
                  </a:ln>
                  <a:solidFill>
                    <a:srgbClr val="000000"/>
                  </a:solidFill>
                  <a:effectLst/>
                  <a:uLnTx/>
                  <a:uFillTx/>
                  <a:ea typeface="微软雅黑" panose="020B0503020204020204" pitchFamily="34" charset="-122"/>
                  <a:cs typeface="+mn-cs"/>
                </a:endParaRPr>
              </a:p>
            </p:txBody>
          </p:sp>
        </p:grpSp>
      </p:grpSp>
    </p:spTree>
    <p:extLst>
      <p:ext uri="{BB962C8B-B14F-4D97-AF65-F5344CB8AC3E}">
        <p14:creationId xmlns:p14="http://schemas.microsoft.com/office/powerpoint/2010/main" val="12018283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005AB32-177D-32DA-4427-50F8F89CD7D9}"/>
              </a:ext>
            </a:extLst>
          </p:cNvPr>
          <p:cNvSpPr>
            <a:spLocks noGrp="1"/>
          </p:cNvSpPr>
          <p:nvPr>
            <p:ph type="title"/>
          </p:nvPr>
        </p:nvSpPr>
        <p:spPr/>
        <p:txBody>
          <a:bodyPr>
            <a:normAutofit/>
          </a:bodyPr>
          <a:lstStyle/>
          <a:p>
            <a:r>
              <a:rPr lang="en-US" altLang="zh-CN" dirty="0">
                <a:latin typeface="Arial" panose="020B0604020202020204" pitchFamily="34" charset="0"/>
                <a:ea typeface="微软雅黑" panose="020B0503020204020204" pitchFamily="34" charset="-122"/>
              </a:rPr>
              <a:t>S&amp;OP/MP</a:t>
            </a:r>
            <a:r>
              <a:rPr lang="zh-CN" altLang="en-US" dirty="0">
                <a:latin typeface="Arial" panose="020B0604020202020204" pitchFamily="34" charset="0"/>
                <a:ea typeface="微软雅黑" panose="020B0503020204020204" pitchFamily="34" charset="-122"/>
              </a:rPr>
              <a:t>落地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纵向协同的断点</a:t>
            </a:r>
          </a:p>
        </p:txBody>
      </p:sp>
      <p:sp>
        <p:nvSpPr>
          <p:cNvPr id="7" name="矩形 6">
            <a:extLst>
              <a:ext uri="{FF2B5EF4-FFF2-40B4-BE49-F238E27FC236}">
                <a16:creationId xmlns:a16="http://schemas.microsoft.com/office/drawing/2014/main" id="{1B8B1871-6201-876E-DF78-0E77BFAE6C03}"/>
              </a:ext>
            </a:extLst>
          </p:cNvPr>
          <p:cNvSpPr/>
          <p:nvPr/>
        </p:nvSpPr>
        <p:spPr>
          <a:xfrm>
            <a:off x="2612448" y="788075"/>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Customer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矩形 7">
            <a:extLst>
              <a:ext uri="{FF2B5EF4-FFF2-40B4-BE49-F238E27FC236}">
                <a16:creationId xmlns:a16="http://schemas.microsoft.com/office/drawing/2014/main" id="{87CA9137-FA7A-A36E-8846-C4B7ABCC7FD6}"/>
              </a:ext>
            </a:extLst>
          </p:cNvPr>
          <p:cNvSpPr/>
          <p:nvPr/>
        </p:nvSpPr>
        <p:spPr>
          <a:xfrm>
            <a:off x="2612448" y="1591381"/>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GEO/Site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矩形 8">
            <a:extLst>
              <a:ext uri="{FF2B5EF4-FFF2-40B4-BE49-F238E27FC236}">
                <a16:creationId xmlns:a16="http://schemas.microsoft.com/office/drawing/2014/main" id="{53165ACC-9043-71C1-571A-B51AC7C7AD45}"/>
              </a:ext>
            </a:extLst>
          </p:cNvPr>
          <p:cNvSpPr/>
          <p:nvPr/>
        </p:nvSpPr>
        <p:spPr>
          <a:xfrm>
            <a:off x="2612448" y="2375637"/>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 Group</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矩形 9">
            <a:extLst>
              <a:ext uri="{FF2B5EF4-FFF2-40B4-BE49-F238E27FC236}">
                <a16:creationId xmlns:a16="http://schemas.microsoft.com/office/drawing/2014/main" id="{897C621D-F7DA-9E95-FB8D-AE3C634DC0A7}"/>
              </a:ext>
            </a:extLst>
          </p:cNvPr>
          <p:cNvSpPr/>
          <p:nvPr/>
        </p:nvSpPr>
        <p:spPr>
          <a:xfrm>
            <a:off x="5041323" y="1581856"/>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1" name="连接符: 肘形 10">
            <a:extLst>
              <a:ext uri="{FF2B5EF4-FFF2-40B4-BE49-F238E27FC236}">
                <a16:creationId xmlns:a16="http://schemas.microsoft.com/office/drawing/2014/main" id="{A8AF98FD-A2E0-090E-9756-9AEA57BA89F1}"/>
              </a:ext>
            </a:extLst>
          </p:cNvPr>
          <p:cNvCxnSpPr>
            <a:cxnSpLocks/>
            <a:stCxn id="7" idx="3"/>
            <a:endCxn id="10" idx="1"/>
          </p:cNvCxnSpPr>
          <p:nvPr/>
        </p:nvCxnSpPr>
        <p:spPr>
          <a:xfrm>
            <a:off x="4574598" y="1007150"/>
            <a:ext cx="466725" cy="7937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F9D06910-FB6F-60E6-3E47-05199B57F256}"/>
              </a:ext>
            </a:extLst>
          </p:cNvPr>
          <p:cNvCxnSpPr>
            <a:cxnSpLocks/>
            <a:stCxn id="8" idx="3"/>
            <a:endCxn id="10" idx="1"/>
          </p:cNvCxnSpPr>
          <p:nvPr/>
        </p:nvCxnSpPr>
        <p:spPr>
          <a:xfrm flipV="1">
            <a:off x="4574598" y="1800931"/>
            <a:ext cx="466725" cy="952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ADAC3284-CCC0-1C75-75FC-6325079E5621}"/>
              </a:ext>
            </a:extLst>
          </p:cNvPr>
          <p:cNvCxnSpPr>
            <a:cxnSpLocks/>
            <a:stCxn id="9" idx="3"/>
            <a:endCxn id="10" idx="1"/>
          </p:cNvCxnSpPr>
          <p:nvPr/>
        </p:nvCxnSpPr>
        <p:spPr>
          <a:xfrm flipV="1">
            <a:off x="4574598" y="1800931"/>
            <a:ext cx="466725" cy="793781"/>
          </a:xfrm>
          <a:prstGeom prst="bentConnector3">
            <a:avLst>
              <a:gd name="adj1" fmla="val 50000"/>
            </a:avLst>
          </a:prstGeom>
          <a:ln>
            <a:headEnd type="none"/>
            <a:tailEnd type="non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2D3F2BEC-FDAB-86B1-E9CF-7F4E7DD3A804}"/>
              </a:ext>
            </a:extLst>
          </p:cNvPr>
          <p:cNvSpPr/>
          <p:nvPr/>
        </p:nvSpPr>
        <p:spPr>
          <a:xfrm>
            <a:off x="5041323" y="2337429"/>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Aggregation Demand </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6" name="连接符: 肘形 15">
            <a:extLst>
              <a:ext uri="{FF2B5EF4-FFF2-40B4-BE49-F238E27FC236}">
                <a16:creationId xmlns:a16="http://schemas.microsoft.com/office/drawing/2014/main" id="{FC409445-0F48-8D27-FD6A-A2CDB9CBAED2}"/>
              </a:ext>
            </a:extLst>
          </p:cNvPr>
          <p:cNvCxnSpPr>
            <a:stCxn id="15" idx="0"/>
            <a:endCxn id="10" idx="2"/>
          </p:cNvCxnSpPr>
          <p:nvPr/>
        </p:nvCxnSpPr>
        <p:spPr>
          <a:xfrm rot="5400000" flipH="1" flipV="1">
            <a:off x="5868449" y="2183480"/>
            <a:ext cx="307898" cy="12700"/>
          </a:xfrm>
          <a:prstGeom prst="bentConnector3">
            <a:avLst>
              <a:gd name="adj1" fmla="val 114965"/>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ADD24CA6-79E6-2EF1-B713-4212F6AAB5D4}"/>
              </a:ext>
            </a:extLst>
          </p:cNvPr>
          <p:cNvSpPr/>
          <p:nvPr/>
        </p:nvSpPr>
        <p:spPr>
          <a:xfrm>
            <a:off x="5040746" y="3231047"/>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SC Network</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8" name="连接符: 肘形 17">
            <a:extLst>
              <a:ext uri="{FF2B5EF4-FFF2-40B4-BE49-F238E27FC236}">
                <a16:creationId xmlns:a16="http://schemas.microsoft.com/office/drawing/2014/main" id="{28564987-D907-B796-44A4-38AF97CF2FAC}"/>
              </a:ext>
            </a:extLst>
          </p:cNvPr>
          <p:cNvCxnSpPr>
            <a:cxnSpLocks/>
            <a:stCxn id="15" idx="2"/>
            <a:endCxn id="17" idx="0"/>
          </p:cNvCxnSpPr>
          <p:nvPr/>
        </p:nvCxnSpPr>
        <p:spPr>
          <a:xfrm rot="5400000">
            <a:off x="5794376" y="3003025"/>
            <a:ext cx="455468" cy="57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5C7C8015-A632-9788-E282-D4AB4EEC61C9}"/>
              </a:ext>
            </a:extLst>
          </p:cNvPr>
          <p:cNvSpPr/>
          <p:nvPr/>
        </p:nvSpPr>
        <p:spPr>
          <a:xfrm>
            <a:off x="3105006" y="4094450"/>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Disaggregation/explore Parts Plan</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CBF514E4-926A-D1E2-CC11-0996337E28C7}"/>
              </a:ext>
            </a:extLst>
          </p:cNvPr>
          <p:cNvSpPr/>
          <p:nvPr/>
        </p:nvSpPr>
        <p:spPr>
          <a:xfrm>
            <a:off x="6578600" y="4131592"/>
            <a:ext cx="2961985"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Disaggregation/explore Resource/Capacity Plan</a:t>
            </a:r>
            <a:endPar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5" name="连接符: 肘形 24">
            <a:extLst>
              <a:ext uri="{FF2B5EF4-FFF2-40B4-BE49-F238E27FC236}">
                <a16:creationId xmlns:a16="http://schemas.microsoft.com/office/drawing/2014/main" id="{E8B1738A-63B6-D7B4-0B1F-215361224ED7}"/>
              </a:ext>
            </a:extLst>
          </p:cNvPr>
          <p:cNvCxnSpPr>
            <a:cxnSpLocks/>
          </p:cNvCxnSpPr>
          <p:nvPr/>
        </p:nvCxnSpPr>
        <p:spPr>
          <a:xfrm rot="10800000" flipV="1">
            <a:off x="4097265" y="3428136"/>
            <a:ext cx="954665" cy="64432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3DCF807D-E03F-B8F3-25E7-991E0161A82B}"/>
              </a:ext>
            </a:extLst>
          </p:cNvPr>
          <p:cNvCxnSpPr>
            <a:stCxn id="17" idx="3"/>
            <a:endCxn id="23" idx="0"/>
          </p:cNvCxnSpPr>
          <p:nvPr/>
        </p:nvCxnSpPr>
        <p:spPr>
          <a:xfrm>
            <a:off x="7002896" y="3450122"/>
            <a:ext cx="1056697" cy="6814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5DAA22DF-77C9-4639-BA80-44954F09F7B0}"/>
              </a:ext>
            </a:extLst>
          </p:cNvPr>
          <p:cNvSpPr/>
          <p:nvPr/>
        </p:nvSpPr>
        <p:spPr>
          <a:xfrm>
            <a:off x="5067156" y="5251212"/>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S&amp;OE</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0" name="连接符: 肘形 29">
            <a:extLst>
              <a:ext uri="{FF2B5EF4-FFF2-40B4-BE49-F238E27FC236}">
                <a16:creationId xmlns:a16="http://schemas.microsoft.com/office/drawing/2014/main" id="{29304C4D-FA2D-BE01-41CB-E9C0F0A5D6AC}"/>
              </a:ext>
            </a:extLst>
          </p:cNvPr>
          <p:cNvCxnSpPr>
            <a:cxnSpLocks/>
            <a:stCxn id="23" idx="2"/>
            <a:endCxn id="28" idx="3"/>
          </p:cNvCxnSpPr>
          <p:nvPr/>
        </p:nvCxnSpPr>
        <p:spPr>
          <a:xfrm rot="5400000">
            <a:off x="7094178" y="4504871"/>
            <a:ext cx="900545" cy="10302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3CB3EED3-2465-E3FA-BDD4-FED9BAA31124}"/>
              </a:ext>
            </a:extLst>
          </p:cNvPr>
          <p:cNvCxnSpPr>
            <a:cxnSpLocks/>
            <a:stCxn id="22" idx="2"/>
            <a:endCxn id="28" idx="1"/>
          </p:cNvCxnSpPr>
          <p:nvPr/>
        </p:nvCxnSpPr>
        <p:spPr>
          <a:xfrm rot="16200000" flipH="1">
            <a:off x="4107775" y="4510905"/>
            <a:ext cx="937687" cy="98107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EED8547-58AF-A5B6-160A-68A08E0A69B0}"/>
              </a:ext>
            </a:extLst>
          </p:cNvPr>
          <p:cNvSpPr txBox="1"/>
          <p:nvPr/>
        </p:nvSpPr>
        <p:spPr>
          <a:xfrm>
            <a:off x="700161" y="5100954"/>
            <a:ext cx="3415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e.g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OH assignment/allocation</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CE620C2C-66F5-6D88-3506-179AF919DA2D}"/>
              </a:ext>
            </a:extLst>
          </p:cNvPr>
          <p:cNvSpPr txBox="1"/>
          <p:nvPr/>
        </p:nvSpPr>
        <p:spPr>
          <a:xfrm>
            <a:off x="8379548" y="5020014"/>
            <a:ext cx="38124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e.g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capacity pegging with end item MO/WO</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 name="矩形: 圆角 1">
            <a:extLst>
              <a:ext uri="{FF2B5EF4-FFF2-40B4-BE49-F238E27FC236}">
                <a16:creationId xmlns:a16="http://schemas.microsoft.com/office/drawing/2014/main" id="{4863A065-3877-CD14-5C70-5AD3F7BC2A56}"/>
              </a:ext>
            </a:extLst>
          </p:cNvPr>
          <p:cNvSpPr/>
          <p:nvPr/>
        </p:nvSpPr>
        <p:spPr>
          <a:xfrm>
            <a:off x="2179228" y="644236"/>
            <a:ext cx="9250771" cy="2345750"/>
          </a:xfrm>
          <a:prstGeom prst="roundRect">
            <a:avLst/>
          </a:prstGeom>
          <a:solidFill>
            <a:srgbClr val="FFC000">
              <a:alpha val="18000"/>
            </a:srgb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3" name="文本框 2">
            <a:extLst>
              <a:ext uri="{FF2B5EF4-FFF2-40B4-BE49-F238E27FC236}">
                <a16:creationId xmlns:a16="http://schemas.microsoft.com/office/drawing/2014/main" id="{D5944E35-15B2-7FF5-E040-723FC60E3723}"/>
              </a:ext>
            </a:extLst>
          </p:cNvPr>
          <p:cNvSpPr txBox="1"/>
          <p:nvPr/>
        </p:nvSpPr>
        <p:spPr>
          <a:xfrm>
            <a:off x="6969968" y="1091447"/>
            <a:ext cx="4422334" cy="83099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Aggregation level</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预示着预测更准</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Aggregation </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意味着资源在哪个</a:t>
            </a: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segment</a:t>
            </a: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维度分配</a:t>
            </a:r>
          </a:p>
        </p:txBody>
      </p:sp>
      <p:sp>
        <p:nvSpPr>
          <p:cNvPr id="5" name="文本框 4">
            <a:extLst>
              <a:ext uri="{FF2B5EF4-FFF2-40B4-BE49-F238E27FC236}">
                <a16:creationId xmlns:a16="http://schemas.microsoft.com/office/drawing/2014/main" id="{90F447B2-9B4A-8B41-13DA-C41D9C1B574C}"/>
              </a:ext>
            </a:extLst>
          </p:cNvPr>
          <p:cNvSpPr txBox="1"/>
          <p:nvPr/>
        </p:nvSpPr>
        <p:spPr>
          <a:xfrm>
            <a:off x="3636499" y="6168653"/>
            <a:ext cx="522135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整个供应链网路的哪个节点是资源分配的节点？</a:t>
            </a:r>
          </a:p>
        </p:txBody>
      </p:sp>
    </p:spTree>
    <p:extLst>
      <p:ext uri="{BB962C8B-B14F-4D97-AF65-F5344CB8AC3E}">
        <p14:creationId xmlns:p14="http://schemas.microsoft.com/office/powerpoint/2010/main" val="206930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5" grpId="0"/>
      <p:bldP spid="36" grpId="0"/>
      <p:bldP spid="2" grpId="0" animBg="1"/>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C054B7F-FC6F-CAC1-1DF5-A6FBCDDE53EA}"/>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Allocation</a:t>
            </a:r>
            <a:r>
              <a:rPr lang="en-US" altLang="zh-CN" sz="2800" dirty="0">
                <a:latin typeface="Arial" panose="020B0604020202020204" pitchFamily="34" charset="0"/>
                <a:ea typeface="微软雅黑" panose="020B0503020204020204" pitchFamily="34" charset="-122"/>
              </a:rPr>
              <a:t> – Examples</a:t>
            </a:r>
            <a:endParaRPr lang="zh-CN" altLang="en-US" dirty="0">
              <a:latin typeface="Arial" panose="020B0604020202020204" pitchFamily="34" charset="0"/>
              <a:ea typeface="微软雅黑" panose="020B0503020204020204" pitchFamily="34" charset="-122"/>
            </a:endParaRPr>
          </a:p>
        </p:txBody>
      </p:sp>
      <p:graphicFrame>
        <p:nvGraphicFramePr>
          <p:cNvPr id="5" name="表格 4">
            <a:extLst>
              <a:ext uri="{FF2B5EF4-FFF2-40B4-BE49-F238E27FC236}">
                <a16:creationId xmlns:a16="http://schemas.microsoft.com/office/drawing/2014/main" id="{720890EA-B6FC-E771-C3BA-BCE1C3CB7D75}"/>
              </a:ext>
            </a:extLst>
          </p:cNvPr>
          <p:cNvGraphicFramePr>
            <a:graphicFrameLocks noGrp="1"/>
          </p:cNvGraphicFramePr>
          <p:nvPr>
            <p:extLst>
              <p:ext uri="{D42A27DB-BD31-4B8C-83A1-F6EECF244321}">
                <p14:modId xmlns:p14="http://schemas.microsoft.com/office/powerpoint/2010/main" val="4005343314"/>
              </p:ext>
            </p:extLst>
          </p:nvPr>
        </p:nvGraphicFramePr>
        <p:xfrm>
          <a:off x="416134" y="2272387"/>
          <a:ext cx="11312278" cy="4398576"/>
        </p:xfrm>
        <a:graphic>
          <a:graphicData uri="http://schemas.openxmlformats.org/drawingml/2006/table">
            <a:tbl>
              <a:tblPr firstRow="1" firstCol="1">
                <a:tableStyleId>{69012ECD-51FC-41F1-AA8D-1B2483CD663E}</a:tableStyleId>
              </a:tblPr>
              <a:tblGrid>
                <a:gridCol w="363411">
                  <a:extLst>
                    <a:ext uri="{9D8B030D-6E8A-4147-A177-3AD203B41FA5}">
                      <a16:colId xmlns:a16="http://schemas.microsoft.com/office/drawing/2014/main" val="2279533067"/>
                    </a:ext>
                  </a:extLst>
                </a:gridCol>
                <a:gridCol w="1478628">
                  <a:extLst>
                    <a:ext uri="{9D8B030D-6E8A-4147-A177-3AD203B41FA5}">
                      <a16:colId xmlns:a16="http://schemas.microsoft.com/office/drawing/2014/main" val="3999593002"/>
                    </a:ext>
                  </a:extLst>
                </a:gridCol>
                <a:gridCol w="905929">
                  <a:extLst>
                    <a:ext uri="{9D8B030D-6E8A-4147-A177-3AD203B41FA5}">
                      <a16:colId xmlns:a16="http://schemas.microsoft.com/office/drawing/2014/main" val="1079653900"/>
                    </a:ext>
                  </a:extLst>
                </a:gridCol>
                <a:gridCol w="1657121">
                  <a:extLst>
                    <a:ext uri="{9D8B030D-6E8A-4147-A177-3AD203B41FA5}">
                      <a16:colId xmlns:a16="http://schemas.microsoft.com/office/drawing/2014/main" val="3588670239"/>
                    </a:ext>
                  </a:extLst>
                </a:gridCol>
                <a:gridCol w="449369">
                  <a:extLst>
                    <a:ext uri="{9D8B030D-6E8A-4147-A177-3AD203B41FA5}">
                      <a16:colId xmlns:a16="http://schemas.microsoft.com/office/drawing/2014/main" val="3981764562"/>
                    </a:ext>
                  </a:extLst>
                </a:gridCol>
                <a:gridCol w="1312678">
                  <a:extLst>
                    <a:ext uri="{9D8B030D-6E8A-4147-A177-3AD203B41FA5}">
                      <a16:colId xmlns:a16="http://schemas.microsoft.com/office/drawing/2014/main" val="3809907080"/>
                    </a:ext>
                  </a:extLst>
                </a:gridCol>
                <a:gridCol w="975473">
                  <a:extLst>
                    <a:ext uri="{9D8B030D-6E8A-4147-A177-3AD203B41FA5}">
                      <a16:colId xmlns:a16="http://schemas.microsoft.com/office/drawing/2014/main" val="3018928010"/>
                    </a:ext>
                  </a:extLst>
                </a:gridCol>
                <a:gridCol w="975473">
                  <a:extLst>
                    <a:ext uri="{9D8B030D-6E8A-4147-A177-3AD203B41FA5}">
                      <a16:colId xmlns:a16="http://schemas.microsoft.com/office/drawing/2014/main" val="503313802"/>
                    </a:ext>
                  </a:extLst>
                </a:gridCol>
                <a:gridCol w="1243250">
                  <a:extLst>
                    <a:ext uri="{9D8B030D-6E8A-4147-A177-3AD203B41FA5}">
                      <a16:colId xmlns:a16="http://schemas.microsoft.com/office/drawing/2014/main" val="2552345558"/>
                    </a:ext>
                  </a:extLst>
                </a:gridCol>
                <a:gridCol w="975473">
                  <a:extLst>
                    <a:ext uri="{9D8B030D-6E8A-4147-A177-3AD203B41FA5}">
                      <a16:colId xmlns:a16="http://schemas.microsoft.com/office/drawing/2014/main" val="2149699448"/>
                    </a:ext>
                  </a:extLst>
                </a:gridCol>
                <a:gridCol w="975473">
                  <a:extLst>
                    <a:ext uri="{9D8B030D-6E8A-4147-A177-3AD203B41FA5}">
                      <a16:colId xmlns:a16="http://schemas.microsoft.com/office/drawing/2014/main" val="333825470"/>
                    </a:ext>
                  </a:extLst>
                </a:gridCol>
              </a:tblGrid>
              <a:tr h="223059">
                <a:tc>
                  <a:txBody>
                    <a:bodyPr/>
                    <a:lstStyle/>
                    <a:p>
                      <a:pPr algn="l" fontAlgn="b"/>
                      <a:r>
                        <a:rPr lang="zh-CN" altLang="en-US" sz="1100" u="none" strike="noStrike" dirty="0">
                          <a:solidFill>
                            <a:schemeClr val="tx1"/>
                          </a:solidFill>
                          <a:effectLst/>
                          <a:latin typeface="Arial" panose="020B0604020202020204" pitchFamily="34" charset="0"/>
                          <a:ea typeface="微软雅黑" panose="020B0503020204020204" pitchFamily="34" charset="-122"/>
                        </a:rPr>
                        <a:t>　</a:t>
                      </a:r>
                      <a:endParaRPr lang="zh-CN" alt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solidFill>
                            <a:schemeClr val="tx1"/>
                          </a:solidFill>
                          <a:effectLst/>
                          <a:latin typeface="Arial" panose="020B0604020202020204" pitchFamily="34" charset="0"/>
                          <a:ea typeface="微软雅黑" panose="020B0503020204020204" pitchFamily="34" charset="-122"/>
                        </a:rPr>
                        <a:t>Day1</a:t>
                      </a:r>
                      <a:endParaRPr 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solidFill>
                            <a:schemeClr val="tx1"/>
                          </a:solidFill>
                          <a:effectLst/>
                          <a:latin typeface="Arial" panose="020B0604020202020204" pitchFamily="34" charset="0"/>
                          <a:ea typeface="微软雅黑" panose="020B0503020204020204" pitchFamily="34" charset="-122"/>
                        </a:rPr>
                        <a:t>Day2</a:t>
                      </a:r>
                      <a:endParaRPr 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solidFill>
                            <a:schemeClr val="tx1"/>
                          </a:solidFill>
                          <a:effectLst/>
                          <a:latin typeface="Arial" panose="020B0604020202020204" pitchFamily="34" charset="0"/>
                          <a:ea typeface="微软雅黑" panose="020B0503020204020204" pitchFamily="34" charset="-122"/>
                        </a:rPr>
                        <a:t>Day3</a:t>
                      </a:r>
                      <a:endParaRPr 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solidFill>
                            <a:schemeClr val="tx1"/>
                          </a:solidFill>
                          <a:effectLst/>
                          <a:latin typeface="Arial" panose="020B0604020202020204" pitchFamily="34" charset="0"/>
                          <a:ea typeface="微软雅黑" panose="020B0503020204020204" pitchFamily="34" charset="-122"/>
                        </a:rPr>
                        <a:t>Day4</a:t>
                      </a:r>
                      <a:endParaRPr 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solidFill>
                            <a:schemeClr val="tx1"/>
                          </a:solidFill>
                          <a:effectLst/>
                          <a:latin typeface="Arial" panose="020B0604020202020204" pitchFamily="34" charset="0"/>
                          <a:ea typeface="微软雅黑" panose="020B0503020204020204" pitchFamily="34" charset="-122"/>
                        </a:rPr>
                        <a:t>Day5</a:t>
                      </a:r>
                      <a:endParaRPr 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solidFill>
                            <a:schemeClr val="tx1"/>
                          </a:solidFill>
                          <a:effectLst/>
                          <a:latin typeface="Arial" panose="020B0604020202020204" pitchFamily="34" charset="0"/>
                          <a:ea typeface="微软雅黑" panose="020B0503020204020204" pitchFamily="34" charset="-122"/>
                        </a:rPr>
                        <a:t>　</a:t>
                      </a:r>
                      <a:endParaRPr lang="zh-CN" altLang="en-US" sz="11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7538457"/>
                  </a:ext>
                </a:extLst>
              </a:tr>
              <a:tr h="190392">
                <a:tc gridSpan="6">
                  <a:txBody>
                    <a:bodyPr/>
                    <a:lstStyle/>
                    <a:p>
                      <a:pPr algn="l" fontAlgn="b"/>
                      <a:r>
                        <a:rPr lang="en-US" sz="1100" u="none" strike="noStrike">
                          <a:effectLst/>
                          <a:latin typeface="Arial" panose="020B0604020202020204" pitchFamily="34" charset="0"/>
                          <a:ea typeface="微软雅黑" panose="020B0503020204020204" pitchFamily="34" charset="-122"/>
                        </a:rPr>
                        <a:t>Supply</a:t>
                      </a:r>
                      <a:endParaRPr 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b"/>
                      <a:r>
                        <a:rPr lang="en-US" sz="1100" u="none" strike="noStrike" dirty="0">
                          <a:effectLst/>
                          <a:latin typeface="Arial" panose="020B0604020202020204" pitchFamily="34" charset="0"/>
                          <a:ea typeface="微软雅黑" panose="020B0503020204020204" pitchFamily="34" charset="-122"/>
                        </a:rPr>
                        <a:t>Sum</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871888"/>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B</a:t>
                      </a:r>
                      <a:endParaRPr 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500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dirty="0">
                          <a:effectLst/>
                          <a:highlight>
                            <a:srgbClr val="800000"/>
                          </a:highlight>
                          <a:latin typeface="Arial" panose="020B0604020202020204" pitchFamily="34" charset="0"/>
                          <a:ea typeface="微软雅黑" panose="020B0503020204020204" pitchFamily="34" charset="-122"/>
                        </a:rPr>
                        <a:t>1700</a:t>
                      </a:r>
                      <a:endParaRPr lang="en-US" altLang="zh-CN" sz="1100" b="0" i="0" u="none" strike="noStrike" dirty="0">
                        <a:solidFill>
                          <a:srgbClr val="000000"/>
                        </a:solidFill>
                        <a:effectLst/>
                        <a:highlight>
                          <a:srgbClr val="800000"/>
                        </a:highligh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075777"/>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C</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5100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2283650"/>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dirty="0">
                          <a:effectLst/>
                          <a:latin typeface="Arial" panose="020B0604020202020204" pitchFamily="34" charset="0"/>
                          <a:ea typeface="微软雅黑" panose="020B0503020204020204" pitchFamily="34" charset="-122"/>
                        </a:rPr>
                        <a:t>0</a:t>
                      </a:r>
                      <a:endParaRPr lang="en-US" altLang="zh-CN"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5000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71294"/>
                  </a:ext>
                </a:extLst>
              </a:tr>
              <a:tr h="253877">
                <a:tc gridSpan="6">
                  <a:txBody>
                    <a:bodyPr/>
                    <a:lstStyle/>
                    <a:p>
                      <a:pPr algn="l" fontAlgn="b"/>
                      <a:r>
                        <a:rPr lang="en-US" sz="1100" u="none" strike="noStrike">
                          <a:effectLst/>
                          <a:latin typeface="Arial" panose="020B0604020202020204" pitchFamily="34" charset="0"/>
                          <a:ea typeface="微软雅黑" panose="020B0503020204020204" pitchFamily="34" charset="-122"/>
                        </a:rPr>
                        <a:t>Demand</a:t>
                      </a:r>
                      <a:endParaRPr 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6642221"/>
                  </a:ext>
                </a:extLst>
              </a:tr>
              <a:tr h="223059">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1"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Requested Qty</a:t>
                      </a:r>
                      <a:endParaRPr lang="zh-CN" altLang="en-US" sz="1100" b="1"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latin typeface="Arial" panose="020B0604020202020204" pitchFamily="34" charset="0"/>
                          <a:ea typeface="微软雅黑" panose="020B0503020204020204" pitchFamily="34" charset="-122"/>
                        </a:rPr>
                        <a:t>Sum</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err="1">
                          <a:effectLst/>
                          <a:latin typeface="Arial" panose="020B0604020202020204" pitchFamily="34" charset="0"/>
                          <a:ea typeface="微软雅黑" panose="020B0503020204020204" pitchFamily="34" charset="-122"/>
                        </a:rPr>
                        <a:t>GEOSum</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err="1">
                          <a:effectLst/>
                          <a:latin typeface="Arial" panose="020B0604020202020204" pitchFamily="34" charset="0"/>
                          <a:ea typeface="微软雅黑" panose="020B0503020204020204" pitchFamily="34" charset="-122"/>
                        </a:rPr>
                        <a:t>SubGeoSum</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latin typeface="Arial" panose="020B0604020202020204" pitchFamily="34" charset="0"/>
                          <a:ea typeface="微软雅黑" panose="020B0503020204020204" pitchFamily="34" charset="-122"/>
                        </a:rPr>
                        <a:t>GEO</a:t>
                      </a:r>
                      <a:endParaRPr lang="en-US" sz="1100" b="1"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err="1">
                          <a:effectLst/>
                          <a:latin typeface="Arial" panose="020B0604020202020204" pitchFamily="34" charset="0"/>
                          <a:ea typeface="微软雅黑" panose="020B0503020204020204" pitchFamily="34" charset="-122"/>
                        </a:rPr>
                        <a:t>SubGeo</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578726"/>
                  </a:ext>
                </a:extLst>
              </a:tr>
              <a:tr h="473609">
                <a:tc>
                  <a:txBody>
                    <a:bodyPr/>
                    <a:lstStyle/>
                    <a:p>
                      <a:pPr algn="l" fontAlgn="b"/>
                      <a:r>
                        <a:rPr lang="en-US" sz="1100" u="none" strike="noStrike">
                          <a:effectLst/>
                          <a:latin typeface="Arial" panose="020B0604020202020204" pitchFamily="34" charset="0"/>
                          <a:ea typeface="微软雅黑" panose="020B0503020204020204" pitchFamily="34" charset="-122"/>
                        </a:rPr>
                        <a:t>D1</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solidFill>
                            <a:schemeClr val="tx1">
                              <a:lumMod val="75000"/>
                              <a:lumOff val="25000"/>
                            </a:schemeClr>
                          </a:solidFill>
                          <a:effectLst/>
                          <a:latin typeface="Arial" panose="020B0604020202020204" pitchFamily="34" charset="0"/>
                          <a:ea typeface="微软雅黑" panose="020B0503020204020204" pitchFamily="34" charset="-122"/>
                        </a:rPr>
                        <a:t>200,</a:t>
                      </a:r>
                      <a:r>
                        <a:rPr lang="en-US" altLang="zh-CN" sz="1100" u="none" strike="noStrike" dirty="0">
                          <a:effectLst/>
                          <a:latin typeface="Arial" panose="020B0604020202020204" pitchFamily="34" charset="0"/>
                          <a:ea typeface="微软雅黑" panose="020B0503020204020204" pitchFamily="34" charset="-122"/>
                        </a:rPr>
                        <a:t>kitted </a:t>
                      </a:r>
                      <a:r>
                        <a:rPr lang="en-US" altLang="zh-CN" sz="1100" u="none" strike="noStrike" dirty="0">
                          <a:solidFill>
                            <a:srgbClr val="217800"/>
                          </a:solidFill>
                          <a:effectLst/>
                          <a:latin typeface="Arial" panose="020B0604020202020204" pitchFamily="34" charset="0"/>
                          <a:ea typeface="微软雅黑" panose="020B0503020204020204" pitchFamily="34" charset="-122"/>
                        </a:rPr>
                        <a:t>100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kitted </a:t>
                      </a:r>
                      <a:r>
                        <a:rPr lang="en-US" altLang="zh-CN" sz="1100" u="none" strike="noStrike" dirty="0">
                          <a:solidFill>
                            <a:srgbClr val="217800"/>
                          </a:solidFill>
                          <a:effectLst/>
                          <a:latin typeface="Arial" panose="020B0604020202020204" pitchFamily="34" charset="0"/>
                          <a:ea typeface="微软雅黑" panose="020B0503020204020204" pitchFamily="34" charset="-122"/>
                        </a:rPr>
                        <a:t>100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800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PRC</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177425"/>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D2</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solidFill>
                            <a:schemeClr val="tx1">
                              <a:lumMod val="75000"/>
                              <a:lumOff val="25000"/>
                            </a:schemeClr>
                          </a:solidFill>
                          <a:effectLst/>
                          <a:latin typeface="Arial" panose="020B0604020202020204" pitchFamily="34" charset="0"/>
                          <a:ea typeface="微软雅黑" panose="020B0503020204020204" pitchFamily="34" charset="-122"/>
                        </a:rPr>
                        <a:t>500</a:t>
                      </a:r>
                      <a:endParaRPr lang="zh-CN" altLang="en-US" sz="1100" b="0" i="0" u="none" strike="noStrike" dirty="0">
                        <a:solidFill>
                          <a:schemeClr val="tx1">
                            <a:lumMod val="75000"/>
                            <a:lumOff val="25000"/>
                          </a:schemeClr>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r>
                        <a:rPr lang="en-US" altLang="zh-CN" sz="1100" u="none" strike="noStrike">
                          <a:solidFill>
                            <a:schemeClr val="tx1">
                              <a:lumMod val="75000"/>
                              <a:lumOff val="25000"/>
                            </a:schemeClr>
                          </a:solidFill>
                          <a:effectLst/>
                          <a:latin typeface="Arial" panose="020B0604020202020204" pitchFamily="34" charset="0"/>
                          <a:ea typeface="微软雅黑" panose="020B0503020204020204" pitchFamily="34" charset="-122"/>
                        </a:rPr>
                        <a:t>100</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kitted </a:t>
                      </a:r>
                      <a:r>
                        <a:rPr lang="en-US" altLang="zh-CN" sz="1100" u="none" strike="noStrike" dirty="0">
                          <a:solidFill>
                            <a:srgbClr val="217800"/>
                          </a:solidFill>
                          <a:effectLst/>
                          <a:latin typeface="Arial" panose="020B0604020202020204" pitchFamily="34" charset="0"/>
                          <a:ea typeface="微软雅黑" panose="020B0503020204020204" pitchFamily="34" charset="-122"/>
                        </a:rPr>
                        <a:t>600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600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800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PRC</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27057"/>
                  </a:ext>
                </a:extLst>
              </a:tr>
              <a:tr h="375523">
                <a:tc>
                  <a:txBody>
                    <a:bodyPr/>
                    <a:lstStyle/>
                    <a:p>
                      <a:pPr algn="l" fontAlgn="b"/>
                      <a:r>
                        <a:rPr lang="en-US" sz="1100" u="none" strike="noStrike">
                          <a:effectLst/>
                          <a:latin typeface="Arial" panose="020B0604020202020204" pitchFamily="34" charset="0"/>
                          <a:ea typeface="微软雅黑" panose="020B0503020204020204" pitchFamily="34" charset="-122"/>
                        </a:rPr>
                        <a:t>D3</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50, kitted </a:t>
                      </a:r>
                      <a:r>
                        <a:rPr lang="en-US" altLang="zh-CN" sz="1100" u="none" strike="noStrike" dirty="0">
                          <a:solidFill>
                            <a:srgbClr val="217800"/>
                          </a:solidFill>
                          <a:effectLst/>
                          <a:latin typeface="Arial" panose="020B0604020202020204" pitchFamily="34" charset="0"/>
                          <a:ea typeface="微软雅黑" panose="020B0503020204020204" pitchFamily="34" charset="-122"/>
                        </a:rPr>
                        <a:t>50</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50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CA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332229"/>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D4</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50</a:t>
                      </a:r>
                      <a:r>
                        <a:rPr lang="zh-CN" altLang="en-US" sz="1100" u="none" strike="noStrike" dirty="0">
                          <a:effectLst/>
                          <a:latin typeface="Arial" panose="020B0604020202020204" pitchFamily="34" charset="0"/>
                          <a:ea typeface="微软雅黑" panose="020B0503020204020204" pitchFamily="34" charset="-122"/>
                        </a:rPr>
                        <a:t>，</a:t>
                      </a:r>
                      <a:r>
                        <a:rPr lang="en-US" altLang="zh-CN" sz="1100" u="none" strike="noStrike" dirty="0">
                          <a:solidFill>
                            <a:srgbClr val="217800"/>
                          </a:solidFill>
                          <a:effectLst/>
                          <a:latin typeface="Arial" panose="020B0604020202020204" pitchFamily="34" charset="0"/>
                          <a:ea typeface="微软雅黑" panose="020B0503020204020204" pitchFamily="34" charset="-122"/>
                        </a:rPr>
                        <a:t>50</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30,kitted </a:t>
                      </a:r>
                      <a:r>
                        <a:rPr lang="en-US" altLang="zh-CN" sz="1100" u="none" strike="noStrike" dirty="0">
                          <a:solidFill>
                            <a:srgbClr val="217800"/>
                          </a:solidFill>
                          <a:effectLst/>
                          <a:latin typeface="Arial" panose="020B0604020202020204" pitchFamily="34" charset="0"/>
                          <a:ea typeface="微软雅黑" panose="020B0503020204020204" pitchFamily="34" charset="-122"/>
                        </a:rPr>
                        <a:t>30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80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CA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5346351"/>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D5</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70, </a:t>
                      </a:r>
                      <a:r>
                        <a:rPr lang="en-US" altLang="zh-CN" sz="1100" u="none" strike="noStrike" dirty="0">
                          <a:solidFill>
                            <a:srgbClr val="217800"/>
                          </a:solidFill>
                          <a:effectLst/>
                          <a:latin typeface="Arial" panose="020B0604020202020204" pitchFamily="34" charset="0"/>
                          <a:ea typeface="微软雅黑" panose="020B0503020204020204" pitchFamily="34" charset="-122"/>
                        </a:rPr>
                        <a:t>70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300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CA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112652"/>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D6</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100</a:t>
                      </a:r>
                      <a:r>
                        <a:rPr lang="en-US" altLang="zh-CN" sz="1100" u="none" strike="noStrike" dirty="0">
                          <a:solidFill>
                            <a:srgbClr val="217800"/>
                          </a:solidFill>
                          <a:effectLst/>
                          <a:latin typeface="Arial" panose="020B0604020202020204" pitchFamily="34" charset="0"/>
                          <a:ea typeface="微软雅黑" panose="020B0503020204020204" pitchFamily="34" charset="-122"/>
                        </a:rPr>
                        <a:t>, 100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dirty="0">
                          <a:effectLst/>
                          <a:latin typeface="Arial" panose="020B0604020202020204" pitchFamily="34" charset="0"/>
                          <a:ea typeface="微软雅黑" panose="020B0503020204020204" pitchFamily="34" charset="-122"/>
                        </a:rPr>
                        <a:t>700</a:t>
                      </a:r>
                      <a:endParaRPr lang="en-US" altLang="zh-CN"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dirty="0">
                          <a:effectLst/>
                          <a:latin typeface="Arial" panose="020B0604020202020204" pitchFamily="34" charset="0"/>
                          <a:ea typeface="微软雅黑" panose="020B0503020204020204" pitchFamily="34" charset="-122"/>
                        </a:rPr>
                        <a:t>300</a:t>
                      </a:r>
                      <a:endParaRPr lang="en-US" altLang="zh-CN"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CA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276526"/>
                  </a:ext>
                </a:extLst>
              </a:tr>
              <a:tr h="223059">
                <a:tc>
                  <a:txBody>
                    <a:bodyPr/>
                    <a:lstStyle/>
                    <a:p>
                      <a:pPr algn="l" fontAlgn="b"/>
                      <a:r>
                        <a:rPr lang="en-US" sz="1100" u="none" strike="noStrike">
                          <a:effectLst/>
                          <a:latin typeface="Arial" panose="020B0604020202020204" pitchFamily="34" charset="0"/>
                          <a:ea typeface="微软雅黑" panose="020B0503020204020204" pitchFamily="34" charset="-122"/>
                        </a:rPr>
                        <a:t>D7</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150, </a:t>
                      </a:r>
                      <a:r>
                        <a:rPr lang="en-US" altLang="zh-CN" sz="1100" u="none" strike="noStrike" dirty="0">
                          <a:solidFill>
                            <a:srgbClr val="217800"/>
                          </a:solidFill>
                          <a:effectLst/>
                          <a:latin typeface="Arial" panose="020B0604020202020204" pitchFamily="34" charset="0"/>
                          <a:ea typeface="微软雅黑" panose="020B0503020204020204" pitchFamily="34" charset="-122"/>
                        </a:rPr>
                        <a:t>150</a:t>
                      </a:r>
                      <a:endParaRPr lang="zh-CN" altLang="en-US" sz="1100" b="0" i="0" u="none" strike="noStrike" dirty="0">
                        <a:solidFill>
                          <a:srgbClr val="2178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150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400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i="0" u="none" strike="noStrike" dirty="0">
                          <a:solidFill>
                            <a:schemeClr val="tx1"/>
                          </a:solidFill>
                          <a:effectLst/>
                          <a:latin typeface="Arial" panose="020B0604020202020204" pitchFamily="34" charset="0"/>
                          <a:ea typeface="微软雅黑" panose="020B0503020204020204" pitchFamily="34" charset="-122"/>
                        </a:rPr>
                        <a:t>US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578182"/>
                  </a:ext>
                </a:extLst>
              </a:tr>
              <a:tr h="555670">
                <a:tc>
                  <a:txBody>
                    <a:bodyPr/>
                    <a:lstStyle/>
                    <a:p>
                      <a:pPr algn="l" fontAlgn="b"/>
                      <a:r>
                        <a:rPr lang="en-US" sz="1100" u="none" strike="noStrike">
                          <a:effectLst/>
                          <a:latin typeface="Arial" panose="020B0604020202020204" pitchFamily="34" charset="0"/>
                          <a:ea typeface="微软雅黑" panose="020B0503020204020204" pitchFamily="34" charset="-122"/>
                        </a:rPr>
                        <a:t>D8</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effectLst/>
                          <a:latin typeface="Arial" panose="020B0604020202020204" pitchFamily="34" charset="0"/>
                          <a:ea typeface="微软雅黑" panose="020B0503020204020204" pitchFamily="34" charset="-122"/>
                        </a:rPr>
                        <a:t>150,</a:t>
                      </a:r>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solidFill>
                            <a:srgbClr val="FF0000"/>
                          </a:solidFill>
                          <a:effectLst/>
                          <a:latin typeface="Arial" panose="020B0604020202020204" pitchFamily="34" charset="0"/>
                          <a:ea typeface="微软雅黑" panose="020B0503020204020204" pitchFamily="34" charset="-122"/>
                        </a:rPr>
                        <a:t>Short 100, </a:t>
                      </a:r>
                      <a:r>
                        <a:rPr lang="en-US" altLang="zh-CN" sz="1100" u="none" strike="noStrike" dirty="0">
                          <a:solidFill>
                            <a:srgbClr val="217800"/>
                          </a:solidFill>
                          <a:effectLst/>
                          <a:latin typeface="Arial" panose="020B0604020202020204" pitchFamily="34" charset="0"/>
                          <a:ea typeface="微软雅黑" panose="020B0503020204020204" pitchFamily="34" charset="-122"/>
                        </a:rPr>
                        <a:t>150</a:t>
                      </a:r>
                      <a:r>
                        <a:rPr lang="zh-CN" altLang="en-US" sz="1100" u="none" strike="noStrike" dirty="0">
                          <a:effectLst/>
                          <a:latin typeface="Arial" panose="020B0604020202020204" pitchFamily="34" charset="0"/>
                          <a:ea typeface="微软雅黑" panose="020B0503020204020204" pitchFamily="34" charset="-122"/>
                        </a:rPr>
                        <a:t>）</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250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400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latin typeface="Arial" panose="020B0604020202020204" pitchFamily="34" charset="0"/>
                          <a:ea typeface="微软雅黑" panose="020B0503020204020204" pitchFamily="34" charset="-122"/>
                        </a:rPr>
                        <a:t>NA</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i="0" u="none" strike="noStrike" dirty="0">
                          <a:solidFill>
                            <a:schemeClr val="tx1"/>
                          </a:solidFill>
                          <a:effectLst/>
                          <a:latin typeface="Arial" panose="020B0604020202020204" pitchFamily="34" charset="0"/>
                          <a:ea typeface="微软雅黑" panose="020B0503020204020204" pitchFamily="34" charset="-122"/>
                        </a:rPr>
                        <a:t>US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9868292"/>
                  </a:ext>
                </a:extLst>
              </a:tr>
              <a:tr h="318915">
                <a:tc>
                  <a:txBody>
                    <a:bodyPr/>
                    <a:lstStyle/>
                    <a:p>
                      <a:pPr algn="l" fontAlgn="b"/>
                      <a:r>
                        <a:rPr lang="en-US" sz="1100" u="none" strike="noStrike">
                          <a:effectLst/>
                          <a:latin typeface="Arial" panose="020B0604020202020204" pitchFamily="34" charset="0"/>
                          <a:ea typeface="微软雅黑" panose="020B0503020204020204" pitchFamily="34" charset="-122"/>
                        </a:rPr>
                        <a:t>D9</a:t>
                      </a:r>
                      <a:endParaRPr 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r>
                        <a:rPr lang="en-US" altLang="zh-CN" sz="1100" u="none" strike="noStrike" dirty="0">
                          <a:solidFill>
                            <a:srgbClr val="FF0000"/>
                          </a:solidFill>
                          <a:effectLst/>
                          <a:latin typeface="Arial" panose="020B0604020202020204" pitchFamily="34" charset="0"/>
                          <a:ea typeface="微软雅黑" panose="020B0503020204020204" pitchFamily="34" charset="-122"/>
                        </a:rPr>
                        <a:t>Short : 1200</a:t>
                      </a:r>
                      <a:endParaRPr lang="zh-CN" altLang="en-US" sz="1100" b="0" i="0" u="none" strike="noStrike" dirty="0">
                        <a:solidFill>
                          <a:srgbClr val="FF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a:effectLst/>
                          <a:latin typeface="Arial" panose="020B0604020202020204" pitchFamily="34" charset="0"/>
                          <a:ea typeface="微软雅黑" panose="020B0503020204020204" pitchFamily="34" charset="-122"/>
                        </a:rPr>
                        <a:t>　</a:t>
                      </a:r>
                      <a:endParaRPr lang="zh-CN" altLang="en-US"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1200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2700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1200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100" u="none" strike="noStrike">
                          <a:effectLst/>
                          <a:latin typeface="Arial" panose="020B0604020202020204" pitchFamily="34" charset="0"/>
                          <a:ea typeface="微软雅黑" panose="020B0503020204020204" pitchFamily="34" charset="-122"/>
                        </a:rPr>
                        <a:t>1200</a:t>
                      </a:r>
                      <a:endParaRPr lang="en-US" altLang="zh-CN" sz="1100" b="0" i="0" u="none" strike="noStrike">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latin typeface="Arial" panose="020B0604020202020204" pitchFamily="34" charset="0"/>
                          <a:ea typeface="微软雅黑" panose="020B0503020204020204" pitchFamily="34" charset="-122"/>
                        </a:rPr>
                        <a:t>EUR</a:t>
                      </a:r>
                      <a:endParaRPr 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100" u="none" strike="noStrike" dirty="0">
                          <a:effectLst/>
                          <a:latin typeface="Arial" panose="020B0604020202020204" pitchFamily="34" charset="0"/>
                          <a:ea typeface="微软雅黑" panose="020B0503020204020204" pitchFamily="34" charset="-122"/>
                        </a:rPr>
                        <a:t>　</a:t>
                      </a:r>
                      <a:endParaRPr lang="zh-CN" altLang="en-US" sz="1100" b="0" i="0" u="none" strike="noStrike" dirty="0">
                        <a:solidFill>
                          <a:srgbClr val="00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4780811"/>
                  </a:ext>
                </a:extLst>
              </a:tr>
            </a:tbl>
          </a:graphicData>
        </a:graphic>
      </p:graphicFrame>
      <p:sp>
        <p:nvSpPr>
          <p:cNvPr id="6" name="文本框 5">
            <a:extLst>
              <a:ext uri="{FF2B5EF4-FFF2-40B4-BE49-F238E27FC236}">
                <a16:creationId xmlns:a16="http://schemas.microsoft.com/office/drawing/2014/main" id="{96F0FCEB-9F73-316D-BF4C-3234DCD9BCA1}"/>
              </a:ext>
            </a:extLst>
          </p:cNvPr>
          <p:cNvSpPr txBox="1"/>
          <p:nvPr/>
        </p:nvSpPr>
        <p:spPr>
          <a:xfrm>
            <a:off x="867473" y="845683"/>
            <a:ext cx="493102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FIFS: First Come First Served, first means sequence.</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6">
            <a:extLst>
              <a:ext uri="{FF2B5EF4-FFF2-40B4-BE49-F238E27FC236}">
                <a16:creationId xmlns:a16="http://schemas.microsoft.com/office/drawing/2014/main" id="{AD9E1907-CDA2-8789-43ED-52769DF8611B}"/>
              </a:ext>
            </a:extLst>
          </p:cNvPr>
          <p:cNvSpPr/>
          <p:nvPr/>
        </p:nvSpPr>
        <p:spPr>
          <a:xfrm>
            <a:off x="1604021" y="1326966"/>
            <a:ext cx="520663" cy="276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PRC</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矩形 7">
            <a:extLst>
              <a:ext uri="{FF2B5EF4-FFF2-40B4-BE49-F238E27FC236}">
                <a16:creationId xmlns:a16="http://schemas.microsoft.com/office/drawing/2014/main" id="{446C72CA-0FFE-8EA8-D9BC-29613C67C587}"/>
              </a:ext>
            </a:extLst>
          </p:cNvPr>
          <p:cNvSpPr/>
          <p:nvPr/>
        </p:nvSpPr>
        <p:spPr>
          <a:xfrm>
            <a:off x="1010344" y="1736791"/>
            <a:ext cx="520663" cy="276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矩形 8">
            <a:extLst>
              <a:ext uri="{FF2B5EF4-FFF2-40B4-BE49-F238E27FC236}">
                <a16:creationId xmlns:a16="http://schemas.microsoft.com/office/drawing/2014/main" id="{FB5F69F6-9047-827A-5A12-EC663CE9D499}"/>
              </a:ext>
            </a:extLst>
          </p:cNvPr>
          <p:cNvSpPr/>
          <p:nvPr/>
        </p:nvSpPr>
        <p:spPr>
          <a:xfrm>
            <a:off x="2129196" y="1736791"/>
            <a:ext cx="520663" cy="276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0" name="连接符: 肘形 9">
            <a:extLst>
              <a:ext uri="{FF2B5EF4-FFF2-40B4-BE49-F238E27FC236}">
                <a16:creationId xmlns:a16="http://schemas.microsoft.com/office/drawing/2014/main" id="{7E802C21-4A93-DE7A-8A84-45F4A0981106}"/>
              </a:ext>
            </a:extLst>
          </p:cNvPr>
          <p:cNvCxnSpPr>
            <a:stCxn id="7" idx="1"/>
            <a:endCxn id="8" idx="0"/>
          </p:cNvCxnSpPr>
          <p:nvPr/>
        </p:nvCxnSpPr>
        <p:spPr>
          <a:xfrm rot="10800000" flipV="1">
            <a:off x="1270677" y="1465465"/>
            <a:ext cx="333345" cy="27132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连接符: 肘形 10">
            <a:extLst>
              <a:ext uri="{FF2B5EF4-FFF2-40B4-BE49-F238E27FC236}">
                <a16:creationId xmlns:a16="http://schemas.microsoft.com/office/drawing/2014/main" id="{34676DA1-196A-C825-3725-1DBF4030E1AE}"/>
              </a:ext>
            </a:extLst>
          </p:cNvPr>
          <p:cNvCxnSpPr>
            <a:stCxn id="7" idx="3"/>
            <a:endCxn id="9" idx="0"/>
          </p:cNvCxnSpPr>
          <p:nvPr/>
        </p:nvCxnSpPr>
        <p:spPr>
          <a:xfrm>
            <a:off x="2124684" y="1465465"/>
            <a:ext cx="264844" cy="27132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EE889DF9-21BA-0B4A-9490-1FB7042D926B}"/>
              </a:ext>
            </a:extLst>
          </p:cNvPr>
          <p:cNvSpPr/>
          <p:nvPr/>
        </p:nvSpPr>
        <p:spPr>
          <a:xfrm>
            <a:off x="3650958" y="1324129"/>
            <a:ext cx="663696"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Others</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矩形 12">
            <a:extLst>
              <a:ext uri="{FF2B5EF4-FFF2-40B4-BE49-F238E27FC236}">
                <a16:creationId xmlns:a16="http://schemas.microsoft.com/office/drawing/2014/main" id="{D7A51B9D-80D3-8304-47B0-4D815D749A53}"/>
              </a:ext>
            </a:extLst>
          </p:cNvPr>
          <p:cNvSpPr/>
          <p:nvPr/>
        </p:nvSpPr>
        <p:spPr>
          <a:xfrm>
            <a:off x="3057281" y="1739627"/>
            <a:ext cx="520663" cy="276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4" name="矩形 13">
            <a:extLst>
              <a:ext uri="{FF2B5EF4-FFF2-40B4-BE49-F238E27FC236}">
                <a16:creationId xmlns:a16="http://schemas.microsoft.com/office/drawing/2014/main" id="{DAF938E1-AE45-0894-B85D-A7DB98E18D9E}"/>
              </a:ext>
            </a:extLst>
          </p:cNvPr>
          <p:cNvSpPr/>
          <p:nvPr/>
        </p:nvSpPr>
        <p:spPr>
          <a:xfrm>
            <a:off x="4391724" y="1724063"/>
            <a:ext cx="520663" cy="276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1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5" name="连接符: 肘形 14">
            <a:extLst>
              <a:ext uri="{FF2B5EF4-FFF2-40B4-BE49-F238E27FC236}">
                <a16:creationId xmlns:a16="http://schemas.microsoft.com/office/drawing/2014/main" id="{FFD91D89-9004-DFD5-D74C-0061E73F1911}"/>
              </a:ext>
            </a:extLst>
          </p:cNvPr>
          <p:cNvCxnSpPr>
            <a:cxnSpLocks/>
            <a:stCxn id="12" idx="1"/>
            <a:endCxn id="13" idx="0"/>
          </p:cNvCxnSpPr>
          <p:nvPr/>
        </p:nvCxnSpPr>
        <p:spPr>
          <a:xfrm rot="10800000" flipV="1">
            <a:off x="3317614" y="1462629"/>
            <a:ext cx="333345" cy="2769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FC3C2101-EA24-1FA7-B886-CD8949EA63C0}"/>
              </a:ext>
            </a:extLst>
          </p:cNvPr>
          <p:cNvCxnSpPr>
            <a:cxnSpLocks/>
            <a:stCxn id="12" idx="3"/>
            <a:endCxn id="14" idx="0"/>
          </p:cNvCxnSpPr>
          <p:nvPr/>
        </p:nvCxnSpPr>
        <p:spPr>
          <a:xfrm>
            <a:off x="4314654" y="1462629"/>
            <a:ext cx="337402" cy="2614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BB9AF01D-1667-F71E-D5AE-0A1CC67705B2}"/>
              </a:ext>
            </a:extLst>
          </p:cNvPr>
          <p:cNvGrpSpPr/>
          <p:nvPr/>
        </p:nvGrpSpPr>
        <p:grpSpPr>
          <a:xfrm>
            <a:off x="766689" y="3727938"/>
            <a:ext cx="4234376" cy="914400"/>
            <a:chOff x="766689" y="3727938"/>
            <a:chExt cx="4234376" cy="759656"/>
          </a:xfrm>
        </p:grpSpPr>
        <p:sp>
          <p:nvSpPr>
            <p:cNvPr id="3" name="矩形: 圆角 2">
              <a:extLst>
                <a:ext uri="{FF2B5EF4-FFF2-40B4-BE49-F238E27FC236}">
                  <a16:creationId xmlns:a16="http://schemas.microsoft.com/office/drawing/2014/main" id="{F01FEDC9-0396-47AD-520C-FDF0082EA79B}"/>
                </a:ext>
              </a:extLst>
            </p:cNvPr>
            <p:cNvSpPr/>
            <p:nvPr/>
          </p:nvSpPr>
          <p:spPr>
            <a:xfrm>
              <a:off x="766689" y="3727938"/>
              <a:ext cx="4234376" cy="759656"/>
            </a:xfrm>
            <a:prstGeom prst="roundRect">
              <a:avLst/>
            </a:prstGeom>
            <a:solidFill>
              <a:schemeClr val="accent1">
                <a:lumMod val="60000"/>
                <a:lumOff val="40000"/>
                <a:alpha val="28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8" name="文本框 17">
              <a:extLst>
                <a:ext uri="{FF2B5EF4-FFF2-40B4-BE49-F238E27FC236}">
                  <a16:creationId xmlns:a16="http://schemas.microsoft.com/office/drawing/2014/main" id="{308B5C40-5B32-0E86-04B6-13898E6E98A2}"/>
                </a:ext>
              </a:extLst>
            </p:cNvPr>
            <p:cNvSpPr txBox="1"/>
            <p:nvPr/>
          </p:nvSpPr>
          <p:spPr>
            <a:xfrm>
              <a:off x="821057" y="3765280"/>
              <a:ext cx="1646654" cy="2556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缺乏柔性</a:t>
              </a:r>
            </a:p>
          </p:txBody>
        </p:sp>
      </p:grpSp>
      <p:grpSp>
        <p:nvGrpSpPr>
          <p:cNvPr id="22" name="组合 21">
            <a:extLst>
              <a:ext uri="{FF2B5EF4-FFF2-40B4-BE49-F238E27FC236}">
                <a16:creationId xmlns:a16="http://schemas.microsoft.com/office/drawing/2014/main" id="{F4212ADE-EF8F-19B1-3033-BEDFE5315D54}"/>
              </a:ext>
            </a:extLst>
          </p:cNvPr>
          <p:cNvGrpSpPr/>
          <p:nvPr/>
        </p:nvGrpSpPr>
        <p:grpSpPr>
          <a:xfrm>
            <a:off x="2952486" y="5828713"/>
            <a:ext cx="4234376" cy="914400"/>
            <a:chOff x="2952486" y="5828713"/>
            <a:chExt cx="4234376" cy="914400"/>
          </a:xfrm>
        </p:grpSpPr>
        <p:sp>
          <p:nvSpPr>
            <p:cNvPr id="20" name="矩形: 圆角 19">
              <a:extLst>
                <a:ext uri="{FF2B5EF4-FFF2-40B4-BE49-F238E27FC236}">
                  <a16:creationId xmlns:a16="http://schemas.microsoft.com/office/drawing/2014/main" id="{29BD5B43-A4AA-EF7F-FAD6-7CBB14264EC3}"/>
                </a:ext>
              </a:extLst>
            </p:cNvPr>
            <p:cNvSpPr/>
            <p:nvPr/>
          </p:nvSpPr>
          <p:spPr>
            <a:xfrm>
              <a:off x="2952486" y="5828713"/>
              <a:ext cx="4234376" cy="914400"/>
            </a:xfrm>
            <a:prstGeom prst="roundRect">
              <a:avLst/>
            </a:prstGeom>
            <a:solidFill>
              <a:schemeClr val="accent1">
                <a:lumMod val="60000"/>
                <a:lumOff val="40000"/>
                <a:alpha val="28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21" name="文本框 20">
              <a:extLst>
                <a:ext uri="{FF2B5EF4-FFF2-40B4-BE49-F238E27FC236}">
                  <a16:creationId xmlns:a16="http://schemas.microsoft.com/office/drawing/2014/main" id="{819E4929-0ADD-7CF5-48A5-4D32C114349C}"/>
                </a:ext>
              </a:extLst>
            </p:cNvPr>
            <p:cNvSpPr txBox="1"/>
            <p:nvPr/>
          </p:nvSpPr>
          <p:spPr>
            <a:xfrm>
              <a:off x="3180726" y="5828713"/>
              <a:ext cx="324117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不公平，长期来看丢失市场</a:t>
              </a:r>
            </a:p>
          </p:txBody>
        </p:sp>
      </p:grpSp>
      <p:sp>
        <p:nvSpPr>
          <p:cNvPr id="23" name="对话气泡: 椭圆形 22">
            <a:extLst>
              <a:ext uri="{FF2B5EF4-FFF2-40B4-BE49-F238E27FC236}">
                <a16:creationId xmlns:a16="http://schemas.microsoft.com/office/drawing/2014/main" id="{4A210B15-1759-CD95-B894-F8159DCC9A08}"/>
              </a:ext>
            </a:extLst>
          </p:cNvPr>
          <p:cNvSpPr/>
          <p:nvPr/>
        </p:nvSpPr>
        <p:spPr>
          <a:xfrm>
            <a:off x="6899065" y="2420149"/>
            <a:ext cx="1062237" cy="328526"/>
          </a:xfrm>
          <a:prstGeom prst="wedgeEllipseCallout">
            <a:avLst>
              <a:gd name="adj1" fmla="val -62212"/>
              <a:gd name="adj2" fmla="val 62500"/>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Gating</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文本框 25">
            <a:extLst>
              <a:ext uri="{FF2B5EF4-FFF2-40B4-BE49-F238E27FC236}">
                <a16:creationId xmlns:a16="http://schemas.microsoft.com/office/drawing/2014/main" id="{E0B12F0C-BE12-EE63-FE65-AA503FB9381F}"/>
              </a:ext>
            </a:extLst>
          </p:cNvPr>
          <p:cNvSpPr txBox="1"/>
          <p:nvPr/>
        </p:nvSpPr>
        <p:spPr>
          <a:xfrm>
            <a:off x="5661614" y="1009111"/>
            <a:ext cx="5469974" cy="58477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当我们面对资源紧张时，优化意味着长短期兼顾</a:t>
            </a:r>
            <a:endParaRPr kumimoji="0" lang="en-US" altLang="zh-CN"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短期意味着战略有先，长期意味着公平公正</a:t>
            </a:r>
          </a:p>
        </p:txBody>
      </p:sp>
    </p:spTree>
    <p:extLst>
      <p:ext uri="{BB962C8B-B14F-4D97-AF65-F5344CB8AC3E}">
        <p14:creationId xmlns:p14="http://schemas.microsoft.com/office/powerpoint/2010/main" val="207052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DF9D-89D1-8155-0831-AFA71836BD87}"/>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DE8EE719-0926-34B1-E6E2-A2D93B53C57F}"/>
              </a:ext>
            </a:extLst>
          </p:cNvPr>
          <p:cNvSpPr>
            <a:spLocks noGrp="1"/>
          </p:cNvSpPr>
          <p:nvPr>
            <p:ph type="title"/>
          </p:nvPr>
        </p:nvSpPr>
        <p:spPr/>
        <p:txBody>
          <a:bodyPr/>
          <a:lstStyle/>
          <a:p>
            <a:r>
              <a:rPr lang="en-US" altLang="zh-CN" sz="2800" dirty="0">
                <a:latin typeface="Arial" panose="020B0604020202020204" pitchFamily="34" charset="0"/>
                <a:ea typeface="微软雅黑" panose="020B0503020204020204" pitchFamily="34" charset="-122"/>
              </a:rPr>
              <a:t>Allocation – Examples </a:t>
            </a:r>
            <a:r>
              <a:rPr lang="zh-CN" altLang="en-US" sz="2800" dirty="0">
                <a:latin typeface="Arial" panose="020B0604020202020204" pitchFamily="34" charset="0"/>
                <a:ea typeface="微软雅黑" panose="020B0503020204020204" pitchFamily="34" charset="-122"/>
              </a:rPr>
              <a:t>战略优先，公平公正</a:t>
            </a:r>
            <a:endParaRPr lang="zh-CN" altLang="en-US" dirty="0">
              <a:latin typeface="Arial" panose="020B0604020202020204" pitchFamily="34" charset="0"/>
              <a:ea typeface="微软雅黑" panose="020B0503020204020204" pitchFamily="34" charset="-122"/>
            </a:endParaRPr>
          </a:p>
        </p:txBody>
      </p:sp>
      <p:grpSp>
        <p:nvGrpSpPr>
          <p:cNvPr id="183" name="组合 182">
            <a:extLst>
              <a:ext uri="{FF2B5EF4-FFF2-40B4-BE49-F238E27FC236}">
                <a16:creationId xmlns:a16="http://schemas.microsoft.com/office/drawing/2014/main" id="{D06244EC-ED08-A035-E33B-6C920EDD1C1C}"/>
              </a:ext>
            </a:extLst>
          </p:cNvPr>
          <p:cNvGrpSpPr/>
          <p:nvPr/>
        </p:nvGrpSpPr>
        <p:grpSpPr>
          <a:xfrm>
            <a:off x="706417" y="817999"/>
            <a:ext cx="7073138" cy="1468337"/>
            <a:chOff x="904581" y="1140079"/>
            <a:chExt cx="4883031" cy="1358913"/>
          </a:xfrm>
        </p:grpSpPr>
        <p:sp>
          <p:nvSpPr>
            <p:cNvPr id="196" name="1">
              <a:extLst>
                <a:ext uri="{FF2B5EF4-FFF2-40B4-BE49-F238E27FC236}">
                  <a16:creationId xmlns:a16="http://schemas.microsoft.com/office/drawing/2014/main" id="{D0B2953D-D8AE-0740-391B-D77100BE6B53}"/>
                </a:ext>
              </a:extLst>
            </p:cNvPr>
            <p:cNvSpPr/>
            <p:nvPr>
              <p:custDataLst>
                <p:tags r:id="rId11"/>
              </p:custDataLst>
            </p:nvPr>
          </p:nvSpPr>
          <p:spPr>
            <a:xfrm>
              <a:off x="909643" y="1141058"/>
              <a:ext cx="4877969" cy="1100943"/>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97" name="Title-1">
              <a:extLst>
                <a:ext uri="{FF2B5EF4-FFF2-40B4-BE49-F238E27FC236}">
                  <a16:creationId xmlns:a16="http://schemas.microsoft.com/office/drawing/2014/main" id="{9456A09E-F96E-ADEF-EC51-139E05E62018}"/>
                </a:ext>
              </a:extLst>
            </p:cNvPr>
            <p:cNvSpPr>
              <a:spLocks/>
            </p:cNvSpPr>
            <p:nvPr>
              <p:custDataLst>
                <p:tags r:id="rId12"/>
              </p:custDataLst>
            </p:nvPr>
          </p:nvSpPr>
          <p:spPr>
            <a:xfrm>
              <a:off x="1495060" y="1140079"/>
              <a:ext cx="3960000" cy="525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识别</a:t>
              </a:r>
              <a:r>
                <a:rPr kumimoji="0" lang="en-US" altLang="zh-CN"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Gating</a:t>
              </a:r>
              <a:endParaRPr kumimoji="0" lang="en-US" altLang="zh-CN" sz="1800" b="1" i="0" u="none" strike="noStrike" kern="1200" cap="none" spc="0" normalizeH="0" baseline="0" noProof="0" dirty="0">
                <a:ln>
                  <a:noFill/>
                </a:ln>
                <a:solidFill>
                  <a:srgbClr val="4674C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98" name="Body-1">
              <a:extLst>
                <a:ext uri="{FF2B5EF4-FFF2-40B4-BE49-F238E27FC236}">
                  <a16:creationId xmlns:a16="http://schemas.microsoft.com/office/drawing/2014/main" id="{AC123C3B-A3C9-B9D9-812D-FFEDB0DDC116}"/>
                </a:ext>
              </a:extLst>
            </p:cNvPr>
            <p:cNvSpPr>
              <a:spLocks/>
            </p:cNvSpPr>
            <p:nvPr>
              <p:custDataLst>
                <p:tags r:id="rId13"/>
              </p:custDataLst>
            </p:nvPr>
          </p:nvSpPr>
          <p:spPr>
            <a:xfrm>
              <a:off x="1495060" y="1654869"/>
              <a:ext cx="3960000" cy="8441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Gating,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总需求</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2700</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，供应仅为</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1700</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99" name="Index-1">
              <a:extLst>
                <a:ext uri="{FF2B5EF4-FFF2-40B4-BE49-F238E27FC236}">
                  <a16:creationId xmlns:a16="http://schemas.microsoft.com/office/drawing/2014/main" id="{F74CA94F-5414-E159-1A8C-AC3844823967}"/>
                </a:ext>
              </a:extLst>
            </p:cNvPr>
            <p:cNvSpPr txBox="1"/>
            <p:nvPr>
              <p:custDataLst>
                <p:tags r:id="rId14"/>
              </p:custDataLst>
            </p:nvPr>
          </p:nvSpPr>
          <p:spPr>
            <a:xfrm>
              <a:off x="990841" y="1141058"/>
              <a:ext cx="404151" cy="484228"/>
            </a:xfrm>
            <a:prstGeom prst="rect">
              <a:avLst/>
            </a:prstGeom>
            <a:solidFill>
              <a:schemeClr val="accent1"/>
            </a:solidFill>
            <a:effectLst/>
          </p:spPr>
          <p:txBody>
            <a:bodyPr wrap="none" rtlCol="0">
              <a:spAutoFit/>
            </a:bodyPr>
            <a:lstStyle>
              <a:defPPr>
                <a:defRPr lang="zh-CN"/>
              </a:defPPr>
              <a:lvl1pPr algn="ctr">
                <a:defRPr sz="2800" b="1">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01</a:t>
              </a:r>
              <a:endParaRPr kumimoji="0" lang="zh-CN" altLang="en-US" sz="2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00" name="1">
              <a:extLst>
                <a:ext uri="{FF2B5EF4-FFF2-40B4-BE49-F238E27FC236}">
                  <a16:creationId xmlns:a16="http://schemas.microsoft.com/office/drawing/2014/main" id="{C412B566-2AC0-19DC-3097-1C45B6588247}"/>
                </a:ext>
              </a:extLst>
            </p:cNvPr>
            <p:cNvCxnSpPr>
              <a:cxnSpLocks/>
            </p:cNvCxnSpPr>
            <p:nvPr>
              <p:custDataLst>
                <p:tags r:id="rId15"/>
              </p:custDataLst>
            </p:nvPr>
          </p:nvCxnSpPr>
          <p:spPr>
            <a:xfrm>
              <a:off x="904581" y="2257033"/>
              <a:ext cx="4877967"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84" name="组合 183">
            <a:extLst>
              <a:ext uri="{FF2B5EF4-FFF2-40B4-BE49-F238E27FC236}">
                <a16:creationId xmlns:a16="http://schemas.microsoft.com/office/drawing/2014/main" id="{F4908303-31E4-D5E6-1B8A-C9DC034F8CAC}"/>
              </a:ext>
            </a:extLst>
          </p:cNvPr>
          <p:cNvGrpSpPr>
            <a:grpSpLocks/>
          </p:cNvGrpSpPr>
          <p:nvPr/>
        </p:nvGrpSpPr>
        <p:grpSpPr>
          <a:xfrm>
            <a:off x="700083" y="2203225"/>
            <a:ext cx="7065805" cy="1797603"/>
            <a:chOff x="6659655" y="703013"/>
            <a:chExt cx="4877969" cy="1663641"/>
          </a:xfrm>
        </p:grpSpPr>
        <p:sp>
          <p:nvSpPr>
            <p:cNvPr id="191" name="2">
              <a:extLst>
                <a:ext uri="{FF2B5EF4-FFF2-40B4-BE49-F238E27FC236}">
                  <a16:creationId xmlns:a16="http://schemas.microsoft.com/office/drawing/2014/main" id="{D5E9738F-5D5D-B80D-66E6-4F9F2BBD9CB4}"/>
                </a:ext>
              </a:extLst>
            </p:cNvPr>
            <p:cNvSpPr/>
            <p:nvPr>
              <p:custDataLst>
                <p:tags r:id="rId6"/>
              </p:custDataLst>
            </p:nvPr>
          </p:nvSpPr>
          <p:spPr>
            <a:xfrm>
              <a:off x="6659655" y="703013"/>
              <a:ext cx="4877969" cy="1256237"/>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92" name="Body-2">
              <a:extLst>
                <a:ext uri="{FF2B5EF4-FFF2-40B4-BE49-F238E27FC236}">
                  <a16:creationId xmlns:a16="http://schemas.microsoft.com/office/drawing/2014/main" id="{D4CBB0D9-DA70-00D5-0D63-487AF407D13D}"/>
                </a:ext>
              </a:extLst>
            </p:cNvPr>
            <p:cNvSpPr>
              <a:spLocks/>
            </p:cNvSpPr>
            <p:nvPr>
              <p:custDataLst>
                <p:tags r:id="rId7"/>
              </p:custDataLst>
            </p:nvPr>
          </p:nvSpPr>
          <p:spPr>
            <a:xfrm>
              <a:off x="7245072" y="1223630"/>
              <a:ext cx="3960000" cy="114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近期中国区竞争异常激烈，从战略考量中国区为必争之地。</a:t>
              </a:r>
            </a:p>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中国区先从</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1700</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中分</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800.</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93" name="Title-2">
              <a:extLst>
                <a:ext uri="{FF2B5EF4-FFF2-40B4-BE49-F238E27FC236}">
                  <a16:creationId xmlns:a16="http://schemas.microsoft.com/office/drawing/2014/main" id="{434C4954-8467-7CF8-0382-3DC3A1D61DF6}"/>
                </a:ext>
              </a:extLst>
            </p:cNvPr>
            <p:cNvSpPr>
              <a:spLocks/>
            </p:cNvSpPr>
            <p:nvPr>
              <p:custDataLst>
                <p:tags r:id="rId8"/>
              </p:custDataLst>
            </p:nvPr>
          </p:nvSpPr>
          <p:spPr>
            <a:xfrm>
              <a:off x="7245072" y="782299"/>
              <a:ext cx="3960000" cy="390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CC"/>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战略优先</a:t>
              </a:r>
              <a:endParaRPr kumimoji="0" lang="en-US" altLang="zh-CN" sz="1800" b="1" i="0" u="none" strike="noStrike" kern="1200" cap="none" spc="0" normalizeH="0" baseline="0" noProof="0" dirty="0">
                <a:ln>
                  <a:noFill/>
                </a:ln>
                <a:solidFill>
                  <a:srgbClr val="0000CC"/>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94" name="Index-2">
              <a:extLst>
                <a:ext uri="{FF2B5EF4-FFF2-40B4-BE49-F238E27FC236}">
                  <a16:creationId xmlns:a16="http://schemas.microsoft.com/office/drawing/2014/main" id="{1D526663-7F94-04AB-4B96-2F83AFE098B8}"/>
                </a:ext>
              </a:extLst>
            </p:cNvPr>
            <p:cNvSpPr txBox="1"/>
            <p:nvPr>
              <p:custDataLst>
                <p:tags r:id="rId9"/>
              </p:custDataLst>
            </p:nvPr>
          </p:nvSpPr>
          <p:spPr>
            <a:xfrm>
              <a:off x="6764603" y="723394"/>
              <a:ext cx="404151" cy="484228"/>
            </a:xfrm>
            <a:prstGeom prst="rect">
              <a:avLst/>
            </a:prstGeom>
            <a:solidFill>
              <a:srgbClr val="0000CC"/>
            </a:solidFill>
            <a:effectLst/>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00000">
                      <a:lumMod val="100000"/>
                    </a:srgbClr>
                  </a:solidFill>
                  <a:effectLst/>
                  <a:uLnTx/>
                  <a:uFillTx/>
                  <a:latin typeface="Arial" panose="020B0604020202020204" pitchFamily="34" charset="0"/>
                  <a:ea typeface="微软雅黑" panose="020B0503020204020204" pitchFamily="34" charset="-122"/>
                  <a:cs typeface="+mn-cs"/>
                </a:rPr>
                <a:t>02</a:t>
              </a:r>
              <a:endParaRPr kumimoji="0" lang="zh-CN" altLang="en-US" sz="2800" b="1" i="0" u="none" strike="noStrike" kern="1200" cap="none" spc="0" normalizeH="0" baseline="0" noProof="0" dirty="0">
                <a:ln>
                  <a:noFill/>
                </a:ln>
                <a:solidFill>
                  <a:srgbClr val="000000">
                    <a:lumMod val="100000"/>
                  </a:srgbClr>
                </a:solidFill>
                <a:effectLst/>
                <a:uLnTx/>
                <a:uFillTx/>
                <a:latin typeface="Arial" panose="020B0604020202020204" pitchFamily="34" charset="0"/>
                <a:ea typeface="微软雅黑" panose="020B0503020204020204" pitchFamily="34" charset="-122"/>
                <a:cs typeface="+mn-cs"/>
              </a:endParaRPr>
            </a:p>
          </p:txBody>
        </p:sp>
        <p:cxnSp>
          <p:nvCxnSpPr>
            <p:cNvPr id="195" name="2">
              <a:extLst>
                <a:ext uri="{FF2B5EF4-FFF2-40B4-BE49-F238E27FC236}">
                  <a16:creationId xmlns:a16="http://schemas.microsoft.com/office/drawing/2014/main" id="{6BF648B9-DB32-FE1E-4EA1-2355C2EEED6B}"/>
                </a:ext>
              </a:extLst>
            </p:cNvPr>
            <p:cNvCxnSpPr>
              <a:cxnSpLocks/>
            </p:cNvCxnSpPr>
            <p:nvPr>
              <p:custDataLst>
                <p:tags r:id="rId10"/>
              </p:custDataLst>
            </p:nvPr>
          </p:nvCxnSpPr>
          <p:spPr>
            <a:xfrm>
              <a:off x="6659655" y="2012672"/>
              <a:ext cx="4877967" cy="0"/>
            </a:xfrm>
            <a:prstGeom prst="line">
              <a:avLst/>
            </a:prstGeom>
            <a:ln w="57150">
              <a:solidFill>
                <a:srgbClr val="0000CC"/>
              </a:solidFill>
            </a:ln>
          </p:spPr>
          <p:style>
            <a:lnRef idx="1">
              <a:schemeClr val="accent1"/>
            </a:lnRef>
            <a:fillRef idx="0">
              <a:schemeClr val="accent1"/>
            </a:fillRef>
            <a:effectRef idx="0">
              <a:schemeClr val="accent1"/>
            </a:effectRef>
            <a:fontRef idx="minor">
              <a:schemeClr val="tx1"/>
            </a:fontRef>
          </p:style>
        </p:cxnSp>
      </p:grpSp>
      <p:grpSp>
        <p:nvGrpSpPr>
          <p:cNvPr id="185" name="组合 184">
            <a:extLst>
              <a:ext uri="{FF2B5EF4-FFF2-40B4-BE49-F238E27FC236}">
                <a16:creationId xmlns:a16="http://schemas.microsoft.com/office/drawing/2014/main" id="{4E2A5322-946A-A4DA-DF56-5705EB820E9C}"/>
              </a:ext>
            </a:extLst>
          </p:cNvPr>
          <p:cNvGrpSpPr>
            <a:grpSpLocks/>
          </p:cNvGrpSpPr>
          <p:nvPr/>
        </p:nvGrpSpPr>
        <p:grpSpPr>
          <a:xfrm>
            <a:off x="665403" y="3978503"/>
            <a:ext cx="7100482" cy="2514821"/>
            <a:chOff x="6626307" y="2297241"/>
            <a:chExt cx="4887468" cy="2068687"/>
          </a:xfrm>
        </p:grpSpPr>
        <p:sp>
          <p:nvSpPr>
            <p:cNvPr id="186" name="3">
              <a:extLst>
                <a:ext uri="{FF2B5EF4-FFF2-40B4-BE49-F238E27FC236}">
                  <a16:creationId xmlns:a16="http://schemas.microsoft.com/office/drawing/2014/main" id="{2B0C9BF6-B923-4292-DDB9-40AE84895FC1}"/>
                </a:ext>
              </a:extLst>
            </p:cNvPr>
            <p:cNvSpPr/>
            <p:nvPr>
              <p:custDataLst>
                <p:tags r:id="rId1"/>
              </p:custDataLst>
            </p:nvPr>
          </p:nvSpPr>
          <p:spPr>
            <a:xfrm>
              <a:off x="6650249" y="2297241"/>
              <a:ext cx="4863526" cy="2015070"/>
            </a:xfrm>
            <a:prstGeom prst="rect">
              <a:avLst/>
            </a:prstGeom>
            <a:solidFill>
              <a:schemeClr val="bg1"/>
            </a:solidFill>
            <a:ln w="6350">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87" name="Title-3">
              <a:extLst>
                <a:ext uri="{FF2B5EF4-FFF2-40B4-BE49-F238E27FC236}">
                  <a16:creationId xmlns:a16="http://schemas.microsoft.com/office/drawing/2014/main" id="{AC06CFF1-E495-42F2-6A14-F8C90AF56AFF}"/>
                </a:ext>
              </a:extLst>
            </p:cNvPr>
            <p:cNvSpPr>
              <a:spLocks/>
            </p:cNvSpPr>
            <p:nvPr>
              <p:custDataLst>
                <p:tags r:id="rId2"/>
              </p:custDataLst>
            </p:nvPr>
          </p:nvSpPr>
          <p:spPr>
            <a:xfrm>
              <a:off x="7259546" y="2399009"/>
              <a:ext cx="3960000" cy="3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长期主义，公平公正</a:t>
              </a:r>
              <a:endParaRPr kumimoji="0" lang="en-US" altLang="zh-CN" sz="1800" b="1" i="0" u="none" strike="noStrike" kern="1200" cap="none" spc="0" normalizeH="0" baseline="0" noProof="0" dirty="0">
                <a:ln>
                  <a:noFill/>
                </a:ln>
                <a:solidFill>
                  <a:srgbClr val="00B05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88" name="Body-3">
              <a:extLst>
                <a:ext uri="{FF2B5EF4-FFF2-40B4-BE49-F238E27FC236}">
                  <a16:creationId xmlns:a16="http://schemas.microsoft.com/office/drawing/2014/main" id="{C85BE58B-B0C1-51A8-30E7-F9D31D3F5DB9}"/>
                </a:ext>
              </a:extLst>
            </p:cNvPr>
            <p:cNvSpPr>
              <a:spLocks/>
            </p:cNvSpPr>
            <p:nvPr>
              <p:custDataLst>
                <p:tags r:id="rId3"/>
              </p:custDataLst>
            </p:nvPr>
          </p:nvSpPr>
          <p:spPr>
            <a:xfrm>
              <a:off x="7245101" y="2755944"/>
              <a:ext cx="3960000" cy="15563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剩余供应如何分配成为争论焦点</a:t>
              </a:r>
            </a:p>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供应链内部有人建议从成本角度考量，有人建议从利润角度考量，还有人建议从出货量角度考量。</a:t>
              </a:r>
            </a:p>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What-if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启用运筹优化求最值，然后请</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NA</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EUR Head</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决策。</a:t>
              </a:r>
            </a:p>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出乎意料的是各</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Regin Head</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决定的是</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Fair Share,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因为短期看可以求最值。长期来看，这个两个市场我们都不能丢。</a:t>
              </a:r>
              <a:endPar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3765" rtl="0" eaLnBrk="1" fontAlgn="auto" latinLnBrk="0" hangingPunct="1">
                <a:lnSpc>
                  <a:spcPct val="12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Regin </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内部还需要其他分配规则</a:t>
              </a:r>
              <a:endParaRPr kumimoji="0" lang="en-GB"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9" name="Index-3">
              <a:extLst>
                <a:ext uri="{FF2B5EF4-FFF2-40B4-BE49-F238E27FC236}">
                  <a16:creationId xmlns:a16="http://schemas.microsoft.com/office/drawing/2014/main" id="{9AC20A70-3E6E-6701-0DF7-BAFCD736B16E}"/>
                </a:ext>
              </a:extLst>
            </p:cNvPr>
            <p:cNvSpPr txBox="1"/>
            <p:nvPr>
              <p:custDataLst>
                <p:tags r:id="rId4"/>
              </p:custDataLst>
            </p:nvPr>
          </p:nvSpPr>
          <p:spPr>
            <a:xfrm>
              <a:off x="6755714" y="2303488"/>
              <a:ext cx="402960" cy="430400"/>
            </a:xfrm>
            <a:prstGeom prst="rect">
              <a:avLst/>
            </a:prstGeom>
            <a:solidFill>
              <a:srgbClr val="00B050"/>
            </a:solidFill>
            <a:effectLst/>
          </p:spPr>
          <p:txBody>
            <a:bodyPr wrap="none" rtlCol="0">
              <a:spAutoFit/>
            </a:bodyPr>
            <a:lstStyle>
              <a:defPPr>
                <a:defRPr lang="zh-CN"/>
              </a:defPPr>
              <a:lvl1pPr algn="ctr">
                <a:defRPr sz="2800" b="1">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03</a:t>
              </a:r>
              <a:endParaRPr kumimoji="0" lang="zh-CN" altLang="en-US" sz="2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90" name="3">
              <a:extLst>
                <a:ext uri="{FF2B5EF4-FFF2-40B4-BE49-F238E27FC236}">
                  <a16:creationId xmlns:a16="http://schemas.microsoft.com/office/drawing/2014/main" id="{0D8DD3C7-9CD3-D945-06BB-7155ED002205}"/>
                </a:ext>
              </a:extLst>
            </p:cNvPr>
            <p:cNvCxnSpPr>
              <a:cxnSpLocks/>
            </p:cNvCxnSpPr>
            <p:nvPr>
              <p:custDataLst>
                <p:tags r:id="rId5"/>
              </p:custDataLst>
            </p:nvPr>
          </p:nvCxnSpPr>
          <p:spPr>
            <a:xfrm flipV="1">
              <a:off x="6626307" y="4351367"/>
              <a:ext cx="4872933" cy="1456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201" name="文本框 200">
            <a:extLst>
              <a:ext uri="{FF2B5EF4-FFF2-40B4-BE49-F238E27FC236}">
                <a16:creationId xmlns:a16="http://schemas.microsoft.com/office/drawing/2014/main" id="{DB316A47-D974-11D6-10A8-493C66FAA0E9}"/>
              </a:ext>
            </a:extLst>
          </p:cNvPr>
          <p:cNvSpPr txBox="1"/>
          <p:nvPr/>
        </p:nvSpPr>
        <p:spPr>
          <a:xfrm>
            <a:off x="8852030" y="2824683"/>
            <a:ext cx="2639784" cy="17543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需要另一个维度定义优先级</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优先级分层级</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优先级跟资源分配规则如</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FIFS, Fair Share</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需要关联关系</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05" name="右大括号 204">
            <a:extLst>
              <a:ext uri="{FF2B5EF4-FFF2-40B4-BE49-F238E27FC236}">
                <a16:creationId xmlns:a16="http://schemas.microsoft.com/office/drawing/2014/main" id="{05228AE4-E6A4-CAEB-10EF-2A718ADAA115}"/>
              </a:ext>
            </a:extLst>
          </p:cNvPr>
          <p:cNvSpPr/>
          <p:nvPr/>
        </p:nvSpPr>
        <p:spPr>
          <a:xfrm>
            <a:off x="8014063" y="1724297"/>
            <a:ext cx="627143" cy="3912325"/>
          </a:xfrm>
          <a:prstGeom prst="rightBrace">
            <a:avLst/>
          </a:prstGeom>
          <a:ln w="38100">
            <a:tailEnd type="none"/>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403810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0" animBg="1"/>
      <p:bldP spid="205"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a:extLst>
              <a:ext uri="{FF2B5EF4-FFF2-40B4-BE49-F238E27FC236}">
                <a16:creationId xmlns:a16="http://schemas.microsoft.com/office/drawing/2014/main" id="{44AF93DA-0BAF-2691-01B6-E73E75AF38FA}"/>
              </a:ext>
            </a:extLst>
          </p:cNvPr>
          <p:cNvGraphicFramePr/>
          <p:nvPr/>
        </p:nvGraphicFramePr>
        <p:xfrm>
          <a:off x="834439" y="1274895"/>
          <a:ext cx="8774489" cy="4956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标题 1">
            <a:extLst>
              <a:ext uri="{FF2B5EF4-FFF2-40B4-BE49-F238E27FC236}">
                <a16:creationId xmlns:a16="http://schemas.microsoft.com/office/drawing/2014/main" id="{4F47046D-8E1A-331D-D302-8B002383D4DA}"/>
              </a:ext>
            </a:extLst>
          </p:cNvPr>
          <p:cNvSpPr>
            <a:spLocks noGrp="1"/>
          </p:cNvSpPr>
          <p:nvPr>
            <p:ph type="title"/>
          </p:nvPr>
        </p:nvSpPr>
        <p:spPr/>
        <p:txBody>
          <a:bodyPr/>
          <a:lstStyle/>
          <a:p>
            <a:r>
              <a:rPr lang="en-US" altLang="zh-CN" sz="2800" dirty="0">
                <a:latin typeface="Arial" panose="020B0604020202020204" pitchFamily="34" charset="0"/>
                <a:ea typeface="微软雅黑" panose="020B0503020204020204" pitchFamily="34" charset="-122"/>
              </a:rPr>
              <a:t>Allocation – </a:t>
            </a:r>
            <a:r>
              <a:rPr lang="zh-CN" altLang="en-US" sz="2800" dirty="0">
                <a:latin typeface="Arial" panose="020B0604020202020204" pitchFamily="34" charset="0"/>
                <a:ea typeface="微软雅黑" panose="020B0503020204020204" pitchFamily="34" charset="-122"/>
              </a:rPr>
              <a:t>战略优先，公平公正</a:t>
            </a:r>
            <a:endParaRPr lang="zh-CN" altLang="en-US" dirty="0">
              <a:latin typeface="Arial" panose="020B0604020202020204" pitchFamily="34" charset="0"/>
              <a:ea typeface="微软雅黑" panose="020B0503020204020204" pitchFamily="34" charset="-122"/>
            </a:endParaRPr>
          </a:p>
        </p:txBody>
      </p:sp>
      <p:sp>
        <p:nvSpPr>
          <p:cNvPr id="2" name="文本框 1">
            <a:extLst>
              <a:ext uri="{FF2B5EF4-FFF2-40B4-BE49-F238E27FC236}">
                <a16:creationId xmlns:a16="http://schemas.microsoft.com/office/drawing/2014/main" id="{9EA68739-BF0C-C79D-6E83-C84240C6EE8E}"/>
              </a:ext>
            </a:extLst>
          </p:cNvPr>
          <p:cNvSpPr txBox="1"/>
          <p:nvPr/>
        </p:nvSpPr>
        <p:spPr>
          <a:xfrm>
            <a:off x="4265021" y="2695869"/>
            <a:ext cx="14260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PRC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CL : High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 800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Surplus: 900</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文本框 5">
            <a:extLst>
              <a:ext uri="{FF2B5EF4-FFF2-40B4-BE49-F238E27FC236}">
                <a16:creationId xmlns:a16="http://schemas.microsoft.com/office/drawing/2014/main" id="{00FF76DC-D809-FA43-833C-5BA38644082A}"/>
              </a:ext>
            </a:extLst>
          </p:cNvPr>
          <p:cNvSpPr txBox="1"/>
          <p:nvPr/>
        </p:nvSpPr>
        <p:spPr>
          <a:xfrm>
            <a:off x="6198349" y="2642009"/>
            <a:ext cx="1861434" cy="938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Others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CL : Mid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 900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Assignment Rule : </a:t>
            </a:r>
            <a:r>
              <a:rPr kumimoji="0" lang="en-US" altLang="zh-CN" sz="11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FairShare</a:t>
            </a:r>
            <a:endPar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文本框 6">
            <a:extLst>
              <a:ext uri="{FF2B5EF4-FFF2-40B4-BE49-F238E27FC236}">
                <a16:creationId xmlns:a16="http://schemas.microsoft.com/office/drawing/2014/main" id="{9543DB32-5E54-778C-CB40-84DBC8251998}"/>
              </a:ext>
            </a:extLst>
          </p:cNvPr>
          <p:cNvSpPr txBox="1"/>
          <p:nvPr/>
        </p:nvSpPr>
        <p:spPr>
          <a:xfrm>
            <a:off x="5044979" y="3940308"/>
            <a:ext cx="1919162" cy="938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Qty : 1500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Ratio: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 500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Assignment Rule : Equal</a:t>
            </a:r>
          </a:p>
        </p:txBody>
      </p:sp>
      <p:sp>
        <p:nvSpPr>
          <p:cNvPr id="8" name="文本框 7">
            <a:extLst>
              <a:ext uri="{FF2B5EF4-FFF2-40B4-BE49-F238E27FC236}">
                <a16:creationId xmlns:a16="http://schemas.microsoft.com/office/drawing/2014/main" id="{FB166968-117C-C6BB-28C0-569092E293D1}"/>
              </a:ext>
            </a:extLst>
          </p:cNvPr>
          <p:cNvSpPr txBox="1"/>
          <p:nvPr/>
        </p:nvSpPr>
        <p:spPr>
          <a:xfrm>
            <a:off x="7220506" y="3966716"/>
            <a:ext cx="186143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EUR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Qty : 1200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Ratio: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400</a:t>
            </a:r>
          </a:p>
        </p:txBody>
      </p:sp>
      <p:sp>
        <p:nvSpPr>
          <p:cNvPr id="9" name="文本框 8">
            <a:extLst>
              <a:ext uri="{FF2B5EF4-FFF2-40B4-BE49-F238E27FC236}">
                <a16:creationId xmlns:a16="http://schemas.microsoft.com/office/drawing/2014/main" id="{5D440061-FFEC-4D87-26E2-FEECA5161012}"/>
              </a:ext>
            </a:extLst>
          </p:cNvPr>
          <p:cNvSpPr txBox="1"/>
          <p:nvPr/>
        </p:nvSpPr>
        <p:spPr>
          <a:xfrm>
            <a:off x="4372781" y="5366816"/>
            <a:ext cx="1919162"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Qty : 400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 250</a:t>
            </a:r>
          </a:p>
        </p:txBody>
      </p:sp>
      <p:sp>
        <p:nvSpPr>
          <p:cNvPr id="10" name="文本框 9">
            <a:extLst>
              <a:ext uri="{FF2B5EF4-FFF2-40B4-BE49-F238E27FC236}">
                <a16:creationId xmlns:a16="http://schemas.microsoft.com/office/drawing/2014/main" id="{3A83BAE4-3018-0C52-9E25-D56FBD519CEC}"/>
              </a:ext>
            </a:extLst>
          </p:cNvPr>
          <p:cNvSpPr txBox="1"/>
          <p:nvPr/>
        </p:nvSpPr>
        <p:spPr>
          <a:xfrm>
            <a:off x="6198349" y="5366816"/>
            <a:ext cx="1861434"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Hierarchy : 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Request Qty : 300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Assigned: 250</a:t>
            </a:r>
          </a:p>
        </p:txBody>
      </p:sp>
    </p:spTree>
    <p:extLst>
      <p:ext uri="{BB962C8B-B14F-4D97-AF65-F5344CB8AC3E}">
        <p14:creationId xmlns:p14="http://schemas.microsoft.com/office/powerpoint/2010/main" val="39726151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7AC0C-FFCF-B45D-4F0F-5E6D91B10662}"/>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Allocation</a:t>
            </a:r>
            <a:r>
              <a:rPr lang="en-US" altLang="zh-CN" sz="2800" dirty="0">
                <a:latin typeface="Arial" panose="020B0604020202020204" pitchFamily="34" charset="0"/>
                <a:ea typeface="微软雅黑" panose="020B0503020204020204" pitchFamily="34" charset="-122"/>
              </a:rPr>
              <a:t> – </a:t>
            </a:r>
            <a:r>
              <a:rPr lang="zh-CN" altLang="en-US" sz="2800" dirty="0">
                <a:latin typeface="Arial" panose="020B0604020202020204" pitchFamily="34" charset="0"/>
                <a:ea typeface="微软雅黑" panose="020B0503020204020204" pitchFamily="34" charset="-122"/>
              </a:rPr>
              <a:t>分配规则与优先级</a:t>
            </a:r>
            <a:endParaRPr lang="zh-CN" altLang="en-US" dirty="0">
              <a:latin typeface="Arial" panose="020B0604020202020204" pitchFamily="34" charset="0"/>
              <a:ea typeface="微软雅黑" panose="020B0503020204020204" pitchFamily="34" charset="-122"/>
            </a:endParaRPr>
          </a:p>
        </p:txBody>
      </p:sp>
      <p:sp>
        <p:nvSpPr>
          <p:cNvPr id="4" name="矩形 3">
            <a:extLst>
              <a:ext uri="{FF2B5EF4-FFF2-40B4-BE49-F238E27FC236}">
                <a16:creationId xmlns:a16="http://schemas.microsoft.com/office/drawing/2014/main" id="{7A91DEE0-FEC9-6131-E2A3-AE59C7C99223}"/>
              </a:ext>
            </a:extLst>
          </p:cNvPr>
          <p:cNvSpPr/>
          <p:nvPr/>
        </p:nvSpPr>
        <p:spPr>
          <a:xfrm>
            <a:off x="1800225" y="1821723"/>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Customer Hierarchy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矩形 4">
            <a:extLst>
              <a:ext uri="{FF2B5EF4-FFF2-40B4-BE49-F238E27FC236}">
                <a16:creationId xmlns:a16="http://schemas.microsoft.com/office/drawing/2014/main" id="{732C3503-AE0E-57E7-5FA2-5FA810CBE828}"/>
              </a:ext>
            </a:extLst>
          </p:cNvPr>
          <p:cNvSpPr/>
          <p:nvPr/>
        </p:nvSpPr>
        <p:spPr>
          <a:xfrm>
            <a:off x="1800225" y="2625029"/>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Region Hierarchy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矩形 5">
            <a:extLst>
              <a:ext uri="{FF2B5EF4-FFF2-40B4-BE49-F238E27FC236}">
                <a16:creationId xmlns:a16="http://schemas.microsoft.com/office/drawing/2014/main" id="{80FEA5CE-16B8-52D6-C024-8CA3F9CFE5FE}"/>
              </a:ext>
            </a:extLst>
          </p:cNvPr>
          <p:cNvSpPr/>
          <p:nvPr/>
        </p:nvSpPr>
        <p:spPr>
          <a:xfrm>
            <a:off x="1800225" y="3409285"/>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 Hierarchy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6">
            <a:extLst>
              <a:ext uri="{FF2B5EF4-FFF2-40B4-BE49-F238E27FC236}">
                <a16:creationId xmlns:a16="http://schemas.microsoft.com/office/drawing/2014/main" id="{9DB5E472-CFA4-2C37-809D-DF73413984F8}"/>
              </a:ext>
            </a:extLst>
          </p:cNvPr>
          <p:cNvSpPr/>
          <p:nvPr/>
        </p:nvSpPr>
        <p:spPr>
          <a:xfrm>
            <a:off x="4229100" y="2615504"/>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Combine Hierarchy </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 name="连接符: 肘形 7">
            <a:extLst>
              <a:ext uri="{FF2B5EF4-FFF2-40B4-BE49-F238E27FC236}">
                <a16:creationId xmlns:a16="http://schemas.microsoft.com/office/drawing/2014/main" id="{6B03F757-A4AF-1C67-1EC3-091DDA7CEDDC}"/>
              </a:ext>
            </a:extLst>
          </p:cNvPr>
          <p:cNvCxnSpPr>
            <a:cxnSpLocks/>
            <a:stCxn id="4" idx="3"/>
            <a:endCxn id="7" idx="1"/>
          </p:cNvCxnSpPr>
          <p:nvPr/>
        </p:nvCxnSpPr>
        <p:spPr>
          <a:xfrm>
            <a:off x="3762375" y="2040798"/>
            <a:ext cx="466725" cy="7937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E9D90BFD-8A85-CE51-DA58-5279FC377CA0}"/>
              </a:ext>
            </a:extLst>
          </p:cNvPr>
          <p:cNvCxnSpPr>
            <a:cxnSpLocks/>
            <a:stCxn id="5" idx="3"/>
            <a:endCxn id="7" idx="1"/>
          </p:cNvCxnSpPr>
          <p:nvPr/>
        </p:nvCxnSpPr>
        <p:spPr>
          <a:xfrm flipV="1">
            <a:off x="3762375" y="2834579"/>
            <a:ext cx="466725" cy="952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882CAF2F-E9F6-6B8F-9C5B-8E45D1B6A46F}"/>
              </a:ext>
            </a:extLst>
          </p:cNvPr>
          <p:cNvCxnSpPr>
            <a:cxnSpLocks/>
            <a:stCxn id="6" idx="3"/>
            <a:endCxn id="7" idx="1"/>
          </p:cNvCxnSpPr>
          <p:nvPr/>
        </p:nvCxnSpPr>
        <p:spPr>
          <a:xfrm flipV="1">
            <a:off x="3762375" y="2834579"/>
            <a:ext cx="466725" cy="793781"/>
          </a:xfrm>
          <a:prstGeom prst="bentConnector3">
            <a:avLst>
              <a:gd name="adj1" fmla="val 50000"/>
            </a:avLst>
          </a:prstGeom>
          <a:ln>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1" name="表格 10">
            <a:extLst>
              <a:ext uri="{FF2B5EF4-FFF2-40B4-BE49-F238E27FC236}">
                <a16:creationId xmlns:a16="http://schemas.microsoft.com/office/drawing/2014/main" id="{287BF8BF-24AA-73A4-500B-B076E6E0230E}"/>
              </a:ext>
            </a:extLst>
          </p:cNvPr>
          <p:cNvGraphicFramePr>
            <a:graphicFrameLocks noGrp="1"/>
          </p:cNvGraphicFramePr>
          <p:nvPr>
            <p:extLst>
              <p:ext uri="{D42A27DB-BD31-4B8C-83A1-F6EECF244321}">
                <p14:modId xmlns:p14="http://schemas.microsoft.com/office/powerpoint/2010/main" val="1382855335"/>
              </p:ext>
            </p:extLst>
          </p:nvPr>
        </p:nvGraphicFramePr>
        <p:xfrm>
          <a:off x="7000875" y="2504410"/>
          <a:ext cx="1803689" cy="1691640"/>
        </p:xfrm>
        <a:graphic>
          <a:graphicData uri="http://schemas.openxmlformats.org/drawingml/2006/table">
            <a:tbl>
              <a:tblPr firstRow="1" bandRow="1">
                <a:tableStyleId>{69012ECD-51FC-41F1-AA8D-1B2483CD663E}</a:tableStyleId>
              </a:tblPr>
              <a:tblGrid>
                <a:gridCol w="1803689">
                  <a:extLst>
                    <a:ext uri="{9D8B030D-6E8A-4147-A177-3AD203B41FA5}">
                      <a16:colId xmlns:a16="http://schemas.microsoft.com/office/drawing/2014/main" val="1344018333"/>
                    </a:ext>
                  </a:extLst>
                </a:gridCol>
              </a:tblGrid>
              <a:tr h="370840">
                <a:tc>
                  <a:txBody>
                    <a:bodyPr/>
                    <a:lstStyle/>
                    <a:p>
                      <a:r>
                        <a:rPr lang="en-US" altLang="zh-CN" sz="1600" dirty="0">
                          <a:solidFill>
                            <a:schemeClr val="tx1"/>
                          </a:solidFill>
                          <a:latin typeface="Arial" panose="020B0604020202020204" pitchFamily="34" charset="0"/>
                          <a:ea typeface="微软雅黑" panose="020B0503020204020204" pitchFamily="34" charset="-122"/>
                        </a:rPr>
                        <a:t>Commitment</a:t>
                      </a:r>
                      <a:r>
                        <a:rPr lang="en-US" altLang="zh-CN" sz="1600" dirty="0">
                          <a:latin typeface="Arial" panose="020B0604020202020204" pitchFamily="34" charset="0"/>
                          <a:ea typeface="微软雅黑" panose="020B0503020204020204" pitchFamily="34" charset="-122"/>
                        </a:rPr>
                        <a:t> </a:t>
                      </a:r>
                      <a:r>
                        <a:rPr lang="en-US" altLang="zh-CN" sz="1600" dirty="0">
                          <a:solidFill>
                            <a:schemeClr val="tx1"/>
                          </a:solidFill>
                          <a:latin typeface="Arial" panose="020B0604020202020204" pitchFamily="34" charset="0"/>
                          <a:ea typeface="微软雅黑" panose="020B0503020204020204" pitchFamily="34" charset="-122"/>
                        </a:rPr>
                        <a:t>Level</a:t>
                      </a:r>
                      <a:endParaRPr lang="zh-CN" altLang="en-US" sz="1600"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24863052"/>
                  </a:ext>
                </a:extLst>
              </a:tr>
              <a:tr h="370840">
                <a:tc>
                  <a:txBody>
                    <a:bodyPr/>
                    <a:lstStyle/>
                    <a:p>
                      <a:r>
                        <a:rPr lang="en-US" altLang="zh-CN" dirty="0">
                          <a:latin typeface="Arial" panose="020B0604020202020204" pitchFamily="34" charset="0"/>
                          <a:ea typeface="微软雅黑" panose="020B0503020204020204" pitchFamily="34" charset="-122"/>
                        </a:rPr>
                        <a:t>High</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1267451"/>
                  </a:ext>
                </a:extLst>
              </a:tr>
              <a:tr h="370840">
                <a:tc>
                  <a:txBody>
                    <a:bodyPr/>
                    <a:lstStyle/>
                    <a:p>
                      <a:r>
                        <a:rPr lang="en-US" altLang="zh-CN" dirty="0">
                          <a:latin typeface="Arial" panose="020B0604020202020204" pitchFamily="34" charset="0"/>
                          <a:ea typeface="微软雅黑" panose="020B0503020204020204" pitchFamily="34" charset="-122"/>
                        </a:rPr>
                        <a:t>Med</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5476801"/>
                  </a:ext>
                </a:extLst>
              </a:tr>
              <a:tr h="370840">
                <a:tc>
                  <a:txBody>
                    <a:bodyPr/>
                    <a:lstStyle/>
                    <a:p>
                      <a:r>
                        <a:rPr lang="en-US" altLang="zh-CN" dirty="0">
                          <a:latin typeface="Arial" panose="020B0604020202020204" pitchFamily="34" charset="0"/>
                          <a:ea typeface="微软雅黑" panose="020B0503020204020204" pitchFamily="34" charset="-122"/>
                        </a:rPr>
                        <a:t>Low</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30948682"/>
                  </a:ext>
                </a:extLst>
              </a:tr>
            </a:tbl>
          </a:graphicData>
        </a:graphic>
      </p:graphicFrame>
      <p:graphicFrame>
        <p:nvGraphicFramePr>
          <p:cNvPr id="12" name="表格 11">
            <a:extLst>
              <a:ext uri="{FF2B5EF4-FFF2-40B4-BE49-F238E27FC236}">
                <a16:creationId xmlns:a16="http://schemas.microsoft.com/office/drawing/2014/main" id="{B3FC312E-731F-2A8B-8989-6AFB6D8522CD}"/>
              </a:ext>
            </a:extLst>
          </p:cNvPr>
          <p:cNvGraphicFramePr>
            <a:graphicFrameLocks noGrp="1"/>
          </p:cNvGraphicFramePr>
          <p:nvPr>
            <p:extLst>
              <p:ext uri="{D42A27DB-BD31-4B8C-83A1-F6EECF244321}">
                <p14:modId xmlns:p14="http://schemas.microsoft.com/office/powerpoint/2010/main" val="1788344422"/>
              </p:ext>
            </p:extLst>
          </p:nvPr>
        </p:nvGraphicFramePr>
        <p:xfrm>
          <a:off x="9296404" y="2504410"/>
          <a:ext cx="1828796" cy="1483360"/>
        </p:xfrm>
        <a:graphic>
          <a:graphicData uri="http://schemas.openxmlformats.org/drawingml/2006/table">
            <a:tbl>
              <a:tblPr firstRow="1" bandRow="1">
                <a:tableStyleId>{69012ECD-51FC-41F1-AA8D-1B2483CD663E}</a:tableStyleId>
              </a:tblPr>
              <a:tblGrid>
                <a:gridCol w="1828796">
                  <a:extLst>
                    <a:ext uri="{9D8B030D-6E8A-4147-A177-3AD203B41FA5}">
                      <a16:colId xmlns:a16="http://schemas.microsoft.com/office/drawing/2014/main" val="1344018333"/>
                    </a:ext>
                  </a:extLst>
                </a:gridCol>
              </a:tblGrid>
              <a:tr h="370840">
                <a:tc>
                  <a:txBody>
                    <a:bodyPr/>
                    <a:lstStyle/>
                    <a:p>
                      <a:r>
                        <a:rPr lang="en-US" altLang="zh-CN" sz="1600" b="1" kern="1200" dirty="0">
                          <a:solidFill>
                            <a:schemeClr val="tx1"/>
                          </a:solidFill>
                          <a:latin typeface="Arial" panose="020B0604020202020204" pitchFamily="34" charset="0"/>
                          <a:ea typeface="微软雅黑" panose="020B0503020204020204" pitchFamily="34" charset="-122"/>
                        </a:rPr>
                        <a:t>Allocation</a:t>
                      </a:r>
                      <a:r>
                        <a:rPr lang="en-US" altLang="zh-CN" dirty="0">
                          <a:latin typeface="Arial" panose="020B0604020202020204" pitchFamily="34" charset="0"/>
                          <a:ea typeface="微软雅黑" panose="020B0503020204020204" pitchFamily="34" charset="-122"/>
                        </a:rPr>
                        <a:t> </a:t>
                      </a:r>
                      <a:r>
                        <a:rPr lang="en-US" altLang="zh-CN" dirty="0">
                          <a:solidFill>
                            <a:schemeClr val="tx1"/>
                          </a:solidFill>
                          <a:latin typeface="Arial" panose="020B0604020202020204" pitchFamily="34" charset="0"/>
                          <a:ea typeface="微软雅黑" panose="020B0503020204020204" pitchFamily="34" charset="-122"/>
                        </a:rPr>
                        <a:t>Rule</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24863052"/>
                  </a:ext>
                </a:extLst>
              </a:tr>
              <a:tr h="370840">
                <a:tc>
                  <a:txBody>
                    <a:bodyPr/>
                    <a:lstStyle/>
                    <a:p>
                      <a:r>
                        <a:rPr lang="en-US" altLang="zh-CN" dirty="0">
                          <a:latin typeface="Arial" panose="020B0604020202020204" pitchFamily="34" charset="0"/>
                          <a:ea typeface="微软雅黑" panose="020B0503020204020204" pitchFamily="34" charset="-122"/>
                        </a:rPr>
                        <a:t>FIFS</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1267451"/>
                  </a:ext>
                </a:extLst>
              </a:tr>
              <a:tr h="370840">
                <a:tc>
                  <a:txBody>
                    <a:bodyPr/>
                    <a:lstStyle/>
                    <a:p>
                      <a:r>
                        <a:rPr lang="en-US" altLang="zh-CN" dirty="0" err="1">
                          <a:latin typeface="Arial" panose="020B0604020202020204" pitchFamily="34" charset="0"/>
                          <a:ea typeface="微软雅黑" panose="020B0503020204020204" pitchFamily="34" charset="-122"/>
                        </a:rPr>
                        <a:t>FairShare</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5476801"/>
                  </a:ext>
                </a:extLst>
              </a:tr>
              <a:tr h="370840">
                <a:tc>
                  <a:txBody>
                    <a:bodyPr/>
                    <a:lstStyle/>
                    <a:p>
                      <a:r>
                        <a:rPr lang="en-US" altLang="zh-CN" dirty="0" err="1">
                          <a:latin typeface="Arial" panose="020B0604020202020204" pitchFamily="34" charset="0"/>
                          <a:ea typeface="微软雅黑" panose="020B0503020204020204" pitchFamily="34" charset="-122"/>
                        </a:rPr>
                        <a:t>EqualShare</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30948682"/>
                  </a:ext>
                </a:extLst>
              </a:tr>
            </a:tbl>
          </a:graphicData>
        </a:graphic>
      </p:graphicFrame>
      <p:cxnSp>
        <p:nvCxnSpPr>
          <p:cNvPr id="13" name="连接符: 肘形 12">
            <a:extLst>
              <a:ext uri="{FF2B5EF4-FFF2-40B4-BE49-F238E27FC236}">
                <a16:creationId xmlns:a16="http://schemas.microsoft.com/office/drawing/2014/main" id="{9F2CC22A-20EE-9D7C-6D23-BB5C5B6213B0}"/>
              </a:ext>
            </a:extLst>
          </p:cNvPr>
          <p:cNvCxnSpPr>
            <a:stCxn id="7" idx="3"/>
          </p:cNvCxnSpPr>
          <p:nvPr/>
        </p:nvCxnSpPr>
        <p:spPr>
          <a:xfrm>
            <a:off x="6191250" y="2834579"/>
            <a:ext cx="809625" cy="12700"/>
          </a:xfrm>
          <a:prstGeom prst="bentConnector3">
            <a:avLst>
              <a:gd name="adj1" fmla="val 98235"/>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BCC02410-4DED-6ED3-59DB-9F89506F71FB}"/>
              </a:ext>
            </a:extLst>
          </p:cNvPr>
          <p:cNvSpPr txBox="1"/>
          <p:nvPr/>
        </p:nvSpPr>
        <p:spPr>
          <a:xfrm>
            <a:off x="6048375" y="2227411"/>
            <a:ext cx="16287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Prioritization</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5" name="连接符: 肘形 14">
            <a:extLst>
              <a:ext uri="{FF2B5EF4-FFF2-40B4-BE49-F238E27FC236}">
                <a16:creationId xmlns:a16="http://schemas.microsoft.com/office/drawing/2014/main" id="{E55B0CC0-88EB-1686-3B61-5A876AF5B5E2}"/>
              </a:ext>
            </a:extLst>
          </p:cNvPr>
          <p:cNvCxnSpPr/>
          <p:nvPr/>
        </p:nvCxnSpPr>
        <p:spPr>
          <a:xfrm>
            <a:off x="8353425" y="2834579"/>
            <a:ext cx="942979" cy="12700"/>
          </a:xfrm>
          <a:prstGeom prst="bentConnector3">
            <a:avLst>
              <a:gd name="adj1" fmla="val 1515"/>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8E4738B-F584-BF50-CD84-72EE2017E4B2}"/>
              </a:ext>
            </a:extLst>
          </p:cNvPr>
          <p:cNvSpPr txBox="1"/>
          <p:nvPr/>
        </p:nvSpPr>
        <p:spPr>
          <a:xfrm>
            <a:off x="886689" y="1181099"/>
            <a:ext cx="14058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业务模型</a:t>
            </a:r>
          </a:p>
        </p:txBody>
      </p:sp>
      <p:graphicFrame>
        <p:nvGraphicFramePr>
          <p:cNvPr id="17" name="表格 16">
            <a:extLst>
              <a:ext uri="{FF2B5EF4-FFF2-40B4-BE49-F238E27FC236}">
                <a16:creationId xmlns:a16="http://schemas.microsoft.com/office/drawing/2014/main" id="{2D093A7D-2E35-B455-312E-E309A333A85E}"/>
              </a:ext>
            </a:extLst>
          </p:cNvPr>
          <p:cNvGraphicFramePr>
            <a:graphicFrameLocks noGrp="1"/>
          </p:cNvGraphicFramePr>
          <p:nvPr>
            <p:extLst>
              <p:ext uri="{D42A27DB-BD31-4B8C-83A1-F6EECF244321}">
                <p14:modId xmlns:p14="http://schemas.microsoft.com/office/powerpoint/2010/main" val="927285996"/>
              </p:ext>
            </p:extLst>
          </p:nvPr>
        </p:nvGraphicFramePr>
        <p:xfrm>
          <a:off x="4533900" y="4635106"/>
          <a:ext cx="1352550" cy="1478280"/>
        </p:xfrm>
        <a:graphic>
          <a:graphicData uri="http://schemas.openxmlformats.org/drawingml/2006/table">
            <a:tbl>
              <a:tblPr firstRow="1" bandRow="1">
                <a:tableStyleId>{69012ECD-51FC-41F1-AA8D-1B2483CD663E}</a:tableStyleId>
              </a:tblPr>
              <a:tblGrid>
                <a:gridCol w="1352550">
                  <a:extLst>
                    <a:ext uri="{9D8B030D-6E8A-4147-A177-3AD203B41FA5}">
                      <a16:colId xmlns:a16="http://schemas.microsoft.com/office/drawing/2014/main" val="1344018333"/>
                    </a:ext>
                  </a:extLst>
                </a:gridCol>
              </a:tblGrid>
              <a:tr h="353060">
                <a:tc>
                  <a:txBody>
                    <a:bodyPr/>
                    <a:lstStyle/>
                    <a:p>
                      <a:r>
                        <a:rPr lang="en-US" altLang="zh-CN" dirty="0">
                          <a:solidFill>
                            <a:schemeClr val="tx1"/>
                          </a:solidFill>
                          <a:latin typeface="Arial" panose="020B0604020202020204" pitchFamily="34" charset="0"/>
                          <a:ea typeface="微软雅黑" panose="020B0503020204020204" pitchFamily="34" charset="-122"/>
                        </a:rPr>
                        <a:t>Buckets</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24863052"/>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Day</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1267451"/>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Week</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5476801"/>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Month</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30948682"/>
                  </a:ext>
                </a:extLst>
              </a:tr>
            </a:tbl>
          </a:graphicData>
        </a:graphic>
      </p:graphicFrame>
      <p:graphicFrame>
        <p:nvGraphicFramePr>
          <p:cNvPr id="18" name="表格 17">
            <a:extLst>
              <a:ext uri="{FF2B5EF4-FFF2-40B4-BE49-F238E27FC236}">
                <a16:creationId xmlns:a16="http://schemas.microsoft.com/office/drawing/2014/main" id="{84F6830D-0197-8EE5-4C32-451CA7C4DD5C}"/>
              </a:ext>
            </a:extLst>
          </p:cNvPr>
          <p:cNvGraphicFramePr>
            <a:graphicFrameLocks noGrp="1"/>
          </p:cNvGraphicFramePr>
          <p:nvPr>
            <p:extLst>
              <p:ext uri="{D42A27DB-BD31-4B8C-83A1-F6EECF244321}">
                <p14:modId xmlns:p14="http://schemas.microsoft.com/office/powerpoint/2010/main" val="4057845697"/>
              </p:ext>
            </p:extLst>
          </p:nvPr>
        </p:nvGraphicFramePr>
        <p:xfrm>
          <a:off x="6222206" y="4653793"/>
          <a:ext cx="1352550" cy="1463040"/>
        </p:xfrm>
        <a:graphic>
          <a:graphicData uri="http://schemas.openxmlformats.org/drawingml/2006/table">
            <a:tbl>
              <a:tblPr firstRow="1" bandRow="1">
                <a:tableStyleId>{69012ECD-51FC-41F1-AA8D-1B2483CD663E}</a:tableStyleId>
              </a:tblPr>
              <a:tblGrid>
                <a:gridCol w="1352550">
                  <a:extLst>
                    <a:ext uri="{9D8B030D-6E8A-4147-A177-3AD203B41FA5}">
                      <a16:colId xmlns:a16="http://schemas.microsoft.com/office/drawing/2014/main" val="1344018333"/>
                    </a:ext>
                  </a:extLst>
                </a:gridCol>
              </a:tblGrid>
              <a:tr h="344718">
                <a:tc>
                  <a:txBody>
                    <a:bodyPr/>
                    <a:lstStyle/>
                    <a:p>
                      <a:r>
                        <a:rPr lang="en-US" altLang="zh-CN" dirty="0">
                          <a:solidFill>
                            <a:schemeClr val="tx1"/>
                          </a:solidFill>
                          <a:latin typeface="Arial" panose="020B0604020202020204" pitchFamily="34" charset="0"/>
                          <a:ea typeface="微软雅黑" panose="020B0503020204020204" pitchFamily="34" charset="-122"/>
                        </a:rPr>
                        <a:t>Intervals</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24863052"/>
                  </a:ext>
                </a:extLst>
              </a:tr>
              <a:tr h="349506">
                <a:tc>
                  <a:txBody>
                    <a:bodyPr/>
                    <a:lstStyle/>
                    <a:p>
                      <a:r>
                        <a:rPr lang="en-US" altLang="zh-CN" dirty="0">
                          <a:solidFill>
                            <a:schemeClr val="tx1"/>
                          </a:solidFill>
                          <a:latin typeface="Arial" panose="020B0604020202020204" pitchFamily="34" charset="0"/>
                          <a:ea typeface="微软雅黑" panose="020B0503020204020204" pitchFamily="34" charset="-122"/>
                        </a:rPr>
                        <a:t>1</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1267451"/>
                  </a:ext>
                </a:extLst>
              </a:tr>
              <a:tr h="349506">
                <a:tc>
                  <a:txBody>
                    <a:bodyPr/>
                    <a:lstStyle/>
                    <a:p>
                      <a:r>
                        <a:rPr lang="en-US" altLang="zh-CN" dirty="0">
                          <a:solidFill>
                            <a:schemeClr val="tx1"/>
                          </a:solidFill>
                          <a:latin typeface="Arial" panose="020B0604020202020204" pitchFamily="34" charset="0"/>
                          <a:ea typeface="微软雅黑" panose="020B0503020204020204" pitchFamily="34" charset="-122"/>
                        </a:rPr>
                        <a:t>3</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5476801"/>
                  </a:ext>
                </a:extLst>
              </a:tr>
              <a:tr h="349506">
                <a:tc>
                  <a:txBody>
                    <a:bodyPr/>
                    <a:lstStyle/>
                    <a:p>
                      <a:r>
                        <a:rPr lang="en-US" altLang="zh-CN" dirty="0">
                          <a:solidFill>
                            <a:schemeClr val="tx1"/>
                          </a:solidFill>
                          <a:latin typeface="Arial" panose="020B0604020202020204" pitchFamily="34" charset="0"/>
                          <a:ea typeface="微软雅黑" panose="020B0503020204020204" pitchFamily="34" charset="-122"/>
                        </a:rPr>
                        <a:t>4</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30948682"/>
                  </a:ext>
                </a:extLst>
              </a:tr>
            </a:tbl>
          </a:graphicData>
        </a:graphic>
      </p:graphicFrame>
      <p:sp>
        <p:nvSpPr>
          <p:cNvPr id="19" name="矩形 18">
            <a:extLst>
              <a:ext uri="{FF2B5EF4-FFF2-40B4-BE49-F238E27FC236}">
                <a16:creationId xmlns:a16="http://schemas.microsoft.com/office/drawing/2014/main" id="{987BDC2F-BA8E-45F3-670F-91A7423B7985}"/>
              </a:ext>
            </a:extLst>
          </p:cNvPr>
          <p:cNvSpPr/>
          <p:nvPr/>
        </p:nvSpPr>
        <p:spPr>
          <a:xfrm>
            <a:off x="4229100" y="3371077"/>
            <a:ext cx="1962150" cy="438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 </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0" name="连接符: 肘形 19">
            <a:extLst>
              <a:ext uri="{FF2B5EF4-FFF2-40B4-BE49-F238E27FC236}">
                <a16:creationId xmlns:a16="http://schemas.microsoft.com/office/drawing/2014/main" id="{32680361-123D-81B4-D1B2-2BA2AF7BEC58}"/>
              </a:ext>
            </a:extLst>
          </p:cNvPr>
          <p:cNvCxnSpPr>
            <a:stCxn id="19" idx="0"/>
            <a:endCxn id="7" idx="2"/>
          </p:cNvCxnSpPr>
          <p:nvPr/>
        </p:nvCxnSpPr>
        <p:spPr>
          <a:xfrm rot="5400000" flipH="1" flipV="1">
            <a:off x="5056226" y="3217128"/>
            <a:ext cx="307898" cy="12700"/>
          </a:xfrm>
          <a:prstGeom prst="bentConnector3">
            <a:avLst>
              <a:gd name="adj1" fmla="val 114965"/>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表格 20">
            <a:extLst>
              <a:ext uri="{FF2B5EF4-FFF2-40B4-BE49-F238E27FC236}">
                <a16:creationId xmlns:a16="http://schemas.microsoft.com/office/drawing/2014/main" id="{7A516080-F5C5-6623-137A-139AFF202593}"/>
              </a:ext>
            </a:extLst>
          </p:cNvPr>
          <p:cNvGraphicFramePr>
            <a:graphicFrameLocks noGrp="1"/>
          </p:cNvGraphicFramePr>
          <p:nvPr>
            <p:extLst>
              <p:ext uri="{D42A27DB-BD31-4B8C-83A1-F6EECF244321}">
                <p14:modId xmlns:p14="http://schemas.microsoft.com/office/powerpoint/2010/main" val="597288647"/>
              </p:ext>
            </p:extLst>
          </p:nvPr>
        </p:nvGraphicFramePr>
        <p:xfrm>
          <a:off x="2571750" y="4624659"/>
          <a:ext cx="1676400" cy="1478280"/>
        </p:xfrm>
        <a:graphic>
          <a:graphicData uri="http://schemas.openxmlformats.org/drawingml/2006/table">
            <a:tbl>
              <a:tblPr firstRow="1" bandRow="1">
                <a:tableStyleId>{69012ECD-51FC-41F1-AA8D-1B2483CD663E}</a:tableStyleId>
              </a:tblPr>
              <a:tblGrid>
                <a:gridCol w="838200">
                  <a:extLst>
                    <a:ext uri="{9D8B030D-6E8A-4147-A177-3AD203B41FA5}">
                      <a16:colId xmlns:a16="http://schemas.microsoft.com/office/drawing/2014/main" val="1344018333"/>
                    </a:ext>
                  </a:extLst>
                </a:gridCol>
                <a:gridCol w="838200">
                  <a:extLst>
                    <a:ext uri="{9D8B030D-6E8A-4147-A177-3AD203B41FA5}">
                      <a16:colId xmlns:a16="http://schemas.microsoft.com/office/drawing/2014/main" val="1590128216"/>
                    </a:ext>
                  </a:extLst>
                </a:gridCol>
              </a:tblGrid>
              <a:tr h="353060">
                <a:tc gridSpan="2">
                  <a:txBody>
                    <a:bodyPr/>
                    <a:lstStyle/>
                    <a:p>
                      <a:pPr algn="ctr"/>
                      <a:r>
                        <a:rPr lang="en-US" altLang="zh-CN" dirty="0">
                          <a:solidFill>
                            <a:schemeClr val="tx1"/>
                          </a:solidFill>
                          <a:latin typeface="Arial" panose="020B0604020202020204" pitchFamily="34" charset="0"/>
                          <a:ea typeface="微软雅黑" panose="020B0503020204020204" pitchFamily="34" charset="-122"/>
                        </a:rPr>
                        <a:t>Round</a:t>
                      </a:r>
                      <a:endParaRPr lang="zh-CN" altLang="en-US" dirty="0">
                        <a:solidFill>
                          <a:schemeClr val="tx1"/>
                        </a:solidFill>
                        <a:latin typeface="Arial" panose="020B0604020202020204" pitchFamily="34" charset="0"/>
                        <a:ea typeface="微软雅黑" panose="020B0503020204020204" pitchFamily="34" charset="-122"/>
                      </a:endParaRPr>
                    </a:p>
                  </a:txBody>
                  <a:tcPr/>
                </a:tc>
                <a:tc hMerge="1">
                  <a:txBody>
                    <a:bodyPr/>
                    <a:lstStyle/>
                    <a:p>
                      <a:endParaRPr lang="zh-CN" altLang="en-US" dirty="0"/>
                    </a:p>
                  </a:txBody>
                  <a:tcPr/>
                </a:tc>
                <a:extLst>
                  <a:ext uri="{0D108BD9-81ED-4DB2-BD59-A6C34878D82A}">
                    <a16:rowId xmlns:a16="http://schemas.microsoft.com/office/drawing/2014/main" val="2924863052"/>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1</a:t>
                      </a:r>
                      <a:endParaRPr lang="zh-CN" altLang="en-US"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dirty="0">
                          <a:solidFill>
                            <a:schemeClr val="tx1"/>
                          </a:solidFill>
                          <a:latin typeface="Arial" panose="020B0604020202020204" pitchFamily="34" charset="0"/>
                          <a:ea typeface="微软雅黑" panose="020B0503020204020204" pitchFamily="34" charset="-122"/>
                        </a:rPr>
                        <a:t>Left</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1267451"/>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2</a:t>
                      </a:r>
                      <a:endParaRPr lang="zh-CN" altLang="en-US" dirty="0">
                        <a:solidFill>
                          <a:schemeClr val="tx1"/>
                        </a:solidFill>
                        <a:latin typeface="Arial" panose="020B0604020202020204" pitchFamily="34" charset="0"/>
                        <a:ea typeface="微软雅黑" panose="020B0503020204020204" pitchFamily="34" charset="-122"/>
                      </a:endParaRPr>
                    </a:p>
                  </a:txBody>
                  <a:tcPr/>
                </a:tc>
                <a:tc>
                  <a:txBody>
                    <a:bodyPr/>
                    <a:lstStyle/>
                    <a:p>
                      <a:r>
                        <a:rPr lang="en-US" altLang="zh-CN" dirty="0">
                          <a:solidFill>
                            <a:schemeClr val="tx1"/>
                          </a:solidFill>
                          <a:latin typeface="Arial" panose="020B0604020202020204" pitchFamily="34" charset="0"/>
                          <a:ea typeface="微软雅黑" panose="020B0503020204020204" pitchFamily="34" charset="-122"/>
                        </a:rPr>
                        <a:t>Right</a:t>
                      </a:r>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5476801"/>
                  </a:ext>
                </a:extLst>
              </a:tr>
              <a:tr h="370840">
                <a:tc>
                  <a:txBody>
                    <a:bodyPr/>
                    <a:lstStyle/>
                    <a:p>
                      <a:r>
                        <a:rPr lang="en-US" altLang="zh-CN" dirty="0">
                          <a:solidFill>
                            <a:schemeClr val="tx1"/>
                          </a:solidFill>
                          <a:latin typeface="Arial" panose="020B0604020202020204" pitchFamily="34" charset="0"/>
                          <a:ea typeface="微软雅黑" panose="020B0503020204020204" pitchFamily="34" charset="-122"/>
                        </a:rPr>
                        <a:t>10</a:t>
                      </a:r>
                      <a:endParaRPr lang="zh-CN" altLang="en-US" dirty="0">
                        <a:solidFill>
                          <a:schemeClr val="tx1"/>
                        </a:solidFill>
                        <a:latin typeface="Arial" panose="020B0604020202020204" pitchFamily="34" charset="0"/>
                        <a:ea typeface="微软雅黑" panose="020B0503020204020204" pitchFamily="34" charset="-122"/>
                      </a:endParaRPr>
                    </a:p>
                  </a:txBody>
                  <a:tcPr/>
                </a:tc>
                <a:tc>
                  <a:txBody>
                    <a:bodyPr/>
                    <a:lstStyle/>
                    <a:p>
                      <a:endParaRPr lang="zh-CN" altLang="en-US" dirty="0">
                        <a:solidFill>
                          <a:schemeClr val="tx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930948682"/>
                  </a:ext>
                </a:extLst>
              </a:tr>
            </a:tbl>
          </a:graphicData>
        </a:graphic>
      </p:graphicFrame>
      <p:cxnSp>
        <p:nvCxnSpPr>
          <p:cNvPr id="22" name="连接符: 肘形 21">
            <a:extLst>
              <a:ext uri="{FF2B5EF4-FFF2-40B4-BE49-F238E27FC236}">
                <a16:creationId xmlns:a16="http://schemas.microsoft.com/office/drawing/2014/main" id="{6260009D-00C3-2BFA-7A4E-85499646AC0C}"/>
              </a:ext>
            </a:extLst>
          </p:cNvPr>
          <p:cNvCxnSpPr>
            <a:stCxn id="19" idx="2"/>
            <a:endCxn id="21" idx="0"/>
          </p:cNvCxnSpPr>
          <p:nvPr/>
        </p:nvCxnSpPr>
        <p:spPr>
          <a:xfrm rot="5400000">
            <a:off x="3902347" y="3316831"/>
            <a:ext cx="815432" cy="18002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1F8AC6B6-101B-B308-9747-7A34F9253A78}"/>
              </a:ext>
            </a:extLst>
          </p:cNvPr>
          <p:cNvCxnSpPr>
            <a:cxnSpLocks/>
            <a:stCxn id="19" idx="2"/>
            <a:endCxn id="17" idx="0"/>
          </p:cNvCxnSpPr>
          <p:nvPr/>
        </p:nvCxnSpPr>
        <p:spPr>
          <a:xfrm rot="5400000">
            <a:off x="4797236" y="4222166"/>
            <a:ext cx="825879"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F2C6F2A-53E9-EB73-287A-5A748821222E}"/>
              </a:ext>
            </a:extLst>
          </p:cNvPr>
          <p:cNvCxnSpPr>
            <a:stCxn id="19" idx="2"/>
            <a:endCxn id="18" idx="0"/>
          </p:cNvCxnSpPr>
          <p:nvPr/>
        </p:nvCxnSpPr>
        <p:spPr>
          <a:xfrm rot="16200000" flipH="1">
            <a:off x="5632045" y="3387357"/>
            <a:ext cx="844566" cy="16883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F406D2B-BE54-A003-B521-AAB5E58767F9}"/>
              </a:ext>
            </a:extLst>
          </p:cNvPr>
          <p:cNvSpPr txBox="1"/>
          <p:nvPr/>
        </p:nvSpPr>
        <p:spPr>
          <a:xfrm>
            <a:off x="7622177" y="836023"/>
            <a:ext cx="3683134"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FIFS: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先到的按照优先级分配资源</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FairShare</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按比例分配资源</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Equal Share: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均分资源</a:t>
            </a:r>
          </a:p>
        </p:txBody>
      </p:sp>
    </p:spTree>
    <p:extLst>
      <p:ext uri="{BB962C8B-B14F-4D97-AF65-F5344CB8AC3E}">
        <p14:creationId xmlns:p14="http://schemas.microsoft.com/office/powerpoint/2010/main" val="15163782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030B70-D906-C41C-A782-440775240813}"/>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Fair Share</a:t>
            </a:r>
            <a:endParaRPr lang="zh-CN" altLang="en-US" dirty="0">
              <a:latin typeface="Arial" panose="020B0604020202020204" pitchFamily="34" charset="0"/>
              <a:ea typeface="微软雅黑" panose="020B0503020204020204" pitchFamily="34" charset="-122"/>
            </a:endParaRPr>
          </a:p>
        </p:txBody>
      </p:sp>
      <p:graphicFrame>
        <p:nvGraphicFramePr>
          <p:cNvPr id="3" name="表格 2">
            <a:extLst>
              <a:ext uri="{FF2B5EF4-FFF2-40B4-BE49-F238E27FC236}">
                <a16:creationId xmlns:a16="http://schemas.microsoft.com/office/drawing/2014/main" id="{CF6380F3-B489-B363-22F6-026ADF2B958C}"/>
              </a:ext>
            </a:extLst>
          </p:cNvPr>
          <p:cNvGraphicFramePr>
            <a:graphicFrameLocks noGrp="1"/>
          </p:cNvGraphicFramePr>
          <p:nvPr>
            <p:extLst>
              <p:ext uri="{D42A27DB-BD31-4B8C-83A1-F6EECF244321}">
                <p14:modId xmlns:p14="http://schemas.microsoft.com/office/powerpoint/2010/main" val="877622578"/>
              </p:ext>
            </p:extLst>
          </p:nvPr>
        </p:nvGraphicFramePr>
        <p:xfrm>
          <a:off x="2090366" y="1366555"/>
          <a:ext cx="8128000" cy="1483360"/>
        </p:xfrm>
        <a:graphic>
          <a:graphicData uri="http://schemas.openxmlformats.org/drawingml/2006/table">
            <a:tbl>
              <a:tblPr firstRow="1" firstCol="1" bandRow="1">
                <a:tableStyleId>{5C22544A-7EE6-4342-B048-85BDC9FD1C3A}</a:tableStyleId>
              </a:tblPr>
              <a:tblGrid>
                <a:gridCol w="1625600">
                  <a:extLst>
                    <a:ext uri="{9D8B030D-6E8A-4147-A177-3AD203B41FA5}">
                      <a16:colId xmlns:a16="http://schemas.microsoft.com/office/drawing/2014/main" val="1619914078"/>
                    </a:ext>
                  </a:extLst>
                </a:gridCol>
                <a:gridCol w="1625600">
                  <a:extLst>
                    <a:ext uri="{9D8B030D-6E8A-4147-A177-3AD203B41FA5}">
                      <a16:colId xmlns:a16="http://schemas.microsoft.com/office/drawing/2014/main" val="3718926043"/>
                    </a:ext>
                  </a:extLst>
                </a:gridCol>
                <a:gridCol w="1625600">
                  <a:extLst>
                    <a:ext uri="{9D8B030D-6E8A-4147-A177-3AD203B41FA5}">
                      <a16:colId xmlns:a16="http://schemas.microsoft.com/office/drawing/2014/main" val="2529934045"/>
                    </a:ext>
                  </a:extLst>
                </a:gridCol>
                <a:gridCol w="1625600">
                  <a:extLst>
                    <a:ext uri="{9D8B030D-6E8A-4147-A177-3AD203B41FA5}">
                      <a16:colId xmlns:a16="http://schemas.microsoft.com/office/drawing/2014/main" val="2151939764"/>
                    </a:ext>
                  </a:extLst>
                </a:gridCol>
                <a:gridCol w="1625600">
                  <a:extLst>
                    <a:ext uri="{9D8B030D-6E8A-4147-A177-3AD203B41FA5}">
                      <a16:colId xmlns:a16="http://schemas.microsoft.com/office/drawing/2014/main" val="421142634"/>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Bucket1</a:t>
                      </a:r>
                      <a:endParaRPr lang="zh-CN" altLang="en-US" dirty="0">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ea typeface="微软雅黑" panose="020B0503020204020204" pitchFamily="34" charset="-122"/>
                        </a:rPr>
                        <a:t>Bucket2</a:t>
                      </a:r>
                      <a:endParaRPr lang="zh-CN" altLang="en-US" dirty="0">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ea typeface="微软雅黑" panose="020B0503020204020204" pitchFamily="34" charset="-122"/>
                        </a:rPr>
                        <a:t>Bucket3</a:t>
                      </a:r>
                      <a:endParaRPr lang="zh-CN" altLang="en-US" dirty="0">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ea typeface="微软雅黑" panose="020B0503020204020204" pitchFamily="34" charset="-122"/>
                        </a:rPr>
                        <a:t>Bucket4</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38694703"/>
                  </a:ext>
                </a:extLst>
              </a:tr>
              <a:tr h="370840">
                <a:tc>
                  <a:txBody>
                    <a:bodyPr/>
                    <a:lstStyle/>
                    <a:p>
                      <a:r>
                        <a:rPr lang="zh-CN" altLang="en-US" dirty="0">
                          <a:latin typeface="Arial" panose="020B0604020202020204" pitchFamily="34" charset="0"/>
                          <a:ea typeface="微软雅黑" panose="020B0503020204020204" pitchFamily="34" charset="-122"/>
                        </a:rPr>
                        <a:t>需求</a:t>
                      </a:r>
                    </a:p>
                  </a:txBody>
                  <a:tcPr/>
                </a:tc>
                <a:tc>
                  <a:txBody>
                    <a:bodyPr/>
                    <a:lstStyle/>
                    <a:p>
                      <a:r>
                        <a:rPr lang="en-US" altLang="zh-CN" dirty="0">
                          <a:latin typeface="Arial" panose="020B0604020202020204" pitchFamily="34" charset="0"/>
                          <a:ea typeface="微软雅黑" panose="020B0503020204020204" pitchFamily="34" charset="-122"/>
                        </a:rPr>
                        <a:t>200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240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220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140</a:t>
                      </a:r>
                      <a:endParaRPr lang="zh-CN" altLang="en-US" dirty="0">
                        <a:latin typeface="Arial" panose="020B0604020202020204" pitchFamily="34" charset="0"/>
                        <a:ea typeface="微软雅黑" panose="020B0503020204020204" pitchFamily="34" charset="-122"/>
                      </a:endParaRPr>
                    </a:p>
                  </a:txBody>
                  <a:tcPr>
                    <a:noFill/>
                  </a:tcPr>
                </a:tc>
                <a:extLst>
                  <a:ext uri="{0D108BD9-81ED-4DB2-BD59-A6C34878D82A}">
                    <a16:rowId xmlns:a16="http://schemas.microsoft.com/office/drawing/2014/main" val="1404948438"/>
                  </a:ext>
                </a:extLst>
              </a:tr>
              <a:tr h="370840">
                <a:tc>
                  <a:txBody>
                    <a:bodyPr/>
                    <a:lstStyle/>
                    <a:p>
                      <a:r>
                        <a:rPr lang="zh-CN" altLang="en-US" dirty="0">
                          <a:latin typeface="Arial" panose="020B0604020202020204" pitchFamily="34" charset="0"/>
                          <a:ea typeface="微软雅黑" panose="020B0503020204020204" pitchFamily="34" charset="-122"/>
                        </a:rPr>
                        <a:t>供应</a:t>
                      </a:r>
                    </a:p>
                  </a:txBody>
                  <a:tcPr/>
                </a:tc>
                <a:tc>
                  <a:txBody>
                    <a:bodyPr/>
                    <a:lstStyle/>
                    <a:p>
                      <a:r>
                        <a:rPr lang="en-US" altLang="zh-CN" dirty="0">
                          <a:latin typeface="Arial" panose="020B0604020202020204" pitchFamily="34" charset="0"/>
                          <a:ea typeface="微软雅黑" panose="020B0503020204020204" pitchFamily="34" charset="-122"/>
                        </a:rPr>
                        <a:t>180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180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180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260</a:t>
                      </a:r>
                      <a:endParaRPr lang="zh-CN" altLang="en-US" dirty="0">
                        <a:latin typeface="Arial" panose="020B0604020202020204" pitchFamily="34" charset="0"/>
                        <a:ea typeface="微软雅黑" panose="020B0503020204020204" pitchFamily="34" charset="-122"/>
                      </a:endParaRPr>
                    </a:p>
                  </a:txBody>
                  <a:tcPr>
                    <a:noFill/>
                  </a:tcPr>
                </a:tc>
                <a:extLst>
                  <a:ext uri="{0D108BD9-81ED-4DB2-BD59-A6C34878D82A}">
                    <a16:rowId xmlns:a16="http://schemas.microsoft.com/office/drawing/2014/main" val="3671551893"/>
                  </a:ext>
                </a:extLst>
              </a:tr>
              <a:tr h="370840">
                <a:tc>
                  <a:txBody>
                    <a:bodyPr/>
                    <a:lstStyle/>
                    <a:p>
                      <a:r>
                        <a:rPr lang="en-US" altLang="zh-CN" dirty="0">
                          <a:latin typeface="Arial" panose="020B0604020202020204" pitchFamily="34" charset="0"/>
                          <a:ea typeface="微软雅黑" panose="020B0503020204020204" pitchFamily="34" charset="-122"/>
                        </a:rPr>
                        <a:t>Netting</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20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60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40</a:t>
                      </a:r>
                      <a:endParaRPr lang="zh-CN" altLang="en-US" dirty="0">
                        <a:latin typeface="Arial" panose="020B0604020202020204" pitchFamily="34" charset="0"/>
                        <a:ea typeface="微软雅黑" panose="020B0503020204020204" pitchFamily="34" charset="-122"/>
                      </a:endParaRPr>
                    </a:p>
                  </a:txBody>
                  <a:tcPr>
                    <a:noFill/>
                  </a:tcPr>
                </a:tc>
                <a:tc>
                  <a:txBody>
                    <a:bodyPr/>
                    <a:lstStyle/>
                    <a:p>
                      <a:r>
                        <a:rPr lang="en-US" altLang="zh-CN" dirty="0">
                          <a:latin typeface="Arial" panose="020B0604020202020204" pitchFamily="34" charset="0"/>
                          <a:ea typeface="微软雅黑" panose="020B0503020204020204" pitchFamily="34" charset="-122"/>
                        </a:rPr>
                        <a:t>120</a:t>
                      </a:r>
                      <a:endParaRPr lang="zh-CN" altLang="en-US" dirty="0">
                        <a:latin typeface="Arial" panose="020B0604020202020204" pitchFamily="34" charset="0"/>
                        <a:ea typeface="微软雅黑" panose="020B0503020204020204" pitchFamily="34" charset="-122"/>
                      </a:endParaRPr>
                    </a:p>
                  </a:txBody>
                  <a:tcPr>
                    <a:noFill/>
                  </a:tcPr>
                </a:tc>
                <a:extLst>
                  <a:ext uri="{0D108BD9-81ED-4DB2-BD59-A6C34878D82A}">
                    <a16:rowId xmlns:a16="http://schemas.microsoft.com/office/drawing/2014/main" val="2089652493"/>
                  </a:ext>
                </a:extLst>
              </a:tr>
            </a:tbl>
          </a:graphicData>
        </a:graphic>
      </p:graphicFrame>
      <p:sp>
        <p:nvSpPr>
          <p:cNvPr id="4" name="文本框 3">
            <a:extLst>
              <a:ext uri="{FF2B5EF4-FFF2-40B4-BE49-F238E27FC236}">
                <a16:creationId xmlns:a16="http://schemas.microsoft.com/office/drawing/2014/main" id="{D9251788-F4F1-8965-1577-263419D1FD71}"/>
              </a:ext>
            </a:extLst>
          </p:cNvPr>
          <p:cNvSpPr txBox="1"/>
          <p:nvPr/>
        </p:nvSpPr>
        <p:spPr>
          <a:xfrm>
            <a:off x="3209482" y="3742379"/>
            <a:ext cx="5474289" cy="64633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先每</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bucket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战略优先，然后</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fair share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Netting</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的需求放到不缺的</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bucket</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中切片满足</a:t>
            </a:r>
          </a:p>
        </p:txBody>
      </p:sp>
    </p:spTree>
    <p:extLst>
      <p:ext uri="{BB962C8B-B14F-4D97-AF65-F5344CB8AC3E}">
        <p14:creationId xmlns:p14="http://schemas.microsoft.com/office/powerpoint/2010/main" val="38363716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7D95F23B-E8B0-0F6A-F883-A54ED526F698}"/>
              </a:ext>
            </a:extLst>
          </p:cNvPr>
          <p:cNvGraphicFramePr>
            <a:graphicFrameLocks noGrp="1"/>
          </p:cNvGraphicFramePr>
          <p:nvPr>
            <p:extLst>
              <p:ext uri="{D42A27DB-BD31-4B8C-83A1-F6EECF244321}">
                <p14:modId xmlns:p14="http://schemas.microsoft.com/office/powerpoint/2010/main" val="141158530"/>
              </p:ext>
            </p:extLst>
          </p:nvPr>
        </p:nvGraphicFramePr>
        <p:xfrm>
          <a:off x="1636070" y="3044191"/>
          <a:ext cx="8128000" cy="6451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09280684"/>
                    </a:ext>
                  </a:extLst>
                </a:gridCol>
                <a:gridCol w="2032000">
                  <a:extLst>
                    <a:ext uri="{9D8B030D-6E8A-4147-A177-3AD203B41FA5}">
                      <a16:colId xmlns:a16="http://schemas.microsoft.com/office/drawing/2014/main" val="1196467804"/>
                    </a:ext>
                  </a:extLst>
                </a:gridCol>
                <a:gridCol w="2032000">
                  <a:extLst>
                    <a:ext uri="{9D8B030D-6E8A-4147-A177-3AD203B41FA5}">
                      <a16:colId xmlns:a16="http://schemas.microsoft.com/office/drawing/2014/main" val="4127166940"/>
                    </a:ext>
                  </a:extLst>
                </a:gridCol>
                <a:gridCol w="2032000">
                  <a:extLst>
                    <a:ext uri="{9D8B030D-6E8A-4147-A177-3AD203B41FA5}">
                      <a16:colId xmlns:a16="http://schemas.microsoft.com/office/drawing/2014/main" val="2361938322"/>
                    </a:ext>
                  </a:extLst>
                </a:gridCol>
              </a:tblGrid>
              <a:tr h="0">
                <a:tc>
                  <a:txBody>
                    <a:bodyPr/>
                    <a:lstStyle/>
                    <a:p>
                      <a:pPr marL="0" algn="l" defTabSz="914332" rtl="0" eaLnBrk="1" latinLnBrk="0" hangingPunct="1"/>
                      <a:r>
                        <a:rPr lang="en-US" altLang="zh-CN" sz="1200" b="1" kern="1200" dirty="0">
                          <a:solidFill>
                            <a:schemeClr val="lt1"/>
                          </a:solidFill>
                          <a:latin typeface="Arial" panose="020B0604020202020204" pitchFamily="34" charset="0"/>
                          <a:ea typeface="微软雅黑" panose="020B0503020204020204" pitchFamily="34" charset="-122"/>
                          <a:cs typeface="+mn-cs"/>
                        </a:rPr>
                        <a:t>Part</a:t>
                      </a:r>
                      <a:endParaRPr lang="zh-CN" altLang="en-US" sz="1200" b="1" kern="1200" dirty="0">
                        <a:solidFill>
                          <a:schemeClr val="lt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lt1"/>
                          </a:solidFill>
                          <a:latin typeface="Arial" panose="020B0604020202020204" pitchFamily="34" charset="0"/>
                          <a:ea typeface="微软雅黑" panose="020B0503020204020204" pitchFamily="34" charset="-122"/>
                          <a:cs typeface="+mn-cs"/>
                        </a:rPr>
                        <a:t>Bucket</a:t>
                      </a:r>
                      <a:endParaRPr lang="zh-CN" altLang="en-US" sz="1200" b="1" kern="1200" dirty="0">
                        <a:solidFill>
                          <a:schemeClr val="lt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lt1"/>
                          </a:solidFill>
                          <a:latin typeface="Arial" panose="020B0604020202020204" pitchFamily="34" charset="0"/>
                          <a:ea typeface="微软雅黑" panose="020B0503020204020204" pitchFamily="34" charset="-122"/>
                          <a:cs typeface="+mn-cs"/>
                        </a:rPr>
                        <a:t>Segment</a:t>
                      </a:r>
                      <a:endParaRPr lang="zh-CN" altLang="en-US" sz="1200" b="1" kern="1200" dirty="0">
                        <a:solidFill>
                          <a:schemeClr val="lt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lt1"/>
                          </a:solidFill>
                          <a:latin typeface="Arial" panose="020B0604020202020204" pitchFamily="34" charset="0"/>
                          <a:ea typeface="微软雅黑" panose="020B0503020204020204" pitchFamily="34" charset="-122"/>
                          <a:cs typeface="+mn-cs"/>
                        </a:rPr>
                        <a:t>Quantity</a:t>
                      </a:r>
                      <a:endParaRPr lang="zh-CN" altLang="en-US" sz="1200" b="1" kern="1200" dirty="0">
                        <a:solidFill>
                          <a:schemeClr val="lt1"/>
                        </a:solidFill>
                        <a:latin typeface="Arial" panose="020B0604020202020204" pitchFamily="34" charset="0"/>
                        <a:ea typeface="微软雅黑" panose="020B0503020204020204" pitchFamily="34" charset="-122"/>
                        <a:cs typeface="+mn-cs"/>
                      </a:endParaRPr>
                    </a:p>
                  </a:txBody>
                  <a:tcPr/>
                </a:tc>
                <a:extLst>
                  <a:ext uri="{0D108BD9-81ED-4DB2-BD59-A6C34878D82A}">
                    <a16:rowId xmlns:a16="http://schemas.microsoft.com/office/drawing/2014/main" val="3195187626"/>
                  </a:ext>
                </a:extLst>
              </a:tr>
              <a:tr h="370840">
                <a:tc>
                  <a:txBody>
                    <a:bodyPr/>
                    <a:lstStyle/>
                    <a:p>
                      <a:pPr marL="0" algn="l" defTabSz="914332" rtl="0" eaLnBrk="1" latinLnBrk="0" hangingPunct="1"/>
                      <a:r>
                        <a:rPr lang="en-US" altLang="zh-CN" sz="1200" b="1" kern="1200" dirty="0">
                          <a:solidFill>
                            <a:schemeClr val="bg1"/>
                          </a:solidFill>
                          <a:latin typeface="Arial" panose="020B0604020202020204" pitchFamily="34" charset="0"/>
                          <a:ea typeface="微软雅黑" panose="020B0503020204020204" pitchFamily="34" charset="-122"/>
                          <a:cs typeface="+mn-cs"/>
                        </a:rPr>
                        <a:t>B</a:t>
                      </a:r>
                      <a:endParaRPr lang="zh-CN" altLang="en-US" sz="1200" b="1" kern="1200" dirty="0">
                        <a:solidFill>
                          <a:schemeClr val="bg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bg1"/>
                          </a:solidFill>
                          <a:latin typeface="Arial" panose="020B0604020202020204" pitchFamily="34" charset="0"/>
                          <a:ea typeface="微软雅黑" panose="020B0503020204020204" pitchFamily="34" charset="-122"/>
                          <a:cs typeface="+mn-cs"/>
                        </a:rPr>
                        <a:t>Week1</a:t>
                      </a:r>
                      <a:endParaRPr lang="zh-CN" altLang="en-US" sz="1200" b="1" kern="1200" dirty="0">
                        <a:solidFill>
                          <a:schemeClr val="bg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bg1"/>
                          </a:solidFill>
                          <a:latin typeface="Arial" panose="020B0604020202020204" pitchFamily="34" charset="0"/>
                          <a:ea typeface="微软雅黑" panose="020B0503020204020204" pitchFamily="34" charset="-122"/>
                          <a:cs typeface="+mn-cs"/>
                        </a:rPr>
                        <a:t>NA-America</a:t>
                      </a:r>
                      <a:endParaRPr lang="zh-CN" altLang="en-US" sz="1200" b="1" kern="1200" dirty="0">
                        <a:solidFill>
                          <a:schemeClr val="bg1"/>
                        </a:solidFill>
                        <a:latin typeface="Arial" panose="020B0604020202020204" pitchFamily="34" charset="0"/>
                        <a:ea typeface="微软雅黑" panose="020B0503020204020204" pitchFamily="34" charset="-122"/>
                        <a:cs typeface="+mn-cs"/>
                      </a:endParaRPr>
                    </a:p>
                  </a:txBody>
                  <a:tcPr/>
                </a:tc>
                <a:tc>
                  <a:txBody>
                    <a:bodyPr/>
                    <a:lstStyle/>
                    <a:p>
                      <a:pPr marL="0" algn="l" defTabSz="914332" rtl="0" eaLnBrk="1" latinLnBrk="0" hangingPunct="1"/>
                      <a:r>
                        <a:rPr lang="en-US" altLang="zh-CN" sz="1200" b="1" kern="1200" dirty="0">
                          <a:solidFill>
                            <a:schemeClr val="bg1"/>
                          </a:solidFill>
                          <a:latin typeface="Arial" panose="020B0604020202020204" pitchFamily="34" charset="0"/>
                          <a:ea typeface="微软雅黑" panose="020B0503020204020204" pitchFamily="34" charset="-122"/>
                          <a:cs typeface="+mn-cs"/>
                        </a:rPr>
                        <a:t>200</a:t>
                      </a:r>
                      <a:endParaRPr lang="zh-CN" altLang="en-US" sz="1200" b="1" kern="1200" dirty="0">
                        <a:solidFill>
                          <a:schemeClr val="bg1"/>
                        </a:solidFill>
                        <a:latin typeface="Arial" panose="020B0604020202020204" pitchFamily="34" charset="0"/>
                        <a:ea typeface="微软雅黑" panose="020B0503020204020204" pitchFamily="34" charset="-122"/>
                        <a:cs typeface="+mn-cs"/>
                      </a:endParaRPr>
                    </a:p>
                  </a:txBody>
                  <a:tcPr/>
                </a:tc>
                <a:extLst>
                  <a:ext uri="{0D108BD9-81ED-4DB2-BD59-A6C34878D82A}">
                    <a16:rowId xmlns:a16="http://schemas.microsoft.com/office/drawing/2014/main" val="3120076279"/>
                  </a:ext>
                </a:extLst>
              </a:tr>
            </a:tbl>
          </a:graphicData>
        </a:graphic>
      </p:graphicFrame>
      <p:sp>
        <p:nvSpPr>
          <p:cNvPr id="4" name="文本框 3">
            <a:extLst>
              <a:ext uri="{FF2B5EF4-FFF2-40B4-BE49-F238E27FC236}">
                <a16:creationId xmlns:a16="http://schemas.microsoft.com/office/drawing/2014/main" id="{AD46941B-0BF3-A1E1-A584-3201F17D439A}"/>
              </a:ext>
            </a:extLst>
          </p:cNvPr>
          <p:cNvSpPr txBox="1"/>
          <p:nvPr/>
        </p:nvSpPr>
        <p:spPr>
          <a:xfrm>
            <a:off x="208924" y="1146242"/>
            <a:ext cx="152190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Allocation </a:t>
            </a:r>
            <a:endPar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文本框 4">
            <a:extLst>
              <a:ext uri="{FF2B5EF4-FFF2-40B4-BE49-F238E27FC236}">
                <a16:creationId xmlns:a16="http://schemas.microsoft.com/office/drawing/2014/main" id="{01487134-A8FA-45B6-28EE-5A3861BBEB7B}"/>
              </a:ext>
            </a:extLst>
          </p:cNvPr>
          <p:cNvSpPr txBox="1"/>
          <p:nvPr/>
        </p:nvSpPr>
        <p:spPr>
          <a:xfrm>
            <a:off x="263353" y="4030907"/>
            <a:ext cx="50478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Execution planning Supply Module</a:t>
            </a:r>
            <a:endPar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6" name="表格 5">
            <a:extLst>
              <a:ext uri="{FF2B5EF4-FFF2-40B4-BE49-F238E27FC236}">
                <a16:creationId xmlns:a16="http://schemas.microsoft.com/office/drawing/2014/main" id="{E0CAE2DD-A6E2-0C62-2CCF-00F9530AD664}"/>
              </a:ext>
            </a:extLst>
          </p:cNvPr>
          <p:cNvGraphicFramePr>
            <a:graphicFrameLocks noGrp="1"/>
          </p:cNvGraphicFramePr>
          <p:nvPr>
            <p:extLst>
              <p:ext uri="{D42A27DB-BD31-4B8C-83A1-F6EECF244321}">
                <p14:modId xmlns:p14="http://schemas.microsoft.com/office/powerpoint/2010/main" val="4254870408"/>
              </p:ext>
            </p:extLst>
          </p:nvPr>
        </p:nvGraphicFramePr>
        <p:xfrm>
          <a:off x="1636069" y="4506233"/>
          <a:ext cx="8986873" cy="1857120"/>
        </p:xfrm>
        <a:graphic>
          <a:graphicData uri="http://schemas.openxmlformats.org/drawingml/2006/table">
            <a:tbl>
              <a:tblPr firstRow="1" bandRow="1">
                <a:tableStyleId>{5C22544A-7EE6-4342-B048-85BDC9FD1C3A}</a:tableStyleId>
              </a:tblPr>
              <a:tblGrid>
                <a:gridCol w="1108504">
                  <a:extLst>
                    <a:ext uri="{9D8B030D-6E8A-4147-A177-3AD203B41FA5}">
                      <a16:colId xmlns:a16="http://schemas.microsoft.com/office/drawing/2014/main" val="709280684"/>
                    </a:ext>
                  </a:extLst>
                </a:gridCol>
                <a:gridCol w="1108504">
                  <a:extLst>
                    <a:ext uri="{9D8B030D-6E8A-4147-A177-3AD203B41FA5}">
                      <a16:colId xmlns:a16="http://schemas.microsoft.com/office/drawing/2014/main" val="1196467804"/>
                    </a:ext>
                  </a:extLst>
                </a:gridCol>
                <a:gridCol w="1108504">
                  <a:extLst>
                    <a:ext uri="{9D8B030D-6E8A-4147-A177-3AD203B41FA5}">
                      <a16:colId xmlns:a16="http://schemas.microsoft.com/office/drawing/2014/main" val="2361938322"/>
                    </a:ext>
                  </a:extLst>
                </a:gridCol>
                <a:gridCol w="754062">
                  <a:extLst>
                    <a:ext uri="{9D8B030D-6E8A-4147-A177-3AD203B41FA5}">
                      <a16:colId xmlns:a16="http://schemas.microsoft.com/office/drawing/2014/main" val="1383047409"/>
                    </a:ext>
                  </a:extLst>
                </a:gridCol>
                <a:gridCol w="4907299">
                  <a:extLst>
                    <a:ext uri="{9D8B030D-6E8A-4147-A177-3AD203B41FA5}">
                      <a16:colId xmlns:a16="http://schemas.microsoft.com/office/drawing/2014/main" val="3629376943"/>
                    </a:ext>
                  </a:extLst>
                </a:gridCol>
              </a:tblGrid>
              <a:tr h="270900">
                <a:tc>
                  <a:txBody>
                    <a:bodyPr/>
                    <a:lstStyle/>
                    <a:p>
                      <a:r>
                        <a:rPr lang="en-US" altLang="zh-CN" sz="1200" b="1" dirty="0">
                          <a:solidFill>
                            <a:schemeClr val="bg1"/>
                          </a:solidFill>
                          <a:latin typeface="Arial" panose="020B0604020202020204" pitchFamily="34" charset="0"/>
                          <a:ea typeface="微软雅黑" panose="020B0503020204020204" pitchFamily="34" charset="-122"/>
                        </a:rPr>
                        <a:t>Part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Bucket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Quantity</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Allotment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Comments</a:t>
                      </a:r>
                      <a:endParaRPr lang="zh-CN" altLang="en-US" sz="12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95187626"/>
                  </a:ext>
                </a:extLst>
              </a:tr>
              <a:tr h="270900">
                <a:tc>
                  <a:txBody>
                    <a:bodyPr/>
                    <a:lstStyle/>
                    <a:p>
                      <a:r>
                        <a:rPr lang="en-US" altLang="zh-CN" sz="1200" b="1" dirty="0">
                          <a:solidFill>
                            <a:schemeClr val="bg1"/>
                          </a:solidFill>
                          <a:latin typeface="Arial" panose="020B0604020202020204" pitchFamily="34" charset="0"/>
                          <a:ea typeface="微软雅黑" panose="020B0503020204020204" pitchFamily="34" charset="-122"/>
                        </a:rPr>
                        <a:t>B</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Day1</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700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rowSpan="3">
                  <a:txBody>
                    <a:bodyPr/>
                    <a:lstStyle/>
                    <a:p>
                      <a:r>
                        <a:rPr lang="en-US" altLang="zh-CN" sz="1200" b="1" dirty="0">
                          <a:solidFill>
                            <a:schemeClr val="bg1"/>
                          </a:solidFill>
                          <a:latin typeface="Arial" panose="020B0604020202020204" pitchFamily="34" charset="0"/>
                          <a:ea typeface="微软雅黑" panose="020B0503020204020204" pitchFamily="34" charset="-122"/>
                        </a:rPr>
                        <a:t>Supply assignment to Segment is free but the total quantity could not beyond 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20076279"/>
                  </a:ext>
                </a:extLst>
              </a:tr>
              <a:tr h="270900">
                <a:tc>
                  <a:txBody>
                    <a:bodyPr/>
                    <a:lstStyle/>
                    <a:p>
                      <a:r>
                        <a:rPr lang="en-US" altLang="zh-CN" sz="1200" b="1" dirty="0">
                          <a:solidFill>
                            <a:schemeClr val="bg1"/>
                          </a:solidFill>
                          <a:latin typeface="Arial" panose="020B0604020202020204" pitchFamily="34" charset="0"/>
                          <a:ea typeface="微软雅黑" panose="020B0503020204020204" pitchFamily="34" charset="-122"/>
                        </a:rPr>
                        <a:t>B</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Day2</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vMerge="1">
                  <a:txBody>
                    <a:bodyPr/>
                    <a:lstStyle/>
                    <a:p>
                      <a:endParaRPr lang="zh-CN" altLang="en-US" dirty="0"/>
                    </a:p>
                  </a:txBody>
                  <a:tcPr/>
                </a:tc>
                <a:extLst>
                  <a:ext uri="{0D108BD9-81ED-4DB2-BD59-A6C34878D82A}">
                    <a16:rowId xmlns:a16="http://schemas.microsoft.com/office/drawing/2014/main" val="534074730"/>
                  </a:ext>
                </a:extLst>
              </a:tr>
              <a:tr h="851280">
                <a:tc>
                  <a:txBody>
                    <a:bodyPr/>
                    <a:lstStyle/>
                    <a:p>
                      <a:r>
                        <a:rPr lang="en-US" altLang="zh-CN" sz="1200" b="1" dirty="0">
                          <a:solidFill>
                            <a:schemeClr val="bg1"/>
                          </a:solidFill>
                          <a:latin typeface="Arial" panose="020B0604020202020204" pitchFamily="34" charset="0"/>
                          <a:ea typeface="微软雅黑" panose="020B0503020204020204" pitchFamily="34" charset="-122"/>
                        </a:rPr>
                        <a:t>B</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Day3</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500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vMerge="1">
                  <a:txBody>
                    <a:bodyPr/>
                    <a:lstStyle/>
                    <a:p>
                      <a:endParaRPr lang="zh-CN" altLang="en-US" dirty="0"/>
                    </a:p>
                  </a:txBody>
                  <a:tcPr/>
                </a:tc>
                <a:extLst>
                  <a:ext uri="{0D108BD9-81ED-4DB2-BD59-A6C34878D82A}">
                    <a16:rowId xmlns:a16="http://schemas.microsoft.com/office/drawing/2014/main" val="3296060658"/>
                  </a:ext>
                </a:extLst>
              </a:tr>
            </a:tbl>
          </a:graphicData>
        </a:graphic>
      </p:graphicFrame>
      <p:sp>
        <p:nvSpPr>
          <p:cNvPr id="7" name="标题 1">
            <a:extLst>
              <a:ext uri="{FF2B5EF4-FFF2-40B4-BE49-F238E27FC236}">
                <a16:creationId xmlns:a16="http://schemas.microsoft.com/office/drawing/2014/main" id="{7BE868E8-CF03-4795-2583-10A2E9D9FC08}"/>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Allocation</a:t>
            </a:r>
            <a:r>
              <a:rPr lang="en-US" altLang="zh-CN" sz="2800" dirty="0">
                <a:latin typeface="Arial" panose="020B0604020202020204" pitchFamily="34" charset="0"/>
                <a:ea typeface="微软雅黑" panose="020B0503020204020204" pitchFamily="34" charset="-122"/>
              </a:rPr>
              <a:t> – </a:t>
            </a:r>
            <a:r>
              <a:rPr lang="zh-CN" altLang="en-US" sz="2800" dirty="0">
                <a:latin typeface="Arial" panose="020B0604020202020204" pitchFamily="34" charset="0"/>
                <a:ea typeface="微软雅黑" panose="020B0503020204020204" pitchFamily="34" charset="-122"/>
              </a:rPr>
              <a:t>分配的结果作为配额即约束性指导</a:t>
            </a:r>
            <a:endParaRPr lang="zh-CN" altLang="en-US" dirty="0">
              <a:latin typeface="Arial" panose="020B0604020202020204" pitchFamily="34" charset="0"/>
              <a:ea typeface="微软雅黑" panose="020B0503020204020204" pitchFamily="34" charset="-122"/>
            </a:endParaRPr>
          </a:p>
        </p:txBody>
      </p:sp>
      <p:graphicFrame>
        <p:nvGraphicFramePr>
          <p:cNvPr id="2" name="表格 1">
            <a:extLst>
              <a:ext uri="{FF2B5EF4-FFF2-40B4-BE49-F238E27FC236}">
                <a16:creationId xmlns:a16="http://schemas.microsoft.com/office/drawing/2014/main" id="{E08347A7-374F-DA5D-C1CE-44990E3B1041}"/>
              </a:ext>
            </a:extLst>
          </p:cNvPr>
          <p:cNvGraphicFramePr>
            <a:graphicFrameLocks noGrp="1"/>
          </p:cNvGraphicFramePr>
          <p:nvPr>
            <p:extLst>
              <p:ext uri="{D42A27DB-BD31-4B8C-83A1-F6EECF244321}">
                <p14:modId xmlns:p14="http://schemas.microsoft.com/office/powerpoint/2010/main" val="2240031323"/>
              </p:ext>
            </p:extLst>
          </p:nvPr>
        </p:nvGraphicFramePr>
        <p:xfrm>
          <a:off x="1636070" y="1515574"/>
          <a:ext cx="9317364" cy="1092303"/>
        </p:xfrm>
        <a:graphic>
          <a:graphicData uri="http://schemas.openxmlformats.org/drawingml/2006/table">
            <a:tbl>
              <a:tblPr firstRow="1" bandRow="1">
                <a:tableStyleId>{5C22544A-7EE6-4342-B048-85BDC9FD1C3A}</a:tableStyleId>
              </a:tblPr>
              <a:tblGrid>
                <a:gridCol w="1083826">
                  <a:extLst>
                    <a:ext uri="{9D8B030D-6E8A-4147-A177-3AD203B41FA5}">
                      <a16:colId xmlns:a16="http://schemas.microsoft.com/office/drawing/2014/main" val="797246236"/>
                    </a:ext>
                  </a:extLst>
                </a:gridCol>
                <a:gridCol w="1083826">
                  <a:extLst>
                    <a:ext uri="{9D8B030D-6E8A-4147-A177-3AD203B41FA5}">
                      <a16:colId xmlns:a16="http://schemas.microsoft.com/office/drawing/2014/main" val="709280684"/>
                    </a:ext>
                  </a:extLst>
                </a:gridCol>
                <a:gridCol w="1169289">
                  <a:extLst>
                    <a:ext uri="{9D8B030D-6E8A-4147-A177-3AD203B41FA5}">
                      <a16:colId xmlns:a16="http://schemas.microsoft.com/office/drawing/2014/main" val="4012562183"/>
                    </a:ext>
                  </a:extLst>
                </a:gridCol>
                <a:gridCol w="1083826">
                  <a:extLst>
                    <a:ext uri="{9D8B030D-6E8A-4147-A177-3AD203B41FA5}">
                      <a16:colId xmlns:a16="http://schemas.microsoft.com/office/drawing/2014/main" val="1196467804"/>
                    </a:ext>
                  </a:extLst>
                </a:gridCol>
                <a:gridCol w="1723581">
                  <a:extLst>
                    <a:ext uri="{9D8B030D-6E8A-4147-A177-3AD203B41FA5}">
                      <a16:colId xmlns:a16="http://schemas.microsoft.com/office/drawing/2014/main" val="4127166940"/>
                    </a:ext>
                  </a:extLst>
                </a:gridCol>
                <a:gridCol w="2089190">
                  <a:extLst>
                    <a:ext uri="{9D8B030D-6E8A-4147-A177-3AD203B41FA5}">
                      <a16:colId xmlns:a16="http://schemas.microsoft.com/office/drawing/2014/main" val="2361938322"/>
                    </a:ext>
                  </a:extLst>
                </a:gridCol>
                <a:gridCol w="1083826">
                  <a:extLst>
                    <a:ext uri="{9D8B030D-6E8A-4147-A177-3AD203B41FA5}">
                      <a16:colId xmlns:a16="http://schemas.microsoft.com/office/drawing/2014/main" val="1322209213"/>
                    </a:ext>
                  </a:extLst>
                </a:gridCol>
              </a:tblGrid>
              <a:tr h="364101">
                <a:tc>
                  <a:txBody>
                    <a:bodyPr/>
                    <a:lstStyle/>
                    <a:p>
                      <a:r>
                        <a:rPr lang="en-US" altLang="zh-CN" sz="1200" b="1" dirty="0">
                          <a:solidFill>
                            <a:schemeClr val="bg1"/>
                          </a:solidFill>
                          <a:latin typeface="Arial" panose="020B0604020202020204" pitchFamily="34" charset="0"/>
                          <a:ea typeface="微软雅黑" panose="020B0503020204020204" pitchFamily="34" charset="-122"/>
                        </a:rPr>
                        <a:t>Demand</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Part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Request Qty</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Bucket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Segment/Hierarchy</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Request Qty by bucket</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Allocation</a:t>
                      </a:r>
                      <a:endParaRPr lang="zh-CN" altLang="en-US" sz="12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95187626"/>
                  </a:ext>
                </a:extLst>
              </a:tr>
              <a:tr h="364101">
                <a:tc>
                  <a:txBody>
                    <a:bodyPr/>
                    <a:lstStyle/>
                    <a:p>
                      <a:r>
                        <a:rPr lang="en-US" altLang="zh-CN" sz="1200" b="1" dirty="0">
                          <a:solidFill>
                            <a:schemeClr val="bg1"/>
                          </a:solidFill>
                          <a:latin typeface="Arial" panose="020B0604020202020204" pitchFamily="34" charset="0"/>
                          <a:ea typeface="微软雅黑" panose="020B0503020204020204" pitchFamily="34" charset="-122"/>
                        </a:rPr>
                        <a:t>D6</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B</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W1</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NA-America</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250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20076279"/>
                  </a:ext>
                </a:extLst>
              </a:tr>
              <a:tr h="364101">
                <a:tc>
                  <a:txBody>
                    <a:bodyPr/>
                    <a:lstStyle/>
                    <a:p>
                      <a:r>
                        <a:rPr lang="en-US" altLang="zh-CN" sz="1200" b="1" dirty="0">
                          <a:solidFill>
                            <a:schemeClr val="bg1"/>
                          </a:solidFill>
                          <a:latin typeface="Arial" panose="020B0604020202020204" pitchFamily="34" charset="0"/>
                          <a:ea typeface="微软雅黑" panose="020B0503020204020204" pitchFamily="34" charset="-122"/>
                        </a:rPr>
                        <a:t>D7</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B</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150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W1</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200" b="1" dirty="0">
                          <a:solidFill>
                            <a:schemeClr val="bg1"/>
                          </a:solidFill>
                          <a:latin typeface="Arial" panose="020B0604020202020204" pitchFamily="34" charset="0"/>
                          <a:ea typeface="微软雅黑" panose="020B0503020204020204" pitchFamily="34" charset="-122"/>
                        </a:rPr>
                        <a:t>NA-America</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250</a:t>
                      </a:r>
                      <a:endParaRPr lang="zh-CN" altLang="en-US" sz="12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200</a:t>
                      </a:r>
                      <a:endParaRPr lang="zh-CN" altLang="en-US" sz="12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652917693"/>
                  </a:ext>
                </a:extLst>
              </a:tr>
            </a:tbl>
          </a:graphicData>
        </a:graphic>
      </p:graphicFrame>
      <p:sp>
        <p:nvSpPr>
          <p:cNvPr id="8" name="文本框 7">
            <a:extLst>
              <a:ext uri="{FF2B5EF4-FFF2-40B4-BE49-F238E27FC236}">
                <a16:creationId xmlns:a16="http://schemas.microsoft.com/office/drawing/2014/main" id="{F7A20686-1B67-160E-767D-8D737E4FA611}"/>
              </a:ext>
            </a:extLst>
          </p:cNvPr>
          <p:cNvSpPr txBox="1"/>
          <p:nvPr/>
        </p:nvSpPr>
        <p:spPr>
          <a:xfrm>
            <a:off x="263353" y="2703329"/>
            <a:ext cx="3540116" cy="369332"/>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effectLst/>
                <a:uLnTx/>
                <a:uFillTx/>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Allotment </a:t>
            </a:r>
            <a:endPar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365016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46C2B5-AB64-048A-8FBE-18A89FBA89DF}"/>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纵向协同</a:t>
            </a:r>
          </a:p>
        </p:txBody>
      </p:sp>
      <p:sp>
        <p:nvSpPr>
          <p:cNvPr id="3" name="文本框 2">
            <a:extLst>
              <a:ext uri="{FF2B5EF4-FFF2-40B4-BE49-F238E27FC236}">
                <a16:creationId xmlns:a16="http://schemas.microsoft.com/office/drawing/2014/main" id="{B1C76B35-60E7-23ED-4157-84CF25955C8A}"/>
              </a:ext>
            </a:extLst>
          </p:cNvPr>
          <p:cNvSpPr txBox="1"/>
          <p:nvPr/>
        </p:nvSpPr>
        <p:spPr>
          <a:xfrm>
            <a:off x="273666" y="1723511"/>
            <a:ext cx="274931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战略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Consensus Forecast</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文本框 3">
            <a:extLst>
              <a:ext uri="{FF2B5EF4-FFF2-40B4-BE49-F238E27FC236}">
                <a16:creationId xmlns:a16="http://schemas.microsoft.com/office/drawing/2014/main" id="{21E1A60D-B2F2-35E9-3216-ABFF47FD31C4}"/>
              </a:ext>
            </a:extLst>
          </p:cNvPr>
          <p:cNvSpPr txBox="1"/>
          <p:nvPr/>
        </p:nvSpPr>
        <p:spPr>
          <a:xfrm>
            <a:off x="341905" y="3927427"/>
            <a:ext cx="2217050" cy="307777"/>
          </a:xfrm>
          <a:prstGeom prst="rect">
            <a:avLst/>
          </a:prstGeom>
          <a:noFill/>
        </p:spPr>
        <p:txBody>
          <a:bodyPr wrap="square" rtlCol="0">
            <a:spAutoFit/>
          </a:bodyPr>
          <a:lstStyle>
            <a:defPPr>
              <a:defRPr lang="zh-CN"/>
            </a:defPPr>
            <a:lvl1pPr>
              <a:defRPr sz="1400" b="1">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战术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Master Planning</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文本框 4">
            <a:extLst>
              <a:ext uri="{FF2B5EF4-FFF2-40B4-BE49-F238E27FC236}">
                <a16:creationId xmlns:a16="http://schemas.microsoft.com/office/drawing/2014/main" id="{0EDF53C4-85F9-B2B1-383E-BE36732A53C5}"/>
              </a:ext>
            </a:extLst>
          </p:cNvPr>
          <p:cNvSpPr txBox="1"/>
          <p:nvPr/>
        </p:nvSpPr>
        <p:spPr>
          <a:xfrm>
            <a:off x="273666" y="6097195"/>
            <a:ext cx="3029092" cy="307777"/>
          </a:xfrm>
          <a:prstGeom prst="rect">
            <a:avLst/>
          </a:prstGeom>
          <a:noFill/>
        </p:spPr>
        <p:txBody>
          <a:bodyPr wrap="square" rtlCol="0">
            <a:spAutoFit/>
          </a:bodyPr>
          <a:lstStyle>
            <a:defPPr>
              <a:defRPr lang="zh-CN"/>
            </a:defPPr>
            <a:lvl1pPr>
              <a:defRPr sz="1400" b="1">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运营执行 </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Execution Planning</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矩形 5">
            <a:extLst>
              <a:ext uri="{FF2B5EF4-FFF2-40B4-BE49-F238E27FC236}">
                <a16:creationId xmlns:a16="http://schemas.microsoft.com/office/drawing/2014/main" id="{17D5EDF2-65EB-1AA6-54D6-AFAB8D5A882C}"/>
              </a:ext>
            </a:extLst>
          </p:cNvPr>
          <p:cNvSpPr/>
          <p:nvPr/>
        </p:nvSpPr>
        <p:spPr>
          <a:xfrm>
            <a:off x="3450115" y="1167417"/>
            <a:ext cx="1962150" cy="4381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Customer Hierarchy</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6">
            <a:extLst>
              <a:ext uri="{FF2B5EF4-FFF2-40B4-BE49-F238E27FC236}">
                <a16:creationId xmlns:a16="http://schemas.microsoft.com/office/drawing/2014/main" id="{819B6E73-AAF1-759E-1BB3-B6F57CF19C61}"/>
              </a:ext>
            </a:extLst>
          </p:cNvPr>
          <p:cNvSpPr/>
          <p:nvPr/>
        </p:nvSpPr>
        <p:spPr>
          <a:xfrm>
            <a:off x="3450115" y="1970723"/>
            <a:ext cx="1962150" cy="4381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Region Hierarchy</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矩形 7">
            <a:extLst>
              <a:ext uri="{FF2B5EF4-FFF2-40B4-BE49-F238E27FC236}">
                <a16:creationId xmlns:a16="http://schemas.microsoft.com/office/drawing/2014/main" id="{C873F552-A9BC-864B-44AB-B32FFEF0B5E2}"/>
              </a:ext>
            </a:extLst>
          </p:cNvPr>
          <p:cNvSpPr/>
          <p:nvPr/>
        </p:nvSpPr>
        <p:spPr>
          <a:xfrm>
            <a:off x="3450115" y="2754979"/>
            <a:ext cx="1962150" cy="4381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 Hierarchy</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矩形 8">
            <a:extLst>
              <a:ext uri="{FF2B5EF4-FFF2-40B4-BE49-F238E27FC236}">
                <a16:creationId xmlns:a16="http://schemas.microsoft.com/office/drawing/2014/main" id="{902832F8-3B83-BF06-5975-819D38CD701B}"/>
              </a:ext>
            </a:extLst>
          </p:cNvPr>
          <p:cNvSpPr/>
          <p:nvPr/>
        </p:nvSpPr>
        <p:spPr>
          <a:xfrm>
            <a:off x="5878990" y="1961198"/>
            <a:ext cx="1962150" cy="4381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Combine Hierarchy </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0" name="连接符: 肘形 9">
            <a:extLst>
              <a:ext uri="{FF2B5EF4-FFF2-40B4-BE49-F238E27FC236}">
                <a16:creationId xmlns:a16="http://schemas.microsoft.com/office/drawing/2014/main" id="{C9F4CF9E-BF06-8A3C-978B-C64952DE59B3}"/>
              </a:ext>
            </a:extLst>
          </p:cNvPr>
          <p:cNvCxnSpPr>
            <a:cxnSpLocks/>
            <a:stCxn id="6" idx="3"/>
            <a:endCxn id="9" idx="1"/>
          </p:cNvCxnSpPr>
          <p:nvPr/>
        </p:nvCxnSpPr>
        <p:spPr>
          <a:xfrm>
            <a:off x="5412265" y="1386492"/>
            <a:ext cx="466725" cy="793781"/>
          </a:xfrm>
          <a:prstGeom prst="bentConnector3">
            <a:avLst>
              <a:gd name="adj1" fmla="val 50000"/>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连接符: 肘形 10">
            <a:extLst>
              <a:ext uri="{FF2B5EF4-FFF2-40B4-BE49-F238E27FC236}">
                <a16:creationId xmlns:a16="http://schemas.microsoft.com/office/drawing/2014/main" id="{E7B1A4FF-2FDB-39B0-D8F8-526199C94B27}"/>
              </a:ext>
            </a:extLst>
          </p:cNvPr>
          <p:cNvCxnSpPr>
            <a:cxnSpLocks/>
            <a:stCxn id="7" idx="3"/>
            <a:endCxn id="9" idx="1"/>
          </p:cNvCxnSpPr>
          <p:nvPr/>
        </p:nvCxnSpPr>
        <p:spPr>
          <a:xfrm flipV="1">
            <a:off x="5412265" y="2180273"/>
            <a:ext cx="466725" cy="9525"/>
          </a:xfrm>
          <a:prstGeom prst="bentConnector3">
            <a:avLst>
              <a:gd name="adj1" fmla="val 50000"/>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9A622550-ECAF-96DC-1AE9-AF2447C5010E}"/>
              </a:ext>
            </a:extLst>
          </p:cNvPr>
          <p:cNvCxnSpPr>
            <a:cxnSpLocks/>
            <a:stCxn id="8" idx="3"/>
            <a:endCxn id="9" idx="1"/>
          </p:cNvCxnSpPr>
          <p:nvPr/>
        </p:nvCxnSpPr>
        <p:spPr>
          <a:xfrm flipV="1">
            <a:off x="5412265" y="2180273"/>
            <a:ext cx="466725" cy="793781"/>
          </a:xfrm>
          <a:prstGeom prst="bentConnector3">
            <a:avLst>
              <a:gd name="adj1" fmla="val 50000"/>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表格 12">
            <a:extLst>
              <a:ext uri="{FF2B5EF4-FFF2-40B4-BE49-F238E27FC236}">
                <a16:creationId xmlns:a16="http://schemas.microsoft.com/office/drawing/2014/main" id="{3490F033-5316-9064-F137-8C84257CE440}"/>
              </a:ext>
            </a:extLst>
          </p:cNvPr>
          <p:cNvGraphicFramePr>
            <a:graphicFrameLocks noGrp="1"/>
          </p:cNvGraphicFramePr>
          <p:nvPr>
            <p:extLst>
              <p:ext uri="{D42A27DB-BD31-4B8C-83A1-F6EECF244321}">
                <p14:modId xmlns:p14="http://schemas.microsoft.com/office/powerpoint/2010/main" val="1396044839"/>
              </p:ext>
            </p:extLst>
          </p:nvPr>
        </p:nvGraphicFramePr>
        <p:xfrm>
          <a:off x="8349412" y="1931992"/>
          <a:ext cx="1676654" cy="1483360"/>
        </p:xfrm>
        <a:graphic>
          <a:graphicData uri="http://schemas.openxmlformats.org/drawingml/2006/table">
            <a:tbl>
              <a:tblPr firstRow="1" bandRow="1">
                <a:tableStyleId>{69012ECD-51FC-41F1-AA8D-1B2483CD663E}</a:tableStyleId>
              </a:tblPr>
              <a:tblGrid>
                <a:gridCol w="1676654">
                  <a:extLst>
                    <a:ext uri="{9D8B030D-6E8A-4147-A177-3AD203B41FA5}">
                      <a16:colId xmlns:a16="http://schemas.microsoft.com/office/drawing/2014/main" val="1344018333"/>
                    </a:ext>
                  </a:extLst>
                </a:gridCol>
              </a:tblGrid>
              <a:tr h="370840">
                <a:tc>
                  <a:txBody>
                    <a:bodyPr/>
                    <a:lstStyle/>
                    <a:p>
                      <a:r>
                        <a:rPr lang="en-US" altLang="zh-CN" sz="1200" b="1" dirty="0">
                          <a:solidFill>
                            <a:schemeClr val="tx1"/>
                          </a:solidFill>
                          <a:latin typeface="Arial" panose="020B0604020202020204" pitchFamily="34" charset="0"/>
                          <a:ea typeface="微软雅黑" panose="020B0503020204020204" pitchFamily="34" charset="-122"/>
                        </a:rPr>
                        <a:t>Commitment</a:t>
                      </a:r>
                      <a:r>
                        <a:rPr lang="en-US" altLang="zh-CN" sz="1200" b="1" dirty="0">
                          <a:latin typeface="Arial" panose="020B0604020202020204" pitchFamily="34" charset="0"/>
                          <a:ea typeface="微软雅黑" panose="020B0503020204020204" pitchFamily="34" charset="-122"/>
                        </a:rPr>
                        <a:t> </a:t>
                      </a:r>
                      <a:r>
                        <a:rPr lang="en-US" altLang="zh-CN" sz="1200" b="1" dirty="0">
                          <a:solidFill>
                            <a:schemeClr val="tx1"/>
                          </a:solidFill>
                          <a:latin typeface="Arial" panose="020B0604020202020204" pitchFamily="34" charset="0"/>
                          <a:ea typeface="微软雅黑" panose="020B0503020204020204" pitchFamily="34" charset="-122"/>
                        </a:rPr>
                        <a:t>Level</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924863052"/>
                  </a:ext>
                </a:extLst>
              </a:tr>
              <a:tr h="370840">
                <a:tc>
                  <a:txBody>
                    <a:bodyPr/>
                    <a:lstStyle/>
                    <a:p>
                      <a:r>
                        <a:rPr lang="en-US" altLang="zh-CN" sz="1200" b="1" dirty="0">
                          <a:latin typeface="Arial" panose="020B0604020202020204" pitchFamily="34" charset="0"/>
                          <a:ea typeface="微软雅黑" panose="020B0503020204020204" pitchFamily="34" charset="-122"/>
                        </a:rPr>
                        <a:t>High</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67451"/>
                  </a:ext>
                </a:extLst>
              </a:tr>
              <a:tr h="370840">
                <a:tc>
                  <a:txBody>
                    <a:bodyPr/>
                    <a:lstStyle/>
                    <a:p>
                      <a:r>
                        <a:rPr lang="en-US" altLang="zh-CN" sz="1200" b="1" dirty="0">
                          <a:latin typeface="Arial" panose="020B0604020202020204" pitchFamily="34" charset="0"/>
                          <a:ea typeface="微软雅黑" panose="020B0503020204020204" pitchFamily="34" charset="-122"/>
                        </a:rPr>
                        <a:t>Med</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76801"/>
                  </a:ext>
                </a:extLst>
              </a:tr>
              <a:tr h="370840">
                <a:tc>
                  <a:txBody>
                    <a:bodyPr/>
                    <a:lstStyle/>
                    <a:p>
                      <a:r>
                        <a:rPr lang="en-US" altLang="zh-CN" sz="1200" b="1" dirty="0">
                          <a:latin typeface="Arial" panose="020B0604020202020204" pitchFamily="34" charset="0"/>
                          <a:ea typeface="微软雅黑" panose="020B0503020204020204" pitchFamily="34" charset="-122"/>
                        </a:rPr>
                        <a:t>Low</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948682"/>
                  </a:ext>
                </a:extLst>
              </a:tr>
            </a:tbl>
          </a:graphicData>
        </a:graphic>
      </p:graphicFrame>
      <p:graphicFrame>
        <p:nvGraphicFramePr>
          <p:cNvPr id="14" name="表格 13">
            <a:extLst>
              <a:ext uri="{FF2B5EF4-FFF2-40B4-BE49-F238E27FC236}">
                <a16:creationId xmlns:a16="http://schemas.microsoft.com/office/drawing/2014/main" id="{8BD047B1-6A20-C07F-13A9-795BEBB5CA12}"/>
              </a:ext>
            </a:extLst>
          </p:cNvPr>
          <p:cNvGraphicFramePr>
            <a:graphicFrameLocks noGrp="1"/>
          </p:cNvGraphicFramePr>
          <p:nvPr>
            <p:extLst>
              <p:ext uri="{D42A27DB-BD31-4B8C-83A1-F6EECF244321}">
                <p14:modId xmlns:p14="http://schemas.microsoft.com/office/powerpoint/2010/main" val="2301797308"/>
              </p:ext>
            </p:extLst>
          </p:nvPr>
        </p:nvGraphicFramePr>
        <p:xfrm>
          <a:off x="10661373" y="1937532"/>
          <a:ext cx="1459230" cy="1483360"/>
        </p:xfrm>
        <a:graphic>
          <a:graphicData uri="http://schemas.openxmlformats.org/drawingml/2006/table">
            <a:tbl>
              <a:tblPr firstRow="1" bandRow="1">
                <a:tableStyleId>{69012ECD-51FC-41F1-AA8D-1B2483CD663E}</a:tableStyleId>
              </a:tblPr>
              <a:tblGrid>
                <a:gridCol w="1459230">
                  <a:extLst>
                    <a:ext uri="{9D8B030D-6E8A-4147-A177-3AD203B41FA5}">
                      <a16:colId xmlns:a16="http://schemas.microsoft.com/office/drawing/2014/main" val="1344018333"/>
                    </a:ext>
                  </a:extLst>
                </a:gridCol>
              </a:tblGrid>
              <a:tr h="370840">
                <a:tc>
                  <a:txBody>
                    <a:bodyPr/>
                    <a:lstStyle/>
                    <a:p>
                      <a:r>
                        <a:rPr lang="en-US" altLang="zh-CN" sz="1200" b="1" kern="1200" dirty="0">
                          <a:solidFill>
                            <a:schemeClr val="tx1"/>
                          </a:solidFill>
                          <a:latin typeface="Arial" panose="020B0604020202020204" pitchFamily="34" charset="0"/>
                          <a:ea typeface="微软雅黑" panose="020B0503020204020204" pitchFamily="34" charset="-122"/>
                        </a:rPr>
                        <a:t>Allocation</a:t>
                      </a:r>
                      <a:r>
                        <a:rPr lang="en-US" altLang="zh-CN" sz="1200" b="1" dirty="0">
                          <a:latin typeface="Arial" panose="020B0604020202020204" pitchFamily="34" charset="0"/>
                          <a:ea typeface="微软雅黑" panose="020B0503020204020204" pitchFamily="34" charset="-122"/>
                        </a:rPr>
                        <a:t> </a:t>
                      </a:r>
                      <a:r>
                        <a:rPr lang="en-US" altLang="zh-CN" sz="1200" b="1" dirty="0">
                          <a:solidFill>
                            <a:schemeClr val="tx1"/>
                          </a:solidFill>
                          <a:latin typeface="Arial" panose="020B0604020202020204" pitchFamily="34" charset="0"/>
                          <a:ea typeface="微软雅黑" panose="020B0503020204020204" pitchFamily="34" charset="-122"/>
                        </a:rPr>
                        <a:t>Rule</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924863052"/>
                  </a:ext>
                </a:extLst>
              </a:tr>
              <a:tr h="370840">
                <a:tc>
                  <a:txBody>
                    <a:bodyPr/>
                    <a:lstStyle/>
                    <a:p>
                      <a:r>
                        <a:rPr lang="en-US" altLang="zh-CN" sz="1200" b="1" dirty="0">
                          <a:latin typeface="Arial" panose="020B0604020202020204" pitchFamily="34" charset="0"/>
                          <a:ea typeface="微软雅黑" panose="020B0503020204020204" pitchFamily="34" charset="-122"/>
                        </a:rPr>
                        <a:t>FIFS</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67451"/>
                  </a:ext>
                </a:extLst>
              </a:tr>
              <a:tr h="370840">
                <a:tc>
                  <a:txBody>
                    <a:bodyPr/>
                    <a:lstStyle/>
                    <a:p>
                      <a:r>
                        <a:rPr lang="en-US" altLang="zh-CN" sz="1200" b="1" dirty="0">
                          <a:latin typeface="Arial" panose="020B0604020202020204" pitchFamily="34" charset="0"/>
                          <a:ea typeface="微软雅黑" panose="020B0503020204020204" pitchFamily="34" charset="-122"/>
                        </a:rPr>
                        <a:t>Fair Share</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76801"/>
                  </a:ext>
                </a:extLst>
              </a:tr>
              <a:tr h="370840">
                <a:tc>
                  <a:txBody>
                    <a:bodyPr/>
                    <a:lstStyle/>
                    <a:p>
                      <a:r>
                        <a:rPr lang="en-US" altLang="zh-CN" sz="1200" b="1" dirty="0">
                          <a:latin typeface="Arial" panose="020B0604020202020204" pitchFamily="34" charset="0"/>
                          <a:ea typeface="微软雅黑" panose="020B0503020204020204" pitchFamily="34" charset="-122"/>
                        </a:rPr>
                        <a:t>Equal Share</a:t>
                      </a:r>
                      <a:endParaRPr lang="zh-CN" altLang="en-US" sz="1200" b="1" dirty="0">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948682"/>
                  </a:ext>
                </a:extLst>
              </a:tr>
            </a:tbl>
          </a:graphicData>
        </a:graphic>
      </p:graphicFrame>
      <p:sp>
        <p:nvSpPr>
          <p:cNvPr id="16" name="文本框 15">
            <a:extLst>
              <a:ext uri="{FF2B5EF4-FFF2-40B4-BE49-F238E27FC236}">
                <a16:creationId xmlns:a16="http://schemas.microsoft.com/office/drawing/2014/main" id="{556E21C9-3E96-1E1B-61F5-3AF209A3F262}"/>
              </a:ext>
            </a:extLst>
          </p:cNvPr>
          <p:cNvSpPr txBox="1"/>
          <p:nvPr/>
        </p:nvSpPr>
        <p:spPr>
          <a:xfrm>
            <a:off x="7698265" y="1573105"/>
            <a:ext cx="162877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Prioritization</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矩形 17">
            <a:extLst>
              <a:ext uri="{FF2B5EF4-FFF2-40B4-BE49-F238E27FC236}">
                <a16:creationId xmlns:a16="http://schemas.microsoft.com/office/drawing/2014/main" id="{90D68CEA-9886-204D-2B2E-AEEAFE5A0174}"/>
              </a:ext>
            </a:extLst>
          </p:cNvPr>
          <p:cNvSpPr/>
          <p:nvPr/>
        </p:nvSpPr>
        <p:spPr>
          <a:xfrm>
            <a:off x="5878990" y="2716771"/>
            <a:ext cx="1962150" cy="4381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Consensus Forecast</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9" name="连接符: 肘形 18">
            <a:extLst>
              <a:ext uri="{FF2B5EF4-FFF2-40B4-BE49-F238E27FC236}">
                <a16:creationId xmlns:a16="http://schemas.microsoft.com/office/drawing/2014/main" id="{59BCB37B-2687-8B45-D246-0C2453A87099}"/>
              </a:ext>
            </a:extLst>
          </p:cNvPr>
          <p:cNvCxnSpPr>
            <a:stCxn id="18" idx="0"/>
            <a:endCxn id="9" idx="2"/>
          </p:cNvCxnSpPr>
          <p:nvPr/>
        </p:nvCxnSpPr>
        <p:spPr>
          <a:xfrm rot="5400000" flipH="1" flipV="1">
            <a:off x="6706116" y="2562822"/>
            <a:ext cx="307898" cy="12700"/>
          </a:xfrm>
          <a:prstGeom prst="bentConnector3">
            <a:avLst>
              <a:gd name="adj1" fmla="val 114965"/>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1BBD8B16-B509-7370-BF32-306C8BCF7278}"/>
              </a:ext>
            </a:extLst>
          </p:cNvPr>
          <p:cNvSpPr/>
          <p:nvPr/>
        </p:nvSpPr>
        <p:spPr>
          <a:xfrm>
            <a:off x="5872640" y="3896640"/>
            <a:ext cx="1962150" cy="43815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MP - Allocation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9" name="矩形 28">
            <a:extLst>
              <a:ext uri="{FF2B5EF4-FFF2-40B4-BE49-F238E27FC236}">
                <a16:creationId xmlns:a16="http://schemas.microsoft.com/office/drawing/2014/main" id="{39A28C1A-6A78-B7E6-FADE-62A9ADA53AA2}"/>
              </a:ext>
            </a:extLst>
          </p:cNvPr>
          <p:cNvSpPr/>
          <p:nvPr/>
        </p:nvSpPr>
        <p:spPr>
          <a:xfrm>
            <a:off x="5885814" y="4815883"/>
            <a:ext cx="1962150" cy="43815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Allotment</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1" name="直接箭头连接符 30">
            <a:extLst>
              <a:ext uri="{FF2B5EF4-FFF2-40B4-BE49-F238E27FC236}">
                <a16:creationId xmlns:a16="http://schemas.microsoft.com/office/drawing/2014/main" id="{D37BBFD7-8799-B774-49CA-4375571F2E9B}"/>
              </a:ext>
            </a:extLst>
          </p:cNvPr>
          <p:cNvCxnSpPr>
            <a:stCxn id="18" idx="2"/>
            <a:endCxn id="28" idx="0"/>
          </p:cNvCxnSpPr>
          <p:nvPr/>
        </p:nvCxnSpPr>
        <p:spPr>
          <a:xfrm flipH="1">
            <a:off x="6853715" y="3154921"/>
            <a:ext cx="6350" cy="741719"/>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715363C5-3656-145B-30F1-C6B937BA0829}"/>
              </a:ext>
            </a:extLst>
          </p:cNvPr>
          <p:cNvCxnSpPr>
            <a:cxnSpLocks/>
            <a:stCxn id="28" idx="2"/>
            <a:endCxn id="29" idx="0"/>
          </p:cNvCxnSpPr>
          <p:nvPr/>
        </p:nvCxnSpPr>
        <p:spPr>
          <a:xfrm>
            <a:off x="6853715" y="4334790"/>
            <a:ext cx="13174" cy="481093"/>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34" name="表格 33">
            <a:extLst>
              <a:ext uri="{FF2B5EF4-FFF2-40B4-BE49-F238E27FC236}">
                <a16:creationId xmlns:a16="http://schemas.microsoft.com/office/drawing/2014/main" id="{398B5E6D-A605-F6E8-9AF5-E2890CE10318}"/>
              </a:ext>
            </a:extLst>
          </p:cNvPr>
          <p:cNvGraphicFramePr>
            <a:graphicFrameLocks noGrp="1"/>
          </p:cNvGraphicFramePr>
          <p:nvPr>
            <p:extLst>
              <p:ext uri="{D42A27DB-BD31-4B8C-83A1-F6EECF244321}">
                <p14:modId xmlns:p14="http://schemas.microsoft.com/office/powerpoint/2010/main" val="2314684780"/>
              </p:ext>
            </p:extLst>
          </p:nvPr>
        </p:nvGraphicFramePr>
        <p:xfrm>
          <a:off x="9463421" y="4251000"/>
          <a:ext cx="1352550" cy="1132856"/>
        </p:xfrm>
        <a:graphic>
          <a:graphicData uri="http://schemas.openxmlformats.org/drawingml/2006/table">
            <a:tbl>
              <a:tblPr firstRow="1" bandRow="1">
                <a:tableStyleId>{69012ECD-51FC-41F1-AA8D-1B2483CD663E}</a:tableStyleId>
              </a:tblPr>
              <a:tblGrid>
                <a:gridCol w="1352550">
                  <a:extLst>
                    <a:ext uri="{9D8B030D-6E8A-4147-A177-3AD203B41FA5}">
                      <a16:colId xmlns:a16="http://schemas.microsoft.com/office/drawing/2014/main" val="1344018333"/>
                    </a:ext>
                  </a:extLst>
                </a:gridCol>
              </a:tblGrid>
              <a:tr h="280151">
                <a:tc>
                  <a:txBody>
                    <a:bodyPr/>
                    <a:lstStyle/>
                    <a:p>
                      <a:r>
                        <a:rPr lang="en-US" altLang="zh-CN" sz="1200" b="1" dirty="0">
                          <a:solidFill>
                            <a:schemeClr val="tx1"/>
                          </a:solidFill>
                          <a:latin typeface="Arial" panose="020B0604020202020204" pitchFamily="34" charset="0"/>
                          <a:ea typeface="微软雅黑" panose="020B0503020204020204" pitchFamily="34" charset="-122"/>
                        </a:rPr>
                        <a:t>Buckets</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924863052"/>
                  </a:ext>
                </a:extLst>
              </a:tr>
              <a:tr h="284235">
                <a:tc>
                  <a:txBody>
                    <a:bodyPr/>
                    <a:lstStyle/>
                    <a:p>
                      <a:r>
                        <a:rPr lang="en-US" altLang="zh-CN" sz="1200" b="1" dirty="0">
                          <a:solidFill>
                            <a:schemeClr val="tx1"/>
                          </a:solidFill>
                          <a:latin typeface="Arial" panose="020B0604020202020204" pitchFamily="34" charset="0"/>
                          <a:ea typeface="微软雅黑" panose="020B0503020204020204" pitchFamily="34" charset="-122"/>
                        </a:rPr>
                        <a:t>Day</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67451"/>
                  </a:ext>
                </a:extLst>
              </a:tr>
              <a:tr h="284235">
                <a:tc>
                  <a:txBody>
                    <a:bodyPr/>
                    <a:lstStyle/>
                    <a:p>
                      <a:r>
                        <a:rPr lang="en-US" altLang="zh-CN" sz="1200" b="1" dirty="0">
                          <a:solidFill>
                            <a:schemeClr val="tx1"/>
                          </a:solidFill>
                          <a:latin typeface="Arial" panose="020B0604020202020204" pitchFamily="34" charset="0"/>
                          <a:ea typeface="微软雅黑" panose="020B0503020204020204" pitchFamily="34" charset="-122"/>
                        </a:rPr>
                        <a:t>Week</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76801"/>
                  </a:ext>
                </a:extLst>
              </a:tr>
              <a:tr h="284235">
                <a:tc>
                  <a:txBody>
                    <a:bodyPr/>
                    <a:lstStyle/>
                    <a:p>
                      <a:r>
                        <a:rPr lang="en-US" altLang="zh-CN" sz="1200" b="1" dirty="0">
                          <a:solidFill>
                            <a:schemeClr val="tx1"/>
                          </a:solidFill>
                          <a:latin typeface="Arial" panose="020B0604020202020204" pitchFamily="34" charset="0"/>
                          <a:ea typeface="微软雅黑" panose="020B0503020204020204" pitchFamily="34" charset="-122"/>
                        </a:rPr>
                        <a:t>Month</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948682"/>
                  </a:ext>
                </a:extLst>
              </a:tr>
            </a:tbl>
          </a:graphicData>
        </a:graphic>
      </p:graphicFrame>
      <p:graphicFrame>
        <p:nvGraphicFramePr>
          <p:cNvPr id="35" name="表格 34">
            <a:extLst>
              <a:ext uri="{FF2B5EF4-FFF2-40B4-BE49-F238E27FC236}">
                <a16:creationId xmlns:a16="http://schemas.microsoft.com/office/drawing/2014/main" id="{2F6AE81C-392B-CFEC-8D15-41E01A818259}"/>
              </a:ext>
            </a:extLst>
          </p:cNvPr>
          <p:cNvGraphicFramePr>
            <a:graphicFrameLocks noGrp="1"/>
          </p:cNvGraphicFramePr>
          <p:nvPr>
            <p:extLst>
              <p:ext uri="{D42A27DB-BD31-4B8C-83A1-F6EECF244321}">
                <p14:modId xmlns:p14="http://schemas.microsoft.com/office/powerpoint/2010/main" val="1713552281"/>
              </p:ext>
            </p:extLst>
          </p:nvPr>
        </p:nvGraphicFramePr>
        <p:xfrm>
          <a:off x="10859386" y="4262569"/>
          <a:ext cx="1096053" cy="1114650"/>
        </p:xfrm>
        <a:graphic>
          <a:graphicData uri="http://schemas.openxmlformats.org/drawingml/2006/table">
            <a:tbl>
              <a:tblPr firstRow="1" bandRow="1">
                <a:tableStyleId>{69012ECD-51FC-41F1-AA8D-1B2483CD663E}</a:tableStyleId>
              </a:tblPr>
              <a:tblGrid>
                <a:gridCol w="1096053">
                  <a:extLst>
                    <a:ext uri="{9D8B030D-6E8A-4147-A177-3AD203B41FA5}">
                      <a16:colId xmlns:a16="http://schemas.microsoft.com/office/drawing/2014/main" val="1344018333"/>
                    </a:ext>
                  </a:extLst>
                </a:gridCol>
              </a:tblGrid>
              <a:tr h="275790">
                <a:tc>
                  <a:txBody>
                    <a:bodyPr/>
                    <a:lstStyle/>
                    <a:p>
                      <a:r>
                        <a:rPr lang="en-US" altLang="zh-CN" sz="1200" b="1" dirty="0">
                          <a:solidFill>
                            <a:schemeClr val="tx1"/>
                          </a:solidFill>
                          <a:latin typeface="Arial" panose="020B0604020202020204" pitchFamily="34" charset="0"/>
                          <a:ea typeface="微软雅黑" panose="020B0503020204020204" pitchFamily="34" charset="-122"/>
                        </a:rPr>
                        <a:t>Intervals</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924863052"/>
                  </a:ext>
                </a:extLst>
              </a:tr>
              <a:tr h="279620">
                <a:tc>
                  <a:txBody>
                    <a:bodyPr/>
                    <a:lstStyle/>
                    <a:p>
                      <a:r>
                        <a:rPr lang="en-US" altLang="zh-CN" sz="1200" b="1" dirty="0">
                          <a:solidFill>
                            <a:schemeClr val="tx1"/>
                          </a:solidFill>
                          <a:latin typeface="Arial" panose="020B0604020202020204" pitchFamily="34" charset="0"/>
                          <a:ea typeface="微软雅黑" panose="020B0503020204020204" pitchFamily="34" charset="-122"/>
                        </a:rPr>
                        <a:t>1</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67451"/>
                  </a:ext>
                </a:extLst>
              </a:tr>
              <a:tr h="279620">
                <a:tc>
                  <a:txBody>
                    <a:bodyPr/>
                    <a:lstStyle/>
                    <a:p>
                      <a:r>
                        <a:rPr lang="en-US" altLang="zh-CN" sz="1200" b="1" dirty="0">
                          <a:solidFill>
                            <a:schemeClr val="tx1"/>
                          </a:solidFill>
                          <a:latin typeface="Arial" panose="020B0604020202020204" pitchFamily="34" charset="0"/>
                          <a:ea typeface="微软雅黑" panose="020B0503020204020204" pitchFamily="34" charset="-122"/>
                        </a:rPr>
                        <a:t>3</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76801"/>
                  </a:ext>
                </a:extLst>
              </a:tr>
              <a:tr h="279620">
                <a:tc>
                  <a:txBody>
                    <a:bodyPr/>
                    <a:lstStyle/>
                    <a:p>
                      <a:r>
                        <a:rPr lang="en-US" altLang="zh-CN" sz="1200" b="1" dirty="0">
                          <a:solidFill>
                            <a:schemeClr val="tx1"/>
                          </a:solidFill>
                          <a:latin typeface="Arial" panose="020B0604020202020204" pitchFamily="34" charset="0"/>
                          <a:ea typeface="微软雅黑" panose="020B0503020204020204" pitchFamily="34" charset="-122"/>
                        </a:rPr>
                        <a:t>4</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948682"/>
                  </a:ext>
                </a:extLst>
              </a:tr>
            </a:tbl>
          </a:graphicData>
        </a:graphic>
      </p:graphicFrame>
      <p:graphicFrame>
        <p:nvGraphicFramePr>
          <p:cNvPr id="36" name="表格 35">
            <a:extLst>
              <a:ext uri="{FF2B5EF4-FFF2-40B4-BE49-F238E27FC236}">
                <a16:creationId xmlns:a16="http://schemas.microsoft.com/office/drawing/2014/main" id="{BB334373-6872-37E4-5A5A-C71509A864EE}"/>
              </a:ext>
            </a:extLst>
          </p:cNvPr>
          <p:cNvGraphicFramePr>
            <a:graphicFrameLocks noGrp="1"/>
          </p:cNvGraphicFramePr>
          <p:nvPr>
            <p:extLst>
              <p:ext uri="{D42A27DB-BD31-4B8C-83A1-F6EECF244321}">
                <p14:modId xmlns:p14="http://schemas.microsoft.com/office/powerpoint/2010/main" val="243699406"/>
              </p:ext>
            </p:extLst>
          </p:nvPr>
        </p:nvGraphicFramePr>
        <p:xfrm>
          <a:off x="7958348" y="4251000"/>
          <a:ext cx="1461658" cy="822960"/>
        </p:xfrm>
        <a:graphic>
          <a:graphicData uri="http://schemas.openxmlformats.org/drawingml/2006/table">
            <a:tbl>
              <a:tblPr firstRow="1" bandRow="1">
                <a:tableStyleId>{69012ECD-51FC-41F1-AA8D-1B2483CD663E}</a:tableStyleId>
              </a:tblPr>
              <a:tblGrid>
                <a:gridCol w="730829">
                  <a:extLst>
                    <a:ext uri="{9D8B030D-6E8A-4147-A177-3AD203B41FA5}">
                      <a16:colId xmlns:a16="http://schemas.microsoft.com/office/drawing/2014/main" val="1344018333"/>
                    </a:ext>
                  </a:extLst>
                </a:gridCol>
                <a:gridCol w="730829">
                  <a:extLst>
                    <a:ext uri="{9D8B030D-6E8A-4147-A177-3AD203B41FA5}">
                      <a16:colId xmlns:a16="http://schemas.microsoft.com/office/drawing/2014/main" val="1590128216"/>
                    </a:ext>
                  </a:extLst>
                </a:gridCol>
              </a:tblGrid>
              <a:tr h="242920">
                <a:tc gridSpan="2">
                  <a:txBody>
                    <a:bodyPr/>
                    <a:lstStyle/>
                    <a:p>
                      <a:pPr algn="ctr"/>
                      <a:r>
                        <a:rPr lang="en-US" altLang="zh-CN" sz="1200" b="1" dirty="0">
                          <a:solidFill>
                            <a:schemeClr val="tx1"/>
                          </a:solidFill>
                          <a:latin typeface="Arial" panose="020B0604020202020204" pitchFamily="34" charset="0"/>
                          <a:ea typeface="微软雅黑" panose="020B0503020204020204" pitchFamily="34" charset="-122"/>
                        </a:rPr>
                        <a:t>Round</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zh-CN" altLang="en-US" dirty="0"/>
                    </a:p>
                  </a:txBody>
                  <a:tcPr/>
                </a:tc>
                <a:extLst>
                  <a:ext uri="{0D108BD9-81ED-4DB2-BD59-A6C34878D82A}">
                    <a16:rowId xmlns:a16="http://schemas.microsoft.com/office/drawing/2014/main" val="2924863052"/>
                  </a:ext>
                </a:extLst>
              </a:tr>
              <a:tr h="255154">
                <a:tc>
                  <a:txBody>
                    <a:bodyPr/>
                    <a:lstStyle/>
                    <a:p>
                      <a:r>
                        <a:rPr lang="en-US" altLang="zh-CN" sz="1200" b="1" dirty="0">
                          <a:solidFill>
                            <a:schemeClr val="tx1"/>
                          </a:solidFill>
                          <a:latin typeface="Arial" panose="020B0604020202020204" pitchFamily="34" charset="0"/>
                          <a:ea typeface="微软雅黑" panose="020B0503020204020204" pitchFamily="34" charset="-122"/>
                        </a:rPr>
                        <a:t>1</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tx1"/>
                          </a:solidFill>
                          <a:latin typeface="Arial" panose="020B0604020202020204" pitchFamily="34" charset="0"/>
                          <a:ea typeface="微软雅黑" panose="020B0503020204020204" pitchFamily="34" charset="-122"/>
                        </a:rPr>
                        <a:t>Left</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67451"/>
                  </a:ext>
                </a:extLst>
              </a:tr>
              <a:tr h="255154">
                <a:tc>
                  <a:txBody>
                    <a:bodyPr/>
                    <a:lstStyle/>
                    <a:p>
                      <a:r>
                        <a:rPr lang="en-US" altLang="zh-CN" sz="1200" b="1" dirty="0">
                          <a:solidFill>
                            <a:schemeClr val="tx1"/>
                          </a:solidFill>
                          <a:latin typeface="Arial" panose="020B0604020202020204" pitchFamily="34" charset="0"/>
                          <a:ea typeface="微软雅黑" panose="020B0503020204020204" pitchFamily="34" charset="-122"/>
                        </a:rPr>
                        <a:t>2</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tx1"/>
                          </a:solidFill>
                          <a:latin typeface="Arial" panose="020B0604020202020204" pitchFamily="34" charset="0"/>
                          <a:ea typeface="微软雅黑" panose="020B0503020204020204" pitchFamily="34" charset="-122"/>
                        </a:rPr>
                        <a:t>Right</a:t>
                      </a:r>
                      <a:endParaRPr lang="zh-CN" altLang="en-US" sz="1200" b="1"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76801"/>
                  </a:ext>
                </a:extLst>
              </a:tr>
            </a:tbl>
          </a:graphicData>
        </a:graphic>
      </p:graphicFrame>
      <p:cxnSp>
        <p:nvCxnSpPr>
          <p:cNvPr id="39" name="连接符: 肘形 38">
            <a:extLst>
              <a:ext uri="{FF2B5EF4-FFF2-40B4-BE49-F238E27FC236}">
                <a16:creationId xmlns:a16="http://schemas.microsoft.com/office/drawing/2014/main" id="{431C6736-1E78-A232-9C82-68919179CE17}"/>
              </a:ext>
            </a:extLst>
          </p:cNvPr>
          <p:cNvCxnSpPr>
            <a:cxnSpLocks/>
            <a:stCxn id="28" idx="3"/>
            <a:endCxn id="36" idx="0"/>
          </p:cNvCxnSpPr>
          <p:nvPr/>
        </p:nvCxnSpPr>
        <p:spPr>
          <a:xfrm>
            <a:off x="7834790" y="4115715"/>
            <a:ext cx="854387" cy="135285"/>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连接符: 肘形 40">
            <a:extLst>
              <a:ext uri="{FF2B5EF4-FFF2-40B4-BE49-F238E27FC236}">
                <a16:creationId xmlns:a16="http://schemas.microsoft.com/office/drawing/2014/main" id="{285CE824-3E28-C15E-F54B-8F9E2FAF5B25}"/>
              </a:ext>
            </a:extLst>
          </p:cNvPr>
          <p:cNvCxnSpPr>
            <a:cxnSpLocks/>
            <a:stCxn id="28" idx="3"/>
            <a:endCxn id="34" idx="0"/>
          </p:cNvCxnSpPr>
          <p:nvPr/>
        </p:nvCxnSpPr>
        <p:spPr>
          <a:xfrm>
            <a:off x="7834790" y="4115715"/>
            <a:ext cx="2304906" cy="135285"/>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连接符: 肘形 46">
            <a:extLst>
              <a:ext uri="{FF2B5EF4-FFF2-40B4-BE49-F238E27FC236}">
                <a16:creationId xmlns:a16="http://schemas.microsoft.com/office/drawing/2014/main" id="{152463FB-9FC6-B103-FE5B-6BB6ED3F852E}"/>
              </a:ext>
            </a:extLst>
          </p:cNvPr>
          <p:cNvCxnSpPr>
            <a:cxnSpLocks/>
            <a:stCxn id="28" idx="3"/>
            <a:endCxn id="35" idx="0"/>
          </p:cNvCxnSpPr>
          <p:nvPr/>
        </p:nvCxnSpPr>
        <p:spPr>
          <a:xfrm>
            <a:off x="7834790" y="4115715"/>
            <a:ext cx="3572622" cy="146854"/>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4" name="矩形 53">
            <a:extLst>
              <a:ext uri="{FF2B5EF4-FFF2-40B4-BE49-F238E27FC236}">
                <a16:creationId xmlns:a16="http://schemas.microsoft.com/office/drawing/2014/main" id="{3296521B-9923-2184-8C42-1D9B2514E0E1}"/>
              </a:ext>
            </a:extLst>
          </p:cNvPr>
          <p:cNvSpPr/>
          <p:nvPr/>
        </p:nvSpPr>
        <p:spPr>
          <a:xfrm>
            <a:off x="3450115" y="3895445"/>
            <a:ext cx="1962150" cy="43815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Allocation Node </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56" name="连接符: 肘形 55">
            <a:extLst>
              <a:ext uri="{FF2B5EF4-FFF2-40B4-BE49-F238E27FC236}">
                <a16:creationId xmlns:a16="http://schemas.microsoft.com/office/drawing/2014/main" id="{2676B777-7993-87E4-5E1E-45591A8ABEF2}"/>
              </a:ext>
            </a:extLst>
          </p:cNvPr>
          <p:cNvCxnSpPr>
            <a:stCxn id="54" idx="3"/>
            <a:endCxn id="28" idx="1"/>
          </p:cNvCxnSpPr>
          <p:nvPr/>
        </p:nvCxnSpPr>
        <p:spPr>
          <a:xfrm>
            <a:off x="5412265" y="4114520"/>
            <a:ext cx="460375" cy="1195"/>
          </a:xfrm>
          <a:prstGeom prst="bentConnector3">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9" name="矩形 58">
            <a:extLst>
              <a:ext uri="{FF2B5EF4-FFF2-40B4-BE49-F238E27FC236}">
                <a16:creationId xmlns:a16="http://schemas.microsoft.com/office/drawing/2014/main" id="{FBA8FC7A-8BB2-6177-76C0-1F714767188D}"/>
              </a:ext>
            </a:extLst>
          </p:cNvPr>
          <p:cNvSpPr/>
          <p:nvPr/>
        </p:nvSpPr>
        <p:spPr>
          <a:xfrm>
            <a:off x="5872640" y="6032009"/>
            <a:ext cx="1962150" cy="43815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Execution Planning</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71" name="直接箭头连接符 70">
            <a:extLst>
              <a:ext uri="{FF2B5EF4-FFF2-40B4-BE49-F238E27FC236}">
                <a16:creationId xmlns:a16="http://schemas.microsoft.com/office/drawing/2014/main" id="{3C47C652-17BD-D9C9-7B62-B41EC8EAB9A6}"/>
              </a:ext>
            </a:extLst>
          </p:cNvPr>
          <p:cNvCxnSpPr>
            <a:stCxn id="29" idx="2"/>
            <a:endCxn id="59" idx="0"/>
          </p:cNvCxnSpPr>
          <p:nvPr/>
        </p:nvCxnSpPr>
        <p:spPr>
          <a:xfrm flipH="1">
            <a:off x="6853715" y="5254033"/>
            <a:ext cx="13174" cy="777976"/>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5" name="直接箭头连接符 74">
            <a:extLst>
              <a:ext uri="{FF2B5EF4-FFF2-40B4-BE49-F238E27FC236}">
                <a16:creationId xmlns:a16="http://schemas.microsoft.com/office/drawing/2014/main" id="{30B2A719-E126-631D-54CB-16FF4A964FAF}"/>
              </a:ext>
            </a:extLst>
          </p:cNvPr>
          <p:cNvCxnSpPr>
            <a:cxnSpLocks/>
            <a:stCxn id="9" idx="3"/>
          </p:cNvCxnSpPr>
          <p:nvPr/>
        </p:nvCxnSpPr>
        <p:spPr>
          <a:xfrm>
            <a:off x="7841140" y="2180273"/>
            <a:ext cx="508272" cy="0"/>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76" name="直接箭头连接符 75">
            <a:extLst>
              <a:ext uri="{FF2B5EF4-FFF2-40B4-BE49-F238E27FC236}">
                <a16:creationId xmlns:a16="http://schemas.microsoft.com/office/drawing/2014/main" id="{C43B91BA-3348-5D8A-1A9D-8930BF4700C5}"/>
              </a:ext>
            </a:extLst>
          </p:cNvPr>
          <p:cNvCxnSpPr>
            <a:cxnSpLocks/>
          </p:cNvCxnSpPr>
          <p:nvPr/>
        </p:nvCxnSpPr>
        <p:spPr>
          <a:xfrm>
            <a:off x="10026066" y="2151131"/>
            <a:ext cx="635307" cy="0"/>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82" name="直接连接符 81">
            <a:extLst>
              <a:ext uri="{FF2B5EF4-FFF2-40B4-BE49-F238E27FC236}">
                <a16:creationId xmlns:a16="http://schemas.microsoft.com/office/drawing/2014/main" id="{07C977E7-C0C0-278E-9B36-E5F7C64100A3}"/>
              </a:ext>
            </a:extLst>
          </p:cNvPr>
          <p:cNvCxnSpPr>
            <a:cxnSpLocks/>
          </p:cNvCxnSpPr>
          <p:nvPr/>
        </p:nvCxnSpPr>
        <p:spPr>
          <a:xfrm>
            <a:off x="71397" y="3604287"/>
            <a:ext cx="12120603" cy="19196"/>
          </a:xfrm>
          <a:prstGeom prst="line">
            <a:avLst/>
          </a:prstGeom>
          <a:ln>
            <a:tailEnd type="none"/>
          </a:ln>
        </p:spPr>
        <p:style>
          <a:lnRef idx="2">
            <a:schemeClr val="accent1"/>
          </a:lnRef>
          <a:fillRef idx="0">
            <a:schemeClr val="accent1"/>
          </a:fillRef>
          <a:effectRef idx="1">
            <a:schemeClr val="accent1"/>
          </a:effectRef>
          <a:fontRef idx="minor">
            <a:schemeClr val="tx1"/>
          </a:fontRef>
        </p:style>
      </p:cxnSp>
      <p:cxnSp>
        <p:nvCxnSpPr>
          <p:cNvPr id="84" name="直接连接符 83">
            <a:extLst>
              <a:ext uri="{FF2B5EF4-FFF2-40B4-BE49-F238E27FC236}">
                <a16:creationId xmlns:a16="http://schemas.microsoft.com/office/drawing/2014/main" id="{A7508160-576F-8485-B09F-7073BAC4ABA5}"/>
              </a:ext>
            </a:extLst>
          </p:cNvPr>
          <p:cNvCxnSpPr>
            <a:cxnSpLocks/>
          </p:cNvCxnSpPr>
          <p:nvPr/>
        </p:nvCxnSpPr>
        <p:spPr>
          <a:xfrm>
            <a:off x="0" y="5703448"/>
            <a:ext cx="12120603" cy="19196"/>
          </a:xfrm>
          <a:prstGeom prst="line">
            <a:avLst/>
          </a:prstGeom>
          <a:ln>
            <a:tailEnd type="none"/>
          </a:ln>
        </p:spPr>
        <p:style>
          <a:lnRef idx="2">
            <a:schemeClr val="accent1"/>
          </a:lnRef>
          <a:fillRef idx="0">
            <a:schemeClr val="accent1"/>
          </a:fillRef>
          <a:effectRef idx="1">
            <a:schemeClr val="accent1"/>
          </a:effectRef>
          <a:fontRef idx="minor">
            <a:schemeClr val="tx1"/>
          </a:fontRef>
        </p:style>
      </p:cxnSp>
      <p:sp>
        <p:nvSpPr>
          <p:cNvPr id="85" name="矩形 84">
            <a:extLst>
              <a:ext uri="{FF2B5EF4-FFF2-40B4-BE49-F238E27FC236}">
                <a16:creationId xmlns:a16="http://schemas.microsoft.com/office/drawing/2014/main" id="{8C9E4D91-7817-9C82-C51D-050CDB43B7A6}"/>
              </a:ext>
            </a:extLst>
          </p:cNvPr>
          <p:cNvSpPr/>
          <p:nvPr/>
        </p:nvSpPr>
        <p:spPr>
          <a:xfrm>
            <a:off x="3450115" y="6003065"/>
            <a:ext cx="1962150" cy="43815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7" name="连接符: 肘形 86">
            <a:extLst>
              <a:ext uri="{FF2B5EF4-FFF2-40B4-BE49-F238E27FC236}">
                <a16:creationId xmlns:a16="http://schemas.microsoft.com/office/drawing/2014/main" id="{6B0C7964-8EB6-7F95-0F3C-008EE25D3BD5}"/>
              </a:ext>
            </a:extLst>
          </p:cNvPr>
          <p:cNvCxnSpPr>
            <a:cxnSpLocks/>
            <a:stCxn id="85" idx="1"/>
            <a:endCxn id="9" idx="0"/>
          </p:cNvCxnSpPr>
          <p:nvPr/>
        </p:nvCxnSpPr>
        <p:spPr>
          <a:xfrm rot="10800000" flipH="1">
            <a:off x="3450115" y="1961198"/>
            <a:ext cx="3409950" cy="4260942"/>
          </a:xfrm>
          <a:prstGeom prst="bentConnector4">
            <a:avLst>
              <a:gd name="adj1" fmla="val -6704"/>
              <a:gd name="adj2" fmla="val 125864"/>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7852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01BF275-3B45-76E9-63E5-BD198CABD358}"/>
              </a:ext>
            </a:extLst>
          </p:cNvPr>
          <p:cNvSpPr>
            <a:spLocks noGrp="1"/>
          </p:cNvSpPr>
          <p:nvPr>
            <p:ph type="ctrTitle"/>
          </p:nvPr>
        </p:nvSpPr>
        <p:spPr/>
        <p:txBody>
          <a:bodyPr/>
          <a:lstStyle/>
          <a:p>
            <a:r>
              <a:rPr lang="en-US" altLang="zh-CN" dirty="0">
                <a:latin typeface="Arial" panose="020B0604020202020204" pitchFamily="34" charset="0"/>
                <a:ea typeface="微软雅黑" panose="020B0503020204020204" pitchFamily="34" charset="-122"/>
              </a:rPr>
              <a:t>Forecast Consumption</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356506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6A603A-CF63-EEA0-FC5C-4041FC117055}"/>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业务和</a:t>
            </a:r>
            <a:r>
              <a:rPr lang="en-US" altLang="zh-CN" dirty="0">
                <a:latin typeface="Arial" panose="020B0604020202020204" pitchFamily="34" charset="0"/>
                <a:ea typeface="微软雅黑" panose="020B0503020204020204" pitchFamily="34" charset="-122"/>
              </a:rPr>
              <a:t>DT</a:t>
            </a:r>
            <a:r>
              <a:rPr lang="zh-CN" altLang="en-US" dirty="0">
                <a:latin typeface="Arial" panose="020B0604020202020204" pitchFamily="34" charset="0"/>
                <a:ea typeface="微软雅黑" panose="020B0503020204020204" pitchFamily="34" charset="-122"/>
              </a:rPr>
              <a:t>方案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效率，响应和柔性 </a:t>
            </a:r>
          </a:p>
        </p:txBody>
      </p:sp>
      <p:sp>
        <p:nvSpPr>
          <p:cNvPr id="3" name="TextBox1530">
            <a:extLst>
              <a:ext uri="{FF2B5EF4-FFF2-40B4-BE49-F238E27FC236}">
                <a16:creationId xmlns:a16="http://schemas.microsoft.com/office/drawing/2014/main" id="{C40ADC80-92C5-2F77-1C9F-0DD2420F9A40}"/>
              </a:ext>
            </a:extLst>
          </p:cNvPr>
          <p:cNvSpPr txBox="1"/>
          <p:nvPr/>
        </p:nvSpPr>
        <p:spPr>
          <a:xfrm>
            <a:off x="2078411" y="1253707"/>
            <a:ext cx="7552056" cy="419100"/>
          </a:xfrm>
          <a:prstGeom prst="rect">
            <a:avLst/>
          </a:prstGeom>
          <a:noFill/>
        </p:spPr>
        <p:txBody>
          <a:bodyPr wrap="square" lIns="0" tIns="0" rIns="0" bIns="0" rtlCol="0">
            <a:spAutoFit/>
          </a:bodyPr>
          <a:lstStyle/>
          <a:p>
            <a:pPr marL="0" marR="0" lvl="0" indent="0" algn="l" defTabSz="914400" rtl="0" eaLnBrk="0" fontAlgn="auto" latinLnBrk="0" hangingPunct="1">
              <a:lnSpc>
                <a:spcPct val="100000"/>
              </a:lnSpc>
              <a:spcBef>
                <a:spcPts val="0"/>
              </a:spcBef>
              <a:spcAft>
                <a:spcPts val="0"/>
              </a:spcAft>
              <a:buClrTx/>
              <a:buSzTx/>
              <a:buFontTx/>
              <a:buNone/>
              <a:tabLst/>
              <a:defRPr/>
            </a:pPr>
            <a:r>
              <a:rPr kumimoji="0" lang="en-US" altLang="zh-CN" sz="275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Efficiency</a:t>
            </a:r>
            <a:r>
              <a:rPr kumimoji="0" lang="en-US" altLang="zh-CN" sz="2750" b="0" i="0" u="none" strike="noStrike" kern="0" cap="none" spc="-15"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 </a:t>
            </a:r>
            <a:r>
              <a:rPr kumimoji="0" lang="en-US" altLang="zh-CN" sz="275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with</a:t>
            </a:r>
            <a:r>
              <a:rPr kumimoji="0" lang="en-US" altLang="zh-CN" sz="2750" b="0" i="0" u="none" strike="noStrike" kern="0" cap="none" spc="-15"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 </a:t>
            </a:r>
            <a:r>
              <a:rPr kumimoji="0" lang="en-US" altLang="zh-CN" sz="275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Responsiveness,</a:t>
            </a:r>
            <a:r>
              <a:rPr kumimoji="0" lang="en-US" altLang="zh-CN" sz="2750" b="0" i="0" u="none" strike="noStrike" kern="0" cap="none" spc="-15"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 </a:t>
            </a:r>
            <a:r>
              <a:rPr kumimoji="0" lang="en-US" altLang="zh-CN" sz="275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plus</a:t>
            </a:r>
            <a:r>
              <a:rPr kumimoji="0" lang="en-US" altLang="zh-CN" sz="2750" b="0" i="0" u="none" strike="noStrike" kern="0" cap="none" spc="-15"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 </a:t>
            </a:r>
            <a:r>
              <a:rPr kumimoji="0" lang="en-US" altLang="zh-CN" sz="275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Arial" pitchFamily="34" charset="0"/>
              </a:rPr>
              <a:t>Resilience</a:t>
            </a:r>
          </a:p>
        </p:txBody>
      </p:sp>
      <p:grpSp>
        <p:nvGrpSpPr>
          <p:cNvPr id="18" name="组合 17">
            <a:extLst>
              <a:ext uri="{FF2B5EF4-FFF2-40B4-BE49-F238E27FC236}">
                <a16:creationId xmlns:a16="http://schemas.microsoft.com/office/drawing/2014/main" id="{C9D4AA8F-A0BB-01FB-A1D3-989F0BCF7BC2}"/>
              </a:ext>
            </a:extLst>
          </p:cNvPr>
          <p:cNvGrpSpPr/>
          <p:nvPr/>
        </p:nvGrpSpPr>
        <p:grpSpPr>
          <a:xfrm>
            <a:off x="1295399" y="2445327"/>
            <a:ext cx="9608127" cy="4107873"/>
            <a:chOff x="2032115" y="1625469"/>
            <a:chExt cx="7552056" cy="3349940"/>
          </a:xfrm>
        </p:grpSpPr>
        <p:grpSp>
          <p:nvGrpSpPr>
            <p:cNvPr id="5" name="组合 4">
              <a:extLst>
                <a:ext uri="{FF2B5EF4-FFF2-40B4-BE49-F238E27FC236}">
                  <a16:creationId xmlns:a16="http://schemas.microsoft.com/office/drawing/2014/main" id="{5D2CC413-58E1-89E0-26B4-81356DFAC3F1}"/>
                </a:ext>
              </a:extLst>
            </p:cNvPr>
            <p:cNvGrpSpPr>
              <a:grpSpLocks noChangeAspect="1"/>
            </p:cNvGrpSpPr>
            <p:nvPr>
              <p:custDataLst>
                <p:tags r:id="rId1"/>
              </p:custDataLst>
            </p:nvPr>
          </p:nvGrpSpPr>
          <p:grpSpPr>
            <a:xfrm>
              <a:off x="2032115" y="1625469"/>
              <a:ext cx="7552056" cy="3140497"/>
              <a:chOff x="673099" y="1093836"/>
              <a:chExt cx="3566161" cy="4079244"/>
            </a:xfrm>
          </p:grpSpPr>
          <p:grpSp>
            <p:nvGrpSpPr>
              <p:cNvPr id="6" name="组合 5">
                <a:extLst>
                  <a:ext uri="{FF2B5EF4-FFF2-40B4-BE49-F238E27FC236}">
                    <a16:creationId xmlns:a16="http://schemas.microsoft.com/office/drawing/2014/main" id="{333421F3-7BC5-68C0-8EC1-98FF02D50845}"/>
                  </a:ext>
                </a:extLst>
              </p:cNvPr>
              <p:cNvGrpSpPr/>
              <p:nvPr/>
            </p:nvGrpSpPr>
            <p:grpSpPr>
              <a:xfrm>
                <a:off x="673099" y="1125791"/>
                <a:ext cx="1746251" cy="4047289"/>
                <a:chOff x="673099" y="1125791"/>
                <a:chExt cx="1746251" cy="4047289"/>
              </a:xfrm>
            </p:grpSpPr>
            <p:sp>
              <p:nvSpPr>
                <p:cNvPr id="12" name="1">
                  <a:extLst>
                    <a:ext uri="{FF2B5EF4-FFF2-40B4-BE49-F238E27FC236}">
                      <a16:creationId xmlns:a16="http://schemas.microsoft.com/office/drawing/2014/main" id="{A4133BF2-31DA-F1B2-31F6-B3D9B46E5262}"/>
                    </a:ext>
                  </a:extLst>
                </p:cNvPr>
                <p:cNvSpPr/>
                <p:nvPr>
                  <p:custDataLst>
                    <p:tags r:id="rId6"/>
                  </p:custDataLst>
                </p:nvPr>
              </p:nvSpPr>
              <p:spPr>
                <a:xfrm>
                  <a:off x="673099" y="1365061"/>
                  <a:ext cx="1746251" cy="3808019"/>
                </a:xfrm>
                <a:prstGeom prst="roundRect">
                  <a:avLst>
                    <a:gd name="adj" fmla="val 5088"/>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n-lt"/>
                    <a:ea typeface="+mn-ea"/>
                    <a:cs typeface="+mn-cs"/>
                  </a:endParaRPr>
                </a:p>
              </p:txBody>
            </p:sp>
            <p:sp>
              <p:nvSpPr>
                <p:cNvPr id="14" name="Body-1">
                  <a:extLst>
                    <a:ext uri="{FF2B5EF4-FFF2-40B4-BE49-F238E27FC236}">
                      <a16:creationId xmlns:a16="http://schemas.microsoft.com/office/drawing/2014/main" id="{FFD893CD-0961-BAC1-98A9-4329C2C29CD9}"/>
                    </a:ext>
                  </a:extLst>
                </p:cNvPr>
                <p:cNvSpPr>
                  <a:spLocks/>
                </p:cNvSpPr>
                <p:nvPr>
                  <p:custDataLst>
                    <p:tags r:id="rId7"/>
                  </p:custDataLst>
                </p:nvPr>
              </p:nvSpPr>
              <p:spPr>
                <a:xfrm>
                  <a:off x="784086" y="1944939"/>
                  <a:ext cx="1581150" cy="2619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Least-cost manufacturing/supply chain </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Relatively stable demand</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Reasonably accurate forecasts </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Make-to-stock strategy</a:t>
                  </a:r>
                  <a:endParaRPr kumimoji="0" lang="en-GB"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Title-1">
                  <a:extLst>
                    <a:ext uri="{FF2B5EF4-FFF2-40B4-BE49-F238E27FC236}">
                      <a16:creationId xmlns:a16="http://schemas.microsoft.com/office/drawing/2014/main" id="{E9A19C4C-3732-EBE3-C5A7-1DA1745E2297}"/>
                    </a:ext>
                  </a:extLst>
                </p:cNvPr>
                <p:cNvSpPr>
                  <a:spLocks/>
                </p:cNvSpPr>
                <p:nvPr>
                  <p:custDataLst>
                    <p:tags r:id="rId8"/>
                  </p:custDataLst>
                </p:nvPr>
              </p:nvSpPr>
              <p:spPr>
                <a:xfrm>
                  <a:off x="839492" y="1125791"/>
                  <a:ext cx="1470339" cy="709085"/>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效率供应链</a:t>
                  </a:r>
                  <a:endParaRPr kumimoji="0" lang="en-US" altLang="zh-CN" sz="2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7" name="组合 6">
                <a:extLst>
                  <a:ext uri="{FF2B5EF4-FFF2-40B4-BE49-F238E27FC236}">
                    <a16:creationId xmlns:a16="http://schemas.microsoft.com/office/drawing/2014/main" id="{9FFEA6B5-C9D5-79D8-965B-1FFC666E99AC}"/>
                  </a:ext>
                </a:extLst>
              </p:cNvPr>
              <p:cNvGrpSpPr/>
              <p:nvPr/>
            </p:nvGrpSpPr>
            <p:grpSpPr>
              <a:xfrm>
                <a:off x="2493009" y="1093836"/>
                <a:ext cx="1746251" cy="4075984"/>
                <a:chOff x="2493009" y="1093836"/>
                <a:chExt cx="1746251" cy="4075984"/>
              </a:xfrm>
            </p:grpSpPr>
            <p:sp>
              <p:nvSpPr>
                <p:cNvPr id="8" name="2">
                  <a:extLst>
                    <a:ext uri="{FF2B5EF4-FFF2-40B4-BE49-F238E27FC236}">
                      <a16:creationId xmlns:a16="http://schemas.microsoft.com/office/drawing/2014/main" id="{1F2837B9-6373-71F0-1A49-B555099C1569}"/>
                    </a:ext>
                  </a:extLst>
                </p:cNvPr>
                <p:cNvSpPr>
                  <a:spLocks/>
                </p:cNvSpPr>
                <p:nvPr>
                  <p:custDataLst>
                    <p:tags r:id="rId3"/>
                  </p:custDataLst>
                </p:nvPr>
              </p:nvSpPr>
              <p:spPr>
                <a:xfrm>
                  <a:off x="2493009" y="1361801"/>
                  <a:ext cx="1746251" cy="3808019"/>
                </a:xfrm>
                <a:prstGeom prst="roundRect">
                  <a:avLst>
                    <a:gd name="adj" fmla="val 5088"/>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n-lt"/>
                    <a:ea typeface="+mn-ea"/>
                    <a:cs typeface="+mn-cs"/>
                  </a:endParaRPr>
                </a:p>
              </p:txBody>
            </p:sp>
            <p:sp>
              <p:nvSpPr>
                <p:cNvPr id="10" name="Body-2">
                  <a:extLst>
                    <a:ext uri="{FF2B5EF4-FFF2-40B4-BE49-F238E27FC236}">
                      <a16:creationId xmlns:a16="http://schemas.microsoft.com/office/drawing/2014/main" id="{C942454E-DD8B-8114-BCE8-0F5C3CEF0187}"/>
                    </a:ext>
                  </a:extLst>
                </p:cNvPr>
                <p:cNvSpPr>
                  <a:spLocks/>
                </p:cNvSpPr>
                <p:nvPr>
                  <p:custDataLst>
                    <p:tags r:id="rId4"/>
                  </p:custDataLst>
                </p:nvPr>
              </p:nvSpPr>
              <p:spPr>
                <a:xfrm>
                  <a:off x="2575559" y="1959511"/>
                  <a:ext cx="1581150" cy="26191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Flexible in response to changing demand</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More volatile demand</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Uncertain forecasts</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MTO or ATO strategy</a:t>
                  </a:r>
                  <a:endParaRPr kumimoji="0" lang="en-GB"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1" name="Title-2">
                  <a:extLst>
                    <a:ext uri="{FF2B5EF4-FFF2-40B4-BE49-F238E27FC236}">
                      <a16:creationId xmlns:a16="http://schemas.microsoft.com/office/drawing/2014/main" id="{D1C1CE99-F9A1-DE9C-2150-7570B05C89EA}"/>
                    </a:ext>
                  </a:extLst>
                </p:cNvPr>
                <p:cNvSpPr>
                  <a:spLocks/>
                </p:cNvSpPr>
                <p:nvPr>
                  <p:custDataLst>
                    <p:tags r:id="rId5"/>
                  </p:custDataLst>
                </p:nvPr>
              </p:nvSpPr>
              <p:spPr>
                <a:xfrm>
                  <a:off x="2594257" y="1093836"/>
                  <a:ext cx="1470339" cy="701011"/>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响应供应链</a:t>
                  </a:r>
                  <a:endParaRPr kumimoji="0" lang="en-US" altLang="zh-CN" sz="2400" b="1" i="0" u="none" strike="noStrike" kern="1200" cap="none" spc="0" normalizeH="0" baseline="0" noProof="0" dirty="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sp>
          <p:nvSpPr>
            <p:cNvPr id="16" name="Title-2">
              <a:extLst>
                <a:ext uri="{FF2B5EF4-FFF2-40B4-BE49-F238E27FC236}">
                  <a16:creationId xmlns:a16="http://schemas.microsoft.com/office/drawing/2014/main" id="{DE1BD9CA-79B4-BE97-7A0E-FE5A71830D9E}"/>
                </a:ext>
              </a:extLst>
            </p:cNvPr>
            <p:cNvSpPr>
              <a:spLocks/>
            </p:cNvSpPr>
            <p:nvPr>
              <p:custDataLst>
                <p:tags r:id="rId2"/>
              </p:custDataLst>
            </p:nvPr>
          </p:nvSpPr>
          <p:spPr>
            <a:xfrm>
              <a:off x="4329269" y="4435082"/>
              <a:ext cx="3113735" cy="54032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弹性供应链</a:t>
              </a:r>
              <a:endParaRPr kumimoji="0" lang="en-US" altLang="zh-CN" sz="2400" b="1" i="0" u="none" strike="noStrike" kern="1200" cap="none" spc="0" normalizeH="0" baseline="0" noProof="0" dirty="0">
                <a:ln>
                  <a:noFill/>
                </a:ln>
                <a:solidFill>
                  <a:srgbClr val="EB7E3B"/>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Tree>
    <p:extLst>
      <p:ext uri="{BB962C8B-B14F-4D97-AF65-F5344CB8AC3E}">
        <p14:creationId xmlns:p14="http://schemas.microsoft.com/office/powerpoint/2010/main" val="16715853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8F138-3F4D-E009-C4D0-278D5C6788C5}"/>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业务和</a:t>
            </a:r>
            <a:r>
              <a:rPr lang="en-US" altLang="zh-CN" dirty="0">
                <a:latin typeface="Arial" panose="020B0604020202020204" pitchFamily="34" charset="0"/>
                <a:ea typeface="微软雅黑" panose="020B0503020204020204" pitchFamily="34" charset="-122"/>
              </a:rPr>
              <a:t>DT</a:t>
            </a:r>
            <a:r>
              <a:rPr lang="zh-CN" altLang="en-US" dirty="0">
                <a:latin typeface="Arial" panose="020B0604020202020204" pitchFamily="34" charset="0"/>
                <a:ea typeface="微软雅黑" panose="020B0503020204020204" pitchFamily="34" charset="-122"/>
              </a:rPr>
              <a:t>方案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供应链类型与产品匹配</a:t>
            </a:r>
          </a:p>
        </p:txBody>
      </p:sp>
      <p:graphicFrame>
        <p:nvGraphicFramePr>
          <p:cNvPr id="4" name="表格 3">
            <a:extLst>
              <a:ext uri="{FF2B5EF4-FFF2-40B4-BE49-F238E27FC236}">
                <a16:creationId xmlns:a16="http://schemas.microsoft.com/office/drawing/2014/main" id="{A51852FB-2E0D-6C89-6C60-D0A35D13ECF4}"/>
              </a:ext>
            </a:extLst>
          </p:cNvPr>
          <p:cNvGraphicFramePr>
            <a:graphicFrameLocks noGrp="1"/>
          </p:cNvGraphicFramePr>
          <p:nvPr>
            <p:extLst>
              <p:ext uri="{D42A27DB-BD31-4B8C-83A1-F6EECF244321}">
                <p14:modId xmlns:p14="http://schemas.microsoft.com/office/powerpoint/2010/main" val="2709493457"/>
              </p:ext>
            </p:extLst>
          </p:nvPr>
        </p:nvGraphicFramePr>
        <p:xfrm>
          <a:off x="2530762" y="1527077"/>
          <a:ext cx="7603838" cy="3803845"/>
        </p:xfrm>
        <a:graphic>
          <a:graphicData uri="http://schemas.openxmlformats.org/drawingml/2006/table">
            <a:tbl>
              <a:tblPr firstRow="1" bandRow="1">
                <a:tableStyleId>{69012ECD-51FC-41F1-AA8D-1B2483CD663E}</a:tableStyleId>
              </a:tblPr>
              <a:tblGrid>
                <a:gridCol w="3801919">
                  <a:extLst>
                    <a:ext uri="{9D8B030D-6E8A-4147-A177-3AD203B41FA5}">
                      <a16:colId xmlns:a16="http://schemas.microsoft.com/office/drawing/2014/main" val="794701976"/>
                    </a:ext>
                  </a:extLst>
                </a:gridCol>
                <a:gridCol w="3801919">
                  <a:extLst>
                    <a:ext uri="{9D8B030D-6E8A-4147-A177-3AD203B41FA5}">
                      <a16:colId xmlns:a16="http://schemas.microsoft.com/office/drawing/2014/main" val="3501879014"/>
                    </a:ext>
                  </a:extLst>
                </a:gridCol>
              </a:tblGrid>
              <a:tr h="974059">
                <a:tc>
                  <a:txBody>
                    <a:bodyPr/>
                    <a:lstStyle/>
                    <a:p>
                      <a:pPr algn="ctr"/>
                      <a:endParaRPr lang="en-US" altLang="zh-CN" sz="2000" b="1" dirty="0">
                        <a:latin typeface="Arial" panose="020B0604020202020204" pitchFamily="34" charset="0"/>
                        <a:ea typeface="微软雅黑" panose="020B0503020204020204" pitchFamily="34" charset="-122"/>
                      </a:endParaRPr>
                    </a:p>
                    <a:p>
                      <a:pPr algn="ctr"/>
                      <a:r>
                        <a:rPr lang="zh-CN" altLang="en-US" sz="2000" b="1" dirty="0">
                          <a:latin typeface="Arial" panose="020B0604020202020204" pitchFamily="34" charset="0"/>
                          <a:ea typeface="微软雅黑" panose="020B0503020204020204" pitchFamily="34" charset="-122"/>
                        </a:rPr>
                        <a:t>效率供应链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b="1" dirty="0">
                        <a:latin typeface="Arial" panose="020B0604020202020204" pitchFamily="34" charset="0"/>
                        <a:ea typeface="微软雅黑" panose="020B0503020204020204" pitchFamily="34" charset="-122"/>
                      </a:endParaRPr>
                    </a:p>
                    <a:p>
                      <a:pPr algn="ctr"/>
                      <a:r>
                        <a:rPr lang="zh-CN" altLang="en-US" sz="2000" b="1" dirty="0">
                          <a:latin typeface="Arial" panose="020B0604020202020204" pitchFamily="34" charset="0"/>
                          <a:ea typeface="微软雅黑" panose="020B0503020204020204" pitchFamily="34" charset="-122"/>
                        </a:rPr>
                        <a:t>响应供应链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631104"/>
                  </a:ext>
                </a:extLst>
              </a:tr>
              <a:tr h="1414893">
                <a:tc>
                  <a:txBody>
                    <a:bodyPr/>
                    <a:lstStyle/>
                    <a:p>
                      <a:pPr algn="ctr"/>
                      <a:endParaRPr lang="en-US" altLang="zh-CN" sz="2000" b="1" dirty="0">
                        <a:latin typeface="Arial" panose="020B0604020202020204" pitchFamily="34" charset="0"/>
                        <a:ea typeface="微软雅黑" panose="020B0503020204020204" pitchFamily="34" charset="-122"/>
                      </a:endParaRPr>
                    </a:p>
                    <a:p>
                      <a:pPr algn="ctr"/>
                      <a:endParaRPr lang="en-US" altLang="zh-CN" sz="2000" b="1" dirty="0">
                        <a:latin typeface="Arial" panose="020B0604020202020204" pitchFamily="34" charset="0"/>
                        <a:ea typeface="微软雅黑" panose="020B0503020204020204" pitchFamily="34" charset="-122"/>
                      </a:endParaRPr>
                    </a:p>
                    <a:p>
                      <a:pPr algn="ctr"/>
                      <a:r>
                        <a:rPr lang="en-US" altLang="zh-CN" sz="2000" b="1" dirty="0">
                          <a:latin typeface="Arial" panose="020B0604020202020204" pitchFamily="34" charset="0"/>
                          <a:ea typeface="微软雅黑" panose="020B0503020204020204" pitchFamily="34" charset="-122"/>
                        </a:rPr>
                        <a:t>MTS </a:t>
                      </a:r>
                      <a:r>
                        <a:rPr lang="zh-CN" altLang="en-US" sz="2000" b="1" dirty="0">
                          <a:latin typeface="Arial" panose="020B0604020202020204" pitchFamily="34" charset="0"/>
                          <a:ea typeface="微软雅黑" panose="020B0503020204020204" pitchFamily="34" charset="-122"/>
                        </a:rPr>
                        <a:t>产品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b="1" dirty="0">
                        <a:latin typeface="Arial" panose="020B0604020202020204" pitchFamily="34" charset="0"/>
                        <a:ea typeface="微软雅黑" panose="020B0503020204020204" pitchFamily="34" charset="-122"/>
                      </a:endParaRPr>
                    </a:p>
                    <a:p>
                      <a:pPr algn="ctr"/>
                      <a:endParaRPr lang="en-US" altLang="zh-CN" sz="2000" b="1" dirty="0">
                        <a:latin typeface="Arial" panose="020B0604020202020204" pitchFamily="34" charset="0"/>
                        <a:ea typeface="微软雅黑" panose="020B0503020204020204" pitchFamily="34" charset="-122"/>
                      </a:endParaRPr>
                    </a:p>
                    <a:p>
                      <a:pPr algn="ctr"/>
                      <a:r>
                        <a:rPr lang="en-US" altLang="zh-CN" sz="2000" b="1" dirty="0">
                          <a:latin typeface="Arial" panose="020B0604020202020204" pitchFamily="34" charset="0"/>
                          <a:ea typeface="微软雅黑" panose="020B0503020204020204" pitchFamily="34" charset="-122"/>
                        </a:rPr>
                        <a:t>ATO </a:t>
                      </a:r>
                      <a:r>
                        <a:rPr lang="zh-CN" altLang="en-US" sz="2000" b="1" dirty="0">
                          <a:latin typeface="Arial" panose="020B0604020202020204" pitchFamily="34" charset="0"/>
                          <a:ea typeface="微软雅黑" panose="020B0503020204020204" pitchFamily="34" charset="-122"/>
                        </a:rPr>
                        <a:t>产品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8797405"/>
                  </a:ext>
                </a:extLst>
              </a:tr>
              <a:tr h="1414893">
                <a:tc>
                  <a:txBody>
                    <a:bodyPr/>
                    <a:lstStyle/>
                    <a:p>
                      <a:pPr algn="ctr"/>
                      <a:endParaRPr lang="en-US" altLang="zh-CN" sz="2000" b="1" dirty="0">
                        <a:latin typeface="Arial" panose="020B0604020202020204" pitchFamily="34" charset="0"/>
                        <a:ea typeface="微软雅黑" panose="020B0503020204020204" pitchFamily="34" charset="-122"/>
                      </a:endParaRPr>
                    </a:p>
                    <a:p>
                      <a:pPr algn="ctr"/>
                      <a:endParaRPr lang="en-US" altLang="zh-CN" sz="2000" b="1" dirty="0">
                        <a:latin typeface="Arial" panose="020B0604020202020204" pitchFamily="34" charset="0"/>
                        <a:ea typeface="微软雅黑" panose="020B0503020204020204" pitchFamily="34" charset="-122"/>
                      </a:endParaRPr>
                    </a:p>
                    <a:p>
                      <a:pPr algn="ctr"/>
                      <a:r>
                        <a:rPr lang="en-US" altLang="zh-CN" sz="2000" b="1" dirty="0">
                          <a:latin typeface="Arial" panose="020B0604020202020204" pitchFamily="34" charset="0"/>
                          <a:ea typeface="微软雅黑" panose="020B0503020204020204" pitchFamily="34" charset="-122"/>
                        </a:rPr>
                        <a:t>MTS </a:t>
                      </a:r>
                      <a:r>
                        <a:rPr lang="zh-CN" altLang="en-US" sz="2000" b="1" dirty="0">
                          <a:latin typeface="Arial" panose="020B0604020202020204" pitchFamily="34" charset="0"/>
                          <a:ea typeface="微软雅黑" panose="020B0503020204020204" pitchFamily="34" charset="-122"/>
                        </a:rPr>
                        <a:t>产品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b="1" dirty="0">
                        <a:latin typeface="Arial" panose="020B0604020202020204" pitchFamily="34" charset="0"/>
                        <a:ea typeface="微软雅黑" panose="020B0503020204020204" pitchFamily="34" charset="-122"/>
                      </a:endParaRPr>
                    </a:p>
                    <a:p>
                      <a:pPr algn="ctr"/>
                      <a:endParaRPr lang="en-US" altLang="zh-CN" sz="2000" b="1" dirty="0">
                        <a:latin typeface="Arial" panose="020B0604020202020204" pitchFamily="34" charset="0"/>
                        <a:ea typeface="微软雅黑" panose="020B0503020204020204" pitchFamily="34" charset="-122"/>
                      </a:endParaRPr>
                    </a:p>
                    <a:p>
                      <a:pPr algn="ctr"/>
                      <a:r>
                        <a:rPr lang="en-US" altLang="zh-CN" sz="2000" b="1" dirty="0">
                          <a:latin typeface="Arial" panose="020B0604020202020204" pitchFamily="34" charset="0"/>
                          <a:ea typeface="微软雅黑" panose="020B0503020204020204" pitchFamily="34" charset="-122"/>
                        </a:rPr>
                        <a:t>MTO </a:t>
                      </a:r>
                      <a:r>
                        <a:rPr lang="zh-CN" altLang="en-US" sz="2000" b="1" dirty="0">
                          <a:latin typeface="Arial" panose="020B0604020202020204" pitchFamily="34" charset="0"/>
                          <a:ea typeface="微软雅黑" panose="020B0503020204020204" pitchFamily="34" charset="-122"/>
                        </a:rPr>
                        <a:t>产品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8088622"/>
                  </a:ext>
                </a:extLst>
              </a:tr>
            </a:tbl>
          </a:graphicData>
        </a:graphic>
      </p:graphicFrame>
      <p:grpSp>
        <p:nvGrpSpPr>
          <p:cNvPr id="11" name="组合 10">
            <a:extLst>
              <a:ext uri="{FF2B5EF4-FFF2-40B4-BE49-F238E27FC236}">
                <a16:creationId xmlns:a16="http://schemas.microsoft.com/office/drawing/2014/main" id="{035D3F62-C020-C4A3-0CF7-222F3540A846}"/>
              </a:ext>
            </a:extLst>
          </p:cNvPr>
          <p:cNvGrpSpPr/>
          <p:nvPr/>
        </p:nvGrpSpPr>
        <p:grpSpPr>
          <a:xfrm>
            <a:off x="886690" y="1617905"/>
            <a:ext cx="1246909" cy="3743795"/>
            <a:chOff x="1309255" y="2022764"/>
            <a:chExt cx="1059872" cy="3743795"/>
          </a:xfrm>
        </p:grpSpPr>
        <p:sp>
          <p:nvSpPr>
            <p:cNvPr id="5" name="文本框 4">
              <a:extLst>
                <a:ext uri="{FF2B5EF4-FFF2-40B4-BE49-F238E27FC236}">
                  <a16:creationId xmlns:a16="http://schemas.microsoft.com/office/drawing/2014/main" id="{4D89D7E5-FCF3-918B-3C4F-EB7E3F58CEA8}"/>
                </a:ext>
              </a:extLst>
            </p:cNvPr>
            <p:cNvSpPr txBox="1"/>
            <p:nvPr/>
          </p:nvSpPr>
          <p:spPr>
            <a:xfrm>
              <a:off x="1309255" y="2022764"/>
              <a:ext cx="87976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High</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文本框 8">
              <a:extLst>
                <a:ext uri="{FF2B5EF4-FFF2-40B4-BE49-F238E27FC236}">
                  <a16:creationId xmlns:a16="http://schemas.microsoft.com/office/drawing/2014/main" id="{D2731BE5-CF89-D281-DCA7-AD3B75A6D15A}"/>
                </a:ext>
              </a:extLst>
            </p:cNvPr>
            <p:cNvSpPr txBox="1"/>
            <p:nvPr/>
          </p:nvSpPr>
          <p:spPr>
            <a:xfrm>
              <a:off x="1309255" y="5366449"/>
              <a:ext cx="87976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Low</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D7BA92E7-5A84-B623-79E9-7EDBCE0837E5}"/>
                </a:ext>
              </a:extLst>
            </p:cNvPr>
            <p:cNvSpPr txBox="1"/>
            <p:nvPr/>
          </p:nvSpPr>
          <p:spPr>
            <a:xfrm>
              <a:off x="1309255" y="3585958"/>
              <a:ext cx="105987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Volume</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12" name="文本框 11">
            <a:extLst>
              <a:ext uri="{FF2B5EF4-FFF2-40B4-BE49-F238E27FC236}">
                <a16:creationId xmlns:a16="http://schemas.microsoft.com/office/drawing/2014/main" id="{A025E2AB-3B74-1A12-AF9A-3C0F5596813C}"/>
              </a:ext>
            </a:extLst>
          </p:cNvPr>
          <p:cNvSpPr txBox="1"/>
          <p:nvPr/>
        </p:nvSpPr>
        <p:spPr>
          <a:xfrm>
            <a:off x="2401024" y="5836614"/>
            <a:ext cx="101181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Low</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CF19513E-CA8F-ACB6-A3E1-16E51B76F3F1}"/>
              </a:ext>
            </a:extLst>
          </p:cNvPr>
          <p:cNvSpPr txBox="1"/>
          <p:nvPr/>
        </p:nvSpPr>
        <p:spPr>
          <a:xfrm>
            <a:off x="9122789" y="5836614"/>
            <a:ext cx="101181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High</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BA5BE724-F47A-E5ED-C66E-33E830742463}"/>
              </a:ext>
            </a:extLst>
          </p:cNvPr>
          <p:cNvSpPr txBox="1"/>
          <p:nvPr/>
        </p:nvSpPr>
        <p:spPr>
          <a:xfrm>
            <a:off x="4983742" y="5836614"/>
            <a:ext cx="280439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Uncertain Demand</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9707154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AF8E7B-2F12-03B7-7793-29398D04ADE1}"/>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业务和</a:t>
            </a:r>
            <a:r>
              <a:rPr lang="en-US" altLang="zh-CN" dirty="0">
                <a:latin typeface="Arial" panose="020B0604020202020204" pitchFamily="34" charset="0"/>
                <a:ea typeface="微软雅黑" panose="020B0503020204020204" pitchFamily="34" charset="-122"/>
              </a:rPr>
              <a:t>DT</a:t>
            </a:r>
            <a:r>
              <a:rPr lang="zh-CN" altLang="en-US" dirty="0">
                <a:latin typeface="Arial" panose="020B0604020202020204" pitchFamily="34" charset="0"/>
                <a:ea typeface="微软雅黑" panose="020B0503020204020204" pitchFamily="34" charset="-122"/>
              </a:rPr>
              <a:t>方案 </a:t>
            </a:r>
            <a:r>
              <a:rPr lang="en-US" altLang="zh-CN" dirty="0">
                <a:latin typeface="Arial" panose="020B0604020202020204" pitchFamily="34" charset="0"/>
                <a:ea typeface="微软雅黑" panose="020B0503020204020204" pitchFamily="34" charset="-122"/>
              </a:rPr>
              <a:t>– S&amp;OP  </a:t>
            </a:r>
            <a:endParaRPr lang="zh-CN" altLang="en-US" dirty="0">
              <a:latin typeface="Arial" panose="020B0604020202020204" pitchFamily="34" charset="0"/>
              <a:ea typeface="微软雅黑" panose="020B0503020204020204" pitchFamily="34" charset="-122"/>
            </a:endParaRPr>
          </a:p>
        </p:txBody>
      </p:sp>
      <p:graphicFrame>
        <p:nvGraphicFramePr>
          <p:cNvPr id="3" name="Table1459">
            <a:extLst>
              <a:ext uri="{FF2B5EF4-FFF2-40B4-BE49-F238E27FC236}">
                <a16:creationId xmlns:a16="http://schemas.microsoft.com/office/drawing/2014/main" id="{C3F65AC7-B90D-DA8A-9335-D95A3E1323C3}"/>
              </a:ext>
            </a:extLst>
          </p:cNvPr>
          <p:cNvGraphicFramePr>
            <a:graphicFrameLocks noGrp="1"/>
          </p:cNvGraphicFramePr>
          <p:nvPr>
            <p:extLst>
              <p:ext uri="{D42A27DB-BD31-4B8C-83A1-F6EECF244321}">
                <p14:modId xmlns:p14="http://schemas.microsoft.com/office/powerpoint/2010/main" val="3873602828"/>
              </p:ext>
            </p:extLst>
          </p:nvPr>
        </p:nvGraphicFramePr>
        <p:xfrm>
          <a:off x="4635189" y="2029546"/>
          <a:ext cx="7148946" cy="4255770"/>
        </p:xfrm>
        <a:graphic>
          <a:graphicData uri="http://schemas.openxmlformats.org/drawingml/2006/table">
            <a:tbl>
              <a:tblPr firstRow="1" bandRow="1"/>
              <a:tblGrid>
                <a:gridCol w="4613494">
                  <a:extLst>
                    <a:ext uri="{9D8B030D-6E8A-4147-A177-3AD203B41FA5}">
                      <a16:colId xmlns:a16="http://schemas.microsoft.com/office/drawing/2014/main" val="20000"/>
                    </a:ext>
                  </a:extLst>
                </a:gridCol>
                <a:gridCol w="2535452">
                  <a:extLst>
                    <a:ext uri="{9D8B030D-6E8A-4147-A177-3AD203B41FA5}">
                      <a16:colId xmlns:a16="http://schemas.microsoft.com/office/drawing/2014/main" val="20001"/>
                    </a:ext>
                  </a:extLst>
                </a:gridCol>
              </a:tblGrid>
              <a:tr h="386423">
                <a:tc>
                  <a:txBody>
                    <a:bodyPr/>
                    <a:lstStyle/>
                    <a:p>
                      <a:pPr marL="76200" marR="0" indent="0" eaLnBrk="0">
                        <a:lnSpc>
                          <a:spcPct val="102777"/>
                        </a:lnSpc>
                        <a:spcBef>
                          <a:spcPts val="300"/>
                        </a:spcBef>
                        <a:spcAft>
                          <a:spcPts val="200"/>
                        </a:spcAft>
                      </a:pPr>
                      <a:r>
                        <a:rPr lang="en-US" altLang="zh-CN" sz="1800" b="1" kern="0" spc="0" baseline="0" noProof="0" dirty="0">
                          <a:solidFill>
                            <a:srgbClr val="FFFFFF"/>
                          </a:solidFill>
                          <a:latin typeface="Arial" panose="020B0604020202020204" pitchFamily="34" charset="0"/>
                          <a:ea typeface="微软雅黑" panose="020B0503020204020204" pitchFamily="34" charset="-122"/>
                          <a:cs typeface="Arial" pitchFamily="34" charset="0"/>
                        </a:rPr>
                        <a:t>Supply-Demand</a:t>
                      </a:r>
                      <a:r>
                        <a:rPr lang="en-US" altLang="zh-CN" sz="1800" b="1" kern="0" spc="-15" baseline="0" noProof="0" dirty="0">
                          <a:solidFill>
                            <a:srgbClr val="FFFFFF"/>
                          </a:solidFill>
                          <a:latin typeface="Arial" panose="020B0604020202020204" pitchFamily="34" charset="0"/>
                          <a:ea typeface="微软雅黑" panose="020B0503020204020204" pitchFamily="34" charset="-122"/>
                          <a:cs typeface="Arial" pitchFamily="34" charset="0"/>
                        </a:rPr>
                        <a:t> </a:t>
                      </a:r>
                      <a:r>
                        <a:rPr lang="en-US" altLang="zh-CN" sz="1800" b="1" kern="0" spc="0" baseline="0" noProof="0" dirty="0">
                          <a:solidFill>
                            <a:srgbClr val="FFFFFF"/>
                          </a:solidFill>
                          <a:latin typeface="Arial" panose="020B0604020202020204" pitchFamily="34" charset="0"/>
                          <a:ea typeface="微软雅黑" panose="020B0503020204020204" pitchFamily="34" charset="-122"/>
                          <a:cs typeface="Arial" pitchFamily="34" charset="0"/>
                        </a:rPr>
                        <a:t>Option</a:t>
                      </a:r>
                    </a:p>
                  </a:txBody>
                  <a:tcPr marL="6350" marR="6350" marT="57150" marB="6350">
                    <a:lnL w="12700" cap="flat" cmpd="sng" algn="ctr">
                      <a:solidFill>
                        <a:srgbClr val="1C3879"/>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1C3879"/>
                      </a:solidFill>
                      <a:prstDash val="solid"/>
                      <a:round/>
                      <a:headEnd type="none" w="med" len="med"/>
                      <a:tailEnd type="none" w="med" len="med"/>
                    </a:lnT>
                    <a:lnB w="38100" cap="flat" cmpd="sng" algn="ctr">
                      <a:solidFill>
                        <a:srgbClr val="1C3879"/>
                      </a:solidFill>
                      <a:prstDash val="solid"/>
                      <a:round/>
                      <a:headEnd type="none" w="med" len="med"/>
                      <a:tailEnd type="none" w="med" len="med"/>
                    </a:lnB>
                    <a:solidFill>
                      <a:srgbClr val="1C3879"/>
                    </a:solidFill>
                  </a:tcPr>
                </a:tc>
                <a:tc>
                  <a:txBody>
                    <a:bodyPr/>
                    <a:lstStyle/>
                    <a:p>
                      <a:pPr marL="76200" marR="0" indent="0" eaLnBrk="0">
                        <a:lnSpc>
                          <a:spcPct val="102777"/>
                        </a:lnSpc>
                        <a:spcBef>
                          <a:spcPts val="300"/>
                        </a:spcBef>
                        <a:spcAft>
                          <a:spcPts val="200"/>
                        </a:spcAft>
                      </a:pPr>
                      <a:r>
                        <a:rPr lang="en-US" altLang="zh-CN" sz="1800" b="1" kern="0" spc="0" baseline="0" noProof="0" dirty="0">
                          <a:solidFill>
                            <a:srgbClr val="FFFFFF"/>
                          </a:solidFill>
                          <a:latin typeface="Arial" panose="020B0604020202020204" pitchFamily="34" charset="0"/>
                          <a:ea typeface="微软雅黑" panose="020B0503020204020204" pitchFamily="34" charset="-122"/>
                          <a:cs typeface="Arial" pitchFamily="34" charset="0"/>
                        </a:rPr>
                        <a:t>MPS</a:t>
                      </a:r>
                      <a:r>
                        <a:rPr lang="en-US" altLang="zh-CN" sz="1800" b="1" kern="0" spc="-15" baseline="0" noProof="0" dirty="0">
                          <a:solidFill>
                            <a:srgbClr val="FFFFFF"/>
                          </a:solidFill>
                          <a:latin typeface="Arial" panose="020B0604020202020204" pitchFamily="34" charset="0"/>
                          <a:ea typeface="微软雅黑" panose="020B0503020204020204" pitchFamily="34" charset="-122"/>
                          <a:cs typeface="Arial" pitchFamily="34" charset="0"/>
                        </a:rPr>
                        <a:t> </a:t>
                      </a:r>
                      <a:r>
                        <a:rPr lang="en-US" altLang="zh-CN" sz="1800" b="1" kern="0" spc="0" baseline="0" noProof="0" dirty="0">
                          <a:solidFill>
                            <a:srgbClr val="FFFFFF"/>
                          </a:solidFill>
                          <a:latin typeface="Arial" panose="020B0604020202020204" pitchFamily="34" charset="0"/>
                          <a:ea typeface="微软雅黑" panose="020B0503020204020204" pitchFamily="34" charset="-122"/>
                          <a:cs typeface="Arial" pitchFamily="34" charset="0"/>
                        </a:rPr>
                        <a:t>Focus</a:t>
                      </a:r>
                    </a:p>
                  </a:txBody>
                  <a:tcPr marL="6350" marR="6350" marT="57150" marB="6350">
                    <a:lnL w="12700" cap="flat" cmpd="sng" algn="ctr">
                      <a:solidFill>
                        <a:srgbClr val="DDDDDD"/>
                      </a:solidFill>
                      <a:prstDash val="solid"/>
                      <a:round/>
                      <a:headEnd type="none" w="med" len="med"/>
                      <a:tailEnd type="none" w="med" len="med"/>
                    </a:lnL>
                    <a:lnR w="12700" cap="flat" cmpd="sng" algn="ctr">
                      <a:solidFill>
                        <a:srgbClr val="1C3879"/>
                      </a:solidFill>
                      <a:prstDash val="solid"/>
                      <a:round/>
                      <a:headEnd type="none" w="med" len="med"/>
                      <a:tailEnd type="none" w="med" len="med"/>
                    </a:lnR>
                    <a:lnT w="12700" cap="flat" cmpd="sng" algn="ctr">
                      <a:solidFill>
                        <a:srgbClr val="1C3879"/>
                      </a:solidFill>
                      <a:prstDash val="solid"/>
                      <a:round/>
                      <a:headEnd type="none" w="med" len="med"/>
                      <a:tailEnd type="none" w="med" len="med"/>
                    </a:lnT>
                    <a:lnB w="38100" cap="flat" cmpd="sng" algn="ctr">
                      <a:solidFill>
                        <a:srgbClr val="1C3879"/>
                      </a:solidFill>
                      <a:prstDash val="solid"/>
                      <a:round/>
                      <a:headEnd type="none" w="med" len="med"/>
                      <a:tailEnd type="none" w="med" len="med"/>
                    </a:lnB>
                    <a:solidFill>
                      <a:srgbClr val="1C3879"/>
                    </a:solidFill>
                  </a:tcPr>
                </a:tc>
                <a:extLst>
                  <a:ext uri="{0D108BD9-81ED-4DB2-BD59-A6C34878D82A}">
                    <a16:rowId xmlns:a16="http://schemas.microsoft.com/office/drawing/2014/main" val="10000"/>
                  </a:ext>
                </a:extLst>
              </a:tr>
              <a:tr h="1197655">
                <a:tc>
                  <a:txBody>
                    <a:bodyPr/>
                    <a:lstStyle/>
                    <a:p>
                      <a:pPr marL="368300" marR="0" indent="-286436" eaLnBrk="0">
                        <a:lnSpc>
                          <a:spcPct val="100000"/>
                        </a:lnSpc>
                        <a:spcBef>
                          <a:spcPts val="200"/>
                        </a:spcBef>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Make-to-stock</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(MTS)</a:t>
                      </a:r>
                    </a:p>
                    <a:p>
                      <a:pPr marL="368300" marR="203200" lvl="0" indent="-286436" eaLnBrk="0">
                        <a:lnSpc>
                          <a:spcPct val="100000"/>
                        </a:lnSpc>
                        <a:buClr>
                          <a:srgbClr val="000000"/>
                        </a:buClr>
                        <a:buFont typeface="Arial" panose="34000000000000000000" charset="0"/>
                        <a:buChar char="•"/>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Few</a:t>
                      </a:r>
                      <a:r>
                        <a:rPr lang="en-US" altLang="zh-CN" sz="1800" kern="0" spc="-2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items</a:t>
                      </a:r>
                      <a:r>
                        <a:rPr lang="en-US" altLang="zh-CN" sz="1800" kern="0" spc="-2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made</a:t>
                      </a:r>
                      <a:r>
                        <a:rPr lang="en-US" altLang="zh-CN" sz="1800" kern="0" spc="-2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from many</a:t>
                      </a:r>
                      <a:r>
                        <a:rPr lang="en-US" altLang="zh-CN" sz="1800" kern="0" spc="-40"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components </a:t>
                      </a:r>
                    </a:p>
                    <a:p>
                      <a:pPr marL="368300" marR="0" lvl="0" indent="-286436" eaLnBrk="0">
                        <a:lnSpc>
                          <a:spcPct val="100925"/>
                        </a:lnSpc>
                        <a:spcAft>
                          <a:spcPts val="300"/>
                        </a:spcAft>
                        <a:buClr>
                          <a:srgbClr val="000000"/>
                        </a:buClr>
                        <a:buFont typeface="Arial" panose="34000000000000000000" charset="0"/>
                        <a:buChar char="•"/>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Integral</a:t>
                      </a:r>
                      <a:r>
                        <a:rPr lang="en-US" altLang="zh-CN" sz="1800" kern="0" spc="-40"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design</a:t>
                      </a:r>
                    </a:p>
                  </a:txBody>
                  <a:tcPr marL="6350" marR="6350" marT="31750" marB="19050">
                    <a:lnL w="12700" cap="flat" cmpd="sng" algn="ctr">
                      <a:solidFill>
                        <a:srgbClr val="1C3879"/>
                      </a:solidFill>
                      <a:prstDash val="solid"/>
                      <a:round/>
                      <a:headEnd type="none" w="med" len="med"/>
                      <a:tailEnd type="none" w="med" len="med"/>
                    </a:lnL>
                    <a:lnR w="12700" cap="flat" cmpd="sng" algn="ctr">
                      <a:solidFill>
                        <a:srgbClr val="DDDDDD"/>
                      </a:solidFill>
                      <a:prstDash val="solid"/>
                      <a:round/>
                      <a:headEnd type="none" w="med" len="med"/>
                      <a:tailEnd type="none" w="med" len="med"/>
                    </a:lnR>
                    <a:lnT w="38100" cap="flat" cmpd="sng" algn="ctr">
                      <a:solidFill>
                        <a:srgbClr val="1C3879"/>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marL="76200" marR="482600" indent="0" eaLnBrk="0">
                        <a:lnSpc>
                          <a:spcPct val="100000"/>
                        </a:lnSpc>
                        <a:spcBef>
                          <a:spcPts val="200"/>
                        </a:spcBef>
                      </a:pP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Schedul</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e </a:t>
                      </a:r>
                      <a:r>
                        <a:rPr lang="en-US" altLang="zh-CN" sz="1800" b="1" kern="0" spc="-15" baseline="0" noProof="0" dirty="0">
                          <a:solidFill>
                            <a:srgbClr val="000000"/>
                          </a:solidFill>
                          <a:latin typeface="Arial" panose="020B0604020202020204" pitchFamily="34" charset="0"/>
                          <a:ea typeface="微软雅黑" panose="020B0503020204020204" pitchFamily="34" charset="-122"/>
                          <a:cs typeface="Arial" pitchFamily="34" charset="0"/>
                        </a:rPr>
                        <a:t>fini</a:t>
                      </a:r>
                      <a:r>
                        <a:rPr lang="en-US" altLang="zh-CN" sz="1800" b="1" kern="0" spc="0" baseline="0" noProof="0" dirty="0">
                          <a:solidFill>
                            <a:srgbClr val="000000"/>
                          </a:solidFill>
                          <a:latin typeface="Arial" panose="020B0604020202020204" pitchFamily="34" charset="0"/>
                          <a:ea typeface="微软雅黑" panose="020B0503020204020204" pitchFamily="34" charset="-122"/>
                          <a:cs typeface="Arial" pitchFamily="34" charset="0"/>
                        </a:rPr>
                        <a:t>shed </a:t>
                      </a:r>
                      <a:r>
                        <a:rPr lang="en-US" altLang="zh-CN" sz="1800" b="1" kern="0" spc="-15" baseline="0" noProof="0" dirty="0">
                          <a:solidFill>
                            <a:srgbClr val="000000"/>
                          </a:solidFill>
                          <a:latin typeface="Arial" panose="020B0604020202020204" pitchFamily="34" charset="0"/>
                          <a:ea typeface="微软雅黑" panose="020B0503020204020204" pitchFamily="34" charset="-122"/>
                          <a:cs typeface="Arial" pitchFamily="34" charset="0"/>
                        </a:rPr>
                        <a:t>goods</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 </a:t>
                      </a:r>
                    </a:p>
                    <a:p>
                      <a:pPr marL="0" marR="0" indent="0" eaLnBrk="0">
                        <a:lnSpc>
                          <a:spcPct val="206666"/>
                        </a:lnSpc>
                      </a:pPr>
                      <a:endParaRPr lang="en-US" altLang="zh-CN" sz="1000" kern="0" spc="0" baseline="0" noProof="0" dirty="0">
                        <a:solidFill>
                          <a:srgbClr val="000000"/>
                        </a:solidFill>
                        <a:latin typeface="Arial" panose="020B0604020202020204" pitchFamily="34" charset="0"/>
                        <a:ea typeface="微软雅黑" panose="020B0503020204020204" pitchFamily="34" charset="-122"/>
                        <a:cs typeface="Arial" pitchFamily="34" charset="0"/>
                      </a:endParaRPr>
                    </a:p>
                  </a:txBody>
                  <a:tcPr marL="6350" marR="6350" marT="31750" marB="19050">
                    <a:lnL w="12700" cap="flat" cmpd="sng" algn="ctr">
                      <a:solidFill>
                        <a:srgbClr val="DDDDDD"/>
                      </a:solidFill>
                      <a:prstDash val="solid"/>
                      <a:round/>
                      <a:headEnd type="none" w="med" len="med"/>
                      <a:tailEnd type="none" w="med" len="med"/>
                    </a:lnL>
                    <a:lnR w="12700" cap="flat" cmpd="sng" algn="ctr">
                      <a:solidFill>
                        <a:srgbClr val="1C3879"/>
                      </a:solidFill>
                      <a:prstDash val="solid"/>
                      <a:round/>
                      <a:headEnd type="none" w="med" len="med"/>
                      <a:tailEnd type="none" w="med" len="med"/>
                    </a:lnR>
                    <a:lnT w="38100" cap="flat" cmpd="sng" algn="ctr">
                      <a:solidFill>
                        <a:srgbClr val="1C3879"/>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1"/>
                  </a:ext>
                </a:extLst>
              </a:tr>
              <a:tr h="1197655">
                <a:tc>
                  <a:txBody>
                    <a:bodyPr/>
                    <a:lstStyle/>
                    <a:p>
                      <a:pPr marL="368300" marR="0" lvl="0" indent="-286436" algn="l" defTabSz="914332" rtl="0" eaLnBrk="0" latinLnBrk="0" hangingPunct="1">
                        <a:lnSpc>
                          <a:spcPct val="100000"/>
                        </a:lnSpc>
                        <a:spcBef>
                          <a:spcPts val="300"/>
                        </a:spcBef>
                        <a:buClr>
                          <a:srgbClr val="000000"/>
                        </a:buClr>
                        <a:buFont typeface="Arial" panose="34000000000000000000" charset="0"/>
                        <a:buChar char="•"/>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Make-to-order (MTO)</a:t>
                      </a:r>
                    </a:p>
                    <a:p>
                      <a:pPr marL="368300" marR="215900" lvl="0" indent="-286436" algn="l" defTabSz="914332" rtl="0" eaLnBrk="0" latinLnBrk="0" hangingPunct="1">
                        <a:lnSpc>
                          <a:spcPct val="100000"/>
                        </a:lnSpc>
                        <a:buClr>
                          <a:srgbClr val="000000"/>
                        </a:buClr>
                        <a:buFont typeface="Arial" panose="34000000000000000000" charset="0"/>
                        <a:buChar char="•"/>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Many items made from few components </a:t>
                      </a:r>
                    </a:p>
                    <a:p>
                      <a:pPr marL="368300" marR="0" lvl="0" indent="-286436" algn="l" defTabSz="914332" rtl="0" eaLnBrk="0" latinLnBrk="0" hangingPunct="1">
                        <a:lnSpc>
                          <a:spcPct val="100925"/>
                        </a:lnSpc>
                        <a:spcAft>
                          <a:spcPts val="300"/>
                        </a:spcAft>
                        <a:buClr>
                          <a:srgbClr val="000000"/>
                        </a:buClr>
                        <a:buFont typeface="Arial" panose="34000000000000000000" charset="0"/>
                        <a:buChar char="•"/>
                      </a:pP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Custom</a:t>
                      </a:r>
                    </a:p>
                  </a:txBody>
                  <a:tcPr marL="6350" marR="6350" marT="44450" marB="6350">
                    <a:lnL w="12700" cap="flat" cmpd="sng" algn="ctr">
                      <a:solidFill>
                        <a:srgbClr val="1C3879"/>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76200" marR="444500" indent="0" eaLnBrk="0">
                        <a:lnSpc>
                          <a:spcPct val="100000"/>
                        </a:lnSpc>
                        <a:spcBef>
                          <a:spcPts val="300"/>
                        </a:spcBef>
                      </a:pP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Schedul</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e </a:t>
                      </a:r>
                      <a:r>
                        <a:rPr lang="en-US" altLang="zh-CN" sz="1800" b="1" kern="0" spc="20" baseline="0" noProof="0" dirty="0">
                          <a:solidFill>
                            <a:srgbClr val="000000"/>
                          </a:solidFill>
                          <a:latin typeface="Arial" panose="020B0604020202020204" pitchFamily="34" charset="0"/>
                          <a:ea typeface="微软雅黑" panose="020B0503020204020204" pitchFamily="34" charset="-122"/>
                          <a:cs typeface="Arial" pitchFamily="34" charset="0"/>
                        </a:rPr>
                        <a:t>ra</a:t>
                      </a:r>
                      <a:r>
                        <a:rPr lang="en-US" altLang="zh-CN" sz="1800" b="1" kern="0" spc="10" baseline="0" noProof="0" dirty="0">
                          <a:solidFill>
                            <a:srgbClr val="000000"/>
                          </a:solidFill>
                          <a:latin typeface="Arial" panose="020B0604020202020204" pitchFamily="34" charset="0"/>
                          <a:ea typeface="微软雅黑" panose="020B0503020204020204" pitchFamily="34" charset="-122"/>
                          <a:cs typeface="Arial" pitchFamily="34" charset="0"/>
                        </a:rPr>
                        <a:t>w</a:t>
                      </a:r>
                      <a:r>
                        <a:rPr lang="en-US" altLang="zh-CN" sz="1800" b="1" kern="0" spc="0"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b="1" kern="0" spc="-15" baseline="0" noProof="0" dirty="0">
                          <a:solidFill>
                            <a:srgbClr val="000000"/>
                          </a:solidFill>
                          <a:latin typeface="Arial" panose="020B0604020202020204" pitchFamily="34" charset="0"/>
                          <a:ea typeface="微软雅黑" panose="020B0503020204020204" pitchFamily="34" charset="-122"/>
                          <a:cs typeface="Arial" pitchFamily="34" charset="0"/>
                        </a:rPr>
                        <a:t>mat</a:t>
                      </a:r>
                      <a:r>
                        <a:rPr lang="en-US" altLang="zh-CN" sz="1800" b="1" kern="0" spc="0" baseline="0" noProof="0" dirty="0">
                          <a:solidFill>
                            <a:srgbClr val="000000"/>
                          </a:solidFill>
                          <a:latin typeface="Arial" panose="020B0604020202020204" pitchFamily="34" charset="0"/>
                          <a:ea typeface="微软雅黑" panose="020B0503020204020204" pitchFamily="34" charset="-122"/>
                          <a:cs typeface="Arial" pitchFamily="34" charset="0"/>
                        </a:rPr>
                        <a:t>erials. </a:t>
                      </a:r>
                    </a:p>
                    <a:p>
                      <a:pPr marL="0" marR="0" indent="0" eaLnBrk="0">
                        <a:lnSpc>
                          <a:spcPct val="206666"/>
                        </a:lnSpc>
                      </a:pPr>
                      <a:endParaRPr lang="en-US" altLang="zh-CN" sz="1000" kern="0" spc="0" baseline="0" noProof="0" dirty="0">
                        <a:solidFill>
                          <a:srgbClr val="000000"/>
                        </a:solidFill>
                        <a:latin typeface="Arial" panose="020B0604020202020204" pitchFamily="34" charset="0"/>
                        <a:ea typeface="微软雅黑" panose="020B0503020204020204" pitchFamily="34" charset="-122"/>
                        <a:cs typeface="Arial" pitchFamily="34" charset="0"/>
                      </a:endParaRPr>
                    </a:p>
                  </a:txBody>
                  <a:tcPr marL="6350" marR="6350" marT="44450" marB="6350">
                    <a:lnL w="12700" cap="flat" cmpd="sng" algn="ctr">
                      <a:solidFill>
                        <a:srgbClr val="DDDDDD"/>
                      </a:solidFill>
                      <a:prstDash val="solid"/>
                      <a:round/>
                      <a:headEnd type="none" w="med" len="med"/>
                      <a:tailEnd type="none" w="med" len="med"/>
                    </a:lnL>
                    <a:lnR w="12700" cap="flat" cmpd="sng" algn="ctr">
                      <a:solidFill>
                        <a:srgbClr val="1C3879"/>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74037">
                <a:tc>
                  <a:txBody>
                    <a:bodyPr/>
                    <a:lstStyle/>
                    <a:p>
                      <a:pPr marL="368300" marR="0" indent="-286436" eaLnBrk="0">
                        <a:lnSpc>
                          <a:spcPct val="100000"/>
                        </a:lnSpc>
                        <a:spcBef>
                          <a:spcPts val="300"/>
                        </a:spcBef>
                      </a:pP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Asse</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mble-to-order</a:t>
                      </a:r>
                      <a:r>
                        <a:rPr lang="en-US" altLang="zh-CN" sz="1800" kern="0" spc="-150"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(ATO)</a:t>
                      </a:r>
                    </a:p>
                    <a:p>
                      <a:pPr marL="368300" marR="304800" indent="-286436" eaLnBrk="0">
                        <a:lnSpc>
                          <a:spcPct val="100000"/>
                        </a:lnSpc>
                      </a:pPr>
                      <a:r>
                        <a:rPr lang="en-US" altLang="zh-CN" sz="1800" kern="0" spc="5" baseline="0" noProof="0" dirty="0">
                          <a:solidFill>
                            <a:srgbClr val="000000"/>
                          </a:solidFill>
                          <a:latin typeface="Arial" panose="020B0604020202020204" pitchFamily="34" charset="0"/>
                          <a:ea typeface="微软雅黑" panose="020B0503020204020204" pitchFamily="34" charset="-122"/>
                          <a:cs typeface="Arial" pitchFamily="34" charset="0"/>
                        </a:rPr>
                        <a:t>•</a:t>
                      </a:r>
                      <a:r>
                        <a:rPr lang="en-US" altLang="zh-CN" sz="1800" kern="0" spc="113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Many</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end</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items,</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few </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c</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omponents </a:t>
                      </a:r>
                    </a:p>
                    <a:p>
                      <a:pPr marL="368300" marR="241300" indent="-286436" eaLnBrk="0">
                        <a:lnSpc>
                          <a:spcPct val="100462"/>
                        </a:lnSpc>
                        <a:spcAft>
                          <a:spcPts val="300"/>
                        </a:spcAft>
                      </a:pPr>
                      <a:r>
                        <a:rPr lang="en-US" altLang="zh-CN" sz="1800" kern="0" spc="5" baseline="0" noProof="0" dirty="0">
                          <a:solidFill>
                            <a:srgbClr val="000000"/>
                          </a:solidFill>
                          <a:latin typeface="Arial" panose="020B0604020202020204" pitchFamily="34" charset="0"/>
                          <a:ea typeface="微软雅黑" panose="020B0503020204020204" pitchFamily="34" charset="-122"/>
                          <a:cs typeface="Arial" pitchFamily="34" charset="0"/>
                        </a:rPr>
                        <a:t>•</a:t>
                      </a:r>
                      <a:r>
                        <a:rPr lang="en-US" altLang="zh-CN" sz="1800" kern="0" spc="113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Assemble</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near</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 </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point- </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of</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-sale </a:t>
                      </a:r>
                    </a:p>
                  </a:txBody>
                  <a:tcPr marL="6350" marR="6350" marT="44450" marB="6350">
                    <a:lnL w="12700" cap="flat" cmpd="sng" algn="ctr">
                      <a:solidFill>
                        <a:srgbClr val="1C3879"/>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1C3879"/>
                      </a:solidFill>
                      <a:prstDash val="solid"/>
                      <a:round/>
                      <a:headEnd type="none" w="med" len="med"/>
                      <a:tailEnd type="none" w="med" len="med"/>
                    </a:lnB>
                    <a:solidFill>
                      <a:srgbClr val="EEEEEE"/>
                    </a:solidFill>
                  </a:tcPr>
                </a:tc>
                <a:tc>
                  <a:txBody>
                    <a:bodyPr/>
                    <a:lstStyle/>
                    <a:p>
                      <a:pPr marL="76200" marR="304800" indent="0" eaLnBrk="0">
                        <a:lnSpc>
                          <a:spcPct val="100000"/>
                        </a:lnSpc>
                        <a:spcBef>
                          <a:spcPts val="300"/>
                        </a:spcBef>
                      </a:pP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Schedul</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e </a:t>
                      </a:r>
                      <a:r>
                        <a:rPr lang="en-US" altLang="zh-CN" sz="1800" b="1" kern="0" spc="-25" baseline="0" noProof="0" dirty="0">
                          <a:solidFill>
                            <a:srgbClr val="000000"/>
                          </a:solidFill>
                          <a:latin typeface="Arial" panose="020B0604020202020204" pitchFamily="34" charset="0"/>
                          <a:ea typeface="微软雅黑" panose="020B0503020204020204" pitchFamily="34" charset="-122"/>
                          <a:cs typeface="Arial" pitchFamily="34" charset="0"/>
                        </a:rPr>
                        <a:t>m</a:t>
                      </a:r>
                      <a:r>
                        <a:rPr lang="en-US" altLang="zh-CN" sz="1800" b="1" kern="0" spc="-15" baseline="0" noProof="0" dirty="0">
                          <a:solidFill>
                            <a:srgbClr val="000000"/>
                          </a:solidFill>
                          <a:latin typeface="Arial" panose="020B0604020202020204" pitchFamily="34" charset="0"/>
                          <a:ea typeface="微软雅黑" panose="020B0503020204020204" pitchFamily="34" charset="-122"/>
                          <a:cs typeface="Arial" pitchFamily="34" charset="0"/>
                        </a:rPr>
                        <a:t>odul</a:t>
                      </a:r>
                      <a:r>
                        <a:rPr lang="en-US" altLang="zh-CN" sz="1800" b="1" kern="0" spc="0" baseline="0" noProof="0" dirty="0">
                          <a:solidFill>
                            <a:srgbClr val="000000"/>
                          </a:solidFill>
                          <a:latin typeface="Arial" panose="020B0604020202020204" pitchFamily="34" charset="0"/>
                          <a:ea typeface="微软雅黑" panose="020B0503020204020204" pitchFamily="34" charset="-122"/>
                          <a:cs typeface="Arial" pitchFamily="34" charset="0"/>
                        </a:rPr>
                        <a:t>e </a:t>
                      </a:r>
                      <a:r>
                        <a:rPr lang="en-US" altLang="zh-CN" sz="1800" kern="0" spc="-15" baseline="0" noProof="0" dirty="0">
                          <a:solidFill>
                            <a:srgbClr val="000000"/>
                          </a:solidFill>
                          <a:latin typeface="Arial" panose="020B0604020202020204" pitchFamily="34" charset="0"/>
                          <a:ea typeface="微软雅黑" panose="020B0503020204020204" pitchFamily="34" charset="-122"/>
                          <a:cs typeface="Arial" pitchFamily="34" charset="0"/>
                        </a:rPr>
                        <a:t>produc</a:t>
                      </a:r>
                      <a:r>
                        <a:rPr lang="en-US" altLang="zh-CN" sz="1800" kern="0" spc="0" baseline="0" noProof="0" dirty="0">
                          <a:solidFill>
                            <a:srgbClr val="000000"/>
                          </a:solidFill>
                          <a:latin typeface="Arial" panose="020B0604020202020204" pitchFamily="34" charset="0"/>
                          <a:ea typeface="微软雅黑" panose="020B0503020204020204" pitchFamily="34" charset="-122"/>
                          <a:cs typeface="Arial" pitchFamily="34" charset="0"/>
                        </a:rPr>
                        <a:t>tion. </a:t>
                      </a:r>
                    </a:p>
                    <a:p>
                      <a:pPr marL="0" marR="0" indent="0" eaLnBrk="0">
                        <a:lnSpc>
                          <a:spcPct val="150000"/>
                        </a:lnSpc>
                      </a:pPr>
                      <a:endParaRPr lang="en-US" altLang="zh-CN" sz="1000" kern="0" spc="0" baseline="0" noProof="0" dirty="0">
                        <a:solidFill>
                          <a:srgbClr val="000000"/>
                        </a:solidFill>
                        <a:latin typeface="Arial" panose="020B0604020202020204" pitchFamily="34" charset="0"/>
                        <a:ea typeface="微软雅黑" panose="020B0503020204020204" pitchFamily="34" charset="-122"/>
                        <a:cs typeface="Arial" pitchFamily="34" charset="0"/>
                      </a:endParaRPr>
                    </a:p>
                    <a:p>
                      <a:pPr marL="0" marR="0" indent="0" eaLnBrk="0">
                        <a:lnSpc>
                          <a:spcPct val="236666"/>
                        </a:lnSpc>
                      </a:pPr>
                      <a:endParaRPr lang="en-US" altLang="zh-CN" sz="1000" kern="0" spc="0" baseline="0" noProof="0" dirty="0">
                        <a:solidFill>
                          <a:srgbClr val="000000"/>
                        </a:solidFill>
                        <a:latin typeface="Arial" panose="020B0604020202020204" pitchFamily="34" charset="0"/>
                        <a:ea typeface="微软雅黑" panose="020B0503020204020204" pitchFamily="34" charset="-122"/>
                        <a:cs typeface="Arial" pitchFamily="34" charset="0"/>
                      </a:endParaRPr>
                    </a:p>
                  </a:txBody>
                  <a:tcPr marL="6350" marR="6350" marT="44450" marB="6350">
                    <a:lnL w="12700" cap="flat" cmpd="sng" algn="ctr">
                      <a:solidFill>
                        <a:srgbClr val="DDDDDD"/>
                      </a:solidFill>
                      <a:prstDash val="solid"/>
                      <a:round/>
                      <a:headEnd type="none" w="med" len="med"/>
                      <a:tailEnd type="none" w="med" len="med"/>
                    </a:lnL>
                    <a:lnR w="12700" cap="flat" cmpd="sng" algn="ctr">
                      <a:solidFill>
                        <a:srgbClr val="1C3879"/>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1C3879"/>
                      </a:solidFill>
                      <a:prstDash val="solid"/>
                      <a:round/>
                      <a:headEnd type="none" w="med" len="med"/>
                      <a:tailEnd type="none" w="med" len="med"/>
                    </a:lnB>
                    <a:solidFill>
                      <a:srgbClr val="EEEEEE"/>
                    </a:solidFill>
                  </a:tcPr>
                </a:tc>
                <a:extLst>
                  <a:ext uri="{0D108BD9-81ED-4DB2-BD59-A6C34878D82A}">
                    <a16:rowId xmlns:a16="http://schemas.microsoft.com/office/drawing/2014/main" val="10003"/>
                  </a:ext>
                </a:extLst>
              </a:tr>
            </a:tbl>
          </a:graphicData>
        </a:graphic>
      </p:graphicFrame>
      <p:graphicFrame>
        <p:nvGraphicFramePr>
          <p:cNvPr id="5" name="图示 4">
            <a:extLst>
              <a:ext uri="{FF2B5EF4-FFF2-40B4-BE49-F238E27FC236}">
                <a16:creationId xmlns:a16="http://schemas.microsoft.com/office/drawing/2014/main" id="{FC06F57B-9CAE-C026-AD5A-E9F52EA1391E}"/>
              </a:ext>
            </a:extLst>
          </p:cNvPr>
          <p:cNvGraphicFramePr/>
          <p:nvPr/>
        </p:nvGraphicFramePr>
        <p:xfrm>
          <a:off x="140173" y="1041314"/>
          <a:ext cx="4257040" cy="306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46170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668978-8254-02A8-C0DA-E9C0AB72AFFF}"/>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SC Network Design </a:t>
            </a:r>
            <a:endParaRPr lang="zh-CN" altLang="en-US" dirty="0">
              <a:latin typeface="Arial" panose="020B0604020202020204" pitchFamily="34" charset="0"/>
              <a:ea typeface="微软雅黑" panose="020B0503020204020204" pitchFamily="34" charset="-122"/>
            </a:endParaRPr>
          </a:p>
        </p:txBody>
      </p:sp>
      <p:pic>
        <p:nvPicPr>
          <p:cNvPr id="8" name="图片 7">
            <a:extLst>
              <a:ext uri="{FF2B5EF4-FFF2-40B4-BE49-F238E27FC236}">
                <a16:creationId xmlns:a16="http://schemas.microsoft.com/office/drawing/2014/main" id="{CBD2C396-AD88-2F6A-17E1-CBCDBFBA35EF}"/>
              </a:ext>
            </a:extLst>
          </p:cNvPr>
          <p:cNvPicPr>
            <a:picLocks noChangeAspect="1"/>
          </p:cNvPicPr>
          <p:nvPr/>
        </p:nvPicPr>
        <p:blipFill>
          <a:blip r:embed="rId2"/>
          <a:stretch>
            <a:fillRect/>
          </a:stretch>
        </p:blipFill>
        <p:spPr>
          <a:xfrm>
            <a:off x="1045029" y="1101436"/>
            <a:ext cx="9856333" cy="5485101"/>
          </a:xfrm>
          <a:prstGeom prst="rect">
            <a:avLst/>
          </a:prstGeom>
          <a:solidFill>
            <a:schemeClr val="tx1">
              <a:lumMod val="95000"/>
            </a:schemeClr>
          </a:solidFill>
        </p:spPr>
      </p:pic>
    </p:spTree>
    <p:extLst>
      <p:ext uri="{BB962C8B-B14F-4D97-AF65-F5344CB8AC3E}">
        <p14:creationId xmlns:p14="http://schemas.microsoft.com/office/powerpoint/2010/main" val="29237574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EF257E5-E2F9-9580-FBE0-79506EAFC7B6}"/>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Forecast Consumption</a:t>
            </a:r>
            <a:endParaRPr lang="zh-CN" altLang="en-US" dirty="0">
              <a:latin typeface="Arial" panose="020B0604020202020204" pitchFamily="34" charset="0"/>
              <a:ea typeface="微软雅黑" panose="020B0503020204020204" pitchFamily="34" charset="-122"/>
            </a:endParaRPr>
          </a:p>
        </p:txBody>
      </p:sp>
      <p:grpSp>
        <p:nvGrpSpPr>
          <p:cNvPr id="5" name="组合 01">
            <a:extLst>
              <a:ext uri="{FF2B5EF4-FFF2-40B4-BE49-F238E27FC236}">
                <a16:creationId xmlns:a16="http://schemas.microsoft.com/office/drawing/2014/main" id="{5BC413FA-08EE-1141-D05C-AB3542DE30C6}"/>
              </a:ext>
            </a:extLst>
          </p:cNvPr>
          <p:cNvGrpSpPr>
            <a:grpSpLocks noChangeAspect="1"/>
          </p:cNvGrpSpPr>
          <p:nvPr>
            <p:custDataLst>
              <p:tags r:id="rId1"/>
            </p:custDataLst>
          </p:nvPr>
        </p:nvGrpSpPr>
        <p:grpSpPr>
          <a:xfrm>
            <a:off x="1632740" y="723997"/>
            <a:ext cx="7503040" cy="5331041"/>
            <a:chOff x="771488" y="1217632"/>
            <a:chExt cx="7815300" cy="5566674"/>
          </a:xfrm>
        </p:grpSpPr>
        <p:grpSp>
          <p:nvGrpSpPr>
            <p:cNvPr id="6" name="组合 01">
              <a:extLst>
                <a:ext uri="{FF2B5EF4-FFF2-40B4-BE49-F238E27FC236}">
                  <a16:creationId xmlns:a16="http://schemas.microsoft.com/office/drawing/2014/main" id="{25D81F5F-0F1C-59AC-602F-4CF7510A93BE}"/>
                </a:ext>
              </a:extLst>
            </p:cNvPr>
            <p:cNvGrpSpPr/>
            <p:nvPr/>
          </p:nvGrpSpPr>
          <p:grpSpPr>
            <a:xfrm>
              <a:off x="771488" y="1217632"/>
              <a:ext cx="7815300" cy="1837573"/>
              <a:chOff x="771488" y="1217632"/>
              <a:chExt cx="7815300" cy="1837573"/>
            </a:xfrm>
          </p:grpSpPr>
          <p:sp>
            <p:nvSpPr>
              <p:cNvPr id="29" name="1">
                <a:extLst>
                  <a:ext uri="{FF2B5EF4-FFF2-40B4-BE49-F238E27FC236}">
                    <a16:creationId xmlns:a16="http://schemas.microsoft.com/office/drawing/2014/main" id="{822B2AF5-BD65-D3AD-9787-C07CF02D5C47}"/>
                  </a:ext>
                </a:extLst>
              </p:cNvPr>
              <p:cNvSpPr/>
              <p:nvPr/>
            </p:nvSpPr>
            <p:spPr>
              <a:xfrm>
                <a:off x="1375576" y="1356164"/>
                <a:ext cx="7211212" cy="1340266"/>
              </a:xfrm>
              <a:prstGeom prst="roundRect">
                <a:avLst>
                  <a:gd name="adj" fmla="val 50000"/>
                </a:avLst>
              </a:prstGeom>
              <a:solidFill>
                <a:schemeClr val="bg1"/>
              </a:solidFill>
              <a:ln w="12700">
                <a:solidFill>
                  <a:schemeClr val="accent1">
                    <a:lumMod val="40000"/>
                    <a:lumOff val="60000"/>
                  </a:schemeClr>
                </a:solidFill>
              </a:ln>
              <a:effectLst>
                <a:outerShdw blurRad="279400" dist="76200" dir="2700000" sx="97000" sy="97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30" name="1">
                <a:extLst>
                  <a:ext uri="{FF2B5EF4-FFF2-40B4-BE49-F238E27FC236}">
                    <a16:creationId xmlns:a16="http://schemas.microsoft.com/office/drawing/2014/main" id="{5FFFD6C6-E4C7-50B9-7850-60A1577354F5}"/>
                  </a:ext>
                </a:extLst>
              </p:cNvPr>
              <p:cNvSpPr/>
              <p:nvPr/>
            </p:nvSpPr>
            <p:spPr>
              <a:xfrm>
                <a:off x="771488" y="1694714"/>
                <a:ext cx="2394384" cy="1360491"/>
              </a:xfrm>
              <a:prstGeom prst="ellipse">
                <a:avLst/>
              </a:prstGeom>
              <a:solidFill>
                <a:schemeClr val="accent1">
                  <a:lumMod val="50000"/>
                  <a:alpha val="35000"/>
                </a:schemeClr>
              </a:soli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31" name="1">
                <a:extLst>
                  <a:ext uri="{FF2B5EF4-FFF2-40B4-BE49-F238E27FC236}">
                    <a16:creationId xmlns:a16="http://schemas.microsoft.com/office/drawing/2014/main" id="{D8B9E2FC-F453-6360-2493-C7F9B81B953B}"/>
                  </a:ext>
                </a:extLst>
              </p:cNvPr>
              <p:cNvSpPr/>
              <p:nvPr/>
            </p:nvSpPr>
            <p:spPr>
              <a:xfrm>
                <a:off x="1089308" y="1681053"/>
                <a:ext cx="1758629" cy="1015368"/>
              </a:xfrm>
              <a:custGeom>
                <a:avLst/>
                <a:gdLst>
                  <a:gd name="connsiteX0" fmla="*/ 1155034 w 1155034"/>
                  <a:gd name="connsiteY0" fmla="*/ 333436 h 666871"/>
                  <a:gd name="connsiteX1" fmla="*/ 577517 w 1155034"/>
                  <a:gd name="connsiteY1" fmla="*/ 666872 h 666871"/>
                  <a:gd name="connsiteX2" fmla="*/ 0 w 1155034"/>
                  <a:gd name="connsiteY2" fmla="*/ 333436 h 666871"/>
                  <a:gd name="connsiteX3" fmla="*/ 577517 w 1155034"/>
                  <a:gd name="connsiteY3" fmla="*/ 0 h 666871"/>
                  <a:gd name="connsiteX4" fmla="*/ 1155034 w 1155034"/>
                  <a:gd name="connsiteY4" fmla="*/ 333436 h 66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034" h="666871">
                    <a:moveTo>
                      <a:pt x="1155034" y="333436"/>
                    </a:moveTo>
                    <a:cubicBezTo>
                      <a:pt x="1155034" y="517588"/>
                      <a:pt x="896471" y="666872"/>
                      <a:pt x="577517" y="666872"/>
                    </a:cubicBezTo>
                    <a:cubicBezTo>
                      <a:pt x="258563" y="666872"/>
                      <a:pt x="0" y="517588"/>
                      <a:pt x="0" y="333436"/>
                    </a:cubicBezTo>
                    <a:cubicBezTo>
                      <a:pt x="0" y="149284"/>
                      <a:pt x="258563" y="0"/>
                      <a:pt x="577517" y="0"/>
                    </a:cubicBezTo>
                    <a:cubicBezTo>
                      <a:pt x="896471" y="0"/>
                      <a:pt x="1155034" y="149284"/>
                      <a:pt x="1155034" y="333436"/>
                    </a:cubicBezTo>
                    <a:close/>
                  </a:path>
                </a:pathLst>
              </a:custGeom>
              <a:solidFill>
                <a:srgbClr val="CCCCCC"/>
              </a:soli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32" name="1">
                <a:extLst>
                  <a:ext uri="{FF2B5EF4-FFF2-40B4-BE49-F238E27FC236}">
                    <a16:creationId xmlns:a16="http://schemas.microsoft.com/office/drawing/2014/main" id="{C39A9E99-FD78-D88C-B7AC-03E81F4E26B3}"/>
                  </a:ext>
                </a:extLst>
              </p:cNvPr>
              <p:cNvSpPr/>
              <p:nvPr/>
            </p:nvSpPr>
            <p:spPr>
              <a:xfrm>
                <a:off x="1089308" y="1861565"/>
                <a:ext cx="1758629" cy="834865"/>
              </a:xfrm>
              <a:custGeom>
                <a:avLst/>
                <a:gdLst>
                  <a:gd name="connsiteX0" fmla="*/ 985901 w 1155034"/>
                  <a:gd name="connsiteY0" fmla="*/ 450660 h 548321"/>
                  <a:gd name="connsiteX1" fmla="*/ 169161 w 1155034"/>
                  <a:gd name="connsiteY1" fmla="*/ 450660 h 548321"/>
                  <a:gd name="connsiteX2" fmla="*/ 0 w 1155034"/>
                  <a:gd name="connsiteY2" fmla="*/ 214879 h 548321"/>
                  <a:gd name="connsiteX3" fmla="*/ 0 w 1155034"/>
                  <a:gd name="connsiteY3" fmla="*/ 0 h 548321"/>
                  <a:gd name="connsiteX4" fmla="*/ 1153924 w 1155034"/>
                  <a:gd name="connsiteY4" fmla="*/ 19598 h 548321"/>
                  <a:gd name="connsiteX5" fmla="*/ 1155034 w 1155034"/>
                  <a:gd name="connsiteY5" fmla="*/ 214879 h 548321"/>
                  <a:gd name="connsiteX6" fmla="*/ 985901 w 1155034"/>
                  <a:gd name="connsiteY6" fmla="*/ 450660 h 54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034" h="548321">
                    <a:moveTo>
                      <a:pt x="985901" y="450660"/>
                    </a:moveTo>
                    <a:cubicBezTo>
                      <a:pt x="760363" y="580876"/>
                      <a:pt x="394643" y="580876"/>
                      <a:pt x="169161" y="450660"/>
                    </a:cubicBezTo>
                    <a:cubicBezTo>
                      <a:pt x="56405" y="385539"/>
                      <a:pt x="0" y="300209"/>
                      <a:pt x="0" y="214879"/>
                    </a:cubicBezTo>
                    <a:lnTo>
                      <a:pt x="0" y="0"/>
                    </a:lnTo>
                    <a:lnTo>
                      <a:pt x="1153924" y="19598"/>
                    </a:lnTo>
                    <a:cubicBezTo>
                      <a:pt x="1153924" y="19598"/>
                      <a:pt x="1155034" y="129549"/>
                      <a:pt x="1155034" y="214879"/>
                    </a:cubicBezTo>
                    <a:cubicBezTo>
                      <a:pt x="1155034" y="300209"/>
                      <a:pt x="1098657" y="385539"/>
                      <a:pt x="985901" y="450660"/>
                    </a:cubicBezTo>
                    <a:close/>
                  </a:path>
                </a:pathLst>
              </a:custGeom>
              <a:gradFill>
                <a:gsLst>
                  <a:gs pos="0">
                    <a:schemeClr val="accent1">
                      <a:lumMod val="60000"/>
                      <a:lumOff val="40000"/>
                    </a:schemeClr>
                  </a:gs>
                  <a:gs pos="49000">
                    <a:schemeClr val="accent1"/>
                  </a:gs>
                  <a:gs pos="100000">
                    <a:schemeClr val="accent1">
                      <a:lumMod val="75000"/>
                    </a:schemeClr>
                  </a:gs>
                </a:gsLst>
                <a:lin ang="10795496"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33" name="1">
                <a:extLst>
                  <a:ext uri="{FF2B5EF4-FFF2-40B4-BE49-F238E27FC236}">
                    <a16:creationId xmlns:a16="http://schemas.microsoft.com/office/drawing/2014/main" id="{AB5D641A-51C5-97DE-283C-EE7E8BB37A8D}"/>
                  </a:ext>
                </a:extLst>
              </p:cNvPr>
              <p:cNvSpPr/>
              <p:nvPr/>
            </p:nvSpPr>
            <p:spPr>
              <a:xfrm>
                <a:off x="1089308" y="1356164"/>
                <a:ext cx="1758629" cy="1015368"/>
              </a:xfrm>
              <a:custGeom>
                <a:avLst/>
                <a:gdLst>
                  <a:gd name="connsiteX0" fmla="*/ 1155034 w 1155034"/>
                  <a:gd name="connsiteY0" fmla="*/ 333436 h 666871"/>
                  <a:gd name="connsiteX1" fmla="*/ 577517 w 1155034"/>
                  <a:gd name="connsiteY1" fmla="*/ 666872 h 666871"/>
                  <a:gd name="connsiteX2" fmla="*/ 0 w 1155034"/>
                  <a:gd name="connsiteY2" fmla="*/ 333436 h 666871"/>
                  <a:gd name="connsiteX3" fmla="*/ 577517 w 1155034"/>
                  <a:gd name="connsiteY3" fmla="*/ 0 h 666871"/>
                  <a:gd name="connsiteX4" fmla="*/ 1155034 w 1155034"/>
                  <a:gd name="connsiteY4" fmla="*/ 333436 h 66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034" h="666871">
                    <a:moveTo>
                      <a:pt x="1155034" y="333436"/>
                    </a:moveTo>
                    <a:cubicBezTo>
                      <a:pt x="1155034" y="517588"/>
                      <a:pt x="896471" y="666872"/>
                      <a:pt x="577517" y="666872"/>
                    </a:cubicBezTo>
                    <a:cubicBezTo>
                      <a:pt x="258563" y="666872"/>
                      <a:pt x="0" y="517588"/>
                      <a:pt x="0" y="333436"/>
                    </a:cubicBezTo>
                    <a:cubicBezTo>
                      <a:pt x="0" y="149284"/>
                      <a:pt x="258563" y="0"/>
                      <a:pt x="577517" y="0"/>
                    </a:cubicBezTo>
                    <a:cubicBezTo>
                      <a:pt x="896471" y="0"/>
                      <a:pt x="1155034" y="149284"/>
                      <a:pt x="1155034" y="333436"/>
                    </a:cubicBezTo>
                    <a:close/>
                  </a:path>
                </a:pathLst>
              </a:custGeom>
              <a:gradFill>
                <a:gsLst>
                  <a:gs pos="0">
                    <a:schemeClr val="accent1">
                      <a:lumMod val="60000"/>
                      <a:lumOff val="40000"/>
                    </a:schemeClr>
                  </a:gs>
                  <a:gs pos="50000">
                    <a:schemeClr val="accent1"/>
                  </a:gs>
                  <a:gs pos="100000">
                    <a:schemeClr val="accent1">
                      <a:lumMod val="75000"/>
                    </a:schemeClr>
                  </a:gs>
                </a:gsLst>
                <a:lin ang="5386429"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34" name="1">
                <a:extLst>
                  <a:ext uri="{FF2B5EF4-FFF2-40B4-BE49-F238E27FC236}">
                    <a16:creationId xmlns:a16="http://schemas.microsoft.com/office/drawing/2014/main" id="{1EF37FDB-E68E-75C2-4773-764DFBF311F4}"/>
                  </a:ext>
                </a:extLst>
              </p:cNvPr>
              <p:cNvSpPr/>
              <p:nvPr/>
            </p:nvSpPr>
            <p:spPr>
              <a:xfrm>
                <a:off x="1089404" y="1356164"/>
                <a:ext cx="1758649" cy="1015327"/>
              </a:xfrm>
              <a:custGeom>
                <a:avLst/>
                <a:gdLst>
                  <a:gd name="connsiteX0" fmla="*/ 577510 w 1155047"/>
                  <a:gd name="connsiteY0" fmla="*/ 13879 h 666844"/>
                  <a:gd name="connsiteX1" fmla="*/ 978899 w 1155047"/>
                  <a:gd name="connsiteY1" fmla="*/ 109674 h 666844"/>
                  <a:gd name="connsiteX2" fmla="*/ 1141093 w 1155047"/>
                  <a:gd name="connsiteY2" fmla="*/ 333436 h 666844"/>
                  <a:gd name="connsiteX3" fmla="*/ 978899 w 1155047"/>
                  <a:gd name="connsiteY3" fmla="*/ 557170 h 666844"/>
                  <a:gd name="connsiteX4" fmla="*/ 577482 w 1155047"/>
                  <a:gd name="connsiteY4" fmla="*/ 652965 h 666844"/>
                  <a:gd name="connsiteX5" fmla="*/ 176038 w 1155047"/>
                  <a:gd name="connsiteY5" fmla="*/ 557170 h 666844"/>
                  <a:gd name="connsiteX6" fmla="*/ 13817 w 1155047"/>
                  <a:gd name="connsiteY6" fmla="*/ 333436 h 666844"/>
                  <a:gd name="connsiteX7" fmla="*/ 176038 w 1155047"/>
                  <a:gd name="connsiteY7" fmla="*/ 109674 h 666844"/>
                  <a:gd name="connsiteX8" fmla="*/ 577510 w 1155047"/>
                  <a:gd name="connsiteY8" fmla="*/ 13879 h 666844"/>
                  <a:gd name="connsiteX9" fmla="*/ 577510 w 1155047"/>
                  <a:gd name="connsiteY9" fmla="*/ 13879 h 666844"/>
                  <a:gd name="connsiteX10" fmla="*/ 577510 w 1155047"/>
                  <a:gd name="connsiteY10" fmla="*/ 0 h 666844"/>
                  <a:gd name="connsiteX11" fmla="*/ 169154 w 1155047"/>
                  <a:gd name="connsiteY11" fmla="*/ 97654 h 666844"/>
                  <a:gd name="connsiteX12" fmla="*/ 169154 w 1155047"/>
                  <a:gd name="connsiteY12" fmla="*/ 569189 h 666844"/>
                  <a:gd name="connsiteX13" fmla="*/ 577538 w 1155047"/>
                  <a:gd name="connsiteY13" fmla="*/ 666844 h 666844"/>
                  <a:gd name="connsiteX14" fmla="*/ 985894 w 1155047"/>
                  <a:gd name="connsiteY14" fmla="*/ 569189 h 666844"/>
                  <a:gd name="connsiteX15" fmla="*/ 985894 w 1155047"/>
                  <a:gd name="connsiteY15" fmla="*/ 97654 h 666844"/>
                  <a:gd name="connsiteX16" fmla="*/ 577510 w 1155047"/>
                  <a:gd name="connsiteY16" fmla="*/ 0 h 66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55047" h="666844">
                    <a:moveTo>
                      <a:pt x="577510" y="13879"/>
                    </a:moveTo>
                    <a:cubicBezTo>
                      <a:pt x="729350" y="13879"/>
                      <a:pt x="871890" y="47911"/>
                      <a:pt x="978899" y="109674"/>
                    </a:cubicBezTo>
                    <a:cubicBezTo>
                      <a:pt x="1083493" y="170077"/>
                      <a:pt x="1141093" y="249522"/>
                      <a:pt x="1141093" y="333436"/>
                    </a:cubicBezTo>
                    <a:cubicBezTo>
                      <a:pt x="1141093" y="417350"/>
                      <a:pt x="1083493" y="496795"/>
                      <a:pt x="978899" y="557170"/>
                    </a:cubicBezTo>
                    <a:cubicBezTo>
                      <a:pt x="871890" y="618961"/>
                      <a:pt x="729322" y="652965"/>
                      <a:pt x="577482" y="652965"/>
                    </a:cubicBezTo>
                    <a:cubicBezTo>
                      <a:pt x="425643" y="652965"/>
                      <a:pt x="283047" y="618961"/>
                      <a:pt x="176038" y="557170"/>
                    </a:cubicBezTo>
                    <a:cubicBezTo>
                      <a:pt x="71444" y="496795"/>
                      <a:pt x="13817" y="417322"/>
                      <a:pt x="13817" y="333436"/>
                    </a:cubicBezTo>
                    <a:cubicBezTo>
                      <a:pt x="13817" y="249550"/>
                      <a:pt x="71444" y="170077"/>
                      <a:pt x="176038" y="109674"/>
                    </a:cubicBezTo>
                    <a:cubicBezTo>
                      <a:pt x="283020" y="47911"/>
                      <a:pt x="425588" y="13879"/>
                      <a:pt x="577510" y="13879"/>
                    </a:cubicBezTo>
                    <a:lnTo>
                      <a:pt x="577510" y="13879"/>
                    </a:lnTo>
                    <a:moveTo>
                      <a:pt x="577510" y="0"/>
                    </a:moveTo>
                    <a:cubicBezTo>
                      <a:pt x="429724" y="0"/>
                      <a:pt x="281909" y="32561"/>
                      <a:pt x="169154" y="97654"/>
                    </a:cubicBezTo>
                    <a:cubicBezTo>
                      <a:pt x="-56385" y="227870"/>
                      <a:pt x="-56385" y="439085"/>
                      <a:pt x="169154" y="569189"/>
                    </a:cubicBezTo>
                    <a:cubicBezTo>
                      <a:pt x="281937" y="634311"/>
                      <a:pt x="429696" y="666844"/>
                      <a:pt x="577538" y="666844"/>
                    </a:cubicBezTo>
                    <a:cubicBezTo>
                      <a:pt x="725380" y="666844"/>
                      <a:pt x="873139" y="634283"/>
                      <a:pt x="985894" y="569189"/>
                    </a:cubicBezTo>
                    <a:cubicBezTo>
                      <a:pt x="1211433" y="438974"/>
                      <a:pt x="1211433" y="227759"/>
                      <a:pt x="985894" y="97654"/>
                    </a:cubicBezTo>
                    <a:cubicBezTo>
                      <a:pt x="873111" y="32533"/>
                      <a:pt x="725325" y="0"/>
                      <a:pt x="577510" y="0"/>
                    </a:cubicBezTo>
                    <a:close/>
                  </a:path>
                </a:pathLst>
              </a:custGeom>
              <a:gradFill>
                <a:gsLst>
                  <a:gs pos="0">
                    <a:schemeClr val="accent1">
                      <a:lumMod val="60000"/>
                      <a:lumOff val="40000"/>
                    </a:schemeClr>
                  </a:gs>
                  <a:gs pos="50000">
                    <a:schemeClr val="accent1"/>
                  </a:gs>
                  <a:gs pos="100000">
                    <a:schemeClr val="accent1">
                      <a:lumMod val="75000"/>
                    </a:schemeClr>
                  </a:gs>
                </a:gsLst>
                <a:lin ang="19800044"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35" name="1">
                <a:extLst>
                  <a:ext uri="{FF2B5EF4-FFF2-40B4-BE49-F238E27FC236}">
                    <a16:creationId xmlns:a16="http://schemas.microsoft.com/office/drawing/2014/main" id="{91D54DE7-9CEE-5B27-F78C-E1BC24D2C027}"/>
                  </a:ext>
                </a:extLst>
              </p:cNvPr>
              <p:cNvSpPr>
                <a:spLocks/>
              </p:cNvSpPr>
              <p:nvPr/>
            </p:nvSpPr>
            <p:spPr>
              <a:xfrm rot="420000">
                <a:off x="1199932" y="1217632"/>
                <a:ext cx="1548000" cy="1260000"/>
              </a:xfrm>
              <a:prstGeom prst="ellipse">
                <a:avLst/>
              </a:prstGeom>
              <a:noFill/>
              <a:ln w="31750" cap="rnd">
                <a:gradFill flip="none" rotWithShape="1">
                  <a:gsLst>
                    <a:gs pos="0">
                      <a:schemeClr val="bg1"/>
                    </a:gs>
                    <a:gs pos="75000">
                      <a:schemeClr val="bg1">
                        <a:alpha val="0"/>
                      </a:schemeClr>
                    </a:gs>
                  </a:gsLst>
                  <a:lin ang="0" scaled="1"/>
                  <a:tileRect/>
                </a:gradFill>
                <a:prstDash val="dash"/>
                <a:round/>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36" name="Index-1">
                <a:extLst>
                  <a:ext uri="{FF2B5EF4-FFF2-40B4-BE49-F238E27FC236}">
                    <a16:creationId xmlns:a16="http://schemas.microsoft.com/office/drawing/2014/main" id="{6EC3DF64-7FB6-8329-861F-EBE2AA856719}"/>
                  </a:ext>
                </a:extLst>
              </p:cNvPr>
              <p:cNvSpPr txBox="1"/>
              <p:nvPr>
                <p:custDataLst>
                  <p:tags r:id="rId5"/>
                </p:custDataLst>
              </p:nvPr>
            </p:nvSpPr>
            <p:spPr>
              <a:xfrm>
                <a:off x="1255643" y="1542755"/>
                <a:ext cx="1502560" cy="610622"/>
              </a:xfrm>
              <a:prstGeom prst="rect">
                <a:avLst/>
              </a:prstGeom>
              <a:noFill/>
            </p:spPr>
            <p:txBody>
              <a:bodyPr wrap="square" rtlCol="0">
                <a:spAutoFit/>
                <a:scene3d>
                  <a:camera prst="isometricOffAxis2Top">
                    <a:rot lat="19800000" lon="3000000" rev="180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3200" b="1" i="0" u="none" strike="noStrike" kern="1200" cap="none" spc="0" normalizeH="0" baseline="0" noProof="0" dirty="0">
                    <a:ln>
                      <a:noFill/>
                    </a:ln>
                    <a:solidFill>
                      <a:srgbClr val="000000"/>
                    </a:solidFill>
                    <a:effectLst>
                      <a:outerShdw blurRad="50800" dist="38100" dir="2700000" algn="tl" rotWithShape="0">
                        <a:srgbClr val="4674C1">
                          <a:lumMod val="50000"/>
                          <a:alpha val="40000"/>
                        </a:srgbClr>
                      </a:outerShdw>
                    </a:effectLst>
                    <a:uLnTx/>
                    <a:uFillTx/>
                    <a:latin typeface="Arial" panose="020B0604020202020204" pitchFamily="34" charset="0"/>
                    <a:ea typeface="微软雅黑" panose="020B0503020204020204" pitchFamily="34" charset="-122"/>
                    <a:cs typeface="+mn-cs"/>
                  </a:rPr>
                  <a:t>目的</a:t>
                </a:r>
              </a:p>
            </p:txBody>
          </p:sp>
          <p:sp>
            <p:nvSpPr>
              <p:cNvPr id="37" name="Title-1">
                <a:extLst>
                  <a:ext uri="{FF2B5EF4-FFF2-40B4-BE49-F238E27FC236}">
                    <a16:creationId xmlns:a16="http://schemas.microsoft.com/office/drawing/2014/main" id="{062B8FA4-FFF2-7328-2C09-A5A3106A2742}"/>
                  </a:ext>
                </a:extLst>
              </p:cNvPr>
              <p:cNvSpPr txBox="1"/>
              <p:nvPr>
                <p:custDataLst>
                  <p:tags r:id="rId6"/>
                </p:custDataLst>
              </p:nvPr>
            </p:nvSpPr>
            <p:spPr>
              <a:xfrm>
                <a:off x="3238116" y="1406326"/>
                <a:ext cx="1719246" cy="3856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1200" cap="none" spc="0" normalizeH="0" baseline="0" noProof="0">
                    <a:ln>
                      <a:noFill/>
                    </a:ln>
                    <a:solidFill>
                      <a:srgbClr val="FFFFFF">
                        <a:lumMod val="90000"/>
                        <a:lumOff val="10000"/>
                      </a:srgbClr>
                    </a:solidFill>
                    <a:effectLst/>
                    <a:uLnTx/>
                    <a:uFillTx/>
                    <a:latin typeface="Arial" panose="020B0604020202020204" pitchFamily="34" charset="0"/>
                    <a:ea typeface="微软雅黑" panose="020B0503020204020204" pitchFamily="34" charset="-122"/>
                    <a:cs typeface="+mn-cs"/>
                  </a:rPr>
                  <a:t>作用</a:t>
                </a:r>
                <a:endParaRPr kumimoji="1" lang="zh-CN" altLang="en-US" sz="1800" b="1" i="0" u="none" strike="noStrike" kern="1200" cap="none" spc="0" normalizeH="0" baseline="0" noProof="0" dirty="0">
                  <a:ln>
                    <a:noFill/>
                  </a:ln>
                  <a:solidFill>
                    <a:srgbClr val="FFFFFF">
                      <a:lumMod val="90000"/>
                      <a:lumOff val="10000"/>
                    </a:srgbClr>
                  </a:solidFill>
                  <a:effectLst/>
                  <a:uLnTx/>
                  <a:uFillTx/>
                  <a:latin typeface="Arial" panose="020B0604020202020204" pitchFamily="34" charset="0"/>
                  <a:ea typeface="微软雅黑" panose="020B0503020204020204" pitchFamily="34" charset="-122"/>
                  <a:cs typeface="+mn-cs"/>
                </a:endParaRPr>
              </a:p>
            </p:txBody>
          </p:sp>
          <p:sp>
            <p:nvSpPr>
              <p:cNvPr id="38" name="Body-1">
                <a:extLst>
                  <a:ext uri="{FF2B5EF4-FFF2-40B4-BE49-F238E27FC236}">
                    <a16:creationId xmlns:a16="http://schemas.microsoft.com/office/drawing/2014/main" id="{E76CBA99-8A52-B551-1AE2-ADF620EBA27B}"/>
                  </a:ext>
                </a:extLst>
              </p:cNvPr>
              <p:cNvSpPr txBox="1"/>
              <p:nvPr>
                <p:custDataLst>
                  <p:tags r:id="rId7"/>
                </p:custDataLst>
              </p:nvPr>
            </p:nvSpPr>
            <p:spPr>
              <a:xfrm>
                <a:off x="3238116" y="1754671"/>
                <a:ext cx="4948622" cy="882992"/>
              </a:xfrm>
              <a:prstGeom prst="rect">
                <a:avLst/>
              </a:prstGeom>
              <a:noFill/>
            </p:spPr>
            <p:txBody>
              <a:bodyPr wrap="square" rtlCol="0">
                <a:spAutoFit/>
              </a:bodyPr>
              <a:lstStyle/>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消除虚增需求</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预测到执行的联动（订单</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-&gt;</a:t>
                </a: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预测</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-&gt;</a:t>
                </a: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补货需求）</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提升响应精度</a:t>
                </a:r>
              </a:p>
            </p:txBody>
          </p:sp>
        </p:grpSp>
        <p:grpSp>
          <p:nvGrpSpPr>
            <p:cNvPr id="8" name="组合 03">
              <a:extLst>
                <a:ext uri="{FF2B5EF4-FFF2-40B4-BE49-F238E27FC236}">
                  <a16:creationId xmlns:a16="http://schemas.microsoft.com/office/drawing/2014/main" id="{3E2017A2-A015-8DE5-D0B5-C75B5097437C}"/>
                </a:ext>
              </a:extLst>
            </p:cNvPr>
            <p:cNvGrpSpPr/>
            <p:nvPr/>
          </p:nvGrpSpPr>
          <p:grpSpPr>
            <a:xfrm>
              <a:off x="771488" y="3682873"/>
              <a:ext cx="7815299" cy="3101433"/>
              <a:chOff x="771488" y="434089"/>
              <a:chExt cx="7815299" cy="3101433"/>
            </a:xfrm>
          </p:grpSpPr>
          <p:sp>
            <p:nvSpPr>
              <p:cNvPr id="9" name="3">
                <a:extLst>
                  <a:ext uri="{FF2B5EF4-FFF2-40B4-BE49-F238E27FC236}">
                    <a16:creationId xmlns:a16="http://schemas.microsoft.com/office/drawing/2014/main" id="{23BAA1CB-1A8F-F61D-E9E5-933B33F54329}"/>
                  </a:ext>
                </a:extLst>
              </p:cNvPr>
              <p:cNvSpPr/>
              <p:nvPr/>
            </p:nvSpPr>
            <p:spPr>
              <a:xfrm>
                <a:off x="1129113" y="434089"/>
                <a:ext cx="7457674" cy="3101433"/>
              </a:xfrm>
              <a:prstGeom prst="roundRect">
                <a:avLst>
                  <a:gd name="adj" fmla="val 50000"/>
                </a:avLst>
              </a:prstGeom>
              <a:solidFill>
                <a:schemeClr val="bg1"/>
              </a:solidFill>
              <a:ln w="12700">
                <a:solidFill>
                  <a:schemeClr val="accent3">
                    <a:lumMod val="40000"/>
                    <a:lumOff val="60000"/>
                  </a:schemeClr>
                </a:solidFill>
              </a:ln>
              <a:effectLst>
                <a:outerShdw blurRad="279400" dist="76200" dir="2700000" sx="97000" sy="97000" algn="tl"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0" name="3">
                <a:extLst>
                  <a:ext uri="{FF2B5EF4-FFF2-40B4-BE49-F238E27FC236}">
                    <a16:creationId xmlns:a16="http://schemas.microsoft.com/office/drawing/2014/main" id="{21FA4965-3CDF-45F7-E5AF-46E47227B830}"/>
                  </a:ext>
                </a:extLst>
              </p:cNvPr>
              <p:cNvSpPr/>
              <p:nvPr/>
            </p:nvSpPr>
            <p:spPr>
              <a:xfrm>
                <a:off x="771488" y="1694714"/>
                <a:ext cx="2394384" cy="1360491"/>
              </a:xfrm>
              <a:prstGeom prst="ellipse">
                <a:avLst/>
              </a:prstGeom>
              <a:solidFill>
                <a:schemeClr val="accent3">
                  <a:lumMod val="50000"/>
                  <a:alpha val="35000"/>
                </a:schemeClr>
              </a:soli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1" name="3">
                <a:extLst>
                  <a:ext uri="{FF2B5EF4-FFF2-40B4-BE49-F238E27FC236}">
                    <a16:creationId xmlns:a16="http://schemas.microsoft.com/office/drawing/2014/main" id="{573EA84F-C808-7640-E811-AB6490C9D229}"/>
                  </a:ext>
                </a:extLst>
              </p:cNvPr>
              <p:cNvSpPr/>
              <p:nvPr/>
            </p:nvSpPr>
            <p:spPr>
              <a:xfrm>
                <a:off x="1089308" y="1681053"/>
                <a:ext cx="1758629" cy="1015368"/>
              </a:xfrm>
              <a:custGeom>
                <a:avLst/>
                <a:gdLst>
                  <a:gd name="connsiteX0" fmla="*/ 1155034 w 1155034"/>
                  <a:gd name="connsiteY0" fmla="*/ 333436 h 666871"/>
                  <a:gd name="connsiteX1" fmla="*/ 577517 w 1155034"/>
                  <a:gd name="connsiteY1" fmla="*/ 666872 h 666871"/>
                  <a:gd name="connsiteX2" fmla="*/ 0 w 1155034"/>
                  <a:gd name="connsiteY2" fmla="*/ 333436 h 666871"/>
                  <a:gd name="connsiteX3" fmla="*/ 577517 w 1155034"/>
                  <a:gd name="connsiteY3" fmla="*/ 0 h 666871"/>
                  <a:gd name="connsiteX4" fmla="*/ 1155034 w 1155034"/>
                  <a:gd name="connsiteY4" fmla="*/ 333436 h 66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034" h="666871">
                    <a:moveTo>
                      <a:pt x="1155034" y="333436"/>
                    </a:moveTo>
                    <a:cubicBezTo>
                      <a:pt x="1155034" y="517588"/>
                      <a:pt x="896471" y="666872"/>
                      <a:pt x="577517" y="666872"/>
                    </a:cubicBezTo>
                    <a:cubicBezTo>
                      <a:pt x="258563" y="666872"/>
                      <a:pt x="0" y="517588"/>
                      <a:pt x="0" y="333436"/>
                    </a:cubicBezTo>
                    <a:cubicBezTo>
                      <a:pt x="0" y="149284"/>
                      <a:pt x="258563" y="0"/>
                      <a:pt x="577517" y="0"/>
                    </a:cubicBezTo>
                    <a:cubicBezTo>
                      <a:pt x="896471" y="0"/>
                      <a:pt x="1155034" y="149284"/>
                      <a:pt x="1155034" y="333436"/>
                    </a:cubicBezTo>
                    <a:close/>
                  </a:path>
                </a:pathLst>
              </a:custGeom>
              <a:solidFill>
                <a:srgbClr val="CCCCCC"/>
              </a:soli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2" name="3">
                <a:extLst>
                  <a:ext uri="{FF2B5EF4-FFF2-40B4-BE49-F238E27FC236}">
                    <a16:creationId xmlns:a16="http://schemas.microsoft.com/office/drawing/2014/main" id="{23608BAA-CEFA-380B-85A6-285FAB77A9EA}"/>
                  </a:ext>
                </a:extLst>
              </p:cNvPr>
              <p:cNvSpPr/>
              <p:nvPr/>
            </p:nvSpPr>
            <p:spPr>
              <a:xfrm>
                <a:off x="1089308" y="1861565"/>
                <a:ext cx="1758629" cy="834865"/>
              </a:xfrm>
              <a:custGeom>
                <a:avLst/>
                <a:gdLst>
                  <a:gd name="connsiteX0" fmla="*/ 985901 w 1155034"/>
                  <a:gd name="connsiteY0" fmla="*/ 450660 h 548321"/>
                  <a:gd name="connsiteX1" fmla="*/ 169161 w 1155034"/>
                  <a:gd name="connsiteY1" fmla="*/ 450660 h 548321"/>
                  <a:gd name="connsiteX2" fmla="*/ 0 w 1155034"/>
                  <a:gd name="connsiteY2" fmla="*/ 214879 h 548321"/>
                  <a:gd name="connsiteX3" fmla="*/ 0 w 1155034"/>
                  <a:gd name="connsiteY3" fmla="*/ 0 h 548321"/>
                  <a:gd name="connsiteX4" fmla="*/ 1153924 w 1155034"/>
                  <a:gd name="connsiteY4" fmla="*/ 19598 h 548321"/>
                  <a:gd name="connsiteX5" fmla="*/ 1155034 w 1155034"/>
                  <a:gd name="connsiteY5" fmla="*/ 214879 h 548321"/>
                  <a:gd name="connsiteX6" fmla="*/ 985901 w 1155034"/>
                  <a:gd name="connsiteY6" fmla="*/ 450660 h 54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034" h="548321">
                    <a:moveTo>
                      <a:pt x="985901" y="450660"/>
                    </a:moveTo>
                    <a:cubicBezTo>
                      <a:pt x="760363" y="580876"/>
                      <a:pt x="394643" y="580876"/>
                      <a:pt x="169161" y="450660"/>
                    </a:cubicBezTo>
                    <a:cubicBezTo>
                      <a:pt x="56405" y="385539"/>
                      <a:pt x="0" y="300209"/>
                      <a:pt x="0" y="214879"/>
                    </a:cubicBezTo>
                    <a:lnTo>
                      <a:pt x="0" y="0"/>
                    </a:lnTo>
                    <a:lnTo>
                      <a:pt x="1153924" y="19598"/>
                    </a:lnTo>
                    <a:cubicBezTo>
                      <a:pt x="1153924" y="19598"/>
                      <a:pt x="1155034" y="129549"/>
                      <a:pt x="1155034" y="214879"/>
                    </a:cubicBezTo>
                    <a:cubicBezTo>
                      <a:pt x="1155034" y="300209"/>
                      <a:pt x="1098657" y="385539"/>
                      <a:pt x="985901" y="450660"/>
                    </a:cubicBezTo>
                    <a:close/>
                  </a:path>
                </a:pathLst>
              </a:custGeom>
              <a:gradFill>
                <a:gsLst>
                  <a:gs pos="0">
                    <a:schemeClr val="accent3">
                      <a:lumMod val="60000"/>
                      <a:lumOff val="40000"/>
                    </a:schemeClr>
                  </a:gs>
                  <a:gs pos="49000">
                    <a:schemeClr val="accent3"/>
                  </a:gs>
                  <a:gs pos="100000">
                    <a:schemeClr val="accent3">
                      <a:lumMod val="75000"/>
                    </a:schemeClr>
                  </a:gs>
                </a:gsLst>
                <a:lin ang="10795496"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3" name="3">
                <a:extLst>
                  <a:ext uri="{FF2B5EF4-FFF2-40B4-BE49-F238E27FC236}">
                    <a16:creationId xmlns:a16="http://schemas.microsoft.com/office/drawing/2014/main" id="{A7AD3E14-DBB1-51C9-3783-76455D8B4351}"/>
                  </a:ext>
                </a:extLst>
              </p:cNvPr>
              <p:cNvSpPr/>
              <p:nvPr/>
            </p:nvSpPr>
            <p:spPr>
              <a:xfrm>
                <a:off x="1089308" y="1356164"/>
                <a:ext cx="1758629" cy="1015368"/>
              </a:xfrm>
              <a:custGeom>
                <a:avLst/>
                <a:gdLst>
                  <a:gd name="connsiteX0" fmla="*/ 1155034 w 1155034"/>
                  <a:gd name="connsiteY0" fmla="*/ 333436 h 666871"/>
                  <a:gd name="connsiteX1" fmla="*/ 577517 w 1155034"/>
                  <a:gd name="connsiteY1" fmla="*/ 666872 h 666871"/>
                  <a:gd name="connsiteX2" fmla="*/ 0 w 1155034"/>
                  <a:gd name="connsiteY2" fmla="*/ 333436 h 666871"/>
                  <a:gd name="connsiteX3" fmla="*/ 577517 w 1155034"/>
                  <a:gd name="connsiteY3" fmla="*/ 0 h 666871"/>
                  <a:gd name="connsiteX4" fmla="*/ 1155034 w 1155034"/>
                  <a:gd name="connsiteY4" fmla="*/ 333436 h 66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034" h="666871">
                    <a:moveTo>
                      <a:pt x="1155034" y="333436"/>
                    </a:moveTo>
                    <a:cubicBezTo>
                      <a:pt x="1155034" y="517588"/>
                      <a:pt x="896471" y="666872"/>
                      <a:pt x="577517" y="666872"/>
                    </a:cubicBezTo>
                    <a:cubicBezTo>
                      <a:pt x="258563" y="666872"/>
                      <a:pt x="0" y="517588"/>
                      <a:pt x="0" y="333436"/>
                    </a:cubicBezTo>
                    <a:cubicBezTo>
                      <a:pt x="0" y="149284"/>
                      <a:pt x="258563" y="0"/>
                      <a:pt x="577517" y="0"/>
                    </a:cubicBezTo>
                    <a:cubicBezTo>
                      <a:pt x="896471" y="0"/>
                      <a:pt x="1155034" y="149284"/>
                      <a:pt x="1155034" y="333436"/>
                    </a:cubicBezTo>
                    <a:close/>
                  </a:path>
                </a:pathLst>
              </a:custGeom>
              <a:gradFill>
                <a:gsLst>
                  <a:gs pos="0">
                    <a:schemeClr val="accent3">
                      <a:lumMod val="60000"/>
                      <a:lumOff val="40000"/>
                    </a:schemeClr>
                  </a:gs>
                  <a:gs pos="50000">
                    <a:schemeClr val="accent3"/>
                  </a:gs>
                  <a:gs pos="100000">
                    <a:schemeClr val="accent3">
                      <a:lumMod val="75000"/>
                    </a:schemeClr>
                  </a:gs>
                </a:gsLst>
                <a:lin ang="5386429"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4" name="3">
                <a:extLst>
                  <a:ext uri="{FF2B5EF4-FFF2-40B4-BE49-F238E27FC236}">
                    <a16:creationId xmlns:a16="http://schemas.microsoft.com/office/drawing/2014/main" id="{4B94F788-FEC6-ED35-24BF-8823194199B1}"/>
                  </a:ext>
                </a:extLst>
              </p:cNvPr>
              <p:cNvSpPr/>
              <p:nvPr/>
            </p:nvSpPr>
            <p:spPr>
              <a:xfrm>
                <a:off x="1089404" y="1356164"/>
                <a:ext cx="1758649" cy="1015327"/>
              </a:xfrm>
              <a:custGeom>
                <a:avLst/>
                <a:gdLst>
                  <a:gd name="connsiteX0" fmla="*/ 577510 w 1155047"/>
                  <a:gd name="connsiteY0" fmla="*/ 13879 h 666844"/>
                  <a:gd name="connsiteX1" fmla="*/ 978899 w 1155047"/>
                  <a:gd name="connsiteY1" fmla="*/ 109674 h 666844"/>
                  <a:gd name="connsiteX2" fmla="*/ 1141093 w 1155047"/>
                  <a:gd name="connsiteY2" fmla="*/ 333436 h 666844"/>
                  <a:gd name="connsiteX3" fmla="*/ 978899 w 1155047"/>
                  <a:gd name="connsiteY3" fmla="*/ 557170 h 666844"/>
                  <a:gd name="connsiteX4" fmla="*/ 577482 w 1155047"/>
                  <a:gd name="connsiteY4" fmla="*/ 652965 h 666844"/>
                  <a:gd name="connsiteX5" fmla="*/ 176038 w 1155047"/>
                  <a:gd name="connsiteY5" fmla="*/ 557170 h 666844"/>
                  <a:gd name="connsiteX6" fmla="*/ 13817 w 1155047"/>
                  <a:gd name="connsiteY6" fmla="*/ 333436 h 666844"/>
                  <a:gd name="connsiteX7" fmla="*/ 176038 w 1155047"/>
                  <a:gd name="connsiteY7" fmla="*/ 109674 h 666844"/>
                  <a:gd name="connsiteX8" fmla="*/ 577510 w 1155047"/>
                  <a:gd name="connsiteY8" fmla="*/ 13879 h 666844"/>
                  <a:gd name="connsiteX9" fmla="*/ 577510 w 1155047"/>
                  <a:gd name="connsiteY9" fmla="*/ 13879 h 666844"/>
                  <a:gd name="connsiteX10" fmla="*/ 577510 w 1155047"/>
                  <a:gd name="connsiteY10" fmla="*/ 0 h 666844"/>
                  <a:gd name="connsiteX11" fmla="*/ 169154 w 1155047"/>
                  <a:gd name="connsiteY11" fmla="*/ 97654 h 666844"/>
                  <a:gd name="connsiteX12" fmla="*/ 169154 w 1155047"/>
                  <a:gd name="connsiteY12" fmla="*/ 569189 h 666844"/>
                  <a:gd name="connsiteX13" fmla="*/ 577538 w 1155047"/>
                  <a:gd name="connsiteY13" fmla="*/ 666844 h 666844"/>
                  <a:gd name="connsiteX14" fmla="*/ 985894 w 1155047"/>
                  <a:gd name="connsiteY14" fmla="*/ 569189 h 666844"/>
                  <a:gd name="connsiteX15" fmla="*/ 985894 w 1155047"/>
                  <a:gd name="connsiteY15" fmla="*/ 97654 h 666844"/>
                  <a:gd name="connsiteX16" fmla="*/ 577510 w 1155047"/>
                  <a:gd name="connsiteY16" fmla="*/ 0 h 66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55047" h="666844">
                    <a:moveTo>
                      <a:pt x="577510" y="13879"/>
                    </a:moveTo>
                    <a:cubicBezTo>
                      <a:pt x="729350" y="13879"/>
                      <a:pt x="871890" y="47911"/>
                      <a:pt x="978899" y="109674"/>
                    </a:cubicBezTo>
                    <a:cubicBezTo>
                      <a:pt x="1083493" y="170077"/>
                      <a:pt x="1141093" y="249522"/>
                      <a:pt x="1141093" y="333436"/>
                    </a:cubicBezTo>
                    <a:cubicBezTo>
                      <a:pt x="1141093" y="417350"/>
                      <a:pt x="1083493" y="496795"/>
                      <a:pt x="978899" y="557170"/>
                    </a:cubicBezTo>
                    <a:cubicBezTo>
                      <a:pt x="871890" y="618961"/>
                      <a:pt x="729322" y="652965"/>
                      <a:pt x="577482" y="652965"/>
                    </a:cubicBezTo>
                    <a:cubicBezTo>
                      <a:pt x="425643" y="652965"/>
                      <a:pt x="283047" y="618961"/>
                      <a:pt x="176038" y="557170"/>
                    </a:cubicBezTo>
                    <a:cubicBezTo>
                      <a:pt x="71444" y="496795"/>
                      <a:pt x="13817" y="417322"/>
                      <a:pt x="13817" y="333436"/>
                    </a:cubicBezTo>
                    <a:cubicBezTo>
                      <a:pt x="13817" y="249550"/>
                      <a:pt x="71444" y="170077"/>
                      <a:pt x="176038" y="109674"/>
                    </a:cubicBezTo>
                    <a:cubicBezTo>
                      <a:pt x="283020" y="47911"/>
                      <a:pt x="425588" y="13879"/>
                      <a:pt x="577510" y="13879"/>
                    </a:cubicBezTo>
                    <a:lnTo>
                      <a:pt x="577510" y="13879"/>
                    </a:lnTo>
                    <a:moveTo>
                      <a:pt x="577510" y="0"/>
                    </a:moveTo>
                    <a:cubicBezTo>
                      <a:pt x="429724" y="0"/>
                      <a:pt x="281909" y="32561"/>
                      <a:pt x="169154" y="97654"/>
                    </a:cubicBezTo>
                    <a:cubicBezTo>
                      <a:pt x="-56385" y="227870"/>
                      <a:pt x="-56385" y="439085"/>
                      <a:pt x="169154" y="569189"/>
                    </a:cubicBezTo>
                    <a:cubicBezTo>
                      <a:pt x="281937" y="634311"/>
                      <a:pt x="429696" y="666844"/>
                      <a:pt x="577538" y="666844"/>
                    </a:cubicBezTo>
                    <a:cubicBezTo>
                      <a:pt x="725380" y="666844"/>
                      <a:pt x="873139" y="634283"/>
                      <a:pt x="985894" y="569189"/>
                    </a:cubicBezTo>
                    <a:cubicBezTo>
                      <a:pt x="1211433" y="438974"/>
                      <a:pt x="1211433" y="227759"/>
                      <a:pt x="985894" y="97654"/>
                    </a:cubicBezTo>
                    <a:cubicBezTo>
                      <a:pt x="873111" y="32533"/>
                      <a:pt x="725325" y="0"/>
                      <a:pt x="577510" y="0"/>
                    </a:cubicBezTo>
                    <a:close/>
                  </a:path>
                </a:pathLst>
              </a:custGeom>
              <a:gradFill>
                <a:gsLst>
                  <a:gs pos="0">
                    <a:schemeClr val="accent3">
                      <a:lumMod val="60000"/>
                      <a:lumOff val="40000"/>
                    </a:schemeClr>
                  </a:gs>
                  <a:gs pos="50000">
                    <a:schemeClr val="accent3"/>
                  </a:gs>
                  <a:gs pos="100000">
                    <a:schemeClr val="accent3">
                      <a:lumMod val="75000"/>
                    </a:schemeClr>
                  </a:gs>
                </a:gsLst>
                <a:lin ang="19800044" scaled="1"/>
              </a:gradFill>
              <a:ln w="2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15" name="3">
                <a:extLst>
                  <a:ext uri="{FF2B5EF4-FFF2-40B4-BE49-F238E27FC236}">
                    <a16:creationId xmlns:a16="http://schemas.microsoft.com/office/drawing/2014/main" id="{F12C0BA6-850C-8F74-733E-E37BBB617A27}"/>
                  </a:ext>
                </a:extLst>
              </p:cNvPr>
              <p:cNvSpPr>
                <a:spLocks/>
              </p:cNvSpPr>
              <p:nvPr/>
            </p:nvSpPr>
            <p:spPr>
              <a:xfrm rot="420000">
                <a:off x="1199932" y="1217632"/>
                <a:ext cx="1548000" cy="1260000"/>
              </a:xfrm>
              <a:prstGeom prst="ellipse">
                <a:avLst/>
              </a:prstGeom>
              <a:noFill/>
              <a:ln w="31750" cap="rnd">
                <a:gradFill flip="none" rotWithShape="1">
                  <a:gsLst>
                    <a:gs pos="0">
                      <a:schemeClr val="bg1"/>
                    </a:gs>
                    <a:gs pos="75000">
                      <a:schemeClr val="bg1">
                        <a:alpha val="0"/>
                      </a:schemeClr>
                    </a:gs>
                  </a:gsLst>
                  <a:lin ang="0" scaled="1"/>
                  <a:tileRect/>
                </a:gradFill>
                <a:prstDash val="dash"/>
                <a:round/>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6" name="Index-3">
                <a:extLst>
                  <a:ext uri="{FF2B5EF4-FFF2-40B4-BE49-F238E27FC236}">
                    <a16:creationId xmlns:a16="http://schemas.microsoft.com/office/drawing/2014/main" id="{FE49AD66-7EDF-8F50-AE76-B1533C503B7D}"/>
                  </a:ext>
                </a:extLst>
              </p:cNvPr>
              <p:cNvSpPr txBox="1"/>
              <p:nvPr>
                <p:custDataLst>
                  <p:tags r:id="rId2"/>
                </p:custDataLst>
              </p:nvPr>
            </p:nvSpPr>
            <p:spPr>
              <a:xfrm>
                <a:off x="1217342" y="1502790"/>
                <a:ext cx="1502560" cy="674899"/>
              </a:xfrm>
              <a:prstGeom prst="rect">
                <a:avLst/>
              </a:prstGeom>
              <a:noFill/>
            </p:spPr>
            <p:txBody>
              <a:bodyPr wrap="square" rtlCol="0">
                <a:spAutoFit/>
                <a:scene3d>
                  <a:camera prst="isometricOffAxis2Top">
                    <a:rot lat="19800000" lon="3000000" rev="180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3600" b="1" i="0" u="none" strike="noStrike" kern="1200" cap="none" spc="0" normalizeH="0" baseline="0" noProof="0" dirty="0">
                    <a:ln>
                      <a:noFill/>
                    </a:ln>
                    <a:solidFill>
                      <a:srgbClr val="000000"/>
                    </a:solidFill>
                    <a:effectLst>
                      <a:outerShdw blurRad="50800" dist="38100" dir="2700000" algn="tl" rotWithShape="0">
                        <a:srgbClr val="A5A5A5">
                          <a:lumMod val="50000"/>
                          <a:alpha val="40000"/>
                        </a:srgbClr>
                      </a:outerShdw>
                    </a:effectLst>
                    <a:uLnTx/>
                    <a:uFillTx/>
                    <a:latin typeface="Arial" panose="020B0604020202020204" pitchFamily="34" charset="0"/>
                    <a:ea typeface="微软雅黑" panose="020B0503020204020204" pitchFamily="34" charset="-122"/>
                    <a:cs typeface="+mn-cs"/>
                  </a:rPr>
                  <a:t>方案</a:t>
                </a:r>
              </a:p>
            </p:txBody>
          </p:sp>
          <p:sp>
            <p:nvSpPr>
              <p:cNvPr id="17" name="Title-3">
                <a:extLst>
                  <a:ext uri="{FF2B5EF4-FFF2-40B4-BE49-F238E27FC236}">
                    <a16:creationId xmlns:a16="http://schemas.microsoft.com/office/drawing/2014/main" id="{25C70818-4139-028D-EAD6-78BF827ECC02}"/>
                  </a:ext>
                </a:extLst>
              </p:cNvPr>
              <p:cNvSpPr txBox="1"/>
              <p:nvPr>
                <p:custDataLst>
                  <p:tags r:id="rId3"/>
                </p:custDataLst>
              </p:nvPr>
            </p:nvSpPr>
            <p:spPr>
              <a:xfrm>
                <a:off x="3261936" y="626636"/>
                <a:ext cx="1719247" cy="3856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1200" cap="none" spc="0" normalizeH="0" baseline="0" noProof="0" dirty="0">
                    <a:ln>
                      <a:noFill/>
                    </a:ln>
                    <a:solidFill>
                      <a:srgbClr val="FFFFFF">
                        <a:lumMod val="90000"/>
                        <a:lumOff val="10000"/>
                      </a:srgbClr>
                    </a:solidFill>
                    <a:effectLst/>
                    <a:uLnTx/>
                    <a:uFillTx/>
                    <a:latin typeface="Arial" panose="020B0604020202020204" pitchFamily="34" charset="0"/>
                    <a:ea typeface="微软雅黑" panose="020B0503020204020204" pitchFamily="34" charset="-122"/>
                    <a:cs typeface="+mn-cs"/>
                  </a:rPr>
                  <a:t>我们的方案</a:t>
                </a:r>
              </a:p>
            </p:txBody>
          </p:sp>
          <p:sp>
            <p:nvSpPr>
              <p:cNvPr id="18" name="Body-3">
                <a:extLst>
                  <a:ext uri="{FF2B5EF4-FFF2-40B4-BE49-F238E27FC236}">
                    <a16:creationId xmlns:a16="http://schemas.microsoft.com/office/drawing/2014/main" id="{B6D713DB-A395-D727-A700-88B79E89FF22}"/>
                  </a:ext>
                </a:extLst>
              </p:cNvPr>
              <p:cNvSpPr txBox="1"/>
              <p:nvPr>
                <p:custDataLst>
                  <p:tags r:id="rId4"/>
                </p:custDataLst>
              </p:nvPr>
            </p:nvSpPr>
            <p:spPr>
              <a:xfrm>
                <a:off x="3077528" y="1032773"/>
                <a:ext cx="4948622" cy="2502749"/>
              </a:xfrm>
              <a:prstGeom prst="rect">
                <a:avLst/>
              </a:prstGeom>
              <a:noFill/>
            </p:spPr>
            <p:txBody>
              <a:bodyPr wrap="square" rtlCol="0">
                <a:spAutoFit/>
              </a:bodyPr>
              <a:lstStyle/>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定义产品，客户，地区的需求层级，这个层级意味着预测相对准确，同时资源分配也在这个层级。</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定义计划对象，即资源分配的供应链网络节点。</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供应链网络节点对应的</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Supply</a:t>
                </a: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分配给了预测（</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Pegging</a:t>
                </a: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），计划对象对应的上层祖先们有相应的对应关系及数量和时间转化</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订单针对计划对象做冲减。其对应的逻辑是</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Pegging</a:t>
                </a: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（已分配的资源）是否针对订单可用。</a:t>
                </a:r>
              </a:p>
              <a:p>
                <a:pPr marL="342900" marR="0" lvl="0" indent="-342900" algn="just" defTabSz="914400" rtl="0" eaLnBrk="1" fontAlgn="auto" latinLnBrk="0" hangingPunct="1">
                  <a:lnSpc>
                    <a:spcPct val="120000"/>
                  </a:lnSpc>
                  <a:spcBef>
                    <a:spcPts val="0"/>
                  </a:spcBef>
                  <a:spcAft>
                    <a:spcPts val="0"/>
                  </a:spcAft>
                  <a:buClrTx/>
                  <a:buSzTx/>
                  <a:buFont typeface="+mj-lt"/>
                  <a:buAutoNum type="arabicPeriod"/>
                  <a:tabLst/>
                  <a:defRPr/>
                </a:pPr>
                <a:r>
                  <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冲减的规则：</a:t>
                </a:r>
                <a:r>
                  <a:rPr kumimoji="1" lang="en-US" altLang="zh-CN"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rPr>
                  <a:t>Forward, Backward, Hybrid</a:t>
                </a:r>
                <a:endParaRPr kumimoji="1" lang="zh-CN" altLang="en-US" sz="1400" b="0" i="0" u="none" strike="noStrike" kern="1200" cap="none" spc="0" normalizeH="0" baseline="0" noProof="0" dirty="0">
                  <a:ln>
                    <a:noFill/>
                  </a:ln>
                  <a:solidFill>
                    <a:srgbClr val="FFFFFF">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spTree>
    <p:extLst>
      <p:ext uri="{BB962C8B-B14F-4D97-AF65-F5344CB8AC3E}">
        <p14:creationId xmlns:p14="http://schemas.microsoft.com/office/powerpoint/2010/main" val="30042542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622F5-A516-E6EF-09F9-6DD2FF4DDACF}"/>
              </a:ext>
            </a:extLst>
          </p:cNvPr>
          <p:cNvSpPr>
            <a:spLocks noGrp="1"/>
          </p:cNvSpPr>
          <p:nvPr>
            <p:ph type="title"/>
          </p:nvPr>
        </p:nvSpPr>
        <p:spPr/>
        <p:txBody>
          <a:bodyPr>
            <a:normAutofit fontScale="90000"/>
          </a:bodyPr>
          <a:lstStyle/>
          <a:p>
            <a:r>
              <a:rPr lang="en-US" altLang="zh-CN" dirty="0">
                <a:ea typeface="微软雅黑" panose="020B0503020204020204" pitchFamily="34" charset="-122"/>
              </a:rPr>
              <a:t>Planning BOM – </a:t>
            </a:r>
            <a:r>
              <a:rPr lang="zh-CN" altLang="en-US" dirty="0">
                <a:ea typeface="微软雅黑" panose="020B0503020204020204" pitchFamily="34" charset="-122"/>
              </a:rPr>
              <a:t>传统做法</a:t>
            </a:r>
          </a:p>
        </p:txBody>
      </p:sp>
      <p:sp>
        <p:nvSpPr>
          <p:cNvPr id="4" name="矩形: 圆角 3">
            <a:extLst>
              <a:ext uri="{FF2B5EF4-FFF2-40B4-BE49-F238E27FC236}">
                <a16:creationId xmlns:a16="http://schemas.microsoft.com/office/drawing/2014/main" id="{F4395D37-7DD2-09BE-EA4A-5AC5385870B4}"/>
              </a:ext>
            </a:extLst>
          </p:cNvPr>
          <p:cNvSpPr/>
          <p:nvPr/>
        </p:nvSpPr>
        <p:spPr>
          <a:xfrm>
            <a:off x="4998720" y="790209"/>
            <a:ext cx="900000" cy="360000"/>
          </a:xfrm>
          <a:prstGeom prst="roundRect">
            <a:avLst/>
          </a:prstGeom>
          <a:solidFill>
            <a:srgbClr val="00B7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Family X</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矩形: 圆角 4">
            <a:extLst>
              <a:ext uri="{FF2B5EF4-FFF2-40B4-BE49-F238E27FC236}">
                <a16:creationId xmlns:a16="http://schemas.microsoft.com/office/drawing/2014/main" id="{C240A98D-99F1-F5CC-3499-71B506D3C89A}"/>
              </a:ext>
            </a:extLst>
          </p:cNvPr>
          <p:cNvSpPr/>
          <p:nvPr/>
        </p:nvSpPr>
        <p:spPr>
          <a:xfrm>
            <a:off x="2898480" y="15702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A</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矩形: 圆角 5">
            <a:extLst>
              <a:ext uri="{FF2B5EF4-FFF2-40B4-BE49-F238E27FC236}">
                <a16:creationId xmlns:a16="http://schemas.microsoft.com/office/drawing/2014/main" id="{0EFEA7EC-54D6-8FA4-D661-CC3932C0A925}"/>
              </a:ext>
            </a:extLst>
          </p:cNvPr>
          <p:cNvSpPr/>
          <p:nvPr/>
        </p:nvSpPr>
        <p:spPr>
          <a:xfrm>
            <a:off x="4221901"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B</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圆角 6">
            <a:extLst>
              <a:ext uri="{FF2B5EF4-FFF2-40B4-BE49-F238E27FC236}">
                <a16:creationId xmlns:a16="http://schemas.microsoft.com/office/drawing/2014/main" id="{A950F192-7B0D-AE40-8321-49DFF09FC06A}"/>
              </a:ext>
            </a:extLst>
          </p:cNvPr>
          <p:cNvSpPr/>
          <p:nvPr/>
        </p:nvSpPr>
        <p:spPr>
          <a:xfrm>
            <a:off x="5591851"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C</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矩形: 圆角 7">
            <a:extLst>
              <a:ext uri="{FF2B5EF4-FFF2-40B4-BE49-F238E27FC236}">
                <a16:creationId xmlns:a16="http://schemas.microsoft.com/office/drawing/2014/main" id="{F181E01E-54D6-E27A-8D4F-351562976E87}"/>
              </a:ext>
            </a:extLst>
          </p:cNvPr>
          <p:cNvSpPr/>
          <p:nvPr/>
        </p:nvSpPr>
        <p:spPr>
          <a:xfrm>
            <a:off x="6961801" y="1588932"/>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D</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矩形: 圆角 8">
            <a:extLst>
              <a:ext uri="{FF2B5EF4-FFF2-40B4-BE49-F238E27FC236}">
                <a16:creationId xmlns:a16="http://schemas.microsoft.com/office/drawing/2014/main" id="{8B5710B9-210E-645F-6EB5-B84003DA8B77}"/>
              </a:ext>
            </a:extLst>
          </p:cNvPr>
          <p:cNvSpPr/>
          <p:nvPr/>
        </p:nvSpPr>
        <p:spPr>
          <a:xfrm>
            <a:off x="8285222"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E</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矩形: 圆角 9">
            <a:extLst>
              <a:ext uri="{FF2B5EF4-FFF2-40B4-BE49-F238E27FC236}">
                <a16:creationId xmlns:a16="http://schemas.microsoft.com/office/drawing/2014/main" id="{9DE7A940-9BBD-0368-1C91-03EDDE8D8748}"/>
              </a:ext>
            </a:extLst>
          </p:cNvPr>
          <p:cNvSpPr/>
          <p:nvPr/>
        </p:nvSpPr>
        <p:spPr>
          <a:xfrm>
            <a:off x="1473540" y="15702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Common</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2" name="表格 11">
            <a:extLst>
              <a:ext uri="{FF2B5EF4-FFF2-40B4-BE49-F238E27FC236}">
                <a16:creationId xmlns:a16="http://schemas.microsoft.com/office/drawing/2014/main" id="{70C52589-2718-8C09-7E02-29BB5D0AC601}"/>
              </a:ext>
            </a:extLst>
          </p:cNvPr>
          <p:cNvGraphicFramePr>
            <a:graphicFrameLocks noGrp="1"/>
          </p:cNvGraphicFramePr>
          <p:nvPr>
            <p:extLst>
              <p:ext uri="{D42A27DB-BD31-4B8C-83A1-F6EECF244321}">
                <p14:modId xmlns:p14="http://schemas.microsoft.com/office/powerpoint/2010/main" val="3568668061"/>
              </p:ext>
            </p:extLst>
          </p:nvPr>
        </p:nvGraphicFramePr>
        <p:xfrm>
          <a:off x="3082245" y="2301361"/>
          <a:ext cx="441030" cy="296672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607049304"/>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189555539"/>
                  </a:ext>
                </a:extLst>
              </a:tr>
            </a:tbl>
          </a:graphicData>
        </a:graphic>
      </p:graphicFrame>
      <p:sp>
        <p:nvSpPr>
          <p:cNvPr id="13" name="文本框 12">
            <a:extLst>
              <a:ext uri="{FF2B5EF4-FFF2-40B4-BE49-F238E27FC236}">
                <a16:creationId xmlns:a16="http://schemas.microsoft.com/office/drawing/2014/main" id="{3DF6D80F-1A73-0C14-A5FF-30DB4176121D}"/>
              </a:ext>
            </a:extLst>
          </p:cNvPr>
          <p:cNvSpPr txBox="1"/>
          <p:nvPr/>
        </p:nvSpPr>
        <p:spPr>
          <a:xfrm>
            <a:off x="3086100"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FFCECF2D-DB48-4522-8308-33D8CBEC6BA7}"/>
              </a:ext>
            </a:extLst>
          </p:cNvPr>
          <p:cNvSpPr txBox="1"/>
          <p:nvPr/>
        </p:nvSpPr>
        <p:spPr>
          <a:xfrm>
            <a:off x="3086100" y="5288532"/>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A8</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5" name="表格 14">
            <a:extLst>
              <a:ext uri="{FF2B5EF4-FFF2-40B4-BE49-F238E27FC236}">
                <a16:creationId xmlns:a16="http://schemas.microsoft.com/office/drawing/2014/main" id="{50D5BF15-BA74-CC76-8FB8-8B26A8D5E18B}"/>
              </a:ext>
            </a:extLst>
          </p:cNvPr>
          <p:cNvGraphicFramePr>
            <a:graphicFrameLocks noGrp="1"/>
          </p:cNvGraphicFramePr>
          <p:nvPr>
            <p:extLst>
              <p:ext uri="{D42A27DB-BD31-4B8C-83A1-F6EECF244321}">
                <p14:modId xmlns:p14="http://schemas.microsoft.com/office/powerpoint/2010/main" val="3526255164"/>
              </p:ext>
            </p:extLst>
          </p:nvPr>
        </p:nvGraphicFramePr>
        <p:xfrm>
          <a:off x="4438605" y="2321812"/>
          <a:ext cx="441030" cy="222504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bl>
          </a:graphicData>
        </a:graphic>
      </p:graphicFrame>
      <p:sp>
        <p:nvSpPr>
          <p:cNvPr id="16" name="文本框 15">
            <a:extLst>
              <a:ext uri="{FF2B5EF4-FFF2-40B4-BE49-F238E27FC236}">
                <a16:creationId xmlns:a16="http://schemas.microsoft.com/office/drawing/2014/main" id="{DA1D961C-0974-EA5B-07DB-6ED43F2BE5CF}"/>
              </a:ext>
            </a:extLst>
          </p:cNvPr>
          <p:cNvSpPr txBox="1"/>
          <p:nvPr/>
        </p:nvSpPr>
        <p:spPr>
          <a:xfrm>
            <a:off x="4481821" y="4645386"/>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B6</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4000AEA1-2F7F-DF58-F18C-886B81507D04}"/>
              </a:ext>
            </a:extLst>
          </p:cNvPr>
          <p:cNvSpPr txBox="1"/>
          <p:nvPr/>
        </p:nvSpPr>
        <p:spPr>
          <a:xfrm>
            <a:off x="4442460"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8" name="表格 17">
            <a:extLst>
              <a:ext uri="{FF2B5EF4-FFF2-40B4-BE49-F238E27FC236}">
                <a16:creationId xmlns:a16="http://schemas.microsoft.com/office/drawing/2014/main" id="{D182E67D-49AA-EDEE-01E6-0EA22C33C488}"/>
              </a:ext>
            </a:extLst>
          </p:cNvPr>
          <p:cNvGraphicFramePr>
            <a:graphicFrameLocks noGrp="1"/>
          </p:cNvGraphicFramePr>
          <p:nvPr>
            <p:extLst>
              <p:ext uri="{D42A27DB-BD31-4B8C-83A1-F6EECF244321}">
                <p14:modId xmlns:p14="http://schemas.microsoft.com/office/powerpoint/2010/main" val="1734759846"/>
              </p:ext>
            </p:extLst>
          </p:nvPr>
        </p:nvGraphicFramePr>
        <p:xfrm>
          <a:off x="5822941" y="2301361"/>
          <a:ext cx="441030" cy="370840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607049304"/>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18955553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032759653"/>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956814356"/>
                  </a:ext>
                </a:extLst>
              </a:tr>
            </a:tbl>
          </a:graphicData>
        </a:graphic>
      </p:graphicFrame>
      <p:sp>
        <p:nvSpPr>
          <p:cNvPr id="19" name="文本框 18">
            <a:extLst>
              <a:ext uri="{FF2B5EF4-FFF2-40B4-BE49-F238E27FC236}">
                <a16:creationId xmlns:a16="http://schemas.microsoft.com/office/drawing/2014/main" id="{3DDE29C7-0F01-8DAD-6E80-4C197B3E4E77}"/>
              </a:ext>
            </a:extLst>
          </p:cNvPr>
          <p:cNvSpPr txBox="1"/>
          <p:nvPr/>
        </p:nvSpPr>
        <p:spPr>
          <a:xfrm>
            <a:off x="5826796"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0" name="文本框 19">
            <a:extLst>
              <a:ext uri="{FF2B5EF4-FFF2-40B4-BE49-F238E27FC236}">
                <a16:creationId xmlns:a16="http://schemas.microsoft.com/office/drawing/2014/main" id="{62498F08-47D5-9CDE-9DCE-0292498C1759}"/>
              </a:ext>
            </a:extLst>
          </p:cNvPr>
          <p:cNvSpPr txBox="1"/>
          <p:nvPr/>
        </p:nvSpPr>
        <p:spPr>
          <a:xfrm>
            <a:off x="5826796" y="6009761"/>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C10</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1" name="表格 20">
            <a:extLst>
              <a:ext uri="{FF2B5EF4-FFF2-40B4-BE49-F238E27FC236}">
                <a16:creationId xmlns:a16="http://schemas.microsoft.com/office/drawing/2014/main" id="{BA8EB21B-A468-FC3A-18CA-77559C95702C}"/>
              </a:ext>
            </a:extLst>
          </p:cNvPr>
          <p:cNvGraphicFramePr>
            <a:graphicFrameLocks noGrp="1"/>
          </p:cNvGraphicFramePr>
          <p:nvPr>
            <p:extLst>
              <p:ext uri="{D42A27DB-BD31-4B8C-83A1-F6EECF244321}">
                <p14:modId xmlns:p14="http://schemas.microsoft.com/office/powerpoint/2010/main" val="1111273309"/>
              </p:ext>
            </p:extLst>
          </p:nvPr>
        </p:nvGraphicFramePr>
        <p:xfrm>
          <a:off x="7179301" y="2321812"/>
          <a:ext cx="441030" cy="148336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bl>
          </a:graphicData>
        </a:graphic>
      </p:graphicFrame>
      <p:sp>
        <p:nvSpPr>
          <p:cNvPr id="22" name="文本框 21">
            <a:extLst>
              <a:ext uri="{FF2B5EF4-FFF2-40B4-BE49-F238E27FC236}">
                <a16:creationId xmlns:a16="http://schemas.microsoft.com/office/drawing/2014/main" id="{CB3FF08B-718B-7BC8-8115-ADAE18D4512F}"/>
              </a:ext>
            </a:extLst>
          </p:cNvPr>
          <p:cNvSpPr txBox="1"/>
          <p:nvPr/>
        </p:nvSpPr>
        <p:spPr>
          <a:xfrm>
            <a:off x="7202492" y="3846074"/>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D4</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F24C73CB-21A7-DA3D-4A79-B8E6EA6DBAAA}"/>
              </a:ext>
            </a:extLst>
          </p:cNvPr>
          <p:cNvSpPr txBox="1"/>
          <p:nvPr/>
        </p:nvSpPr>
        <p:spPr>
          <a:xfrm>
            <a:off x="7207608"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4" name="表格 23">
            <a:extLst>
              <a:ext uri="{FF2B5EF4-FFF2-40B4-BE49-F238E27FC236}">
                <a16:creationId xmlns:a16="http://schemas.microsoft.com/office/drawing/2014/main" id="{4FA8A201-AEFD-EDBC-014D-6533FA16AD7B}"/>
              </a:ext>
            </a:extLst>
          </p:cNvPr>
          <p:cNvGraphicFramePr>
            <a:graphicFrameLocks noGrp="1"/>
          </p:cNvGraphicFramePr>
          <p:nvPr>
            <p:extLst>
              <p:ext uri="{D42A27DB-BD31-4B8C-83A1-F6EECF244321}">
                <p14:modId xmlns:p14="http://schemas.microsoft.com/office/powerpoint/2010/main" val="3480804729"/>
              </p:ext>
            </p:extLst>
          </p:nvPr>
        </p:nvGraphicFramePr>
        <p:xfrm>
          <a:off x="8535661" y="2321812"/>
          <a:ext cx="441030" cy="74168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bl>
          </a:graphicData>
        </a:graphic>
      </p:graphicFrame>
      <p:sp>
        <p:nvSpPr>
          <p:cNvPr id="25" name="文本框 24">
            <a:extLst>
              <a:ext uri="{FF2B5EF4-FFF2-40B4-BE49-F238E27FC236}">
                <a16:creationId xmlns:a16="http://schemas.microsoft.com/office/drawing/2014/main" id="{89C6A885-2B7E-8417-3796-80D5B0554E35}"/>
              </a:ext>
            </a:extLst>
          </p:cNvPr>
          <p:cNvSpPr txBox="1"/>
          <p:nvPr/>
        </p:nvSpPr>
        <p:spPr>
          <a:xfrm>
            <a:off x="8563637" y="3063492"/>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E2</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6" name="文本框 25">
            <a:extLst>
              <a:ext uri="{FF2B5EF4-FFF2-40B4-BE49-F238E27FC236}">
                <a16:creationId xmlns:a16="http://schemas.microsoft.com/office/drawing/2014/main" id="{5B010BE1-72B6-03DE-0320-1259593E81FA}"/>
              </a:ext>
            </a:extLst>
          </p:cNvPr>
          <p:cNvSpPr txBox="1"/>
          <p:nvPr/>
        </p:nvSpPr>
        <p:spPr>
          <a:xfrm>
            <a:off x="8535661"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8" name="连接符: 肘形 27">
            <a:extLst>
              <a:ext uri="{FF2B5EF4-FFF2-40B4-BE49-F238E27FC236}">
                <a16:creationId xmlns:a16="http://schemas.microsoft.com/office/drawing/2014/main" id="{A5D8342A-F8BB-616E-3F97-F656F9D4A74D}"/>
              </a:ext>
            </a:extLst>
          </p:cNvPr>
          <p:cNvCxnSpPr>
            <a:stCxn id="4" idx="2"/>
            <a:endCxn id="10" idx="0"/>
          </p:cNvCxnSpPr>
          <p:nvPr/>
        </p:nvCxnSpPr>
        <p:spPr>
          <a:xfrm rot="5400000">
            <a:off x="3476095" y="-402346"/>
            <a:ext cx="420071" cy="3525180"/>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连接符: 肘形 28">
            <a:extLst>
              <a:ext uri="{FF2B5EF4-FFF2-40B4-BE49-F238E27FC236}">
                <a16:creationId xmlns:a16="http://schemas.microsoft.com/office/drawing/2014/main" id="{7E5A7FAD-77C6-F0CF-9BA4-A8993CE1D8E3}"/>
              </a:ext>
            </a:extLst>
          </p:cNvPr>
          <p:cNvCxnSpPr>
            <a:cxnSpLocks/>
            <a:stCxn id="4" idx="2"/>
            <a:endCxn id="5" idx="0"/>
          </p:cNvCxnSpPr>
          <p:nvPr/>
        </p:nvCxnSpPr>
        <p:spPr>
          <a:xfrm rot="5400000">
            <a:off x="4188565" y="310124"/>
            <a:ext cx="420071" cy="2100240"/>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连接符: 肘形 31">
            <a:extLst>
              <a:ext uri="{FF2B5EF4-FFF2-40B4-BE49-F238E27FC236}">
                <a16:creationId xmlns:a16="http://schemas.microsoft.com/office/drawing/2014/main" id="{303C6DAF-F2C1-1ACA-2F9C-BCDE9BF10F9C}"/>
              </a:ext>
            </a:extLst>
          </p:cNvPr>
          <p:cNvCxnSpPr>
            <a:cxnSpLocks/>
            <a:stCxn id="4" idx="2"/>
            <a:endCxn id="6" idx="0"/>
          </p:cNvCxnSpPr>
          <p:nvPr/>
        </p:nvCxnSpPr>
        <p:spPr>
          <a:xfrm rot="5400000">
            <a:off x="4842076" y="980035"/>
            <a:ext cx="436471" cy="776819"/>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连接符: 肘形 34">
            <a:extLst>
              <a:ext uri="{FF2B5EF4-FFF2-40B4-BE49-F238E27FC236}">
                <a16:creationId xmlns:a16="http://schemas.microsoft.com/office/drawing/2014/main" id="{6672B70B-181B-297A-B554-C6B6348DCC09}"/>
              </a:ext>
            </a:extLst>
          </p:cNvPr>
          <p:cNvCxnSpPr>
            <a:cxnSpLocks/>
            <a:stCxn id="4" idx="2"/>
            <a:endCxn id="7" idx="0"/>
          </p:cNvCxnSpPr>
          <p:nvPr/>
        </p:nvCxnSpPr>
        <p:spPr>
          <a:xfrm rot="16200000" flipH="1">
            <a:off x="5527050" y="1071878"/>
            <a:ext cx="436471" cy="59313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连接符: 肘形 37">
            <a:extLst>
              <a:ext uri="{FF2B5EF4-FFF2-40B4-BE49-F238E27FC236}">
                <a16:creationId xmlns:a16="http://schemas.microsoft.com/office/drawing/2014/main" id="{60C6A3A3-16B3-0BC8-3613-F0A22E09D422}"/>
              </a:ext>
            </a:extLst>
          </p:cNvPr>
          <p:cNvCxnSpPr>
            <a:cxnSpLocks/>
            <a:stCxn id="4" idx="2"/>
            <a:endCxn id="8" idx="0"/>
          </p:cNvCxnSpPr>
          <p:nvPr/>
        </p:nvCxnSpPr>
        <p:spPr>
          <a:xfrm rot="16200000" flipH="1">
            <a:off x="6210899" y="388029"/>
            <a:ext cx="438723" cy="196308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连接符: 肘形 40">
            <a:extLst>
              <a:ext uri="{FF2B5EF4-FFF2-40B4-BE49-F238E27FC236}">
                <a16:creationId xmlns:a16="http://schemas.microsoft.com/office/drawing/2014/main" id="{E37D385E-CD8A-468F-700E-0C5F1FE1E5D4}"/>
              </a:ext>
            </a:extLst>
          </p:cNvPr>
          <p:cNvCxnSpPr>
            <a:cxnSpLocks/>
            <a:stCxn id="4" idx="2"/>
            <a:endCxn id="9" idx="0"/>
          </p:cNvCxnSpPr>
          <p:nvPr/>
        </p:nvCxnSpPr>
        <p:spPr>
          <a:xfrm rot="16200000" flipH="1">
            <a:off x="6873736" y="-274807"/>
            <a:ext cx="436471" cy="3286502"/>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D8869820-3DF4-BA50-5A71-0E4B304761EA}"/>
              </a:ext>
            </a:extLst>
          </p:cNvPr>
          <p:cNvSpPr txBox="1"/>
          <p:nvPr/>
        </p:nvSpPr>
        <p:spPr>
          <a:xfrm>
            <a:off x="2640960" y="6292160"/>
            <a:ext cx="6363961" cy="369332"/>
          </a:xfrm>
          <a:prstGeom prst="rect">
            <a:avLst/>
          </a:prstGeom>
          <a:solidFill>
            <a:srgbClr val="00B0F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8 x 6 x 10 x 4 x 2 = 3840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5" name="文本框 44">
            <a:extLst>
              <a:ext uri="{FF2B5EF4-FFF2-40B4-BE49-F238E27FC236}">
                <a16:creationId xmlns:a16="http://schemas.microsoft.com/office/drawing/2014/main" id="{7426B9ED-767B-A69B-FB7A-8A8113A0B20F}"/>
              </a:ext>
            </a:extLst>
          </p:cNvPr>
          <p:cNvSpPr txBox="1"/>
          <p:nvPr/>
        </p:nvSpPr>
        <p:spPr>
          <a:xfrm>
            <a:off x="3811515" y="231823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x</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6" name="文本框 45">
            <a:extLst>
              <a:ext uri="{FF2B5EF4-FFF2-40B4-BE49-F238E27FC236}">
                <a16:creationId xmlns:a16="http://schemas.microsoft.com/office/drawing/2014/main" id="{6F9AD10B-456C-F3AB-7A2E-C8CF5D232DF8}"/>
              </a:ext>
            </a:extLst>
          </p:cNvPr>
          <p:cNvSpPr txBox="1"/>
          <p:nvPr/>
        </p:nvSpPr>
        <p:spPr>
          <a:xfrm>
            <a:off x="5197291" y="2312298"/>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x</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7" name="文本框 46">
            <a:extLst>
              <a:ext uri="{FF2B5EF4-FFF2-40B4-BE49-F238E27FC236}">
                <a16:creationId xmlns:a16="http://schemas.microsoft.com/office/drawing/2014/main" id="{C80508C2-045C-F0A4-CFF2-371C364CE44A}"/>
              </a:ext>
            </a:extLst>
          </p:cNvPr>
          <p:cNvSpPr txBox="1"/>
          <p:nvPr/>
        </p:nvSpPr>
        <p:spPr>
          <a:xfrm>
            <a:off x="6599761" y="228091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x</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8" name="文本框 47">
            <a:extLst>
              <a:ext uri="{FF2B5EF4-FFF2-40B4-BE49-F238E27FC236}">
                <a16:creationId xmlns:a16="http://schemas.microsoft.com/office/drawing/2014/main" id="{3B76F284-91D4-C927-1806-C4B4CE189D67}"/>
              </a:ext>
            </a:extLst>
          </p:cNvPr>
          <p:cNvSpPr txBox="1"/>
          <p:nvPr/>
        </p:nvSpPr>
        <p:spPr>
          <a:xfrm>
            <a:off x="7956121" y="228091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x</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44884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6BAB8-0040-E289-3805-89F86AB255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A087CCD-E54A-D813-3604-9E64996BDD61}"/>
              </a:ext>
            </a:extLst>
          </p:cNvPr>
          <p:cNvSpPr>
            <a:spLocks noGrp="1"/>
          </p:cNvSpPr>
          <p:nvPr>
            <p:ph type="title"/>
          </p:nvPr>
        </p:nvSpPr>
        <p:spPr/>
        <p:txBody>
          <a:bodyPr>
            <a:normAutofit fontScale="90000"/>
          </a:bodyPr>
          <a:lstStyle/>
          <a:p>
            <a:r>
              <a:rPr lang="en-US" altLang="zh-CN" dirty="0">
                <a:ea typeface="微软雅黑" panose="020B0503020204020204" pitchFamily="34" charset="-122"/>
              </a:rPr>
              <a:t>Planning BOM – </a:t>
            </a:r>
            <a:r>
              <a:rPr lang="zh-CN" altLang="en-US" dirty="0">
                <a:ea typeface="微软雅黑" panose="020B0503020204020204" pitchFamily="34" charset="-122"/>
              </a:rPr>
              <a:t>升级</a:t>
            </a:r>
          </a:p>
        </p:txBody>
      </p:sp>
      <p:sp>
        <p:nvSpPr>
          <p:cNvPr id="4" name="矩形: 圆角 3">
            <a:extLst>
              <a:ext uri="{FF2B5EF4-FFF2-40B4-BE49-F238E27FC236}">
                <a16:creationId xmlns:a16="http://schemas.microsoft.com/office/drawing/2014/main" id="{7931290A-1858-235E-0DAA-8635747D1F0E}"/>
              </a:ext>
            </a:extLst>
          </p:cNvPr>
          <p:cNvSpPr/>
          <p:nvPr/>
        </p:nvSpPr>
        <p:spPr>
          <a:xfrm>
            <a:off x="4998720" y="790209"/>
            <a:ext cx="900000" cy="360000"/>
          </a:xfrm>
          <a:prstGeom prst="roundRect">
            <a:avLst/>
          </a:prstGeom>
          <a:solidFill>
            <a:srgbClr val="00B7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Family X</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矩形: 圆角 4">
            <a:extLst>
              <a:ext uri="{FF2B5EF4-FFF2-40B4-BE49-F238E27FC236}">
                <a16:creationId xmlns:a16="http://schemas.microsoft.com/office/drawing/2014/main" id="{02C16F09-0B8E-EE0A-22AE-F545326A1B84}"/>
              </a:ext>
            </a:extLst>
          </p:cNvPr>
          <p:cNvSpPr/>
          <p:nvPr/>
        </p:nvSpPr>
        <p:spPr>
          <a:xfrm>
            <a:off x="2898480" y="15702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A</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矩形: 圆角 5">
            <a:extLst>
              <a:ext uri="{FF2B5EF4-FFF2-40B4-BE49-F238E27FC236}">
                <a16:creationId xmlns:a16="http://schemas.microsoft.com/office/drawing/2014/main" id="{30A3B3F2-8D59-01B5-E651-592C264DD502}"/>
              </a:ext>
            </a:extLst>
          </p:cNvPr>
          <p:cNvSpPr/>
          <p:nvPr/>
        </p:nvSpPr>
        <p:spPr>
          <a:xfrm>
            <a:off x="4221901"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B</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矩形: 圆角 6">
            <a:extLst>
              <a:ext uri="{FF2B5EF4-FFF2-40B4-BE49-F238E27FC236}">
                <a16:creationId xmlns:a16="http://schemas.microsoft.com/office/drawing/2014/main" id="{06E71880-4DFC-3058-E0BF-627FE56440CE}"/>
              </a:ext>
            </a:extLst>
          </p:cNvPr>
          <p:cNvSpPr/>
          <p:nvPr/>
        </p:nvSpPr>
        <p:spPr>
          <a:xfrm>
            <a:off x="5591851"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C</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矩形: 圆角 7">
            <a:extLst>
              <a:ext uri="{FF2B5EF4-FFF2-40B4-BE49-F238E27FC236}">
                <a16:creationId xmlns:a16="http://schemas.microsoft.com/office/drawing/2014/main" id="{F0132928-9E92-071E-86C6-48B81892CA8F}"/>
              </a:ext>
            </a:extLst>
          </p:cNvPr>
          <p:cNvSpPr/>
          <p:nvPr/>
        </p:nvSpPr>
        <p:spPr>
          <a:xfrm>
            <a:off x="6961801" y="1588932"/>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D</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矩形: 圆角 8">
            <a:extLst>
              <a:ext uri="{FF2B5EF4-FFF2-40B4-BE49-F238E27FC236}">
                <a16:creationId xmlns:a16="http://schemas.microsoft.com/office/drawing/2014/main" id="{9AAF8BEA-F424-2F4E-E254-734596F4D6D3}"/>
              </a:ext>
            </a:extLst>
          </p:cNvPr>
          <p:cNvSpPr/>
          <p:nvPr/>
        </p:nvSpPr>
        <p:spPr>
          <a:xfrm>
            <a:off x="8285222" y="15866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Option E</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矩形: 圆角 9">
            <a:extLst>
              <a:ext uri="{FF2B5EF4-FFF2-40B4-BE49-F238E27FC236}">
                <a16:creationId xmlns:a16="http://schemas.microsoft.com/office/drawing/2014/main" id="{3F66ADAD-2E6E-A748-1462-E83A85F7059D}"/>
              </a:ext>
            </a:extLst>
          </p:cNvPr>
          <p:cNvSpPr/>
          <p:nvPr/>
        </p:nvSpPr>
        <p:spPr>
          <a:xfrm>
            <a:off x="1473540" y="1570280"/>
            <a:ext cx="900000" cy="36000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Common</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2" name="表格 11">
            <a:extLst>
              <a:ext uri="{FF2B5EF4-FFF2-40B4-BE49-F238E27FC236}">
                <a16:creationId xmlns:a16="http://schemas.microsoft.com/office/drawing/2014/main" id="{E5C13ABD-CA8D-3910-3EF4-370626B0B4F4}"/>
              </a:ext>
            </a:extLst>
          </p:cNvPr>
          <p:cNvGraphicFramePr>
            <a:graphicFrameLocks noGrp="1"/>
          </p:cNvGraphicFramePr>
          <p:nvPr>
            <p:extLst>
              <p:ext uri="{D42A27DB-BD31-4B8C-83A1-F6EECF244321}">
                <p14:modId xmlns:p14="http://schemas.microsoft.com/office/powerpoint/2010/main" val="3568016039"/>
              </p:ext>
            </p:extLst>
          </p:nvPr>
        </p:nvGraphicFramePr>
        <p:xfrm>
          <a:off x="3082245" y="2301361"/>
          <a:ext cx="441030" cy="296672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607049304"/>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189555539"/>
                  </a:ext>
                </a:extLst>
              </a:tr>
            </a:tbl>
          </a:graphicData>
        </a:graphic>
      </p:graphicFrame>
      <p:sp>
        <p:nvSpPr>
          <p:cNvPr id="13" name="文本框 12">
            <a:extLst>
              <a:ext uri="{FF2B5EF4-FFF2-40B4-BE49-F238E27FC236}">
                <a16:creationId xmlns:a16="http://schemas.microsoft.com/office/drawing/2014/main" id="{60771FB3-15F9-E06E-C918-ACB2B7AA1833}"/>
              </a:ext>
            </a:extLst>
          </p:cNvPr>
          <p:cNvSpPr txBox="1"/>
          <p:nvPr/>
        </p:nvSpPr>
        <p:spPr>
          <a:xfrm>
            <a:off x="3086100"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A764BBC7-7C73-25DD-344E-170AAD7733F1}"/>
              </a:ext>
            </a:extLst>
          </p:cNvPr>
          <p:cNvSpPr txBox="1"/>
          <p:nvPr/>
        </p:nvSpPr>
        <p:spPr>
          <a:xfrm>
            <a:off x="3086100" y="5288532"/>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A8</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5" name="表格 14">
            <a:extLst>
              <a:ext uri="{FF2B5EF4-FFF2-40B4-BE49-F238E27FC236}">
                <a16:creationId xmlns:a16="http://schemas.microsoft.com/office/drawing/2014/main" id="{7952385D-698F-429A-1FB1-B4805FC3C2BC}"/>
              </a:ext>
            </a:extLst>
          </p:cNvPr>
          <p:cNvGraphicFramePr>
            <a:graphicFrameLocks noGrp="1"/>
          </p:cNvGraphicFramePr>
          <p:nvPr>
            <p:extLst>
              <p:ext uri="{D42A27DB-BD31-4B8C-83A1-F6EECF244321}">
                <p14:modId xmlns:p14="http://schemas.microsoft.com/office/powerpoint/2010/main" val="93958556"/>
              </p:ext>
            </p:extLst>
          </p:nvPr>
        </p:nvGraphicFramePr>
        <p:xfrm>
          <a:off x="4438605" y="2321812"/>
          <a:ext cx="441030" cy="222504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bl>
          </a:graphicData>
        </a:graphic>
      </p:graphicFrame>
      <p:sp>
        <p:nvSpPr>
          <p:cNvPr id="16" name="文本框 15">
            <a:extLst>
              <a:ext uri="{FF2B5EF4-FFF2-40B4-BE49-F238E27FC236}">
                <a16:creationId xmlns:a16="http://schemas.microsoft.com/office/drawing/2014/main" id="{87D08750-E04E-FA75-10E8-E497114B3C16}"/>
              </a:ext>
            </a:extLst>
          </p:cNvPr>
          <p:cNvSpPr txBox="1"/>
          <p:nvPr/>
        </p:nvSpPr>
        <p:spPr>
          <a:xfrm>
            <a:off x="4481821" y="4645386"/>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B6</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B892F69D-A5A4-EAF6-3990-660532C62022}"/>
              </a:ext>
            </a:extLst>
          </p:cNvPr>
          <p:cNvSpPr txBox="1"/>
          <p:nvPr/>
        </p:nvSpPr>
        <p:spPr>
          <a:xfrm>
            <a:off x="4442460"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18" name="表格 17">
            <a:extLst>
              <a:ext uri="{FF2B5EF4-FFF2-40B4-BE49-F238E27FC236}">
                <a16:creationId xmlns:a16="http://schemas.microsoft.com/office/drawing/2014/main" id="{EC7EA206-3A00-7010-CA4E-E5829279529B}"/>
              </a:ext>
            </a:extLst>
          </p:cNvPr>
          <p:cNvGraphicFramePr>
            <a:graphicFrameLocks noGrp="1"/>
          </p:cNvGraphicFramePr>
          <p:nvPr>
            <p:extLst>
              <p:ext uri="{D42A27DB-BD31-4B8C-83A1-F6EECF244321}">
                <p14:modId xmlns:p14="http://schemas.microsoft.com/office/powerpoint/2010/main" val="2600307718"/>
              </p:ext>
            </p:extLst>
          </p:nvPr>
        </p:nvGraphicFramePr>
        <p:xfrm>
          <a:off x="5822941" y="2301361"/>
          <a:ext cx="441030" cy="370840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5091204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514358876"/>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607049304"/>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189555539"/>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3032759653"/>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956814356"/>
                  </a:ext>
                </a:extLst>
              </a:tr>
            </a:tbl>
          </a:graphicData>
        </a:graphic>
      </p:graphicFrame>
      <p:sp>
        <p:nvSpPr>
          <p:cNvPr id="19" name="文本框 18">
            <a:extLst>
              <a:ext uri="{FF2B5EF4-FFF2-40B4-BE49-F238E27FC236}">
                <a16:creationId xmlns:a16="http://schemas.microsoft.com/office/drawing/2014/main" id="{DA5628BD-0D21-61AA-763D-30BF011E338E}"/>
              </a:ext>
            </a:extLst>
          </p:cNvPr>
          <p:cNvSpPr txBox="1"/>
          <p:nvPr/>
        </p:nvSpPr>
        <p:spPr>
          <a:xfrm>
            <a:off x="5826796"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0" name="文本框 19">
            <a:extLst>
              <a:ext uri="{FF2B5EF4-FFF2-40B4-BE49-F238E27FC236}">
                <a16:creationId xmlns:a16="http://schemas.microsoft.com/office/drawing/2014/main" id="{6675CE68-0C7A-EB36-0C22-2E4A28AE142E}"/>
              </a:ext>
            </a:extLst>
          </p:cNvPr>
          <p:cNvSpPr txBox="1"/>
          <p:nvPr/>
        </p:nvSpPr>
        <p:spPr>
          <a:xfrm>
            <a:off x="5826796" y="6009761"/>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C10</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1" name="表格 20">
            <a:extLst>
              <a:ext uri="{FF2B5EF4-FFF2-40B4-BE49-F238E27FC236}">
                <a16:creationId xmlns:a16="http://schemas.microsoft.com/office/drawing/2014/main" id="{E4E21314-8DD4-D855-37A3-8E63614FA21B}"/>
              </a:ext>
            </a:extLst>
          </p:cNvPr>
          <p:cNvGraphicFramePr>
            <a:graphicFrameLocks noGrp="1"/>
          </p:cNvGraphicFramePr>
          <p:nvPr>
            <p:extLst>
              <p:ext uri="{D42A27DB-BD31-4B8C-83A1-F6EECF244321}">
                <p14:modId xmlns:p14="http://schemas.microsoft.com/office/powerpoint/2010/main" val="3772238257"/>
              </p:ext>
            </p:extLst>
          </p:nvPr>
        </p:nvGraphicFramePr>
        <p:xfrm>
          <a:off x="7179301" y="2321812"/>
          <a:ext cx="441030" cy="148336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828516477"/>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218099417"/>
                  </a:ext>
                </a:extLst>
              </a:tr>
            </a:tbl>
          </a:graphicData>
        </a:graphic>
      </p:graphicFrame>
      <p:sp>
        <p:nvSpPr>
          <p:cNvPr id="22" name="文本框 21">
            <a:extLst>
              <a:ext uri="{FF2B5EF4-FFF2-40B4-BE49-F238E27FC236}">
                <a16:creationId xmlns:a16="http://schemas.microsoft.com/office/drawing/2014/main" id="{92F7CC94-F707-688B-186C-C6A801CFC1B4}"/>
              </a:ext>
            </a:extLst>
          </p:cNvPr>
          <p:cNvSpPr txBox="1"/>
          <p:nvPr/>
        </p:nvSpPr>
        <p:spPr>
          <a:xfrm>
            <a:off x="7202492" y="3846074"/>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D4</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08AD4E70-F06B-3706-3CF6-2A6205ADE26E}"/>
              </a:ext>
            </a:extLst>
          </p:cNvPr>
          <p:cNvSpPr txBox="1"/>
          <p:nvPr/>
        </p:nvSpPr>
        <p:spPr>
          <a:xfrm>
            <a:off x="7207608"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4" name="表格 23">
            <a:extLst>
              <a:ext uri="{FF2B5EF4-FFF2-40B4-BE49-F238E27FC236}">
                <a16:creationId xmlns:a16="http://schemas.microsoft.com/office/drawing/2014/main" id="{3DDC5F06-AAF2-6ADF-FD7D-D25AB70635A8}"/>
              </a:ext>
            </a:extLst>
          </p:cNvPr>
          <p:cNvGraphicFramePr>
            <a:graphicFrameLocks noGrp="1"/>
          </p:cNvGraphicFramePr>
          <p:nvPr>
            <p:extLst>
              <p:ext uri="{D42A27DB-BD31-4B8C-83A1-F6EECF244321}">
                <p14:modId xmlns:p14="http://schemas.microsoft.com/office/powerpoint/2010/main" val="2577121166"/>
              </p:ext>
            </p:extLst>
          </p:nvPr>
        </p:nvGraphicFramePr>
        <p:xfrm>
          <a:off x="8535661" y="2321812"/>
          <a:ext cx="441030" cy="741680"/>
        </p:xfrm>
        <a:graphic>
          <a:graphicData uri="http://schemas.openxmlformats.org/drawingml/2006/table">
            <a:tbl>
              <a:tblPr bandRow="1">
                <a:tableStyleId>{5C22544A-7EE6-4342-B048-85BDC9FD1C3A}</a:tableStyleId>
              </a:tblPr>
              <a:tblGrid>
                <a:gridCol w="441030">
                  <a:extLst>
                    <a:ext uri="{9D8B030D-6E8A-4147-A177-3AD203B41FA5}">
                      <a16:colId xmlns:a16="http://schemas.microsoft.com/office/drawing/2014/main" val="555416949"/>
                    </a:ext>
                  </a:extLst>
                </a:gridCol>
              </a:tblGrid>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2767172920"/>
                  </a:ext>
                </a:extLst>
              </a:tr>
              <a:tr h="370840">
                <a:tc>
                  <a:txBody>
                    <a:bodyPr/>
                    <a:lstStyle/>
                    <a:p>
                      <a:endParaRPr lang="zh-CN" altLang="en-US" dirty="0">
                        <a:latin typeface="Arial" panose="020B0604020202020204" pitchFamily="34" charset="0"/>
                        <a:ea typeface="微软雅黑" panose="020B0503020204020204" pitchFamily="34" charset="-122"/>
                      </a:endParaRPr>
                    </a:p>
                  </a:txBody>
                  <a:tcPr>
                    <a:solidFill>
                      <a:srgbClr val="00B0F0"/>
                    </a:solidFill>
                  </a:tcPr>
                </a:tc>
                <a:extLst>
                  <a:ext uri="{0D108BD9-81ED-4DB2-BD59-A6C34878D82A}">
                    <a16:rowId xmlns:a16="http://schemas.microsoft.com/office/drawing/2014/main" val="1766556700"/>
                  </a:ext>
                </a:extLst>
              </a:tr>
            </a:tbl>
          </a:graphicData>
        </a:graphic>
      </p:graphicFrame>
      <p:sp>
        <p:nvSpPr>
          <p:cNvPr id="25" name="文本框 24">
            <a:extLst>
              <a:ext uri="{FF2B5EF4-FFF2-40B4-BE49-F238E27FC236}">
                <a16:creationId xmlns:a16="http://schemas.microsoft.com/office/drawing/2014/main" id="{ACCE1D4E-C251-6BBF-EE19-C1413632C3E1}"/>
              </a:ext>
            </a:extLst>
          </p:cNvPr>
          <p:cNvSpPr txBox="1"/>
          <p:nvPr/>
        </p:nvSpPr>
        <p:spPr>
          <a:xfrm>
            <a:off x="8563637" y="3063492"/>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E2</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6" name="文本框 25">
            <a:extLst>
              <a:ext uri="{FF2B5EF4-FFF2-40B4-BE49-F238E27FC236}">
                <a16:creationId xmlns:a16="http://schemas.microsoft.com/office/drawing/2014/main" id="{4FBEA56D-CE58-4FB3-2176-7A8D4432F5EA}"/>
              </a:ext>
            </a:extLst>
          </p:cNvPr>
          <p:cNvSpPr txBox="1"/>
          <p:nvPr/>
        </p:nvSpPr>
        <p:spPr>
          <a:xfrm>
            <a:off x="8535661" y="2019300"/>
            <a:ext cx="55626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E1</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8" name="连接符: 肘形 27">
            <a:extLst>
              <a:ext uri="{FF2B5EF4-FFF2-40B4-BE49-F238E27FC236}">
                <a16:creationId xmlns:a16="http://schemas.microsoft.com/office/drawing/2014/main" id="{3D0AEF75-1BFE-976C-6354-E9F3393772F3}"/>
              </a:ext>
            </a:extLst>
          </p:cNvPr>
          <p:cNvCxnSpPr>
            <a:stCxn id="4" idx="2"/>
            <a:endCxn id="10" idx="0"/>
          </p:cNvCxnSpPr>
          <p:nvPr/>
        </p:nvCxnSpPr>
        <p:spPr>
          <a:xfrm rot="5400000">
            <a:off x="3476095" y="-402346"/>
            <a:ext cx="420071" cy="3525180"/>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连接符: 肘形 28">
            <a:extLst>
              <a:ext uri="{FF2B5EF4-FFF2-40B4-BE49-F238E27FC236}">
                <a16:creationId xmlns:a16="http://schemas.microsoft.com/office/drawing/2014/main" id="{7578E542-4296-D560-0392-B7D0F5C8D24D}"/>
              </a:ext>
            </a:extLst>
          </p:cNvPr>
          <p:cNvCxnSpPr>
            <a:cxnSpLocks/>
            <a:stCxn id="4" idx="2"/>
            <a:endCxn id="5" idx="0"/>
          </p:cNvCxnSpPr>
          <p:nvPr/>
        </p:nvCxnSpPr>
        <p:spPr>
          <a:xfrm rot="5400000">
            <a:off x="4188565" y="310124"/>
            <a:ext cx="420071" cy="2100240"/>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连接符: 肘形 31">
            <a:extLst>
              <a:ext uri="{FF2B5EF4-FFF2-40B4-BE49-F238E27FC236}">
                <a16:creationId xmlns:a16="http://schemas.microsoft.com/office/drawing/2014/main" id="{710624F4-D245-F0F4-4C19-63514FFFE208}"/>
              </a:ext>
            </a:extLst>
          </p:cNvPr>
          <p:cNvCxnSpPr>
            <a:cxnSpLocks/>
            <a:stCxn id="4" idx="2"/>
            <a:endCxn id="6" idx="0"/>
          </p:cNvCxnSpPr>
          <p:nvPr/>
        </p:nvCxnSpPr>
        <p:spPr>
          <a:xfrm rot="5400000">
            <a:off x="4842076" y="980035"/>
            <a:ext cx="436471" cy="776819"/>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连接符: 肘形 34">
            <a:extLst>
              <a:ext uri="{FF2B5EF4-FFF2-40B4-BE49-F238E27FC236}">
                <a16:creationId xmlns:a16="http://schemas.microsoft.com/office/drawing/2014/main" id="{1B80EFF8-50F3-C811-9FA3-9AE5B4C8C688}"/>
              </a:ext>
            </a:extLst>
          </p:cNvPr>
          <p:cNvCxnSpPr>
            <a:cxnSpLocks/>
            <a:stCxn id="4" idx="2"/>
            <a:endCxn id="7" idx="0"/>
          </p:cNvCxnSpPr>
          <p:nvPr/>
        </p:nvCxnSpPr>
        <p:spPr>
          <a:xfrm rot="16200000" flipH="1">
            <a:off x="5527050" y="1071878"/>
            <a:ext cx="436471" cy="59313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连接符: 肘形 37">
            <a:extLst>
              <a:ext uri="{FF2B5EF4-FFF2-40B4-BE49-F238E27FC236}">
                <a16:creationId xmlns:a16="http://schemas.microsoft.com/office/drawing/2014/main" id="{3FE3B829-6A5B-D714-20CE-76F558626E17}"/>
              </a:ext>
            </a:extLst>
          </p:cNvPr>
          <p:cNvCxnSpPr>
            <a:cxnSpLocks/>
            <a:stCxn id="4" idx="2"/>
            <a:endCxn id="8" idx="0"/>
          </p:cNvCxnSpPr>
          <p:nvPr/>
        </p:nvCxnSpPr>
        <p:spPr>
          <a:xfrm rot="16200000" flipH="1">
            <a:off x="6210899" y="388029"/>
            <a:ext cx="438723" cy="196308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连接符: 肘形 40">
            <a:extLst>
              <a:ext uri="{FF2B5EF4-FFF2-40B4-BE49-F238E27FC236}">
                <a16:creationId xmlns:a16="http://schemas.microsoft.com/office/drawing/2014/main" id="{FD72E062-8627-84A4-7D8C-234379CEE916}"/>
              </a:ext>
            </a:extLst>
          </p:cNvPr>
          <p:cNvCxnSpPr>
            <a:cxnSpLocks/>
            <a:stCxn id="4" idx="2"/>
            <a:endCxn id="9" idx="0"/>
          </p:cNvCxnSpPr>
          <p:nvPr/>
        </p:nvCxnSpPr>
        <p:spPr>
          <a:xfrm rot="16200000" flipH="1">
            <a:off x="6873736" y="-274807"/>
            <a:ext cx="436471" cy="3286502"/>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C7FC3F18-9B7B-2C92-5909-B7BEB01E23A1}"/>
              </a:ext>
            </a:extLst>
          </p:cNvPr>
          <p:cNvSpPr txBox="1"/>
          <p:nvPr/>
        </p:nvSpPr>
        <p:spPr>
          <a:xfrm>
            <a:off x="2640960" y="6292160"/>
            <a:ext cx="6363961" cy="369332"/>
          </a:xfrm>
          <a:prstGeom prst="rect">
            <a:avLst/>
          </a:prstGeom>
          <a:solidFill>
            <a:srgbClr val="00B0F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8 + 6 + 10 + 4 + 2 = 30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5" name="文本框 44">
            <a:extLst>
              <a:ext uri="{FF2B5EF4-FFF2-40B4-BE49-F238E27FC236}">
                <a16:creationId xmlns:a16="http://schemas.microsoft.com/office/drawing/2014/main" id="{0006160D-C12D-F3F9-8A05-2BD12B8966AE}"/>
              </a:ext>
            </a:extLst>
          </p:cNvPr>
          <p:cNvSpPr txBox="1"/>
          <p:nvPr/>
        </p:nvSpPr>
        <p:spPr>
          <a:xfrm>
            <a:off x="3811515" y="231823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6" name="文本框 45">
            <a:extLst>
              <a:ext uri="{FF2B5EF4-FFF2-40B4-BE49-F238E27FC236}">
                <a16:creationId xmlns:a16="http://schemas.microsoft.com/office/drawing/2014/main" id="{77E0F89F-8490-5C61-E293-10CE76B91EFE}"/>
              </a:ext>
            </a:extLst>
          </p:cNvPr>
          <p:cNvSpPr txBox="1"/>
          <p:nvPr/>
        </p:nvSpPr>
        <p:spPr>
          <a:xfrm>
            <a:off x="5197291" y="2312298"/>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7" name="文本框 46">
            <a:extLst>
              <a:ext uri="{FF2B5EF4-FFF2-40B4-BE49-F238E27FC236}">
                <a16:creationId xmlns:a16="http://schemas.microsoft.com/office/drawing/2014/main" id="{3207543D-DA96-1A07-88F0-8B3AF4D96FC0}"/>
              </a:ext>
            </a:extLst>
          </p:cNvPr>
          <p:cNvSpPr txBox="1"/>
          <p:nvPr/>
        </p:nvSpPr>
        <p:spPr>
          <a:xfrm>
            <a:off x="6599761" y="228091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8" name="文本框 47">
            <a:extLst>
              <a:ext uri="{FF2B5EF4-FFF2-40B4-BE49-F238E27FC236}">
                <a16:creationId xmlns:a16="http://schemas.microsoft.com/office/drawing/2014/main" id="{5F31E5A6-0B56-2E59-59C4-81629B1019D7}"/>
              </a:ext>
            </a:extLst>
          </p:cNvPr>
          <p:cNvSpPr txBox="1"/>
          <p:nvPr/>
        </p:nvSpPr>
        <p:spPr>
          <a:xfrm>
            <a:off x="7956121" y="2280910"/>
            <a:ext cx="362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752450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A90F305-A74D-B277-672B-5B91FA591378}"/>
              </a:ext>
            </a:extLst>
          </p:cNvPr>
          <p:cNvSpPr>
            <a:spLocks noGrp="1"/>
          </p:cNvSpPr>
          <p:nvPr>
            <p:ph type="ctrTitle"/>
          </p:nvPr>
        </p:nvSpPr>
        <p:spPr/>
        <p:txBody>
          <a:bodyPr>
            <a:normAutofit/>
          </a:bodyPr>
          <a:lstStyle/>
          <a:p>
            <a:pPr algn="ctr"/>
            <a:r>
              <a:rPr lang="en-US" altLang="zh-CN" sz="4400" dirty="0">
                <a:latin typeface="Arial" panose="020B0604020202020204" pitchFamily="34" charset="0"/>
                <a:ea typeface="微软雅黑" panose="020B0503020204020204" pitchFamily="34" charset="-122"/>
              </a:rPr>
              <a:t>Supplier Deep Collaboration</a:t>
            </a:r>
            <a:endParaRPr lang="zh-CN" altLang="en-US" sz="44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157220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77668D-A24A-0595-AB92-B4ED0C2695FC}"/>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Supplier Deep Collaboration</a:t>
            </a:r>
            <a:endParaRPr lang="zh-CN" altLang="en-US" dirty="0">
              <a:latin typeface="Arial" panose="020B0604020202020204" pitchFamily="34" charset="0"/>
              <a:ea typeface="微软雅黑" panose="020B0503020204020204" pitchFamily="34" charset="-122"/>
            </a:endParaRPr>
          </a:p>
        </p:txBody>
      </p:sp>
      <p:graphicFrame>
        <p:nvGraphicFramePr>
          <p:cNvPr id="3" name="表格 2">
            <a:extLst>
              <a:ext uri="{FF2B5EF4-FFF2-40B4-BE49-F238E27FC236}">
                <a16:creationId xmlns:a16="http://schemas.microsoft.com/office/drawing/2014/main" id="{40A5D605-1CA4-0AAE-B0D4-9ECE6E141ECB}"/>
              </a:ext>
            </a:extLst>
          </p:cNvPr>
          <p:cNvGraphicFramePr>
            <a:graphicFrameLocks noGrp="1"/>
          </p:cNvGraphicFramePr>
          <p:nvPr>
            <p:extLst>
              <p:ext uri="{D42A27DB-BD31-4B8C-83A1-F6EECF244321}">
                <p14:modId xmlns:p14="http://schemas.microsoft.com/office/powerpoint/2010/main" val="3614903257"/>
              </p:ext>
            </p:extLst>
          </p:nvPr>
        </p:nvGraphicFramePr>
        <p:xfrm>
          <a:off x="886690" y="882952"/>
          <a:ext cx="8767898" cy="1112520"/>
        </p:xfrm>
        <a:graphic>
          <a:graphicData uri="http://schemas.openxmlformats.org/drawingml/2006/table">
            <a:tbl>
              <a:tblPr firstRow="1" bandRow="1">
                <a:tableStyleId>{5C22544A-7EE6-4342-B048-85BDC9FD1C3A}</a:tableStyleId>
              </a:tblPr>
              <a:tblGrid>
                <a:gridCol w="1732280">
                  <a:extLst>
                    <a:ext uri="{9D8B030D-6E8A-4147-A177-3AD203B41FA5}">
                      <a16:colId xmlns:a16="http://schemas.microsoft.com/office/drawing/2014/main" val="3282326303"/>
                    </a:ext>
                  </a:extLst>
                </a:gridCol>
                <a:gridCol w="820394">
                  <a:extLst>
                    <a:ext uri="{9D8B030D-6E8A-4147-A177-3AD203B41FA5}">
                      <a16:colId xmlns:a16="http://schemas.microsoft.com/office/drawing/2014/main" val="486438316"/>
                    </a:ext>
                  </a:extLst>
                </a:gridCol>
                <a:gridCol w="820394">
                  <a:extLst>
                    <a:ext uri="{9D8B030D-6E8A-4147-A177-3AD203B41FA5}">
                      <a16:colId xmlns:a16="http://schemas.microsoft.com/office/drawing/2014/main" val="1036940136"/>
                    </a:ext>
                  </a:extLst>
                </a:gridCol>
                <a:gridCol w="820394">
                  <a:extLst>
                    <a:ext uri="{9D8B030D-6E8A-4147-A177-3AD203B41FA5}">
                      <a16:colId xmlns:a16="http://schemas.microsoft.com/office/drawing/2014/main" val="3591737291"/>
                    </a:ext>
                  </a:extLst>
                </a:gridCol>
                <a:gridCol w="820394">
                  <a:extLst>
                    <a:ext uri="{9D8B030D-6E8A-4147-A177-3AD203B41FA5}">
                      <a16:colId xmlns:a16="http://schemas.microsoft.com/office/drawing/2014/main" val="2845317863"/>
                    </a:ext>
                  </a:extLst>
                </a:gridCol>
                <a:gridCol w="820394">
                  <a:extLst>
                    <a:ext uri="{9D8B030D-6E8A-4147-A177-3AD203B41FA5}">
                      <a16:colId xmlns:a16="http://schemas.microsoft.com/office/drawing/2014/main" val="708199801"/>
                    </a:ext>
                  </a:extLst>
                </a:gridCol>
                <a:gridCol w="820394">
                  <a:extLst>
                    <a:ext uri="{9D8B030D-6E8A-4147-A177-3AD203B41FA5}">
                      <a16:colId xmlns:a16="http://schemas.microsoft.com/office/drawing/2014/main" val="3202309659"/>
                    </a:ext>
                  </a:extLst>
                </a:gridCol>
                <a:gridCol w="820394">
                  <a:extLst>
                    <a:ext uri="{9D8B030D-6E8A-4147-A177-3AD203B41FA5}">
                      <a16:colId xmlns:a16="http://schemas.microsoft.com/office/drawing/2014/main" val="237585318"/>
                    </a:ext>
                  </a:extLst>
                </a:gridCol>
                <a:gridCol w="589280">
                  <a:extLst>
                    <a:ext uri="{9D8B030D-6E8A-4147-A177-3AD203B41FA5}">
                      <a16:colId xmlns:a16="http://schemas.microsoft.com/office/drawing/2014/main" val="505379576"/>
                    </a:ext>
                  </a:extLst>
                </a:gridCol>
                <a:gridCol w="703580">
                  <a:extLst>
                    <a:ext uri="{9D8B030D-6E8A-4147-A177-3AD203B41FA5}">
                      <a16:colId xmlns:a16="http://schemas.microsoft.com/office/drawing/2014/main" val="2507582816"/>
                    </a:ext>
                  </a:extLst>
                </a:gridCol>
              </a:tblGrid>
              <a:tr h="370840">
                <a:tc>
                  <a:txBody>
                    <a:bodyPr/>
                    <a:lstStyle/>
                    <a:p>
                      <a:r>
                        <a:rPr lang="en-US" altLang="zh-CN" dirty="0">
                          <a:latin typeface="Arial" panose="020B0604020202020204" pitchFamily="34" charset="0"/>
                          <a:ea typeface="微软雅黑" panose="020B0503020204020204" pitchFamily="34" charset="-122"/>
                        </a:rPr>
                        <a:t>Buckets</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W1</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W2</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W3</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W4</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W6</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W7</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W8</a:t>
                      </a:r>
                      <a:endParaRPr lang="zh-CN" altLang="en-US" dirty="0">
                        <a:latin typeface="Arial" panose="020B0604020202020204" pitchFamily="34" charset="0"/>
                        <a:ea typeface="微软雅黑" panose="020B0503020204020204" pitchFamily="34" charset="-122"/>
                      </a:endParaRPr>
                    </a:p>
                  </a:txBody>
                  <a:tcPr/>
                </a:tc>
                <a:tc>
                  <a:txBody>
                    <a:bodyPr/>
                    <a:lstStyle/>
                    <a:p>
                      <a:r>
                        <a:rPr lang="zh-CN" altLang="en-US" dirty="0">
                          <a:latin typeface="Arial" panose="020B0604020202020204" pitchFamily="34" charset="0"/>
                          <a:ea typeface="微软雅黑" panose="020B0503020204020204" pitchFamily="34" charset="-122"/>
                        </a:rPr>
                        <a:t>汇总</a:t>
                      </a:r>
                    </a:p>
                  </a:txBody>
                  <a:tcPr/>
                </a:tc>
                <a:extLst>
                  <a:ext uri="{0D108BD9-81ED-4DB2-BD59-A6C34878D82A}">
                    <a16:rowId xmlns:a16="http://schemas.microsoft.com/office/drawing/2014/main" val="464345689"/>
                  </a:ext>
                </a:extLst>
              </a:tr>
              <a:tr h="370840">
                <a:tc>
                  <a:txBody>
                    <a:bodyPr/>
                    <a:lstStyle/>
                    <a:p>
                      <a:r>
                        <a:rPr lang="en-US" altLang="zh-CN" dirty="0">
                          <a:latin typeface="Arial" panose="020B0604020202020204" pitchFamily="34" charset="0"/>
                          <a:ea typeface="微软雅黑" panose="020B0503020204020204" pitchFamily="34" charset="-122"/>
                        </a:rPr>
                        <a:t>Parts Forecast</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80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60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70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680</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606957341"/>
                  </a:ext>
                </a:extLst>
              </a:tr>
              <a:tr h="370840">
                <a:tc>
                  <a:txBody>
                    <a:bodyPr/>
                    <a:lstStyle/>
                    <a:p>
                      <a:r>
                        <a:rPr lang="en-US" altLang="zh-CN" dirty="0">
                          <a:latin typeface="Arial" panose="020B0604020202020204" pitchFamily="34" charset="0"/>
                          <a:ea typeface="微软雅黑" panose="020B0503020204020204" pitchFamily="34" charset="-122"/>
                        </a:rPr>
                        <a:t>Commit</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90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60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70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80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110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680</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22785951"/>
                  </a:ext>
                </a:extLst>
              </a:tr>
            </a:tbl>
          </a:graphicData>
        </a:graphic>
      </p:graphicFrame>
      <p:sp>
        <p:nvSpPr>
          <p:cNvPr id="4" name="标注: 弯曲线形 3">
            <a:extLst>
              <a:ext uri="{FF2B5EF4-FFF2-40B4-BE49-F238E27FC236}">
                <a16:creationId xmlns:a16="http://schemas.microsoft.com/office/drawing/2014/main" id="{3E43BD62-16F6-E11F-4057-2F32AC2AC110}"/>
              </a:ext>
            </a:extLst>
          </p:cNvPr>
          <p:cNvSpPr/>
          <p:nvPr/>
        </p:nvSpPr>
        <p:spPr>
          <a:xfrm>
            <a:off x="4143101" y="2234188"/>
            <a:ext cx="2950030" cy="881303"/>
          </a:xfrm>
          <a:prstGeom prst="borderCallout2">
            <a:avLst>
              <a:gd name="adj1" fmla="val 18750"/>
              <a:gd name="adj2" fmla="val -8333"/>
              <a:gd name="adj3" fmla="val 18750"/>
              <a:gd name="adj4" fmla="val -16667"/>
              <a:gd name="adj5" fmla="val -50992"/>
              <a:gd name="adj6" fmla="val -16431"/>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W1 delay or W3 pull 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Allotment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如何调整</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Supplier</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是把</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PF</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当作</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一笔一笔处理，本来是带有</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关系</a:t>
            </a:r>
          </a:p>
        </p:txBody>
      </p:sp>
      <p:graphicFrame>
        <p:nvGraphicFramePr>
          <p:cNvPr id="5" name="表格 4">
            <a:extLst>
              <a:ext uri="{FF2B5EF4-FFF2-40B4-BE49-F238E27FC236}">
                <a16:creationId xmlns:a16="http://schemas.microsoft.com/office/drawing/2014/main" id="{CCC156ED-5134-096E-57B7-7E6C726EAC5A}"/>
              </a:ext>
            </a:extLst>
          </p:cNvPr>
          <p:cNvGraphicFramePr>
            <a:graphicFrameLocks noGrp="1"/>
          </p:cNvGraphicFramePr>
          <p:nvPr>
            <p:extLst>
              <p:ext uri="{D42A27DB-BD31-4B8C-83A1-F6EECF244321}">
                <p14:modId xmlns:p14="http://schemas.microsoft.com/office/powerpoint/2010/main" val="2499891923"/>
              </p:ext>
            </p:extLst>
          </p:nvPr>
        </p:nvGraphicFramePr>
        <p:xfrm>
          <a:off x="797427" y="3837335"/>
          <a:ext cx="8178618" cy="1107440"/>
        </p:xfrm>
        <a:graphic>
          <a:graphicData uri="http://schemas.openxmlformats.org/drawingml/2006/table">
            <a:tbl>
              <a:tblPr firstRow="1" bandRow="1">
                <a:tableStyleId>{5C22544A-7EE6-4342-B048-85BDC9FD1C3A}</a:tableStyleId>
              </a:tblPr>
              <a:tblGrid>
                <a:gridCol w="1732280">
                  <a:extLst>
                    <a:ext uri="{9D8B030D-6E8A-4147-A177-3AD203B41FA5}">
                      <a16:colId xmlns:a16="http://schemas.microsoft.com/office/drawing/2014/main" val="3282326303"/>
                    </a:ext>
                  </a:extLst>
                </a:gridCol>
                <a:gridCol w="820394">
                  <a:extLst>
                    <a:ext uri="{9D8B030D-6E8A-4147-A177-3AD203B41FA5}">
                      <a16:colId xmlns:a16="http://schemas.microsoft.com/office/drawing/2014/main" val="486438316"/>
                    </a:ext>
                  </a:extLst>
                </a:gridCol>
                <a:gridCol w="820394">
                  <a:extLst>
                    <a:ext uri="{9D8B030D-6E8A-4147-A177-3AD203B41FA5}">
                      <a16:colId xmlns:a16="http://schemas.microsoft.com/office/drawing/2014/main" val="1036940136"/>
                    </a:ext>
                  </a:extLst>
                </a:gridCol>
                <a:gridCol w="820394">
                  <a:extLst>
                    <a:ext uri="{9D8B030D-6E8A-4147-A177-3AD203B41FA5}">
                      <a16:colId xmlns:a16="http://schemas.microsoft.com/office/drawing/2014/main" val="3591737291"/>
                    </a:ext>
                  </a:extLst>
                </a:gridCol>
                <a:gridCol w="820394">
                  <a:extLst>
                    <a:ext uri="{9D8B030D-6E8A-4147-A177-3AD203B41FA5}">
                      <a16:colId xmlns:a16="http://schemas.microsoft.com/office/drawing/2014/main" val="2845317863"/>
                    </a:ext>
                  </a:extLst>
                </a:gridCol>
                <a:gridCol w="820394">
                  <a:extLst>
                    <a:ext uri="{9D8B030D-6E8A-4147-A177-3AD203B41FA5}">
                      <a16:colId xmlns:a16="http://schemas.microsoft.com/office/drawing/2014/main" val="708199801"/>
                    </a:ext>
                  </a:extLst>
                </a:gridCol>
                <a:gridCol w="820394">
                  <a:extLst>
                    <a:ext uri="{9D8B030D-6E8A-4147-A177-3AD203B41FA5}">
                      <a16:colId xmlns:a16="http://schemas.microsoft.com/office/drawing/2014/main" val="3202309659"/>
                    </a:ext>
                  </a:extLst>
                </a:gridCol>
                <a:gridCol w="820394">
                  <a:extLst>
                    <a:ext uri="{9D8B030D-6E8A-4147-A177-3AD203B41FA5}">
                      <a16:colId xmlns:a16="http://schemas.microsoft.com/office/drawing/2014/main" val="237585318"/>
                    </a:ext>
                  </a:extLst>
                </a:gridCol>
                <a:gridCol w="703580">
                  <a:extLst>
                    <a:ext uri="{9D8B030D-6E8A-4147-A177-3AD203B41FA5}">
                      <a16:colId xmlns:a16="http://schemas.microsoft.com/office/drawing/2014/main" val="2507582816"/>
                    </a:ext>
                  </a:extLst>
                </a:gridCol>
              </a:tblGrid>
              <a:tr h="370840">
                <a:tc>
                  <a:txBody>
                    <a:bodyPr/>
                    <a:lstStyle/>
                    <a:p>
                      <a:r>
                        <a:rPr lang="en-US" altLang="zh-CN" dirty="0">
                          <a:latin typeface="Arial" panose="020B0604020202020204" pitchFamily="34" charset="0"/>
                          <a:ea typeface="微软雅黑" panose="020B0503020204020204" pitchFamily="34" charset="-122"/>
                        </a:rPr>
                        <a:t>Buckets</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Day1</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D2</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D3</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D4</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D6</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D7</a:t>
                      </a:r>
                      <a:endParaRPr lang="zh-CN" altLang="en-US" dirty="0">
                        <a:latin typeface="Arial" panose="020B0604020202020204" pitchFamily="34" charset="0"/>
                        <a:ea typeface="微软雅黑" panose="020B0503020204020204" pitchFamily="34" charset="-122"/>
                      </a:endParaRPr>
                    </a:p>
                  </a:txBody>
                  <a:tcPr/>
                </a:tc>
                <a:tc>
                  <a:txBody>
                    <a:bodyPr/>
                    <a:lstStyle/>
                    <a:p>
                      <a:r>
                        <a:rPr lang="zh-CN" altLang="en-US" dirty="0">
                          <a:latin typeface="Arial" panose="020B0604020202020204" pitchFamily="34" charset="0"/>
                          <a:ea typeface="微软雅黑" panose="020B0503020204020204" pitchFamily="34" charset="-122"/>
                        </a:rPr>
                        <a:t>汇总</a:t>
                      </a:r>
                    </a:p>
                  </a:txBody>
                  <a:tcPr/>
                </a:tc>
                <a:extLst>
                  <a:ext uri="{0D108BD9-81ED-4DB2-BD59-A6C34878D82A}">
                    <a16:rowId xmlns:a16="http://schemas.microsoft.com/office/drawing/2014/main" val="464345689"/>
                  </a:ext>
                </a:extLst>
              </a:tr>
              <a:tr h="370840">
                <a:tc>
                  <a:txBody>
                    <a:bodyPr/>
                    <a:lstStyle/>
                    <a:p>
                      <a:r>
                        <a:rPr lang="en-US" altLang="zh-CN" dirty="0">
                          <a:latin typeface="Arial" panose="020B0604020202020204" pitchFamily="34" charset="0"/>
                          <a:ea typeface="微软雅黑" panose="020B0503020204020204" pitchFamily="34" charset="-122"/>
                        </a:rPr>
                        <a:t>Missing/Pull</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20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30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8</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12</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110</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606957341"/>
                  </a:ext>
                </a:extLst>
              </a:tr>
              <a:tr h="0">
                <a:tc>
                  <a:txBody>
                    <a:bodyPr/>
                    <a:lstStyle/>
                    <a:p>
                      <a:r>
                        <a:rPr lang="en-US" altLang="zh-CN" dirty="0">
                          <a:latin typeface="Arial" panose="020B0604020202020204" pitchFamily="34" charset="0"/>
                          <a:ea typeface="微软雅黑" panose="020B0503020204020204" pitchFamily="34" charset="-122"/>
                        </a:rPr>
                        <a:t>ETA</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30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12</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8</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15</a:t>
                      </a:r>
                      <a:endParaRPr lang="zh-CN" altLang="en-US" dirty="0">
                        <a:latin typeface="Arial" panose="020B0604020202020204" pitchFamily="34" charset="0"/>
                        <a:ea typeface="微软雅黑" panose="020B0503020204020204" pitchFamily="34" charset="-122"/>
                      </a:endParaRPr>
                    </a:p>
                  </a:txBody>
                  <a:tcPr/>
                </a:tc>
                <a:tc>
                  <a:txBody>
                    <a:bodyPr/>
                    <a:lstStyle/>
                    <a:p>
                      <a:r>
                        <a:rPr lang="en-US" altLang="zh-CN" dirty="0">
                          <a:latin typeface="Arial" panose="020B0604020202020204" pitchFamily="34" charset="0"/>
                          <a:ea typeface="微软雅黑" panose="020B0503020204020204" pitchFamily="34" charset="-122"/>
                        </a:rPr>
                        <a:t>100</a:t>
                      </a:r>
                      <a:endParaRPr lang="zh-CN" altLang="en-US"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22785951"/>
                  </a:ext>
                </a:extLst>
              </a:tr>
            </a:tbl>
          </a:graphicData>
        </a:graphic>
      </p:graphicFrame>
      <p:sp>
        <p:nvSpPr>
          <p:cNvPr id="6" name="标注: 弯曲线形 5">
            <a:extLst>
              <a:ext uri="{FF2B5EF4-FFF2-40B4-BE49-F238E27FC236}">
                <a16:creationId xmlns:a16="http://schemas.microsoft.com/office/drawing/2014/main" id="{2AB29FF0-F4D6-9DFF-51E5-78F44718EEDB}"/>
              </a:ext>
            </a:extLst>
          </p:cNvPr>
          <p:cNvSpPr/>
          <p:nvPr/>
        </p:nvSpPr>
        <p:spPr>
          <a:xfrm>
            <a:off x="9324701" y="4203677"/>
            <a:ext cx="2386150" cy="590391"/>
          </a:xfrm>
          <a:prstGeom prst="borderCallout2">
            <a:avLst>
              <a:gd name="adj1" fmla="val -519"/>
              <a:gd name="adj2" fmla="val 1852"/>
              <a:gd name="adj3" fmla="val 12080"/>
              <a:gd name="adj4" fmla="val -283"/>
              <a:gd name="adj5" fmla="val 55416"/>
              <a:gd name="adj6" fmla="val -15328"/>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超</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W1 PF 10 pcs</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如何处理</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ETA</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已经超了</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W1 Commit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W2 Commit pull in</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么？</a:t>
            </a:r>
          </a:p>
        </p:txBody>
      </p:sp>
      <p:sp>
        <p:nvSpPr>
          <p:cNvPr id="7" name="标注: 弯曲线形 6">
            <a:extLst>
              <a:ext uri="{FF2B5EF4-FFF2-40B4-BE49-F238E27FC236}">
                <a16:creationId xmlns:a16="http://schemas.microsoft.com/office/drawing/2014/main" id="{83AB4573-866F-29BD-9FD2-1BC73D108AEB}"/>
              </a:ext>
            </a:extLst>
          </p:cNvPr>
          <p:cNvSpPr/>
          <p:nvPr/>
        </p:nvSpPr>
        <p:spPr>
          <a:xfrm>
            <a:off x="4047306" y="5427287"/>
            <a:ext cx="3744688" cy="1243678"/>
          </a:xfrm>
          <a:prstGeom prst="borderCallout2">
            <a:avLst>
              <a:gd name="adj1" fmla="val 18750"/>
              <a:gd name="adj2" fmla="val -8333"/>
              <a:gd name="adj3" fmla="val 18750"/>
              <a:gd name="adj4" fmla="val -16667"/>
              <a:gd name="adj5" fmla="val -50992"/>
              <a:gd name="adj6" fmla="val -16431"/>
            </a:avLst>
          </a:prstGeom>
          <a:solidFill>
            <a:srgbClr val="007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delay or pull 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如果现在已经是</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D2</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了</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货没有收到即</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push out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了。 而</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Day1</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ETA</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已经拿不到了。那么供应减少，会有订单没有了</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PSD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GR </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与</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ETA</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之间没有</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pegging</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不只准确性没法衡量，数量计算亦会出现问题</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13022012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8067477-3F30-A118-194C-F2216C643E4F}"/>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Supplier Deep Collaboration</a:t>
            </a:r>
            <a:endParaRPr lang="zh-CN" altLang="en-US" dirty="0">
              <a:latin typeface="Arial" panose="020B0604020202020204" pitchFamily="34" charset="0"/>
              <a:ea typeface="微软雅黑" panose="020B0503020204020204" pitchFamily="34" charset="-122"/>
            </a:endParaRPr>
          </a:p>
        </p:txBody>
      </p:sp>
      <p:sp>
        <p:nvSpPr>
          <p:cNvPr id="5" name="矩形: 圆角 4">
            <a:extLst>
              <a:ext uri="{FF2B5EF4-FFF2-40B4-BE49-F238E27FC236}">
                <a16:creationId xmlns:a16="http://schemas.microsoft.com/office/drawing/2014/main" id="{6EE89F23-90C3-E55A-712C-DA7314FC72D5}"/>
              </a:ext>
            </a:extLst>
          </p:cNvPr>
          <p:cNvSpPr/>
          <p:nvPr/>
        </p:nvSpPr>
        <p:spPr>
          <a:xfrm>
            <a:off x="7238570" y="1325243"/>
            <a:ext cx="4475408" cy="4726547"/>
          </a:xfrm>
          <a:prstGeom prst="roundRect">
            <a:avLst/>
          </a:prstGeom>
          <a:solidFill>
            <a:srgbClr val="00B050">
              <a:alpha val="31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6" name="矩形: 圆角 5">
            <a:extLst>
              <a:ext uri="{FF2B5EF4-FFF2-40B4-BE49-F238E27FC236}">
                <a16:creationId xmlns:a16="http://schemas.microsoft.com/office/drawing/2014/main" id="{80A74D46-8478-0E6B-B062-640B9255EBF7}"/>
              </a:ext>
            </a:extLst>
          </p:cNvPr>
          <p:cNvSpPr/>
          <p:nvPr/>
        </p:nvSpPr>
        <p:spPr>
          <a:xfrm>
            <a:off x="804025" y="1325243"/>
            <a:ext cx="4475408" cy="4726547"/>
          </a:xfrm>
          <a:prstGeom prst="roundRect">
            <a:avLst/>
          </a:prstGeom>
          <a:solidFill>
            <a:schemeClr val="bg2">
              <a:alpha val="41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grpSp>
        <p:nvGrpSpPr>
          <p:cNvPr id="7" name="组合 6">
            <a:extLst>
              <a:ext uri="{FF2B5EF4-FFF2-40B4-BE49-F238E27FC236}">
                <a16:creationId xmlns:a16="http://schemas.microsoft.com/office/drawing/2014/main" id="{5233A9FC-141B-EA7E-A8DD-32C2FF9D87D3}"/>
              </a:ext>
            </a:extLst>
          </p:cNvPr>
          <p:cNvGrpSpPr/>
          <p:nvPr/>
        </p:nvGrpSpPr>
        <p:grpSpPr>
          <a:xfrm>
            <a:off x="889541" y="1640612"/>
            <a:ext cx="4060827" cy="3056213"/>
            <a:chOff x="2060589" y="1163022"/>
            <a:chExt cx="4060827" cy="3056213"/>
          </a:xfrm>
        </p:grpSpPr>
        <p:sp>
          <p:nvSpPr>
            <p:cNvPr id="8" name="圆角矩形 2">
              <a:extLst>
                <a:ext uri="{FF2B5EF4-FFF2-40B4-BE49-F238E27FC236}">
                  <a16:creationId xmlns:a16="http://schemas.microsoft.com/office/drawing/2014/main" id="{3D1C20A9-29FA-36D3-8318-45566F2B61CA}"/>
                </a:ext>
              </a:extLst>
            </p:cNvPr>
            <p:cNvSpPr/>
            <p:nvPr/>
          </p:nvSpPr>
          <p:spPr>
            <a:xfrm>
              <a:off x="5012899" y="116302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MP-MRP</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 name="圆角矩形 2">
              <a:extLst>
                <a:ext uri="{FF2B5EF4-FFF2-40B4-BE49-F238E27FC236}">
                  <a16:creationId xmlns:a16="http://schemas.microsoft.com/office/drawing/2014/main" id="{1DEC09D1-6CC8-A70A-DF3B-D0709305F3AF}"/>
                </a:ext>
              </a:extLst>
            </p:cNvPr>
            <p:cNvSpPr/>
            <p:nvPr/>
          </p:nvSpPr>
          <p:spPr>
            <a:xfrm>
              <a:off x="2060589" y="2235662"/>
              <a:ext cx="836295" cy="720090"/>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SRM</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10" name="组合 9">
              <a:extLst>
                <a:ext uri="{FF2B5EF4-FFF2-40B4-BE49-F238E27FC236}">
                  <a16:creationId xmlns:a16="http://schemas.microsoft.com/office/drawing/2014/main" id="{DDC236E8-97EF-B594-38A1-DA9ACAA87222}"/>
                </a:ext>
              </a:extLst>
            </p:cNvPr>
            <p:cNvGrpSpPr/>
            <p:nvPr/>
          </p:nvGrpSpPr>
          <p:grpSpPr>
            <a:xfrm>
              <a:off x="2896884" y="1500884"/>
              <a:ext cx="2731366" cy="1094823"/>
              <a:chOff x="2896884" y="1500884"/>
              <a:chExt cx="2731366" cy="1094823"/>
            </a:xfrm>
          </p:grpSpPr>
          <p:cxnSp>
            <p:nvCxnSpPr>
              <p:cNvPr id="18" name="直接箭头连接符 17">
                <a:extLst>
                  <a:ext uri="{FF2B5EF4-FFF2-40B4-BE49-F238E27FC236}">
                    <a16:creationId xmlns:a16="http://schemas.microsoft.com/office/drawing/2014/main" id="{62A0C243-5F7E-17C1-648B-A23C3982D795}"/>
                  </a:ext>
                </a:extLst>
              </p:cNvPr>
              <p:cNvCxnSpPr>
                <a:cxnSpLocks/>
                <a:endCxn id="9" idx="3"/>
              </p:cNvCxnSpPr>
              <p:nvPr/>
            </p:nvCxnSpPr>
            <p:spPr>
              <a:xfrm flipH="1">
                <a:off x="2896884" y="1500884"/>
                <a:ext cx="2116015" cy="1094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723B77F-AA33-77A1-A363-060022A213B6}"/>
                  </a:ext>
                </a:extLst>
              </p:cNvPr>
              <p:cNvSpPr txBox="1"/>
              <p:nvPr/>
            </p:nvSpPr>
            <p:spPr>
              <a:xfrm>
                <a:off x="3177553" y="1535054"/>
                <a:ext cx="24506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Parts Forecast</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11" name="圆角矩形 2">
              <a:extLst>
                <a:ext uri="{FF2B5EF4-FFF2-40B4-BE49-F238E27FC236}">
                  <a16:creationId xmlns:a16="http://schemas.microsoft.com/office/drawing/2014/main" id="{1E680439-854C-F258-55C4-7A05AB1B9011}"/>
                </a:ext>
              </a:extLst>
            </p:cNvPr>
            <p:cNvSpPr/>
            <p:nvPr/>
          </p:nvSpPr>
          <p:spPr>
            <a:xfrm>
              <a:off x="5012899" y="223566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MP-Closed Loop MRP</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12" name="组合 11">
              <a:extLst>
                <a:ext uri="{FF2B5EF4-FFF2-40B4-BE49-F238E27FC236}">
                  <a16:creationId xmlns:a16="http://schemas.microsoft.com/office/drawing/2014/main" id="{FC94B8EE-66D6-774A-F45B-BB14F0EFDEBF}"/>
                </a:ext>
              </a:extLst>
            </p:cNvPr>
            <p:cNvGrpSpPr/>
            <p:nvPr/>
          </p:nvGrpSpPr>
          <p:grpSpPr>
            <a:xfrm>
              <a:off x="2896884" y="2109094"/>
              <a:ext cx="2245699" cy="499313"/>
              <a:chOff x="2896884" y="2109094"/>
              <a:chExt cx="2245699" cy="499313"/>
            </a:xfrm>
          </p:grpSpPr>
          <p:cxnSp>
            <p:nvCxnSpPr>
              <p:cNvPr id="16" name="连接符: 肘形 15">
                <a:extLst>
                  <a:ext uri="{FF2B5EF4-FFF2-40B4-BE49-F238E27FC236}">
                    <a16:creationId xmlns:a16="http://schemas.microsoft.com/office/drawing/2014/main" id="{E5873631-7D97-EF25-C4C5-6498015836B5}"/>
                  </a:ext>
                </a:extLst>
              </p:cNvPr>
              <p:cNvCxnSpPr>
                <a:cxnSpLocks/>
                <a:stCxn id="9" idx="3"/>
                <a:endCxn id="11" idx="1"/>
              </p:cNvCxnSpPr>
              <p:nvPr/>
            </p:nvCxnSpPr>
            <p:spPr>
              <a:xfrm>
                <a:off x="2896884" y="2595707"/>
                <a:ext cx="2116015" cy="12700"/>
              </a:xfrm>
              <a:prstGeom prst="bentConnector3">
                <a:avLst>
                  <a:gd name="adj1" fmla="val 97474"/>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F9981D41-F9EE-558F-D204-2E1935947771}"/>
                  </a:ext>
                </a:extLst>
              </p:cNvPr>
              <p:cNvSpPr txBox="1"/>
              <p:nvPr/>
            </p:nvSpPr>
            <p:spPr>
              <a:xfrm>
                <a:off x="3268812" y="2109094"/>
                <a:ext cx="187377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grpSp>
        <p:sp>
          <p:nvSpPr>
            <p:cNvPr id="13" name="文本框 12">
              <a:extLst>
                <a:ext uri="{FF2B5EF4-FFF2-40B4-BE49-F238E27FC236}">
                  <a16:creationId xmlns:a16="http://schemas.microsoft.com/office/drawing/2014/main" id="{94D52086-F5EB-358B-4667-A94536ACDCB7}"/>
                </a:ext>
              </a:extLst>
            </p:cNvPr>
            <p:cNvSpPr txBox="1"/>
            <p:nvPr/>
          </p:nvSpPr>
          <p:spPr>
            <a:xfrm>
              <a:off x="3712666" y="2201021"/>
              <a:ext cx="187377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Supply Commit</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4" name="圆角矩形 2">
              <a:extLst>
                <a:ext uri="{FF2B5EF4-FFF2-40B4-BE49-F238E27FC236}">
                  <a16:creationId xmlns:a16="http://schemas.microsoft.com/office/drawing/2014/main" id="{6C443F84-6993-7F8A-D4AE-DF0A73B3F110}"/>
                </a:ext>
              </a:extLst>
            </p:cNvPr>
            <p:cNvSpPr/>
            <p:nvPr/>
          </p:nvSpPr>
          <p:spPr>
            <a:xfrm>
              <a:off x="4770655" y="3675843"/>
              <a:ext cx="1350761" cy="543392"/>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Execution Plan</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F0DCDA57-7087-FDCC-28D3-41F3247FD499}"/>
                </a:ext>
              </a:extLst>
            </p:cNvPr>
            <p:cNvSpPr txBox="1"/>
            <p:nvPr/>
          </p:nvSpPr>
          <p:spPr>
            <a:xfrm>
              <a:off x="3869623" y="2945367"/>
              <a:ext cx="163641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ETA</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20" name="组合 19">
            <a:extLst>
              <a:ext uri="{FF2B5EF4-FFF2-40B4-BE49-F238E27FC236}">
                <a16:creationId xmlns:a16="http://schemas.microsoft.com/office/drawing/2014/main" id="{3BC2A265-0C9A-D3B2-00CB-9C7EA65D705B}"/>
              </a:ext>
            </a:extLst>
          </p:cNvPr>
          <p:cNvGrpSpPr/>
          <p:nvPr/>
        </p:nvGrpSpPr>
        <p:grpSpPr>
          <a:xfrm>
            <a:off x="7664412" y="1544288"/>
            <a:ext cx="3559214" cy="3429396"/>
            <a:chOff x="2562202" y="1163022"/>
            <a:chExt cx="3559214" cy="3429396"/>
          </a:xfrm>
        </p:grpSpPr>
        <p:sp>
          <p:nvSpPr>
            <p:cNvPr id="21" name="圆角矩形 2">
              <a:extLst>
                <a:ext uri="{FF2B5EF4-FFF2-40B4-BE49-F238E27FC236}">
                  <a16:creationId xmlns:a16="http://schemas.microsoft.com/office/drawing/2014/main" id="{39352638-0A6C-B1BB-6C6D-572E643C9E38}"/>
                </a:ext>
              </a:extLst>
            </p:cNvPr>
            <p:cNvSpPr/>
            <p:nvPr/>
          </p:nvSpPr>
          <p:spPr>
            <a:xfrm>
              <a:off x="5012899" y="116302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MP-MRP</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2" name="圆角矩形 2">
              <a:extLst>
                <a:ext uri="{FF2B5EF4-FFF2-40B4-BE49-F238E27FC236}">
                  <a16:creationId xmlns:a16="http://schemas.microsoft.com/office/drawing/2014/main" id="{4A64D207-2D53-FDC1-F206-128E51E51616}"/>
                </a:ext>
              </a:extLst>
            </p:cNvPr>
            <p:cNvSpPr/>
            <p:nvPr/>
          </p:nvSpPr>
          <p:spPr>
            <a:xfrm>
              <a:off x="2562202" y="1172309"/>
              <a:ext cx="836295" cy="720090"/>
            </a:xfrm>
            <a:prstGeom prst="roundRect">
              <a:avLst/>
            </a:prstGeom>
            <a:solidFill>
              <a:srgbClr val="7030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SRM</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23" name="组合 22">
              <a:extLst>
                <a:ext uri="{FF2B5EF4-FFF2-40B4-BE49-F238E27FC236}">
                  <a16:creationId xmlns:a16="http://schemas.microsoft.com/office/drawing/2014/main" id="{42837D60-C2E6-757B-DB3B-AC93B4CB4B4A}"/>
                </a:ext>
              </a:extLst>
            </p:cNvPr>
            <p:cNvGrpSpPr/>
            <p:nvPr/>
          </p:nvGrpSpPr>
          <p:grpSpPr>
            <a:xfrm>
              <a:off x="3398497" y="1174449"/>
              <a:ext cx="2722919" cy="335722"/>
              <a:chOff x="3398497" y="1174449"/>
              <a:chExt cx="2722919" cy="335722"/>
            </a:xfrm>
          </p:grpSpPr>
          <p:cxnSp>
            <p:nvCxnSpPr>
              <p:cNvPr id="38" name="直接箭头连接符 37">
                <a:extLst>
                  <a:ext uri="{FF2B5EF4-FFF2-40B4-BE49-F238E27FC236}">
                    <a16:creationId xmlns:a16="http://schemas.microsoft.com/office/drawing/2014/main" id="{3853525F-BF96-F7BF-BAED-66DC09F3B251}"/>
                  </a:ext>
                </a:extLst>
              </p:cNvPr>
              <p:cNvCxnSpPr>
                <a:cxnSpLocks/>
              </p:cNvCxnSpPr>
              <p:nvPr/>
            </p:nvCxnSpPr>
            <p:spPr>
              <a:xfrm flipH="1">
                <a:off x="3398497" y="1500884"/>
                <a:ext cx="1614402" cy="9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CA880143-3014-44BB-E84E-8143FD8FDAB6}"/>
                  </a:ext>
                </a:extLst>
              </p:cNvPr>
              <p:cNvSpPr txBox="1"/>
              <p:nvPr/>
            </p:nvSpPr>
            <p:spPr>
              <a:xfrm>
                <a:off x="3670719" y="1174449"/>
                <a:ext cx="24506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Parts Forecast</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24" name="圆角矩形 2">
              <a:extLst>
                <a:ext uri="{FF2B5EF4-FFF2-40B4-BE49-F238E27FC236}">
                  <a16:creationId xmlns:a16="http://schemas.microsoft.com/office/drawing/2014/main" id="{5D65E352-8B84-647E-59C7-196355C26C62}"/>
                </a:ext>
              </a:extLst>
            </p:cNvPr>
            <p:cNvSpPr/>
            <p:nvPr/>
          </p:nvSpPr>
          <p:spPr>
            <a:xfrm>
              <a:off x="5012899" y="2235662"/>
              <a:ext cx="836295" cy="720090"/>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MP-Closed Loop MRP</a:t>
              </a: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25" name="组合 24">
              <a:extLst>
                <a:ext uri="{FF2B5EF4-FFF2-40B4-BE49-F238E27FC236}">
                  <a16:creationId xmlns:a16="http://schemas.microsoft.com/office/drawing/2014/main" id="{A4791760-E537-4830-53C0-993D69DC08B6}"/>
                </a:ext>
              </a:extLst>
            </p:cNvPr>
            <p:cNvGrpSpPr/>
            <p:nvPr/>
          </p:nvGrpSpPr>
          <p:grpSpPr>
            <a:xfrm>
              <a:off x="2980349" y="1892399"/>
              <a:ext cx="2162234" cy="703308"/>
              <a:chOff x="2980349" y="1892399"/>
              <a:chExt cx="2162234" cy="703308"/>
            </a:xfrm>
          </p:grpSpPr>
          <p:cxnSp>
            <p:nvCxnSpPr>
              <p:cNvPr id="36" name="连接符: 肘形 35">
                <a:extLst>
                  <a:ext uri="{FF2B5EF4-FFF2-40B4-BE49-F238E27FC236}">
                    <a16:creationId xmlns:a16="http://schemas.microsoft.com/office/drawing/2014/main" id="{1B114E64-A091-6286-718B-606CD688FCE2}"/>
                  </a:ext>
                </a:extLst>
              </p:cNvPr>
              <p:cNvCxnSpPr>
                <a:stCxn id="22" idx="2"/>
                <a:endCxn id="24" idx="1"/>
              </p:cNvCxnSpPr>
              <p:nvPr/>
            </p:nvCxnSpPr>
            <p:spPr>
              <a:xfrm rot="16200000" flipH="1">
                <a:off x="3644970" y="1227778"/>
                <a:ext cx="703308" cy="203254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AC0B9894-BA6E-D1FC-CE66-18B5995C070C}"/>
                  </a:ext>
                </a:extLst>
              </p:cNvPr>
              <p:cNvSpPr txBox="1"/>
              <p:nvPr/>
            </p:nvSpPr>
            <p:spPr>
              <a:xfrm>
                <a:off x="3268812" y="2109094"/>
                <a:ext cx="18737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 Commit pegging PF</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26" name="组合 25">
              <a:extLst>
                <a:ext uri="{FF2B5EF4-FFF2-40B4-BE49-F238E27FC236}">
                  <a16:creationId xmlns:a16="http://schemas.microsoft.com/office/drawing/2014/main" id="{FBCCE077-ACF6-A8B6-2683-96B92A8F230A}"/>
                </a:ext>
              </a:extLst>
            </p:cNvPr>
            <p:cNvGrpSpPr/>
            <p:nvPr/>
          </p:nvGrpSpPr>
          <p:grpSpPr>
            <a:xfrm>
              <a:off x="2980350" y="1892400"/>
              <a:ext cx="2450697" cy="1356718"/>
              <a:chOff x="2980350" y="1892400"/>
              <a:chExt cx="2450697" cy="1356718"/>
            </a:xfrm>
          </p:grpSpPr>
          <p:cxnSp>
            <p:nvCxnSpPr>
              <p:cNvPr id="34" name="连接符: 肘形 33">
                <a:extLst>
                  <a:ext uri="{FF2B5EF4-FFF2-40B4-BE49-F238E27FC236}">
                    <a16:creationId xmlns:a16="http://schemas.microsoft.com/office/drawing/2014/main" id="{91D5A394-30D3-3BCE-4170-F83B49A00E5F}"/>
                  </a:ext>
                </a:extLst>
              </p:cNvPr>
              <p:cNvCxnSpPr>
                <a:cxnSpLocks/>
                <a:stCxn id="24" idx="2"/>
                <a:endCxn id="22" idx="2"/>
              </p:cNvCxnSpPr>
              <p:nvPr/>
            </p:nvCxnSpPr>
            <p:spPr>
              <a:xfrm rot="5400000" flipH="1">
                <a:off x="3674022" y="1198728"/>
                <a:ext cx="1063353" cy="2450697"/>
              </a:xfrm>
              <a:prstGeom prst="bentConnector3">
                <a:avLst>
                  <a:gd name="adj1" fmla="val -21498"/>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F9479786-3151-5DAC-F0ED-376BFB55923C}"/>
                  </a:ext>
                </a:extLst>
              </p:cNvPr>
              <p:cNvSpPr txBox="1"/>
              <p:nvPr/>
            </p:nvSpPr>
            <p:spPr>
              <a:xfrm>
                <a:off x="3268812" y="2787453"/>
                <a:ext cx="187377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Rescheduled Commit/SR</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27" name="圆角矩形 2">
              <a:extLst>
                <a:ext uri="{FF2B5EF4-FFF2-40B4-BE49-F238E27FC236}">
                  <a16:creationId xmlns:a16="http://schemas.microsoft.com/office/drawing/2014/main" id="{B6F5E117-10A4-61D4-F0C1-30A8C9C37DCC}"/>
                </a:ext>
              </a:extLst>
            </p:cNvPr>
            <p:cNvSpPr/>
            <p:nvPr/>
          </p:nvSpPr>
          <p:spPr>
            <a:xfrm>
              <a:off x="4770655" y="3675843"/>
              <a:ext cx="1350761" cy="543392"/>
            </a:xfrm>
            <a:prstGeom prst="round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Execution Plan</a:t>
              </a:r>
              <a:endPar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28" name="组合 27">
              <a:extLst>
                <a:ext uri="{FF2B5EF4-FFF2-40B4-BE49-F238E27FC236}">
                  <a16:creationId xmlns:a16="http://schemas.microsoft.com/office/drawing/2014/main" id="{20A70A51-0386-663F-DE67-08241CBAE197}"/>
                </a:ext>
              </a:extLst>
            </p:cNvPr>
            <p:cNvGrpSpPr/>
            <p:nvPr/>
          </p:nvGrpSpPr>
          <p:grpSpPr>
            <a:xfrm>
              <a:off x="2980349" y="1892399"/>
              <a:ext cx="1908554" cy="2055140"/>
              <a:chOff x="2980349" y="1892399"/>
              <a:chExt cx="1908554" cy="2055140"/>
            </a:xfrm>
          </p:grpSpPr>
          <p:cxnSp>
            <p:nvCxnSpPr>
              <p:cNvPr id="32" name="连接符: 肘形 31">
                <a:extLst>
                  <a:ext uri="{FF2B5EF4-FFF2-40B4-BE49-F238E27FC236}">
                    <a16:creationId xmlns:a16="http://schemas.microsoft.com/office/drawing/2014/main" id="{89929339-B423-C3EC-A22B-DC9844B89F38}"/>
                  </a:ext>
                </a:extLst>
              </p:cNvPr>
              <p:cNvCxnSpPr>
                <a:stCxn id="22" idx="2"/>
                <a:endCxn id="27" idx="1"/>
              </p:cNvCxnSpPr>
              <p:nvPr/>
            </p:nvCxnSpPr>
            <p:spPr>
              <a:xfrm rot="16200000" flipH="1">
                <a:off x="2847932" y="2024816"/>
                <a:ext cx="2055140" cy="17903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526F6F28-CA19-FFC1-C87D-9D44560522E9}"/>
                  </a:ext>
                </a:extLst>
              </p:cNvPr>
              <p:cNvSpPr txBox="1"/>
              <p:nvPr/>
            </p:nvSpPr>
            <p:spPr>
              <a:xfrm>
                <a:off x="3252487" y="3457931"/>
                <a:ext cx="16364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 Commit/ETA/ASN</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nvGrpSpPr>
            <p:cNvPr id="29" name="组合 28">
              <a:extLst>
                <a:ext uri="{FF2B5EF4-FFF2-40B4-BE49-F238E27FC236}">
                  <a16:creationId xmlns:a16="http://schemas.microsoft.com/office/drawing/2014/main" id="{45ABCF10-0E67-F4D1-58FE-07E648CFE76B}"/>
                </a:ext>
              </a:extLst>
            </p:cNvPr>
            <p:cNvGrpSpPr/>
            <p:nvPr/>
          </p:nvGrpSpPr>
          <p:grpSpPr>
            <a:xfrm>
              <a:off x="2980350" y="1892399"/>
              <a:ext cx="2647900" cy="2700019"/>
              <a:chOff x="2980350" y="1892399"/>
              <a:chExt cx="2647900" cy="2700019"/>
            </a:xfrm>
          </p:grpSpPr>
          <p:cxnSp>
            <p:nvCxnSpPr>
              <p:cNvPr id="30" name="连接符: 肘形 29">
                <a:extLst>
                  <a:ext uri="{FF2B5EF4-FFF2-40B4-BE49-F238E27FC236}">
                    <a16:creationId xmlns:a16="http://schemas.microsoft.com/office/drawing/2014/main" id="{56BAF289-EC69-BE06-4865-FD20B6ACA9E0}"/>
                  </a:ext>
                </a:extLst>
              </p:cNvPr>
              <p:cNvCxnSpPr>
                <a:stCxn id="27" idx="2"/>
                <a:endCxn id="22" idx="2"/>
              </p:cNvCxnSpPr>
              <p:nvPr/>
            </p:nvCxnSpPr>
            <p:spPr>
              <a:xfrm rot="5400000" flipH="1">
                <a:off x="3049775" y="1822974"/>
                <a:ext cx="2326836" cy="2465686"/>
              </a:xfrm>
              <a:prstGeom prst="bentConnector3">
                <a:avLst>
                  <a:gd name="adj1" fmla="val -153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1196048C-6163-7BAF-40E0-1E3D12F0C9C9}"/>
                  </a:ext>
                </a:extLst>
              </p:cNvPr>
              <p:cNvSpPr txBox="1"/>
              <p:nvPr/>
            </p:nvSpPr>
            <p:spPr>
              <a:xfrm>
                <a:off x="3119878" y="4130753"/>
                <a:ext cx="25083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Missing Parts/Rescheduled</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Commit</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pSp>
      <p:grpSp>
        <p:nvGrpSpPr>
          <p:cNvPr id="40" name="组合 39">
            <a:extLst>
              <a:ext uri="{FF2B5EF4-FFF2-40B4-BE49-F238E27FC236}">
                <a16:creationId xmlns:a16="http://schemas.microsoft.com/office/drawing/2014/main" id="{2E0DA0A6-E830-455E-A895-444574B50BAD}"/>
              </a:ext>
            </a:extLst>
          </p:cNvPr>
          <p:cNvGrpSpPr/>
          <p:nvPr/>
        </p:nvGrpSpPr>
        <p:grpSpPr>
          <a:xfrm>
            <a:off x="2441074" y="3086069"/>
            <a:ext cx="176673" cy="526149"/>
            <a:chOff x="2998103" y="4643027"/>
            <a:chExt cx="178626" cy="898754"/>
          </a:xfrm>
          <a:solidFill>
            <a:srgbClr val="CD2832"/>
          </a:solidFill>
        </p:grpSpPr>
        <p:cxnSp>
          <p:nvCxnSpPr>
            <p:cNvPr id="41" name="Straight Connector 144">
              <a:extLst>
                <a:ext uri="{FF2B5EF4-FFF2-40B4-BE49-F238E27FC236}">
                  <a16:creationId xmlns:a16="http://schemas.microsoft.com/office/drawing/2014/main" id="{2D2037C8-3DAF-8E7D-265D-04E12D26CA4D}"/>
                </a:ext>
              </a:extLst>
            </p:cNvPr>
            <p:cNvCxnSpPr>
              <a:cxnSpLocks/>
            </p:cNvCxnSpPr>
            <p:nvPr/>
          </p:nvCxnSpPr>
          <p:spPr>
            <a:xfrm>
              <a:off x="3087416" y="4643027"/>
              <a:ext cx="0" cy="898754"/>
            </a:xfrm>
            <a:prstGeom prst="line">
              <a:avLst/>
            </a:prstGeom>
            <a:grpFill/>
            <a:ln w="19050">
              <a:solidFill>
                <a:srgbClr val="C0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2" name="KSO_Shape">
              <a:extLst>
                <a:ext uri="{FF2B5EF4-FFF2-40B4-BE49-F238E27FC236}">
                  <a16:creationId xmlns:a16="http://schemas.microsoft.com/office/drawing/2014/main" id="{6B6447A7-40A2-C0C1-2757-D628EFA4915E}"/>
                </a:ext>
              </a:extLst>
            </p:cNvPr>
            <p:cNvSpPr/>
            <p:nvPr/>
          </p:nvSpPr>
          <p:spPr>
            <a:xfrm>
              <a:off x="2998103" y="5002261"/>
              <a:ext cx="178626" cy="180286"/>
            </a:xfrm>
            <a:prstGeom prst="noSmoking">
              <a:avLst>
                <a:gd name="adj" fmla="val 119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grpSp>
      <p:grpSp>
        <p:nvGrpSpPr>
          <p:cNvPr id="43" name="组合 42">
            <a:extLst>
              <a:ext uri="{FF2B5EF4-FFF2-40B4-BE49-F238E27FC236}">
                <a16:creationId xmlns:a16="http://schemas.microsoft.com/office/drawing/2014/main" id="{1F89749F-6970-3BDD-1A6B-BDD946F75772}"/>
              </a:ext>
            </a:extLst>
          </p:cNvPr>
          <p:cNvGrpSpPr/>
          <p:nvPr/>
        </p:nvGrpSpPr>
        <p:grpSpPr>
          <a:xfrm>
            <a:off x="2443027" y="2604180"/>
            <a:ext cx="174720" cy="438305"/>
            <a:chOff x="2998103" y="4643027"/>
            <a:chExt cx="178626" cy="898754"/>
          </a:xfrm>
          <a:solidFill>
            <a:srgbClr val="CD2832"/>
          </a:solidFill>
        </p:grpSpPr>
        <p:cxnSp>
          <p:nvCxnSpPr>
            <p:cNvPr id="44" name="Straight Connector 144">
              <a:extLst>
                <a:ext uri="{FF2B5EF4-FFF2-40B4-BE49-F238E27FC236}">
                  <a16:creationId xmlns:a16="http://schemas.microsoft.com/office/drawing/2014/main" id="{AB2C42B8-4B1B-5A2A-C1AB-19719C5D0039}"/>
                </a:ext>
              </a:extLst>
            </p:cNvPr>
            <p:cNvCxnSpPr>
              <a:cxnSpLocks/>
            </p:cNvCxnSpPr>
            <p:nvPr/>
          </p:nvCxnSpPr>
          <p:spPr>
            <a:xfrm>
              <a:off x="3087416" y="4643027"/>
              <a:ext cx="0" cy="898754"/>
            </a:xfrm>
            <a:prstGeom prst="line">
              <a:avLst/>
            </a:prstGeom>
            <a:grpFill/>
            <a:ln w="19050">
              <a:solidFill>
                <a:srgbClr val="C0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5" name="KSO_Shape">
              <a:extLst>
                <a:ext uri="{FF2B5EF4-FFF2-40B4-BE49-F238E27FC236}">
                  <a16:creationId xmlns:a16="http://schemas.microsoft.com/office/drawing/2014/main" id="{4765D11A-E563-3A81-6989-43306E5479AF}"/>
                </a:ext>
              </a:extLst>
            </p:cNvPr>
            <p:cNvSpPr/>
            <p:nvPr/>
          </p:nvSpPr>
          <p:spPr>
            <a:xfrm>
              <a:off x="2998103" y="5002261"/>
              <a:ext cx="178626" cy="180286"/>
            </a:xfrm>
            <a:prstGeom prst="noSmoking">
              <a:avLst>
                <a:gd name="adj" fmla="val 119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grpSp>
      <p:cxnSp>
        <p:nvCxnSpPr>
          <p:cNvPr id="46" name="直接箭头连接符 45">
            <a:extLst>
              <a:ext uri="{FF2B5EF4-FFF2-40B4-BE49-F238E27FC236}">
                <a16:creationId xmlns:a16="http://schemas.microsoft.com/office/drawing/2014/main" id="{D81BB444-6C10-AAF3-C071-39CE41A0B124}"/>
              </a:ext>
            </a:extLst>
          </p:cNvPr>
          <p:cNvCxnSpPr>
            <a:stCxn id="9" idx="3"/>
            <a:endCxn id="14" idx="1"/>
          </p:cNvCxnSpPr>
          <p:nvPr/>
        </p:nvCxnSpPr>
        <p:spPr>
          <a:xfrm>
            <a:off x="1725836" y="3073297"/>
            <a:ext cx="1873771" cy="1351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箭头: 右 47">
            <a:extLst>
              <a:ext uri="{FF2B5EF4-FFF2-40B4-BE49-F238E27FC236}">
                <a16:creationId xmlns:a16="http://schemas.microsoft.com/office/drawing/2014/main" id="{2698BEB6-DE42-9093-6E7D-BD0C7DAE0090}"/>
              </a:ext>
            </a:extLst>
          </p:cNvPr>
          <p:cNvSpPr/>
          <p:nvPr/>
        </p:nvSpPr>
        <p:spPr>
          <a:xfrm>
            <a:off x="5285188" y="3283862"/>
            <a:ext cx="2080620" cy="6567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Transformation</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9" name="文本框 48">
            <a:extLst>
              <a:ext uri="{FF2B5EF4-FFF2-40B4-BE49-F238E27FC236}">
                <a16:creationId xmlns:a16="http://schemas.microsoft.com/office/drawing/2014/main" id="{328F4DA3-88FE-9B04-2C36-7B2A26C9DB69}"/>
              </a:ext>
            </a:extLst>
          </p:cNvPr>
          <p:cNvSpPr txBox="1"/>
          <p:nvPr/>
        </p:nvSpPr>
        <p:spPr>
          <a:xfrm>
            <a:off x="8222088" y="5423997"/>
            <a:ext cx="26392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Deep collaboration </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50" name="组合 49">
            <a:extLst>
              <a:ext uri="{FF2B5EF4-FFF2-40B4-BE49-F238E27FC236}">
                <a16:creationId xmlns:a16="http://schemas.microsoft.com/office/drawing/2014/main" id="{422F3B71-E3A3-7820-5BB6-4DD0EC68C4FB}"/>
              </a:ext>
            </a:extLst>
          </p:cNvPr>
          <p:cNvGrpSpPr>
            <a:grpSpLocks noChangeAspect="1"/>
          </p:cNvGrpSpPr>
          <p:nvPr>
            <p:custDataLst>
              <p:tags r:id="rId1"/>
            </p:custDataLst>
          </p:nvPr>
        </p:nvGrpSpPr>
        <p:grpSpPr>
          <a:xfrm>
            <a:off x="1320015" y="4828642"/>
            <a:ext cx="3114582" cy="1163650"/>
            <a:chOff x="675644" y="1047414"/>
            <a:chExt cx="1733550" cy="3733860"/>
          </a:xfrm>
        </p:grpSpPr>
        <p:sp>
          <p:nvSpPr>
            <p:cNvPr id="61" name="Title-2">
              <a:extLst>
                <a:ext uri="{FF2B5EF4-FFF2-40B4-BE49-F238E27FC236}">
                  <a16:creationId xmlns:a16="http://schemas.microsoft.com/office/drawing/2014/main" id="{069C0AF7-3A29-62BC-236A-496A0A52A879}"/>
                </a:ext>
              </a:extLst>
            </p:cNvPr>
            <p:cNvSpPr/>
            <p:nvPr>
              <p:custDataLst>
                <p:tags r:id="rId2"/>
              </p:custDataLst>
            </p:nvPr>
          </p:nvSpPr>
          <p:spPr>
            <a:xfrm>
              <a:off x="675644" y="2483126"/>
              <a:ext cx="1733550" cy="774187"/>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Data issue occurred often</a:t>
              </a:r>
              <a:endPar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8" name="Title-1">
              <a:extLst>
                <a:ext uri="{FF2B5EF4-FFF2-40B4-BE49-F238E27FC236}">
                  <a16:creationId xmlns:a16="http://schemas.microsoft.com/office/drawing/2014/main" id="{D51B4FBB-6416-7174-EB76-AE18ED0D6045}"/>
                </a:ext>
              </a:extLst>
            </p:cNvPr>
            <p:cNvSpPr/>
            <p:nvPr>
              <p:custDataLst>
                <p:tags r:id="rId3"/>
              </p:custDataLst>
            </p:nvPr>
          </p:nvSpPr>
          <p:spPr>
            <a:xfrm>
              <a:off x="675644" y="1047414"/>
              <a:ext cx="1733550"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Much workload between LZ and vendors</a:t>
              </a:r>
              <a:endParaRPr kumimoji="0" lang="zh-CN" altLang="en-US" sz="11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5" name="Title-3">
              <a:extLst>
                <a:ext uri="{FF2B5EF4-FFF2-40B4-BE49-F238E27FC236}">
                  <a16:creationId xmlns:a16="http://schemas.microsoft.com/office/drawing/2014/main" id="{8F52803B-8B06-4814-4389-283947094D3C}"/>
                </a:ext>
              </a:extLst>
            </p:cNvPr>
            <p:cNvSpPr/>
            <p:nvPr>
              <p:custDataLst>
                <p:tags r:id="rId4"/>
              </p:custDataLst>
            </p:nvPr>
          </p:nvSpPr>
          <p:spPr>
            <a:xfrm>
              <a:off x="675644" y="4007087"/>
              <a:ext cx="1733550"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Could be synchronized</a:t>
              </a:r>
            </a:p>
          </p:txBody>
        </p:sp>
      </p:grpSp>
    </p:spTree>
    <p:extLst>
      <p:ext uri="{BB962C8B-B14F-4D97-AF65-F5344CB8AC3E}">
        <p14:creationId xmlns:p14="http://schemas.microsoft.com/office/powerpoint/2010/main" val="11597937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545BEE8-D0EB-42AE-C430-FBAF608A7C95}"/>
              </a:ext>
            </a:extLst>
          </p:cNvPr>
          <p:cNvSpPr>
            <a:spLocks noGrp="1"/>
          </p:cNvSpPr>
          <p:nvPr>
            <p:ph type="ctrTitle"/>
          </p:nvPr>
        </p:nvSpPr>
        <p:spPr>
          <a:xfrm>
            <a:off x="4481559" y="1492766"/>
            <a:ext cx="6749372" cy="2587173"/>
          </a:xfrm>
        </p:spPr>
        <p:txBody>
          <a:bodyPr/>
          <a:lstStyle/>
          <a:p>
            <a:r>
              <a:rPr lang="en-US" altLang="zh-CN" dirty="0">
                <a:latin typeface="Arial" panose="020B0604020202020204" pitchFamily="34" charset="0"/>
                <a:ea typeface="微软雅黑" panose="020B0503020204020204" pitchFamily="34" charset="-122"/>
              </a:rPr>
              <a:t>E2E Intelligent Solutions</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1487256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F1E3CF2-CEF9-1671-6A22-60188EB22F89}"/>
              </a:ext>
            </a:extLst>
          </p:cNvPr>
          <p:cNvSpPr>
            <a:spLocks noGrp="1"/>
          </p:cNvSpPr>
          <p:nvPr>
            <p:ph type="ctrTitle"/>
          </p:nvPr>
        </p:nvSpPr>
        <p:spPr/>
        <p:txBody>
          <a:bodyPr>
            <a:normAutofit/>
          </a:bodyPr>
          <a:lstStyle/>
          <a:p>
            <a:r>
              <a:rPr lang="en-US" altLang="zh-CN" sz="4400" dirty="0">
                <a:latin typeface="Arial" panose="020B0604020202020204" pitchFamily="34" charset="0"/>
                <a:ea typeface="微软雅黑" panose="020B0503020204020204" pitchFamily="34" charset="-122"/>
              </a:rPr>
              <a:t>High Performance</a:t>
            </a:r>
            <a:endParaRPr lang="zh-CN" altLang="en-US" sz="44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944820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08A704-5D69-95A2-EF3D-C12175AB5732}"/>
              </a:ext>
            </a:extLst>
          </p:cNvPr>
          <p:cNvSpPr>
            <a:spLocks noGrp="1"/>
          </p:cNvSpPr>
          <p:nvPr>
            <p:ph type="title"/>
          </p:nvPr>
        </p:nvSpPr>
        <p:spPr/>
        <p:txBody>
          <a:bodyPr/>
          <a:lstStyle/>
          <a:p>
            <a:r>
              <a:rPr lang="en-US" altLang="zh-CN" dirty="0">
                <a:solidFill>
                  <a:schemeClr val="bg1"/>
                </a:solidFill>
                <a:latin typeface="Arial" panose="020B0604020202020204" pitchFamily="34" charset="0"/>
                <a:ea typeface="微软雅黑" panose="020B0503020204020204" pitchFamily="34" charset="-122"/>
              </a:rPr>
              <a:t>OTP - Traditional Solution</a:t>
            </a:r>
            <a:endParaRPr lang="zh-CN" altLang="en-US" dirty="0">
              <a:solidFill>
                <a:schemeClr val="bg1"/>
              </a:solidFill>
              <a:latin typeface="Arial" panose="020B0604020202020204" pitchFamily="34" charset="0"/>
              <a:ea typeface="微软雅黑" panose="020B0503020204020204" pitchFamily="34" charset="-122"/>
            </a:endParaRPr>
          </a:p>
        </p:txBody>
      </p:sp>
      <p:sp>
        <p:nvSpPr>
          <p:cNvPr id="6" name="矩形: 圆角 5">
            <a:extLst>
              <a:ext uri="{FF2B5EF4-FFF2-40B4-BE49-F238E27FC236}">
                <a16:creationId xmlns:a16="http://schemas.microsoft.com/office/drawing/2014/main" id="{94D0A5B6-FFB7-9C59-06F9-D0C712711A02}"/>
              </a:ext>
            </a:extLst>
          </p:cNvPr>
          <p:cNvSpPr/>
          <p:nvPr/>
        </p:nvSpPr>
        <p:spPr>
          <a:xfrm>
            <a:off x="4343397" y="2655685"/>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按排序逐个处理</a:t>
            </a:r>
          </a:p>
        </p:txBody>
      </p:sp>
      <p:sp>
        <p:nvSpPr>
          <p:cNvPr id="7" name="矩形: 圆角 6">
            <a:extLst>
              <a:ext uri="{FF2B5EF4-FFF2-40B4-BE49-F238E27FC236}">
                <a16:creationId xmlns:a16="http://schemas.microsoft.com/office/drawing/2014/main" id="{B4CE1360-EFFF-FA39-E0B0-03362FF975CC}"/>
              </a:ext>
            </a:extLst>
          </p:cNvPr>
          <p:cNvSpPr/>
          <p:nvPr/>
        </p:nvSpPr>
        <p:spPr>
          <a:xfrm>
            <a:off x="4343395" y="3757713"/>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供应链网络展开</a:t>
            </a:r>
          </a:p>
        </p:txBody>
      </p:sp>
      <p:sp>
        <p:nvSpPr>
          <p:cNvPr id="8" name="矩形: 圆角 7">
            <a:extLst>
              <a:ext uri="{FF2B5EF4-FFF2-40B4-BE49-F238E27FC236}">
                <a16:creationId xmlns:a16="http://schemas.microsoft.com/office/drawing/2014/main" id="{C921C025-B38A-4D83-BCD1-30C97FD10147}"/>
              </a:ext>
            </a:extLst>
          </p:cNvPr>
          <p:cNvSpPr/>
          <p:nvPr/>
        </p:nvSpPr>
        <p:spPr>
          <a:xfrm>
            <a:off x="4343399" y="4715781"/>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供需匹配</a:t>
            </a:r>
          </a:p>
        </p:txBody>
      </p:sp>
      <p:sp>
        <p:nvSpPr>
          <p:cNvPr id="9" name="菱形 8">
            <a:extLst>
              <a:ext uri="{FF2B5EF4-FFF2-40B4-BE49-F238E27FC236}">
                <a16:creationId xmlns:a16="http://schemas.microsoft.com/office/drawing/2014/main" id="{9A19FDA7-D9E9-B852-5C5C-12C23398A002}"/>
              </a:ext>
            </a:extLst>
          </p:cNvPr>
          <p:cNvSpPr/>
          <p:nvPr/>
        </p:nvSpPr>
        <p:spPr>
          <a:xfrm>
            <a:off x="4273129" y="5812628"/>
            <a:ext cx="1482154" cy="509665"/>
          </a:xfrm>
          <a:prstGeom prst="diamond">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是否满足</a:t>
            </a:r>
          </a:p>
        </p:txBody>
      </p:sp>
      <p:cxnSp>
        <p:nvCxnSpPr>
          <p:cNvPr id="11" name="直接箭头连接符 10">
            <a:extLst>
              <a:ext uri="{FF2B5EF4-FFF2-40B4-BE49-F238E27FC236}">
                <a16:creationId xmlns:a16="http://schemas.microsoft.com/office/drawing/2014/main" id="{C34A936A-FE84-25C7-6223-799BF302E9C6}"/>
              </a:ext>
            </a:extLst>
          </p:cNvPr>
          <p:cNvCxnSpPr>
            <a:stCxn id="6" idx="2"/>
            <a:endCxn id="7" idx="0"/>
          </p:cNvCxnSpPr>
          <p:nvPr/>
        </p:nvCxnSpPr>
        <p:spPr>
          <a:xfrm flipH="1">
            <a:off x="5014205" y="3341485"/>
            <a:ext cx="2" cy="416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B1B4AC14-2D3D-510F-63BB-FDD189E95306}"/>
              </a:ext>
            </a:extLst>
          </p:cNvPr>
          <p:cNvCxnSpPr/>
          <p:nvPr/>
        </p:nvCxnSpPr>
        <p:spPr>
          <a:xfrm flipH="1">
            <a:off x="5014207" y="4221110"/>
            <a:ext cx="1" cy="485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819CD72-7FA8-49AD-29E2-273A8F26F1A2}"/>
              </a:ext>
            </a:extLst>
          </p:cNvPr>
          <p:cNvCxnSpPr>
            <a:cxnSpLocks/>
            <a:stCxn id="8" idx="2"/>
            <a:endCxn id="9" idx="0"/>
          </p:cNvCxnSpPr>
          <p:nvPr/>
        </p:nvCxnSpPr>
        <p:spPr>
          <a:xfrm flipH="1">
            <a:off x="5014206" y="5401581"/>
            <a:ext cx="3" cy="411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16BC7A15-79C4-BD05-CDCC-06A917FB6D94}"/>
              </a:ext>
            </a:extLst>
          </p:cNvPr>
          <p:cNvCxnSpPr>
            <a:cxnSpLocks/>
            <a:stCxn id="9" idx="1"/>
            <a:endCxn id="7" idx="1"/>
          </p:cNvCxnSpPr>
          <p:nvPr/>
        </p:nvCxnSpPr>
        <p:spPr>
          <a:xfrm rot="10800000" flipH="1">
            <a:off x="4273129" y="4100613"/>
            <a:ext cx="70266" cy="1966848"/>
          </a:xfrm>
          <a:prstGeom prst="bentConnector3">
            <a:avLst>
              <a:gd name="adj1" fmla="val -325335"/>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EDB59114-0CCA-9423-BBD2-510AF72910CF}"/>
              </a:ext>
            </a:extLst>
          </p:cNvPr>
          <p:cNvSpPr txBox="1"/>
          <p:nvPr/>
        </p:nvSpPr>
        <p:spPr>
          <a:xfrm>
            <a:off x="3602317" y="4890443"/>
            <a:ext cx="757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N</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22" name="连接符: 肘形 21">
            <a:extLst>
              <a:ext uri="{FF2B5EF4-FFF2-40B4-BE49-F238E27FC236}">
                <a16:creationId xmlns:a16="http://schemas.microsoft.com/office/drawing/2014/main" id="{B3D7E857-542E-3419-B786-F279BDDAD099}"/>
              </a:ext>
            </a:extLst>
          </p:cNvPr>
          <p:cNvCxnSpPr>
            <a:cxnSpLocks/>
            <a:stCxn id="9" idx="2"/>
            <a:endCxn id="6" idx="1"/>
          </p:cNvCxnSpPr>
          <p:nvPr/>
        </p:nvCxnSpPr>
        <p:spPr>
          <a:xfrm rot="5400000" flipH="1">
            <a:off x="3016948" y="4325035"/>
            <a:ext cx="3323708" cy="670809"/>
          </a:xfrm>
          <a:prstGeom prst="bentConnector4">
            <a:avLst>
              <a:gd name="adj1" fmla="val -6878"/>
              <a:gd name="adj2" fmla="val 14455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C462BA57-84A5-1641-B0F6-B9A2868B2CE6}"/>
              </a:ext>
            </a:extLst>
          </p:cNvPr>
          <p:cNvSpPr/>
          <p:nvPr/>
        </p:nvSpPr>
        <p:spPr>
          <a:xfrm>
            <a:off x="4343395" y="1687057"/>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需求排序</a:t>
            </a:r>
          </a:p>
        </p:txBody>
      </p:sp>
      <p:sp>
        <p:nvSpPr>
          <p:cNvPr id="32" name="文本框 31">
            <a:extLst>
              <a:ext uri="{FF2B5EF4-FFF2-40B4-BE49-F238E27FC236}">
                <a16:creationId xmlns:a16="http://schemas.microsoft.com/office/drawing/2014/main" id="{7F433C7B-88CD-039B-E615-932C76221F30}"/>
              </a:ext>
            </a:extLst>
          </p:cNvPr>
          <p:cNvSpPr txBox="1"/>
          <p:nvPr/>
        </p:nvSpPr>
        <p:spPr>
          <a:xfrm>
            <a:off x="3602319" y="3658701"/>
            <a:ext cx="757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Y</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3" name="直接箭头连接符 32">
            <a:extLst>
              <a:ext uri="{FF2B5EF4-FFF2-40B4-BE49-F238E27FC236}">
                <a16:creationId xmlns:a16="http://schemas.microsoft.com/office/drawing/2014/main" id="{A4DFEE7F-3FB9-2CE6-6971-5FFB86AE2F45}"/>
              </a:ext>
            </a:extLst>
          </p:cNvPr>
          <p:cNvCxnSpPr>
            <a:cxnSpLocks/>
            <a:stCxn id="28" idx="2"/>
            <a:endCxn id="6" idx="0"/>
          </p:cNvCxnSpPr>
          <p:nvPr/>
        </p:nvCxnSpPr>
        <p:spPr>
          <a:xfrm>
            <a:off x="5014205" y="2372857"/>
            <a:ext cx="2" cy="282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2514780-4181-0F6A-6D7F-6D50CEA84B20}"/>
              </a:ext>
            </a:extLst>
          </p:cNvPr>
          <p:cNvCxnSpPr>
            <a:cxnSpLocks/>
          </p:cNvCxnSpPr>
          <p:nvPr/>
        </p:nvCxnSpPr>
        <p:spPr>
          <a:xfrm>
            <a:off x="59961" y="3534955"/>
            <a:ext cx="12132039"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C0BD0FD3-399E-2EB5-60A7-D6C07AFC1B9C}"/>
              </a:ext>
            </a:extLst>
          </p:cNvPr>
          <p:cNvSpPr txBox="1"/>
          <p:nvPr/>
        </p:nvSpPr>
        <p:spPr>
          <a:xfrm>
            <a:off x="6438274" y="2188191"/>
            <a:ext cx="39723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运算性能跟需求笔数</a:t>
            </a:r>
            <a:r>
              <a:rPr kumimoji="0" lang="en-US" altLang="zh-CN"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/Item</a:t>
            </a:r>
            <a:r>
              <a:rPr kumimoji="0" lang="zh-CN" altLang="en-US"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数正相关</a:t>
            </a:r>
          </a:p>
        </p:txBody>
      </p:sp>
      <p:sp>
        <p:nvSpPr>
          <p:cNvPr id="48" name="文本框 47">
            <a:extLst>
              <a:ext uri="{FF2B5EF4-FFF2-40B4-BE49-F238E27FC236}">
                <a16:creationId xmlns:a16="http://schemas.microsoft.com/office/drawing/2014/main" id="{A66FBB72-51F1-C31E-B514-20BD70A2E88B}"/>
              </a:ext>
            </a:extLst>
          </p:cNvPr>
          <p:cNvSpPr txBox="1"/>
          <p:nvPr/>
        </p:nvSpPr>
        <p:spPr>
          <a:xfrm>
            <a:off x="6438274" y="4521111"/>
            <a:ext cx="39723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运算性能跟</a:t>
            </a:r>
            <a:r>
              <a:rPr kumimoji="0" lang="en-US" altLang="zh-CN"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BOM</a:t>
            </a:r>
            <a:r>
              <a:rPr kumimoji="0" lang="zh-CN" altLang="en-US" sz="1800" b="1" i="0" u="none" strike="noStrike" kern="1200" cap="none" spc="0" normalizeH="0" baseline="0" noProof="0" dirty="0">
                <a:ln>
                  <a:noFill/>
                </a:ln>
                <a:solidFill>
                  <a:srgbClr val="4674C1">
                    <a:lumMod val="60000"/>
                    <a:lumOff val="40000"/>
                  </a:srgbClr>
                </a:solidFill>
                <a:effectLst/>
                <a:uLnTx/>
                <a:uFillTx/>
                <a:latin typeface="Arial" panose="020B0604020202020204" pitchFamily="34" charset="0"/>
                <a:ea typeface="微软雅黑" panose="020B0503020204020204" pitchFamily="34" charset="-122"/>
                <a:cs typeface="+mn-cs"/>
              </a:rPr>
              <a:t>层级正相关</a:t>
            </a:r>
          </a:p>
        </p:txBody>
      </p:sp>
      <p:sp>
        <p:nvSpPr>
          <p:cNvPr id="49" name="任意多边形: 形状 48">
            <a:extLst>
              <a:ext uri="{FF2B5EF4-FFF2-40B4-BE49-F238E27FC236}">
                <a16:creationId xmlns:a16="http://schemas.microsoft.com/office/drawing/2014/main" id="{E190F075-4982-D93D-4468-6C589E94A79E}"/>
              </a:ext>
            </a:extLst>
          </p:cNvPr>
          <p:cNvSpPr/>
          <p:nvPr/>
        </p:nvSpPr>
        <p:spPr>
          <a:xfrm>
            <a:off x="9567473" y="5878324"/>
            <a:ext cx="808379" cy="721220"/>
          </a:xfrm>
          <a:custGeom>
            <a:avLst/>
            <a:gdLst>
              <a:gd name="T0" fmla="*/ 8327 w 8903"/>
              <a:gd name="T1" fmla="*/ 5437 h 9984"/>
              <a:gd name="T2" fmla="*/ 7677 w 8903"/>
              <a:gd name="T3" fmla="*/ 4670 h 9984"/>
              <a:gd name="T4" fmla="*/ 7694 w 8903"/>
              <a:gd name="T5" fmla="*/ 3413 h 9984"/>
              <a:gd name="T6" fmla="*/ 7473 w 8903"/>
              <a:gd name="T7" fmla="*/ 2330 h 9984"/>
              <a:gd name="T8" fmla="*/ 6505 w 8903"/>
              <a:gd name="T9" fmla="*/ 1028 h 9984"/>
              <a:gd name="T10" fmla="*/ 3807 w 8903"/>
              <a:gd name="T11" fmla="*/ 0 h 9984"/>
              <a:gd name="T12" fmla="*/ 0 w 8903"/>
              <a:gd name="T13" fmla="*/ 3482 h 9984"/>
              <a:gd name="T14" fmla="*/ 24 w 8903"/>
              <a:gd name="T15" fmla="*/ 3862 h 9984"/>
              <a:gd name="T16" fmla="*/ 1050 w 8903"/>
              <a:gd name="T17" fmla="*/ 6807 h 9984"/>
              <a:gd name="T18" fmla="*/ 0 w 8903"/>
              <a:gd name="T19" fmla="*/ 9977 h 9984"/>
              <a:gd name="T20" fmla="*/ 4618 w 8903"/>
              <a:gd name="T21" fmla="*/ 9984 h 9984"/>
              <a:gd name="T22" fmla="*/ 5528 w 8903"/>
              <a:gd name="T23" fmla="*/ 8608 h 9984"/>
              <a:gd name="T24" fmla="*/ 6963 w 8903"/>
              <a:gd name="T25" fmla="*/ 8617 h 9984"/>
              <a:gd name="T26" fmla="*/ 7189 w 8903"/>
              <a:gd name="T27" fmla="*/ 8599 h 9984"/>
              <a:gd name="T28" fmla="*/ 7198 w 8903"/>
              <a:gd name="T29" fmla="*/ 8598 h 9984"/>
              <a:gd name="T30" fmla="*/ 7198 w 8903"/>
              <a:gd name="T31" fmla="*/ 8594 h 9984"/>
              <a:gd name="T32" fmla="*/ 7298 w 8903"/>
              <a:gd name="T33" fmla="*/ 7675 h 9984"/>
              <a:gd name="T34" fmla="*/ 7603 w 8903"/>
              <a:gd name="T35" fmla="*/ 7365 h 9984"/>
              <a:gd name="T36" fmla="*/ 7603 w 8903"/>
              <a:gd name="T37" fmla="*/ 7344 h 9984"/>
              <a:gd name="T38" fmla="*/ 7158 w 8903"/>
              <a:gd name="T39" fmla="*/ 7080 h 9984"/>
              <a:gd name="T40" fmla="*/ 7278 w 8903"/>
              <a:gd name="T41" fmla="*/ 7080 h 9984"/>
              <a:gd name="T42" fmla="*/ 7633 w 8903"/>
              <a:gd name="T43" fmla="*/ 6843 h 9984"/>
              <a:gd name="T44" fmla="*/ 7633 w 8903"/>
              <a:gd name="T45" fmla="*/ 6825 h 9984"/>
              <a:gd name="T46" fmla="*/ 7598 w 8903"/>
              <a:gd name="T47" fmla="*/ 6724 h 9984"/>
              <a:gd name="T48" fmla="*/ 7803 w 8903"/>
              <a:gd name="T49" fmla="*/ 5887 h 9984"/>
              <a:gd name="T50" fmla="*/ 8327 w 8903"/>
              <a:gd name="T51" fmla="*/ 5437 h 9984"/>
              <a:gd name="T52" fmla="*/ 8327 w 8903"/>
              <a:gd name="T53" fmla="*/ 5437 h 9984"/>
              <a:gd name="T54" fmla="*/ 4452 w 8903"/>
              <a:gd name="T55" fmla="*/ 2668 h 9984"/>
              <a:gd name="T56" fmla="*/ 3917 w 8903"/>
              <a:gd name="T57" fmla="*/ 2977 h 9984"/>
              <a:gd name="T58" fmla="*/ 4024 w 8903"/>
              <a:gd name="T59" fmla="*/ 3438 h 9984"/>
              <a:gd name="T60" fmla="*/ 3843 w 8903"/>
              <a:gd name="T61" fmla="*/ 4035 h 9984"/>
              <a:gd name="T62" fmla="*/ 4847 w 8903"/>
              <a:gd name="T63" fmla="*/ 4615 h 9984"/>
              <a:gd name="T64" fmla="*/ 5098 w 8903"/>
              <a:gd name="T65" fmla="*/ 4511 h 9984"/>
              <a:gd name="T66" fmla="*/ 5455 w 8903"/>
              <a:gd name="T67" fmla="*/ 4869 h 9984"/>
              <a:gd name="T68" fmla="*/ 5098 w 8903"/>
              <a:gd name="T69" fmla="*/ 5226 h 9984"/>
              <a:gd name="T70" fmla="*/ 4740 w 8903"/>
              <a:gd name="T71" fmla="*/ 4869 h 9984"/>
              <a:gd name="T72" fmla="*/ 4760 w 8903"/>
              <a:gd name="T73" fmla="*/ 4770 h 9984"/>
              <a:gd name="T74" fmla="*/ 3728 w 8903"/>
              <a:gd name="T75" fmla="*/ 4174 h 9984"/>
              <a:gd name="T76" fmla="*/ 2950 w 8903"/>
              <a:gd name="T77" fmla="*/ 4510 h 9984"/>
              <a:gd name="T78" fmla="*/ 1877 w 8903"/>
              <a:gd name="T79" fmla="*/ 3437 h 9984"/>
              <a:gd name="T80" fmla="*/ 2950 w 8903"/>
              <a:gd name="T81" fmla="*/ 2363 h 9984"/>
              <a:gd name="T82" fmla="*/ 3828 w 8903"/>
              <a:gd name="T83" fmla="*/ 2820 h 9984"/>
              <a:gd name="T84" fmla="*/ 4395 w 8903"/>
              <a:gd name="T85" fmla="*/ 2493 h 9984"/>
              <a:gd name="T86" fmla="*/ 4382 w 8903"/>
              <a:gd name="T87" fmla="*/ 2363 h 9984"/>
              <a:gd name="T88" fmla="*/ 5098 w 8903"/>
              <a:gd name="T89" fmla="*/ 1647 h 9984"/>
              <a:gd name="T90" fmla="*/ 5814 w 8903"/>
              <a:gd name="T91" fmla="*/ 2363 h 9984"/>
              <a:gd name="T92" fmla="*/ 5098 w 8903"/>
              <a:gd name="T93" fmla="*/ 3079 h 9984"/>
              <a:gd name="T94" fmla="*/ 4452 w 8903"/>
              <a:gd name="T95" fmla="*/ 2668 h 9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903" h="9984">
                <a:moveTo>
                  <a:pt x="8327" y="5437"/>
                </a:moveTo>
                <a:cubicBezTo>
                  <a:pt x="8120" y="5205"/>
                  <a:pt x="7800" y="4960"/>
                  <a:pt x="7677" y="4670"/>
                </a:cubicBezTo>
                <a:cubicBezTo>
                  <a:pt x="7499" y="4255"/>
                  <a:pt x="7700" y="3839"/>
                  <a:pt x="7694" y="3413"/>
                </a:cubicBezTo>
                <a:cubicBezTo>
                  <a:pt x="7689" y="3072"/>
                  <a:pt x="7589" y="2647"/>
                  <a:pt x="7473" y="2330"/>
                </a:cubicBezTo>
                <a:cubicBezTo>
                  <a:pt x="7276" y="1797"/>
                  <a:pt x="6930" y="1363"/>
                  <a:pt x="6505" y="1028"/>
                </a:cubicBezTo>
                <a:cubicBezTo>
                  <a:pt x="5816" y="393"/>
                  <a:pt x="4861" y="0"/>
                  <a:pt x="3807" y="0"/>
                </a:cubicBezTo>
                <a:cubicBezTo>
                  <a:pt x="1704" y="0"/>
                  <a:pt x="0" y="1559"/>
                  <a:pt x="0" y="3482"/>
                </a:cubicBezTo>
                <a:cubicBezTo>
                  <a:pt x="0" y="3610"/>
                  <a:pt x="9" y="3737"/>
                  <a:pt x="24" y="3862"/>
                </a:cubicBezTo>
                <a:cubicBezTo>
                  <a:pt x="38" y="4695"/>
                  <a:pt x="299" y="5692"/>
                  <a:pt x="1050" y="6807"/>
                </a:cubicBezTo>
                <a:cubicBezTo>
                  <a:pt x="1050" y="6807"/>
                  <a:pt x="2099" y="8897"/>
                  <a:pt x="0" y="9977"/>
                </a:cubicBezTo>
                <a:lnTo>
                  <a:pt x="4618" y="9984"/>
                </a:lnTo>
                <a:cubicBezTo>
                  <a:pt x="4618" y="9984"/>
                  <a:pt x="4968" y="8608"/>
                  <a:pt x="5528" y="8608"/>
                </a:cubicBezTo>
                <a:cubicBezTo>
                  <a:pt x="6001" y="8608"/>
                  <a:pt x="6487" y="8643"/>
                  <a:pt x="6963" y="8617"/>
                </a:cubicBezTo>
                <a:cubicBezTo>
                  <a:pt x="7056" y="8633"/>
                  <a:pt x="7131" y="8625"/>
                  <a:pt x="7189" y="8599"/>
                </a:cubicBezTo>
                <a:cubicBezTo>
                  <a:pt x="7192" y="8599"/>
                  <a:pt x="7195" y="8598"/>
                  <a:pt x="7198" y="8598"/>
                </a:cubicBezTo>
                <a:lnTo>
                  <a:pt x="7198" y="8594"/>
                </a:lnTo>
                <a:cubicBezTo>
                  <a:pt x="7524" y="8432"/>
                  <a:pt x="7298" y="7675"/>
                  <a:pt x="7298" y="7675"/>
                </a:cubicBezTo>
                <a:cubicBezTo>
                  <a:pt x="7482" y="7597"/>
                  <a:pt x="7603" y="7464"/>
                  <a:pt x="7603" y="7365"/>
                </a:cubicBezTo>
                <a:lnTo>
                  <a:pt x="7603" y="7344"/>
                </a:lnTo>
                <a:cubicBezTo>
                  <a:pt x="7603" y="7220"/>
                  <a:pt x="7417" y="7117"/>
                  <a:pt x="7158" y="7080"/>
                </a:cubicBezTo>
                <a:lnTo>
                  <a:pt x="7278" y="7080"/>
                </a:lnTo>
                <a:cubicBezTo>
                  <a:pt x="7473" y="7080"/>
                  <a:pt x="7633" y="6974"/>
                  <a:pt x="7633" y="6843"/>
                </a:cubicBezTo>
                <a:lnTo>
                  <a:pt x="7633" y="6825"/>
                </a:lnTo>
                <a:cubicBezTo>
                  <a:pt x="7633" y="6789"/>
                  <a:pt x="7620" y="6755"/>
                  <a:pt x="7598" y="6724"/>
                </a:cubicBezTo>
                <a:cubicBezTo>
                  <a:pt x="7633" y="6568"/>
                  <a:pt x="7771" y="5888"/>
                  <a:pt x="7803" y="5887"/>
                </a:cubicBezTo>
                <a:cubicBezTo>
                  <a:pt x="8903" y="5834"/>
                  <a:pt x="8326" y="5437"/>
                  <a:pt x="8327" y="5437"/>
                </a:cubicBezTo>
                <a:close/>
                <a:moveTo>
                  <a:pt x="8327" y="5437"/>
                </a:moveTo>
                <a:close/>
                <a:moveTo>
                  <a:pt x="4452" y="2668"/>
                </a:moveTo>
                <a:lnTo>
                  <a:pt x="3917" y="2977"/>
                </a:lnTo>
                <a:cubicBezTo>
                  <a:pt x="3984" y="3117"/>
                  <a:pt x="4024" y="3272"/>
                  <a:pt x="4024" y="3438"/>
                </a:cubicBezTo>
                <a:cubicBezTo>
                  <a:pt x="4024" y="3659"/>
                  <a:pt x="3957" y="3864"/>
                  <a:pt x="3843" y="4035"/>
                </a:cubicBezTo>
                <a:lnTo>
                  <a:pt x="4847" y="4615"/>
                </a:lnTo>
                <a:cubicBezTo>
                  <a:pt x="4912" y="4551"/>
                  <a:pt x="4999" y="4511"/>
                  <a:pt x="5098" y="4511"/>
                </a:cubicBezTo>
                <a:cubicBezTo>
                  <a:pt x="5295" y="4511"/>
                  <a:pt x="5455" y="4671"/>
                  <a:pt x="5455" y="4869"/>
                </a:cubicBezTo>
                <a:cubicBezTo>
                  <a:pt x="5455" y="5067"/>
                  <a:pt x="5295" y="5226"/>
                  <a:pt x="5098" y="5226"/>
                </a:cubicBezTo>
                <a:cubicBezTo>
                  <a:pt x="4900" y="5226"/>
                  <a:pt x="4740" y="5067"/>
                  <a:pt x="4740" y="4869"/>
                </a:cubicBezTo>
                <a:cubicBezTo>
                  <a:pt x="4740" y="4834"/>
                  <a:pt x="4750" y="4803"/>
                  <a:pt x="4760" y="4770"/>
                </a:cubicBezTo>
                <a:lnTo>
                  <a:pt x="3728" y="4174"/>
                </a:lnTo>
                <a:cubicBezTo>
                  <a:pt x="3532" y="4380"/>
                  <a:pt x="3258" y="4510"/>
                  <a:pt x="2950" y="4510"/>
                </a:cubicBezTo>
                <a:cubicBezTo>
                  <a:pt x="2358" y="4510"/>
                  <a:pt x="1877" y="4029"/>
                  <a:pt x="1877" y="3437"/>
                </a:cubicBezTo>
                <a:cubicBezTo>
                  <a:pt x="1877" y="2844"/>
                  <a:pt x="2358" y="2363"/>
                  <a:pt x="2950" y="2363"/>
                </a:cubicBezTo>
                <a:cubicBezTo>
                  <a:pt x="3314" y="2363"/>
                  <a:pt x="3633" y="2544"/>
                  <a:pt x="3828" y="2820"/>
                </a:cubicBezTo>
                <a:lnTo>
                  <a:pt x="4395" y="2493"/>
                </a:lnTo>
                <a:cubicBezTo>
                  <a:pt x="4388" y="2450"/>
                  <a:pt x="4382" y="2408"/>
                  <a:pt x="4382" y="2363"/>
                </a:cubicBezTo>
                <a:cubicBezTo>
                  <a:pt x="4382" y="1968"/>
                  <a:pt x="4702" y="1647"/>
                  <a:pt x="5098" y="1647"/>
                </a:cubicBezTo>
                <a:cubicBezTo>
                  <a:pt x="5493" y="1647"/>
                  <a:pt x="5814" y="1967"/>
                  <a:pt x="5814" y="2363"/>
                </a:cubicBezTo>
                <a:cubicBezTo>
                  <a:pt x="5814" y="2758"/>
                  <a:pt x="5494" y="3079"/>
                  <a:pt x="5098" y="3079"/>
                </a:cubicBezTo>
                <a:cubicBezTo>
                  <a:pt x="4811" y="3079"/>
                  <a:pt x="4566" y="2910"/>
                  <a:pt x="4452" y="2668"/>
                </a:cubicBez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51" name="思想气泡: 云 50">
            <a:extLst>
              <a:ext uri="{FF2B5EF4-FFF2-40B4-BE49-F238E27FC236}">
                <a16:creationId xmlns:a16="http://schemas.microsoft.com/office/drawing/2014/main" id="{B403ACB8-FB43-A22C-C31E-9F7BA9D50CBE}"/>
              </a:ext>
            </a:extLst>
          </p:cNvPr>
          <p:cNvSpPr/>
          <p:nvPr/>
        </p:nvSpPr>
        <p:spPr>
          <a:xfrm>
            <a:off x="9623688" y="4212067"/>
            <a:ext cx="2450890" cy="1396629"/>
          </a:xfrm>
          <a:prstGeom prst="cloudCallout">
            <a:avLst>
              <a:gd name="adj1" fmla="val -37652"/>
              <a:gd name="adj2" fmla="val 64110"/>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多年的掣肘是否能有所突破？</a:t>
            </a:r>
          </a:p>
        </p:txBody>
      </p:sp>
      <p:sp>
        <p:nvSpPr>
          <p:cNvPr id="52" name="平行四边形 51">
            <a:extLst>
              <a:ext uri="{FF2B5EF4-FFF2-40B4-BE49-F238E27FC236}">
                <a16:creationId xmlns:a16="http://schemas.microsoft.com/office/drawing/2014/main" id="{722D5B7A-81A3-05C1-56B6-89339A4626CC}"/>
              </a:ext>
            </a:extLst>
          </p:cNvPr>
          <p:cNvSpPr/>
          <p:nvPr/>
        </p:nvSpPr>
        <p:spPr>
          <a:xfrm>
            <a:off x="4343395" y="881069"/>
            <a:ext cx="1341619"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独立需求</a:t>
            </a:r>
          </a:p>
        </p:txBody>
      </p:sp>
      <p:cxnSp>
        <p:nvCxnSpPr>
          <p:cNvPr id="53" name="直接箭头连接符 52">
            <a:extLst>
              <a:ext uri="{FF2B5EF4-FFF2-40B4-BE49-F238E27FC236}">
                <a16:creationId xmlns:a16="http://schemas.microsoft.com/office/drawing/2014/main" id="{9A6BABAF-BE6D-35BD-CF7B-386D6D2F0C35}"/>
              </a:ext>
            </a:extLst>
          </p:cNvPr>
          <p:cNvCxnSpPr>
            <a:cxnSpLocks/>
          </p:cNvCxnSpPr>
          <p:nvPr/>
        </p:nvCxnSpPr>
        <p:spPr>
          <a:xfrm>
            <a:off x="5014203" y="1375935"/>
            <a:ext cx="1" cy="303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56929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21" grpId="0"/>
      <p:bldP spid="28" grpId="0" animBg="1"/>
      <p:bldP spid="32" grpId="0"/>
      <p:bldP spid="47" grpId="0"/>
      <p:bldP spid="48" grpId="0"/>
      <p:bldP spid="49" grpId="0" animBg="1"/>
      <p:bldP spid="51" grpId="0" animBg="1"/>
      <p:bldP spid="5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462A76-3800-827B-1D74-706AF8539DD3}"/>
              </a:ext>
            </a:extLst>
          </p:cNvPr>
          <p:cNvSpPr>
            <a:spLocks noGrp="1"/>
          </p:cNvSpPr>
          <p:nvPr>
            <p:ph type="title"/>
          </p:nvPr>
        </p:nvSpPr>
        <p:spPr/>
        <p:txBody>
          <a:bodyPr/>
          <a:lstStyle/>
          <a:p>
            <a:r>
              <a:rPr lang="en-US" altLang="zh-CN" dirty="0">
                <a:solidFill>
                  <a:schemeClr val="bg1"/>
                </a:solidFill>
                <a:latin typeface="Arial" panose="020B0604020202020204" pitchFamily="34" charset="0"/>
                <a:ea typeface="微软雅黑" panose="020B0503020204020204" pitchFamily="34" charset="-122"/>
              </a:rPr>
              <a:t>OTP - Disruptive Solutions</a:t>
            </a:r>
            <a:endParaRPr lang="zh-CN" altLang="en-US" dirty="0">
              <a:solidFill>
                <a:schemeClr val="bg1"/>
              </a:solidFill>
              <a:latin typeface="Arial" panose="020B0604020202020204" pitchFamily="34" charset="0"/>
              <a:ea typeface="微软雅黑" panose="020B0503020204020204" pitchFamily="34" charset="-122"/>
            </a:endParaRPr>
          </a:p>
        </p:txBody>
      </p:sp>
      <p:cxnSp>
        <p:nvCxnSpPr>
          <p:cNvPr id="12" name="连接符: 肘形 11">
            <a:extLst>
              <a:ext uri="{FF2B5EF4-FFF2-40B4-BE49-F238E27FC236}">
                <a16:creationId xmlns:a16="http://schemas.microsoft.com/office/drawing/2014/main" id="{36E8EE95-6FEB-F0D4-18C4-17155CD960B2}"/>
              </a:ext>
            </a:extLst>
          </p:cNvPr>
          <p:cNvCxnSpPr>
            <a:cxnSpLocks/>
            <a:stCxn id="4" idx="1"/>
            <a:endCxn id="3" idx="1"/>
          </p:cNvCxnSpPr>
          <p:nvPr/>
        </p:nvCxnSpPr>
        <p:spPr>
          <a:xfrm rot="10800000">
            <a:off x="2710824" y="4254778"/>
            <a:ext cx="6931" cy="1332429"/>
          </a:xfrm>
          <a:prstGeom prst="bentConnector3">
            <a:avLst>
              <a:gd name="adj1" fmla="val 912956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9C94547-435B-C8B3-5EA3-EDBEA0E3D7D8}"/>
              </a:ext>
            </a:extLst>
          </p:cNvPr>
          <p:cNvGrpSpPr/>
          <p:nvPr/>
        </p:nvGrpSpPr>
        <p:grpSpPr>
          <a:xfrm>
            <a:off x="4052443" y="2879747"/>
            <a:ext cx="2496496" cy="1031741"/>
            <a:chOff x="4782426" y="1978155"/>
            <a:chExt cx="2496496" cy="1031741"/>
          </a:xfrm>
        </p:grpSpPr>
        <p:sp>
          <p:nvSpPr>
            <p:cNvPr id="16" name="矩形: 圆角 15">
              <a:extLst>
                <a:ext uri="{FF2B5EF4-FFF2-40B4-BE49-F238E27FC236}">
                  <a16:creationId xmlns:a16="http://schemas.microsoft.com/office/drawing/2014/main" id="{D79E2000-84E8-E18A-2DFB-B8760105A387}"/>
                </a:ext>
              </a:extLst>
            </p:cNvPr>
            <p:cNvSpPr/>
            <p:nvPr/>
          </p:nvSpPr>
          <p:spPr>
            <a:xfrm>
              <a:off x="5756480" y="2474261"/>
              <a:ext cx="1522442" cy="535635"/>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智能并行规划</a:t>
              </a:r>
            </a:p>
          </p:txBody>
        </p:sp>
        <p:cxnSp>
          <p:nvCxnSpPr>
            <p:cNvPr id="18" name="连接符: 肘形 17">
              <a:extLst>
                <a:ext uri="{FF2B5EF4-FFF2-40B4-BE49-F238E27FC236}">
                  <a16:creationId xmlns:a16="http://schemas.microsoft.com/office/drawing/2014/main" id="{6239A0F2-C7D9-CF6E-C7D9-0584C168F500}"/>
                </a:ext>
              </a:extLst>
            </p:cNvPr>
            <p:cNvCxnSpPr>
              <a:cxnSpLocks/>
              <a:stCxn id="13" idx="3"/>
              <a:endCxn id="16" idx="0"/>
            </p:cNvCxnSpPr>
            <p:nvPr/>
          </p:nvCxnSpPr>
          <p:spPr>
            <a:xfrm>
              <a:off x="4782426" y="1978155"/>
              <a:ext cx="1735275" cy="49610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2CAD3A34-508D-CB76-61E8-A60FC872A75D}"/>
              </a:ext>
            </a:extLst>
          </p:cNvPr>
          <p:cNvGrpSpPr/>
          <p:nvPr/>
        </p:nvGrpSpPr>
        <p:grpSpPr>
          <a:xfrm>
            <a:off x="2710823" y="3911487"/>
            <a:ext cx="3076896" cy="686190"/>
            <a:chOff x="3440806" y="3009895"/>
            <a:chExt cx="3076896" cy="686190"/>
          </a:xfrm>
        </p:grpSpPr>
        <p:sp>
          <p:nvSpPr>
            <p:cNvPr id="3" name="矩形: 圆角 2">
              <a:extLst>
                <a:ext uri="{FF2B5EF4-FFF2-40B4-BE49-F238E27FC236}">
                  <a16:creationId xmlns:a16="http://schemas.microsoft.com/office/drawing/2014/main" id="{BF9155F4-BBD8-F2A0-43AD-4ECD3E98FDBB}"/>
                </a:ext>
              </a:extLst>
            </p:cNvPr>
            <p:cNvSpPr/>
            <p:nvPr/>
          </p:nvSpPr>
          <p:spPr>
            <a:xfrm>
              <a:off x="3440806" y="3010285"/>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同级并行</a:t>
              </a:r>
              <a:endPar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逐级处理</a:t>
              </a:r>
            </a:p>
          </p:txBody>
        </p:sp>
        <p:cxnSp>
          <p:nvCxnSpPr>
            <p:cNvPr id="20" name="连接符: 肘形 19">
              <a:extLst>
                <a:ext uri="{FF2B5EF4-FFF2-40B4-BE49-F238E27FC236}">
                  <a16:creationId xmlns:a16="http://schemas.microsoft.com/office/drawing/2014/main" id="{F0FE0C0C-25BC-2A27-DAAF-C746BE05844C}"/>
                </a:ext>
              </a:extLst>
            </p:cNvPr>
            <p:cNvCxnSpPr>
              <a:cxnSpLocks/>
              <a:stCxn id="16" idx="2"/>
              <a:endCxn id="3" idx="3"/>
            </p:cNvCxnSpPr>
            <p:nvPr/>
          </p:nvCxnSpPr>
          <p:spPr>
            <a:xfrm rot="5400000">
              <a:off x="5478419" y="2313902"/>
              <a:ext cx="343289" cy="1735276"/>
            </a:xfrm>
            <a:prstGeom prst="bentConnector2">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平行四边形 42">
            <a:extLst>
              <a:ext uri="{FF2B5EF4-FFF2-40B4-BE49-F238E27FC236}">
                <a16:creationId xmlns:a16="http://schemas.microsoft.com/office/drawing/2014/main" id="{D0971167-4DCE-0D48-7FFF-8E4946BC3755}"/>
              </a:ext>
            </a:extLst>
          </p:cNvPr>
          <p:cNvSpPr/>
          <p:nvPr/>
        </p:nvSpPr>
        <p:spPr>
          <a:xfrm>
            <a:off x="2710824" y="1696252"/>
            <a:ext cx="1341619"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独立需求</a:t>
            </a:r>
          </a:p>
        </p:txBody>
      </p:sp>
      <p:grpSp>
        <p:nvGrpSpPr>
          <p:cNvPr id="49" name="组合 48">
            <a:extLst>
              <a:ext uri="{FF2B5EF4-FFF2-40B4-BE49-F238E27FC236}">
                <a16:creationId xmlns:a16="http://schemas.microsoft.com/office/drawing/2014/main" id="{1EA5D96A-1104-EAD8-A6E2-C8812423B5A0}"/>
              </a:ext>
            </a:extLst>
          </p:cNvPr>
          <p:cNvGrpSpPr/>
          <p:nvPr/>
        </p:nvGrpSpPr>
        <p:grpSpPr>
          <a:xfrm>
            <a:off x="2710824" y="1939665"/>
            <a:ext cx="6042932" cy="1282982"/>
            <a:chOff x="3373949" y="1413398"/>
            <a:chExt cx="6042932" cy="1282982"/>
          </a:xfrm>
        </p:grpSpPr>
        <p:sp>
          <p:nvSpPr>
            <p:cNvPr id="13" name="矩形: 圆角 12">
              <a:extLst>
                <a:ext uri="{FF2B5EF4-FFF2-40B4-BE49-F238E27FC236}">
                  <a16:creationId xmlns:a16="http://schemas.microsoft.com/office/drawing/2014/main" id="{A70C869C-E0CA-EC88-44CE-E019B25AC912}"/>
                </a:ext>
              </a:extLst>
            </p:cNvPr>
            <p:cNvSpPr/>
            <p:nvPr/>
          </p:nvSpPr>
          <p:spPr>
            <a:xfrm>
              <a:off x="3373949" y="2010580"/>
              <a:ext cx="1341619" cy="685800"/>
            </a:xfrm>
            <a:prstGeom prst="roundRect">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需求排序</a:t>
              </a:r>
            </a:p>
          </p:txBody>
        </p:sp>
        <p:sp>
          <p:nvSpPr>
            <p:cNvPr id="25" name="矩形: 圆角 24">
              <a:extLst>
                <a:ext uri="{FF2B5EF4-FFF2-40B4-BE49-F238E27FC236}">
                  <a16:creationId xmlns:a16="http://schemas.microsoft.com/office/drawing/2014/main" id="{65547A51-1293-2FEB-5182-FD5222D07192}"/>
                </a:ext>
              </a:extLst>
            </p:cNvPr>
            <p:cNvSpPr/>
            <p:nvPr/>
          </p:nvSpPr>
          <p:spPr>
            <a:xfrm>
              <a:off x="7476434" y="2055007"/>
              <a:ext cx="1940447" cy="535635"/>
            </a:xfrm>
            <a:prstGeom prst="roundRect">
              <a:avLst/>
            </a:prstGeom>
            <a:solidFill>
              <a:schemeClr val="accent1">
                <a:lumMod val="60000"/>
                <a:lumOff val="4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并行智能生成供应链网络</a:t>
              </a:r>
            </a:p>
          </p:txBody>
        </p:sp>
        <p:cxnSp>
          <p:nvCxnSpPr>
            <p:cNvPr id="45" name="连接符: 肘形 44">
              <a:extLst>
                <a:ext uri="{FF2B5EF4-FFF2-40B4-BE49-F238E27FC236}">
                  <a16:creationId xmlns:a16="http://schemas.microsoft.com/office/drawing/2014/main" id="{97AA2896-E352-8EAE-E8CD-3F11BDFD5926}"/>
                </a:ext>
              </a:extLst>
            </p:cNvPr>
            <p:cNvCxnSpPr>
              <a:cxnSpLocks/>
              <a:stCxn id="43" idx="2"/>
              <a:endCxn id="25" idx="0"/>
            </p:cNvCxnSpPr>
            <p:nvPr/>
          </p:nvCxnSpPr>
          <p:spPr>
            <a:xfrm>
              <a:off x="4654715" y="1413398"/>
              <a:ext cx="3791943" cy="641609"/>
            </a:xfrm>
            <a:prstGeom prst="bentConnector2">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65119730-D5F5-8DE6-B118-003E40FBC35D}"/>
                </a:ext>
              </a:extLst>
            </p:cNvPr>
            <p:cNvCxnSpPr>
              <a:cxnSpLocks/>
              <a:stCxn id="43" idx="4"/>
              <a:endCxn id="13" idx="0"/>
            </p:cNvCxnSpPr>
            <p:nvPr/>
          </p:nvCxnSpPr>
          <p:spPr>
            <a:xfrm>
              <a:off x="4044759" y="1656811"/>
              <a:ext cx="0" cy="353769"/>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64" name="图示 163">
            <a:extLst>
              <a:ext uri="{FF2B5EF4-FFF2-40B4-BE49-F238E27FC236}">
                <a16:creationId xmlns:a16="http://schemas.microsoft.com/office/drawing/2014/main" id="{856DDC8F-6FF3-54EC-66C1-BD9A64DDDC49}"/>
              </a:ext>
            </a:extLst>
          </p:cNvPr>
          <p:cNvGraphicFramePr/>
          <p:nvPr/>
        </p:nvGraphicFramePr>
        <p:xfrm>
          <a:off x="8809124" y="1265937"/>
          <a:ext cx="3338132" cy="52910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72" name="组合 171">
            <a:extLst>
              <a:ext uri="{FF2B5EF4-FFF2-40B4-BE49-F238E27FC236}">
                <a16:creationId xmlns:a16="http://schemas.microsoft.com/office/drawing/2014/main" id="{7ABB6FED-E95E-BCD6-9284-D21721743DAE}"/>
              </a:ext>
            </a:extLst>
          </p:cNvPr>
          <p:cNvGrpSpPr/>
          <p:nvPr/>
        </p:nvGrpSpPr>
        <p:grpSpPr>
          <a:xfrm>
            <a:off x="2717754" y="3116908"/>
            <a:ext cx="5065780" cy="2813198"/>
            <a:chOff x="2717754" y="3116908"/>
            <a:chExt cx="5065780" cy="2813198"/>
          </a:xfrm>
        </p:grpSpPr>
        <p:grpSp>
          <p:nvGrpSpPr>
            <p:cNvPr id="54" name="组合 53">
              <a:extLst>
                <a:ext uri="{FF2B5EF4-FFF2-40B4-BE49-F238E27FC236}">
                  <a16:creationId xmlns:a16="http://schemas.microsoft.com/office/drawing/2014/main" id="{41E8958C-E3B3-B58F-6D47-99AC1E0967BD}"/>
                </a:ext>
              </a:extLst>
            </p:cNvPr>
            <p:cNvGrpSpPr/>
            <p:nvPr/>
          </p:nvGrpSpPr>
          <p:grpSpPr>
            <a:xfrm>
              <a:off x="2717754" y="3116908"/>
              <a:ext cx="5065780" cy="2813198"/>
              <a:chOff x="3396247" y="1906258"/>
              <a:chExt cx="5065780" cy="2813198"/>
            </a:xfrm>
          </p:grpSpPr>
          <p:sp>
            <p:nvSpPr>
              <p:cNvPr id="4" name="矩形: 圆角 3">
                <a:extLst>
                  <a:ext uri="{FF2B5EF4-FFF2-40B4-BE49-F238E27FC236}">
                    <a16:creationId xmlns:a16="http://schemas.microsoft.com/office/drawing/2014/main" id="{FCBFE86D-0286-C8FC-3851-41450DBF2800}"/>
                  </a:ext>
                </a:extLst>
              </p:cNvPr>
              <p:cNvSpPr/>
              <p:nvPr/>
            </p:nvSpPr>
            <p:spPr>
              <a:xfrm>
                <a:off x="3396247" y="4033656"/>
                <a:ext cx="1341619" cy="685800"/>
              </a:xfrm>
              <a:prstGeom prst="roundRect">
                <a:avLst/>
              </a:prstGeom>
              <a:solidFill>
                <a:schemeClr val="accent1">
                  <a:lumMod val="60000"/>
                  <a:lumOff val="4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RLT</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供需匹配</a:t>
                </a:r>
              </a:p>
            </p:txBody>
          </p:sp>
          <p:cxnSp>
            <p:nvCxnSpPr>
              <p:cNvPr id="7" name="直接箭头连接符 6">
                <a:extLst>
                  <a:ext uri="{FF2B5EF4-FFF2-40B4-BE49-F238E27FC236}">
                    <a16:creationId xmlns:a16="http://schemas.microsoft.com/office/drawing/2014/main" id="{D341EB6C-1918-4397-E5B0-17523672D2E7}"/>
                  </a:ext>
                </a:extLst>
              </p:cNvPr>
              <p:cNvCxnSpPr>
                <a:cxnSpLocks/>
                <a:stCxn id="13" idx="2"/>
                <a:endCxn id="3" idx="0"/>
              </p:cNvCxnSpPr>
              <p:nvPr/>
            </p:nvCxnSpPr>
            <p:spPr>
              <a:xfrm flipH="1">
                <a:off x="4129281" y="2011608"/>
                <a:ext cx="1" cy="689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1D8CA550-76A0-39F2-47E1-F3C8CB726C64}"/>
                  </a:ext>
                </a:extLst>
              </p:cNvPr>
              <p:cNvCxnSpPr>
                <a:cxnSpLocks/>
                <a:stCxn id="25" idx="2"/>
                <a:endCxn id="4" idx="3"/>
              </p:cNvCxnSpPr>
              <p:nvPr/>
            </p:nvCxnSpPr>
            <p:spPr>
              <a:xfrm rot="5400000">
                <a:off x="5364798" y="1279327"/>
                <a:ext cx="2470297" cy="37241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68" name="直接箭头连接符 167">
              <a:extLst>
                <a:ext uri="{FF2B5EF4-FFF2-40B4-BE49-F238E27FC236}">
                  <a16:creationId xmlns:a16="http://schemas.microsoft.com/office/drawing/2014/main" id="{C399EF34-37DE-3AE8-1A43-D3CD69FA2ED3}"/>
                </a:ext>
              </a:extLst>
            </p:cNvPr>
            <p:cNvCxnSpPr>
              <a:cxnSpLocks/>
              <a:stCxn id="3" idx="2"/>
              <a:endCxn id="4" idx="0"/>
            </p:cNvCxnSpPr>
            <p:nvPr/>
          </p:nvCxnSpPr>
          <p:spPr>
            <a:xfrm>
              <a:off x="3381633" y="4597677"/>
              <a:ext cx="6931" cy="646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5" name="文本框 174">
            <a:extLst>
              <a:ext uri="{FF2B5EF4-FFF2-40B4-BE49-F238E27FC236}">
                <a16:creationId xmlns:a16="http://schemas.microsoft.com/office/drawing/2014/main" id="{B33BEDE3-023D-94CE-E596-F73B1FB66288}"/>
              </a:ext>
            </a:extLst>
          </p:cNvPr>
          <p:cNvSpPr txBox="1"/>
          <p:nvPr/>
        </p:nvSpPr>
        <p:spPr>
          <a:xfrm>
            <a:off x="4371702" y="6323426"/>
            <a:ext cx="539060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站在巨人的肩膀学习，实践，创新，颠覆</a:t>
            </a:r>
          </a:p>
        </p:txBody>
      </p:sp>
    </p:spTree>
    <p:extLst>
      <p:ext uri="{BB962C8B-B14F-4D97-AF65-F5344CB8AC3E}">
        <p14:creationId xmlns:p14="http://schemas.microsoft.com/office/powerpoint/2010/main" val="41783448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Graphic spid="164" grpId="0">
        <p:bldAsOne/>
      </p:bldGraphic>
      <p:bldP spid="17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9B59DE-3CC4-539C-5B8A-7EA508C1CA8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Level by Level</a:t>
            </a:r>
            <a:endParaRPr lang="zh-CN" altLang="en-US" dirty="0">
              <a:latin typeface="Arial" panose="020B0604020202020204" pitchFamily="34" charset="0"/>
              <a:ea typeface="微软雅黑" panose="020B0503020204020204" pitchFamily="34" charset="-122"/>
            </a:endParaRPr>
          </a:p>
        </p:txBody>
      </p:sp>
      <p:sp>
        <p:nvSpPr>
          <p:cNvPr id="5" name="矩形: 圆角 4">
            <a:extLst>
              <a:ext uri="{FF2B5EF4-FFF2-40B4-BE49-F238E27FC236}">
                <a16:creationId xmlns:a16="http://schemas.microsoft.com/office/drawing/2014/main" id="{1A75CB50-428C-FF82-AAB0-DAA40EEB0D97}"/>
              </a:ext>
            </a:extLst>
          </p:cNvPr>
          <p:cNvSpPr/>
          <p:nvPr/>
        </p:nvSpPr>
        <p:spPr>
          <a:xfrm>
            <a:off x="4462186" y="4543641"/>
            <a:ext cx="1600219" cy="535635"/>
          </a:xfrm>
          <a:prstGeom prst="roundRect">
            <a:avLst/>
          </a:prstGeom>
          <a:solidFill>
            <a:schemeClr val="accent1">
              <a:lumMod val="60000"/>
              <a:lumOff val="4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智能并行</a:t>
            </a:r>
            <a:endPar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By LLC</a:t>
            </a: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、节点</a:t>
            </a:r>
          </a:p>
        </p:txBody>
      </p:sp>
      <p:sp>
        <p:nvSpPr>
          <p:cNvPr id="10" name="平行四边形 9">
            <a:extLst>
              <a:ext uri="{FF2B5EF4-FFF2-40B4-BE49-F238E27FC236}">
                <a16:creationId xmlns:a16="http://schemas.microsoft.com/office/drawing/2014/main" id="{000AD5D3-7818-2B6B-ED8B-B99A193A522A}"/>
              </a:ext>
            </a:extLst>
          </p:cNvPr>
          <p:cNvSpPr/>
          <p:nvPr/>
        </p:nvSpPr>
        <p:spPr>
          <a:xfrm>
            <a:off x="2870571" y="1562120"/>
            <a:ext cx="1341619"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独立需求</a:t>
            </a:r>
          </a:p>
        </p:txBody>
      </p:sp>
      <p:sp>
        <p:nvSpPr>
          <p:cNvPr id="12" name="矩形: 圆角 11">
            <a:extLst>
              <a:ext uri="{FF2B5EF4-FFF2-40B4-BE49-F238E27FC236}">
                <a16:creationId xmlns:a16="http://schemas.microsoft.com/office/drawing/2014/main" id="{93A6D7A5-7E92-B4EA-3862-CF362D37378B}"/>
              </a:ext>
            </a:extLst>
          </p:cNvPr>
          <p:cNvSpPr/>
          <p:nvPr/>
        </p:nvSpPr>
        <p:spPr>
          <a:xfrm>
            <a:off x="4592393" y="3477465"/>
            <a:ext cx="1341619" cy="685800"/>
          </a:xfrm>
          <a:prstGeom prst="roundRect">
            <a:avLst/>
          </a:prstGeom>
          <a:solidFill>
            <a:schemeClr val="accent1">
              <a:lumMod val="60000"/>
              <a:lumOff val="4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指针索引递归</a:t>
            </a:r>
            <a:endPar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MRP Netting</a:t>
            </a:r>
            <a:endPar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9" name="矩形: 圆角 18">
            <a:extLst>
              <a:ext uri="{FF2B5EF4-FFF2-40B4-BE49-F238E27FC236}">
                <a16:creationId xmlns:a16="http://schemas.microsoft.com/office/drawing/2014/main" id="{8930AAE7-45E6-C5A3-0C05-D4FC84E6D6C4}"/>
              </a:ext>
            </a:extLst>
          </p:cNvPr>
          <p:cNvSpPr/>
          <p:nvPr/>
        </p:nvSpPr>
        <p:spPr>
          <a:xfrm>
            <a:off x="4547594" y="2495692"/>
            <a:ext cx="1341619" cy="685800"/>
          </a:xfrm>
          <a:prstGeom prst="roundRect">
            <a:avLst/>
          </a:prstGeom>
          <a:solidFill>
            <a:schemeClr val="accent1">
              <a:lumMod val="60000"/>
              <a:lumOff val="4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RLT</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决定</a:t>
            </a:r>
            <a:r>
              <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LLC</a:t>
            </a:r>
            <a:endPar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7" name="平行四边形 26">
            <a:extLst>
              <a:ext uri="{FF2B5EF4-FFF2-40B4-BE49-F238E27FC236}">
                <a16:creationId xmlns:a16="http://schemas.microsoft.com/office/drawing/2014/main" id="{B71FEBE5-7BE8-175C-4261-1A155051D29C}"/>
              </a:ext>
            </a:extLst>
          </p:cNvPr>
          <p:cNvSpPr/>
          <p:nvPr/>
        </p:nvSpPr>
        <p:spPr>
          <a:xfrm>
            <a:off x="6358273" y="1566748"/>
            <a:ext cx="1341619"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物料客户主数据</a:t>
            </a:r>
          </a:p>
        </p:txBody>
      </p:sp>
      <p:sp>
        <p:nvSpPr>
          <p:cNvPr id="28" name="平行四边形 27">
            <a:extLst>
              <a:ext uri="{FF2B5EF4-FFF2-40B4-BE49-F238E27FC236}">
                <a16:creationId xmlns:a16="http://schemas.microsoft.com/office/drawing/2014/main" id="{21575909-CCB4-EAD5-530C-AC81F750E33A}"/>
              </a:ext>
            </a:extLst>
          </p:cNvPr>
          <p:cNvSpPr/>
          <p:nvPr/>
        </p:nvSpPr>
        <p:spPr>
          <a:xfrm>
            <a:off x="4547595" y="1566748"/>
            <a:ext cx="1341619"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BOM</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2" name="连接符: 肘形 31">
            <a:extLst>
              <a:ext uri="{FF2B5EF4-FFF2-40B4-BE49-F238E27FC236}">
                <a16:creationId xmlns:a16="http://schemas.microsoft.com/office/drawing/2014/main" id="{0A5480EB-814D-E6F8-2954-7E6BECE629C6}"/>
              </a:ext>
            </a:extLst>
          </p:cNvPr>
          <p:cNvCxnSpPr>
            <a:cxnSpLocks/>
            <a:stCxn id="28" idx="4"/>
            <a:endCxn id="19" idx="0"/>
          </p:cNvCxnSpPr>
          <p:nvPr/>
        </p:nvCxnSpPr>
        <p:spPr>
          <a:xfrm rot="5400000">
            <a:off x="4997346" y="2274633"/>
            <a:ext cx="442118"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平行四边形 33">
            <a:extLst>
              <a:ext uri="{FF2B5EF4-FFF2-40B4-BE49-F238E27FC236}">
                <a16:creationId xmlns:a16="http://schemas.microsoft.com/office/drawing/2014/main" id="{99BCDA4E-4826-D159-D053-960B73105FAE}"/>
              </a:ext>
            </a:extLst>
          </p:cNvPr>
          <p:cNvSpPr/>
          <p:nvPr/>
        </p:nvSpPr>
        <p:spPr>
          <a:xfrm>
            <a:off x="7201875" y="2590155"/>
            <a:ext cx="1648945" cy="486826"/>
          </a:xfrm>
          <a:prstGeom prst="parallelogram">
            <a:avLst/>
          </a:prstGeom>
          <a:solidFill>
            <a:schemeClr val="accent6">
              <a:lumMod val="75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供应链网络附带</a:t>
            </a: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LLC</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6" name="连接符: 肘形 35">
            <a:extLst>
              <a:ext uri="{FF2B5EF4-FFF2-40B4-BE49-F238E27FC236}">
                <a16:creationId xmlns:a16="http://schemas.microsoft.com/office/drawing/2014/main" id="{2F291799-9DE9-43C5-DED4-ED3F691450F9}"/>
              </a:ext>
            </a:extLst>
          </p:cNvPr>
          <p:cNvCxnSpPr>
            <a:cxnSpLocks/>
            <a:stCxn id="19" idx="3"/>
            <a:endCxn id="34" idx="5"/>
          </p:cNvCxnSpPr>
          <p:nvPr/>
        </p:nvCxnSpPr>
        <p:spPr>
          <a:xfrm flipV="1">
            <a:off x="5889213" y="2833568"/>
            <a:ext cx="1373515" cy="50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A611E172-392D-D758-BBB6-35BF4A57423B}"/>
              </a:ext>
            </a:extLst>
          </p:cNvPr>
          <p:cNvCxnSpPr>
            <a:stCxn id="27" idx="3"/>
            <a:endCxn id="19" idx="0"/>
          </p:cNvCxnSpPr>
          <p:nvPr/>
        </p:nvCxnSpPr>
        <p:spPr>
          <a:xfrm rot="5400000">
            <a:off x="5872258" y="1399721"/>
            <a:ext cx="442118" cy="17498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C6188B65-B37F-0DAC-01F6-D5BCB755BB49}"/>
              </a:ext>
            </a:extLst>
          </p:cNvPr>
          <p:cNvCxnSpPr>
            <a:stCxn id="10" idx="4"/>
          </p:cNvCxnSpPr>
          <p:nvPr/>
        </p:nvCxnSpPr>
        <p:spPr>
          <a:xfrm rot="16200000" flipH="1">
            <a:off x="3555472" y="2034854"/>
            <a:ext cx="895150" cy="92333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FE747408-C318-3684-27E7-A12D7985E70B}"/>
              </a:ext>
            </a:extLst>
          </p:cNvPr>
          <p:cNvCxnSpPr>
            <a:cxnSpLocks/>
            <a:stCxn id="10" idx="4"/>
            <a:endCxn id="12" idx="1"/>
          </p:cNvCxnSpPr>
          <p:nvPr/>
        </p:nvCxnSpPr>
        <p:spPr>
          <a:xfrm rot="16200000" flipH="1">
            <a:off x="3181178" y="2409149"/>
            <a:ext cx="1771419" cy="10510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877DCA5B-B2C4-7DD8-5F77-506588E7B141}"/>
              </a:ext>
            </a:extLst>
          </p:cNvPr>
          <p:cNvCxnSpPr>
            <a:stCxn id="34" idx="4"/>
            <a:endCxn id="12" idx="3"/>
          </p:cNvCxnSpPr>
          <p:nvPr/>
        </p:nvCxnSpPr>
        <p:spPr>
          <a:xfrm rot="5400000">
            <a:off x="6608488" y="2402505"/>
            <a:ext cx="743384" cy="20923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A4D40586-2ED2-3BB7-D1CF-5A04B092B88B}"/>
              </a:ext>
            </a:extLst>
          </p:cNvPr>
          <p:cNvCxnSpPr>
            <a:stCxn id="12" idx="2"/>
            <a:endCxn id="5" idx="0"/>
          </p:cNvCxnSpPr>
          <p:nvPr/>
        </p:nvCxnSpPr>
        <p:spPr>
          <a:xfrm rot="5400000">
            <a:off x="5072562" y="4353000"/>
            <a:ext cx="380376" cy="9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平行四边形 70">
            <a:extLst>
              <a:ext uri="{FF2B5EF4-FFF2-40B4-BE49-F238E27FC236}">
                <a16:creationId xmlns:a16="http://schemas.microsoft.com/office/drawing/2014/main" id="{B24EB613-C19B-943F-A613-0CE9478F26B4}"/>
              </a:ext>
            </a:extLst>
          </p:cNvPr>
          <p:cNvSpPr/>
          <p:nvPr/>
        </p:nvSpPr>
        <p:spPr>
          <a:xfrm>
            <a:off x="1392613" y="4568761"/>
            <a:ext cx="1648945" cy="486826"/>
          </a:xfrm>
          <a:prstGeom prst="parallelogram">
            <a:avLst/>
          </a:prstGeom>
          <a:solidFill>
            <a:schemeClr val="tx2">
              <a:lumMod val="50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供应和资源</a:t>
            </a:r>
          </a:p>
        </p:txBody>
      </p:sp>
      <p:cxnSp>
        <p:nvCxnSpPr>
          <p:cNvPr id="73" name="连接符: 肘形 72">
            <a:extLst>
              <a:ext uri="{FF2B5EF4-FFF2-40B4-BE49-F238E27FC236}">
                <a16:creationId xmlns:a16="http://schemas.microsoft.com/office/drawing/2014/main" id="{77A482E5-7E7D-41B1-91D0-01C9DDF4DAEA}"/>
              </a:ext>
            </a:extLst>
          </p:cNvPr>
          <p:cNvCxnSpPr>
            <a:cxnSpLocks/>
            <a:stCxn id="71" idx="2"/>
            <a:endCxn id="5" idx="1"/>
          </p:cNvCxnSpPr>
          <p:nvPr/>
        </p:nvCxnSpPr>
        <p:spPr>
          <a:xfrm flipV="1">
            <a:off x="2980705" y="4811459"/>
            <a:ext cx="1481481" cy="71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菱形 74">
            <a:extLst>
              <a:ext uri="{FF2B5EF4-FFF2-40B4-BE49-F238E27FC236}">
                <a16:creationId xmlns:a16="http://schemas.microsoft.com/office/drawing/2014/main" id="{0E2BCC46-8153-6774-E7E6-F8E6F7AABEC9}"/>
              </a:ext>
            </a:extLst>
          </p:cNvPr>
          <p:cNvSpPr/>
          <p:nvPr/>
        </p:nvSpPr>
        <p:spPr>
          <a:xfrm>
            <a:off x="4462186" y="5431136"/>
            <a:ext cx="1600218" cy="588613"/>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Netted</a:t>
            </a:r>
            <a:endPar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77" name="连接符: 肘形 76">
            <a:extLst>
              <a:ext uri="{FF2B5EF4-FFF2-40B4-BE49-F238E27FC236}">
                <a16:creationId xmlns:a16="http://schemas.microsoft.com/office/drawing/2014/main" id="{CFBFC7CD-D680-3A9A-D9BE-6B3D2A0684D6}"/>
              </a:ext>
            </a:extLst>
          </p:cNvPr>
          <p:cNvCxnSpPr>
            <a:cxnSpLocks/>
            <a:stCxn id="5" idx="2"/>
            <a:endCxn id="75" idx="0"/>
          </p:cNvCxnSpPr>
          <p:nvPr/>
        </p:nvCxnSpPr>
        <p:spPr>
          <a:xfrm rot="5400000">
            <a:off x="5086366" y="5255206"/>
            <a:ext cx="3518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平行四边形 84">
            <a:extLst>
              <a:ext uri="{FF2B5EF4-FFF2-40B4-BE49-F238E27FC236}">
                <a16:creationId xmlns:a16="http://schemas.microsoft.com/office/drawing/2014/main" id="{651DB344-67DD-9254-8792-1D9DE440C684}"/>
              </a:ext>
            </a:extLst>
          </p:cNvPr>
          <p:cNvSpPr/>
          <p:nvPr/>
        </p:nvSpPr>
        <p:spPr>
          <a:xfrm>
            <a:off x="7135345" y="4568761"/>
            <a:ext cx="1648945" cy="486826"/>
          </a:xfrm>
          <a:prstGeom prst="parallelogram">
            <a:avLst/>
          </a:prstGeom>
          <a:solidFill>
            <a:schemeClr val="accent6">
              <a:lumMod val="75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供需匹配</a:t>
            </a:r>
          </a:p>
        </p:txBody>
      </p:sp>
      <p:cxnSp>
        <p:nvCxnSpPr>
          <p:cNvPr id="87" name="连接符: 肘形 86">
            <a:extLst>
              <a:ext uri="{FF2B5EF4-FFF2-40B4-BE49-F238E27FC236}">
                <a16:creationId xmlns:a16="http://schemas.microsoft.com/office/drawing/2014/main" id="{62756BAC-03F1-0E86-212D-186841194FEB}"/>
              </a:ext>
            </a:extLst>
          </p:cNvPr>
          <p:cNvCxnSpPr>
            <a:stCxn id="5" idx="3"/>
            <a:endCxn id="85" idx="5"/>
          </p:cNvCxnSpPr>
          <p:nvPr/>
        </p:nvCxnSpPr>
        <p:spPr>
          <a:xfrm>
            <a:off x="6062405" y="4811459"/>
            <a:ext cx="1133793" cy="7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平行四边形 88">
            <a:extLst>
              <a:ext uri="{FF2B5EF4-FFF2-40B4-BE49-F238E27FC236}">
                <a16:creationId xmlns:a16="http://schemas.microsoft.com/office/drawing/2014/main" id="{67D90C31-DB00-5D76-2302-BBA884B10AFE}"/>
              </a:ext>
            </a:extLst>
          </p:cNvPr>
          <p:cNvSpPr/>
          <p:nvPr/>
        </p:nvSpPr>
        <p:spPr>
          <a:xfrm>
            <a:off x="2474678" y="5487825"/>
            <a:ext cx="1648945" cy="486826"/>
          </a:xfrm>
          <a:prstGeom prst="parallelogram">
            <a:avLst/>
          </a:prstGeom>
          <a:solidFill>
            <a:schemeClr val="accent6">
              <a:lumMod val="75000"/>
            </a:schemeClr>
          </a:solidFill>
          <a:ln>
            <a:solidFill>
              <a:schemeClr val="bg2"/>
            </a:solid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计划单据</a:t>
            </a:r>
          </a:p>
        </p:txBody>
      </p:sp>
      <p:cxnSp>
        <p:nvCxnSpPr>
          <p:cNvPr id="91" name="直接箭头连接符 90">
            <a:extLst>
              <a:ext uri="{FF2B5EF4-FFF2-40B4-BE49-F238E27FC236}">
                <a16:creationId xmlns:a16="http://schemas.microsoft.com/office/drawing/2014/main" id="{EAA51229-578E-2E77-828D-3E49294B8B7A}"/>
              </a:ext>
            </a:extLst>
          </p:cNvPr>
          <p:cNvCxnSpPr>
            <a:cxnSpLocks/>
            <a:stCxn id="75" idx="1"/>
            <a:endCxn id="89" idx="2"/>
          </p:cNvCxnSpPr>
          <p:nvPr/>
        </p:nvCxnSpPr>
        <p:spPr>
          <a:xfrm flipH="1">
            <a:off x="4062770" y="5725443"/>
            <a:ext cx="399416" cy="5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8109815C-A0A7-0732-357D-2C99E1F1790F}"/>
              </a:ext>
            </a:extLst>
          </p:cNvPr>
          <p:cNvSpPr txBox="1"/>
          <p:nvPr/>
        </p:nvSpPr>
        <p:spPr>
          <a:xfrm>
            <a:off x="4196456" y="5575175"/>
            <a:ext cx="26572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4674C1">
                    <a:lumMod val="40000"/>
                    <a:lumOff val="60000"/>
                  </a:srgbClr>
                </a:solidFill>
                <a:effectLst/>
                <a:uLnTx/>
                <a:uFillTx/>
                <a:latin typeface="Arial" panose="020B0604020202020204" pitchFamily="34" charset="0"/>
                <a:ea typeface="微软雅黑" panose="020B0503020204020204" pitchFamily="34" charset="-122"/>
                <a:cs typeface="+mn-cs"/>
              </a:rPr>
              <a:t>Y</a:t>
            </a:r>
            <a:endParaRPr kumimoji="0" lang="zh-CN" altLang="en-US" sz="1400" b="0" i="0" u="none" strike="noStrike" kern="1200" cap="none" spc="0" normalizeH="0" baseline="0" noProof="0" dirty="0">
              <a:ln>
                <a:noFill/>
              </a:ln>
              <a:solidFill>
                <a:srgbClr val="4674C1">
                  <a:lumMod val="40000"/>
                  <a:lumOff val="60000"/>
                </a:srgbClr>
              </a:solidFill>
              <a:effectLst/>
              <a:uLnTx/>
              <a:uFillTx/>
              <a:latin typeface="Arial" panose="020B0604020202020204" pitchFamily="34" charset="0"/>
              <a:ea typeface="微软雅黑" panose="020B0503020204020204" pitchFamily="34" charset="-122"/>
              <a:cs typeface="+mn-cs"/>
            </a:endParaRPr>
          </a:p>
        </p:txBody>
      </p:sp>
      <p:cxnSp>
        <p:nvCxnSpPr>
          <p:cNvPr id="98" name="连接符: 肘形 97">
            <a:extLst>
              <a:ext uri="{FF2B5EF4-FFF2-40B4-BE49-F238E27FC236}">
                <a16:creationId xmlns:a16="http://schemas.microsoft.com/office/drawing/2014/main" id="{F60A3467-3157-74F2-D927-29AB1E246999}"/>
              </a:ext>
            </a:extLst>
          </p:cNvPr>
          <p:cNvCxnSpPr>
            <a:stCxn id="89" idx="1"/>
            <a:endCxn id="5" idx="1"/>
          </p:cNvCxnSpPr>
          <p:nvPr/>
        </p:nvCxnSpPr>
        <p:spPr>
          <a:xfrm rot="5400000" flipH="1" flipV="1">
            <a:off x="3572912" y="4598551"/>
            <a:ext cx="676366" cy="110218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椭圆 99">
            <a:extLst>
              <a:ext uri="{FF2B5EF4-FFF2-40B4-BE49-F238E27FC236}">
                <a16:creationId xmlns:a16="http://schemas.microsoft.com/office/drawing/2014/main" id="{11C4A303-A1E6-B870-0CA1-B17A4C453EA0}"/>
              </a:ext>
            </a:extLst>
          </p:cNvPr>
          <p:cNvSpPr/>
          <p:nvPr/>
        </p:nvSpPr>
        <p:spPr>
          <a:xfrm>
            <a:off x="4756833" y="884305"/>
            <a:ext cx="923139" cy="4868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开始</a:t>
            </a:r>
          </a:p>
        </p:txBody>
      </p:sp>
      <p:cxnSp>
        <p:nvCxnSpPr>
          <p:cNvPr id="102" name="连接符: 肘形 101">
            <a:extLst>
              <a:ext uri="{FF2B5EF4-FFF2-40B4-BE49-F238E27FC236}">
                <a16:creationId xmlns:a16="http://schemas.microsoft.com/office/drawing/2014/main" id="{960E8C0D-F780-FECF-138D-5FA19AB96B66}"/>
              </a:ext>
            </a:extLst>
          </p:cNvPr>
          <p:cNvCxnSpPr>
            <a:cxnSpLocks/>
            <a:stCxn id="100" idx="4"/>
            <a:endCxn id="28" idx="0"/>
          </p:cNvCxnSpPr>
          <p:nvPr/>
        </p:nvCxnSpPr>
        <p:spPr>
          <a:xfrm rot="16200000" flipH="1">
            <a:off x="5120596" y="1468938"/>
            <a:ext cx="195617" cy="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椭圆 103">
            <a:extLst>
              <a:ext uri="{FF2B5EF4-FFF2-40B4-BE49-F238E27FC236}">
                <a16:creationId xmlns:a16="http://schemas.microsoft.com/office/drawing/2014/main" id="{F5AEA42C-EE78-DD25-5D5E-8B1432B6CB86}"/>
              </a:ext>
            </a:extLst>
          </p:cNvPr>
          <p:cNvSpPr/>
          <p:nvPr/>
        </p:nvSpPr>
        <p:spPr>
          <a:xfrm>
            <a:off x="4805749" y="6285344"/>
            <a:ext cx="923139" cy="4868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结束</a:t>
            </a:r>
          </a:p>
        </p:txBody>
      </p:sp>
      <p:cxnSp>
        <p:nvCxnSpPr>
          <p:cNvPr id="106" name="连接符: 肘形 105">
            <a:extLst>
              <a:ext uri="{FF2B5EF4-FFF2-40B4-BE49-F238E27FC236}">
                <a16:creationId xmlns:a16="http://schemas.microsoft.com/office/drawing/2014/main" id="{89DBF06E-57FE-5180-8B09-CE1F88293F34}"/>
              </a:ext>
            </a:extLst>
          </p:cNvPr>
          <p:cNvCxnSpPr>
            <a:stCxn id="75" idx="2"/>
            <a:endCxn id="104" idx="0"/>
          </p:cNvCxnSpPr>
          <p:nvPr/>
        </p:nvCxnSpPr>
        <p:spPr>
          <a:xfrm rot="16200000" flipH="1">
            <a:off x="5132010" y="6150034"/>
            <a:ext cx="265595" cy="50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文本框 107">
            <a:extLst>
              <a:ext uri="{FF2B5EF4-FFF2-40B4-BE49-F238E27FC236}">
                <a16:creationId xmlns:a16="http://schemas.microsoft.com/office/drawing/2014/main" id="{9EB4C447-CE59-365F-119C-3CB1F5DF2861}"/>
              </a:ext>
            </a:extLst>
          </p:cNvPr>
          <p:cNvSpPr txBox="1"/>
          <p:nvPr/>
        </p:nvSpPr>
        <p:spPr>
          <a:xfrm>
            <a:off x="5095585" y="5982230"/>
            <a:ext cx="265729"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4674C1">
                    <a:lumMod val="40000"/>
                    <a:lumOff val="60000"/>
                  </a:srgbClr>
                </a:solidFill>
                <a:effectLst/>
                <a:uLnTx/>
                <a:uFillTx/>
                <a:latin typeface="Arial" panose="020B0604020202020204" pitchFamily="34" charset="0"/>
                <a:ea typeface="微软雅黑" panose="020B0503020204020204" pitchFamily="34" charset="-122"/>
                <a:cs typeface="+mn-cs"/>
              </a:rPr>
              <a:t>N</a:t>
            </a:r>
            <a:endParaRPr kumimoji="0" lang="zh-CN" altLang="en-US" sz="1100" b="1" i="0" u="none" strike="noStrike" kern="1200" cap="none" spc="0" normalizeH="0" baseline="0" noProof="0" dirty="0">
              <a:ln>
                <a:noFill/>
              </a:ln>
              <a:solidFill>
                <a:srgbClr val="4674C1">
                  <a:lumMod val="40000"/>
                  <a:lumOff val="60000"/>
                </a:srgbClr>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114987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7" grpId="0" animBg="1"/>
      <p:bldP spid="28" grpId="0" animBg="1"/>
      <p:bldP spid="34" grpId="0" animBg="1"/>
      <p:bldP spid="71" grpId="0" animBg="1"/>
      <p:bldP spid="85" grpId="0" animBg="1"/>
      <p:bldP spid="89"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52A404D-478B-24A7-B0CD-044E7A9391F2}"/>
              </a:ext>
            </a:extLst>
          </p:cNvPr>
          <p:cNvSpPr>
            <a:spLocks noGrp="1"/>
          </p:cNvSpPr>
          <p:nvPr>
            <p:ph type="ctrTitle"/>
          </p:nvPr>
        </p:nvSpPr>
        <p:spPr/>
        <p:txBody>
          <a:bodyPr>
            <a:normAutofit/>
          </a:bodyPr>
          <a:lstStyle/>
          <a:p>
            <a:r>
              <a:rPr lang="zh-CN" altLang="en-US" sz="4400" dirty="0">
                <a:latin typeface="Arial" panose="020B0604020202020204" pitchFamily="34" charset="0"/>
                <a:ea typeface="微软雅黑" panose="020B0503020204020204" pitchFamily="34" charset="-122"/>
              </a:rPr>
              <a:t>替换料</a:t>
            </a:r>
          </a:p>
        </p:txBody>
      </p:sp>
    </p:spTree>
    <p:extLst>
      <p:ext uri="{BB962C8B-B14F-4D97-AF65-F5344CB8AC3E}">
        <p14:creationId xmlns:p14="http://schemas.microsoft.com/office/powerpoint/2010/main" val="380013012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C96126E-45D4-3243-507D-24D7CCB9910D}"/>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替换 </a:t>
            </a:r>
            <a:r>
              <a:rPr lang="en-US" altLang="zh-CN" dirty="0">
                <a:latin typeface="Arial" panose="020B0604020202020204" pitchFamily="34" charset="0"/>
                <a:ea typeface="微软雅黑" panose="020B0503020204020204" pitchFamily="34" charset="-122"/>
              </a:rPr>
              <a:t>- Overview</a:t>
            </a:r>
            <a:endParaRPr lang="zh-CN" altLang="en-US" dirty="0">
              <a:latin typeface="Arial" panose="020B0604020202020204" pitchFamily="34" charset="0"/>
              <a:ea typeface="微软雅黑" panose="020B0503020204020204" pitchFamily="34" charset="-122"/>
            </a:endParaRPr>
          </a:p>
        </p:txBody>
      </p:sp>
      <p:grpSp>
        <p:nvGrpSpPr>
          <p:cNvPr id="354" name="组合 353">
            <a:extLst>
              <a:ext uri="{FF2B5EF4-FFF2-40B4-BE49-F238E27FC236}">
                <a16:creationId xmlns:a16="http://schemas.microsoft.com/office/drawing/2014/main" id="{B40209EB-2960-9F4E-7997-425F8AD00EEC}"/>
              </a:ext>
            </a:extLst>
          </p:cNvPr>
          <p:cNvGrpSpPr>
            <a:grpSpLocks noChangeAspect="1"/>
          </p:cNvGrpSpPr>
          <p:nvPr>
            <p:custDataLst>
              <p:tags r:id="rId1"/>
            </p:custDataLst>
          </p:nvPr>
        </p:nvGrpSpPr>
        <p:grpSpPr>
          <a:xfrm>
            <a:off x="315086" y="1345732"/>
            <a:ext cx="11526552" cy="4800069"/>
            <a:chOff x="332724" y="1623093"/>
            <a:chExt cx="11526552" cy="2083683"/>
          </a:xfrm>
        </p:grpSpPr>
        <p:grpSp>
          <p:nvGrpSpPr>
            <p:cNvPr id="355" name="组合 354">
              <a:extLst>
                <a:ext uri="{FF2B5EF4-FFF2-40B4-BE49-F238E27FC236}">
                  <a16:creationId xmlns:a16="http://schemas.microsoft.com/office/drawing/2014/main" id="{8D38583D-C13C-979D-EA80-DE31543A96F9}"/>
                </a:ext>
              </a:extLst>
            </p:cNvPr>
            <p:cNvGrpSpPr/>
            <p:nvPr/>
          </p:nvGrpSpPr>
          <p:grpSpPr>
            <a:xfrm>
              <a:off x="332724" y="1623093"/>
              <a:ext cx="5488834" cy="859956"/>
              <a:chOff x="1889760" y="4296244"/>
              <a:chExt cx="5488834" cy="859956"/>
            </a:xfrm>
          </p:grpSpPr>
          <p:sp>
            <p:nvSpPr>
              <p:cNvPr id="374" name="1">
                <a:extLst>
                  <a:ext uri="{FF2B5EF4-FFF2-40B4-BE49-F238E27FC236}">
                    <a16:creationId xmlns:a16="http://schemas.microsoft.com/office/drawing/2014/main" id="{263EDBEC-2F41-A2D7-B177-A111CEB0603F}"/>
                  </a:ext>
                </a:extLst>
              </p:cNvPr>
              <p:cNvSpPr/>
              <p:nvPr>
                <p:custDataLst>
                  <p:tags r:id="rId14"/>
                </p:custDataLst>
              </p:nvPr>
            </p:nvSpPr>
            <p:spPr>
              <a:xfrm>
                <a:off x="1889760" y="4296244"/>
                <a:ext cx="5488834" cy="859956"/>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375" name="Index-1">
                <a:extLst>
                  <a:ext uri="{FF2B5EF4-FFF2-40B4-BE49-F238E27FC236}">
                    <a16:creationId xmlns:a16="http://schemas.microsoft.com/office/drawing/2014/main" id="{795240A6-EEFD-E18D-E61A-A5D7AAD98C06}"/>
                  </a:ext>
                </a:extLst>
              </p:cNvPr>
              <p:cNvSpPr/>
              <p:nvPr>
                <p:custDataLst>
                  <p:tags r:id="rId15"/>
                </p:custDataLst>
              </p:nvPr>
            </p:nvSpPr>
            <p:spPr>
              <a:xfrm>
                <a:off x="2302676" y="4459522"/>
                <a:ext cx="541020" cy="533400"/>
              </a:xfrm>
              <a:prstGeom prst="roundRect">
                <a:avLst>
                  <a:gd name="adj" fmla="val 50000"/>
                </a:avLst>
              </a:prstGeom>
              <a:solidFill>
                <a:schemeClr val="accent1"/>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1</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376" name="组合 375">
                <a:extLst>
                  <a:ext uri="{FF2B5EF4-FFF2-40B4-BE49-F238E27FC236}">
                    <a16:creationId xmlns:a16="http://schemas.microsoft.com/office/drawing/2014/main" id="{C8503C43-DD25-D0C0-715C-0A6BB5DDF956}"/>
                  </a:ext>
                </a:extLst>
              </p:cNvPr>
              <p:cNvGrpSpPr/>
              <p:nvPr/>
            </p:nvGrpSpPr>
            <p:grpSpPr>
              <a:xfrm>
                <a:off x="2938672" y="4442611"/>
                <a:ext cx="4344945" cy="651902"/>
                <a:chOff x="2938672" y="4441055"/>
                <a:chExt cx="4344945" cy="651902"/>
              </a:xfrm>
            </p:grpSpPr>
            <p:sp>
              <p:nvSpPr>
                <p:cNvPr id="377" name="Title-1">
                  <a:extLst>
                    <a:ext uri="{FF2B5EF4-FFF2-40B4-BE49-F238E27FC236}">
                      <a16:creationId xmlns:a16="http://schemas.microsoft.com/office/drawing/2014/main" id="{247077FE-0BA3-BCD1-FF33-F63CCCC058DC}"/>
                    </a:ext>
                  </a:extLst>
                </p:cNvPr>
                <p:cNvSpPr txBox="1"/>
                <p:nvPr>
                  <p:custDataLst>
                    <p:tags r:id="rId16"/>
                  </p:custDataLst>
                </p:nvPr>
              </p:nvSpPr>
              <p:spPr>
                <a:xfrm>
                  <a:off x="2938672" y="4441055"/>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4674C1"/>
                      </a:solidFill>
                      <a:effectLst/>
                      <a:uLnTx/>
                      <a:uFillTx/>
                      <a:latin typeface="Arial" panose="020B0604020202020204" pitchFamily="34" charset="0"/>
                      <a:ea typeface="微软雅黑" panose="020B0503020204020204" pitchFamily="34" charset="-122"/>
                      <a:cs typeface="+mn-cs"/>
                    </a:rPr>
                    <a:t>切换</a:t>
                  </a:r>
                  <a:endParaRPr kumimoji="0" lang="zh-CN" altLang="en-US" sz="1800" b="1" i="0" u="none" strike="noStrike" kern="1200" cap="none" spc="0" normalizeH="0" baseline="0" noProof="0" dirty="0">
                    <a:ln>
                      <a:noFill/>
                    </a:ln>
                    <a:solidFill>
                      <a:srgbClr val="4674C1"/>
                    </a:solidFill>
                    <a:effectLst/>
                    <a:uLnTx/>
                    <a:uFillTx/>
                    <a:latin typeface="Arial" panose="020B0604020202020204" pitchFamily="34" charset="0"/>
                    <a:ea typeface="微软雅黑" panose="020B0503020204020204" pitchFamily="34" charset="-122"/>
                    <a:cs typeface="+mn-cs"/>
                  </a:endParaRPr>
                </a:p>
              </p:txBody>
            </p:sp>
            <p:sp>
              <p:nvSpPr>
                <p:cNvPr id="378" name="Body-1">
                  <a:extLst>
                    <a:ext uri="{FF2B5EF4-FFF2-40B4-BE49-F238E27FC236}">
                      <a16:creationId xmlns:a16="http://schemas.microsoft.com/office/drawing/2014/main" id="{9E277C2C-D564-CB38-1DAB-B7289C7B73F3}"/>
                    </a:ext>
                  </a:extLst>
                </p:cNvPr>
                <p:cNvSpPr>
                  <a:spLocks/>
                </p:cNvSpPr>
                <p:nvPr>
                  <p:custDataLst>
                    <p:tags r:id="rId17"/>
                  </p:custDataLst>
                </p:nvPr>
              </p:nvSpPr>
              <p:spPr>
                <a:xfrm>
                  <a:off x="2938673" y="4622086"/>
                  <a:ext cx="4344944"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硬切，</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ECN Date</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之后被切换的物料将不再使用</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软切，</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ECN Date</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之后被切换的物料现有</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Supply</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用尽之后将不再采购，替代物料将产生采购计划</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356" name="组合 355">
              <a:extLst>
                <a:ext uri="{FF2B5EF4-FFF2-40B4-BE49-F238E27FC236}">
                  <a16:creationId xmlns:a16="http://schemas.microsoft.com/office/drawing/2014/main" id="{D80BB21A-78AF-9F55-E272-7B1B8AE0E332}"/>
                </a:ext>
              </a:extLst>
            </p:cNvPr>
            <p:cNvGrpSpPr/>
            <p:nvPr/>
          </p:nvGrpSpPr>
          <p:grpSpPr>
            <a:xfrm>
              <a:off x="6370442" y="1623093"/>
              <a:ext cx="5488834" cy="859956"/>
              <a:chOff x="1889760" y="4296244"/>
              <a:chExt cx="5488834" cy="859956"/>
            </a:xfrm>
          </p:grpSpPr>
          <p:sp>
            <p:nvSpPr>
              <p:cNvPr id="369" name="2">
                <a:extLst>
                  <a:ext uri="{FF2B5EF4-FFF2-40B4-BE49-F238E27FC236}">
                    <a16:creationId xmlns:a16="http://schemas.microsoft.com/office/drawing/2014/main" id="{CD9327D7-FEED-5D52-417C-C7D53DFE3EA2}"/>
                  </a:ext>
                </a:extLst>
              </p:cNvPr>
              <p:cNvSpPr/>
              <p:nvPr>
                <p:custDataLst>
                  <p:tags r:id="rId10"/>
                </p:custDataLst>
              </p:nvPr>
            </p:nvSpPr>
            <p:spPr>
              <a:xfrm>
                <a:off x="1889760" y="4296244"/>
                <a:ext cx="5488834" cy="859956"/>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370" name="Index-2">
                <a:extLst>
                  <a:ext uri="{FF2B5EF4-FFF2-40B4-BE49-F238E27FC236}">
                    <a16:creationId xmlns:a16="http://schemas.microsoft.com/office/drawing/2014/main" id="{69BDFBF2-5E5F-9470-38A3-01AB7C098CD3}"/>
                  </a:ext>
                </a:extLst>
              </p:cNvPr>
              <p:cNvSpPr/>
              <p:nvPr>
                <p:custDataLst>
                  <p:tags r:id="rId11"/>
                </p:custDataLst>
              </p:nvPr>
            </p:nvSpPr>
            <p:spPr>
              <a:xfrm>
                <a:off x="2302676" y="4459522"/>
                <a:ext cx="541020" cy="533400"/>
              </a:xfrm>
              <a:prstGeom prst="roundRect">
                <a:avLst>
                  <a:gd name="adj" fmla="val 50000"/>
                </a:avLst>
              </a:prstGeom>
              <a:solidFill>
                <a:srgbClr val="215C97"/>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2</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371" name="组合 370">
                <a:extLst>
                  <a:ext uri="{FF2B5EF4-FFF2-40B4-BE49-F238E27FC236}">
                    <a16:creationId xmlns:a16="http://schemas.microsoft.com/office/drawing/2014/main" id="{AF1E6198-0B44-B597-7736-CCBAA22168AC}"/>
                  </a:ext>
                </a:extLst>
              </p:cNvPr>
              <p:cNvGrpSpPr/>
              <p:nvPr/>
            </p:nvGrpSpPr>
            <p:grpSpPr>
              <a:xfrm>
                <a:off x="2938672" y="4442611"/>
                <a:ext cx="4344945" cy="651902"/>
                <a:chOff x="2938672" y="4441055"/>
                <a:chExt cx="4344945" cy="651902"/>
              </a:xfrm>
            </p:grpSpPr>
            <p:sp>
              <p:nvSpPr>
                <p:cNvPr id="372" name="Title-2">
                  <a:extLst>
                    <a:ext uri="{FF2B5EF4-FFF2-40B4-BE49-F238E27FC236}">
                      <a16:creationId xmlns:a16="http://schemas.microsoft.com/office/drawing/2014/main" id="{DFEB5B0E-136F-7074-874F-170FFEE4DCC1}"/>
                    </a:ext>
                  </a:extLst>
                </p:cNvPr>
                <p:cNvSpPr txBox="1"/>
                <p:nvPr>
                  <p:custDataLst>
                    <p:tags r:id="rId12"/>
                  </p:custDataLst>
                </p:nvPr>
              </p:nvSpPr>
              <p:spPr>
                <a:xfrm>
                  <a:off x="2938672" y="4441055"/>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特配</a:t>
                  </a:r>
                </a:p>
              </p:txBody>
            </p:sp>
            <p:sp>
              <p:nvSpPr>
                <p:cNvPr id="373" name="Body-2">
                  <a:extLst>
                    <a:ext uri="{FF2B5EF4-FFF2-40B4-BE49-F238E27FC236}">
                      <a16:creationId xmlns:a16="http://schemas.microsoft.com/office/drawing/2014/main" id="{45EC3EB3-6A0E-ABD8-15A6-6739097F0B3C}"/>
                    </a:ext>
                  </a:extLst>
                </p:cNvPr>
                <p:cNvSpPr>
                  <a:spLocks/>
                </p:cNvSpPr>
                <p:nvPr>
                  <p:custDataLst>
                    <p:tags r:id="rId13"/>
                  </p:custDataLst>
                </p:nvPr>
              </p:nvSpPr>
              <p:spPr>
                <a:xfrm>
                  <a:off x="2938673" y="4622086"/>
                  <a:ext cx="4344944"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需求指定个性化的产品结构</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需求指定供应</a:t>
                  </a:r>
                  <a:endPar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需求指定资源</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357" name="组合 356">
              <a:extLst>
                <a:ext uri="{FF2B5EF4-FFF2-40B4-BE49-F238E27FC236}">
                  <a16:creationId xmlns:a16="http://schemas.microsoft.com/office/drawing/2014/main" id="{2D1291E5-F9BD-421D-7A78-9CDBA90F40F6}"/>
                </a:ext>
              </a:extLst>
            </p:cNvPr>
            <p:cNvGrpSpPr/>
            <p:nvPr/>
          </p:nvGrpSpPr>
          <p:grpSpPr>
            <a:xfrm>
              <a:off x="357152" y="2810447"/>
              <a:ext cx="5488834" cy="896329"/>
              <a:chOff x="1914188" y="4107668"/>
              <a:chExt cx="5488834" cy="896329"/>
            </a:xfrm>
          </p:grpSpPr>
          <p:sp>
            <p:nvSpPr>
              <p:cNvPr id="364" name="3">
                <a:extLst>
                  <a:ext uri="{FF2B5EF4-FFF2-40B4-BE49-F238E27FC236}">
                    <a16:creationId xmlns:a16="http://schemas.microsoft.com/office/drawing/2014/main" id="{3ED4D127-3574-4783-4064-55E1D2273FD0}"/>
                  </a:ext>
                </a:extLst>
              </p:cNvPr>
              <p:cNvSpPr/>
              <p:nvPr>
                <p:custDataLst>
                  <p:tags r:id="rId6"/>
                </p:custDataLst>
              </p:nvPr>
            </p:nvSpPr>
            <p:spPr>
              <a:xfrm>
                <a:off x="1914188" y="4107668"/>
                <a:ext cx="5488834" cy="896329"/>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365" name="Index-3">
                <a:extLst>
                  <a:ext uri="{FF2B5EF4-FFF2-40B4-BE49-F238E27FC236}">
                    <a16:creationId xmlns:a16="http://schemas.microsoft.com/office/drawing/2014/main" id="{5872D5FA-8BA5-8F85-0879-6A8D563EE16D}"/>
                  </a:ext>
                </a:extLst>
              </p:cNvPr>
              <p:cNvSpPr/>
              <p:nvPr>
                <p:custDataLst>
                  <p:tags r:id="rId7"/>
                </p:custDataLst>
              </p:nvPr>
            </p:nvSpPr>
            <p:spPr>
              <a:xfrm>
                <a:off x="2397653" y="4234040"/>
                <a:ext cx="541020" cy="533400"/>
              </a:xfrm>
              <a:prstGeom prst="roundRect">
                <a:avLst>
                  <a:gd name="adj" fmla="val 50000"/>
                </a:avLst>
              </a:prstGeom>
              <a:solidFill>
                <a:schemeClr val="accent3"/>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3</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366" name="组合 365">
                <a:extLst>
                  <a:ext uri="{FF2B5EF4-FFF2-40B4-BE49-F238E27FC236}">
                    <a16:creationId xmlns:a16="http://schemas.microsoft.com/office/drawing/2014/main" id="{0B076250-AADC-8CB8-BB65-2E1BD1961F51}"/>
                  </a:ext>
                </a:extLst>
              </p:cNvPr>
              <p:cNvGrpSpPr/>
              <p:nvPr/>
            </p:nvGrpSpPr>
            <p:grpSpPr>
              <a:xfrm>
                <a:off x="2871433" y="4131408"/>
                <a:ext cx="4479676" cy="717987"/>
                <a:chOff x="2871433" y="4129852"/>
                <a:chExt cx="4479676" cy="717987"/>
              </a:xfrm>
            </p:grpSpPr>
            <p:sp>
              <p:nvSpPr>
                <p:cNvPr id="367" name="Title-3">
                  <a:extLst>
                    <a:ext uri="{FF2B5EF4-FFF2-40B4-BE49-F238E27FC236}">
                      <a16:creationId xmlns:a16="http://schemas.microsoft.com/office/drawing/2014/main" id="{2A6175D3-FEC5-F214-2618-6D5B21D1E214}"/>
                    </a:ext>
                  </a:extLst>
                </p:cNvPr>
                <p:cNvSpPr txBox="1"/>
                <p:nvPr>
                  <p:custDataLst>
                    <p:tags r:id="rId8"/>
                  </p:custDataLst>
                </p:nvPr>
              </p:nvSpPr>
              <p:spPr>
                <a:xfrm>
                  <a:off x="3006165" y="4129852"/>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A5A5A5"/>
                      </a:solidFill>
                      <a:effectLst/>
                      <a:uLnTx/>
                      <a:uFillTx/>
                      <a:latin typeface="Arial" panose="020B0604020202020204" pitchFamily="34" charset="0"/>
                      <a:ea typeface="微软雅黑" panose="020B0503020204020204" pitchFamily="34" charset="-122"/>
                      <a:cs typeface="+mn-cs"/>
                    </a:rPr>
                    <a:t>组替代</a:t>
                  </a:r>
                  <a:r>
                    <a:rPr kumimoji="0" lang="en-US" altLang="zh-CN" sz="1800" b="1" i="0" u="none" strike="noStrike" kern="1200" cap="none" spc="0" normalizeH="0" baseline="0" noProof="0" dirty="0">
                      <a:ln>
                        <a:noFill/>
                      </a:ln>
                      <a:solidFill>
                        <a:srgbClr val="A5A5A5"/>
                      </a:solidFill>
                      <a:effectLst/>
                      <a:uLnTx/>
                      <a:uFillTx/>
                      <a:latin typeface="Arial" panose="020B0604020202020204" pitchFamily="34" charset="0"/>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A5A5A5"/>
                      </a:solidFill>
                      <a:effectLst/>
                      <a:uLnTx/>
                      <a:uFillTx/>
                      <a:latin typeface="Arial" panose="020B0604020202020204" pitchFamily="34" charset="0"/>
                      <a:ea typeface="微软雅黑" panose="020B0503020204020204" pitchFamily="34" charset="-122"/>
                      <a:cs typeface="+mn-cs"/>
                    </a:rPr>
                    <a:t>多工厂</a:t>
                  </a:r>
                </a:p>
              </p:txBody>
            </p:sp>
            <p:sp>
              <p:nvSpPr>
                <p:cNvPr id="368" name="Body-3">
                  <a:extLst>
                    <a:ext uri="{FF2B5EF4-FFF2-40B4-BE49-F238E27FC236}">
                      <a16:creationId xmlns:a16="http://schemas.microsoft.com/office/drawing/2014/main" id="{F270950C-1E7D-9744-592F-EF38F241FA37}"/>
                    </a:ext>
                  </a:extLst>
                </p:cNvPr>
                <p:cNvSpPr>
                  <a:spLocks/>
                </p:cNvSpPr>
                <p:nvPr>
                  <p:custDataLst>
                    <p:tags r:id="rId9"/>
                  </p:custDataLst>
                </p:nvPr>
              </p:nvSpPr>
              <p:spPr>
                <a:xfrm>
                  <a:off x="2871433" y="4236077"/>
                  <a:ext cx="4344944" cy="611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供应层级 </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由最少层级供应</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新采购成本 </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计划采购成本最少</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及时交付 </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按时或者最少延迟</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供应优先级 </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按照替换资源的优先级</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现有成本 </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分配的</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On-Hand, SR</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及现存计划订单的成本</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358" name="组合 357">
              <a:extLst>
                <a:ext uri="{FF2B5EF4-FFF2-40B4-BE49-F238E27FC236}">
                  <a16:creationId xmlns:a16="http://schemas.microsoft.com/office/drawing/2014/main" id="{83C33932-460A-E44F-CB73-D3F23D38A1C5}"/>
                </a:ext>
              </a:extLst>
            </p:cNvPr>
            <p:cNvGrpSpPr/>
            <p:nvPr/>
          </p:nvGrpSpPr>
          <p:grpSpPr>
            <a:xfrm>
              <a:off x="6370442" y="2805927"/>
              <a:ext cx="5488834" cy="896329"/>
              <a:chOff x="1889760" y="4103148"/>
              <a:chExt cx="5488834" cy="896329"/>
            </a:xfrm>
          </p:grpSpPr>
          <p:sp>
            <p:nvSpPr>
              <p:cNvPr id="359" name="4">
                <a:extLst>
                  <a:ext uri="{FF2B5EF4-FFF2-40B4-BE49-F238E27FC236}">
                    <a16:creationId xmlns:a16="http://schemas.microsoft.com/office/drawing/2014/main" id="{9E3E4DCE-C99C-C9ED-5A45-18C0B09036B3}"/>
                  </a:ext>
                </a:extLst>
              </p:cNvPr>
              <p:cNvSpPr/>
              <p:nvPr>
                <p:custDataLst>
                  <p:tags r:id="rId2"/>
                </p:custDataLst>
              </p:nvPr>
            </p:nvSpPr>
            <p:spPr>
              <a:xfrm>
                <a:off x="1889760" y="4103148"/>
                <a:ext cx="5488834" cy="896329"/>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360" name="Index-4">
                <a:extLst>
                  <a:ext uri="{FF2B5EF4-FFF2-40B4-BE49-F238E27FC236}">
                    <a16:creationId xmlns:a16="http://schemas.microsoft.com/office/drawing/2014/main" id="{C5A38D51-1C84-6D9F-EB62-DE594B918F56}"/>
                  </a:ext>
                </a:extLst>
              </p:cNvPr>
              <p:cNvSpPr/>
              <p:nvPr>
                <p:custDataLst>
                  <p:tags r:id="rId3"/>
                </p:custDataLst>
              </p:nvPr>
            </p:nvSpPr>
            <p:spPr>
              <a:xfrm>
                <a:off x="2302676" y="4249176"/>
                <a:ext cx="541020" cy="533400"/>
              </a:xfrm>
              <a:prstGeom prst="roundRect">
                <a:avLst>
                  <a:gd name="adj" fmla="val 50000"/>
                </a:avLst>
              </a:prstGeom>
              <a:solidFill>
                <a:schemeClr val="accent4"/>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4</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361" name="组合 360">
                <a:extLst>
                  <a:ext uri="{FF2B5EF4-FFF2-40B4-BE49-F238E27FC236}">
                    <a16:creationId xmlns:a16="http://schemas.microsoft.com/office/drawing/2014/main" id="{42DD2E44-DEFB-CB18-17D5-7ADBF1AD0F59}"/>
                  </a:ext>
                </a:extLst>
              </p:cNvPr>
              <p:cNvGrpSpPr/>
              <p:nvPr/>
            </p:nvGrpSpPr>
            <p:grpSpPr>
              <a:xfrm>
                <a:off x="2966329" y="4186500"/>
                <a:ext cx="4344944" cy="804564"/>
                <a:chOff x="2966329" y="4184944"/>
                <a:chExt cx="4344944" cy="804564"/>
              </a:xfrm>
            </p:grpSpPr>
            <p:sp>
              <p:nvSpPr>
                <p:cNvPr id="362" name="Title-4">
                  <a:extLst>
                    <a:ext uri="{FF2B5EF4-FFF2-40B4-BE49-F238E27FC236}">
                      <a16:creationId xmlns:a16="http://schemas.microsoft.com/office/drawing/2014/main" id="{1013C4FB-05C5-C6CE-E239-FCAA2585D00C}"/>
                    </a:ext>
                  </a:extLst>
                </p:cNvPr>
                <p:cNvSpPr txBox="1"/>
                <p:nvPr>
                  <p:custDataLst>
                    <p:tags r:id="rId4"/>
                  </p:custDataLst>
                </p:nvPr>
              </p:nvSpPr>
              <p:spPr>
                <a:xfrm>
                  <a:off x="2966329" y="4184944"/>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DBF2E"/>
                      </a:solidFill>
                      <a:effectLst/>
                      <a:uLnTx/>
                      <a:uFillTx/>
                      <a:latin typeface="Arial" panose="020B0604020202020204" pitchFamily="34" charset="0"/>
                      <a:ea typeface="微软雅黑" panose="020B0503020204020204" pitchFamily="34" charset="-122"/>
                      <a:cs typeface="+mn-cs"/>
                    </a:rPr>
                    <a:t>不完全</a:t>
                  </a:r>
                  <a:r>
                    <a:rPr kumimoji="0" lang="en-US" altLang="zh-CN" sz="1800" b="1" i="0" u="none" strike="noStrike" kern="1200" cap="none" spc="0" normalizeH="0" baseline="0" noProof="0" dirty="0">
                      <a:ln>
                        <a:noFill/>
                      </a:ln>
                      <a:solidFill>
                        <a:srgbClr val="FDBF2E"/>
                      </a:solidFill>
                      <a:effectLst/>
                      <a:uLnTx/>
                      <a:uFillTx/>
                      <a:latin typeface="Arial" panose="020B0604020202020204" pitchFamily="34" charset="0"/>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FDBF2E"/>
                      </a:solidFill>
                      <a:effectLst/>
                      <a:uLnTx/>
                      <a:uFillTx/>
                      <a:latin typeface="Arial" panose="020B0604020202020204" pitchFamily="34" charset="0"/>
                      <a:ea typeface="微软雅黑" panose="020B0503020204020204" pitchFamily="34" charset="-122"/>
                      <a:cs typeface="+mn-cs"/>
                    </a:rPr>
                    <a:t>对称替代</a:t>
                  </a:r>
                </a:p>
              </p:txBody>
            </p:sp>
            <p:sp>
              <p:nvSpPr>
                <p:cNvPr id="363" name="Body-4">
                  <a:extLst>
                    <a:ext uri="{FF2B5EF4-FFF2-40B4-BE49-F238E27FC236}">
                      <a16:creationId xmlns:a16="http://schemas.microsoft.com/office/drawing/2014/main" id="{D1F1B988-BA75-0BA6-D7D1-BDFF14065EEA}"/>
                    </a:ext>
                  </a:extLst>
                </p:cNvPr>
                <p:cNvSpPr>
                  <a:spLocks/>
                </p:cNvSpPr>
                <p:nvPr>
                  <p:custDataLst>
                    <p:tags r:id="rId5"/>
                  </p:custDataLst>
                </p:nvPr>
              </p:nvSpPr>
              <p:spPr>
                <a:xfrm>
                  <a:off x="2966329" y="4314518"/>
                  <a:ext cx="4344944" cy="674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SWAP</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用尽现有供应（</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OH,SR, Exist Planned Order</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a:t>
                  </a:r>
                  <a:endPar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依据</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sourcing target</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产生</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planned order</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Pegging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作为</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allocation,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生成</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allotment</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作为滚动依据保障用对买对。</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324705636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77FF-274E-C320-2FFE-EDD8545F0D5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12C77EE-11BD-919F-6765-1D2129855106}"/>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替换 </a:t>
            </a:r>
            <a:r>
              <a:rPr lang="en-US" altLang="zh-CN" dirty="0">
                <a:latin typeface="Arial" panose="020B0604020202020204" pitchFamily="34" charset="0"/>
                <a:ea typeface="微软雅黑" panose="020B0503020204020204" pitchFamily="34" charset="-122"/>
              </a:rPr>
              <a:t>– Overview</a:t>
            </a:r>
            <a:r>
              <a:rPr lang="zh-CN" altLang="en-US" dirty="0">
                <a:latin typeface="Arial" panose="020B0604020202020204" pitchFamily="34" charset="0"/>
                <a:ea typeface="微软雅黑" panose="020B0503020204020204" pitchFamily="34" charset="-122"/>
              </a:rPr>
              <a:t>（</a:t>
            </a:r>
            <a:r>
              <a:rPr lang="en-US" altLang="zh-CN" dirty="0">
                <a:latin typeface="Arial" panose="020B0604020202020204" pitchFamily="34" charset="0"/>
                <a:ea typeface="微软雅黑" panose="020B0503020204020204" pitchFamily="34" charset="-122"/>
              </a:rPr>
              <a:t>cont.)</a:t>
            </a:r>
            <a:endParaRPr lang="zh-CN" altLang="en-US" dirty="0">
              <a:latin typeface="Arial" panose="020B0604020202020204" pitchFamily="34" charset="0"/>
              <a:ea typeface="微软雅黑" panose="020B0503020204020204" pitchFamily="34" charset="-122"/>
            </a:endParaRPr>
          </a:p>
        </p:txBody>
      </p:sp>
      <p:grpSp>
        <p:nvGrpSpPr>
          <p:cNvPr id="181" name="组合 180">
            <a:extLst>
              <a:ext uri="{FF2B5EF4-FFF2-40B4-BE49-F238E27FC236}">
                <a16:creationId xmlns:a16="http://schemas.microsoft.com/office/drawing/2014/main" id="{1094766F-DF2E-7D36-FFA5-A5BE0A0F0020}"/>
              </a:ext>
            </a:extLst>
          </p:cNvPr>
          <p:cNvGrpSpPr>
            <a:grpSpLocks noChangeAspect="1"/>
          </p:cNvGrpSpPr>
          <p:nvPr>
            <p:custDataLst>
              <p:tags r:id="rId1"/>
            </p:custDataLst>
          </p:nvPr>
        </p:nvGrpSpPr>
        <p:grpSpPr>
          <a:xfrm>
            <a:off x="175327" y="1562279"/>
            <a:ext cx="11757676" cy="5108686"/>
            <a:chOff x="284912" y="1623093"/>
            <a:chExt cx="11574364" cy="2027513"/>
          </a:xfrm>
        </p:grpSpPr>
        <p:grpSp>
          <p:nvGrpSpPr>
            <p:cNvPr id="182" name="组合 181">
              <a:extLst>
                <a:ext uri="{FF2B5EF4-FFF2-40B4-BE49-F238E27FC236}">
                  <a16:creationId xmlns:a16="http://schemas.microsoft.com/office/drawing/2014/main" id="{EB25E7C6-9AFD-A1E6-AF8F-1A4C886F088E}"/>
                </a:ext>
              </a:extLst>
            </p:cNvPr>
            <p:cNvGrpSpPr/>
            <p:nvPr/>
          </p:nvGrpSpPr>
          <p:grpSpPr>
            <a:xfrm>
              <a:off x="332724" y="1623093"/>
              <a:ext cx="5488834" cy="859956"/>
              <a:chOff x="1889760" y="4296244"/>
              <a:chExt cx="5488834" cy="859956"/>
            </a:xfrm>
          </p:grpSpPr>
          <p:sp>
            <p:nvSpPr>
              <p:cNvPr id="201" name="1">
                <a:extLst>
                  <a:ext uri="{FF2B5EF4-FFF2-40B4-BE49-F238E27FC236}">
                    <a16:creationId xmlns:a16="http://schemas.microsoft.com/office/drawing/2014/main" id="{D961984D-F13B-0058-15B5-7ED9BB62053A}"/>
                  </a:ext>
                </a:extLst>
              </p:cNvPr>
              <p:cNvSpPr/>
              <p:nvPr>
                <p:custDataLst>
                  <p:tags r:id="rId14"/>
                </p:custDataLst>
              </p:nvPr>
            </p:nvSpPr>
            <p:spPr>
              <a:xfrm>
                <a:off x="1889760" y="4296244"/>
                <a:ext cx="5488834" cy="859956"/>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202" name="Index-1">
                <a:extLst>
                  <a:ext uri="{FF2B5EF4-FFF2-40B4-BE49-F238E27FC236}">
                    <a16:creationId xmlns:a16="http://schemas.microsoft.com/office/drawing/2014/main" id="{5D7DDA16-73A6-678A-49B1-228DFE475D8D}"/>
                  </a:ext>
                </a:extLst>
              </p:cNvPr>
              <p:cNvSpPr/>
              <p:nvPr>
                <p:custDataLst>
                  <p:tags r:id="rId15"/>
                </p:custDataLst>
              </p:nvPr>
            </p:nvSpPr>
            <p:spPr>
              <a:xfrm>
                <a:off x="2302676" y="4459522"/>
                <a:ext cx="541020" cy="533400"/>
              </a:xfrm>
              <a:prstGeom prst="roundRect">
                <a:avLst>
                  <a:gd name="adj" fmla="val 50000"/>
                </a:avLst>
              </a:prstGeom>
              <a:solidFill>
                <a:schemeClr val="accent1"/>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5</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203" name="组合 202">
                <a:extLst>
                  <a:ext uri="{FF2B5EF4-FFF2-40B4-BE49-F238E27FC236}">
                    <a16:creationId xmlns:a16="http://schemas.microsoft.com/office/drawing/2014/main" id="{59B7AE4F-9DD7-1E0E-A69F-4CD71D6CF893}"/>
                  </a:ext>
                </a:extLst>
              </p:cNvPr>
              <p:cNvGrpSpPr/>
              <p:nvPr/>
            </p:nvGrpSpPr>
            <p:grpSpPr>
              <a:xfrm>
                <a:off x="2890859" y="4356890"/>
                <a:ext cx="4439922" cy="645514"/>
                <a:chOff x="2890859" y="4355334"/>
                <a:chExt cx="4439922" cy="645514"/>
              </a:xfrm>
            </p:grpSpPr>
            <p:sp>
              <p:nvSpPr>
                <p:cNvPr id="204" name="Title-1">
                  <a:extLst>
                    <a:ext uri="{FF2B5EF4-FFF2-40B4-BE49-F238E27FC236}">
                      <a16:creationId xmlns:a16="http://schemas.microsoft.com/office/drawing/2014/main" id="{2AF863E4-9562-2B96-BBE6-8EBB12B99309}"/>
                    </a:ext>
                  </a:extLst>
                </p:cNvPr>
                <p:cNvSpPr txBox="1"/>
                <p:nvPr>
                  <p:custDataLst>
                    <p:tags r:id="rId16"/>
                  </p:custDataLst>
                </p:nvPr>
              </p:nvSpPr>
              <p:spPr>
                <a:xfrm>
                  <a:off x="2890859" y="4355334"/>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4674C1"/>
                      </a:solidFill>
                      <a:effectLst/>
                      <a:uLnTx/>
                      <a:uFillTx/>
                      <a:latin typeface="Arial" panose="020B0604020202020204" pitchFamily="34" charset="0"/>
                      <a:ea typeface="微软雅黑" panose="020B0503020204020204" pitchFamily="34" charset="-122"/>
                      <a:cs typeface="+mn-cs"/>
                    </a:rPr>
                    <a:t>混料</a:t>
                  </a:r>
                </a:p>
              </p:txBody>
            </p:sp>
            <p:sp>
              <p:nvSpPr>
                <p:cNvPr id="205" name="Body-1">
                  <a:extLst>
                    <a:ext uri="{FF2B5EF4-FFF2-40B4-BE49-F238E27FC236}">
                      <a16:creationId xmlns:a16="http://schemas.microsoft.com/office/drawing/2014/main" id="{E877EF46-C06F-A295-5FE2-7F9C5CC4620F}"/>
                    </a:ext>
                  </a:extLst>
                </p:cNvPr>
                <p:cNvSpPr>
                  <a:spLocks/>
                </p:cNvSpPr>
                <p:nvPr>
                  <p:custDataLst>
                    <p:tags r:id="rId17"/>
                  </p:custDataLst>
                </p:nvPr>
              </p:nvSpPr>
              <p:spPr>
                <a:xfrm>
                  <a:off x="2985837" y="4529977"/>
                  <a:ext cx="4344944"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任何情况均可以混料</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同一需求是否混料</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同一工单是否可以混料</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同一单位父阶是否可以混料</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183" name="组合 182">
              <a:extLst>
                <a:ext uri="{FF2B5EF4-FFF2-40B4-BE49-F238E27FC236}">
                  <a16:creationId xmlns:a16="http://schemas.microsoft.com/office/drawing/2014/main" id="{259FC14A-18DC-B742-D148-6D294FB9D960}"/>
                </a:ext>
              </a:extLst>
            </p:cNvPr>
            <p:cNvGrpSpPr/>
            <p:nvPr/>
          </p:nvGrpSpPr>
          <p:grpSpPr>
            <a:xfrm>
              <a:off x="6370442" y="1623093"/>
              <a:ext cx="5488834" cy="859956"/>
              <a:chOff x="1889760" y="4296244"/>
              <a:chExt cx="5488834" cy="859956"/>
            </a:xfrm>
          </p:grpSpPr>
          <p:sp>
            <p:nvSpPr>
              <p:cNvPr id="196" name="2">
                <a:extLst>
                  <a:ext uri="{FF2B5EF4-FFF2-40B4-BE49-F238E27FC236}">
                    <a16:creationId xmlns:a16="http://schemas.microsoft.com/office/drawing/2014/main" id="{1FA9D0FC-64CE-2206-B116-3CB084B6DB45}"/>
                  </a:ext>
                </a:extLst>
              </p:cNvPr>
              <p:cNvSpPr/>
              <p:nvPr>
                <p:custDataLst>
                  <p:tags r:id="rId10"/>
                </p:custDataLst>
              </p:nvPr>
            </p:nvSpPr>
            <p:spPr>
              <a:xfrm>
                <a:off x="1889760" y="4296244"/>
                <a:ext cx="5488834" cy="859956"/>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97" name="Index-2">
                <a:extLst>
                  <a:ext uri="{FF2B5EF4-FFF2-40B4-BE49-F238E27FC236}">
                    <a16:creationId xmlns:a16="http://schemas.microsoft.com/office/drawing/2014/main" id="{021C4536-E2DA-325D-6DA0-996BD5FC84CB}"/>
                  </a:ext>
                </a:extLst>
              </p:cNvPr>
              <p:cNvSpPr/>
              <p:nvPr>
                <p:custDataLst>
                  <p:tags r:id="rId11"/>
                </p:custDataLst>
              </p:nvPr>
            </p:nvSpPr>
            <p:spPr>
              <a:xfrm>
                <a:off x="2302676" y="4459522"/>
                <a:ext cx="541020" cy="533400"/>
              </a:xfrm>
              <a:prstGeom prst="roundRect">
                <a:avLst>
                  <a:gd name="adj" fmla="val 50000"/>
                </a:avLst>
              </a:prstGeom>
              <a:solidFill>
                <a:srgbClr val="002060"/>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6</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198" name="组合 197">
                <a:extLst>
                  <a:ext uri="{FF2B5EF4-FFF2-40B4-BE49-F238E27FC236}">
                    <a16:creationId xmlns:a16="http://schemas.microsoft.com/office/drawing/2014/main" id="{C45F558E-324F-CAA1-C8BB-C7CBF481B703}"/>
                  </a:ext>
                </a:extLst>
              </p:cNvPr>
              <p:cNvGrpSpPr/>
              <p:nvPr/>
            </p:nvGrpSpPr>
            <p:grpSpPr>
              <a:xfrm>
                <a:off x="2843694" y="4356890"/>
                <a:ext cx="4439922" cy="783349"/>
                <a:chOff x="2843694" y="4355334"/>
                <a:chExt cx="4439922" cy="783349"/>
              </a:xfrm>
            </p:grpSpPr>
            <p:sp>
              <p:nvSpPr>
                <p:cNvPr id="199" name="Title-2">
                  <a:extLst>
                    <a:ext uri="{FF2B5EF4-FFF2-40B4-BE49-F238E27FC236}">
                      <a16:creationId xmlns:a16="http://schemas.microsoft.com/office/drawing/2014/main" id="{5F322CAF-F54C-37C1-17EC-01C4B4FE8FE6}"/>
                    </a:ext>
                  </a:extLst>
                </p:cNvPr>
                <p:cNvSpPr txBox="1"/>
                <p:nvPr>
                  <p:custDataLst>
                    <p:tags r:id="rId12"/>
                  </p:custDataLst>
                </p:nvPr>
              </p:nvSpPr>
              <p:spPr>
                <a:xfrm>
                  <a:off x="2938672" y="4355334"/>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主料与替换料关系</a:t>
                  </a:r>
                </a:p>
              </p:txBody>
            </p:sp>
            <p:sp>
              <p:nvSpPr>
                <p:cNvPr id="200" name="Body-2">
                  <a:extLst>
                    <a:ext uri="{FF2B5EF4-FFF2-40B4-BE49-F238E27FC236}">
                      <a16:creationId xmlns:a16="http://schemas.microsoft.com/office/drawing/2014/main" id="{A4CD41FB-5E8C-CE3B-1BB7-2BD7FBF1EF2E}"/>
                    </a:ext>
                  </a:extLst>
                </p:cNvPr>
                <p:cNvSpPr>
                  <a:spLocks/>
                </p:cNvSpPr>
                <p:nvPr>
                  <p:custDataLst>
                    <p:tags r:id="rId13"/>
                  </p:custDataLst>
                </p:nvPr>
              </p:nvSpPr>
              <p:spPr>
                <a:xfrm>
                  <a:off x="2843694" y="4448338"/>
                  <a:ext cx="4344944" cy="6903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interchangeable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组内互相替代，但计划单据只有主料能产生</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alt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替换料可以满足主料需求，但是主料不会满足替换料</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option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均可替代</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primary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主料有剩余时可以作为辅料</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184" name="组合 183">
              <a:extLst>
                <a:ext uri="{FF2B5EF4-FFF2-40B4-BE49-F238E27FC236}">
                  <a16:creationId xmlns:a16="http://schemas.microsoft.com/office/drawing/2014/main" id="{0446976B-1467-29BF-39AE-51103E84F6F5}"/>
                </a:ext>
              </a:extLst>
            </p:cNvPr>
            <p:cNvGrpSpPr/>
            <p:nvPr/>
          </p:nvGrpSpPr>
          <p:grpSpPr>
            <a:xfrm>
              <a:off x="284912" y="2646328"/>
              <a:ext cx="5488834" cy="961280"/>
              <a:chOff x="1841948" y="3943549"/>
              <a:chExt cx="5488834" cy="961280"/>
            </a:xfrm>
          </p:grpSpPr>
          <p:sp>
            <p:nvSpPr>
              <p:cNvPr id="191" name="3">
                <a:extLst>
                  <a:ext uri="{FF2B5EF4-FFF2-40B4-BE49-F238E27FC236}">
                    <a16:creationId xmlns:a16="http://schemas.microsoft.com/office/drawing/2014/main" id="{591E7315-44AC-EAE4-A25E-965264C8EAD2}"/>
                  </a:ext>
                </a:extLst>
              </p:cNvPr>
              <p:cNvSpPr/>
              <p:nvPr>
                <p:custDataLst>
                  <p:tags r:id="rId6"/>
                </p:custDataLst>
              </p:nvPr>
            </p:nvSpPr>
            <p:spPr>
              <a:xfrm>
                <a:off x="1841948" y="3943549"/>
                <a:ext cx="5488834" cy="961280"/>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92" name="Index-3">
                <a:extLst>
                  <a:ext uri="{FF2B5EF4-FFF2-40B4-BE49-F238E27FC236}">
                    <a16:creationId xmlns:a16="http://schemas.microsoft.com/office/drawing/2014/main" id="{28AA0C0A-8E03-49CC-ED0B-1C0F0D8E9A4E}"/>
                  </a:ext>
                </a:extLst>
              </p:cNvPr>
              <p:cNvSpPr/>
              <p:nvPr>
                <p:custDataLst>
                  <p:tags r:id="rId7"/>
                </p:custDataLst>
              </p:nvPr>
            </p:nvSpPr>
            <p:spPr>
              <a:xfrm>
                <a:off x="2350165" y="4106827"/>
                <a:ext cx="541020" cy="533400"/>
              </a:xfrm>
              <a:prstGeom prst="roundRect">
                <a:avLst>
                  <a:gd name="adj" fmla="val 50000"/>
                </a:avLst>
              </a:prstGeom>
              <a:solidFill>
                <a:schemeClr val="accent3"/>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7</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193" name="组合 192">
                <a:extLst>
                  <a:ext uri="{FF2B5EF4-FFF2-40B4-BE49-F238E27FC236}">
                    <a16:creationId xmlns:a16="http://schemas.microsoft.com/office/drawing/2014/main" id="{85398E93-45B8-B514-5BCD-F7A6D3B0722F}"/>
                  </a:ext>
                </a:extLst>
              </p:cNvPr>
              <p:cNvGrpSpPr/>
              <p:nvPr/>
            </p:nvGrpSpPr>
            <p:grpSpPr>
              <a:xfrm>
                <a:off x="2985837" y="4043966"/>
                <a:ext cx="4344945" cy="634080"/>
                <a:chOff x="2985837" y="4042410"/>
                <a:chExt cx="4344945" cy="634080"/>
              </a:xfrm>
            </p:grpSpPr>
            <p:sp>
              <p:nvSpPr>
                <p:cNvPr id="194" name="Title-3">
                  <a:extLst>
                    <a:ext uri="{FF2B5EF4-FFF2-40B4-BE49-F238E27FC236}">
                      <a16:creationId xmlns:a16="http://schemas.microsoft.com/office/drawing/2014/main" id="{AB766C65-BD7A-C5EB-81A0-5B361C6F30EB}"/>
                    </a:ext>
                  </a:extLst>
                </p:cNvPr>
                <p:cNvSpPr txBox="1"/>
                <p:nvPr>
                  <p:custDataLst>
                    <p:tags r:id="rId8"/>
                  </p:custDataLst>
                </p:nvPr>
              </p:nvSpPr>
              <p:spPr>
                <a:xfrm>
                  <a:off x="2985838" y="4042410"/>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A5A5A5"/>
                      </a:solidFill>
                      <a:effectLst/>
                      <a:uLnTx/>
                      <a:uFillTx/>
                      <a:latin typeface="Arial" panose="020B0604020202020204" pitchFamily="34" charset="0"/>
                      <a:ea typeface="微软雅黑" panose="020B0503020204020204" pitchFamily="34" charset="-122"/>
                      <a:cs typeface="+mn-cs"/>
                    </a:rPr>
                    <a:t>分配喜好</a:t>
                  </a:r>
                </a:p>
              </p:txBody>
            </p:sp>
            <p:sp>
              <p:nvSpPr>
                <p:cNvPr id="195" name="Body-3">
                  <a:extLst>
                    <a:ext uri="{FF2B5EF4-FFF2-40B4-BE49-F238E27FC236}">
                      <a16:creationId xmlns:a16="http://schemas.microsoft.com/office/drawing/2014/main" id="{222D1B4C-811A-26BF-4B8A-87CE09FE711B}"/>
                    </a:ext>
                  </a:extLst>
                </p:cNvPr>
                <p:cNvSpPr>
                  <a:spLocks/>
                </p:cNvSpPr>
                <p:nvPr>
                  <p:custDataLst>
                    <p:tags r:id="rId9"/>
                  </p:custDataLst>
                </p:nvPr>
              </p:nvSpPr>
              <p:spPr>
                <a:xfrm>
                  <a:off x="2985837" y="4205619"/>
                  <a:ext cx="4344944"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Z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尽量用优先级高的替换料</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N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尽量用最早的供应满足</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C – </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跟</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Z</a:t>
                  </a:r>
                  <a:r>
                    <a:rPr kumimoji="0" lang="zh-CN" altLang="en-US"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类似，但是要用完现有的供应，包括</a:t>
                  </a:r>
                  <a:r>
                    <a:rPr kumimoji="0" lang="en-US"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On-Hand, SR, Excess</a:t>
                  </a:r>
                  <a:endParaRPr kumimoji="0" lang="en-GB" altLang="zh-CN" sz="14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nvGrpSpPr>
            <p:cNvPr id="185" name="组合 184">
              <a:extLst>
                <a:ext uri="{FF2B5EF4-FFF2-40B4-BE49-F238E27FC236}">
                  <a16:creationId xmlns:a16="http://schemas.microsoft.com/office/drawing/2014/main" id="{06AC33A0-3496-D796-FCFD-5ED7C2F960CF}"/>
                </a:ext>
              </a:extLst>
            </p:cNvPr>
            <p:cNvGrpSpPr/>
            <p:nvPr/>
          </p:nvGrpSpPr>
          <p:grpSpPr>
            <a:xfrm>
              <a:off x="6328607" y="2689326"/>
              <a:ext cx="5488834" cy="961280"/>
              <a:chOff x="1847925" y="3986547"/>
              <a:chExt cx="5488834" cy="961280"/>
            </a:xfrm>
          </p:grpSpPr>
          <p:sp>
            <p:nvSpPr>
              <p:cNvPr id="186" name="4">
                <a:extLst>
                  <a:ext uri="{FF2B5EF4-FFF2-40B4-BE49-F238E27FC236}">
                    <a16:creationId xmlns:a16="http://schemas.microsoft.com/office/drawing/2014/main" id="{C4362BAC-E512-AD84-7C90-C2BDD4FA61A5}"/>
                  </a:ext>
                </a:extLst>
              </p:cNvPr>
              <p:cNvSpPr/>
              <p:nvPr>
                <p:custDataLst>
                  <p:tags r:id="rId2"/>
                </p:custDataLst>
              </p:nvPr>
            </p:nvSpPr>
            <p:spPr>
              <a:xfrm>
                <a:off x="1847925" y="3986547"/>
                <a:ext cx="5488834" cy="961280"/>
              </a:xfrm>
              <a:prstGeom prst="roundRect">
                <a:avLst>
                  <a:gd name="adj" fmla="val 50000"/>
                </a:avLst>
              </a:prstGeom>
              <a:solidFill>
                <a:schemeClr val="bg1">
                  <a:lumMod val="95000"/>
                </a:schemeClr>
              </a:solidFill>
              <a:ln w="25400">
                <a:gradFill>
                  <a:gsLst>
                    <a:gs pos="0">
                      <a:schemeClr val="bg1"/>
                    </a:gs>
                    <a:gs pos="100000">
                      <a:schemeClr val="bg1">
                        <a:lumMod val="85000"/>
                      </a:schemeClr>
                    </a:gs>
                  </a:gsLst>
                  <a:lin ang="5400000" scaled="1"/>
                </a:gradFill>
              </a:ln>
              <a:effectLst>
                <a:outerShdw blurRad="381000" dist="127000" algn="ctr" rotWithShape="0">
                  <a:schemeClr val="tx1">
                    <a:lumMod val="10000"/>
                    <a:lumOff val="9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87" name="Index-4">
                <a:extLst>
                  <a:ext uri="{FF2B5EF4-FFF2-40B4-BE49-F238E27FC236}">
                    <a16:creationId xmlns:a16="http://schemas.microsoft.com/office/drawing/2014/main" id="{F49B986C-20C4-4B87-E217-E38942C0C9A3}"/>
                  </a:ext>
                </a:extLst>
              </p:cNvPr>
              <p:cNvSpPr/>
              <p:nvPr>
                <p:custDataLst>
                  <p:tags r:id="rId3"/>
                </p:custDataLst>
              </p:nvPr>
            </p:nvSpPr>
            <p:spPr>
              <a:xfrm>
                <a:off x="2383810" y="4127454"/>
                <a:ext cx="541020" cy="533400"/>
              </a:xfrm>
              <a:prstGeom prst="roundRect">
                <a:avLst>
                  <a:gd name="adj" fmla="val 50000"/>
                </a:avLst>
              </a:prstGeom>
              <a:solidFill>
                <a:schemeClr val="accent4"/>
              </a:solidFill>
              <a:ln w="25400">
                <a:gradFill>
                  <a:gsLst>
                    <a:gs pos="0">
                      <a:schemeClr val="bg1"/>
                    </a:gs>
                    <a:gs pos="100000">
                      <a:schemeClr val="bg1">
                        <a:lumMod val="85000"/>
                      </a:schemeClr>
                    </a:gs>
                  </a:gsLst>
                  <a:lin ang="5400000" scaled="1"/>
                </a:gra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rPr>
                  <a:t>8</a:t>
                </a:r>
                <a:endParaRPr kumimoji="0" lang="zh-CN" altLang="en-US" sz="16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endParaRPr>
              </a:p>
            </p:txBody>
          </p:sp>
          <p:grpSp>
            <p:nvGrpSpPr>
              <p:cNvPr id="188" name="组合 187">
                <a:extLst>
                  <a:ext uri="{FF2B5EF4-FFF2-40B4-BE49-F238E27FC236}">
                    <a16:creationId xmlns:a16="http://schemas.microsoft.com/office/drawing/2014/main" id="{53059F29-C05E-836B-5751-4620DFA60667}"/>
                  </a:ext>
                </a:extLst>
              </p:cNvPr>
              <p:cNvGrpSpPr/>
              <p:nvPr/>
            </p:nvGrpSpPr>
            <p:grpSpPr>
              <a:xfrm>
                <a:off x="2843694" y="4051282"/>
                <a:ext cx="4493065" cy="853547"/>
                <a:chOff x="2843694" y="4049726"/>
                <a:chExt cx="4493065" cy="853547"/>
              </a:xfrm>
            </p:grpSpPr>
            <p:sp>
              <p:nvSpPr>
                <p:cNvPr id="189" name="Title-4">
                  <a:extLst>
                    <a:ext uri="{FF2B5EF4-FFF2-40B4-BE49-F238E27FC236}">
                      <a16:creationId xmlns:a16="http://schemas.microsoft.com/office/drawing/2014/main" id="{ED0E559D-1B0B-C7B9-FEEB-4D8FE92F4082}"/>
                    </a:ext>
                  </a:extLst>
                </p:cNvPr>
                <p:cNvSpPr txBox="1"/>
                <p:nvPr>
                  <p:custDataLst>
                    <p:tags r:id="rId4"/>
                  </p:custDataLst>
                </p:nvPr>
              </p:nvSpPr>
              <p:spPr>
                <a:xfrm>
                  <a:off x="2938672" y="4049726"/>
                  <a:ext cx="4344944" cy="369332"/>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DBF2E"/>
                      </a:solidFill>
                      <a:effectLst/>
                      <a:uLnTx/>
                      <a:uFillTx/>
                      <a:latin typeface="Arial" panose="020B0604020202020204" pitchFamily="34" charset="0"/>
                      <a:ea typeface="微软雅黑" panose="020B0503020204020204" pitchFamily="34" charset="-122"/>
                      <a:cs typeface="+mn-cs"/>
                    </a:rPr>
                    <a:t>寻源规则</a:t>
                  </a:r>
                </a:p>
              </p:txBody>
            </p:sp>
            <p:sp>
              <p:nvSpPr>
                <p:cNvPr id="190" name="Body-4">
                  <a:extLst>
                    <a:ext uri="{FF2B5EF4-FFF2-40B4-BE49-F238E27FC236}">
                      <a16:creationId xmlns:a16="http://schemas.microsoft.com/office/drawing/2014/main" id="{344C92FC-A52B-883D-6C44-540A36D421EF}"/>
                    </a:ext>
                  </a:extLst>
                </p:cNvPr>
                <p:cNvSpPr>
                  <a:spLocks/>
                </p:cNvSpPr>
                <p:nvPr>
                  <p:custDataLst>
                    <p:tags r:id="rId5"/>
                  </p:custDataLst>
                </p:nvPr>
              </p:nvSpPr>
              <p:spPr>
                <a:xfrm>
                  <a:off x="2843694" y="4125898"/>
                  <a:ext cx="4493065" cy="777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200" b="0" i="0" u="none" strike="noStrike" kern="1200" cap="none" spc="0" normalizeH="0" baseline="0" noProof="0" dirty="0" err="1">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on_going</a:t>
                  </a:r>
                  <a:r>
                    <a:rPr kumimoji="0" lang="en-US" altLang="zh-CN"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 </a:t>
                  </a:r>
                  <a:r>
                    <a:rPr kumimoji="0" lang="zh-CN" altLang="en-US"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（动态平衡分配），适合灵活调整场景</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200" b="0" i="0" u="none" strike="noStrike" kern="1200" cap="none" spc="0" normalizeH="0" baseline="0" noProof="0" dirty="0" err="1">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to_date</a:t>
                  </a:r>
                  <a:r>
                    <a:rPr kumimoji="0" lang="en-US" altLang="zh-CN"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a:t>
                  </a:r>
                  <a:r>
                    <a:rPr kumimoji="0" lang="zh-CN" altLang="en-US"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历史配额分配），优先维持历史分配比例，适合长期稳定的供应商合作关系</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proportional - </a:t>
                  </a:r>
                  <a:r>
                    <a:rPr kumimoji="0" lang="zh-CN" altLang="en-US"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每个计划需求将根据各有效部件来源的目标值比例拆分成多个子需求</a:t>
                  </a:r>
                </a:p>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r>
                    <a:rPr kumimoji="0" lang="en-US" altLang="zh-CN" sz="1200" b="0" i="0" u="none" strike="noStrike" kern="1200" cap="none" spc="0" normalizeH="0" baseline="0" noProof="0" dirty="0" err="1">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pro_lot_size</a:t>
                  </a:r>
                  <a:r>
                    <a:rPr kumimoji="0" lang="en-US" altLang="zh-CN"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 - </a:t>
                  </a:r>
                  <a:r>
                    <a:rPr kumimoji="0" lang="zh-CN" altLang="en-US"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rPr>
                    <a:t>动态调整比例：每次分配后重新计算剩余需求及比例，并应用批量规则（如最小起订量、订单倍数）</a:t>
                  </a:r>
                  <a:endParaRPr kumimoji="0" lang="en-GB" altLang="zh-CN" sz="1200" b="0" i="0" u="none" strike="noStrike" kern="1200" cap="none" spc="0" normalizeH="0" baseline="0" noProof="0" dirty="0">
                    <a:ln>
                      <a:noFill/>
                    </a:ln>
                    <a:solidFill>
                      <a:srgbClr val="E3E7F2">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402973680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32B1EFC-D4DB-7522-CA38-846EDC703844}"/>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切换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硬切</a:t>
            </a:r>
          </a:p>
        </p:txBody>
      </p:sp>
      <p:grpSp>
        <p:nvGrpSpPr>
          <p:cNvPr id="40" name="组合 39">
            <a:extLst>
              <a:ext uri="{FF2B5EF4-FFF2-40B4-BE49-F238E27FC236}">
                <a16:creationId xmlns:a16="http://schemas.microsoft.com/office/drawing/2014/main" id="{609E85FE-7AA6-DD60-765C-532C95C042AF}"/>
              </a:ext>
            </a:extLst>
          </p:cNvPr>
          <p:cNvGrpSpPr>
            <a:grpSpLocks noChangeAspect="1"/>
          </p:cNvGrpSpPr>
          <p:nvPr>
            <p:custDataLst>
              <p:tags r:id="rId1"/>
            </p:custDataLst>
          </p:nvPr>
        </p:nvGrpSpPr>
        <p:grpSpPr>
          <a:xfrm>
            <a:off x="3019831" y="1151019"/>
            <a:ext cx="5366861" cy="1450082"/>
            <a:chOff x="675644" y="1047414"/>
            <a:chExt cx="1859110" cy="2434784"/>
          </a:xfrm>
        </p:grpSpPr>
        <p:sp>
          <p:nvSpPr>
            <p:cNvPr id="51" name="Title-2">
              <a:extLst>
                <a:ext uri="{FF2B5EF4-FFF2-40B4-BE49-F238E27FC236}">
                  <a16:creationId xmlns:a16="http://schemas.microsoft.com/office/drawing/2014/main" id="{3194EBAB-B40C-D226-8947-AAEA632829D7}"/>
                </a:ext>
              </a:extLst>
            </p:cNvPr>
            <p:cNvSpPr/>
            <p:nvPr>
              <p:custDataLst>
                <p:tags r:id="rId2"/>
              </p:custDataLst>
            </p:nvPr>
          </p:nvSpPr>
          <p:spPr>
            <a:xfrm>
              <a:off x="675644" y="1909613"/>
              <a:ext cx="1859108" cy="774187"/>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的供应将不再可用。</a:t>
              </a:r>
            </a:p>
          </p:txBody>
        </p:sp>
        <p:sp>
          <p:nvSpPr>
            <p:cNvPr id="48" name="Title-1">
              <a:extLst>
                <a:ext uri="{FF2B5EF4-FFF2-40B4-BE49-F238E27FC236}">
                  <a16:creationId xmlns:a16="http://schemas.microsoft.com/office/drawing/2014/main" id="{0D559F2A-F0EF-C383-909D-62F47459F0E0}"/>
                </a:ext>
              </a:extLst>
            </p:cNvPr>
            <p:cNvSpPr/>
            <p:nvPr>
              <p:custDataLst>
                <p:tags r:id="rId3"/>
              </p:custDataLst>
            </p:nvPr>
          </p:nvSpPr>
          <p:spPr>
            <a:xfrm>
              <a:off x="675644" y="1047414"/>
              <a:ext cx="1859110"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0000" lnSpcReduction="20000"/>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改成</a:t>
              </a: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 ECN Date</a:t>
              </a: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之后</a:t>
              </a:r>
              <a:r>
                <a:rPr kumimoji="0" lang="en-US" altLang="zh-CN"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不会在其对应产品中出现。</a:t>
              </a:r>
            </a:p>
          </p:txBody>
        </p:sp>
        <p:sp>
          <p:nvSpPr>
            <p:cNvPr id="45" name="Title-3">
              <a:extLst>
                <a:ext uri="{FF2B5EF4-FFF2-40B4-BE49-F238E27FC236}">
                  <a16:creationId xmlns:a16="http://schemas.microsoft.com/office/drawing/2014/main" id="{1899C837-BE03-C71B-D819-00111800EAD0}"/>
                </a:ext>
              </a:extLst>
            </p:cNvPr>
            <p:cNvSpPr/>
            <p:nvPr>
              <p:custDataLst>
                <p:tags r:id="rId4"/>
              </p:custDataLst>
            </p:nvPr>
          </p:nvSpPr>
          <p:spPr>
            <a:xfrm>
              <a:off x="675645" y="2708011"/>
              <a:ext cx="1859107"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只能应用</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并对其产生新的需求。</a:t>
              </a:r>
              <a:endPar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53" name="立方体 52">
            <a:extLst>
              <a:ext uri="{FF2B5EF4-FFF2-40B4-BE49-F238E27FC236}">
                <a16:creationId xmlns:a16="http://schemas.microsoft.com/office/drawing/2014/main" id="{D402DF62-DB12-7964-DFB3-EA6C44FD958F}"/>
              </a:ext>
            </a:extLst>
          </p:cNvPr>
          <p:cNvSpPr/>
          <p:nvPr/>
        </p:nvSpPr>
        <p:spPr>
          <a:xfrm>
            <a:off x="920389" y="1166129"/>
            <a:ext cx="1040215" cy="354175"/>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可用供应</a:t>
            </a:r>
          </a:p>
        </p:txBody>
      </p:sp>
      <p:sp>
        <p:nvSpPr>
          <p:cNvPr id="54" name="立方体 53">
            <a:extLst>
              <a:ext uri="{FF2B5EF4-FFF2-40B4-BE49-F238E27FC236}">
                <a16:creationId xmlns:a16="http://schemas.microsoft.com/office/drawing/2014/main" id="{F0F9DA1B-078E-602E-D89B-D5960576C6E3}"/>
              </a:ext>
            </a:extLst>
          </p:cNvPr>
          <p:cNvSpPr/>
          <p:nvPr/>
        </p:nvSpPr>
        <p:spPr>
          <a:xfrm>
            <a:off x="920389" y="1684446"/>
            <a:ext cx="1043569" cy="354175"/>
          </a:xfrm>
          <a:prstGeom prst="cube">
            <a:avLst/>
          </a:prstGeom>
          <a:solidFill>
            <a:schemeClr val="bg2"/>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不可用供应</a:t>
            </a:r>
          </a:p>
        </p:txBody>
      </p:sp>
      <p:sp>
        <p:nvSpPr>
          <p:cNvPr id="55" name="立方体 54">
            <a:extLst>
              <a:ext uri="{FF2B5EF4-FFF2-40B4-BE49-F238E27FC236}">
                <a16:creationId xmlns:a16="http://schemas.microsoft.com/office/drawing/2014/main" id="{CC28049F-0A36-871D-1ED7-87732FAAFCA0}"/>
              </a:ext>
            </a:extLst>
          </p:cNvPr>
          <p:cNvSpPr/>
          <p:nvPr/>
        </p:nvSpPr>
        <p:spPr>
          <a:xfrm>
            <a:off x="920388" y="2313679"/>
            <a:ext cx="1040215" cy="354175"/>
          </a:xfrm>
          <a:prstGeom prst="cube">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计划供应</a:t>
            </a:r>
          </a:p>
        </p:txBody>
      </p:sp>
      <p:grpSp>
        <p:nvGrpSpPr>
          <p:cNvPr id="57" name="组合 56">
            <a:extLst>
              <a:ext uri="{FF2B5EF4-FFF2-40B4-BE49-F238E27FC236}">
                <a16:creationId xmlns:a16="http://schemas.microsoft.com/office/drawing/2014/main" id="{80328468-D949-80AA-AC8D-A13DB9E6F6C7}"/>
              </a:ext>
            </a:extLst>
          </p:cNvPr>
          <p:cNvGrpSpPr/>
          <p:nvPr/>
        </p:nvGrpSpPr>
        <p:grpSpPr>
          <a:xfrm>
            <a:off x="699655" y="3078832"/>
            <a:ext cx="10714759" cy="3529786"/>
            <a:chOff x="1626528" y="3696118"/>
            <a:chExt cx="8938944" cy="2519061"/>
          </a:xfrm>
        </p:grpSpPr>
        <p:grpSp>
          <p:nvGrpSpPr>
            <p:cNvPr id="4" name="组合 3">
              <a:extLst>
                <a:ext uri="{FF2B5EF4-FFF2-40B4-BE49-F238E27FC236}">
                  <a16:creationId xmlns:a16="http://schemas.microsoft.com/office/drawing/2014/main" id="{AF045A63-BBE5-E090-727F-CE1572208D7F}"/>
                </a:ext>
              </a:extLst>
            </p:cNvPr>
            <p:cNvGrpSpPr/>
            <p:nvPr/>
          </p:nvGrpSpPr>
          <p:grpSpPr>
            <a:xfrm>
              <a:off x="1626528" y="3696118"/>
              <a:ext cx="8720489" cy="2336129"/>
              <a:chOff x="-16195" y="2016994"/>
              <a:chExt cx="10879525" cy="3310774"/>
            </a:xfrm>
          </p:grpSpPr>
          <p:grpSp>
            <p:nvGrpSpPr>
              <p:cNvPr id="5" name="组合 4">
                <a:extLst>
                  <a:ext uri="{FF2B5EF4-FFF2-40B4-BE49-F238E27FC236}">
                    <a16:creationId xmlns:a16="http://schemas.microsoft.com/office/drawing/2014/main" id="{3A0C890C-BCC3-3E7F-4FBA-B1C91EA87262}"/>
                  </a:ext>
                </a:extLst>
              </p:cNvPr>
              <p:cNvGrpSpPr/>
              <p:nvPr/>
            </p:nvGrpSpPr>
            <p:grpSpPr>
              <a:xfrm>
                <a:off x="1487510" y="2016994"/>
                <a:ext cx="9375820" cy="3310774"/>
                <a:chOff x="1487510" y="2016994"/>
                <a:chExt cx="9375820" cy="3310774"/>
              </a:xfrm>
            </p:grpSpPr>
            <p:cxnSp>
              <p:nvCxnSpPr>
                <p:cNvPr id="10" name="直接连接符 9">
                  <a:extLst>
                    <a:ext uri="{FF2B5EF4-FFF2-40B4-BE49-F238E27FC236}">
                      <a16:creationId xmlns:a16="http://schemas.microsoft.com/office/drawing/2014/main" id="{0B386237-E846-E1CD-BF72-0794EB2EB9CD}"/>
                    </a:ext>
                  </a:extLst>
                </p:cNvPr>
                <p:cNvCxnSpPr/>
                <p:nvPr/>
              </p:nvCxnSpPr>
              <p:spPr>
                <a:xfrm>
                  <a:off x="1500389" y="3844343"/>
                  <a:ext cx="9362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直接连接符 10">
                  <a:extLst>
                    <a:ext uri="{FF2B5EF4-FFF2-40B4-BE49-F238E27FC236}">
                      <a16:creationId xmlns:a16="http://schemas.microsoft.com/office/drawing/2014/main" id="{9DF8D64A-C18A-5D8E-A5C5-F103E25FE9A6}"/>
                    </a:ext>
                  </a:extLst>
                </p:cNvPr>
                <p:cNvCxnSpPr>
                  <a:cxnSpLocks/>
                </p:cNvCxnSpPr>
                <p:nvPr/>
              </p:nvCxnSpPr>
              <p:spPr>
                <a:xfrm>
                  <a:off x="1487510" y="2016994"/>
                  <a:ext cx="0" cy="3310774"/>
                </a:xfrm>
                <a:prstGeom prst="line">
                  <a:avLst/>
                </a:prstGeom>
              </p:spPr>
              <p:style>
                <a:lnRef idx="2">
                  <a:schemeClr val="accent1"/>
                </a:lnRef>
                <a:fillRef idx="0">
                  <a:schemeClr val="accent1"/>
                </a:fillRef>
                <a:effectRef idx="1">
                  <a:schemeClr val="accent1"/>
                </a:effectRef>
                <a:fontRef idx="minor">
                  <a:schemeClr val="tx1"/>
                </a:fontRef>
              </p:style>
            </p:cxnSp>
          </p:grpSp>
          <p:sp>
            <p:nvSpPr>
              <p:cNvPr id="6" name="文本框 5">
                <a:extLst>
                  <a:ext uri="{FF2B5EF4-FFF2-40B4-BE49-F238E27FC236}">
                    <a16:creationId xmlns:a16="http://schemas.microsoft.com/office/drawing/2014/main" id="{6DC64A65-5776-CC39-6532-41A60FC0CE81}"/>
                  </a:ext>
                </a:extLst>
              </p:cNvPr>
              <p:cNvSpPr txBox="1"/>
              <p:nvPr/>
            </p:nvSpPr>
            <p:spPr>
              <a:xfrm>
                <a:off x="-16195" y="2382592"/>
                <a:ext cx="1510145" cy="3424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文本框 6">
                <a:extLst>
                  <a:ext uri="{FF2B5EF4-FFF2-40B4-BE49-F238E27FC236}">
                    <a16:creationId xmlns:a16="http://schemas.microsoft.com/office/drawing/2014/main" id="{20BBA6C3-8B20-3B6A-F6E5-21D9F0BABF84}"/>
                  </a:ext>
                </a:extLst>
              </p:cNvPr>
              <p:cNvSpPr txBox="1"/>
              <p:nvPr/>
            </p:nvSpPr>
            <p:spPr>
              <a:xfrm>
                <a:off x="43824" y="4604394"/>
                <a:ext cx="1152660" cy="3424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 name="直接连接符 7">
                <a:extLst>
                  <a:ext uri="{FF2B5EF4-FFF2-40B4-BE49-F238E27FC236}">
                    <a16:creationId xmlns:a16="http://schemas.microsoft.com/office/drawing/2014/main" id="{E3E1D95F-0227-AF79-51B7-A919632AC908}"/>
                  </a:ext>
                </a:extLst>
              </p:cNvPr>
              <p:cNvCxnSpPr/>
              <p:nvPr/>
            </p:nvCxnSpPr>
            <p:spPr>
              <a:xfrm>
                <a:off x="5995115" y="3161763"/>
                <a:ext cx="0" cy="1339403"/>
              </a:xfrm>
              <a:prstGeom prst="line">
                <a:avLst/>
              </a:prstGeom>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CF9567A8-EC99-F3A0-6D93-C5B991BC744D}"/>
                  </a:ext>
                </a:extLst>
              </p:cNvPr>
              <p:cNvSpPr txBox="1"/>
              <p:nvPr/>
            </p:nvSpPr>
            <p:spPr>
              <a:xfrm>
                <a:off x="5263601" y="4562560"/>
                <a:ext cx="1675327" cy="3112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1"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Date</a:t>
                </a:r>
              </a:p>
            </p:txBody>
          </p:sp>
        </p:grpSp>
        <p:sp>
          <p:nvSpPr>
            <p:cNvPr id="12" name="文本框 11">
              <a:extLst>
                <a:ext uri="{FF2B5EF4-FFF2-40B4-BE49-F238E27FC236}">
                  <a16:creationId xmlns:a16="http://schemas.microsoft.com/office/drawing/2014/main" id="{4B5DB63A-95E7-541C-E8DD-40B9242F6D28}"/>
                </a:ext>
              </a:extLst>
            </p:cNvPr>
            <p:cNvSpPr txBox="1"/>
            <p:nvPr/>
          </p:nvSpPr>
          <p:spPr>
            <a:xfrm>
              <a:off x="9641557" y="4462705"/>
              <a:ext cx="923915" cy="2416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3" name="组合 12">
              <a:extLst>
                <a:ext uri="{FF2B5EF4-FFF2-40B4-BE49-F238E27FC236}">
                  <a16:creationId xmlns:a16="http://schemas.microsoft.com/office/drawing/2014/main" id="{8DEC9FF3-8997-B9C0-4BC2-FBD54F1125DA}"/>
                </a:ext>
              </a:extLst>
            </p:cNvPr>
            <p:cNvGrpSpPr/>
            <p:nvPr/>
          </p:nvGrpSpPr>
          <p:grpSpPr>
            <a:xfrm>
              <a:off x="3578477" y="5248740"/>
              <a:ext cx="1674946" cy="362343"/>
              <a:chOff x="3696001" y="2719160"/>
              <a:chExt cx="1567554" cy="263520"/>
            </a:xfrm>
          </p:grpSpPr>
          <p:sp>
            <p:nvSpPr>
              <p:cNvPr id="14" name="立方体 13">
                <a:extLst>
                  <a:ext uri="{FF2B5EF4-FFF2-40B4-BE49-F238E27FC236}">
                    <a16:creationId xmlns:a16="http://schemas.microsoft.com/office/drawing/2014/main" id="{6680F9F1-695C-E916-57B1-A3E8705A9127}"/>
                  </a:ext>
                </a:extLst>
              </p:cNvPr>
              <p:cNvSpPr/>
              <p:nvPr/>
            </p:nvSpPr>
            <p:spPr>
              <a:xfrm>
                <a:off x="3696001" y="272510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立方体 14">
                <a:extLst>
                  <a:ext uri="{FF2B5EF4-FFF2-40B4-BE49-F238E27FC236}">
                    <a16:creationId xmlns:a16="http://schemas.microsoft.com/office/drawing/2014/main" id="{0C1E3F53-B720-333F-D6F2-517F39142BDD}"/>
                  </a:ext>
                </a:extLst>
              </p:cNvPr>
              <p:cNvSpPr/>
              <p:nvPr/>
            </p:nvSpPr>
            <p:spPr>
              <a:xfrm>
                <a:off x="4581070" y="271916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18" name="组合 17">
              <a:extLst>
                <a:ext uri="{FF2B5EF4-FFF2-40B4-BE49-F238E27FC236}">
                  <a16:creationId xmlns:a16="http://schemas.microsoft.com/office/drawing/2014/main" id="{9EA46FED-411A-2C32-4E65-1EC1FA353AE3}"/>
                </a:ext>
              </a:extLst>
            </p:cNvPr>
            <p:cNvGrpSpPr/>
            <p:nvPr/>
          </p:nvGrpSpPr>
          <p:grpSpPr>
            <a:xfrm>
              <a:off x="7490263" y="5268671"/>
              <a:ext cx="1652021" cy="946508"/>
              <a:chOff x="6764962" y="3191459"/>
              <a:chExt cx="1631085" cy="962075"/>
            </a:xfrm>
          </p:grpSpPr>
          <p:sp>
            <p:nvSpPr>
              <p:cNvPr id="19" name="立方体 18">
                <a:extLst>
                  <a:ext uri="{FF2B5EF4-FFF2-40B4-BE49-F238E27FC236}">
                    <a16:creationId xmlns:a16="http://schemas.microsoft.com/office/drawing/2014/main" id="{10997A72-CEF6-7134-196B-B6FFB686CE4A}"/>
                  </a:ext>
                </a:extLst>
              </p:cNvPr>
              <p:cNvSpPr/>
              <p:nvPr/>
            </p:nvSpPr>
            <p:spPr>
              <a:xfrm>
                <a:off x="6764962" y="3197399"/>
                <a:ext cx="720000" cy="360000"/>
              </a:xfrm>
              <a:prstGeom prst="cub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0" name="立方体 19">
                <a:extLst>
                  <a:ext uri="{FF2B5EF4-FFF2-40B4-BE49-F238E27FC236}">
                    <a16:creationId xmlns:a16="http://schemas.microsoft.com/office/drawing/2014/main" id="{80A54785-7350-E75B-8EBC-94EF04CABEF7}"/>
                  </a:ext>
                </a:extLst>
              </p:cNvPr>
              <p:cNvSpPr/>
              <p:nvPr/>
            </p:nvSpPr>
            <p:spPr>
              <a:xfrm>
                <a:off x="7650031" y="3191459"/>
                <a:ext cx="720000" cy="360000"/>
              </a:xfrm>
              <a:prstGeom prst="cub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1" name="立方体 20">
                <a:extLst>
                  <a:ext uri="{FF2B5EF4-FFF2-40B4-BE49-F238E27FC236}">
                    <a16:creationId xmlns:a16="http://schemas.microsoft.com/office/drawing/2014/main" id="{4CEAEAF6-515C-693B-4172-BFEF8DA939AF}"/>
                  </a:ext>
                </a:extLst>
              </p:cNvPr>
              <p:cNvSpPr/>
              <p:nvPr/>
            </p:nvSpPr>
            <p:spPr>
              <a:xfrm>
                <a:off x="6777330" y="3793534"/>
                <a:ext cx="720000" cy="360000"/>
              </a:xfrm>
              <a:prstGeom prst="cube">
                <a:avLst/>
              </a:prstGeom>
              <a:solidFill>
                <a:schemeClr val="bg2"/>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2" name="立方体 21">
                <a:extLst>
                  <a:ext uri="{FF2B5EF4-FFF2-40B4-BE49-F238E27FC236}">
                    <a16:creationId xmlns:a16="http://schemas.microsoft.com/office/drawing/2014/main" id="{59330654-887E-E933-60DD-59C4227196D1}"/>
                  </a:ext>
                </a:extLst>
              </p:cNvPr>
              <p:cNvSpPr/>
              <p:nvPr/>
            </p:nvSpPr>
            <p:spPr>
              <a:xfrm>
                <a:off x="7676047" y="3787594"/>
                <a:ext cx="720000" cy="360000"/>
              </a:xfrm>
              <a:prstGeom prst="cube">
                <a:avLst/>
              </a:prstGeom>
              <a:solidFill>
                <a:schemeClr val="bg2"/>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56" name="立方体 55">
              <a:extLst>
                <a:ext uri="{FF2B5EF4-FFF2-40B4-BE49-F238E27FC236}">
                  <a16:creationId xmlns:a16="http://schemas.microsoft.com/office/drawing/2014/main" id="{19D32CDB-1AFB-D940-DE86-4A9383A92A9A}"/>
                </a:ext>
              </a:extLst>
            </p:cNvPr>
            <p:cNvSpPr/>
            <p:nvPr/>
          </p:nvSpPr>
          <p:spPr>
            <a:xfrm>
              <a:off x="9289877" y="5248737"/>
              <a:ext cx="834426" cy="362343"/>
            </a:xfrm>
            <a:prstGeom prst="cube">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95040221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7AF2F-9FBE-DB50-85E1-4309A6886403}"/>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ECN – </a:t>
            </a:r>
            <a:r>
              <a:rPr lang="zh-CN" altLang="en-US" dirty="0">
                <a:latin typeface="Arial" panose="020B0604020202020204" pitchFamily="34" charset="0"/>
                <a:ea typeface="微软雅黑" panose="020B0503020204020204" pitchFamily="34" charset="-122"/>
              </a:rPr>
              <a:t>硬切</a:t>
            </a:r>
          </a:p>
        </p:txBody>
      </p:sp>
      <p:graphicFrame>
        <p:nvGraphicFramePr>
          <p:cNvPr id="3" name="表格 2">
            <a:extLst>
              <a:ext uri="{FF2B5EF4-FFF2-40B4-BE49-F238E27FC236}">
                <a16:creationId xmlns:a16="http://schemas.microsoft.com/office/drawing/2014/main" id="{01CC67AD-E0A3-1F6C-E6FD-A45A4941D589}"/>
              </a:ext>
            </a:extLst>
          </p:cNvPr>
          <p:cNvGraphicFramePr>
            <a:graphicFrameLocks noGrp="1"/>
          </p:cNvGraphicFramePr>
          <p:nvPr>
            <p:extLst>
              <p:ext uri="{D42A27DB-BD31-4B8C-83A1-F6EECF244321}">
                <p14:modId xmlns:p14="http://schemas.microsoft.com/office/powerpoint/2010/main" val="2735712682"/>
              </p:ext>
            </p:extLst>
          </p:nvPr>
        </p:nvGraphicFramePr>
        <p:xfrm>
          <a:off x="886690" y="2447483"/>
          <a:ext cx="10286999" cy="822960"/>
        </p:xfrm>
        <a:graphic>
          <a:graphicData uri="http://schemas.openxmlformats.org/drawingml/2006/table">
            <a:tbl>
              <a:tblPr firstRow="1" bandRow="1">
                <a:tableStyleId>{5C22544A-7EE6-4342-B048-85BDC9FD1C3A}</a:tableStyleId>
              </a:tblPr>
              <a:tblGrid>
                <a:gridCol w="1647567">
                  <a:extLst>
                    <a:ext uri="{9D8B030D-6E8A-4147-A177-3AD203B41FA5}">
                      <a16:colId xmlns:a16="http://schemas.microsoft.com/office/drawing/2014/main" val="2868247054"/>
                    </a:ext>
                  </a:extLst>
                </a:gridCol>
                <a:gridCol w="1647567">
                  <a:extLst>
                    <a:ext uri="{9D8B030D-6E8A-4147-A177-3AD203B41FA5}">
                      <a16:colId xmlns:a16="http://schemas.microsoft.com/office/drawing/2014/main" val="4099417746"/>
                    </a:ext>
                  </a:extLst>
                </a:gridCol>
                <a:gridCol w="1910148">
                  <a:extLst>
                    <a:ext uri="{9D8B030D-6E8A-4147-A177-3AD203B41FA5}">
                      <a16:colId xmlns:a16="http://schemas.microsoft.com/office/drawing/2014/main" val="525011126"/>
                    </a:ext>
                  </a:extLst>
                </a:gridCol>
                <a:gridCol w="1647567">
                  <a:extLst>
                    <a:ext uri="{9D8B030D-6E8A-4147-A177-3AD203B41FA5}">
                      <a16:colId xmlns:a16="http://schemas.microsoft.com/office/drawing/2014/main" val="4163670777"/>
                    </a:ext>
                  </a:extLst>
                </a:gridCol>
                <a:gridCol w="1717075">
                  <a:extLst>
                    <a:ext uri="{9D8B030D-6E8A-4147-A177-3AD203B41FA5}">
                      <a16:colId xmlns:a16="http://schemas.microsoft.com/office/drawing/2014/main" val="3334865434"/>
                    </a:ext>
                  </a:extLst>
                </a:gridCol>
                <a:gridCol w="1717075">
                  <a:extLst>
                    <a:ext uri="{9D8B030D-6E8A-4147-A177-3AD203B41FA5}">
                      <a16:colId xmlns:a16="http://schemas.microsoft.com/office/drawing/2014/main" val="3219726066"/>
                    </a:ext>
                  </a:extLst>
                </a:gridCol>
              </a:tblGrid>
              <a:tr h="401753">
                <a:tc>
                  <a:txBody>
                    <a:bodyPr/>
                    <a:lstStyle/>
                    <a:p>
                      <a:r>
                        <a:rPr lang="en-US" altLang="zh-CN" sz="1400" dirty="0">
                          <a:solidFill>
                            <a:schemeClr val="bg1"/>
                          </a:solidFill>
                          <a:latin typeface="Arial" panose="020B0604020202020204" pitchFamily="34" charset="0"/>
                          <a:ea typeface="微软雅黑" panose="020B0503020204020204" pitchFamily="34" charset="-122"/>
                        </a:rPr>
                        <a:t>BOM</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Item</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Part</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ECN</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err="1">
                          <a:solidFill>
                            <a:schemeClr val="bg1"/>
                          </a:solidFill>
                          <a:latin typeface="Arial" panose="020B0604020202020204" pitchFamily="34" charset="0"/>
                          <a:ea typeface="微软雅黑" panose="020B0503020204020204" pitchFamily="34" charset="-122"/>
                        </a:rPr>
                        <a:t>Eff_StartDate</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400" dirty="0" err="1">
                          <a:solidFill>
                            <a:schemeClr val="bg1"/>
                          </a:solidFill>
                          <a:latin typeface="Arial" panose="020B0604020202020204" pitchFamily="34" charset="0"/>
                          <a:ea typeface="微软雅黑" panose="020B0503020204020204" pitchFamily="34" charset="-122"/>
                        </a:rPr>
                        <a:t>Eff_EndDate</a:t>
                      </a:r>
                      <a:endParaRPr lang="zh-CN" altLang="en-US" sz="1400" dirty="0">
                        <a:solidFill>
                          <a:schemeClr val="bg1"/>
                        </a:solidFill>
                        <a:latin typeface="Arial" panose="020B0604020202020204" pitchFamily="34" charset="0"/>
                        <a:ea typeface="微软雅黑" panose="020B0503020204020204" pitchFamily="34" charset="-122"/>
                      </a:endParaRPr>
                    </a:p>
                    <a:p>
                      <a:endParaRPr lang="zh-CN" altLang="en-US" sz="140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243760725"/>
                  </a:ext>
                </a:extLst>
              </a:tr>
              <a:tr h="236326">
                <a:tc>
                  <a:txBody>
                    <a:bodyPr/>
                    <a:lstStyle/>
                    <a:p>
                      <a:r>
                        <a:rPr lang="en-US" altLang="zh-CN" sz="1400" dirty="0">
                          <a:solidFill>
                            <a:schemeClr val="bg1"/>
                          </a:solidFill>
                          <a:latin typeface="Arial" panose="020B0604020202020204" pitchFamily="34" charset="0"/>
                          <a:ea typeface="微软雅黑" panose="020B0503020204020204" pitchFamily="34" charset="-122"/>
                        </a:rPr>
                        <a:t>FG1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0010</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EC001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Past</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40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51950696"/>
                  </a:ext>
                </a:extLst>
              </a:tr>
            </a:tbl>
          </a:graphicData>
        </a:graphic>
      </p:graphicFrame>
      <p:sp>
        <p:nvSpPr>
          <p:cNvPr id="4" name="文本框 3">
            <a:extLst>
              <a:ext uri="{FF2B5EF4-FFF2-40B4-BE49-F238E27FC236}">
                <a16:creationId xmlns:a16="http://schemas.microsoft.com/office/drawing/2014/main" id="{1BBD7B75-02EC-9829-9D78-9F8BF6D8E41C}"/>
              </a:ext>
            </a:extLst>
          </p:cNvPr>
          <p:cNvSpPr txBox="1"/>
          <p:nvPr/>
        </p:nvSpPr>
        <p:spPr>
          <a:xfrm>
            <a:off x="886690" y="914399"/>
            <a:ext cx="5805055"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任何变更都需要</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来管理</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如果我们把</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改成</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，需要关联一个</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来记录</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的生效日期代表着变更的动作的生效日期</a:t>
            </a:r>
          </a:p>
        </p:txBody>
      </p:sp>
      <p:sp>
        <p:nvSpPr>
          <p:cNvPr id="5" name="文本框 4">
            <a:extLst>
              <a:ext uri="{FF2B5EF4-FFF2-40B4-BE49-F238E27FC236}">
                <a16:creationId xmlns:a16="http://schemas.microsoft.com/office/drawing/2014/main" id="{AF732B4A-594E-63D0-3BCF-8A9E5852739D}"/>
              </a:ext>
            </a:extLst>
          </p:cNvPr>
          <p:cNvSpPr txBox="1"/>
          <p:nvPr/>
        </p:nvSpPr>
        <p:spPr>
          <a:xfrm>
            <a:off x="831272" y="1912912"/>
            <a:ext cx="894311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Example: BOM FG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下有一颗料</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现将</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改成</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关联的</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EC002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生效日期为</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6.20</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6" name="表格 5">
            <a:extLst>
              <a:ext uri="{FF2B5EF4-FFF2-40B4-BE49-F238E27FC236}">
                <a16:creationId xmlns:a16="http://schemas.microsoft.com/office/drawing/2014/main" id="{3F5B932E-3498-1DB9-DA37-B76E2BE7C26D}"/>
              </a:ext>
            </a:extLst>
          </p:cNvPr>
          <p:cNvGraphicFramePr>
            <a:graphicFrameLocks noGrp="1"/>
          </p:cNvGraphicFramePr>
          <p:nvPr>
            <p:extLst>
              <p:ext uri="{D42A27DB-BD31-4B8C-83A1-F6EECF244321}">
                <p14:modId xmlns:p14="http://schemas.microsoft.com/office/powerpoint/2010/main" val="2436841957"/>
              </p:ext>
            </p:extLst>
          </p:nvPr>
        </p:nvGraphicFramePr>
        <p:xfrm>
          <a:off x="838199" y="3640976"/>
          <a:ext cx="10286998" cy="1127760"/>
        </p:xfrm>
        <a:graphic>
          <a:graphicData uri="http://schemas.openxmlformats.org/drawingml/2006/table">
            <a:tbl>
              <a:tblPr firstRow="1" bandRow="1">
                <a:tableStyleId>{5C22544A-7EE6-4342-B048-85BDC9FD1C3A}</a:tableStyleId>
              </a:tblPr>
              <a:tblGrid>
                <a:gridCol w="1411897">
                  <a:extLst>
                    <a:ext uri="{9D8B030D-6E8A-4147-A177-3AD203B41FA5}">
                      <a16:colId xmlns:a16="http://schemas.microsoft.com/office/drawing/2014/main" val="2868247054"/>
                    </a:ext>
                  </a:extLst>
                </a:gridCol>
                <a:gridCol w="1411897">
                  <a:extLst>
                    <a:ext uri="{9D8B030D-6E8A-4147-A177-3AD203B41FA5}">
                      <a16:colId xmlns:a16="http://schemas.microsoft.com/office/drawing/2014/main" val="4099417746"/>
                    </a:ext>
                  </a:extLst>
                </a:gridCol>
                <a:gridCol w="1636918">
                  <a:extLst>
                    <a:ext uri="{9D8B030D-6E8A-4147-A177-3AD203B41FA5}">
                      <a16:colId xmlns:a16="http://schemas.microsoft.com/office/drawing/2014/main" val="525011126"/>
                    </a:ext>
                  </a:extLst>
                </a:gridCol>
                <a:gridCol w="1411897">
                  <a:extLst>
                    <a:ext uri="{9D8B030D-6E8A-4147-A177-3AD203B41FA5}">
                      <a16:colId xmlns:a16="http://schemas.microsoft.com/office/drawing/2014/main" val="4163670777"/>
                    </a:ext>
                  </a:extLst>
                </a:gridCol>
                <a:gridCol w="1471463">
                  <a:extLst>
                    <a:ext uri="{9D8B030D-6E8A-4147-A177-3AD203B41FA5}">
                      <a16:colId xmlns:a16="http://schemas.microsoft.com/office/drawing/2014/main" val="3334865434"/>
                    </a:ext>
                  </a:extLst>
                </a:gridCol>
                <a:gridCol w="1471463">
                  <a:extLst>
                    <a:ext uri="{9D8B030D-6E8A-4147-A177-3AD203B41FA5}">
                      <a16:colId xmlns:a16="http://schemas.microsoft.com/office/drawing/2014/main" val="3219726066"/>
                    </a:ext>
                  </a:extLst>
                </a:gridCol>
                <a:gridCol w="1471463">
                  <a:extLst>
                    <a:ext uri="{9D8B030D-6E8A-4147-A177-3AD203B41FA5}">
                      <a16:colId xmlns:a16="http://schemas.microsoft.com/office/drawing/2014/main" val="692791350"/>
                    </a:ext>
                  </a:extLst>
                </a:gridCol>
              </a:tblGrid>
              <a:tr h="401753">
                <a:tc>
                  <a:txBody>
                    <a:bodyPr/>
                    <a:lstStyle/>
                    <a:p>
                      <a:r>
                        <a:rPr lang="en-US" altLang="zh-CN" sz="1400" dirty="0">
                          <a:solidFill>
                            <a:schemeClr val="bg1"/>
                          </a:solidFill>
                          <a:latin typeface="Arial" panose="020B0604020202020204" pitchFamily="34" charset="0"/>
                          <a:ea typeface="微软雅黑" panose="020B0503020204020204" pitchFamily="34" charset="-122"/>
                        </a:rPr>
                        <a:t>BOM</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Item</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Part</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ECN</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err="1">
                          <a:solidFill>
                            <a:schemeClr val="bg1"/>
                          </a:solidFill>
                          <a:latin typeface="Arial" panose="020B0604020202020204" pitchFamily="34" charset="0"/>
                          <a:ea typeface="微软雅黑" panose="020B0503020204020204" pitchFamily="34" charset="-122"/>
                        </a:rPr>
                        <a:t>Eff_StartDate</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400" dirty="0" err="1">
                          <a:solidFill>
                            <a:schemeClr val="bg1"/>
                          </a:solidFill>
                          <a:latin typeface="Arial" panose="020B0604020202020204" pitchFamily="34" charset="0"/>
                          <a:ea typeface="微软雅黑" panose="020B0503020204020204" pitchFamily="34" charset="-122"/>
                        </a:rPr>
                        <a:t>Eff_EndDate</a:t>
                      </a:r>
                      <a:endParaRPr lang="zh-CN" altLang="en-US" sz="1400" dirty="0">
                        <a:solidFill>
                          <a:schemeClr val="bg1"/>
                        </a:solidFill>
                        <a:latin typeface="Arial" panose="020B0604020202020204" pitchFamily="34" charset="0"/>
                        <a:ea typeface="微软雅黑" panose="020B0503020204020204" pitchFamily="34" charset="-122"/>
                      </a:endParaRPr>
                    </a:p>
                    <a:p>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Changed to ECN</a:t>
                      </a:r>
                      <a:endParaRPr lang="zh-CN" altLang="en-US" sz="140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243760725"/>
                  </a:ext>
                </a:extLst>
              </a:tr>
              <a:tr h="236326">
                <a:tc>
                  <a:txBody>
                    <a:bodyPr/>
                    <a:lstStyle/>
                    <a:p>
                      <a:r>
                        <a:rPr lang="en-US" altLang="zh-CN" sz="1400" dirty="0">
                          <a:solidFill>
                            <a:schemeClr val="bg1"/>
                          </a:solidFill>
                          <a:latin typeface="Arial" panose="020B0604020202020204" pitchFamily="34" charset="0"/>
                          <a:ea typeface="微软雅黑" panose="020B0503020204020204" pitchFamily="34" charset="-122"/>
                        </a:rPr>
                        <a:t>FG1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0010</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EC001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Past</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6.20</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EC002</a:t>
                      </a:r>
                      <a:endParaRPr lang="zh-CN" altLang="en-US" sz="140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51950696"/>
                  </a:ext>
                </a:extLst>
              </a:tr>
              <a:tr h="236326">
                <a:tc>
                  <a:txBody>
                    <a:bodyPr/>
                    <a:lstStyle/>
                    <a:p>
                      <a:r>
                        <a:rPr lang="en-US" altLang="zh-CN" sz="1400" dirty="0">
                          <a:solidFill>
                            <a:schemeClr val="bg1"/>
                          </a:solidFill>
                          <a:latin typeface="Arial" panose="020B0604020202020204" pitchFamily="34" charset="0"/>
                          <a:ea typeface="微软雅黑" panose="020B0503020204020204" pitchFamily="34" charset="-122"/>
                        </a:rPr>
                        <a:t>FG1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0010</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P2</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EC001</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6.20</a:t>
                      </a:r>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40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400" dirty="0">
                          <a:solidFill>
                            <a:schemeClr val="bg1"/>
                          </a:solidFill>
                          <a:latin typeface="Arial" panose="020B0604020202020204" pitchFamily="34" charset="0"/>
                          <a:ea typeface="微软雅黑" panose="020B0503020204020204" pitchFamily="34" charset="-122"/>
                        </a:rPr>
                        <a:t>EC002</a:t>
                      </a:r>
                      <a:endParaRPr lang="zh-CN" altLang="en-US" sz="140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40492166"/>
                  </a:ext>
                </a:extLst>
              </a:tr>
            </a:tbl>
          </a:graphicData>
        </a:graphic>
      </p:graphicFrame>
      <p:sp>
        <p:nvSpPr>
          <p:cNvPr id="7" name="文本框 6">
            <a:extLst>
              <a:ext uri="{FF2B5EF4-FFF2-40B4-BE49-F238E27FC236}">
                <a16:creationId xmlns:a16="http://schemas.microsoft.com/office/drawing/2014/main" id="{99B53E48-2222-5AE3-F777-8BEF25F0675A}"/>
              </a:ext>
            </a:extLst>
          </p:cNvPr>
          <p:cNvSpPr txBox="1"/>
          <p:nvPr/>
        </p:nvSpPr>
        <p:spPr>
          <a:xfrm>
            <a:off x="1835728" y="5257800"/>
            <a:ext cx="6345381"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从现在开始</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的供应只能用</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6.20</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日之前的</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6.20</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日之后</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将不会再由</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构成</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6.20</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日之后可以用</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的供应</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20</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日之后</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将由</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构成</a:t>
            </a:r>
          </a:p>
        </p:txBody>
      </p:sp>
    </p:spTree>
    <p:extLst>
      <p:ext uri="{BB962C8B-B14F-4D97-AF65-F5344CB8AC3E}">
        <p14:creationId xmlns:p14="http://schemas.microsoft.com/office/powerpoint/2010/main" val="25349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42BD-1D34-05BA-4834-1B18E45B7B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CADFE91-DCFD-2DF5-2BF1-6F609A780F45}"/>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切换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软切</a:t>
            </a:r>
          </a:p>
        </p:txBody>
      </p:sp>
      <p:grpSp>
        <p:nvGrpSpPr>
          <p:cNvPr id="47" name="组合 46">
            <a:extLst>
              <a:ext uri="{FF2B5EF4-FFF2-40B4-BE49-F238E27FC236}">
                <a16:creationId xmlns:a16="http://schemas.microsoft.com/office/drawing/2014/main" id="{D57514F0-8E76-941B-9720-8646DE1D39EA}"/>
              </a:ext>
            </a:extLst>
          </p:cNvPr>
          <p:cNvGrpSpPr/>
          <p:nvPr/>
        </p:nvGrpSpPr>
        <p:grpSpPr>
          <a:xfrm>
            <a:off x="789708" y="3078831"/>
            <a:ext cx="10390909" cy="3543642"/>
            <a:chOff x="1609760" y="4013886"/>
            <a:chExt cx="8904712" cy="1950675"/>
          </a:xfrm>
        </p:grpSpPr>
        <p:grpSp>
          <p:nvGrpSpPr>
            <p:cNvPr id="4" name="组合 3">
              <a:extLst>
                <a:ext uri="{FF2B5EF4-FFF2-40B4-BE49-F238E27FC236}">
                  <a16:creationId xmlns:a16="http://schemas.microsoft.com/office/drawing/2014/main" id="{34CF3E6C-635C-A9F3-8FE0-F24725A76753}"/>
                </a:ext>
              </a:extLst>
            </p:cNvPr>
            <p:cNvGrpSpPr/>
            <p:nvPr/>
          </p:nvGrpSpPr>
          <p:grpSpPr>
            <a:xfrm>
              <a:off x="1609760" y="4013886"/>
              <a:ext cx="8161361" cy="1698990"/>
              <a:chOff x="-16195" y="2016994"/>
              <a:chExt cx="10879525" cy="3310774"/>
            </a:xfrm>
          </p:grpSpPr>
          <p:grpSp>
            <p:nvGrpSpPr>
              <p:cNvPr id="5" name="组合 4">
                <a:extLst>
                  <a:ext uri="{FF2B5EF4-FFF2-40B4-BE49-F238E27FC236}">
                    <a16:creationId xmlns:a16="http://schemas.microsoft.com/office/drawing/2014/main" id="{D3C93E91-4FF7-DED5-A9DC-BF99A8EB9E43}"/>
                  </a:ext>
                </a:extLst>
              </p:cNvPr>
              <p:cNvGrpSpPr/>
              <p:nvPr/>
            </p:nvGrpSpPr>
            <p:grpSpPr>
              <a:xfrm>
                <a:off x="1487510" y="2016994"/>
                <a:ext cx="9375820" cy="3310774"/>
                <a:chOff x="1487510" y="2016994"/>
                <a:chExt cx="9375820" cy="3310774"/>
              </a:xfrm>
            </p:grpSpPr>
            <p:cxnSp>
              <p:nvCxnSpPr>
                <p:cNvPr id="10" name="直接连接符 9">
                  <a:extLst>
                    <a:ext uri="{FF2B5EF4-FFF2-40B4-BE49-F238E27FC236}">
                      <a16:creationId xmlns:a16="http://schemas.microsoft.com/office/drawing/2014/main" id="{3FEBF3C3-2B0D-45CB-5346-2358630F8E97}"/>
                    </a:ext>
                  </a:extLst>
                </p:cNvPr>
                <p:cNvCxnSpPr/>
                <p:nvPr/>
              </p:nvCxnSpPr>
              <p:spPr>
                <a:xfrm>
                  <a:off x="1500389" y="3844343"/>
                  <a:ext cx="9362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直接连接符 10">
                  <a:extLst>
                    <a:ext uri="{FF2B5EF4-FFF2-40B4-BE49-F238E27FC236}">
                      <a16:creationId xmlns:a16="http://schemas.microsoft.com/office/drawing/2014/main" id="{53FD10A1-180E-CA4E-EC29-24FA2E398DCA}"/>
                    </a:ext>
                  </a:extLst>
                </p:cNvPr>
                <p:cNvCxnSpPr>
                  <a:cxnSpLocks/>
                </p:cNvCxnSpPr>
                <p:nvPr/>
              </p:nvCxnSpPr>
              <p:spPr>
                <a:xfrm>
                  <a:off x="1487510" y="2016994"/>
                  <a:ext cx="0" cy="3310774"/>
                </a:xfrm>
                <a:prstGeom prst="line">
                  <a:avLst/>
                </a:prstGeom>
              </p:spPr>
              <p:style>
                <a:lnRef idx="2">
                  <a:schemeClr val="accent1"/>
                </a:lnRef>
                <a:fillRef idx="0">
                  <a:schemeClr val="accent1"/>
                </a:fillRef>
                <a:effectRef idx="1">
                  <a:schemeClr val="accent1"/>
                </a:effectRef>
                <a:fontRef idx="minor">
                  <a:schemeClr val="tx1"/>
                </a:fontRef>
              </p:style>
            </p:cxnSp>
          </p:grpSp>
          <p:sp>
            <p:nvSpPr>
              <p:cNvPr id="6" name="文本框 5">
                <a:extLst>
                  <a:ext uri="{FF2B5EF4-FFF2-40B4-BE49-F238E27FC236}">
                    <a16:creationId xmlns:a16="http://schemas.microsoft.com/office/drawing/2014/main" id="{75F7A472-AF7E-4175-9096-E6250114EC0A}"/>
                  </a:ext>
                </a:extLst>
              </p:cNvPr>
              <p:cNvSpPr txBox="1"/>
              <p:nvPr/>
            </p:nvSpPr>
            <p:spPr>
              <a:xfrm>
                <a:off x="-16195" y="2382592"/>
                <a:ext cx="1510145" cy="363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文本框 6">
                <a:extLst>
                  <a:ext uri="{FF2B5EF4-FFF2-40B4-BE49-F238E27FC236}">
                    <a16:creationId xmlns:a16="http://schemas.microsoft.com/office/drawing/2014/main" id="{C1047B5B-43FB-8628-7208-40B330EECB2C}"/>
                  </a:ext>
                </a:extLst>
              </p:cNvPr>
              <p:cNvSpPr txBox="1"/>
              <p:nvPr/>
            </p:nvSpPr>
            <p:spPr>
              <a:xfrm>
                <a:off x="43824" y="4604394"/>
                <a:ext cx="1152660" cy="363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8" name="直接连接符 7">
                <a:extLst>
                  <a:ext uri="{FF2B5EF4-FFF2-40B4-BE49-F238E27FC236}">
                    <a16:creationId xmlns:a16="http://schemas.microsoft.com/office/drawing/2014/main" id="{A3D6AA8D-C308-7D19-128D-95CB6C3D61DC}"/>
                  </a:ext>
                </a:extLst>
              </p:cNvPr>
              <p:cNvCxnSpPr/>
              <p:nvPr/>
            </p:nvCxnSpPr>
            <p:spPr>
              <a:xfrm>
                <a:off x="5995115" y="3161763"/>
                <a:ext cx="0" cy="1339403"/>
              </a:xfrm>
              <a:prstGeom prst="line">
                <a:avLst/>
              </a:prstGeom>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34964935-B5DC-91E3-78B0-A6D207303644}"/>
                  </a:ext>
                </a:extLst>
              </p:cNvPr>
              <p:cNvSpPr txBox="1"/>
              <p:nvPr/>
            </p:nvSpPr>
            <p:spPr>
              <a:xfrm>
                <a:off x="5263601" y="4562560"/>
                <a:ext cx="1675327" cy="3301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1"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Date</a:t>
                </a:r>
              </a:p>
            </p:txBody>
          </p:sp>
        </p:grpSp>
        <p:sp>
          <p:nvSpPr>
            <p:cNvPr id="12" name="文本框 11">
              <a:extLst>
                <a:ext uri="{FF2B5EF4-FFF2-40B4-BE49-F238E27FC236}">
                  <a16:creationId xmlns:a16="http://schemas.microsoft.com/office/drawing/2014/main" id="{856037C1-10ED-617C-03E0-B46E93D341D4}"/>
                </a:ext>
              </a:extLst>
            </p:cNvPr>
            <p:cNvSpPr txBox="1"/>
            <p:nvPr/>
          </p:nvSpPr>
          <p:spPr>
            <a:xfrm>
              <a:off x="9649795" y="4947380"/>
              <a:ext cx="864677" cy="1863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3" name="组合 12">
              <a:extLst>
                <a:ext uri="{FF2B5EF4-FFF2-40B4-BE49-F238E27FC236}">
                  <a16:creationId xmlns:a16="http://schemas.microsoft.com/office/drawing/2014/main" id="{04CDC7EB-7DB4-9191-EB1B-64F3FA9608BE}"/>
                </a:ext>
              </a:extLst>
            </p:cNvPr>
            <p:cNvGrpSpPr/>
            <p:nvPr/>
          </p:nvGrpSpPr>
          <p:grpSpPr>
            <a:xfrm>
              <a:off x="3586714" y="5132046"/>
              <a:ext cx="1567554" cy="263520"/>
              <a:chOff x="3696001" y="2719160"/>
              <a:chExt cx="1567554" cy="263520"/>
            </a:xfrm>
          </p:grpSpPr>
          <p:sp>
            <p:nvSpPr>
              <p:cNvPr id="14" name="立方体 13">
                <a:extLst>
                  <a:ext uri="{FF2B5EF4-FFF2-40B4-BE49-F238E27FC236}">
                    <a16:creationId xmlns:a16="http://schemas.microsoft.com/office/drawing/2014/main" id="{0D162F7E-3F58-1DDC-FB56-52C690685E25}"/>
                  </a:ext>
                </a:extLst>
              </p:cNvPr>
              <p:cNvSpPr/>
              <p:nvPr/>
            </p:nvSpPr>
            <p:spPr>
              <a:xfrm>
                <a:off x="3696001" y="272510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5" name="立方体 14">
                <a:extLst>
                  <a:ext uri="{FF2B5EF4-FFF2-40B4-BE49-F238E27FC236}">
                    <a16:creationId xmlns:a16="http://schemas.microsoft.com/office/drawing/2014/main" id="{9AB9D045-9B2E-61F2-E235-44B784D9B1D3}"/>
                  </a:ext>
                </a:extLst>
              </p:cNvPr>
              <p:cNvSpPr/>
              <p:nvPr/>
            </p:nvSpPr>
            <p:spPr>
              <a:xfrm>
                <a:off x="4581070" y="271916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18" name="组合 17">
              <a:extLst>
                <a:ext uri="{FF2B5EF4-FFF2-40B4-BE49-F238E27FC236}">
                  <a16:creationId xmlns:a16="http://schemas.microsoft.com/office/drawing/2014/main" id="{744D2FED-D9EA-CFEE-D094-401DEF3EC2E7}"/>
                </a:ext>
              </a:extLst>
            </p:cNvPr>
            <p:cNvGrpSpPr/>
            <p:nvPr/>
          </p:nvGrpSpPr>
          <p:grpSpPr>
            <a:xfrm>
              <a:off x="6728312" y="5129921"/>
              <a:ext cx="1534375" cy="261830"/>
              <a:chOff x="6777330" y="3787594"/>
              <a:chExt cx="1618717" cy="365940"/>
            </a:xfrm>
          </p:grpSpPr>
          <p:sp>
            <p:nvSpPr>
              <p:cNvPr id="21" name="立方体 20">
                <a:extLst>
                  <a:ext uri="{FF2B5EF4-FFF2-40B4-BE49-F238E27FC236}">
                    <a16:creationId xmlns:a16="http://schemas.microsoft.com/office/drawing/2014/main" id="{089B9061-01BD-C7BE-12F3-8C6F4273A704}"/>
                  </a:ext>
                </a:extLst>
              </p:cNvPr>
              <p:cNvSpPr/>
              <p:nvPr/>
            </p:nvSpPr>
            <p:spPr>
              <a:xfrm>
                <a:off x="6777330" y="3793534"/>
                <a:ext cx="720000" cy="360000"/>
              </a:xfrm>
              <a:prstGeom prst="cub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2" name="立方体 21">
                <a:extLst>
                  <a:ext uri="{FF2B5EF4-FFF2-40B4-BE49-F238E27FC236}">
                    <a16:creationId xmlns:a16="http://schemas.microsoft.com/office/drawing/2014/main" id="{B0217396-C611-B686-1D24-FC3AAA31B949}"/>
                  </a:ext>
                </a:extLst>
              </p:cNvPr>
              <p:cNvSpPr/>
              <p:nvPr/>
            </p:nvSpPr>
            <p:spPr>
              <a:xfrm>
                <a:off x="7676047" y="3787594"/>
                <a:ext cx="720000" cy="360000"/>
              </a:xfrm>
              <a:prstGeom prst="cub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2" name="立方体 1">
              <a:extLst>
                <a:ext uri="{FF2B5EF4-FFF2-40B4-BE49-F238E27FC236}">
                  <a16:creationId xmlns:a16="http://schemas.microsoft.com/office/drawing/2014/main" id="{7F685BA2-FED3-F0EB-7EB6-085554ACB8EA}"/>
                </a:ext>
              </a:extLst>
            </p:cNvPr>
            <p:cNvSpPr/>
            <p:nvPr/>
          </p:nvSpPr>
          <p:spPr>
            <a:xfrm>
              <a:off x="6728311" y="5706981"/>
              <a:ext cx="682485" cy="257580"/>
            </a:xfrm>
            <a:prstGeom prst="cube">
              <a:avLst/>
            </a:prstGeom>
            <a:solidFill>
              <a:srgbClr val="00B05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40" name="组合 39">
            <a:extLst>
              <a:ext uri="{FF2B5EF4-FFF2-40B4-BE49-F238E27FC236}">
                <a16:creationId xmlns:a16="http://schemas.microsoft.com/office/drawing/2014/main" id="{A23250EE-FF00-D40B-6A19-65EBF1547439}"/>
              </a:ext>
            </a:extLst>
          </p:cNvPr>
          <p:cNvGrpSpPr>
            <a:grpSpLocks noChangeAspect="1"/>
          </p:cNvGrpSpPr>
          <p:nvPr>
            <p:custDataLst>
              <p:tags r:id="rId1"/>
            </p:custDataLst>
          </p:nvPr>
        </p:nvGrpSpPr>
        <p:grpSpPr>
          <a:xfrm>
            <a:off x="3019831" y="1151019"/>
            <a:ext cx="5366861" cy="1450082"/>
            <a:chOff x="675644" y="1047414"/>
            <a:chExt cx="1859110" cy="2434784"/>
          </a:xfrm>
        </p:grpSpPr>
        <p:sp>
          <p:nvSpPr>
            <p:cNvPr id="41" name="Title-2">
              <a:extLst>
                <a:ext uri="{FF2B5EF4-FFF2-40B4-BE49-F238E27FC236}">
                  <a16:creationId xmlns:a16="http://schemas.microsoft.com/office/drawing/2014/main" id="{26F6D3C7-37F0-BDC5-7689-4B2D18D51AA3}"/>
                </a:ext>
              </a:extLst>
            </p:cNvPr>
            <p:cNvSpPr/>
            <p:nvPr>
              <p:custDataLst>
                <p:tags r:id="rId2"/>
              </p:custDataLst>
            </p:nvPr>
          </p:nvSpPr>
          <p:spPr>
            <a:xfrm>
              <a:off x="675644" y="1909613"/>
              <a:ext cx="1859108" cy="774187"/>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的供应先用，如果不够产生对</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的相应需求</a:t>
              </a:r>
            </a:p>
          </p:txBody>
        </p:sp>
        <p:sp>
          <p:nvSpPr>
            <p:cNvPr id="42" name="Title-1">
              <a:extLst>
                <a:ext uri="{FF2B5EF4-FFF2-40B4-BE49-F238E27FC236}">
                  <a16:creationId xmlns:a16="http://schemas.microsoft.com/office/drawing/2014/main" id="{ABAEF5B4-6D38-E092-70D1-F332D095D3E8}"/>
                </a:ext>
              </a:extLst>
            </p:cNvPr>
            <p:cNvSpPr/>
            <p:nvPr>
              <p:custDataLst>
                <p:tags r:id="rId3"/>
              </p:custDataLst>
            </p:nvPr>
          </p:nvSpPr>
          <p:spPr>
            <a:xfrm>
              <a:off x="675644" y="1047414"/>
              <a:ext cx="1859110"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添加其替换物料</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3" name="Title-3">
              <a:extLst>
                <a:ext uri="{FF2B5EF4-FFF2-40B4-BE49-F238E27FC236}">
                  <a16:creationId xmlns:a16="http://schemas.microsoft.com/office/drawing/2014/main" id="{D1640096-C54D-BA4E-313D-4A1FC4E3958D}"/>
                </a:ext>
              </a:extLst>
            </p:cNvPr>
            <p:cNvSpPr/>
            <p:nvPr>
              <p:custDataLst>
                <p:tags r:id="rId4"/>
              </p:custDataLst>
            </p:nvPr>
          </p:nvSpPr>
          <p:spPr>
            <a:xfrm>
              <a:off x="675645" y="2708011"/>
              <a:ext cx="1859107"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的计划单据在</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Date</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之后</a:t>
              </a:r>
              <a:endPar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44" name="立方体 43">
            <a:extLst>
              <a:ext uri="{FF2B5EF4-FFF2-40B4-BE49-F238E27FC236}">
                <a16:creationId xmlns:a16="http://schemas.microsoft.com/office/drawing/2014/main" id="{74A0A2AC-1ADF-EDA4-D6E0-DB1B86DAAC20}"/>
              </a:ext>
            </a:extLst>
          </p:cNvPr>
          <p:cNvSpPr/>
          <p:nvPr/>
        </p:nvSpPr>
        <p:spPr>
          <a:xfrm>
            <a:off x="920389" y="1166129"/>
            <a:ext cx="1040215" cy="354175"/>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可用供应</a:t>
            </a:r>
          </a:p>
        </p:txBody>
      </p:sp>
      <p:sp>
        <p:nvSpPr>
          <p:cNvPr id="46" name="立方体 45">
            <a:extLst>
              <a:ext uri="{FF2B5EF4-FFF2-40B4-BE49-F238E27FC236}">
                <a16:creationId xmlns:a16="http://schemas.microsoft.com/office/drawing/2014/main" id="{ED93FC78-D7CE-D20D-DA5E-306541A43F09}"/>
              </a:ext>
            </a:extLst>
          </p:cNvPr>
          <p:cNvSpPr/>
          <p:nvPr/>
        </p:nvSpPr>
        <p:spPr>
          <a:xfrm>
            <a:off x="930559" y="1938717"/>
            <a:ext cx="1040215" cy="354175"/>
          </a:xfrm>
          <a:prstGeom prst="cube">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计划供应</a:t>
            </a:r>
          </a:p>
        </p:txBody>
      </p:sp>
    </p:spTree>
    <p:extLst>
      <p:ext uri="{BB962C8B-B14F-4D97-AF65-F5344CB8AC3E}">
        <p14:creationId xmlns:p14="http://schemas.microsoft.com/office/powerpoint/2010/main" val="10448301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6D8C-8B31-389F-DD0D-EB3A4F7CBD8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F0A293-173C-C088-E171-D65BAAC6A318}"/>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ECN – </a:t>
            </a:r>
            <a:r>
              <a:rPr lang="zh-CN" altLang="en-US" dirty="0">
                <a:latin typeface="Arial" panose="020B0604020202020204" pitchFamily="34" charset="0"/>
                <a:ea typeface="微软雅黑" panose="020B0503020204020204" pitchFamily="34" charset="-122"/>
              </a:rPr>
              <a:t>软切</a:t>
            </a:r>
          </a:p>
        </p:txBody>
      </p:sp>
      <p:graphicFrame>
        <p:nvGraphicFramePr>
          <p:cNvPr id="3" name="表格 2">
            <a:extLst>
              <a:ext uri="{FF2B5EF4-FFF2-40B4-BE49-F238E27FC236}">
                <a16:creationId xmlns:a16="http://schemas.microsoft.com/office/drawing/2014/main" id="{1B038FF3-AD3D-F94B-DE16-879FE6E37202}"/>
              </a:ext>
            </a:extLst>
          </p:cNvPr>
          <p:cNvGraphicFramePr>
            <a:graphicFrameLocks noGrp="1"/>
          </p:cNvGraphicFramePr>
          <p:nvPr>
            <p:extLst>
              <p:ext uri="{D42A27DB-BD31-4B8C-83A1-F6EECF244321}">
                <p14:modId xmlns:p14="http://schemas.microsoft.com/office/powerpoint/2010/main" val="594351297"/>
              </p:ext>
            </p:extLst>
          </p:nvPr>
        </p:nvGraphicFramePr>
        <p:xfrm>
          <a:off x="886690" y="1984225"/>
          <a:ext cx="10286999" cy="822960"/>
        </p:xfrm>
        <a:graphic>
          <a:graphicData uri="http://schemas.openxmlformats.org/drawingml/2006/table">
            <a:tbl>
              <a:tblPr firstRow="1" bandRow="1">
                <a:tableStyleId>{5C22544A-7EE6-4342-B048-85BDC9FD1C3A}</a:tableStyleId>
              </a:tblPr>
              <a:tblGrid>
                <a:gridCol w="1647567">
                  <a:extLst>
                    <a:ext uri="{9D8B030D-6E8A-4147-A177-3AD203B41FA5}">
                      <a16:colId xmlns:a16="http://schemas.microsoft.com/office/drawing/2014/main" val="2868247054"/>
                    </a:ext>
                  </a:extLst>
                </a:gridCol>
                <a:gridCol w="1647567">
                  <a:extLst>
                    <a:ext uri="{9D8B030D-6E8A-4147-A177-3AD203B41FA5}">
                      <a16:colId xmlns:a16="http://schemas.microsoft.com/office/drawing/2014/main" val="4099417746"/>
                    </a:ext>
                  </a:extLst>
                </a:gridCol>
                <a:gridCol w="1910148">
                  <a:extLst>
                    <a:ext uri="{9D8B030D-6E8A-4147-A177-3AD203B41FA5}">
                      <a16:colId xmlns:a16="http://schemas.microsoft.com/office/drawing/2014/main" val="525011126"/>
                    </a:ext>
                  </a:extLst>
                </a:gridCol>
                <a:gridCol w="1647567">
                  <a:extLst>
                    <a:ext uri="{9D8B030D-6E8A-4147-A177-3AD203B41FA5}">
                      <a16:colId xmlns:a16="http://schemas.microsoft.com/office/drawing/2014/main" val="4163670777"/>
                    </a:ext>
                  </a:extLst>
                </a:gridCol>
                <a:gridCol w="1717075">
                  <a:extLst>
                    <a:ext uri="{9D8B030D-6E8A-4147-A177-3AD203B41FA5}">
                      <a16:colId xmlns:a16="http://schemas.microsoft.com/office/drawing/2014/main" val="3334865434"/>
                    </a:ext>
                  </a:extLst>
                </a:gridCol>
                <a:gridCol w="1717075">
                  <a:extLst>
                    <a:ext uri="{9D8B030D-6E8A-4147-A177-3AD203B41FA5}">
                      <a16:colId xmlns:a16="http://schemas.microsoft.com/office/drawing/2014/main" val="3219726066"/>
                    </a:ext>
                  </a:extLst>
                </a:gridCol>
              </a:tblGrid>
              <a:tr h="401753">
                <a:tc>
                  <a:txBody>
                    <a:bodyPr/>
                    <a:lstStyle/>
                    <a:p>
                      <a:r>
                        <a:rPr lang="en-US" altLang="zh-CN" sz="1400" dirty="0">
                          <a:latin typeface="Arial" panose="020B0604020202020204" pitchFamily="34" charset="0"/>
                          <a:ea typeface="微软雅黑" panose="020B0503020204020204" pitchFamily="34" charset="-122"/>
                        </a:rPr>
                        <a:t>BOM</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Item</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Part</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ECN</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err="1">
                          <a:latin typeface="Arial" panose="020B0604020202020204" pitchFamily="34" charset="0"/>
                          <a:ea typeface="微软雅黑" panose="020B0503020204020204" pitchFamily="34" charset="-122"/>
                        </a:rPr>
                        <a:t>Eff_StartDate</a:t>
                      </a:r>
                      <a:endParaRPr lang="zh-CN" altLang="en-US" sz="1400" dirty="0">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400" dirty="0" err="1">
                          <a:latin typeface="Arial" panose="020B0604020202020204" pitchFamily="34" charset="0"/>
                          <a:ea typeface="微软雅黑" panose="020B0503020204020204" pitchFamily="34" charset="-122"/>
                        </a:rPr>
                        <a:t>Eff_EndDate</a:t>
                      </a:r>
                      <a:endParaRPr lang="zh-CN" altLang="en-US" sz="1400" dirty="0">
                        <a:latin typeface="Arial" panose="020B0604020202020204" pitchFamily="34" charset="0"/>
                        <a:ea typeface="微软雅黑" panose="020B0503020204020204" pitchFamily="34" charset="-122"/>
                      </a:endParaRPr>
                    </a:p>
                    <a:p>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243760725"/>
                  </a:ext>
                </a:extLst>
              </a:tr>
              <a:tr h="236326">
                <a:tc>
                  <a:txBody>
                    <a:bodyPr/>
                    <a:lstStyle/>
                    <a:p>
                      <a:r>
                        <a:rPr lang="en-US" altLang="zh-CN" sz="1400" dirty="0">
                          <a:latin typeface="Arial" panose="020B0604020202020204" pitchFamily="34" charset="0"/>
                          <a:ea typeface="微软雅黑" panose="020B0503020204020204" pitchFamily="34" charset="-122"/>
                        </a:rPr>
                        <a:t>FG1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0010</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EC001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Past</a:t>
                      </a:r>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51950696"/>
                  </a:ext>
                </a:extLst>
              </a:tr>
            </a:tbl>
          </a:graphicData>
        </a:graphic>
      </p:graphicFrame>
      <p:sp>
        <p:nvSpPr>
          <p:cNvPr id="4" name="文本框 3">
            <a:extLst>
              <a:ext uri="{FF2B5EF4-FFF2-40B4-BE49-F238E27FC236}">
                <a16:creationId xmlns:a16="http://schemas.microsoft.com/office/drawing/2014/main" id="{CA438223-248B-D88D-D41A-A5E762704DC4}"/>
              </a:ext>
            </a:extLst>
          </p:cNvPr>
          <p:cNvSpPr txBox="1"/>
          <p:nvPr/>
        </p:nvSpPr>
        <p:spPr>
          <a:xfrm>
            <a:off x="886690" y="783103"/>
            <a:ext cx="9122724"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首先我们创建替换组</a:t>
            </a: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并使得</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隶属于</a:t>
            </a: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ECN002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在</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中添加</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也隶属于</a:t>
            </a: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003,ECN 003</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生效日期在当前日期</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设置</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为主料，即其</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为最小值</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6" name="表格 5">
            <a:extLst>
              <a:ext uri="{FF2B5EF4-FFF2-40B4-BE49-F238E27FC236}">
                <a16:creationId xmlns:a16="http://schemas.microsoft.com/office/drawing/2014/main" id="{131ADAC4-4EC3-EAF1-6140-7445C65391EF}"/>
              </a:ext>
            </a:extLst>
          </p:cNvPr>
          <p:cNvGraphicFramePr>
            <a:graphicFrameLocks noGrp="1"/>
          </p:cNvGraphicFramePr>
          <p:nvPr>
            <p:extLst>
              <p:ext uri="{D42A27DB-BD31-4B8C-83A1-F6EECF244321}">
                <p14:modId xmlns:p14="http://schemas.microsoft.com/office/powerpoint/2010/main" val="3795408663"/>
              </p:ext>
            </p:extLst>
          </p:nvPr>
        </p:nvGraphicFramePr>
        <p:xfrm>
          <a:off x="581889" y="3429000"/>
          <a:ext cx="11127482" cy="1432560"/>
        </p:xfrm>
        <a:graphic>
          <a:graphicData uri="http://schemas.openxmlformats.org/drawingml/2006/table">
            <a:tbl>
              <a:tblPr firstRow="1" bandRow="1">
                <a:tableStyleId>{5C22544A-7EE6-4342-B048-85BDC9FD1C3A}</a:tableStyleId>
              </a:tblPr>
              <a:tblGrid>
                <a:gridCol w="1097828">
                  <a:extLst>
                    <a:ext uri="{9D8B030D-6E8A-4147-A177-3AD203B41FA5}">
                      <a16:colId xmlns:a16="http://schemas.microsoft.com/office/drawing/2014/main" val="2868247054"/>
                    </a:ext>
                  </a:extLst>
                </a:gridCol>
                <a:gridCol w="1097828">
                  <a:extLst>
                    <a:ext uri="{9D8B030D-6E8A-4147-A177-3AD203B41FA5}">
                      <a16:colId xmlns:a16="http://schemas.microsoft.com/office/drawing/2014/main" val="4099417746"/>
                    </a:ext>
                  </a:extLst>
                </a:gridCol>
                <a:gridCol w="1272794">
                  <a:extLst>
                    <a:ext uri="{9D8B030D-6E8A-4147-A177-3AD203B41FA5}">
                      <a16:colId xmlns:a16="http://schemas.microsoft.com/office/drawing/2014/main" val="525011126"/>
                    </a:ext>
                  </a:extLst>
                </a:gridCol>
                <a:gridCol w="1097828">
                  <a:extLst>
                    <a:ext uri="{9D8B030D-6E8A-4147-A177-3AD203B41FA5}">
                      <a16:colId xmlns:a16="http://schemas.microsoft.com/office/drawing/2014/main" val="4163670777"/>
                    </a:ext>
                  </a:extLst>
                </a:gridCol>
                <a:gridCol w="1356043">
                  <a:extLst>
                    <a:ext uri="{9D8B030D-6E8A-4147-A177-3AD203B41FA5}">
                      <a16:colId xmlns:a16="http://schemas.microsoft.com/office/drawing/2014/main" val="3334865434"/>
                    </a:ext>
                  </a:extLst>
                </a:gridCol>
                <a:gridCol w="1286193">
                  <a:extLst>
                    <a:ext uri="{9D8B030D-6E8A-4147-A177-3AD203B41FA5}">
                      <a16:colId xmlns:a16="http://schemas.microsoft.com/office/drawing/2014/main" val="3219726066"/>
                    </a:ext>
                  </a:extLst>
                </a:gridCol>
                <a:gridCol w="1630680">
                  <a:extLst>
                    <a:ext uri="{9D8B030D-6E8A-4147-A177-3AD203B41FA5}">
                      <a16:colId xmlns:a16="http://schemas.microsoft.com/office/drawing/2014/main" val="692791350"/>
                    </a:ext>
                  </a:extLst>
                </a:gridCol>
                <a:gridCol w="1144144">
                  <a:extLst>
                    <a:ext uri="{9D8B030D-6E8A-4147-A177-3AD203B41FA5}">
                      <a16:colId xmlns:a16="http://schemas.microsoft.com/office/drawing/2014/main" val="735391169"/>
                    </a:ext>
                  </a:extLst>
                </a:gridCol>
                <a:gridCol w="1144144">
                  <a:extLst>
                    <a:ext uri="{9D8B030D-6E8A-4147-A177-3AD203B41FA5}">
                      <a16:colId xmlns:a16="http://schemas.microsoft.com/office/drawing/2014/main" val="3471916665"/>
                    </a:ext>
                  </a:extLst>
                </a:gridCol>
              </a:tblGrid>
              <a:tr h="401753">
                <a:tc>
                  <a:txBody>
                    <a:bodyPr/>
                    <a:lstStyle/>
                    <a:p>
                      <a:r>
                        <a:rPr lang="en-US" altLang="zh-CN" sz="1400" dirty="0">
                          <a:latin typeface="Arial" panose="020B0604020202020204" pitchFamily="34" charset="0"/>
                          <a:ea typeface="微软雅黑" panose="020B0503020204020204" pitchFamily="34" charset="-122"/>
                        </a:rPr>
                        <a:t>BOM</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Item</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Part</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ECN</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err="1">
                          <a:latin typeface="Arial" panose="020B0604020202020204" pitchFamily="34" charset="0"/>
                          <a:ea typeface="微软雅黑" panose="020B0503020204020204" pitchFamily="34" charset="-122"/>
                        </a:rPr>
                        <a:t>Eff_StartDate</a:t>
                      </a:r>
                      <a:endParaRPr lang="zh-CN" altLang="en-US" sz="1400" dirty="0">
                        <a:latin typeface="Arial" panose="020B0604020202020204" pitchFamily="34" charset="0"/>
                        <a:ea typeface="微软雅黑" panose="020B0503020204020204" pitchFamily="34" charset="-122"/>
                      </a:endParaRPr>
                    </a:p>
                  </a:txBody>
                  <a:tcPr/>
                </a:tc>
                <a:tc>
                  <a:txBody>
                    <a:bodyPr/>
                    <a:lstStyle/>
                    <a:p>
                      <a:pPr marL="0" marR="0" lvl="0" indent="0" algn="l" defTabSz="914332" rtl="0" eaLnBrk="1" fontAlgn="auto" latinLnBrk="0" hangingPunct="1">
                        <a:lnSpc>
                          <a:spcPct val="100000"/>
                        </a:lnSpc>
                        <a:spcBef>
                          <a:spcPts val="0"/>
                        </a:spcBef>
                        <a:spcAft>
                          <a:spcPts val="0"/>
                        </a:spcAft>
                        <a:buClrTx/>
                        <a:buSzTx/>
                        <a:buFontTx/>
                        <a:buNone/>
                        <a:tabLst/>
                        <a:defRPr/>
                      </a:pPr>
                      <a:r>
                        <a:rPr lang="en-US" altLang="zh-CN" sz="1400" dirty="0" err="1">
                          <a:latin typeface="Arial" panose="020B0604020202020204" pitchFamily="34" charset="0"/>
                          <a:ea typeface="微软雅黑" panose="020B0503020204020204" pitchFamily="34" charset="-122"/>
                        </a:rPr>
                        <a:t>Eff_EndDate</a:t>
                      </a:r>
                      <a:endParaRPr lang="zh-CN" altLang="en-US" sz="1400" dirty="0">
                        <a:latin typeface="Arial" panose="020B0604020202020204" pitchFamily="34" charset="0"/>
                        <a:ea typeface="微软雅黑" panose="020B0503020204020204" pitchFamily="34" charset="-122"/>
                      </a:endParaRPr>
                    </a:p>
                    <a:p>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Changed to ECN</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alg1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priority</a:t>
                      </a:r>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4243760725"/>
                  </a:ext>
                </a:extLst>
              </a:tr>
              <a:tr h="236326">
                <a:tc>
                  <a:txBody>
                    <a:bodyPr/>
                    <a:lstStyle/>
                    <a:p>
                      <a:r>
                        <a:rPr lang="en-US" altLang="zh-CN" sz="1400" dirty="0">
                          <a:latin typeface="Arial" panose="020B0604020202020204" pitchFamily="34" charset="0"/>
                          <a:ea typeface="微软雅黑" panose="020B0503020204020204" pitchFamily="34" charset="-122"/>
                        </a:rPr>
                        <a:t>FG1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0010</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EC001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Past</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6.4</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EC002</a:t>
                      </a:r>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251950696"/>
                  </a:ext>
                </a:extLst>
              </a:tr>
              <a:tr h="236326">
                <a:tc>
                  <a:txBody>
                    <a:bodyPr/>
                    <a:lstStyle/>
                    <a:p>
                      <a:r>
                        <a:rPr lang="en-US" altLang="zh-CN" sz="1400" dirty="0">
                          <a:latin typeface="Arial" panose="020B0604020202020204" pitchFamily="34" charset="0"/>
                          <a:ea typeface="微软雅黑" panose="020B0503020204020204" pitchFamily="34" charset="-122"/>
                        </a:rPr>
                        <a:t>FG1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0010</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EC002</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6.4</a:t>
                      </a:r>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alg1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2</a:t>
                      </a:r>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40492166"/>
                  </a:ext>
                </a:extLst>
              </a:tr>
              <a:tr h="236326">
                <a:tc>
                  <a:txBody>
                    <a:bodyPr/>
                    <a:lstStyle/>
                    <a:p>
                      <a:r>
                        <a:rPr lang="en-US" altLang="zh-CN" sz="1400" dirty="0">
                          <a:latin typeface="Arial" panose="020B0604020202020204" pitchFamily="34" charset="0"/>
                          <a:ea typeface="微软雅黑" panose="020B0503020204020204" pitchFamily="34" charset="-122"/>
                        </a:rPr>
                        <a:t>FG1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0020</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P2</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EC003</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6.4</a:t>
                      </a:r>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tc>
                  <a:txBody>
                    <a:bodyPr/>
                    <a:lstStyle/>
                    <a:p>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alg1</a:t>
                      </a:r>
                      <a:endParaRPr lang="zh-CN" altLang="en-US" sz="1400" dirty="0">
                        <a:latin typeface="Arial" panose="020B0604020202020204" pitchFamily="34" charset="0"/>
                        <a:ea typeface="微软雅黑" panose="020B0503020204020204" pitchFamily="34" charset="-122"/>
                      </a:endParaRPr>
                    </a:p>
                  </a:txBody>
                  <a:tcPr/>
                </a:tc>
                <a:tc>
                  <a:txBody>
                    <a:bodyPr/>
                    <a:lstStyle/>
                    <a:p>
                      <a:r>
                        <a:rPr lang="en-US" altLang="zh-CN" sz="1400" dirty="0">
                          <a:latin typeface="Arial" panose="020B0604020202020204" pitchFamily="34" charset="0"/>
                          <a:ea typeface="微软雅黑" panose="020B0503020204020204" pitchFamily="34" charset="-122"/>
                        </a:rPr>
                        <a:t>1</a:t>
                      </a:r>
                      <a:endParaRPr lang="zh-CN" altLang="en-US" sz="1400" dirty="0">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293221371"/>
                  </a:ext>
                </a:extLst>
              </a:tr>
            </a:tbl>
          </a:graphicData>
        </a:graphic>
      </p:graphicFrame>
      <p:sp>
        <p:nvSpPr>
          <p:cNvPr id="8" name="文本框 7">
            <a:extLst>
              <a:ext uri="{FF2B5EF4-FFF2-40B4-BE49-F238E27FC236}">
                <a16:creationId xmlns:a16="http://schemas.microsoft.com/office/drawing/2014/main" id="{4A8A9FA8-0715-35B4-A8BD-F61992788519}"/>
              </a:ext>
            </a:extLst>
          </p:cNvPr>
          <p:cNvSpPr txBox="1"/>
          <p:nvPr/>
        </p:nvSpPr>
        <p:spPr>
          <a:xfrm>
            <a:off x="1205345" y="5407283"/>
            <a:ext cx="978131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alg1.alg_type = interchangeable</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意味着计划的单据只能产生在主料上</a:t>
            </a:r>
          </a:p>
        </p:txBody>
      </p:sp>
    </p:spTree>
    <p:extLst>
      <p:ext uri="{BB962C8B-B14F-4D97-AF65-F5344CB8AC3E}">
        <p14:creationId xmlns:p14="http://schemas.microsoft.com/office/powerpoint/2010/main" val="424870346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9E38F-7CDA-2D59-C4C7-210327362C6C}"/>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Last Time Buy</a:t>
            </a:r>
            <a:endParaRPr lang="zh-CN" altLang="en-US" dirty="0">
              <a:latin typeface="Arial" panose="020B0604020202020204" pitchFamily="34" charset="0"/>
              <a:ea typeface="微软雅黑" panose="020B0503020204020204" pitchFamily="34" charset="-122"/>
            </a:endParaRPr>
          </a:p>
        </p:txBody>
      </p:sp>
      <p:grpSp>
        <p:nvGrpSpPr>
          <p:cNvPr id="3" name="组合 2">
            <a:extLst>
              <a:ext uri="{FF2B5EF4-FFF2-40B4-BE49-F238E27FC236}">
                <a16:creationId xmlns:a16="http://schemas.microsoft.com/office/drawing/2014/main" id="{4E696AB5-929E-9EDA-F6DF-0937B42D4ACA}"/>
              </a:ext>
            </a:extLst>
          </p:cNvPr>
          <p:cNvGrpSpPr/>
          <p:nvPr/>
        </p:nvGrpSpPr>
        <p:grpSpPr>
          <a:xfrm>
            <a:off x="789708" y="3078831"/>
            <a:ext cx="10390909" cy="3543642"/>
            <a:chOff x="1609760" y="4013886"/>
            <a:chExt cx="8904712" cy="1950675"/>
          </a:xfrm>
        </p:grpSpPr>
        <p:grpSp>
          <p:nvGrpSpPr>
            <p:cNvPr id="4" name="组合 3">
              <a:extLst>
                <a:ext uri="{FF2B5EF4-FFF2-40B4-BE49-F238E27FC236}">
                  <a16:creationId xmlns:a16="http://schemas.microsoft.com/office/drawing/2014/main" id="{4CD96992-6165-A5E6-4CFB-2F557F05E3AC}"/>
                </a:ext>
              </a:extLst>
            </p:cNvPr>
            <p:cNvGrpSpPr/>
            <p:nvPr/>
          </p:nvGrpSpPr>
          <p:grpSpPr>
            <a:xfrm>
              <a:off x="1609760" y="4013886"/>
              <a:ext cx="8161361" cy="1698990"/>
              <a:chOff x="-16195" y="2016994"/>
              <a:chExt cx="10879525" cy="3310774"/>
            </a:xfrm>
          </p:grpSpPr>
          <p:grpSp>
            <p:nvGrpSpPr>
              <p:cNvPr id="13" name="组合 12">
                <a:extLst>
                  <a:ext uri="{FF2B5EF4-FFF2-40B4-BE49-F238E27FC236}">
                    <a16:creationId xmlns:a16="http://schemas.microsoft.com/office/drawing/2014/main" id="{E6C3C28D-BE42-5CED-0C98-E9E58B7B7333}"/>
                  </a:ext>
                </a:extLst>
              </p:cNvPr>
              <p:cNvGrpSpPr/>
              <p:nvPr/>
            </p:nvGrpSpPr>
            <p:grpSpPr>
              <a:xfrm>
                <a:off x="1487510" y="2016994"/>
                <a:ext cx="9375820" cy="3310774"/>
                <a:chOff x="1487510" y="2016994"/>
                <a:chExt cx="9375820" cy="3310774"/>
              </a:xfrm>
            </p:grpSpPr>
            <p:cxnSp>
              <p:nvCxnSpPr>
                <p:cNvPr id="18" name="直接连接符 17">
                  <a:extLst>
                    <a:ext uri="{FF2B5EF4-FFF2-40B4-BE49-F238E27FC236}">
                      <a16:creationId xmlns:a16="http://schemas.microsoft.com/office/drawing/2014/main" id="{FC5B3DCE-219B-A468-E811-E5895E26142E}"/>
                    </a:ext>
                  </a:extLst>
                </p:cNvPr>
                <p:cNvCxnSpPr/>
                <p:nvPr/>
              </p:nvCxnSpPr>
              <p:spPr>
                <a:xfrm>
                  <a:off x="1500389" y="3844343"/>
                  <a:ext cx="9362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直接连接符 18">
                  <a:extLst>
                    <a:ext uri="{FF2B5EF4-FFF2-40B4-BE49-F238E27FC236}">
                      <a16:creationId xmlns:a16="http://schemas.microsoft.com/office/drawing/2014/main" id="{C71C5823-5F65-E96B-1128-ED234B4A2864}"/>
                    </a:ext>
                  </a:extLst>
                </p:cNvPr>
                <p:cNvCxnSpPr>
                  <a:cxnSpLocks/>
                </p:cNvCxnSpPr>
                <p:nvPr/>
              </p:nvCxnSpPr>
              <p:spPr>
                <a:xfrm>
                  <a:off x="1487510" y="2016994"/>
                  <a:ext cx="0" cy="3310774"/>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文本框 13">
                <a:extLst>
                  <a:ext uri="{FF2B5EF4-FFF2-40B4-BE49-F238E27FC236}">
                    <a16:creationId xmlns:a16="http://schemas.microsoft.com/office/drawing/2014/main" id="{3840237A-537F-A676-5430-2B552E0BFC23}"/>
                  </a:ext>
                </a:extLst>
              </p:cNvPr>
              <p:cNvSpPr txBox="1"/>
              <p:nvPr/>
            </p:nvSpPr>
            <p:spPr>
              <a:xfrm>
                <a:off x="-16195" y="2382592"/>
                <a:ext cx="1510145" cy="363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Demand</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7B5F3B57-C00C-628C-A4F3-0DD9B573C645}"/>
                  </a:ext>
                </a:extLst>
              </p:cNvPr>
              <p:cNvSpPr txBox="1"/>
              <p:nvPr/>
            </p:nvSpPr>
            <p:spPr>
              <a:xfrm>
                <a:off x="43824" y="4604394"/>
                <a:ext cx="1152660" cy="363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16" name="直接连接符 15">
                <a:extLst>
                  <a:ext uri="{FF2B5EF4-FFF2-40B4-BE49-F238E27FC236}">
                    <a16:creationId xmlns:a16="http://schemas.microsoft.com/office/drawing/2014/main" id="{077CB4BB-0998-34FA-FE13-2409EC6FEFF6}"/>
                  </a:ext>
                </a:extLst>
              </p:cNvPr>
              <p:cNvCxnSpPr/>
              <p:nvPr/>
            </p:nvCxnSpPr>
            <p:spPr>
              <a:xfrm>
                <a:off x="5995115" y="3161763"/>
                <a:ext cx="0" cy="1339403"/>
              </a:xfrm>
              <a:prstGeom prst="line">
                <a:avLst/>
              </a:prstGeom>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13630BDE-A47C-4904-DE67-DA3FDA3F9175}"/>
                  </a:ext>
                </a:extLst>
              </p:cNvPr>
              <p:cNvSpPr txBox="1"/>
              <p:nvPr/>
            </p:nvSpPr>
            <p:spPr>
              <a:xfrm>
                <a:off x="5263601" y="4562560"/>
                <a:ext cx="1675327" cy="3301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1"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Date</a:t>
                </a:r>
              </a:p>
            </p:txBody>
          </p:sp>
        </p:grpSp>
        <p:sp>
          <p:nvSpPr>
            <p:cNvPr id="5" name="文本框 4">
              <a:extLst>
                <a:ext uri="{FF2B5EF4-FFF2-40B4-BE49-F238E27FC236}">
                  <a16:creationId xmlns:a16="http://schemas.microsoft.com/office/drawing/2014/main" id="{CE776942-E7F5-8906-263E-4720D193A4F3}"/>
                </a:ext>
              </a:extLst>
            </p:cNvPr>
            <p:cNvSpPr txBox="1"/>
            <p:nvPr/>
          </p:nvSpPr>
          <p:spPr>
            <a:xfrm>
              <a:off x="9649795" y="4947380"/>
              <a:ext cx="864677" cy="1863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Time</a:t>
              </a:r>
              <a:endParaRPr kumimoji="0" lang="zh-CN" altLang="en-US" sz="16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6" name="组合 5">
              <a:extLst>
                <a:ext uri="{FF2B5EF4-FFF2-40B4-BE49-F238E27FC236}">
                  <a16:creationId xmlns:a16="http://schemas.microsoft.com/office/drawing/2014/main" id="{03885408-A36B-68F9-4D8A-2F1910E0F70E}"/>
                </a:ext>
              </a:extLst>
            </p:cNvPr>
            <p:cNvGrpSpPr/>
            <p:nvPr/>
          </p:nvGrpSpPr>
          <p:grpSpPr>
            <a:xfrm>
              <a:off x="3586714" y="5132046"/>
              <a:ext cx="1567554" cy="263520"/>
              <a:chOff x="3696001" y="2719160"/>
              <a:chExt cx="1567554" cy="263520"/>
            </a:xfrm>
          </p:grpSpPr>
          <p:sp>
            <p:nvSpPr>
              <p:cNvPr id="11" name="立方体 10">
                <a:extLst>
                  <a:ext uri="{FF2B5EF4-FFF2-40B4-BE49-F238E27FC236}">
                    <a16:creationId xmlns:a16="http://schemas.microsoft.com/office/drawing/2014/main" id="{C7E66A58-2EEE-2BA6-1ADF-404D9D75D9C0}"/>
                  </a:ext>
                </a:extLst>
              </p:cNvPr>
              <p:cNvSpPr/>
              <p:nvPr/>
            </p:nvSpPr>
            <p:spPr>
              <a:xfrm>
                <a:off x="3696001" y="272510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2" name="立方体 11">
                <a:extLst>
                  <a:ext uri="{FF2B5EF4-FFF2-40B4-BE49-F238E27FC236}">
                    <a16:creationId xmlns:a16="http://schemas.microsoft.com/office/drawing/2014/main" id="{3FF62936-E3E0-C78B-BF8F-D299F430FA3F}"/>
                  </a:ext>
                </a:extLst>
              </p:cNvPr>
              <p:cNvSpPr/>
              <p:nvPr/>
            </p:nvSpPr>
            <p:spPr>
              <a:xfrm>
                <a:off x="4581070" y="2719160"/>
                <a:ext cx="682485" cy="257580"/>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7" name="组合 6">
              <a:extLst>
                <a:ext uri="{FF2B5EF4-FFF2-40B4-BE49-F238E27FC236}">
                  <a16:creationId xmlns:a16="http://schemas.microsoft.com/office/drawing/2014/main" id="{CD82F8EF-F9BB-1B32-D643-F3DA63C23B98}"/>
                </a:ext>
              </a:extLst>
            </p:cNvPr>
            <p:cNvGrpSpPr/>
            <p:nvPr/>
          </p:nvGrpSpPr>
          <p:grpSpPr>
            <a:xfrm>
              <a:off x="6728312" y="5129921"/>
              <a:ext cx="1534375" cy="261830"/>
              <a:chOff x="6777330" y="3787594"/>
              <a:chExt cx="1618717" cy="365940"/>
            </a:xfrm>
          </p:grpSpPr>
          <p:sp>
            <p:nvSpPr>
              <p:cNvPr id="9" name="立方体 8">
                <a:extLst>
                  <a:ext uri="{FF2B5EF4-FFF2-40B4-BE49-F238E27FC236}">
                    <a16:creationId xmlns:a16="http://schemas.microsoft.com/office/drawing/2014/main" id="{58A537A9-312D-3B41-6068-F29D0909D60D}"/>
                  </a:ext>
                </a:extLst>
              </p:cNvPr>
              <p:cNvSpPr/>
              <p:nvPr/>
            </p:nvSpPr>
            <p:spPr>
              <a:xfrm>
                <a:off x="6777330" y="3793534"/>
                <a:ext cx="720000" cy="360000"/>
              </a:xfrm>
              <a:prstGeom prst="cub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0" name="立方体 9">
                <a:extLst>
                  <a:ext uri="{FF2B5EF4-FFF2-40B4-BE49-F238E27FC236}">
                    <a16:creationId xmlns:a16="http://schemas.microsoft.com/office/drawing/2014/main" id="{4912B1D5-DF6A-068A-EB77-ACC368D1E964}"/>
                  </a:ext>
                </a:extLst>
              </p:cNvPr>
              <p:cNvSpPr/>
              <p:nvPr/>
            </p:nvSpPr>
            <p:spPr>
              <a:xfrm>
                <a:off x="7676047" y="3787594"/>
                <a:ext cx="720000" cy="360000"/>
              </a:xfrm>
              <a:prstGeom prst="cub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sp>
          <p:nvSpPr>
            <p:cNvPr id="8" name="立方体 7">
              <a:extLst>
                <a:ext uri="{FF2B5EF4-FFF2-40B4-BE49-F238E27FC236}">
                  <a16:creationId xmlns:a16="http://schemas.microsoft.com/office/drawing/2014/main" id="{968C12E3-32F3-F2C4-2733-242B8899D18E}"/>
                </a:ext>
              </a:extLst>
            </p:cNvPr>
            <p:cNvSpPr/>
            <p:nvPr/>
          </p:nvSpPr>
          <p:spPr>
            <a:xfrm>
              <a:off x="6728311" y="5706981"/>
              <a:ext cx="682485" cy="257580"/>
            </a:xfrm>
            <a:prstGeom prst="cube">
              <a:avLst/>
            </a:prstGeom>
            <a:solidFill>
              <a:srgbClr val="00B05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grpSp>
        <p:nvGrpSpPr>
          <p:cNvPr id="20" name="组合 19">
            <a:extLst>
              <a:ext uri="{FF2B5EF4-FFF2-40B4-BE49-F238E27FC236}">
                <a16:creationId xmlns:a16="http://schemas.microsoft.com/office/drawing/2014/main" id="{F8BE0CA3-2F1E-5178-BA3E-4B99AC5A19CD}"/>
              </a:ext>
            </a:extLst>
          </p:cNvPr>
          <p:cNvGrpSpPr>
            <a:grpSpLocks noChangeAspect="1"/>
          </p:cNvGrpSpPr>
          <p:nvPr>
            <p:custDataLst>
              <p:tags r:id="rId1"/>
            </p:custDataLst>
          </p:nvPr>
        </p:nvGrpSpPr>
        <p:grpSpPr>
          <a:xfrm>
            <a:off x="3019831" y="1151019"/>
            <a:ext cx="5366861" cy="1450082"/>
            <a:chOff x="675644" y="1047414"/>
            <a:chExt cx="1859110" cy="2434784"/>
          </a:xfrm>
        </p:grpSpPr>
        <p:sp>
          <p:nvSpPr>
            <p:cNvPr id="21" name="Title-2">
              <a:extLst>
                <a:ext uri="{FF2B5EF4-FFF2-40B4-BE49-F238E27FC236}">
                  <a16:creationId xmlns:a16="http://schemas.microsoft.com/office/drawing/2014/main" id="{5F544306-8DFD-BCEB-A206-452CC0354688}"/>
                </a:ext>
              </a:extLst>
            </p:cNvPr>
            <p:cNvSpPr/>
            <p:nvPr>
              <p:custDataLst>
                <p:tags r:id="rId2"/>
              </p:custDataLst>
            </p:nvPr>
          </p:nvSpPr>
          <p:spPr>
            <a:xfrm>
              <a:off x="675644" y="1909613"/>
              <a:ext cx="1859108" cy="774187"/>
            </a:xfrm>
            <a:prstGeom prst="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的供应先用，累计值不能超过购买限额。如果不够产生对</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的相应需求</a:t>
              </a:r>
            </a:p>
          </p:txBody>
        </p:sp>
        <p:sp>
          <p:nvSpPr>
            <p:cNvPr id="22" name="Title-1">
              <a:extLst>
                <a:ext uri="{FF2B5EF4-FFF2-40B4-BE49-F238E27FC236}">
                  <a16:creationId xmlns:a16="http://schemas.microsoft.com/office/drawing/2014/main" id="{83DB2FB2-5870-1DDA-76AF-4AB2F869199C}"/>
                </a:ext>
              </a:extLst>
            </p:cNvPr>
            <p:cNvSpPr/>
            <p:nvPr>
              <p:custDataLst>
                <p:tags r:id="rId3"/>
              </p:custDataLst>
            </p:nvPr>
          </p:nvSpPr>
          <p:spPr>
            <a:xfrm>
              <a:off x="675644" y="1047414"/>
              <a:ext cx="1859110" cy="774187"/>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关联</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添加其替换物料</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endPar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3" name="Title-3">
              <a:extLst>
                <a:ext uri="{FF2B5EF4-FFF2-40B4-BE49-F238E27FC236}">
                  <a16:creationId xmlns:a16="http://schemas.microsoft.com/office/drawing/2014/main" id="{CED335D6-232C-32E0-FC6B-32E305B0CE85}"/>
                </a:ext>
              </a:extLst>
            </p:cNvPr>
            <p:cNvSpPr/>
            <p:nvPr>
              <p:custDataLst>
                <p:tags r:id="rId4"/>
              </p:custDataLst>
            </p:nvPr>
          </p:nvSpPr>
          <p:spPr>
            <a:xfrm>
              <a:off x="675645" y="2708011"/>
              <a:ext cx="1859107" cy="774187"/>
            </a:xfrm>
            <a:prstGeom prst="rect">
              <a:avLst/>
            </a:prstGeom>
            <a:solidFill>
              <a:schemeClr val="accent3"/>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的计划单据在</a:t>
              </a:r>
              <a:r>
                <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ECN Date</a:t>
              </a: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之后</a:t>
              </a:r>
              <a:endParaRPr kumimoji="0" lang="en-US" altLang="zh-CN"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25" name="矩形: 圆角 24">
            <a:extLst>
              <a:ext uri="{FF2B5EF4-FFF2-40B4-BE49-F238E27FC236}">
                <a16:creationId xmlns:a16="http://schemas.microsoft.com/office/drawing/2014/main" id="{E369E253-3F11-043C-A78E-62A0E45EEEB2}"/>
              </a:ext>
            </a:extLst>
          </p:cNvPr>
          <p:cNvSpPr/>
          <p:nvPr/>
        </p:nvSpPr>
        <p:spPr>
          <a:xfrm>
            <a:off x="6522722" y="3819832"/>
            <a:ext cx="2532787" cy="1976274"/>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6" name="文本框 25">
            <a:extLst>
              <a:ext uri="{FF2B5EF4-FFF2-40B4-BE49-F238E27FC236}">
                <a16:creationId xmlns:a16="http://schemas.microsoft.com/office/drawing/2014/main" id="{A9E74F2C-1532-7F77-87C8-681AE2DAF7DE}"/>
              </a:ext>
            </a:extLst>
          </p:cNvPr>
          <p:cNvSpPr txBox="1"/>
          <p:nvPr/>
        </p:nvSpPr>
        <p:spPr>
          <a:xfrm>
            <a:off x="6877939" y="4010633"/>
            <a:ext cx="18516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累计购买量限额</a:t>
            </a:r>
          </a:p>
        </p:txBody>
      </p:sp>
    </p:spTree>
    <p:extLst>
      <p:ext uri="{BB962C8B-B14F-4D97-AF65-F5344CB8AC3E}">
        <p14:creationId xmlns:p14="http://schemas.microsoft.com/office/powerpoint/2010/main" val="292754545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4F6AF30-6EBD-1D51-8514-D7A24797199B}"/>
              </a:ext>
            </a:extLst>
          </p:cNvPr>
          <p:cNvSpPr>
            <a:spLocks noGrp="1"/>
          </p:cNvSpPr>
          <p:nvPr>
            <p:ph type="title"/>
          </p:nvPr>
        </p:nvSpPr>
        <p:spPr>
          <a:xfrm>
            <a:off x="1078061" y="-116765"/>
            <a:ext cx="10858500" cy="1028700"/>
          </a:xfrm>
        </p:spPr>
        <p:txBody>
          <a:bodyPr>
            <a:normAutofit/>
          </a:bodyPr>
          <a:lstStyle/>
          <a:p>
            <a:r>
              <a:rPr lang="zh-CN" altLang="en-US" dirty="0">
                <a:latin typeface="Arial" panose="020B0604020202020204" pitchFamily="34" charset="0"/>
                <a:ea typeface="微软雅黑" panose="020B0503020204020204" pitchFamily="34" charset="-122"/>
              </a:rPr>
              <a:t>寻源规则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动态平衡分配，适合灵活调整场景</a:t>
            </a:r>
            <a:br>
              <a:rPr lang="zh-CN" altLang="en-US" dirty="0">
                <a:latin typeface="Arial" panose="020B0604020202020204" pitchFamily="34" charset="0"/>
                <a:ea typeface="微软雅黑" panose="020B0503020204020204" pitchFamily="34" charset="-122"/>
              </a:rPr>
            </a:br>
            <a:endParaRPr lang="zh-CN" altLang="en-US" dirty="0">
              <a:latin typeface="Arial" panose="020B0604020202020204" pitchFamily="34" charset="0"/>
              <a:ea typeface="微软雅黑" panose="020B0503020204020204" pitchFamily="34" charset="-122"/>
            </a:endParaRPr>
          </a:p>
        </p:txBody>
      </p:sp>
      <p:grpSp>
        <p:nvGrpSpPr>
          <p:cNvPr id="7" name="组合 6">
            <a:extLst>
              <a:ext uri="{FF2B5EF4-FFF2-40B4-BE49-F238E27FC236}">
                <a16:creationId xmlns:a16="http://schemas.microsoft.com/office/drawing/2014/main" id="{86849F5C-1B4B-80D4-6E90-1DEFAECCDE49}"/>
              </a:ext>
            </a:extLst>
          </p:cNvPr>
          <p:cNvGrpSpPr/>
          <p:nvPr/>
        </p:nvGrpSpPr>
        <p:grpSpPr>
          <a:xfrm>
            <a:off x="760560" y="1193035"/>
            <a:ext cx="635003" cy="462517"/>
            <a:chOff x="2618303" y="1841679"/>
            <a:chExt cx="739175" cy="384518"/>
          </a:xfrm>
        </p:grpSpPr>
        <p:sp>
          <p:nvSpPr>
            <p:cNvPr id="8" name="等腰三角形 7">
              <a:extLst>
                <a:ext uri="{FF2B5EF4-FFF2-40B4-BE49-F238E27FC236}">
                  <a16:creationId xmlns:a16="http://schemas.microsoft.com/office/drawing/2014/main" id="{1C942305-44DC-9262-307B-6C394AB7D263}"/>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9" name="文本框 8">
              <a:extLst>
                <a:ext uri="{FF2B5EF4-FFF2-40B4-BE49-F238E27FC236}">
                  <a16:creationId xmlns:a16="http://schemas.microsoft.com/office/drawing/2014/main" id="{5F952E95-F743-7802-86C8-3E0EDDC48FC0}"/>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0" name="连接符: 肘形 9">
            <a:extLst>
              <a:ext uri="{FF2B5EF4-FFF2-40B4-BE49-F238E27FC236}">
                <a16:creationId xmlns:a16="http://schemas.microsoft.com/office/drawing/2014/main" id="{8DFFAACA-95CC-F063-877A-7BC6E6F73CBA}"/>
              </a:ext>
            </a:extLst>
          </p:cNvPr>
          <p:cNvCxnSpPr>
            <a:cxnSpLocks/>
            <a:stCxn id="11" idx="4"/>
            <a:endCxn id="8" idx="0"/>
          </p:cNvCxnSpPr>
          <p:nvPr/>
        </p:nvCxnSpPr>
        <p:spPr>
          <a:xfrm rot="5400000">
            <a:off x="1185770" y="877344"/>
            <a:ext cx="207983" cy="42339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椭圆 10">
            <a:extLst>
              <a:ext uri="{FF2B5EF4-FFF2-40B4-BE49-F238E27FC236}">
                <a16:creationId xmlns:a16="http://schemas.microsoft.com/office/drawing/2014/main" id="{A008B99C-5808-1CD2-C026-C6BE3D178C67}"/>
              </a:ext>
            </a:extLst>
          </p:cNvPr>
          <p:cNvSpPr/>
          <p:nvPr/>
        </p:nvSpPr>
        <p:spPr>
          <a:xfrm>
            <a:off x="1183959" y="699260"/>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12" name="组合 11">
            <a:extLst>
              <a:ext uri="{FF2B5EF4-FFF2-40B4-BE49-F238E27FC236}">
                <a16:creationId xmlns:a16="http://schemas.microsoft.com/office/drawing/2014/main" id="{10A414E9-AA99-46F8-2A1D-DE95AB947361}"/>
              </a:ext>
            </a:extLst>
          </p:cNvPr>
          <p:cNvGrpSpPr/>
          <p:nvPr/>
        </p:nvGrpSpPr>
        <p:grpSpPr>
          <a:xfrm>
            <a:off x="1586434" y="1193035"/>
            <a:ext cx="635003" cy="462517"/>
            <a:chOff x="2618303" y="1841679"/>
            <a:chExt cx="739175" cy="384518"/>
          </a:xfrm>
        </p:grpSpPr>
        <p:sp>
          <p:nvSpPr>
            <p:cNvPr id="13" name="等腰三角形 12">
              <a:extLst>
                <a:ext uri="{FF2B5EF4-FFF2-40B4-BE49-F238E27FC236}">
                  <a16:creationId xmlns:a16="http://schemas.microsoft.com/office/drawing/2014/main" id="{0D99BB52-7212-9696-3D66-8AB7BDB63551}"/>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4" name="文本框 13">
              <a:extLst>
                <a:ext uri="{FF2B5EF4-FFF2-40B4-BE49-F238E27FC236}">
                  <a16:creationId xmlns:a16="http://schemas.microsoft.com/office/drawing/2014/main" id="{DFFEEB89-7F70-0BBC-A568-7A81A47BB086}"/>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4 </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6" name="连接符: 肘形 15">
            <a:extLst>
              <a:ext uri="{FF2B5EF4-FFF2-40B4-BE49-F238E27FC236}">
                <a16:creationId xmlns:a16="http://schemas.microsoft.com/office/drawing/2014/main" id="{77829B0B-FCF1-DA8F-0F01-90CA626790B7}"/>
              </a:ext>
            </a:extLst>
          </p:cNvPr>
          <p:cNvCxnSpPr>
            <a:cxnSpLocks/>
            <a:stCxn id="11" idx="4"/>
            <a:endCxn id="13" idx="0"/>
          </p:cNvCxnSpPr>
          <p:nvPr/>
        </p:nvCxnSpPr>
        <p:spPr>
          <a:xfrm rot="16200000" flipH="1">
            <a:off x="1598707" y="887805"/>
            <a:ext cx="207983" cy="402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文本框 18">
            <a:extLst>
              <a:ext uri="{FF2B5EF4-FFF2-40B4-BE49-F238E27FC236}">
                <a16:creationId xmlns:a16="http://schemas.microsoft.com/office/drawing/2014/main" id="{FF0AD77F-B680-E522-064C-B972B60CA894}"/>
              </a:ext>
            </a:extLst>
          </p:cNvPr>
          <p:cNvSpPr txBox="1"/>
          <p:nvPr/>
        </p:nvSpPr>
        <p:spPr>
          <a:xfrm>
            <a:off x="2221437" y="736995"/>
            <a:ext cx="317948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 Target </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分别为</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4</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20" name="表格 19">
            <a:extLst>
              <a:ext uri="{FF2B5EF4-FFF2-40B4-BE49-F238E27FC236}">
                <a16:creationId xmlns:a16="http://schemas.microsoft.com/office/drawing/2014/main" id="{0D9762FF-20AB-13F6-9751-BE4C6D205841}"/>
              </a:ext>
            </a:extLst>
          </p:cNvPr>
          <p:cNvGraphicFramePr>
            <a:graphicFrameLocks noGrp="1"/>
          </p:cNvGraphicFramePr>
          <p:nvPr>
            <p:extLst>
              <p:ext uri="{D42A27DB-BD31-4B8C-83A1-F6EECF244321}">
                <p14:modId xmlns:p14="http://schemas.microsoft.com/office/powerpoint/2010/main" val="2138630481"/>
              </p:ext>
            </p:extLst>
          </p:nvPr>
        </p:nvGraphicFramePr>
        <p:xfrm>
          <a:off x="1638410" y="3530165"/>
          <a:ext cx="8740533" cy="3139422"/>
        </p:xfrm>
        <a:graphic>
          <a:graphicData uri="http://schemas.openxmlformats.org/drawingml/2006/table">
            <a:tbl>
              <a:tblPr firstRow="1" firstCol="1" lastRow="1" lastCol="1" bandRow="1" bandCol="1">
                <a:tableStyleId>{5A111915-BE36-4E01-A7E5-04B1672EAD32}</a:tableStyleId>
              </a:tblPr>
              <a:tblGrid>
                <a:gridCol w="1619461">
                  <a:extLst>
                    <a:ext uri="{9D8B030D-6E8A-4147-A177-3AD203B41FA5}">
                      <a16:colId xmlns:a16="http://schemas.microsoft.com/office/drawing/2014/main" val="3599230888"/>
                    </a:ext>
                  </a:extLst>
                </a:gridCol>
                <a:gridCol w="1599936">
                  <a:extLst>
                    <a:ext uri="{9D8B030D-6E8A-4147-A177-3AD203B41FA5}">
                      <a16:colId xmlns:a16="http://schemas.microsoft.com/office/drawing/2014/main" val="2601383947"/>
                    </a:ext>
                  </a:extLst>
                </a:gridCol>
                <a:gridCol w="1927517">
                  <a:extLst>
                    <a:ext uri="{9D8B030D-6E8A-4147-A177-3AD203B41FA5}">
                      <a16:colId xmlns:a16="http://schemas.microsoft.com/office/drawing/2014/main" val="3082718648"/>
                    </a:ext>
                  </a:extLst>
                </a:gridCol>
                <a:gridCol w="1955719">
                  <a:extLst>
                    <a:ext uri="{9D8B030D-6E8A-4147-A177-3AD203B41FA5}">
                      <a16:colId xmlns:a16="http://schemas.microsoft.com/office/drawing/2014/main" val="1988102900"/>
                    </a:ext>
                  </a:extLst>
                </a:gridCol>
                <a:gridCol w="1637900">
                  <a:extLst>
                    <a:ext uri="{9D8B030D-6E8A-4147-A177-3AD203B41FA5}">
                      <a16:colId xmlns:a16="http://schemas.microsoft.com/office/drawing/2014/main" val="299919663"/>
                    </a:ext>
                  </a:extLst>
                </a:gridCol>
              </a:tblGrid>
              <a:tr h="290133">
                <a:tc>
                  <a:txBody>
                    <a:bodyPr/>
                    <a:lstStyle/>
                    <a:p>
                      <a:pPr algn="l">
                        <a:lnSpc>
                          <a:spcPct val="120000"/>
                        </a:lnSpc>
                        <a:buNone/>
                      </a:pPr>
                      <a:r>
                        <a:rPr lang="zh-CN" sz="1400" b="1" kern="100">
                          <a:solidFill>
                            <a:schemeClr val="tx1"/>
                          </a:solidFill>
                          <a:effectLst/>
                          <a:latin typeface="Arial" panose="020B0604020202020204" pitchFamily="34" charset="0"/>
                          <a:ea typeface="微软雅黑" panose="020B0503020204020204" pitchFamily="34" charset="-122"/>
                        </a:rPr>
                        <a:t>分配次数</a:t>
                      </a:r>
                      <a:endParaRPr lang="zh-CN" sz="1400" b="1"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b="1" kern="100">
                          <a:solidFill>
                            <a:schemeClr val="tx1"/>
                          </a:solidFill>
                          <a:effectLst/>
                          <a:latin typeface="Arial" panose="020B0604020202020204" pitchFamily="34" charset="0"/>
                          <a:ea typeface="微软雅黑" panose="020B0503020204020204" pitchFamily="34" charset="-122"/>
                        </a:rPr>
                        <a:t>净需求数量</a:t>
                      </a:r>
                      <a:endParaRPr lang="zh-CN" sz="1400" b="1"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b="1" kern="100">
                          <a:solidFill>
                            <a:schemeClr val="tx1"/>
                          </a:solidFill>
                          <a:effectLst/>
                          <a:latin typeface="Arial" panose="020B0604020202020204" pitchFamily="34" charset="0"/>
                          <a:ea typeface="微软雅黑" panose="020B0503020204020204" pitchFamily="34" charset="-122"/>
                        </a:rPr>
                        <a:t>动态目标计算</a:t>
                      </a:r>
                      <a:endParaRPr lang="zh-CN" sz="1400" b="1"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b="1" kern="100">
                          <a:solidFill>
                            <a:schemeClr val="tx1"/>
                          </a:solidFill>
                          <a:effectLst/>
                          <a:latin typeface="Arial" panose="020B0604020202020204" pitchFamily="34" charset="0"/>
                          <a:ea typeface="微软雅黑" panose="020B0503020204020204" pitchFamily="34" charset="-122"/>
                        </a:rPr>
                        <a:t>分配结果</a:t>
                      </a:r>
                      <a:endParaRPr lang="zh-CN" sz="1400" b="1"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b="1" kern="100" dirty="0">
                          <a:solidFill>
                            <a:schemeClr val="tx1"/>
                          </a:solidFill>
                          <a:effectLst/>
                          <a:latin typeface="Arial" panose="020B0604020202020204" pitchFamily="34" charset="0"/>
                          <a:ea typeface="微软雅黑" panose="020B0503020204020204" pitchFamily="34" charset="-122"/>
                        </a:rPr>
                        <a:t>选择逻辑</a:t>
                      </a:r>
                      <a:endParaRPr lang="zh-CN" sz="1400" b="1"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921825883"/>
                  </a:ext>
                </a:extLst>
              </a:tr>
              <a:tr h="949763">
                <a:tc>
                  <a:txBody>
                    <a:bodyPr/>
                    <a:lstStyle/>
                    <a:p>
                      <a:pPr algn="l">
                        <a:lnSpc>
                          <a:spcPct val="120000"/>
                        </a:lnSpc>
                        <a:buNone/>
                      </a:pPr>
                      <a:r>
                        <a:rPr lang="zh-CN" sz="1200" b="0" kern="100">
                          <a:solidFill>
                            <a:schemeClr val="tx1"/>
                          </a:solidFill>
                          <a:effectLst/>
                          <a:latin typeface="Arial" panose="020B0604020202020204" pitchFamily="34" charset="0"/>
                          <a:ea typeface="微软雅黑" panose="020B0503020204020204" pitchFamily="34" charset="-122"/>
                        </a:rPr>
                        <a:t>第</a:t>
                      </a:r>
                      <a:r>
                        <a:rPr lang="en-US" sz="1200" b="0" kern="100">
                          <a:solidFill>
                            <a:schemeClr val="tx1"/>
                          </a:solidFill>
                          <a:effectLst/>
                          <a:latin typeface="Arial" panose="020B0604020202020204" pitchFamily="34" charset="0"/>
                          <a:ea typeface="微软雅黑" panose="020B0503020204020204" pitchFamily="34" charset="-122"/>
                        </a:rPr>
                        <a:t>1</a:t>
                      </a:r>
                      <a:r>
                        <a:rPr lang="zh-CN" sz="1200" b="0" kern="100">
                          <a:solidFill>
                            <a:schemeClr val="tx1"/>
                          </a:solidFill>
                          <a:effectLst/>
                          <a:latin typeface="Arial" panose="020B0604020202020204" pitchFamily="34" charset="0"/>
                          <a:ea typeface="微软雅黑" panose="020B0503020204020204" pitchFamily="34" charset="-122"/>
                        </a:rPr>
                        <a:t>次</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10</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P1 :60%*10=6 vs P2:40%*10=4</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P1:0-6 = -6</a:t>
                      </a:r>
                      <a:endParaRPr lang="zh-CN" sz="1200" b="0" kern="100" dirty="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P2:0-4 = -4</a:t>
                      </a:r>
                      <a:endParaRPr lang="zh-CN" sz="1200" b="0" kern="100" dirty="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P1</a:t>
                      </a:r>
                      <a:r>
                        <a:rPr lang="zh-CN" sz="1200" b="0" kern="100" dirty="0">
                          <a:solidFill>
                            <a:schemeClr val="tx1"/>
                          </a:solidFill>
                          <a:effectLst/>
                          <a:latin typeface="Arial" panose="020B0604020202020204" pitchFamily="34" charset="0"/>
                          <a:ea typeface="微软雅黑" panose="020B0503020204020204" pitchFamily="34" charset="-122"/>
                        </a:rPr>
                        <a:t>分配</a:t>
                      </a:r>
                      <a:r>
                        <a:rPr lang="en-US" sz="1200" b="0" kern="100" dirty="0">
                          <a:solidFill>
                            <a:schemeClr val="tx1"/>
                          </a:solidFill>
                          <a:effectLst/>
                          <a:latin typeface="Arial" panose="020B0604020202020204" pitchFamily="34" charset="0"/>
                          <a:ea typeface="微软雅黑" panose="020B0503020204020204" pitchFamily="34" charset="-122"/>
                        </a:rPr>
                        <a:t>10</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P1</a:t>
                      </a:r>
                      <a:r>
                        <a:rPr lang="zh-CN" sz="1200" b="0" kern="100">
                          <a:solidFill>
                            <a:schemeClr val="tx1"/>
                          </a:solidFill>
                          <a:effectLst/>
                          <a:latin typeface="Arial" panose="020B0604020202020204" pitchFamily="34" charset="0"/>
                          <a:ea typeface="微软雅黑" panose="020B0503020204020204" pitchFamily="34" charset="-122"/>
                        </a:rPr>
                        <a:t>的差距更大选择</a:t>
                      </a:r>
                      <a:r>
                        <a:rPr lang="en-US" sz="1200" b="0" kern="100">
                          <a:solidFill>
                            <a:schemeClr val="tx1"/>
                          </a:solidFill>
                          <a:effectLst/>
                          <a:latin typeface="Arial" panose="020B0604020202020204" pitchFamily="34" charset="0"/>
                          <a:ea typeface="微软雅黑" panose="020B0503020204020204" pitchFamily="34" charset="-122"/>
                        </a:rPr>
                        <a:t>P1</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539432505"/>
                  </a:ext>
                </a:extLst>
              </a:tr>
              <a:tr h="949763">
                <a:tc>
                  <a:txBody>
                    <a:bodyPr/>
                    <a:lstStyle/>
                    <a:p>
                      <a:pPr algn="l">
                        <a:lnSpc>
                          <a:spcPct val="120000"/>
                        </a:lnSpc>
                        <a:buNone/>
                      </a:pPr>
                      <a:r>
                        <a:rPr lang="zh-CN" sz="1200" b="0" kern="100" dirty="0">
                          <a:solidFill>
                            <a:schemeClr val="tx1"/>
                          </a:solidFill>
                          <a:effectLst/>
                          <a:latin typeface="Arial" panose="020B0604020202020204" pitchFamily="34" charset="0"/>
                          <a:ea typeface="微软雅黑" panose="020B0503020204020204" pitchFamily="34" charset="-122"/>
                        </a:rPr>
                        <a:t>第</a:t>
                      </a:r>
                      <a:r>
                        <a:rPr lang="en-US" sz="1200" b="0" kern="100" dirty="0">
                          <a:solidFill>
                            <a:schemeClr val="tx1"/>
                          </a:solidFill>
                          <a:effectLst/>
                          <a:latin typeface="Arial" panose="020B0604020202020204" pitchFamily="34" charset="0"/>
                          <a:ea typeface="微软雅黑" panose="020B0503020204020204" pitchFamily="34" charset="-122"/>
                        </a:rPr>
                        <a:t>2</a:t>
                      </a:r>
                      <a:r>
                        <a:rPr lang="zh-CN" sz="1200" b="0" kern="100" dirty="0">
                          <a:solidFill>
                            <a:schemeClr val="tx1"/>
                          </a:solidFill>
                          <a:effectLst/>
                          <a:latin typeface="Arial" panose="020B0604020202020204" pitchFamily="34" charset="0"/>
                          <a:ea typeface="微软雅黑" panose="020B0503020204020204" pitchFamily="34" charset="-122"/>
                        </a:rPr>
                        <a:t>次</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10</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P1:60%*20 = 12</a:t>
                      </a:r>
                      <a:endParaRPr lang="zh-CN" sz="1200" b="0" kern="10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P2:40%*20 = 8</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P1 = 10-12=-2</a:t>
                      </a:r>
                      <a:endParaRPr lang="zh-CN" sz="1200" b="0" kern="10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P2 = 0-8=-8</a:t>
                      </a:r>
                      <a:endParaRPr lang="zh-CN" sz="1200" b="0" kern="10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P2</a:t>
                      </a:r>
                      <a:r>
                        <a:rPr lang="zh-CN" sz="1200" b="0" kern="100">
                          <a:solidFill>
                            <a:schemeClr val="tx1"/>
                          </a:solidFill>
                          <a:effectLst/>
                          <a:latin typeface="Arial" panose="020B0604020202020204" pitchFamily="34" charset="0"/>
                          <a:ea typeface="微软雅黑" panose="020B0503020204020204" pitchFamily="34" charset="-122"/>
                        </a:rPr>
                        <a:t>分配</a:t>
                      </a:r>
                      <a:r>
                        <a:rPr lang="en-US" sz="1200" b="0" kern="100">
                          <a:solidFill>
                            <a:schemeClr val="tx1"/>
                          </a:solidFill>
                          <a:effectLst/>
                          <a:latin typeface="Arial" panose="020B0604020202020204" pitchFamily="34" charset="0"/>
                          <a:ea typeface="微软雅黑" panose="020B0503020204020204" pitchFamily="34" charset="-122"/>
                        </a:rPr>
                        <a:t>10</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P2</a:t>
                      </a:r>
                      <a:r>
                        <a:rPr lang="zh-CN" sz="1200" b="0" kern="100">
                          <a:solidFill>
                            <a:schemeClr val="tx1"/>
                          </a:solidFill>
                          <a:effectLst/>
                          <a:latin typeface="Arial" panose="020B0604020202020204" pitchFamily="34" charset="0"/>
                          <a:ea typeface="微软雅黑" panose="020B0503020204020204" pitchFamily="34" charset="-122"/>
                        </a:rPr>
                        <a:t>差距更大选择</a:t>
                      </a:r>
                      <a:r>
                        <a:rPr lang="en-US" sz="1200" b="0" kern="100">
                          <a:solidFill>
                            <a:schemeClr val="tx1"/>
                          </a:solidFill>
                          <a:effectLst/>
                          <a:latin typeface="Arial" panose="020B0604020202020204" pitchFamily="34" charset="0"/>
                          <a:ea typeface="微软雅黑" panose="020B0503020204020204" pitchFamily="34" charset="-122"/>
                        </a:rPr>
                        <a:t>P2</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381720843"/>
                  </a:ext>
                </a:extLst>
              </a:tr>
              <a:tr h="949763">
                <a:tc>
                  <a:txBody>
                    <a:bodyPr/>
                    <a:lstStyle/>
                    <a:p>
                      <a:pPr algn="l">
                        <a:lnSpc>
                          <a:spcPct val="120000"/>
                        </a:lnSpc>
                        <a:buNone/>
                      </a:pPr>
                      <a:r>
                        <a:rPr lang="zh-CN" sz="1200" b="0" kern="100" dirty="0">
                          <a:solidFill>
                            <a:schemeClr val="tx1"/>
                          </a:solidFill>
                          <a:effectLst/>
                          <a:latin typeface="Arial" panose="020B0604020202020204" pitchFamily="34" charset="0"/>
                          <a:ea typeface="微软雅黑" panose="020B0503020204020204" pitchFamily="34" charset="-122"/>
                        </a:rPr>
                        <a:t>第</a:t>
                      </a:r>
                      <a:r>
                        <a:rPr lang="en-US" sz="1200" b="0" kern="100" dirty="0">
                          <a:solidFill>
                            <a:schemeClr val="tx1"/>
                          </a:solidFill>
                          <a:effectLst/>
                          <a:latin typeface="Arial" panose="020B0604020202020204" pitchFamily="34" charset="0"/>
                          <a:ea typeface="微软雅黑" panose="020B0503020204020204" pitchFamily="34" charset="-122"/>
                        </a:rPr>
                        <a:t>3</a:t>
                      </a:r>
                      <a:r>
                        <a:rPr lang="zh-CN" sz="1200" b="0" kern="100" dirty="0">
                          <a:solidFill>
                            <a:schemeClr val="tx1"/>
                          </a:solidFill>
                          <a:effectLst/>
                          <a:latin typeface="Arial" panose="020B0604020202020204" pitchFamily="34" charset="0"/>
                          <a:ea typeface="微软雅黑" panose="020B0503020204020204" pitchFamily="34" charset="-122"/>
                        </a:rPr>
                        <a:t>次</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20</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P1:60%*40=24</a:t>
                      </a:r>
                      <a:endParaRPr lang="zh-CN" sz="1200" b="0" kern="100" dirty="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P2:40%*40=16</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P1=10-24=-14</a:t>
                      </a:r>
                      <a:endParaRPr lang="zh-CN" sz="1200" b="0" kern="10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P2=10-16=-6</a:t>
                      </a:r>
                      <a:endParaRPr lang="zh-CN" sz="1200" b="0" kern="100">
                        <a:solidFill>
                          <a:schemeClr val="tx1"/>
                        </a:solidFill>
                        <a:effectLst/>
                        <a:latin typeface="Arial" panose="020B0604020202020204" pitchFamily="34" charset="0"/>
                        <a:ea typeface="微软雅黑" panose="020B0503020204020204" pitchFamily="34" charset="-122"/>
                      </a:endParaRPr>
                    </a:p>
                    <a:p>
                      <a:pPr algn="l">
                        <a:lnSpc>
                          <a:spcPct val="120000"/>
                        </a:lnSpc>
                        <a:buNone/>
                      </a:pPr>
                      <a:r>
                        <a:rPr lang="en-US" sz="1200" b="0" kern="100">
                          <a:solidFill>
                            <a:schemeClr val="tx1"/>
                          </a:solidFill>
                          <a:effectLst/>
                          <a:latin typeface="Arial" panose="020B0604020202020204" pitchFamily="34" charset="0"/>
                          <a:ea typeface="微软雅黑" panose="020B0503020204020204" pitchFamily="34" charset="-122"/>
                        </a:rPr>
                        <a:t>P1</a:t>
                      </a:r>
                      <a:r>
                        <a:rPr lang="zh-CN" sz="1200" b="0" kern="100">
                          <a:solidFill>
                            <a:schemeClr val="tx1"/>
                          </a:solidFill>
                          <a:effectLst/>
                          <a:latin typeface="Arial" panose="020B0604020202020204" pitchFamily="34" charset="0"/>
                          <a:ea typeface="微软雅黑" panose="020B0503020204020204" pitchFamily="34" charset="-122"/>
                        </a:rPr>
                        <a:t>分配</a:t>
                      </a:r>
                      <a:r>
                        <a:rPr lang="en-US" sz="1200" b="0" kern="100">
                          <a:solidFill>
                            <a:schemeClr val="tx1"/>
                          </a:solidFill>
                          <a:effectLst/>
                          <a:latin typeface="Arial" panose="020B0604020202020204" pitchFamily="34" charset="0"/>
                          <a:ea typeface="微软雅黑" panose="020B0503020204020204" pitchFamily="34" charset="-122"/>
                        </a:rPr>
                        <a:t>20</a:t>
                      </a:r>
                      <a:endParaRPr lang="zh-CN" sz="1200" b="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200" b="0" kern="100" dirty="0">
                          <a:solidFill>
                            <a:schemeClr val="tx1"/>
                          </a:solidFill>
                          <a:effectLst/>
                          <a:latin typeface="Arial" panose="020B0604020202020204" pitchFamily="34" charset="0"/>
                          <a:ea typeface="微软雅黑" panose="020B0503020204020204" pitchFamily="34" charset="-122"/>
                        </a:rPr>
                        <a:t>P1</a:t>
                      </a:r>
                      <a:r>
                        <a:rPr lang="zh-CN" sz="1200" b="0" kern="100" dirty="0">
                          <a:solidFill>
                            <a:schemeClr val="tx1"/>
                          </a:solidFill>
                          <a:effectLst/>
                          <a:latin typeface="Arial" panose="020B0604020202020204" pitchFamily="34" charset="0"/>
                          <a:ea typeface="微软雅黑" panose="020B0503020204020204" pitchFamily="34" charset="-122"/>
                        </a:rPr>
                        <a:t>差距更大选</a:t>
                      </a:r>
                      <a:r>
                        <a:rPr lang="en-US" sz="1200" b="0" kern="100" dirty="0">
                          <a:solidFill>
                            <a:schemeClr val="tx1"/>
                          </a:solidFill>
                          <a:effectLst/>
                          <a:latin typeface="Arial" panose="020B0604020202020204" pitchFamily="34" charset="0"/>
                          <a:ea typeface="微软雅黑" panose="020B0503020204020204" pitchFamily="34" charset="-122"/>
                        </a:rPr>
                        <a:t>P1</a:t>
                      </a:r>
                      <a:endParaRPr lang="zh-CN" sz="1200" b="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029765917"/>
                  </a:ext>
                </a:extLst>
              </a:tr>
            </a:tbl>
          </a:graphicData>
        </a:graphic>
      </p:graphicFrame>
      <p:grpSp>
        <p:nvGrpSpPr>
          <p:cNvPr id="35" name="组合 34">
            <a:extLst>
              <a:ext uri="{FF2B5EF4-FFF2-40B4-BE49-F238E27FC236}">
                <a16:creationId xmlns:a16="http://schemas.microsoft.com/office/drawing/2014/main" id="{3C3C3039-F8E5-6EC6-3A17-690BC84EBB66}"/>
              </a:ext>
            </a:extLst>
          </p:cNvPr>
          <p:cNvGrpSpPr>
            <a:grpSpLocks noChangeAspect="1"/>
          </p:cNvGrpSpPr>
          <p:nvPr>
            <p:custDataLst>
              <p:tags r:id="rId1"/>
            </p:custDataLst>
          </p:nvPr>
        </p:nvGrpSpPr>
        <p:grpSpPr>
          <a:xfrm>
            <a:off x="3036213" y="1343498"/>
            <a:ext cx="6221744" cy="1608981"/>
            <a:chOff x="673103" y="1466675"/>
            <a:chExt cx="3383009" cy="1999631"/>
          </a:xfrm>
        </p:grpSpPr>
        <p:sp>
          <p:nvSpPr>
            <p:cNvPr id="36" name="1">
              <a:extLst>
                <a:ext uri="{FF2B5EF4-FFF2-40B4-BE49-F238E27FC236}">
                  <a16:creationId xmlns:a16="http://schemas.microsoft.com/office/drawing/2014/main" id="{64CA17F3-0456-BCE6-11B2-0FD58107161B}"/>
                </a:ext>
              </a:extLst>
            </p:cNvPr>
            <p:cNvSpPr/>
            <p:nvPr>
              <p:custDataLst>
                <p:tags r:id="rId2"/>
              </p:custDataLst>
            </p:nvPr>
          </p:nvSpPr>
          <p:spPr>
            <a:xfrm>
              <a:off x="673103" y="1478986"/>
              <a:ext cx="3383009" cy="1987320"/>
            </a:xfrm>
            <a:prstGeom prst="roundRect">
              <a:avLst>
                <a:gd name="adj" fmla="val 8900"/>
              </a:avLst>
            </a:prstGeom>
            <a:solidFill>
              <a:schemeClr val="accent3">
                <a:lumMod val="60000"/>
                <a:lumOff val="40000"/>
              </a:schemeClr>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38" name="Title-1">
              <a:extLst>
                <a:ext uri="{FF2B5EF4-FFF2-40B4-BE49-F238E27FC236}">
                  <a16:creationId xmlns:a16="http://schemas.microsoft.com/office/drawing/2014/main" id="{10B42CA5-928F-2E7F-F2EC-9642EB369EB7}"/>
                </a:ext>
              </a:extLst>
            </p:cNvPr>
            <p:cNvSpPr txBox="1"/>
            <p:nvPr>
              <p:custDataLst>
                <p:tags r:id="rId3"/>
              </p:custDataLst>
            </p:nvPr>
          </p:nvSpPr>
          <p:spPr>
            <a:xfrm>
              <a:off x="701364" y="1466675"/>
              <a:ext cx="2513307" cy="518052"/>
            </a:xfrm>
            <a:prstGeom prst="rect">
              <a:avLst/>
            </a:prstGeom>
            <a:noFill/>
          </p:spPr>
          <p:txBody>
            <a:bodyPr wrap="square" rtlCol="0">
              <a:spAutoFit/>
            </a:bodyPr>
            <a:lstStyle/>
            <a:p>
              <a:pPr marL="0" marR="0" lvl="0" indent="0" algn="l" defTabSz="913765" rtl="0" eaLnBrk="1" fontAlgn="auto" latinLnBrk="0" hangingPunct="1">
                <a:lnSpc>
                  <a:spcPct val="13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rPr>
                <a:t>逻辑</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9" name="Body-1">
              <a:extLst>
                <a:ext uri="{FF2B5EF4-FFF2-40B4-BE49-F238E27FC236}">
                  <a16:creationId xmlns:a16="http://schemas.microsoft.com/office/drawing/2014/main" id="{CD2D58B9-5509-56D8-05C8-8B0E0A9EC8E1}"/>
                </a:ext>
              </a:extLst>
            </p:cNvPr>
            <p:cNvSpPr txBox="1">
              <a:spLocks/>
            </p:cNvSpPr>
            <p:nvPr>
              <p:custDataLst>
                <p:tags r:id="rId4"/>
              </p:custDataLst>
            </p:nvPr>
          </p:nvSpPr>
          <p:spPr>
            <a:xfrm>
              <a:off x="793656" y="1907294"/>
              <a:ext cx="3262456" cy="1472636"/>
            </a:xfrm>
            <a:prstGeom prst="rect">
              <a:avLst/>
            </a:prstGeom>
            <a:noFill/>
          </p:spPr>
          <p:txBody>
            <a:bodyPr wrap="square" rtlCol="0">
              <a:spAutoFit/>
            </a:bodyPr>
            <a:lstStyle>
              <a:defPPr>
                <a:defRPr lang="zh-CN"/>
              </a:defPPr>
              <a:lvl1pPr>
                <a:lnSpc>
                  <a:spcPct val="130000"/>
                </a:lnSpc>
                <a:defRPr sz="1400">
                  <a:solidFill>
                    <a:schemeClr val="bg1">
                      <a:alpha val="80000"/>
                    </a:schemeClr>
                  </a:solidFill>
                  <a:latin typeface="Arial" panose="020B0604020202020204" pitchFamily="34" charset="0"/>
                  <a:ea typeface="Microsoft YaHei" panose="020B0503020204020204" pitchFamily="34" charset="-122"/>
                </a:defRPr>
              </a:lvl1p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将每个需求完整分配给当前分配量最低于动态目标的物料来源</a:t>
              </a:r>
              <a:endPar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配额比例 </a:t>
              </a:r>
              <a:r>
                <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 </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值</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所有替换资源</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总和</a:t>
              </a:r>
              <a:endPar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应分配量</a:t>
              </a:r>
              <a:r>
                <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当前总需求量*配额比例</a:t>
              </a:r>
              <a:endPar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分配量</a:t>
              </a:r>
              <a:r>
                <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已分配量</a:t>
              </a:r>
              <a:r>
                <a:rPr kumimoji="0" lang="en-US" altLang="zh-CN"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应分配量</a:t>
              </a:r>
            </a:p>
          </p:txBody>
        </p:sp>
      </p:grpSp>
    </p:spTree>
    <p:extLst>
      <p:ext uri="{BB962C8B-B14F-4D97-AF65-F5344CB8AC3E}">
        <p14:creationId xmlns:p14="http://schemas.microsoft.com/office/powerpoint/2010/main" val="373308869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8604A-81DD-2EC1-8791-000F17512912}"/>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寻源规则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优先维持历史分配比例，适合长期的合作关系</a:t>
            </a:r>
          </a:p>
        </p:txBody>
      </p:sp>
      <p:grpSp>
        <p:nvGrpSpPr>
          <p:cNvPr id="3" name="组合 2">
            <a:extLst>
              <a:ext uri="{FF2B5EF4-FFF2-40B4-BE49-F238E27FC236}">
                <a16:creationId xmlns:a16="http://schemas.microsoft.com/office/drawing/2014/main" id="{307E2A66-99C2-BD3B-5CC8-1FE9703C1BAA}"/>
              </a:ext>
            </a:extLst>
          </p:cNvPr>
          <p:cNvGrpSpPr/>
          <p:nvPr/>
        </p:nvGrpSpPr>
        <p:grpSpPr>
          <a:xfrm>
            <a:off x="760560" y="1193035"/>
            <a:ext cx="635003" cy="462517"/>
            <a:chOff x="2618303" y="1841679"/>
            <a:chExt cx="739175" cy="384518"/>
          </a:xfrm>
        </p:grpSpPr>
        <p:sp>
          <p:nvSpPr>
            <p:cNvPr id="4" name="等腰三角形 3">
              <a:extLst>
                <a:ext uri="{FF2B5EF4-FFF2-40B4-BE49-F238E27FC236}">
                  <a16:creationId xmlns:a16="http://schemas.microsoft.com/office/drawing/2014/main" id="{1329CCE8-92B6-D76D-0A55-AA238CA14F84}"/>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5" name="文本框 4">
              <a:extLst>
                <a:ext uri="{FF2B5EF4-FFF2-40B4-BE49-F238E27FC236}">
                  <a16:creationId xmlns:a16="http://schemas.microsoft.com/office/drawing/2014/main" id="{3C92C817-487C-15FB-BFA6-36C2F5267CF2}"/>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6" name="连接符: 肘形 5">
            <a:extLst>
              <a:ext uri="{FF2B5EF4-FFF2-40B4-BE49-F238E27FC236}">
                <a16:creationId xmlns:a16="http://schemas.microsoft.com/office/drawing/2014/main" id="{DA94CD7C-B161-AD68-BB6E-231DD63189DB}"/>
              </a:ext>
            </a:extLst>
          </p:cNvPr>
          <p:cNvCxnSpPr>
            <a:cxnSpLocks/>
            <a:stCxn id="7" idx="4"/>
            <a:endCxn id="4" idx="0"/>
          </p:cNvCxnSpPr>
          <p:nvPr/>
        </p:nvCxnSpPr>
        <p:spPr>
          <a:xfrm rot="5400000">
            <a:off x="1185770" y="877344"/>
            <a:ext cx="207983" cy="42339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椭圆 6">
            <a:extLst>
              <a:ext uri="{FF2B5EF4-FFF2-40B4-BE49-F238E27FC236}">
                <a16:creationId xmlns:a16="http://schemas.microsoft.com/office/drawing/2014/main" id="{6F8E31C4-556B-91A5-E467-443C9340407E}"/>
              </a:ext>
            </a:extLst>
          </p:cNvPr>
          <p:cNvSpPr/>
          <p:nvPr/>
        </p:nvSpPr>
        <p:spPr>
          <a:xfrm>
            <a:off x="1183959" y="699260"/>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10549DBD-6396-D13E-A415-CE9CFC7D4C58}"/>
              </a:ext>
            </a:extLst>
          </p:cNvPr>
          <p:cNvGrpSpPr/>
          <p:nvPr/>
        </p:nvGrpSpPr>
        <p:grpSpPr>
          <a:xfrm>
            <a:off x="1586434" y="1193035"/>
            <a:ext cx="635003" cy="462517"/>
            <a:chOff x="2618303" y="1841679"/>
            <a:chExt cx="739175" cy="384518"/>
          </a:xfrm>
        </p:grpSpPr>
        <p:sp>
          <p:nvSpPr>
            <p:cNvPr id="9" name="等腰三角形 8">
              <a:extLst>
                <a:ext uri="{FF2B5EF4-FFF2-40B4-BE49-F238E27FC236}">
                  <a16:creationId xmlns:a16="http://schemas.microsoft.com/office/drawing/2014/main" id="{587130A5-B582-B924-7616-35376FBFE376}"/>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0" name="文本框 9">
              <a:extLst>
                <a:ext uri="{FF2B5EF4-FFF2-40B4-BE49-F238E27FC236}">
                  <a16:creationId xmlns:a16="http://schemas.microsoft.com/office/drawing/2014/main" id="{2A594A9F-65EA-8FDE-32E0-EBCE9828ED22}"/>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4 </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1" name="连接符: 肘形 10">
            <a:extLst>
              <a:ext uri="{FF2B5EF4-FFF2-40B4-BE49-F238E27FC236}">
                <a16:creationId xmlns:a16="http://schemas.microsoft.com/office/drawing/2014/main" id="{032513ED-BFCD-251E-EBD0-643FCE130489}"/>
              </a:ext>
            </a:extLst>
          </p:cNvPr>
          <p:cNvCxnSpPr>
            <a:cxnSpLocks/>
            <a:stCxn id="7" idx="4"/>
            <a:endCxn id="9" idx="0"/>
          </p:cNvCxnSpPr>
          <p:nvPr/>
        </p:nvCxnSpPr>
        <p:spPr>
          <a:xfrm rot="16200000" flipH="1">
            <a:off x="1598707" y="887805"/>
            <a:ext cx="207983" cy="402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75E8E6B5-4C2A-FC4B-017E-54A6828A9809}"/>
              </a:ext>
            </a:extLst>
          </p:cNvPr>
          <p:cNvSpPr txBox="1"/>
          <p:nvPr/>
        </p:nvSpPr>
        <p:spPr>
          <a:xfrm>
            <a:off x="2221437" y="736995"/>
            <a:ext cx="317948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 Target </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分别为</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6</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4</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3" name="组合 12">
            <a:extLst>
              <a:ext uri="{FF2B5EF4-FFF2-40B4-BE49-F238E27FC236}">
                <a16:creationId xmlns:a16="http://schemas.microsoft.com/office/drawing/2014/main" id="{9803EABE-4365-7682-6475-B9C265D01E8A}"/>
              </a:ext>
            </a:extLst>
          </p:cNvPr>
          <p:cNvGrpSpPr>
            <a:grpSpLocks noChangeAspect="1"/>
          </p:cNvGrpSpPr>
          <p:nvPr>
            <p:custDataLst>
              <p:tags r:id="rId1"/>
            </p:custDataLst>
          </p:nvPr>
        </p:nvGrpSpPr>
        <p:grpSpPr>
          <a:xfrm>
            <a:off x="2743367" y="1252586"/>
            <a:ext cx="6741292" cy="1736433"/>
            <a:chOff x="673102" y="1456702"/>
            <a:chExt cx="3665508" cy="2551686"/>
          </a:xfrm>
        </p:grpSpPr>
        <p:sp>
          <p:nvSpPr>
            <p:cNvPr id="14" name="1">
              <a:extLst>
                <a:ext uri="{FF2B5EF4-FFF2-40B4-BE49-F238E27FC236}">
                  <a16:creationId xmlns:a16="http://schemas.microsoft.com/office/drawing/2014/main" id="{726FB6E9-2F58-E3DE-C5EE-B5DFBB71E440}"/>
                </a:ext>
              </a:extLst>
            </p:cNvPr>
            <p:cNvSpPr/>
            <p:nvPr>
              <p:custDataLst>
                <p:tags r:id="rId2"/>
              </p:custDataLst>
            </p:nvPr>
          </p:nvSpPr>
          <p:spPr>
            <a:xfrm>
              <a:off x="673102" y="1456702"/>
              <a:ext cx="3665508" cy="2551686"/>
            </a:xfrm>
            <a:prstGeom prst="roundRect">
              <a:avLst>
                <a:gd name="adj" fmla="val 8900"/>
              </a:avLst>
            </a:prstGeom>
            <a:solidFill>
              <a:schemeClr val="accent3">
                <a:lumMod val="60000"/>
                <a:lumOff val="40000"/>
              </a:schemeClr>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15" name="Title-1">
              <a:extLst>
                <a:ext uri="{FF2B5EF4-FFF2-40B4-BE49-F238E27FC236}">
                  <a16:creationId xmlns:a16="http://schemas.microsoft.com/office/drawing/2014/main" id="{9E7999B6-985B-F80F-144F-F97A4E74D92D}"/>
                </a:ext>
              </a:extLst>
            </p:cNvPr>
            <p:cNvSpPr txBox="1"/>
            <p:nvPr>
              <p:custDataLst>
                <p:tags r:id="rId3"/>
              </p:custDataLst>
            </p:nvPr>
          </p:nvSpPr>
          <p:spPr>
            <a:xfrm>
              <a:off x="748163" y="1483451"/>
              <a:ext cx="2513307" cy="612553"/>
            </a:xfrm>
            <a:prstGeom prst="rect">
              <a:avLst/>
            </a:prstGeom>
            <a:noFill/>
          </p:spPr>
          <p:txBody>
            <a:bodyPr wrap="square" rtlCol="0">
              <a:spAutoFit/>
            </a:bodyPr>
            <a:lstStyle/>
            <a:p>
              <a:pPr marL="0" marR="0" lvl="0" indent="0" algn="l" defTabSz="913765" rtl="0" eaLnBrk="1" fontAlgn="auto" latinLnBrk="0" hangingPunct="1">
                <a:lnSpc>
                  <a:spcPct val="13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逻辑</a:t>
              </a:r>
            </a:p>
          </p:txBody>
        </p:sp>
        <p:sp>
          <p:nvSpPr>
            <p:cNvPr id="16" name="Body-1">
              <a:extLst>
                <a:ext uri="{FF2B5EF4-FFF2-40B4-BE49-F238E27FC236}">
                  <a16:creationId xmlns:a16="http://schemas.microsoft.com/office/drawing/2014/main" id="{9C682271-49FC-3DF3-2CC4-1756AE4CD59C}"/>
                </a:ext>
              </a:extLst>
            </p:cNvPr>
            <p:cNvSpPr txBox="1">
              <a:spLocks/>
            </p:cNvSpPr>
            <p:nvPr>
              <p:custDataLst>
                <p:tags r:id="rId4"/>
              </p:custDataLst>
            </p:nvPr>
          </p:nvSpPr>
          <p:spPr>
            <a:xfrm>
              <a:off x="793656" y="2113800"/>
              <a:ext cx="3307732" cy="1742964"/>
            </a:xfrm>
            <a:prstGeom prst="rect">
              <a:avLst/>
            </a:prstGeom>
            <a:noFill/>
          </p:spPr>
          <p:txBody>
            <a:bodyPr wrap="square" rtlCol="0">
              <a:spAutoFit/>
            </a:bodyPr>
            <a:lstStyle>
              <a:defPPr>
                <a:defRPr lang="zh-CN"/>
              </a:defPPr>
              <a:lvl1pPr>
                <a:lnSpc>
                  <a:spcPct val="130000"/>
                </a:lnSpc>
                <a:defRPr sz="1400">
                  <a:solidFill>
                    <a:schemeClr val="bg1">
                      <a:alpha val="80000"/>
                    </a:schemeClr>
                  </a:solidFill>
                  <a:latin typeface="Arial" panose="020B0604020202020204" pitchFamily="34" charset="0"/>
                  <a:ea typeface="Microsoft YaHei" panose="020B0503020204020204" pitchFamily="34" charset="-122"/>
                </a:defRPr>
              </a:lvl1p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将每个需求完整分配给历史配额评级最低的部件来源</a:t>
              </a:r>
              <a:endPar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分配比例：</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值</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所有替换资源</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总和</a:t>
              </a:r>
              <a:endPar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配额评级</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已分配总量（不包含当前需求）</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分配比例</a:t>
              </a:r>
              <a:endPar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分配依据：选择配额评级最低的来源；若评级相同，则按</a:t>
              </a:r>
              <a:r>
                <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Target</a:t>
              </a:r>
              <a:r>
                <a:rPr kumimoji="0" lang="zh-CN"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值</a:t>
              </a:r>
              <a:endParaRPr kumimoji="0" lang="en-US" altLang="zh-CN" sz="14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p:txBody>
        </p:sp>
      </p:grpSp>
      <p:graphicFrame>
        <p:nvGraphicFramePr>
          <p:cNvPr id="17" name="表格 16">
            <a:extLst>
              <a:ext uri="{FF2B5EF4-FFF2-40B4-BE49-F238E27FC236}">
                <a16:creationId xmlns:a16="http://schemas.microsoft.com/office/drawing/2014/main" id="{C892E275-0636-FFA8-B9B6-7D02C55B5D5D}"/>
              </a:ext>
            </a:extLst>
          </p:cNvPr>
          <p:cNvGraphicFramePr>
            <a:graphicFrameLocks noGrp="1"/>
          </p:cNvGraphicFramePr>
          <p:nvPr>
            <p:extLst>
              <p:ext uri="{D42A27DB-BD31-4B8C-83A1-F6EECF244321}">
                <p14:modId xmlns:p14="http://schemas.microsoft.com/office/powerpoint/2010/main" val="1186630167"/>
              </p:ext>
            </p:extLst>
          </p:nvPr>
        </p:nvGraphicFramePr>
        <p:xfrm>
          <a:off x="2067859" y="3429000"/>
          <a:ext cx="8199718" cy="3203389"/>
        </p:xfrm>
        <a:graphic>
          <a:graphicData uri="http://schemas.openxmlformats.org/drawingml/2006/table">
            <a:tbl>
              <a:tblPr firstRow="1" firstCol="1" lastRow="1" lastCol="1" bandRow="1" bandCol="1">
                <a:tableStyleId>{F2DE63D5-997A-4646-A377-4702673A728D}</a:tableStyleId>
              </a:tblPr>
              <a:tblGrid>
                <a:gridCol w="1519257">
                  <a:extLst>
                    <a:ext uri="{9D8B030D-6E8A-4147-A177-3AD203B41FA5}">
                      <a16:colId xmlns:a16="http://schemas.microsoft.com/office/drawing/2014/main" val="1476701231"/>
                    </a:ext>
                  </a:extLst>
                </a:gridCol>
                <a:gridCol w="1500941">
                  <a:extLst>
                    <a:ext uri="{9D8B030D-6E8A-4147-A177-3AD203B41FA5}">
                      <a16:colId xmlns:a16="http://schemas.microsoft.com/office/drawing/2014/main" val="4273869126"/>
                    </a:ext>
                  </a:extLst>
                </a:gridCol>
                <a:gridCol w="1808252">
                  <a:extLst>
                    <a:ext uri="{9D8B030D-6E8A-4147-A177-3AD203B41FA5}">
                      <a16:colId xmlns:a16="http://schemas.microsoft.com/office/drawing/2014/main" val="3348916837"/>
                    </a:ext>
                  </a:extLst>
                </a:gridCol>
                <a:gridCol w="1834711">
                  <a:extLst>
                    <a:ext uri="{9D8B030D-6E8A-4147-A177-3AD203B41FA5}">
                      <a16:colId xmlns:a16="http://schemas.microsoft.com/office/drawing/2014/main" val="2435786356"/>
                    </a:ext>
                  </a:extLst>
                </a:gridCol>
                <a:gridCol w="1536557">
                  <a:extLst>
                    <a:ext uri="{9D8B030D-6E8A-4147-A177-3AD203B41FA5}">
                      <a16:colId xmlns:a16="http://schemas.microsoft.com/office/drawing/2014/main" val="1722084799"/>
                    </a:ext>
                  </a:extLst>
                </a:gridCol>
              </a:tblGrid>
              <a:tr h="342155">
                <a:tc>
                  <a:txBody>
                    <a:bodyPr/>
                    <a:lstStyle/>
                    <a:p>
                      <a:pPr marL="0" algn="l" defTabSz="914332" rtl="0" eaLnBrk="1" latinLnBrk="0" hangingPunct="1">
                        <a:lnSpc>
                          <a:spcPct val="120000"/>
                        </a:lnSpc>
                        <a:buNone/>
                      </a:pPr>
                      <a:r>
                        <a:rPr lang="zh-CN" altLang="en-US" sz="1400" b="1" kern="100" dirty="0">
                          <a:solidFill>
                            <a:schemeClr val="tx1"/>
                          </a:solidFill>
                          <a:effectLst/>
                          <a:latin typeface="Arial" panose="020B0604020202020204" pitchFamily="34" charset="0"/>
                          <a:ea typeface="微软雅黑" panose="020B0503020204020204" pitchFamily="34" charset="-122"/>
                        </a:rPr>
                        <a:t>分配次数</a:t>
                      </a:r>
                      <a:endParaRPr lang="zh-CN" altLang="en-US" sz="1400" b="1" kern="100" dirty="0">
                        <a:solidFill>
                          <a:schemeClr val="tx1"/>
                        </a:solidFill>
                        <a:effectLst/>
                        <a:latin typeface="Arial" panose="020B0604020202020204" pitchFamily="34" charset="0"/>
                        <a:ea typeface="微软雅黑" panose="020B0503020204020204" pitchFamily="34" charset="-122"/>
                        <a:cs typeface="+mn-cs"/>
                      </a:endParaRPr>
                    </a:p>
                  </a:txBody>
                  <a:tcPr marL="68580" marR="68580" marT="0" marB="0"/>
                </a:tc>
                <a:tc>
                  <a:txBody>
                    <a:bodyPr/>
                    <a:lstStyle/>
                    <a:p>
                      <a:pPr algn="l">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净需求数量</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动态目标计算</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实际分配</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400" kern="100" dirty="0">
                          <a:solidFill>
                            <a:schemeClr val="tx1"/>
                          </a:solidFill>
                          <a:effectLst/>
                          <a:latin typeface="Arial" panose="020B0604020202020204" pitchFamily="34" charset="0"/>
                          <a:ea typeface="微软雅黑" panose="020B0503020204020204" pitchFamily="34" charset="-122"/>
                        </a:rPr>
                        <a:t>选择</a:t>
                      </a:r>
                      <a:endParaRPr lang="zh-CN" sz="140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086724478"/>
                  </a:ext>
                </a:extLst>
              </a:tr>
              <a:tr h="855668">
                <a:tc>
                  <a:txBody>
                    <a:bodyPr/>
                    <a:lstStyle/>
                    <a:p>
                      <a:pPr algn="l">
                        <a:lnSpc>
                          <a:spcPct val="120000"/>
                        </a:lnSpc>
                        <a:buNone/>
                      </a:pPr>
                      <a:r>
                        <a:rPr lang="zh-CN" sz="1100" kern="100">
                          <a:effectLst/>
                          <a:latin typeface="Arial" panose="020B0604020202020204" pitchFamily="34" charset="0"/>
                          <a:ea typeface="微软雅黑" panose="020B0503020204020204" pitchFamily="34" charset="-122"/>
                        </a:rPr>
                        <a:t>第</a:t>
                      </a:r>
                      <a:r>
                        <a:rPr lang="en-US" sz="1100" kern="100">
                          <a:effectLst/>
                          <a:latin typeface="Arial" panose="020B0604020202020204" pitchFamily="34" charset="0"/>
                          <a:ea typeface="微软雅黑" panose="020B0503020204020204" pitchFamily="34" charset="-122"/>
                        </a:rPr>
                        <a:t>1</a:t>
                      </a:r>
                      <a:r>
                        <a:rPr lang="zh-CN" sz="1100" kern="100">
                          <a:effectLst/>
                          <a:latin typeface="Arial" panose="020B0604020202020204" pitchFamily="34" charset="0"/>
                          <a:ea typeface="微软雅黑" panose="020B0503020204020204" pitchFamily="34" charset="-122"/>
                        </a:rPr>
                        <a:t>次</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10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P1:0/(60%)=0 P2:vs 0/(40%)=0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100" kern="100">
                          <a:effectLst/>
                          <a:latin typeface="Arial" panose="020B0604020202020204" pitchFamily="34" charset="0"/>
                          <a:ea typeface="微软雅黑" panose="020B0503020204020204" pitchFamily="34" charset="-122"/>
                        </a:rPr>
                        <a:t>评级一致，</a:t>
                      </a:r>
                      <a:r>
                        <a:rPr lang="en-US" sz="1100" kern="100">
                          <a:effectLst/>
                          <a:latin typeface="Arial" panose="020B0604020202020204" pitchFamily="34" charset="0"/>
                          <a:ea typeface="微软雅黑" panose="020B0503020204020204" pitchFamily="34" charset="-122"/>
                        </a:rPr>
                        <a:t>P1</a:t>
                      </a:r>
                      <a:r>
                        <a:rPr lang="zh-CN" sz="1100" kern="100">
                          <a:effectLst/>
                          <a:latin typeface="Arial" panose="020B0604020202020204" pitchFamily="34" charset="0"/>
                          <a:ea typeface="微软雅黑" panose="020B0503020204020204" pitchFamily="34" charset="-122"/>
                        </a:rPr>
                        <a:t>分配</a:t>
                      </a:r>
                      <a:r>
                        <a:rPr lang="en-US" sz="1100" kern="100">
                          <a:effectLst/>
                          <a:latin typeface="Arial" panose="020B0604020202020204" pitchFamily="34" charset="0"/>
                          <a:ea typeface="微软雅黑" panose="020B0503020204020204" pitchFamily="34" charset="-122"/>
                        </a:rPr>
                        <a:t>10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P1</a:t>
                      </a:r>
                      <a:r>
                        <a:rPr lang="zh-CN" sz="1100" kern="100">
                          <a:effectLst/>
                          <a:latin typeface="Arial" panose="020B0604020202020204" pitchFamily="34" charset="0"/>
                          <a:ea typeface="微软雅黑" panose="020B0503020204020204" pitchFamily="34" charset="-122"/>
                        </a:rPr>
                        <a:t>的</a:t>
                      </a:r>
                      <a:r>
                        <a:rPr lang="en-US" sz="1100" kern="100">
                          <a:effectLst/>
                          <a:latin typeface="Arial" panose="020B0604020202020204" pitchFamily="34" charset="0"/>
                          <a:ea typeface="微软雅黑" panose="020B0503020204020204" pitchFamily="34" charset="-122"/>
                        </a:rPr>
                        <a:t>Target</a:t>
                      </a:r>
                      <a:r>
                        <a:rPr lang="zh-CN" sz="1100" kern="100">
                          <a:effectLst/>
                          <a:latin typeface="Arial" panose="020B0604020202020204" pitchFamily="34" charset="0"/>
                          <a:ea typeface="微软雅黑" panose="020B0503020204020204" pitchFamily="34" charset="-122"/>
                        </a:rPr>
                        <a:t>更高，选</a:t>
                      </a:r>
                      <a:r>
                        <a:rPr lang="en-US" sz="1100" kern="100">
                          <a:effectLst/>
                          <a:latin typeface="Arial" panose="020B0604020202020204" pitchFamily="34" charset="0"/>
                          <a:ea typeface="微软雅黑" panose="020B0503020204020204" pitchFamily="34" charset="-122"/>
                        </a:rPr>
                        <a:t>P1</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79900775"/>
                  </a:ext>
                </a:extLst>
              </a:tr>
              <a:tr h="855668">
                <a:tc>
                  <a:txBody>
                    <a:bodyPr/>
                    <a:lstStyle/>
                    <a:p>
                      <a:pPr algn="l">
                        <a:lnSpc>
                          <a:spcPct val="120000"/>
                        </a:lnSpc>
                        <a:buNone/>
                      </a:pPr>
                      <a:r>
                        <a:rPr lang="zh-CN" sz="1100" kern="100">
                          <a:effectLst/>
                          <a:latin typeface="Arial" panose="020B0604020202020204" pitchFamily="34" charset="0"/>
                          <a:ea typeface="微软雅黑" panose="020B0503020204020204" pitchFamily="34" charset="-122"/>
                        </a:rPr>
                        <a:t>第</a:t>
                      </a:r>
                      <a:r>
                        <a:rPr lang="en-US" sz="1100" kern="100">
                          <a:effectLst/>
                          <a:latin typeface="Arial" panose="020B0604020202020204" pitchFamily="34" charset="0"/>
                          <a:ea typeface="微软雅黑" panose="020B0503020204020204" pitchFamily="34" charset="-122"/>
                        </a:rPr>
                        <a:t>2</a:t>
                      </a:r>
                      <a:r>
                        <a:rPr lang="zh-CN" sz="1100" kern="100">
                          <a:effectLst/>
                          <a:latin typeface="Arial" panose="020B0604020202020204" pitchFamily="34" charset="0"/>
                          <a:ea typeface="微软雅黑" panose="020B0503020204020204" pitchFamily="34" charset="-122"/>
                        </a:rPr>
                        <a:t>次</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20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P1:10/(60%) = 17 vs</a:t>
                      </a:r>
                      <a:endParaRPr lang="zh-CN" sz="1100" kern="100">
                        <a:effectLst/>
                        <a:latin typeface="Arial" panose="020B0604020202020204" pitchFamily="34" charset="0"/>
                        <a:ea typeface="微软雅黑" panose="020B0503020204020204" pitchFamily="34" charset="-122"/>
                      </a:endParaRPr>
                    </a:p>
                    <a:p>
                      <a:pPr algn="l">
                        <a:lnSpc>
                          <a:spcPct val="120000"/>
                        </a:lnSpc>
                        <a:buNone/>
                      </a:pPr>
                      <a:r>
                        <a:rPr lang="en-US" sz="1100" kern="100">
                          <a:effectLst/>
                          <a:latin typeface="Arial" panose="020B0604020202020204" pitchFamily="34" charset="0"/>
                          <a:ea typeface="微软雅黑" panose="020B0503020204020204" pitchFamily="34" charset="-122"/>
                        </a:rPr>
                        <a:t>P2:0(40%) = 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P2</a:t>
                      </a:r>
                      <a:r>
                        <a:rPr lang="zh-CN" sz="1100" kern="100">
                          <a:effectLst/>
                          <a:latin typeface="Arial" panose="020B0604020202020204" pitchFamily="34" charset="0"/>
                          <a:ea typeface="微软雅黑" panose="020B0503020204020204" pitchFamily="34" charset="-122"/>
                        </a:rPr>
                        <a:t>评级低，</a:t>
                      </a:r>
                      <a:r>
                        <a:rPr lang="en-US" sz="1100" kern="100">
                          <a:effectLst/>
                          <a:latin typeface="Arial" panose="020B0604020202020204" pitchFamily="34" charset="0"/>
                          <a:ea typeface="微软雅黑" panose="020B0503020204020204" pitchFamily="34" charset="-122"/>
                        </a:rPr>
                        <a:t>P2</a:t>
                      </a:r>
                      <a:r>
                        <a:rPr lang="zh-CN" sz="1100" kern="100">
                          <a:effectLst/>
                          <a:latin typeface="Arial" panose="020B0604020202020204" pitchFamily="34" charset="0"/>
                          <a:ea typeface="微软雅黑" panose="020B0503020204020204" pitchFamily="34" charset="-122"/>
                        </a:rPr>
                        <a:t>分配</a:t>
                      </a:r>
                      <a:r>
                        <a:rPr lang="en-US" sz="1100" kern="100">
                          <a:effectLst/>
                          <a:latin typeface="Arial" panose="020B0604020202020204" pitchFamily="34" charset="0"/>
                          <a:ea typeface="微软雅黑" panose="020B0503020204020204" pitchFamily="34" charset="-122"/>
                        </a:rPr>
                        <a:t>20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100" kern="100">
                          <a:effectLst/>
                          <a:latin typeface="Arial" panose="020B0604020202020204" pitchFamily="34" charset="0"/>
                          <a:ea typeface="微软雅黑" panose="020B0503020204020204" pitchFamily="34" charset="-122"/>
                        </a:rPr>
                        <a:t>选</a:t>
                      </a:r>
                      <a:r>
                        <a:rPr lang="en-US" sz="1100" kern="100">
                          <a:effectLst/>
                          <a:latin typeface="Arial" panose="020B0604020202020204" pitchFamily="34" charset="0"/>
                          <a:ea typeface="微软雅黑" panose="020B0503020204020204" pitchFamily="34" charset="-122"/>
                        </a:rPr>
                        <a:t>P2</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810230866"/>
                  </a:ext>
                </a:extLst>
              </a:tr>
              <a:tr h="1149898">
                <a:tc>
                  <a:txBody>
                    <a:bodyPr/>
                    <a:lstStyle/>
                    <a:p>
                      <a:pPr algn="l">
                        <a:lnSpc>
                          <a:spcPct val="120000"/>
                        </a:lnSpc>
                        <a:buNone/>
                      </a:pPr>
                      <a:r>
                        <a:rPr lang="zh-CN" sz="1100" kern="100">
                          <a:effectLst/>
                          <a:latin typeface="Arial" panose="020B0604020202020204" pitchFamily="34" charset="0"/>
                          <a:ea typeface="微软雅黑" panose="020B0503020204020204" pitchFamily="34" charset="-122"/>
                        </a:rPr>
                        <a:t>第</a:t>
                      </a:r>
                      <a:r>
                        <a:rPr lang="en-US" sz="1100" kern="100">
                          <a:effectLst/>
                          <a:latin typeface="Arial" panose="020B0604020202020204" pitchFamily="34" charset="0"/>
                          <a:ea typeface="微软雅黑" panose="020B0503020204020204" pitchFamily="34" charset="-122"/>
                        </a:rPr>
                        <a:t>3</a:t>
                      </a:r>
                      <a:r>
                        <a:rPr lang="zh-CN" sz="1100" kern="100">
                          <a:effectLst/>
                          <a:latin typeface="Arial" panose="020B0604020202020204" pitchFamily="34" charset="0"/>
                          <a:ea typeface="微软雅黑" panose="020B0503020204020204" pitchFamily="34" charset="-122"/>
                        </a:rPr>
                        <a:t>次</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30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P1:10/(60%)=24 vs</a:t>
                      </a:r>
                      <a:endParaRPr lang="zh-CN" sz="1100" kern="100">
                        <a:effectLst/>
                        <a:latin typeface="Arial" panose="020B0604020202020204" pitchFamily="34" charset="0"/>
                        <a:ea typeface="微软雅黑" panose="020B0503020204020204" pitchFamily="34" charset="-122"/>
                      </a:endParaRPr>
                    </a:p>
                    <a:p>
                      <a:pPr algn="l">
                        <a:lnSpc>
                          <a:spcPct val="120000"/>
                        </a:lnSpc>
                        <a:buNone/>
                      </a:pPr>
                      <a:r>
                        <a:rPr lang="en-US" sz="1100" kern="100">
                          <a:effectLst/>
                          <a:latin typeface="Arial" panose="020B0604020202020204" pitchFamily="34" charset="0"/>
                          <a:ea typeface="微软雅黑" panose="020B0503020204020204" pitchFamily="34" charset="-122"/>
                        </a:rPr>
                        <a:t>P2: 20/(40%)=25</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en-US" sz="1100" kern="100">
                          <a:effectLst/>
                          <a:latin typeface="Arial" panose="020B0604020202020204" pitchFamily="34" charset="0"/>
                          <a:ea typeface="微软雅黑" panose="020B0503020204020204" pitchFamily="34" charset="-122"/>
                        </a:rPr>
                        <a:t>P1</a:t>
                      </a:r>
                      <a:r>
                        <a:rPr lang="zh-CN" sz="1100" kern="100">
                          <a:effectLst/>
                          <a:latin typeface="Arial" panose="020B0604020202020204" pitchFamily="34" charset="0"/>
                          <a:ea typeface="微软雅黑" panose="020B0503020204020204" pitchFamily="34" charset="-122"/>
                        </a:rPr>
                        <a:t>评级更低，</a:t>
                      </a:r>
                      <a:r>
                        <a:rPr lang="en-US" sz="1100" kern="100">
                          <a:effectLst/>
                          <a:latin typeface="Arial" panose="020B0604020202020204" pitchFamily="34" charset="0"/>
                          <a:ea typeface="微软雅黑" panose="020B0503020204020204" pitchFamily="34" charset="-122"/>
                        </a:rPr>
                        <a:t>P1</a:t>
                      </a:r>
                      <a:r>
                        <a:rPr lang="zh-CN" sz="1100" kern="100">
                          <a:effectLst/>
                          <a:latin typeface="Arial" panose="020B0604020202020204" pitchFamily="34" charset="0"/>
                          <a:ea typeface="微软雅黑" panose="020B0503020204020204" pitchFamily="34" charset="-122"/>
                        </a:rPr>
                        <a:t>分配</a:t>
                      </a:r>
                      <a:r>
                        <a:rPr lang="en-US" sz="1100" kern="100">
                          <a:effectLst/>
                          <a:latin typeface="Arial" panose="020B0604020202020204" pitchFamily="34" charset="0"/>
                          <a:ea typeface="微软雅黑" panose="020B0503020204020204" pitchFamily="34" charset="-122"/>
                        </a:rPr>
                        <a:t>30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gn="l">
                        <a:lnSpc>
                          <a:spcPct val="120000"/>
                        </a:lnSpc>
                        <a:buNone/>
                      </a:pPr>
                      <a:r>
                        <a:rPr lang="zh-CN" sz="1100" kern="100" dirty="0">
                          <a:effectLst/>
                          <a:latin typeface="Arial" panose="020B0604020202020204" pitchFamily="34" charset="0"/>
                          <a:ea typeface="微软雅黑" panose="020B0503020204020204" pitchFamily="34" charset="-122"/>
                        </a:rPr>
                        <a:t>选</a:t>
                      </a:r>
                      <a:r>
                        <a:rPr lang="en-US" sz="1100" kern="100" dirty="0">
                          <a:effectLst/>
                          <a:latin typeface="Arial" panose="020B0604020202020204" pitchFamily="34" charset="0"/>
                          <a:ea typeface="微软雅黑" panose="020B0503020204020204" pitchFamily="34" charset="-122"/>
                        </a:rPr>
                        <a:t>P1</a:t>
                      </a:r>
                      <a:endParaRPr lang="zh-CN" sz="1100" kern="100" dirty="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3636826231"/>
                  </a:ext>
                </a:extLst>
              </a:tr>
            </a:tbl>
          </a:graphicData>
        </a:graphic>
      </p:graphicFrame>
    </p:spTree>
    <p:extLst>
      <p:ext uri="{BB962C8B-B14F-4D97-AF65-F5344CB8AC3E}">
        <p14:creationId xmlns:p14="http://schemas.microsoft.com/office/powerpoint/2010/main" val="427806766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10C165-3012-0EB6-C6B5-4DB49A19D872}"/>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寻源规则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动态调整比例，减少因批量导致的超额供应</a:t>
            </a:r>
          </a:p>
        </p:txBody>
      </p:sp>
      <p:grpSp>
        <p:nvGrpSpPr>
          <p:cNvPr id="3" name="组合 2">
            <a:extLst>
              <a:ext uri="{FF2B5EF4-FFF2-40B4-BE49-F238E27FC236}">
                <a16:creationId xmlns:a16="http://schemas.microsoft.com/office/drawing/2014/main" id="{1638EC68-EC90-C4F1-C5D6-C23F98F2569D}"/>
              </a:ext>
            </a:extLst>
          </p:cNvPr>
          <p:cNvGrpSpPr/>
          <p:nvPr/>
        </p:nvGrpSpPr>
        <p:grpSpPr>
          <a:xfrm>
            <a:off x="543845" y="1193035"/>
            <a:ext cx="635003" cy="462517"/>
            <a:chOff x="2618303" y="1841679"/>
            <a:chExt cx="739175" cy="384518"/>
          </a:xfrm>
        </p:grpSpPr>
        <p:sp>
          <p:nvSpPr>
            <p:cNvPr id="4" name="等腰三角形 3">
              <a:extLst>
                <a:ext uri="{FF2B5EF4-FFF2-40B4-BE49-F238E27FC236}">
                  <a16:creationId xmlns:a16="http://schemas.microsoft.com/office/drawing/2014/main" id="{6F03B4F4-B493-134A-772C-1474F279B8F4}"/>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5" name="文本框 4">
              <a:extLst>
                <a:ext uri="{FF2B5EF4-FFF2-40B4-BE49-F238E27FC236}">
                  <a16:creationId xmlns:a16="http://schemas.microsoft.com/office/drawing/2014/main" id="{D2221AB6-BD3F-7A4A-B91C-28E3E8C48451}"/>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5</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6" name="连接符: 肘形 5">
            <a:extLst>
              <a:ext uri="{FF2B5EF4-FFF2-40B4-BE49-F238E27FC236}">
                <a16:creationId xmlns:a16="http://schemas.microsoft.com/office/drawing/2014/main" id="{0F6E4A85-B898-21CC-5B9F-225A7B0976C8}"/>
              </a:ext>
            </a:extLst>
          </p:cNvPr>
          <p:cNvCxnSpPr>
            <a:cxnSpLocks/>
            <a:stCxn id="7" idx="4"/>
            <a:endCxn id="4" idx="0"/>
          </p:cNvCxnSpPr>
          <p:nvPr/>
        </p:nvCxnSpPr>
        <p:spPr>
          <a:xfrm rot="5400000">
            <a:off x="1077413" y="768987"/>
            <a:ext cx="207983" cy="64011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椭圆 6">
            <a:extLst>
              <a:ext uri="{FF2B5EF4-FFF2-40B4-BE49-F238E27FC236}">
                <a16:creationId xmlns:a16="http://schemas.microsoft.com/office/drawing/2014/main" id="{49EE9824-1490-4617-B9BF-11C6B3216301}"/>
              </a:ext>
            </a:extLst>
          </p:cNvPr>
          <p:cNvSpPr/>
          <p:nvPr/>
        </p:nvSpPr>
        <p:spPr>
          <a:xfrm>
            <a:off x="1183959" y="699260"/>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0C85249A-527E-E17C-923F-2F4EFD2A3692}"/>
              </a:ext>
            </a:extLst>
          </p:cNvPr>
          <p:cNvGrpSpPr/>
          <p:nvPr/>
        </p:nvGrpSpPr>
        <p:grpSpPr>
          <a:xfrm>
            <a:off x="1186432" y="1193034"/>
            <a:ext cx="635003" cy="462517"/>
            <a:chOff x="2618303" y="1841679"/>
            <a:chExt cx="739175" cy="384518"/>
          </a:xfrm>
        </p:grpSpPr>
        <p:sp>
          <p:nvSpPr>
            <p:cNvPr id="9" name="等腰三角形 8">
              <a:extLst>
                <a:ext uri="{FF2B5EF4-FFF2-40B4-BE49-F238E27FC236}">
                  <a16:creationId xmlns:a16="http://schemas.microsoft.com/office/drawing/2014/main" id="{FB744FB4-2A7F-BFAF-1698-D2AFF089B26A}"/>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0" name="文本框 9">
              <a:extLst>
                <a:ext uri="{FF2B5EF4-FFF2-40B4-BE49-F238E27FC236}">
                  <a16:creationId xmlns:a16="http://schemas.microsoft.com/office/drawing/2014/main" id="{25792A24-84FC-91B2-FE47-45D8A272D677}"/>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 </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1" name="连接符: 肘形 10">
            <a:extLst>
              <a:ext uri="{FF2B5EF4-FFF2-40B4-BE49-F238E27FC236}">
                <a16:creationId xmlns:a16="http://schemas.microsoft.com/office/drawing/2014/main" id="{007AC8C2-279E-0384-9DC9-1F3471908833}"/>
              </a:ext>
            </a:extLst>
          </p:cNvPr>
          <p:cNvCxnSpPr>
            <a:cxnSpLocks/>
            <a:stCxn id="7" idx="4"/>
            <a:endCxn id="9" idx="0"/>
          </p:cNvCxnSpPr>
          <p:nvPr/>
        </p:nvCxnSpPr>
        <p:spPr>
          <a:xfrm rot="16200000" flipH="1">
            <a:off x="1398706" y="1087806"/>
            <a:ext cx="207982" cy="24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2" name="组合 11">
            <a:extLst>
              <a:ext uri="{FF2B5EF4-FFF2-40B4-BE49-F238E27FC236}">
                <a16:creationId xmlns:a16="http://schemas.microsoft.com/office/drawing/2014/main" id="{3A62AD51-D76C-034E-CD93-30B257DA02AA}"/>
              </a:ext>
            </a:extLst>
          </p:cNvPr>
          <p:cNvGrpSpPr/>
          <p:nvPr/>
        </p:nvGrpSpPr>
        <p:grpSpPr>
          <a:xfrm>
            <a:off x="1821434" y="1193034"/>
            <a:ext cx="635003" cy="462517"/>
            <a:chOff x="2618303" y="1841679"/>
            <a:chExt cx="739175" cy="384518"/>
          </a:xfrm>
        </p:grpSpPr>
        <p:sp>
          <p:nvSpPr>
            <p:cNvPr id="13" name="等腰三角形 12">
              <a:extLst>
                <a:ext uri="{FF2B5EF4-FFF2-40B4-BE49-F238E27FC236}">
                  <a16:creationId xmlns:a16="http://schemas.microsoft.com/office/drawing/2014/main" id="{B148AD51-5839-82A1-A7AC-2A08630DEE18}"/>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4" name="文本框 13">
              <a:extLst>
                <a:ext uri="{FF2B5EF4-FFF2-40B4-BE49-F238E27FC236}">
                  <a16:creationId xmlns:a16="http://schemas.microsoft.com/office/drawing/2014/main" id="{1FA6E614-1E4B-3F8E-3172-2CD425828EC4}"/>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a:t>
              </a:r>
              <a:r>
                <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 </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6" name="连接符: 肘形 15">
            <a:extLst>
              <a:ext uri="{FF2B5EF4-FFF2-40B4-BE49-F238E27FC236}">
                <a16:creationId xmlns:a16="http://schemas.microsoft.com/office/drawing/2014/main" id="{0DEF4AB7-F123-8ABC-667C-521F7771023B}"/>
              </a:ext>
            </a:extLst>
          </p:cNvPr>
          <p:cNvCxnSpPr>
            <a:stCxn id="7" idx="4"/>
            <a:endCxn id="13" idx="0"/>
          </p:cNvCxnSpPr>
          <p:nvPr/>
        </p:nvCxnSpPr>
        <p:spPr>
          <a:xfrm rot="16200000" flipH="1">
            <a:off x="1716207" y="770305"/>
            <a:ext cx="207982" cy="637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DF2DAC07-83C8-C692-96A0-FBF005E2DDEA}"/>
              </a:ext>
            </a:extLst>
          </p:cNvPr>
          <p:cNvSpPr txBox="1"/>
          <p:nvPr/>
        </p:nvSpPr>
        <p:spPr>
          <a:xfrm>
            <a:off x="2599765" y="858209"/>
            <a:ext cx="32033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Target</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分别为</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5</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订单倍数分别为</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20</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15</a:t>
            </a: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某一需求数量为</a:t>
            </a:r>
            <a:r>
              <a:rPr kumimoji="0" lang="en-US" altLang="zh-CN"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100</a:t>
            </a:r>
            <a:endParaRPr kumimoji="0" lang="zh-CN" altLang="en-US" sz="14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8" name="组合 17">
            <a:extLst>
              <a:ext uri="{FF2B5EF4-FFF2-40B4-BE49-F238E27FC236}">
                <a16:creationId xmlns:a16="http://schemas.microsoft.com/office/drawing/2014/main" id="{5DF3C555-9574-1AD8-772C-B17F28CD34DC}"/>
              </a:ext>
            </a:extLst>
          </p:cNvPr>
          <p:cNvGrpSpPr>
            <a:grpSpLocks noChangeAspect="1"/>
          </p:cNvGrpSpPr>
          <p:nvPr>
            <p:custDataLst>
              <p:tags r:id="rId1"/>
            </p:custDataLst>
          </p:nvPr>
        </p:nvGrpSpPr>
        <p:grpSpPr>
          <a:xfrm>
            <a:off x="2540560" y="1764541"/>
            <a:ext cx="6525185" cy="1634201"/>
            <a:chOff x="341639" y="1840380"/>
            <a:chExt cx="3548002" cy="2030974"/>
          </a:xfrm>
        </p:grpSpPr>
        <p:sp>
          <p:nvSpPr>
            <p:cNvPr id="19" name="1">
              <a:extLst>
                <a:ext uri="{FF2B5EF4-FFF2-40B4-BE49-F238E27FC236}">
                  <a16:creationId xmlns:a16="http://schemas.microsoft.com/office/drawing/2014/main" id="{20723CB8-1CEA-F302-BFAF-8E0AD7D2DE77}"/>
                </a:ext>
              </a:extLst>
            </p:cNvPr>
            <p:cNvSpPr/>
            <p:nvPr>
              <p:custDataLst>
                <p:tags r:id="rId2"/>
              </p:custDataLst>
            </p:nvPr>
          </p:nvSpPr>
          <p:spPr>
            <a:xfrm>
              <a:off x="341639" y="1884034"/>
              <a:ext cx="3383009" cy="1987320"/>
            </a:xfrm>
            <a:prstGeom prst="roundRect">
              <a:avLst>
                <a:gd name="adj" fmla="val 8900"/>
              </a:avLst>
            </a:prstGeom>
            <a:solidFill>
              <a:schemeClr val="accent3">
                <a:lumMod val="60000"/>
                <a:lumOff val="40000"/>
              </a:schemeClr>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marL="0" marR="0" lvl="0" indent="0" algn="ctr" defTabSz="914354"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20" name="Title-1">
              <a:extLst>
                <a:ext uri="{FF2B5EF4-FFF2-40B4-BE49-F238E27FC236}">
                  <a16:creationId xmlns:a16="http://schemas.microsoft.com/office/drawing/2014/main" id="{62595027-5738-23CA-95C6-5184ACBD4B8D}"/>
                </a:ext>
              </a:extLst>
            </p:cNvPr>
            <p:cNvSpPr txBox="1"/>
            <p:nvPr>
              <p:custDataLst>
                <p:tags r:id="rId3"/>
              </p:custDataLst>
            </p:nvPr>
          </p:nvSpPr>
          <p:spPr>
            <a:xfrm>
              <a:off x="438671" y="1840380"/>
              <a:ext cx="2513307" cy="518052"/>
            </a:xfrm>
            <a:prstGeom prst="rect">
              <a:avLst/>
            </a:prstGeom>
            <a:noFill/>
          </p:spPr>
          <p:txBody>
            <a:bodyPr wrap="square" rtlCol="0">
              <a:spAutoFit/>
            </a:bodyPr>
            <a:lstStyle/>
            <a:p>
              <a:pPr marL="0" marR="0" lvl="0" indent="0" algn="l" defTabSz="913765" rtl="0" eaLnBrk="1" fontAlgn="auto" latinLnBrk="0" hangingPunct="1">
                <a:lnSpc>
                  <a:spcPct val="13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逻辑</a:t>
              </a:r>
            </a:p>
          </p:txBody>
        </p:sp>
        <p:sp>
          <p:nvSpPr>
            <p:cNvPr id="21" name="Body-1">
              <a:extLst>
                <a:ext uri="{FF2B5EF4-FFF2-40B4-BE49-F238E27FC236}">
                  <a16:creationId xmlns:a16="http://schemas.microsoft.com/office/drawing/2014/main" id="{4BE788CE-378B-3C0D-0013-A5962646EBD6}"/>
                </a:ext>
              </a:extLst>
            </p:cNvPr>
            <p:cNvSpPr txBox="1">
              <a:spLocks/>
            </p:cNvSpPr>
            <p:nvPr>
              <p:custDataLst>
                <p:tags r:id="rId4"/>
              </p:custDataLst>
            </p:nvPr>
          </p:nvSpPr>
          <p:spPr>
            <a:xfrm>
              <a:off x="627185" y="2275297"/>
              <a:ext cx="3262456" cy="1577425"/>
            </a:xfrm>
            <a:prstGeom prst="rect">
              <a:avLst/>
            </a:prstGeom>
            <a:noFill/>
          </p:spPr>
          <p:txBody>
            <a:bodyPr wrap="square" rtlCol="0">
              <a:spAutoFit/>
            </a:bodyPr>
            <a:lstStyle>
              <a:defPPr>
                <a:defRPr lang="zh-CN"/>
              </a:defPPr>
              <a:lvl1pPr>
                <a:lnSpc>
                  <a:spcPct val="130000"/>
                </a:lnSpc>
                <a:defRPr sz="1400">
                  <a:solidFill>
                    <a:schemeClr val="bg1">
                      <a:alpha val="80000"/>
                    </a:schemeClr>
                  </a:solidFill>
                  <a:latin typeface="Arial" panose="020B0604020202020204" pitchFamily="34" charset="0"/>
                  <a:ea typeface="Microsoft YaHei" panose="020B0503020204020204" pitchFamily="34" charset="-122"/>
                </a:defRPr>
              </a:lvl1pPr>
            </a:lstStyle>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按</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Target </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值从大到小依次选择来源</a:t>
              </a:r>
              <a:endPar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配额比例 </a:t>
              </a:r>
              <a:r>
                <a:rPr kumimoji="0" lang="en-US" altLang="zh-CN" sz="12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rPr>
                <a:t>= </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值</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所有替换资源</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Target</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总和</a:t>
              </a:r>
              <a:endParaRPr kumimoji="0" lang="zh-CN" altLang="en-US" sz="1200" b="0" i="0" u="none" strike="noStrike" kern="1200" cap="none" spc="0" normalizeH="0" baseline="0" noProof="0" dirty="0">
                <a:ln>
                  <a:noFill/>
                </a:ln>
                <a:solidFill>
                  <a:srgbClr val="000000">
                    <a:alpha val="80000"/>
                  </a:srgbClr>
                </a:solidFill>
                <a:effectLst/>
                <a:uLnTx/>
                <a:uFillTx/>
                <a:ea typeface="微软雅黑" panose="020B0503020204020204" pitchFamily="34" charset="-122"/>
                <a:cs typeface="+mn-cs"/>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分配量</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比例 × 当前需求总量 → 应用批量规则（如四舍五入至订单倍数）</a:t>
              </a:r>
              <a:endPar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计算剩余需求（原需求</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 - </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已分配量）</a:t>
              </a:r>
              <a:endPar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在未分配的来源中重复步骤</a:t>
              </a:r>
              <a:r>
                <a:rPr kumimoji="0" lang="en-US"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1</a:t>
              </a:r>
              <a:r>
                <a:rPr kumimoji="0" lang="zh-CN" altLang="zh-CN"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rPr>
                <a:t>，直至需求全部分配完毕</a:t>
              </a:r>
              <a:endParaRPr kumimoji="0" lang="zh-CN" altLang="en-US" sz="1200" b="0" i="0" u="none" strike="noStrike" kern="100" cap="none" spc="0" normalizeH="0" baseline="0" noProof="0" dirty="0">
                <a:ln>
                  <a:noFill/>
                </a:ln>
                <a:solidFill>
                  <a:srgbClr val="000000">
                    <a:alpha val="80000"/>
                  </a:srgbClr>
                </a:solidFill>
                <a:effectLst/>
                <a:uLnTx/>
                <a:uFillTx/>
                <a:ea typeface="微软雅黑" panose="020B0503020204020204" pitchFamily="34" charset="-122"/>
                <a:cs typeface="Times New Roman" panose="02020603050405020304" pitchFamily="18" charset="0"/>
              </a:endParaRPr>
            </a:p>
          </p:txBody>
        </p:sp>
      </p:grpSp>
      <p:graphicFrame>
        <p:nvGraphicFramePr>
          <p:cNvPr id="22" name="表格 21">
            <a:extLst>
              <a:ext uri="{FF2B5EF4-FFF2-40B4-BE49-F238E27FC236}">
                <a16:creationId xmlns:a16="http://schemas.microsoft.com/office/drawing/2014/main" id="{9D044B0A-ED7A-11AC-2C3A-562508EE93E1}"/>
              </a:ext>
            </a:extLst>
          </p:cNvPr>
          <p:cNvGraphicFramePr>
            <a:graphicFrameLocks noGrp="1"/>
          </p:cNvGraphicFramePr>
          <p:nvPr>
            <p:extLst>
              <p:ext uri="{D42A27DB-BD31-4B8C-83A1-F6EECF244321}">
                <p14:modId xmlns:p14="http://schemas.microsoft.com/office/powerpoint/2010/main" val="1761202468"/>
              </p:ext>
            </p:extLst>
          </p:nvPr>
        </p:nvGraphicFramePr>
        <p:xfrm>
          <a:off x="1501460" y="3698575"/>
          <a:ext cx="8497176" cy="2856534"/>
        </p:xfrm>
        <a:graphic>
          <a:graphicData uri="http://schemas.openxmlformats.org/drawingml/2006/table">
            <a:tbl>
              <a:tblPr firstRow="1" firstCol="1" lastRow="1" lastCol="1" bandRow="1" bandCol="1">
                <a:tableStyleId>{F2DE63D5-997A-4646-A377-4702673A728D}</a:tableStyleId>
              </a:tblPr>
              <a:tblGrid>
                <a:gridCol w="2124294">
                  <a:extLst>
                    <a:ext uri="{9D8B030D-6E8A-4147-A177-3AD203B41FA5}">
                      <a16:colId xmlns:a16="http://schemas.microsoft.com/office/drawing/2014/main" val="2848925657"/>
                    </a:ext>
                  </a:extLst>
                </a:gridCol>
                <a:gridCol w="2124294">
                  <a:extLst>
                    <a:ext uri="{9D8B030D-6E8A-4147-A177-3AD203B41FA5}">
                      <a16:colId xmlns:a16="http://schemas.microsoft.com/office/drawing/2014/main" val="3385793283"/>
                    </a:ext>
                  </a:extLst>
                </a:gridCol>
                <a:gridCol w="2124294">
                  <a:extLst>
                    <a:ext uri="{9D8B030D-6E8A-4147-A177-3AD203B41FA5}">
                      <a16:colId xmlns:a16="http://schemas.microsoft.com/office/drawing/2014/main" val="1960561405"/>
                    </a:ext>
                  </a:extLst>
                </a:gridCol>
                <a:gridCol w="2124294">
                  <a:extLst>
                    <a:ext uri="{9D8B030D-6E8A-4147-A177-3AD203B41FA5}">
                      <a16:colId xmlns:a16="http://schemas.microsoft.com/office/drawing/2014/main" val="4081288046"/>
                    </a:ext>
                  </a:extLst>
                </a:gridCol>
              </a:tblGrid>
              <a:tr h="301791">
                <a:tc>
                  <a:txBody>
                    <a:bodyPr/>
                    <a:lstStyle/>
                    <a:p>
                      <a:pPr>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计算伦次</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比率计算</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zh-CN" sz="1400" kern="100">
                          <a:solidFill>
                            <a:schemeClr val="tx1"/>
                          </a:solidFill>
                          <a:effectLst/>
                          <a:latin typeface="Arial" panose="020B0604020202020204" pitchFamily="34" charset="0"/>
                          <a:ea typeface="微软雅黑" panose="020B0503020204020204" pitchFamily="34" charset="-122"/>
                        </a:rPr>
                        <a:t>实际分配</a:t>
                      </a:r>
                      <a:endParaRPr lang="zh-CN" sz="14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zh-CN" sz="1400" kern="100" dirty="0">
                          <a:solidFill>
                            <a:schemeClr val="tx1"/>
                          </a:solidFill>
                          <a:effectLst/>
                          <a:latin typeface="Arial" panose="020B0604020202020204" pitchFamily="34" charset="0"/>
                          <a:ea typeface="微软雅黑" panose="020B0503020204020204" pitchFamily="34" charset="-122"/>
                        </a:rPr>
                        <a:t>剩余需求</a:t>
                      </a:r>
                      <a:endParaRPr lang="zh-CN" sz="140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3687075790"/>
                  </a:ext>
                </a:extLst>
              </a:tr>
              <a:tr h="960413">
                <a:tc>
                  <a:txBody>
                    <a:bodyPr/>
                    <a:lstStyle/>
                    <a:p>
                      <a:pPr>
                        <a:lnSpc>
                          <a:spcPct val="120000"/>
                        </a:lnSpc>
                        <a:buNone/>
                      </a:pPr>
                      <a:r>
                        <a:rPr lang="zh-CN" sz="1100" kern="100">
                          <a:solidFill>
                            <a:schemeClr val="tx1"/>
                          </a:solidFill>
                          <a:effectLst/>
                          <a:latin typeface="Arial" panose="020B0604020202020204" pitchFamily="34" charset="0"/>
                          <a:ea typeface="微软雅黑" panose="020B0503020204020204" pitchFamily="34" charset="-122"/>
                        </a:rPr>
                        <a:t>第一次</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100*50%=50</a:t>
                      </a:r>
                      <a:r>
                        <a:rPr lang="zh-CN" sz="1100" kern="100">
                          <a:solidFill>
                            <a:schemeClr val="tx1"/>
                          </a:solidFill>
                          <a:effectLst/>
                          <a:latin typeface="Arial" panose="020B0604020202020204" pitchFamily="34" charset="0"/>
                          <a:ea typeface="微软雅黑" panose="020B0503020204020204" pitchFamily="34" charset="-122"/>
                        </a:rPr>
                        <a:t>，考虑到订单倍数</a:t>
                      </a:r>
                      <a:r>
                        <a:rPr lang="en-US" sz="1100" kern="100">
                          <a:solidFill>
                            <a:schemeClr val="tx1"/>
                          </a:solidFill>
                          <a:effectLst/>
                          <a:latin typeface="Arial" panose="020B0604020202020204" pitchFamily="34" charset="0"/>
                          <a:ea typeface="微软雅黑" panose="020B0503020204020204" pitchFamily="34" charset="-122"/>
                        </a:rPr>
                        <a:t>20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50/20</a:t>
                      </a:r>
                      <a:r>
                        <a:rPr lang="zh-CN" sz="1100" kern="100">
                          <a:solidFill>
                            <a:schemeClr val="tx1"/>
                          </a:solidFill>
                          <a:effectLst/>
                          <a:latin typeface="Arial" panose="020B0604020202020204" pitchFamily="34" charset="0"/>
                          <a:ea typeface="微软雅黑" panose="020B0503020204020204" pitchFamily="34" charset="-122"/>
                        </a:rPr>
                        <a:t>向右取整为</a:t>
                      </a:r>
                      <a:r>
                        <a:rPr lang="en-US" sz="1100" kern="100">
                          <a:solidFill>
                            <a:schemeClr val="tx1"/>
                          </a:solidFill>
                          <a:effectLst/>
                          <a:latin typeface="Arial" panose="020B0604020202020204" pitchFamily="34" charset="0"/>
                          <a:ea typeface="微软雅黑" panose="020B0503020204020204" pitchFamily="34" charset="-122"/>
                        </a:rPr>
                        <a:t>3</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20*3=60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P1</a:t>
                      </a:r>
                      <a:r>
                        <a:rPr lang="zh-CN" sz="1100" kern="100">
                          <a:solidFill>
                            <a:schemeClr val="tx1"/>
                          </a:solidFill>
                          <a:effectLst/>
                          <a:latin typeface="Arial" panose="020B0604020202020204" pitchFamily="34" charset="0"/>
                          <a:ea typeface="微软雅黑" panose="020B0503020204020204" pitchFamily="34" charset="-122"/>
                        </a:rPr>
                        <a:t>分配</a:t>
                      </a:r>
                      <a:r>
                        <a:rPr lang="en-US" sz="1100" kern="100">
                          <a:solidFill>
                            <a:schemeClr val="tx1"/>
                          </a:solidFill>
                          <a:effectLst/>
                          <a:latin typeface="Arial" panose="020B0604020202020204" pitchFamily="34" charset="0"/>
                          <a:ea typeface="微软雅黑" panose="020B0503020204020204" pitchFamily="34" charset="-122"/>
                        </a:rPr>
                        <a:t>60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100-60=40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82230105"/>
                  </a:ext>
                </a:extLst>
              </a:tr>
              <a:tr h="962290">
                <a:tc>
                  <a:txBody>
                    <a:bodyPr/>
                    <a:lstStyle/>
                    <a:p>
                      <a:pPr>
                        <a:lnSpc>
                          <a:spcPct val="120000"/>
                        </a:lnSpc>
                        <a:buNone/>
                      </a:pPr>
                      <a:r>
                        <a:rPr lang="zh-CN" sz="1100" kern="100">
                          <a:solidFill>
                            <a:schemeClr val="tx1"/>
                          </a:solidFill>
                          <a:effectLst/>
                          <a:latin typeface="Arial" panose="020B0604020202020204" pitchFamily="34" charset="0"/>
                          <a:ea typeface="微软雅黑" panose="020B0503020204020204" pitchFamily="34" charset="-122"/>
                        </a:rPr>
                        <a:t>第二次</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40*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30/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30+20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=24</a:t>
                      </a:r>
                      <a:r>
                        <a:rPr lang="zh-CN" sz="1100" kern="100">
                          <a:solidFill>
                            <a:schemeClr val="tx1"/>
                          </a:solidFill>
                          <a:effectLst/>
                          <a:latin typeface="Arial" panose="020B0604020202020204" pitchFamily="34" charset="0"/>
                          <a:ea typeface="微软雅黑" panose="020B0503020204020204" pitchFamily="34" charset="-122"/>
                        </a:rPr>
                        <a:t>，订单倍数</a:t>
                      </a:r>
                      <a:r>
                        <a:rPr lang="en-US" sz="1100" kern="100">
                          <a:solidFill>
                            <a:schemeClr val="tx1"/>
                          </a:solidFill>
                          <a:effectLst/>
                          <a:latin typeface="Arial" panose="020B0604020202020204" pitchFamily="34" charset="0"/>
                          <a:ea typeface="微软雅黑" panose="020B0503020204020204" pitchFamily="34" charset="-122"/>
                        </a:rPr>
                        <a:t>15</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24/15</a:t>
                      </a:r>
                      <a:r>
                        <a:rPr lang="zh-CN" sz="1100" kern="100">
                          <a:solidFill>
                            <a:schemeClr val="tx1"/>
                          </a:solidFill>
                          <a:effectLst/>
                          <a:latin typeface="Arial" panose="020B0604020202020204" pitchFamily="34" charset="0"/>
                          <a:ea typeface="微软雅黑" panose="020B0503020204020204" pitchFamily="34" charset="-122"/>
                        </a:rPr>
                        <a:t>向右取整为</a:t>
                      </a:r>
                      <a:r>
                        <a:rPr lang="en-US" sz="1100" kern="100">
                          <a:solidFill>
                            <a:schemeClr val="tx1"/>
                          </a:solidFill>
                          <a:effectLst/>
                          <a:latin typeface="Arial" panose="020B0604020202020204" pitchFamily="34" charset="0"/>
                          <a:ea typeface="微软雅黑" panose="020B0503020204020204" pitchFamily="34" charset="-122"/>
                        </a:rPr>
                        <a:t>2</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15*2=30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P2</a:t>
                      </a:r>
                      <a:r>
                        <a:rPr lang="zh-CN" sz="1100" kern="100">
                          <a:solidFill>
                            <a:schemeClr val="tx1"/>
                          </a:solidFill>
                          <a:effectLst/>
                          <a:latin typeface="Arial" panose="020B0604020202020204" pitchFamily="34" charset="0"/>
                          <a:ea typeface="微软雅黑" panose="020B0503020204020204" pitchFamily="34" charset="-122"/>
                        </a:rPr>
                        <a:t>分配</a:t>
                      </a:r>
                      <a:r>
                        <a:rPr lang="en-US" sz="1100" kern="100">
                          <a:solidFill>
                            <a:schemeClr val="tx1"/>
                          </a:solidFill>
                          <a:effectLst/>
                          <a:latin typeface="Arial" panose="020B0604020202020204" pitchFamily="34" charset="0"/>
                          <a:ea typeface="微软雅黑" panose="020B0503020204020204" pitchFamily="34" charset="-122"/>
                        </a:rPr>
                        <a:t>30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40-30=10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628545061"/>
                  </a:ext>
                </a:extLst>
              </a:tr>
              <a:tr h="632040">
                <a:tc>
                  <a:txBody>
                    <a:bodyPr/>
                    <a:lstStyle/>
                    <a:p>
                      <a:pPr>
                        <a:lnSpc>
                          <a:spcPct val="120000"/>
                        </a:lnSpc>
                        <a:buNone/>
                      </a:pPr>
                      <a:r>
                        <a:rPr lang="zh-CN" sz="1100" kern="100">
                          <a:solidFill>
                            <a:schemeClr val="tx1"/>
                          </a:solidFill>
                          <a:effectLst/>
                          <a:latin typeface="Arial" panose="020B0604020202020204" pitchFamily="34" charset="0"/>
                          <a:ea typeface="微软雅黑" panose="020B0503020204020204" pitchFamily="34" charset="-122"/>
                        </a:rPr>
                        <a:t>第三次</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10*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20/20</a:t>
                      </a:r>
                      <a:r>
                        <a:rPr lang="zh-CN" sz="1100" kern="100">
                          <a:solidFill>
                            <a:schemeClr val="tx1"/>
                          </a:solidFill>
                          <a:effectLst/>
                          <a:latin typeface="Arial" panose="020B0604020202020204" pitchFamily="34" charset="0"/>
                          <a:ea typeface="微软雅黑" panose="020B0503020204020204" pitchFamily="34" charset="-122"/>
                        </a:rPr>
                        <a:t>）</a:t>
                      </a:r>
                      <a:r>
                        <a:rPr lang="en-US" sz="1100" kern="100">
                          <a:solidFill>
                            <a:schemeClr val="tx1"/>
                          </a:solidFill>
                          <a:effectLst/>
                          <a:latin typeface="Arial" panose="020B0604020202020204" pitchFamily="34" charset="0"/>
                          <a:ea typeface="微软雅黑" panose="020B0503020204020204" pitchFamily="34" charset="-122"/>
                        </a:rPr>
                        <a:t>=10</a:t>
                      </a:r>
                      <a:r>
                        <a:rPr lang="zh-CN" sz="1100" kern="100">
                          <a:solidFill>
                            <a:schemeClr val="tx1"/>
                          </a:solidFill>
                          <a:effectLst/>
                          <a:latin typeface="Arial" panose="020B0604020202020204" pitchFamily="34" charset="0"/>
                          <a:ea typeface="微软雅黑" panose="020B0503020204020204" pitchFamily="34" charset="-122"/>
                        </a:rPr>
                        <a:t>，订单倍数</a:t>
                      </a:r>
                      <a:r>
                        <a:rPr lang="en-US" sz="1100" kern="100">
                          <a:solidFill>
                            <a:schemeClr val="tx1"/>
                          </a:solidFill>
                          <a:effectLst/>
                          <a:latin typeface="Arial" panose="020B0604020202020204" pitchFamily="34" charset="0"/>
                          <a:ea typeface="微软雅黑" panose="020B0503020204020204" pitchFamily="34" charset="-122"/>
                        </a:rPr>
                        <a:t>10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a:solidFill>
                            <a:schemeClr val="tx1"/>
                          </a:solidFill>
                          <a:effectLst/>
                          <a:latin typeface="Arial" panose="020B0604020202020204" pitchFamily="34" charset="0"/>
                          <a:ea typeface="微软雅黑" panose="020B0503020204020204" pitchFamily="34" charset="-122"/>
                        </a:rPr>
                        <a:t>P2</a:t>
                      </a:r>
                      <a:r>
                        <a:rPr lang="zh-CN" sz="1100" kern="100">
                          <a:solidFill>
                            <a:schemeClr val="tx1"/>
                          </a:solidFill>
                          <a:effectLst/>
                          <a:latin typeface="Arial" panose="020B0604020202020204" pitchFamily="34" charset="0"/>
                          <a:ea typeface="微软雅黑" panose="020B0503020204020204" pitchFamily="34" charset="-122"/>
                        </a:rPr>
                        <a:t>分配</a:t>
                      </a:r>
                      <a:r>
                        <a:rPr lang="en-US" sz="1100" kern="100">
                          <a:solidFill>
                            <a:schemeClr val="tx1"/>
                          </a:solidFill>
                          <a:effectLst/>
                          <a:latin typeface="Arial" panose="020B0604020202020204" pitchFamily="34" charset="0"/>
                          <a:ea typeface="微软雅黑" panose="020B0503020204020204" pitchFamily="34" charset="-122"/>
                        </a:rPr>
                        <a:t>10</a:t>
                      </a:r>
                      <a:endParaRPr lang="zh-CN" sz="1100" kern="1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tc>
                  <a:txBody>
                    <a:bodyPr/>
                    <a:lstStyle/>
                    <a:p>
                      <a:pPr>
                        <a:lnSpc>
                          <a:spcPct val="120000"/>
                        </a:lnSpc>
                        <a:buNone/>
                      </a:pPr>
                      <a:r>
                        <a:rPr lang="en-US" sz="1100" kern="100" dirty="0">
                          <a:solidFill>
                            <a:schemeClr val="tx1"/>
                          </a:solidFill>
                          <a:effectLst/>
                          <a:latin typeface="Arial" panose="020B0604020202020204" pitchFamily="34" charset="0"/>
                          <a:ea typeface="微软雅黑" panose="020B0503020204020204" pitchFamily="34" charset="-122"/>
                        </a:rPr>
                        <a:t>0</a:t>
                      </a:r>
                      <a:r>
                        <a:rPr lang="zh-CN" sz="1100" kern="100" dirty="0">
                          <a:solidFill>
                            <a:schemeClr val="tx1"/>
                          </a:solidFill>
                          <a:effectLst/>
                          <a:latin typeface="Arial" panose="020B0604020202020204" pitchFamily="34" charset="0"/>
                          <a:ea typeface="微软雅黑" panose="020B0503020204020204" pitchFamily="34" charset="-122"/>
                        </a:rPr>
                        <a:t>（停止计算）</a:t>
                      </a:r>
                      <a:endParaRPr lang="zh-CN" sz="1100" kern="1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448647035"/>
                  </a:ext>
                </a:extLst>
              </a:tr>
            </a:tbl>
          </a:graphicData>
        </a:graphic>
      </p:graphicFrame>
    </p:spTree>
    <p:extLst>
      <p:ext uri="{BB962C8B-B14F-4D97-AF65-F5344CB8AC3E}">
        <p14:creationId xmlns:p14="http://schemas.microsoft.com/office/powerpoint/2010/main" val="17451071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AD022-E895-0807-07CC-E045A10AE372}"/>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不完全替代 </a:t>
            </a:r>
            <a:r>
              <a:rPr lang="en-US" altLang="zh-CN" dirty="0">
                <a:solidFill>
                  <a:schemeClr val="bg1"/>
                </a:solidFill>
                <a:latin typeface="Arial" panose="020B0604020202020204" pitchFamily="34" charset="0"/>
                <a:ea typeface="微软雅黑" panose="020B0503020204020204" pitchFamily="34" charset="-122"/>
              </a:rPr>
              <a:t>– </a:t>
            </a:r>
            <a:r>
              <a:rPr lang="zh-CN" altLang="en-US" dirty="0">
                <a:solidFill>
                  <a:schemeClr val="bg1"/>
                </a:solidFill>
                <a:latin typeface="Arial" panose="020B0604020202020204" pitchFamily="34" charset="0"/>
                <a:ea typeface="微软雅黑" panose="020B0503020204020204" pitchFamily="34" charset="-122"/>
              </a:rPr>
              <a:t>问题</a:t>
            </a:r>
          </a:p>
        </p:txBody>
      </p:sp>
      <p:sp>
        <p:nvSpPr>
          <p:cNvPr id="4" name="矩形 3">
            <a:extLst>
              <a:ext uri="{FF2B5EF4-FFF2-40B4-BE49-F238E27FC236}">
                <a16:creationId xmlns:a16="http://schemas.microsoft.com/office/drawing/2014/main" id="{38A42A98-27F7-7229-67E2-7126D097A648}"/>
              </a:ext>
            </a:extLst>
          </p:cNvPr>
          <p:cNvSpPr/>
          <p:nvPr/>
        </p:nvSpPr>
        <p:spPr>
          <a:xfrm>
            <a:off x="4779118" y="792947"/>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5" name="矩形 34">
            <a:extLst>
              <a:ext uri="{FF2B5EF4-FFF2-40B4-BE49-F238E27FC236}">
                <a16:creationId xmlns:a16="http://schemas.microsoft.com/office/drawing/2014/main" id="{CE82EA4A-6C6F-1E8E-7F02-B6B0D43FE1BC}"/>
              </a:ext>
            </a:extLst>
          </p:cNvPr>
          <p:cNvSpPr/>
          <p:nvPr/>
        </p:nvSpPr>
        <p:spPr>
          <a:xfrm>
            <a:off x="5521125" y="788808"/>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6" name="矩形 35">
            <a:extLst>
              <a:ext uri="{FF2B5EF4-FFF2-40B4-BE49-F238E27FC236}">
                <a16:creationId xmlns:a16="http://schemas.microsoft.com/office/drawing/2014/main" id="{78D0C7A8-2998-FDC6-23FC-368DD91F1C20}"/>
              </a:ext>
            </a:extLst>
          </p:cNvPr>
          <p:cNvSpPr/>
          <p:nvPr/>
        </p:nvSpPr>
        <p:spPr>
          <a:xfrm>
            <a:off x="6274216" y="788808"/>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51" name="连接符: 肘形 50">
            <a:extLst>
              <a:ext uri="{FF2B5EF4-FFF2-40B4-BE49-F238E27FC236}">
                <a16:creationId xmlns:a16="http://schemas.microsoft.com/office/drawing/2014/main" id="{8A05B8A9-BF4A-7106-FC1B-C67727A63155}"/>
              </a:ext>
            </a:extLst>
          </p:cNvPr>
          <p:cNvCxnSpPr>
            <a:cxnSpLocks/>
            <a:stCxn id="35" idx="2"/>
            <a:endCxn id="34" idx="0"/>
          </p:cNvCxnSpPr>
          <p:nvPr/>
        </p:nvCxnSpPr>
        <p:spPr>
          <a:xfrm rot="16200000" flipH="1">
            <a:off x="5628615" y="1215457"/>
            <a:ext cx="304167" cy="554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连接符: 肘形 53">
            <a:extLst>
              <a:ext uri="{FF2B5EF4-FFF2-40B4-BE49-F238E27FC236}">
                <a16:creationId xmlns:a16="http://schemas.microsoft.com/office/drawing/2014/main" id="{E61863FA-C8C8-A9CF-B36F-BD5FDE28B46A}"/>
              </a:ext>
            </a:extLst>
          </p:cNvPr>
          <p:cNvCxnSpPr>
            <a:cxnSpLocks/>
            <a:stCxn id="36" idx="2"/>
            <a:endCxn id="34" idx="0"/>
          </p:cNvCxnSpPr>
          <p:nvPr/>
        </p:nvCxnSpPr>
        <p:spPr>
          <a:xfrm rot="5400000">
            <a:off x="6005161" y="844454"/>
            <a:ext cx="304167" cy="747549"/>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6" name="矩形 65">
            <a:extLst>
              <a:ext uri="{FF2B5EF4-FFF2-40B4-BE49-F238E27FC236}">
                <a16:creationId xmlns:a16="http://schemas.microsoft.com/office/drawing/2014/main" id="{CC4E51CC-F5B5-92F5-F6BA-7644DBE83278}"/>
              </a:ext>
            </a:extLst>
          </p:cNvPr>
          <p:cNvSpPr/>
          <p:nvPr/>
        </p:nvSpPr>
        <p:spPr>
          <a:xfrm>
            <a:off x="7225822" y="801462"/>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67" name="组合 66">
            <a:extLst>
              <a:ext uri="{FF2B5EF4-FFF2-40B4-BE49-F238E27FC236}">
                <a16:creationId xmlns:a16="http://schemas.microsoft.com/office/drawing/2014/main" id="{EDFAE7B7-75FC-F588-38A6-C5D52074484C}"/>
              </a:ext>
            </a:extLst>
          </p:cNvPr>
          <p:cNvGrpSpPr/>
          <p:nvPr/>
        </p:nvGrpSpPr>
        <p:grpSpPr>
          <a:xfrm>
            <a:off x="7436345" y="1828555"/>
            <a:ext cx="635003" cy="462517"/>
            <a:chOff x="2618303" y="1841679"/>
            <a:chExt cx="739175" cy="384518"/>
          </a:xfrm>
        </p:grpSpPr>
        <p:sp>
          <p:nvSpPr>
            <p:cNvPr id="68" name="等腰三角形 67">
              <a:extLst>
                <a:ext uri="{FF2B5EF4-FFF2-40B4-BE49-F238E27FC236}">
                  <a16:creationId xmlns:a16="http://schemas.microsoft.com/office/drawing/2014/main" id="{2A36422F-3B1F-2E2A-5207-FDFA4EC5B4F6}"/>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69" name="文本框 68">
              <a:extLst>
                <a:ext uri="{FF2B5EF4-FFF2-40B4-BE49-F238E27FC236}">
                  <a16:creationId xmlns:a16="http://schemas.microsoft.com/office/drawing/2014/main" id="{C2D71B95-BC86-BA26-6EB4-AF0E154DB59C}"/>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70" name="椭圆 69">
            <a:extLst>
              <a:ext uri="{FF2B5EF4-FFF2-40B4-BE49-F238E27FC236}">
                <a16:creationId xmlns:a16="http://schemas.microsoft.com/office/drawing/2014/main" id="{AD2E714E-7769-98A9-7152-703484F8919B}"/>
              </a:ext>
            </a:extLst>
          </p:cNvPr>
          <p:cNvSpPr/>
          <p:nvPr/>
        </p:nvSpPr>
        <p:spPr>
          <a:xfrm>
            <a:off x="7908245" y="1387147"/>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2</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1" name="矩形 70">
            <a:extLst>
              <a:ext uri="{FF2B5EF4-FFF2-40B4-BE49-F238E27FC236}">
                <a16:creationId xmlns:a16="http://schemas.microsoft.com/office/drawing/2014/main" id="{4A6839D3-8BF5-5E7B-1BDC-39465B98301B}"/>
              </a:ext>
            </a:extLst>
          </p:cNvPr>
          <p:cNvSpPr/>
          <p:nvPr/>
        </p:nvSpPr>
        <p:spPr>
          <a:xfrm>
            <a:off x="7973371" y="797323"/>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2" name="矩形 71">
            <a:extLst>
              <a:ext uri="{FF2B5EF4-FFF2-40B4-BE49-F238E27FC236}">
                <a16:creationId xmlns:a16="http://schemas.microsoft.com/office/drawing/2014/main" id="{9A30F225-8CE5-2382-5C1C-5844D543A150}"/>
              </a:ext>
            </a:extLst>
          </p:cNvPr>
          <p:cNvSpPr/>
          <p:nvPr/>
        </p:nvSpPr>
        <p:spPr>
          <a:xfrm>
            <a:off x="8720920" y="797323"/>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73" name="组合 72">
            <a:extLst>
              <a:ext uri="{FF2B5EF4-FFF2-40B4-BE49-F238E27FC236}">
                <a16:creationId xmlns:a16="http://schemas.microsoft.com/office/drawing/2014/main" id="{1BF041A9-D85F-4648-D0E6-AC54E17E9271}"/>
              </a:ext>
            </a:extLst>
          </p:cNvPr>
          <p:cNvGrpSpPr/>
          <p:nvPr/>
        </p:nvGrpSpPr>
        <p:grpSpPr>
          <a:xfrm>
            <a:off x="8342719" y="1828554"/>
            <a:ext cx="635003" cy="462517"/>
            <a:chOff x="2618303" y="1841679"/>
            <a:chExt cx="739175" cy="384518"/>
          </a:xfrm>
        </p:grpSpPr>
        <p:sp>
          <p:nvSpPr>
            <p:cNvPr id="74" name="等腰三角形 73">
              <a:extLst>
                <a:ext uri="{FF2B5EF4-FFF2-40B4-BE49-F238E27FC236}">
                  <a16:creationId xmlns:a16="http://schemas.microsoft.com/office/drawing/2014/main" id="{18F9DC35-5862-563E-9F81-30A7A3075E51}"/>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75" name="文本框 74">
              <a:extLst>
                <a:ext uri="{FF2B5EF4-FFF2-40B4-BE49-F238E27FC236}">
                  <a16:creationId xmlns:a16="http://schemas.microsoft.com/office/drawing/2014/main" id="{FF7199AA-D8F3-2D1A-633A-C1FFC072B52B}"/>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78" name="连接符: 肘形 77">
            <a:extLst>
              <a:ext uri="{FF2B5EF4-FFF2-40B4-BE49-F238E27FC236}">
                <a16:creationId xmlns:a16="http://schemas.microsoft.com/office/drawing/2014/main" id="{9A6E4132-1264-505F-29D9-632196B0D63A}"/>
              </a:ext>
            </a:extLst>
          </p:cNvPr>
          <p:cNvCxnSpPr>
            <a:cxnSpLocks/>
            <a:stCxn id="66" idx="2"/>
            <a:endCxn id="70" idx="0"/>
          </p:cNvCxnSpPr>
          <p:nvPr/>
        </p:nvCxnSpPr>
        <p:spPr>
          <a:xfrm rot="16200000" flipH="1">
            <a:off x="7700011" y="861412"/>
            <a:ext cx="308348" cy="74312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9" name="连接符: 肘形 78">
            <a:extLst>
              <a:ext uri="{FF2B5EF4-FFF2-40B4-BE49-F238E27FC236}">
                <a16:creationId xmlns:a16="http://schemas.microsoft.com/office/drawing/2014/main" id="{447532E8-C663-4423-C2EB-06F1B649DFD5}"/>
              </a:ext>
            </a:extLst>
          </p:cNvPr>
          <p:cNvCxnSpPr>
            <a:cxnSpLocks/>
            <a:stCxn id="71" idx="2"/>
            <a:endCxn id="70" idx="0"/>
          </p:cNvCxnSpPr>
          <p:nvPr/>
        </p:nvCxnSpPr>
        <p:spPr>
          <a:xfrm rot="5400000">
            <a:off x="8071717" y="1228690"/>
            <a:ext cx="312487" cy="4427"/>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连接符: 肘形 79">
            <a:extLst>
              <a:ext uri="{FF2B5EF4-FFF2-40B4-BE49-F238E27FC236}">
                <a16:creationId xmlns:a16="http://schemas.microsoft.com/office/drawing/2014/main" id="{41C16A76-EA3C-77D2-649B-C4BCBCF0E5DE}"/>
              </a:ext>
            </a:extLst>
          </p:cNvPr>
          <p:cNvCxnSpPr>
            <a:cxnSpLocks/>
            <a:stCxn id="72" idx="2"/>
            <a:endCxn id="70" idx="0"/>
          </p:cNvCxnSpPr>
          <p:nvPr/>
        </p:nvCxnSpPr>
        <p:spPr>
          <a:xfrm rot="5400000">
            <a:off x="8445491" y="854915"/>
            <a:ext cx="312487" cy="751976"/>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连接符: 肘形 80">
            <a:extLst>
              <a:ext uri="{FF2B5EF4-FFF2-40B4-BE49-F238E27FC236}">
                <a16:creationId xmlns:a16="http://schemas.microsoft.com/office/drawing/2014/main" id="{FCC2FEF1-9AAA-14FD-8D9E-F162AEA4D3FC}"/>
              </a:ext>
            </a:extLst>
          </p:cNvPr>
          <p:cNvCxnSpPr>
            <a:stCxn id="70" idx="4"/>
            <a:endCxn id="68" idx="0"/>
          </p:cNvCxnSpPr>
          <p:nvPr/>
        </p:nvCxnSpPr>
        <p:spPr>
          <a:xfrm rot="5400000">
            <a:off x="7911989" y="1514798"/>
            <a:ext cx="155616" cy="47189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连接符: 肘形 81">
            <a:extLst>
              <a:ext uri="{FF2B5EF4-FFF2-40B4-BE49-F238E27FC236}">
                <a16:creationId xmlns:a16="http://schemas.microsoft.com/office/drawing/2014/main" id="{D35A8C54-FF1B-2AA3-7023-7EB1F001A81A}"/>
              </a:ext>
            </a:extLst>
          </p:cNvPr>
          <p:cNvCxnSpPr>
            <a:stCxn id="70" idx="4"/>
            <a:endCxn id="74" idx="0"/>
          </p:cNvCxnSpPr>
          <p:nvPr/>
        </p:nvCxnSpPr>
        <p:spPr>
          <a:xfrm rot="16200000" flipH="1">
            <a:off x="8365176" y="1533508"/>
            <a:ext cx="155615" cy="43447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文本框 97">
            <a:extLst>
              <a:ext uri="{FF2B5EF4-FFF2-40B4-BE49-F238E27FC236}">
                <a16:creationId xmlns:a16="http://schemas.microsoft.com/office/drawing/2014/main" id="{BD968428-41C9-06C6-6763-926E6C0266BF}"/>
              </a:ext>
            </a:extLst>
          </p:cNvPr>
          <p:cNvSpPr txBox="1"/>
          <p:nvPr/>
        </p:nvSpPr>
        <p:spPr>
          <a:xfrm>
            <a:off x="3721495" y="801462"/>
            <a:ext cx="111151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0</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6" name="组合 5">
            <a:extLst>
              <a:ext uri="{FF2B5EF4-FFF2-40B4-BE49-F238E27FC236}">
                <a16:creationId xmlns:a16="http://schemas.microsoft.com/office/drawing/2014/main" id="{FACCC28E-8C70-AA55-B861-3DE9E3C2F2FA}"/>
              </a:ext>
            </a:extLst>
          </p:cNvPr>
          <p:cNvGrpSpPr/>
          <p:nvPr/>
        </p:nvGrpSpPr>
        <p:grpSpPr>
          <a:xfrm>
            <a:off x="5069595" y="1863431"/>
            <a:ext cx="635003" cy="462517"/>
            <a:chOff x="2618303" y="1841679"/>
            <a:chExt cx="739175" cy="384518"/>
          </a:xfrm>
        </p:grpSpPr>
        <p:sp>
          <p:nvSpPr>
            <p:cNvPr id="9" name="等腰三角形 8">
              <a:extLst>
                <a:ext uri="{FF2B5EF4-FFF2-40B4-BE49-F238E27FC236}">
                  <a16:creationId xmlns:a16="http://schemas.microsoft.com/office/drawing/2014/main" id="{9E21E93A-769A-EE3D-6713-8BFEB4D1CE9D}"/>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0" name="文本框 9">
              <a:extLst>
                <a:ext uri="{FF2B5EF4-FFF2-40B4-BE49-F238E27FC236}">
                  <a16:creationId xmlns:a16="http://schemas.microsoft.com/office/drawing/2014/main" id="{5C200E5A-AD41-E509-B96F-5C02CDA8056A}"/>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34" name="椭圆 33">
            <a:extLst>
              <a:ext uri="{FF2B5EF4-FFF2-40B4-BE49-F238E27FC236}">
                <a16:creationId xmlns:a16="http://schemas.microsoft.com/office/drawing/2014/main" id="{B10DFBB9-6DAB-EBCE-A2B6-79BF93DEEB8C}"/>
              </a:ext>
            </a:extLst>
          </p:cNvPr>
          <p:cNvSpPr/>
          <p:nvPr/>
        </p:nvSpPr>
        <p:spPr>
          <a:xfrm>
            <a:off x="5465968" y="1370312"/>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40" name="组合 39">
            <a:extLst>
              <a:ext uri="{FF2B5EF4-FFF2-40B4-BE49-F238E27FC236}">
                <a16:creationId xmlns:a16="http://schemas.microsoft.com/office/drawing/2014/main" id="{81D015D3-C783-E998-30DB-43029A13B376}"/>
              </a:ext>
            </a:extLst>
          </p:cNvPr>
          <p:cNvGrpSpPr/>
          <p:nvPr/>
        </p:nvGrpSpPr>
        <p:grpSpPr>
          <a:xfrm>
            <a:off x="5868443" y="1864087"/>
            <a:ext cx="635003" cy="462517"/>
            <a:chOff x="2618303" y="1841679"/>
            <a:chExt cx="739175" cy="384518"/>
          </a:xfrm>
        </p:grpSpPr>
        <p:sp>
          <p:nvSpPr>
            <p:cNvPr id="41" name="等腰三角形 40">
              <a:extLst>
                <a:ext uri="{FF2B5EF4-FFF2-40B4-BE49-F238E27FC236}">
                  <a16:creationId xmlns:a16="http://schemas.microsoft.com/office/drawing/2014/main" id="{8825350E-C97B-29CF-ABA4-EE02B7F449B4}"/>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42" name="文本框 41">
              <a:extLst>
                <a:ext uri="{FF2B5EF4-FFF2-40B4-BE49-F238E27FC236}">
                  <a16:creationId xmlns:a16="http://schemas.microsoft.com/office/drawing/2014/main" id="{CF3E0445-3FA5-6BB9-1C65-D59FDAA650E9}"/>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48" name="连接符: 肘形 47">
            <a:extLst>
              <a:ext uri="{FF2B5EF4-FFF2-40B4-BE49-F238E27FC236}">
                <a16:creationId xmlns:a16="http://schemas.microsoft.com/office/drawing/2014/main" id="{044117ED-28AE-D42E-D37E-529B19DC8C76}"/>
              </a:ext>
            </a:extLst>
          </p:cNvPr>
          <p:cNvCxnSpPr>
            <a:cxnSpLocks/>
            <a:stCxn id="4" idx="2"/>
            <a:endCxn id="34" idx="0"/>
          </p:cNvCxnSpPr>
          <p:nvPr/>
        </p:nvCxnSpPr>
        <p:spPr>
          <a:xfrm rot="16200000" flipH="1">
            <a:off x="5259680" y="846523"/>
            <a:ext cx="300028" cy="747549"/>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连接符: 肘形 60">
            <a:extLst>
              <a:ext uri="{FF2B5EF4-FFF2-40B4-BE49-F238E27FC236}">
                <a16:creationId xmlns:a16="http://schemas.microsoft.com/office/drawing/2014/main" id="{38C4A84B-E959-3EBA-7743-00DDD6EA0864}"/>
              </a:ext>
            </a:extLst>
          </p:cNvPr>
          <p:cNvCxnSpPr>
            <a:stCxn id="34" idx="4"/>
            <a:endCxn id="9" idx="0"/>
          </p:cNvCxnSpPr>
          <p:nvPr/>
        </p:nvCxnSpPr>
        <p:spPr>
          <a:xfrm rot="5400000">
            <a:off x="5481620" y="1561581"/>
            <a:ext cx="207327" cy="39637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连接符: 肘形 64">
            <a:extLst>
              <a:ext uri="{FF2B5EF4-FFF2-40B4-BE49-F238E27FC236}">
                <a16:creationId xmlns:a16="http://schemas.microsoft.com/office/drawing/2014/main" id="{7D43C7A7-DF59-FC43-15CE-88634380DAF5}"/>
              </a:ext>
            </a:extLst>
          </p:cNvPr>
          <p:cNvCxnSpPr>
            <a:stCxn id="34" idx="4"/>
            <a:endCxn id="41" idx="0"/>
          </p:cNvCxnSpPr>
          <p:nvPr/>
        </p:nvCxnSpPr>
        <p:spPr>
          <a:xfrm rot="16200000" flipH="1">
            <a:off x="5880716" y="1558857"/>
            <a:ext cx="207983" cy="402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15" name="文本框 114">
            <a:extLst>
              <a:ext uri="{FF2B5EF4-FFF2-40B4-BE49-F238E27FC236}">
                <a16:creationId xmlns:a16="http://schemas.microsoft.com/office/drawing/2014/main" id="{7FC05C1D-2137-CA17-386A-1D6797AC33BC}"/>
              </a:ext>
            </a:extLst>
          </p:cNvPr>
          <p:cNvSpPr txBox="1"/>
          <p:nvPr/>
        </p:nvSpPr>
        <p:spPr>
          <a:xfrm>
            <a:off x="3721495" y="1397601"/>
            <a:ext cx="111151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1</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42" name="组合 141">
            <a:extLst>
              <a:ext uri="{FF2B5EF4-FFF2-40B4-BE49-F238E27FC236}">
                <a16:creationId xmlns:a16="http://schemas.microsoft.com/office/drawing/2014/main" id="{B1CED830-66A2-97BD-27BB-824C4CE415E2}"/>
              </a:ext>
            </a:extLst>
          </p:cNvPr>
          <p:cNvGrpSpPr/>
          <p:nvPr/>
        </p:nvGrpSpPr>
        <p:grpSpPr>
          <a:xfrm>
            <a:off x="1888190" y="792947"/>
            <a:ext cx="635003" cy="462517"/>
            <a:chOff x="2618303" y="1841679"/>
            <a:chExt cx="739175" cy="384518"/>
          </a:xfrm>
        </p:grpSpPr>
        <p:sp>
          <p:nvSpPr>
            <p:cNvPr id="143" name="等腰三角形 142">
              <a:extLst>
                <a:ext uri="{FF2B5EF4-FFF2-40B4-BE49-F238E27FC236}">
                  <a16:creationId xmlns:a16="http://schemas.microsoft.com/office/drawing/2014/main" id="{823B9FFA-3F87-2C71-A92A-3A7576ED0228}"/>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44" name="文本框 143">
              <a:extLst>
                <a:ext uri="{FF2B5EF4-FFF2-40B4-BE49-F238E27FC236}">
                  <a16:creationId xmlns:a16="http://schemas.microsoft.com/office/drawing/2014/main" id="{61AB1523-3C9B-E0A5-6C29-E6B0D2127239}"/>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145" name="文本框 144">
            <a:extLst>
              <a:ext uri="{FF2B5EF4-FFF2-40B4-BE49-F238E27FC236}">
                <a16:creationId xmlns:a16="http://schemas.microsoft.com/office/drawing/2014/main" id="{6E030718-B158-47B6-6AA4-831B004134A7}"/>
              </a:ext>
            </a:extLst>
          </p:cNvPr>
          <p:cNvSpPr txBox="1"/>
          <p:nvPr/>
        </p:nvSpPr>
        <p:spPr>
          <a:xfrm>
            <a:off x="1710601" y="1530439"/>
            <a:ext cx="10635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优先级为</a:t>
            </a:r>
            <a:r>
              <a:rPr kumimoji="0" lang="en-US" altLang="zh-CN"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，优先级数字越小优先级越高</a:t>
            </a:r>
          </a:p>
        </p:txBody>
      </p:sp>
      <p:graphicFrame>
        <p:nvGraphicFramePr>
          <p:cNvPr id="146" name="表格 145">
            <a:extLst>
              <a:ext uri="{FF2B5EF4-FFF2-40B4-BE49-F238E27FC236}">
                <a16:creationId xmlns:a16="http://schemas.microsoft.com/office/drawing/2014/main" id="{DCDFDA7B-5C00-C760-C431-BE6E5D4A0B06}"/>
              </a:ext>
            </a:extLst>
          </p:cNvPr>
          <p:cNvGraphicFramePr>
            <a:graphicFrameLocks noGrp="1"/>
          </p:cNvGraphicFramePr>
          <p:nvPr>
            <p:extLst>
              <p:ext uri="{D42A27DB-BD31-4B8C-83A1-F6EECF244321}">
                <p14:modId xmlns:p14="http://schemas.microsoft.com/office/powerpoint/2010/main" val="1232840918"/>
              </p:ext>
            </p:extLst>
          </p:nvPr>
        </p:nvGraphicFramePr>
        <p:xfrm>
          <a:off x="2197734" y="2642984"/>
          <a:ext cx="8993198" cy="2050035"/>
        </p:xfrm>
        <a:graphic>
          <a:graphicData uri="http://schemas.openxmlformats.org/drawingml/2006/table">
            <a:tbl>
              <a:tblPr firstRow="1">
                <a:tableStyleId>{69012ECD-51FC-41F1-AA8D-1B2483CD663E}</a:tableStyleId>
              </a:tblPr>
              <a:tblGrid>
                <a:gridCol w="1249364">
                  <a:extLst>
                    <a:ext uri="{9D8B030D-6E8A-4147-A177-3AD203B41FA5}">
                      <a16:colId xmlns:a16="http://schemas.microsoft.com/office/drawing/2014/main" val="440275212"/>
                    </a:ext>
                  </a:extLst>
                </a:gridCol>
                <a:gridCol w="314326">
                  <a:extLst>
                    <a:ext uri="{9D8B030D-6E8A-4147-A177-3AD203B41FA5}">
                      <a16:colId xmlns:a16="http://schemas.microsoft.com/office/drawing/2014/main" val="1734425430"/>
                    </a:ext>
                  </a:extLst>
                </a:gridCol>
                <a:gridCol w="1141414">
                  <a:extLst>
                    <a:ext uri="{9D8B030D-6E8A-4147-A177-3AD203B41FA5}">
                      <a16:colId xmlns:a16="http://schemas.microsoft.com/office/drawing/2014/main" val="749023830"/>
                    </a:ext>
                  </a:extLst>
                </a:gridCol>
                <a:gridCol w="323851">
                  <a:extLst>
                    <a:ext uri="{9D8B030D-6E8A-4147-A177-3AD203B41FA5}">
                      <a16:colId xmlns:a16="http://schemas.microsoft.com/office/drawing/2014/main" val="1445519153"/>
                    </a:ext>
                  </a:extLst>
                </a:gridCol>
                <a:gridCol w="1223964">
                  <a:extLst>
                    <a:ext uri="{9D8B030D-6E8A-4147-A177-3AD203B41FA5}">
                      <a16:colId xmlns:a16="http://schemas.microsoft.com/office/drawing/2014/main" val="2409092662"/>
                    </a:ext>
                  </a:extLst>
                </a:gridCol>
                <a:gridCol w="1276351">
                  <a:extLst>
                    <a:ext uri="{9D8B030D-6E8A-4147-A177-3AD203B41FA5}">
                      <a16:colId xmlns:a16="http://schemas.microsoft.com/office/drawing/2014/main" val="2115952320"/>
                    </a:ext>
                  </a:extLst>
                </a:gridCol>
                <a:gridCol w="1155701">
                  <a:extLst>
                    <a:ext uri="{9D8B030D-6E8A-4147-A177-3AD203B41FA5}">
                      <a16:colId xmlns:a16="http://schemas.microsoft.com/office/drawing/2014/main" val="3764490461"/>
                    </a:ext>
                  </a:extLst>
                </a:gridCol>
                <a:gridCol w="1254126">
                  <a:extLst>
                    <a:ext uri="{9D8B030D-6E8A-4147-A177-3AD203B41FA5}">
                      <a16:colId xmlns:a16="http://schemas.microsoft.com/office/drawing/2014/main" val="249532658"/>
                    </a:ext>
                  </a:extLst>
                </a:gridCol>
                <a:gridCol w="1054101">
                  <a:extLst>
                    <a:ext uri="{9D8B030D-6E8A-4147-A177-3AD203B41FA5}">
                      <a16:colId xmlns:a16="http://schemas.microsoft.com/office/drawing/2014/main" val="3218481998"/>
                    </a:ext>
                  </a:extLst>
                </a:gridCol>
              </a:tblGrid>
              <a:tr h="230257">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Requested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err="1">
                          <a:solidFill>
                            <a:schemeClr val="bg1"/>
                          </a:solidFill>
                          <a:effectLst/>
                          <a:latin typeface="Arial" panose="020B0604020202020204" pitchFamily="34" charset="0"/>
                          <a:ea typeface="微软雅黑" panose="020B0503020204020204" pitchFamily="34" charset="-122"/>
                        </a:rPr>
                        <a:t>alg</a:t>
                      </a:r>
                      <a:endParaRPr lang="en-US" sz="1400" b="1"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bg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OH</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Planned Order</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Comments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Allocated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Surplus Supply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Net Req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766227"/>
                  </a:ext>
                </a:extLst>
              </a:tr>
              <a:tr h="404638">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1</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P1</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50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40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bg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bg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50+40=90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472933"/>
                  </a:ext>
                </a:extLst>
              </a:tr>
              <a:tr h="404638">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1</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P2</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bg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bg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30+0=30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464701"/>
                  </a:ext>
                </a:extLst>
              </a:tr>
              <a:tr h="404638">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2</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P1</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bg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bg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0+20=20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4599421"/>
                  </a:ext>
                </a:extLst>
              </a:tr>
              <a:tr h="404638">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bg1"/>
                          </a:solidFill>
                          <a:effectLst/>
                          <a:latin typeface="Arial" panose="020B0604020202020204" pitchFamily="34" charset="0"/>
                          <a:ea typeface="微软雅黑" panose="020B0503020204020204" pitchFamily="34" charset="-122"/>
                        </a:rPr>
                        <a:t>2</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P3</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bg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bg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80+0=80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034744"/>
                  </a:ext>
                </a:extLst>
              </a:tr>
            </a:tbl>
          </a:graphicData>
        </a:graphic>
      </p:graphicFrame>
      <p:sp>
        <p:nvSpPr>
          <p:cNvPr id="147" name="文本框 146">
            <a:extLst>
              <a:ext uri="{FF2B5EF4-FFF2-40B4-BE49-F238E27FC236}">
                <a16:creationId xmlns:a16="http://schemas.microsoft.com/office/drawing/2014/main" id="{7D29069E-3474-050F-9A5C-60BFB4084F05}"/>
              </a:ext>
            </a:extLst>
          </p:cNvPr>
          <p:cNvSpPr txBox="1"/>
          <p:nvPr/>
        </p:nvSpPr>
        <p:spPr>
          <a:xfrm>
            <a:off x="235041" y="2680116"/>
            <a:ext cx="17782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第一次运算的</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欠料分析</a:t>
            </a:r>
          </a:p>
        </p:txBody>
      </p:sp>
      <p:graphicFrame>
        <p:nvGraphicFramePr>
          <p:cNvPr id="148" name="表格 147">
            <a:extLst>
              <a:ext uri="{FF2B5EF4-FFF2-40B4-BE49-F238E27FC236}">
                <a16:creationId xmlns:a16="http://schemas.microsoft.com/office/drawing/2014/main" id="{5771E082-3CC4-31A9-355A-0E66D27DAF5E}"/>
              </a:ext>
            </a:extLst>
          </p:cNvPr>
          <p:cNvGraphicFramePr>
            <a:graphicFrameLocks noGrp="1"/>
          </p:cNvGraphicFramePr>
          <p:nvPr>
            <p:extLst>
              <p:ext uri="{D42A27DB-BD31-4B8C-83A1-F6EECF244321}">
                <p14:modId xmlns:p14="http://schemas.microsoft.com/office/powerpoint/2010/main" val="1301655194"/>
              </p:ext>
            </p:extLst>
          </p:nvPr>
        </p:nvGraphicFramePr>
        <p:xfrm>
          <a:off x="2226735" y="4752703"/>
          <a:ext cx="8666568" cy="1434947"/>
        </p:xfrm>
        <a:graphic>
          <a:graphicData uri="http://schemas.openxmlformats.org/drawingml/2006/table">
            <a:tbl>
              <a:tblPr firstRow="1">
                <a:tableStyleId>{69012ECD-51FC-41F1-AA8D-1B2483CD663E}</a:tableStyleId>
              </a:tblPr>
              <a:tblGrid>
                <a:gridCol w="1291937">
                  <a:extLst>
                    <a:ext uri="{9D8B030D-6E8A-4147-A177-3AD203B41FA5}">
                      <a16:colId xmlns:a16="http://schemas.microsoft.com/office/drawing/2014/main" val="440275212"/>
                    </a:ext>
                  </a:extLst>
                </a:gridCol>
                <a:gridCol w="277427">
                  <a:extLst>
                    <a:ext uri="{9D8B030D-6E8A-4147-A177-3AD203B41FA5}">
                      <a16:colId xmlns:a16="http://schemas.microsoft.com/office/drawing/2014/main" val="1734425430"/>
                    </a:ext>
                  </a:extLst>
                </a:gridCol>
                <a:gridCol w="1180308">
                  <a:extLst>
                    <a:ext uri="{9D8B030D-6E8A-4147-A177-3AD203B41FA5}">
                      <a16:colId xmlns:a16="http://schemas.microsoft.com/office/drawing/2014/main" val="749023830"/>
                    </a:ext>
                  </a:extLst>
                </a:gridCol>
                <a:gridCol w="285834">
                  <a:extLst>
                    <a:ext uri="{9D8B030D-6E8A-4147-A177-3AD203B41FA5}">
                      <a16:colId xmlns:a16="http://schemas.microsoft.com/office/drawing/2014/main" val="1445519153"/>
                    </a:ext>
                  </a:extLst>
                </a:gridCol>
                <a:gridCol w="275789">
                  <a:extLst>
                    <a:ext uri="{9D8B030D-6E8A-4147-A177-3AD203B41FA5}">
                      <a16:colId xmlns:a16="http://schemas.microsoft.com/office/drawing/2014/main" val="2409092662"/>
                    </a:ext>
                  </a:extLst>
                </a:gridCol>
                <a:gridCol w="1265671">
                  <a:extLst>
                    <a:ext uri="{9D8B030D-6E8A-4147-A177-3AD203B41FA5}">
                      <a16:colId xmlns:a16="http://schemas.microsoft.com/office/drawing/2014/main" val="23389885"/>
                    </a:ext>
                  </a:extLst>
                </a:gridCol>
                <a:gridCol w="1126520">
                  <a:extLst>
                    <a:ext uri="{9D8B030D-6E8A-4147-A177-3AD203B41FA5}">
                      <a16:colId xmlns:a16="http://schemas.microsoft.com/office/drawing/2014/main" val="2115952320"/>
                    </a:ext>
                  </a:extLst>
                </a:gridCol>
                <a:gridCol w="1195082">
                  <a:extLst>
                    <a:ext uri="{9D8B030D-6E8A-4147-A177-3AD203B41FA5}">
                      <a16:colId xmlns:a16="http://schemas.microsoft.com/office/drawing/2014/main" val="3764490461"/>
                    </a:ext>
                  </a:extLst>
                </a:gridCol>
                <a:gridCol w="677980">
                  <a:extLst>
                    <a:ext uri="{9D8B030D-6E8A-4147-A177-3AD203B41FA5}">
                      <a16:colId xmlns:a16="http://schemas.microsoft.com/office/drawing/2014/main" val="407419544"/>
                    </a:ext>
                  </a:extLst>
                </a:gridCol>
                <a:gridCol w="1090020">
                  <a:extLst>
                    <a:ext uri="{9D8B030D-6E8A-4147-A177-3AD203B41FA5}">
                      <a16:colId xmlns:a16="http://schemas.microsoft.com/office/drawing/2014/main" val="1102436921"/>
                    </a:ext>
                  </a:extLst>
                </a:gridCol>
              </a:tblGrid>
              <a:tr h="264317">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Requested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err="1">
                          <a:solidFill>
                            <a:schemeClr val="bg1"/>
                          </a:solidFill>
                          <a:effectLst/>
                          <a:latin typeface="Arial" panose="020B0604020202020204" pitchFamily="34" charset="0"/>
                          <a:ea typeface="微软雅黑" panose="020B0503020204020204" pitchFamily="34" charset="-122"/>
                        </a:rPr>
                        <a:t>alg</a:t>
                      </a:r>
                      <a:endParaRPr lang="en-US" sz="1400" b="1"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bg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OH</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SR</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Planned Order</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Comments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Allocated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Surplus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bg1"/>
                          </a:solidFill>
                          <a:effectLst/>
                          <a:latin typeface="Arial" panose="020B0604020202020204" pitchFamily="34" charset="0"/>
                          <a:ea typeface="微软雅黑" panose="020B0503020204020204" pitchFamily="34" charset="-122"/>
                        </a:rPr>
                        <a:t>Net Req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766227"/>
                  </a:ext>
                </a:extLst>
              </a:tr>
              <a:tr h="279444">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1</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P1</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50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60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根据优先级</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50+60+0=110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472933"/>
                  </a:ext>
                </a:extLst>
              </a:tr>
              <a:tr h="332298">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1</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P2</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根据优先级</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10+0=10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464701"/>
                  </a:ext>
                </a:extLst>
              </a:tr>
              <a:tr h="279444">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2</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P1</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en-US" altLang="zh-CN" sz="1400" b="0" i="0" u="none" strike="noStrike" dirty="0">
                          <a:solidFill>
                            <a:schemeClr val="bg1"/>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根据优先级</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0+20=20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4599421"/>
                  </a:ext>
                </a:extLst>
              </a:tr>
              <a:tr h="279444">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bg1"/>
                          </a:solidFill>
                          <a:effectLst/>
                          <a:latin typeface="Arial" panose="020B0604020202020204" pitchFamily="34" charset="0"/>
                          <a:ea typeface="微软雅黑" panose="020B0503020204020204" pitchFamily="34" charset="-122"/>
                        </a:rPr>
                        <a:t>2</a:t>
                      </a:r>
                      <a:endParaRPr lang="en-US" altLang="zh-CN"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bg1"/>
                          </a:solidFill>
                          <a:effectLst/>
                          <a:latin typeface="Arial" panose="020B0604020202020204" pitchFamily="34" charset="0"/>
                          <a:ea typeface="微软雅黑" panose="020B0503020204020204" pitchFamily="34" charset="-122"/>
                        </a:rPr>
                        <a:t>P3</a:t>
                      </a:r>
                      <a:endParaRPr lang="en-US" sz="1400" b="0" i="0" u="none" strike="noStrike">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i="0" u="none" strike="noStrike" dirty="0">
                          <a:solidFill>
                            <a:schemeClr val="bg1"/>
                          </a:solidFill>
                          <a:effectLst/>
                          <a:latin typeface="Arial" panose="020B0604020202020204" pitchFamily="34" charset="0"/>
                          <a:ea typeface="微软雅黑" panose="020B0503020204020204" pitchFamily="34" charset="-122"/>
                        </a:rPr>
                        <a:t>根据优先级</a:t>
                      </a:r>
                      <a:endParaRPr lang="en-US" altLang="zh-CN" sz="1400" b="0" i="0" u="none" strike="noStrike" dirty="0">
                        <a:solidFill>
                          <a:schemeClr val="bg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80+0=80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bg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034744"/>
                  </a:ext>
                </a:extLst>
              </a:tr>
            </a:tbl>
          </a:graphicData>
        </a:graphic>
      </p:graphicFrame>
      <p:sp>
        <p:nvSpPr>
          <p:cNvPr id="149" name="文本框 148">
            <a:extLst>
              <a:ext uri="{FF2B5EF4-FFF2-40B4-BE49-F238E27FC236}">
                <a16:creationId xmlns:a16="http://schemas.microsoft.com/office/drawing/2014/main" id="{C650515F-B7A3-63AA-17D0-CD4C27593435}"/>
              </a:ext>
            </a:extLst>
          </p:cNvPr>
          <p:cNvSpPr txBox="1"/>
          <p:nvPr/>
        </p:nvSpPr>
        <p:spPr>
          <a:xfrm>
            <a:off x="235041" y="4695531"/>
            <a:ext cx="17782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第二次运算的</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欠料分析</a:t>
            </a:r>
          </a:p>
        </p:txBody>
      </p:sp>
      <p:sp>
        <p:nvSpPr>
          <p:cNvPr id="151" name="椭圆 150">
            <a:extLst>
              <a:ext uri="{FF2B5EF4-FFF2-40B4-BE49-F238E27FC236}">
                <a16:creationId xmlns:a16="http://schemas.microsoft.com/office/drawing/2014/main" id="{94D505A8-346D-33CE-51F9-0380ACB57BB1}"/>
              </a:ext>
            </a:extLst>
          </p:cNvPr>
          <p:cNvSpPr/>
          <p:nvPr/>
        </p:nvSpPr>
        <p:spPr>
          <a:xfrm>
            <a:off x="8828978" y="5326065"/>
            <a:ext cx="772213" cy="313494"/>
          </a:xfrm>
          <a:prstGeom prst="ellipse">
            <a:avLst/>
          </a:prstGeom>
          <a:no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152" name="椭圆 151">
            <a:extLst>
              <a:ext uri="{FF2B5EF4-FFF2-40B4-BE49-F238E27FC236}">
                <a16:creationId xmlns:a16="http://schemas.microsoft.com/office/drawing/2014/main" id="{9A40EB88-3AA9-4DAD-4B3D-4CF3C96C1520}"/>
              </a:ext>
            </a:extLst>
          </p:cNvPr>
          <p:cNvSpPr/>
          <p:nvPr/>
        </p:nvSpPr>
        <p:spPr>
          <a:xfrm>
            <a:off x="5292722" y="5639559"/>
            <a:ext cx="772213" cy="313494"/>
          </a:xfrm>
          <a:prstGeom prst="ellipse">
            <a:avLst/>
          </a:prstGeom>
          <a:no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endParaRPr>
          </a:p>
        </p:txBody>
      </p:sp>
      <p:sp>
        <p:nvSpPr>
          <p:cNvPr id="153" name="文本框 152">
            <a:extLst>
              <a:ext uri="{FF2B5EF4-FFF2-40B4-BE49-F238E27FC236}">
                <a16:creationId xmlns:a16="http://schemas.microsoft.com/office/drawing/2014/main" id="{2F13CE36-3652-EDAD-4E05-619EFFF3A6FD}"/>
              </a:ext>
            </a:extLst>
          </p:cNvPr>
          <p:cNvSpPr txBox="1"/>
          <p:nvPr/>
        </p:nvSpPr>
        <p:spPr>
          <a:xfrm>
            <a:off x="4720062" y="6361333"/>
            <a:ext cx="369527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用偏导致过剩和短缺</a:t>
            </a:r>
          </a:p>
        </p:txBody>
      </p:sp>
      <p:sp>
        <p:nvSpPr>
          <p:cNvPr id="159" name="椭圆 158">
            <a:extLst>
              <a:ext uri="{FF2B5EF4-FFF2-40B4-BE49-F238E27FC236}">
                <a16:creationId xmlns:a16="http://schemas.microsoft.com/office/drawing/2014/main" id="{D541FF5F-A984-722E-D7EF-C4F60AEA337D}"/>
              </a:ext>
            </a:extLst>
          </p:cNvPr>
          <p:cNvSpPr/>
          <p:nvPr/>
        </p:nvSpPr>
        <p:spPr>
          <a:xfrm>
            <a:off x="5492994" y="1369656"/>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35675569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2"/>
                                        </p:tgtEl>
                                        <p:attrNameLst>
                                          <p:attrName>style.visibility</p:attrName>
                                        </p:attrNameLst>
                                      </p:cBhvr>
                                      <p:to>
                                        <p:strVal val="visible"/>
                                      </p:to>
                                    </p:set>
                                    <p:animEffect transition="in" filter="fade">
                                      <p:cBhvr>
                                        <p:cTn id="19" dur="500"/>
                                        <p:tgtEl>
                                          <p:spTgt spid="15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P spid="149" grpId="0"/>
      <p:bldP spid="151" grpId="0" animBg="1"/>
      <p:bldP spid="152" grpId="0" animBg="1"/>
      <p:bldP spid="15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AAD9-3739-38BC-8D41-2848593E57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37F678-5663-01B0-72D8-7F89FEB58367}"/>
              </a:ext>
            </a:extLst>
          </p:cNvPr>
          <p:cNvSpPr>
            <a:spLocks noGrp="1"/>
          </p:cNvSpPr>
          <p:nvPr>
            <p:ph type="title"/>
          </p:nvPr>
        </p:nvSpPr>
        <p:spPr/>
        <p:txBody>
          <a:bodyPr/>
          <a:lstStyle/>
          <a:p>
            <a:r>
              <a:rPr lang="zh-CN" altLang="en-US" dirty="0">
                <a:solidFill>
                  <a:schemeClr val="bg1"/>
                </a:solidFill>
                <a:latin typeface="Arial" panose="020B0604020202020204" pitchFamily="34" charset="0"/>
                <a:ea typeface="微软雅黑" panose="020B0503020204020204" pitchFamily="34" charset="-122"/>
              </a:rPr>
              <a:t>不完全替代 </a:t>
            </a:r>
            <a:r>
              <a:rPr lang="en-US" altLang="zh-CN" dirty="0">
                <a:solidFill>
                  <a:schemeClr val="bg1"/>
                </a:solidFill>
                <a:latin typeface="Arial" panose="020B0604020202020204" pitchFamily="34" charset="0"/>
                <a:ea typeface="微软雅黑" panose="020B0503020204020204" pitchFamily="34" charset="-122"/>
              </a:rPr>
              <a:t>– </a:t>
            </a:r>
            <a:r>
              <a:rPr lang="zh-CN" altLang="en-US" dirty="0">
                <a:solidFill>
                  <a:schemeClr val="bg1"/>
                </a:solidFill>
                <a:latin typeface="Arial" panose="020B0604020202020204" pitchFamily="34" charset="0"/>
                <a:ea typeface="微软雅黑" panose="020B0503020204020204" pitchFamily="34" charset="-122"/>
              </a:rPr>
              <a:t>分析</a:t>
            </a:r>
          </a:p>
        </p:txBody>
      </p:sp>
      <p:grpSp>
        <p:nvGrpSpPr>
          <p:cNvPr id="19" name="组合 18">
            <a:extLst>
              <a:ext uri="{FF2B5EF4-FFF2-40B4-BE49-F238E27FC236}">
                <a16:creationId xmlns:a16="http://schemas.microsoft.com/office/drawing/2014/main" id="{4D6A567A-C90E-726F-FD83-ACCE797B87EA}"/>
              </a:ext>
            </a:extLst>
          </p:cNvPr>
          <p:cNvGrpSpPr/>
          <p:nvPr/>
        </p:nvGrpSpPr>
        <p:grpSpPr>
          <a:xfrm>
            <a:off x="4774716" y="1031579"/>
            <a:ext cx="2008702" cy="1493749"/>
            <a:chOff x="4774716" y="1031579"/>
            <a:chExt cx="2008702" cy="1493749"/>
          </a:xfrm>
        </p:grpSpPr>
        <p:sp>
          <p:nvSpPr>
            <p:cNvPr id="66" name="矩形 65">
              <a:extLst>
                <a:ext uri="{FF2B5EF4-FFF2-40B4-BE49-F238E27FC236}">
                  <a16:creationId xmlns:a16="http://schemas.microsoft.com/office/drawing/2014/main" id="{188E0DE8-4F57-CA7C-D0D9-A8689C20A880}"/>
                </a:ext>
              </a:extLst>
            </p:cNvPr>
            <p:cNvSpPr/>
            <p:nvPr/>
          </p:nvSpPr>
          <p:spPr>
            <a:xfrm>
              <a:off x="4774716" y="1035718"/>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67" name="组合 66">
              <a:extLst>
                <a:ext uri="{FF2B5EF4-FFF2-40B4-BE49-F238E27FC236}">
                  <a16:creationId xmlns:a16="http://schemas.microsoft.com/office/drawing/2014/main" id="{EF0A4CF8-2C61-181D-1A14-1AC6EA69E5BE}"/>
                </a:ext>
              </a:extLst>
            </p:cNvPr>
            <p:cNvGrpSpPr/>
            <p:nvPr/>
          </p:nvGrpSpPr>
          <p:grpSpPr>
            <a:xfrm>
              <a:off x="4985239" y="2062811"/>
              <a:ext cx="635003" cy="462517"/>
              <a:chOff x="2618303" y="1841679"/>
              <a:chExt cx="739175" cy="384518"/>
            </a:xfrm>
          </p:grpSpPr>
          <p:sp>
            <p:nvSpPr>
              <p:cNvPr id="68" name="等腰三角形 67">
                <a:extLst>
                  <a:ext uri="{FF2B5EF4-FFF2-40B4-BE49-F238E27FC236}">
                    <a16:creationId xmlns:a16="http://schemas.microsoft.com/office/drawing/2014/main" id="{A427539E-A72A-DC52-6623-0487CE2BEDA5}"/>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69" name="文本框 68">
                <a:extLst>
                  <a:ext uri="{FF2B5EF4-FFF2-40B4-BE49-F238E27FC236}">
                    <a16:creationId xmlns:a16="http://schemas.microsoft.com/office/drawing/2014/main" id="{F2285932-BA0C-5427-6BE0-93E457645C6A}"/>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70" name="椭圆 69">
              <a:extLst>
                <a:ext uri="{FF2B5EF4-FFF2-40B4-BE49-F238E27FC236}">
                  <a16:creationId xmlns:a16="http://schemas.microsoft.com/office/drawing/2014/main" id="{B3223084-DFBC-F744-3BD5-10CE18E356DA}"/>
                </a:ext>
              </a:extLst>
            </p:cNvPr>
            <p:cNvSpPr/>
            <p:nvPr/>
          </p:nvSpPr>
          <p:spPr>
            <a:xfrm>
              <a:off x="5457139" y="1621403"/>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2</a:t>
              </a:r>
              <a:endParaRPr kumimoji="0" lang="zh-CN" altLang="en-US"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1" name="矩形 70">
              <a:extLst>
                <a:ext uri="{FF2B5EF4-FFF2-40B4-BE49-F238E27FC236}">
                  <a16:creationId xmlns:a16="http://schemas.microsoft.com/office/drawing/2014/main" id="{240F0262-48DC-0F1E-2565-FAD554042977}"/>
                </a:ext>
              </a:extLst>
            </p:cNvPr>
            <p:cNvSpPr/>
            <p:nvPr/>
          </p:nvSpPr>
          <p:spPr>
            <a:xfrm>
              <a:off x="5522265" y="1031579"/>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2" name="矩形 71">
              <a:extLst>
                <a:ext uri="{FF2B5EF4-FFF2-40B4-BE49-F238E27FC236}">
                  <a16:creationId xmlns:a16="http://schemas.microsoft.com/office/drawing/2014/main" id="{3F2651F4-115F-24A5-4015-7739F1B1C857}"/>
                </a:ext>
              </a:extLst>
            </p:cNvPr>
            <p:cNvSpPr/>
            <p:nvPr/>
          </p:nvSpPr>
          <p:spPr>
            <a:xfrm>
              <a:off x="6269814" y="1031579"/>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73" name="组合 72">
              <a:extLst>
                <a:ext uri="{FF2B5EF4-FFF2-40B4-BE49-F238E27FC236}">
                  <a16:creationId xmlns:a16="http://schemas.microsoft.com/office/drawing/2014/main" id="{DEB16E7B-3AC2-1862-B2C3-3F3D930192E8}"/>
                </a:ext>
              </a:extLst>
            </p:cNvPr>
            <p:cNvGrpSpPr/>
            <p:nvPr/>
          </p:nvGrpSpPr>
          <p:grpSpPr>
            <a:xfrm>
              <a:off x="5891613" y="2062810"/>
              <a:ext cx="635003" cy="462517"/>
              <a:chOff x="2618303" y="1841679"/>
              <a:chExt cx="739175" cy="384518"/>
            </a:xfrm>
          </p:grpSpPr>
          <p:sp>
            <p:nvSpPr>
              <p:cNvPr id="74" name="等腰三角形 73">
                <a:extLst>
                  <a:ext uri="{FF2B5EF4-FFF2-40B4-BE49-F238E27FC236}">
                    <a16:creationId xmlns:a16="http://schemas.microsoft.com/office/drawing/2014/main" id="{1B9F6E43-E81B-0EFD-3E03-0A3719FCBC4A}"/>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75" name="文本框 74">
                <a:extLst>
                  <a:ext uri="{FF2B5EF4-FFF2-40B4-BE49-F238E27FC236}">
                    <a16:creationId xmlns:a16="http://schemas.microsoft.com/office/drawing/2014/main" id="{8173C4FF-E29B-4CB4-5A76-964EE7CE1679}"/>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78" name="连接符: 肘形 77">
              <a:extLst>
                <a:ext uri="{FF2B5EF4-FFF2-40B4-BE49-F238E27FC236}">
                  <a16:creationId xmlns:a16="http://schemas.microsoft.com/office/drawing/2014/main" id="{5C2D4053-AE3D-2033-A0E2-8456865FE933}"/>
                </a:ext>
              </a:extLst>
            </p:cNvPr>
            <p:cNvCxnSpPr>
              <a:cxnSpLocks/>
              <a:stCxn id="66" idx="2"/>
              <a:endCxn id="70" idx="0"/>
            </p:cNvCxnSpPr>
            <p:nvPr/>
          </p:nvCxnSpPr>
          <p:spPr>
            <a:xfrm rot="16200000" flipH="1">
              <a:off x="5248905" y="1095668"/>
              <a:ext cx="308348" cy="74312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9" name="连接符: 肘形 78">
              <a:extLst>
                <a:ext uri="{FF2B5EF4-FFF2-40B4-BE49-F238E27FC236}">
                  <a16:creationId xmlns:a16="http://schemas.microsoft.com/office/drawing/2014/main" id="{3C04D83D-522F-72FA-A795-5DC5EC9122F5}"/>
                </a:ext>
              </a:extLst>
            </p:cNvPr>
            <p:cNvCxnSpPr>
              <a:cxnSpLocks/>
              <a:stCxn id="71" idx="2"/>
              <a:endCxn id="70" idx="0"/>
            </p:cNvCxnSpPr>
            <p:nvPr/>
          </p:nvCxnSpPr>
          <p:spPr>
            <a:xfrm rot="5400000">
              <a:off x="5620611" y="1462946"/>
              <a:ext cx="312487" cy="4427"/>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连接符: 肘形 79">
              <a:extLst>
                <a:ext uri="{FF2B5EF4-FFF2-40B4-BE49-F238E27FC236}">
                  <a16:creationId xmlns:a16="http://schemas.microsoft.com/office/drawing/2014/main" id="{4EACD2CE-B24A-9249-0503-F479150DFD6E}"/>
                </a:ext>
              </a:extLst>
            </p:cNvPr>
            <p:cNvCxnSpPr>
              <a:cxnSpLocks/>
              <a:stCxn id="72" idx="2"/>
              <a:endCxn id="70" idx="0"/>
            </p:cNvCxnSpPr>
            <p:nvPr/>
          </p:nvCxnSpPr>
          <p:spPr>
            <a:xfrm rot="5400000">
              <a:off x="5994385" y="1089171"/>
              <a:ext cx="312487" cy="751976"/>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连接符: 肘形 80">
              <a:extLst>
                <a:ext uri="{FF2B5EF4-FFF2-40B4-BE49-F238E27FC236}">
                  <a16:creationId xmlns:a16="http://schemas.microsoft.com/office/drawing/2014/main" id="{083EEFFD-5753-CBF2-A53F-AF64C5FB5576}"/>
                </a:ext>
              </a:extLst>
            </p:cNvPr>
            <p:cNvCxnSpPr>
              <a:stCxn id="70" idx="4"/>
              <a:endCxn id="68" idx="0"/>
            </p:cNvCxnSpPr>
            <p:nvPr/>
          </p:nvCxnSpPr>
          <p:spPr>
            <a:xfrm rot="5400000">
              <a:off x="5460883" y="1749054"/>
              <a:ext cx="155616" cy="47189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连接符: 肘形 81">
              <a:extLst>
                <a:ext uri="{FF2B5EF4-FFF2-40B4-BE49-F238E27FC236}">
                  <a16:creationId xmlns:a16="http://schemas.microsoft.com/office/drawing/2014/main" id="{EA990F52-4B70-2378-C3C5-615651229EAE}"/>
                </a:ext>
              </a:extLst>
            </p:cNvPr>
            <p:cNvCxnSpPr>
              <a:stCxn id="70" idx="4"/>
              <a:endCxn id="74" idx="0"/>
            </p:cNvCxnSpPr>
            <p:nvPr/>
          </p:nvCxnSpPr>
          <p:spPr>
            <a:xfrm rot="16200000" flipH="1">
              <a:off x="5914070" y="1767764"/>
              <a:ext cx="155615" cy="43447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组合 19">
            <a:extLst>
              <a:ext uri="{FF2B5EF4-FFF2-40B4-BE49-F238E27FC236}">
                <a16:creationId xmlns:a16="http://schemas.microsoft.com/office/drawing/2014/main" id="{0F2740C0-D616-6774-CECD-88DD8D8B37A7}"/>
              </a:ext>
            </a:extLst>
          </p:cNvPr>
          <p:cNvGrpSpPr/>
          <p:nvPr/>
        </p:nvGrpSpPr>
        <p:grpSpPr>
          <a:xfrm>
            <a:off x="7263411" y="1018924"/>
            <a:ext cx="2008702" cy="1491774"/>
            <a:chOff x="7263411" y="1018924"/>
            <a:chExt cx="2008702" cy="1491774"/>
          </a:xfrm>
        </p:grpSpPr>
        <p:sp>
          <p:nvSpPr>
            <p:cNvPr id="83" name="矩形 82">
              <a:extLst>
                <a:ext uri="{FF2B5EF4-FFF2-40B4-BE49-F238E27FC236}">
                  <a16:creationId xmlns:a16="http://schemas.microsoft.com/office/drawing/2014/main" id="{5295C6F9-298B-8BEA-EF14-4DB08EF30CDB}"/>
                </a:ext>
              </a:extLst>
            </p:cNvPr>
            <p:cNvSpPr/>
            <p:nvPr/>
          </p:nvSpPr>
          <p:spPr>
            <a:xfrm>
              <a:off x="7263411" y="1023063"/>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84" name="组合 83">
              <a:extLst>
                <a:ext uri="{FF2B5EF4-FFF2-40B4-BE49-F238E27FC236}">
                  <a16:creationId xmlns:a16="http://schemas.microsoft.com/office/drawing/2014/main" id="{21875A1C-4FE8-00BA-8C6D-D292C4994596}"/>
                </a:ext>
              </a:extLst>
            </p:cNvPr>
            <p:cNvGrpSpPr/>
            <p:nvPr/>
          </p:nvGrpSpPr>
          <p:grpSpPr>
            <a:xfrm>
              <a:off x="7943073" y="2048181"/>
              <a:ext cx="635003" cy="462517"/>
              <a:chOff x="2618303" y="1841679"/>
              <a:chExt cx="739175" cy="384518"/>
            </a:xfrm>
          </p:grpSpPr>
          <p:sp>
            <p:nvSpPr>
              <p:cNvPr id="85" name="等腰三角形 84">
                <a:extLst>
                  <a:ext uri="{FF2B5EF4-FFF2-40B4-BE49-F238E27FC236}">
                    <a16:creationId xmlns:a16="http://schemas.microsoft.com/office/drawing/2014/main" id="{8DB5A3AA-60E3-CDB5-D88D-C9BE2C2CE3D7}"/>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86" name="文本框 85">
                <a:extLst>
                  <a:ext uri="{FF2B5EF4-FFF2-40B4-BE49-F238E27FC236}">
                    <a16:creationId xmlns:a16="http://schemas.microsoft.com/office/drawing/2014/main" id="{0C5D9CC0-A651-4E84-D1F3-902C86A9EADD}"/>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87" name="椭圆 86">
              <a:extLst>
                <a:ext uri="{FF2B5EF4-FFF2-40B4-BE49-F238E27FC236}">
                  <a16:creationId xmlns:a16="http://schemas.microsoft.com/office/drawing/2014/main" id="{2EBB1416-D521-7494-2E05-C5C0D2B0CD0D}"/>
                </a:ext>
              </a:extLst>
            </p:cNvPr>
            <p:cNvSpPr/>
            <p:nvPr/>
          </p:nvSpPr>
          <p:spPr>
            <a:xfrm>
              <a:off x="7955803" y="1561509"/>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3</a:t>
              </a:r>
              <a:endParaRPr kumimoji="0" lang="zh-CN" altLang="en-US"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8" name="矩形 87">
              <a:extLst>
                <a:ext uri="{FF2B5EF4-FFF2-40B4-BE49-F238E27FC236}">
                  <a16:creationId xmlns:a16="http://schemas.microsoft.com/office/drawing/2014/main" id="{3FB0F91D-F630-DEAC-E1E4-A504C354E19C}"/>
                </a:ext>
              </a:extLst>
            </p:cNvPr>
            <p:cNvSpPr/>
            <p:nvPr/>
          </p:nvSpPr>
          <p:spPr>
            <a:xfrm>
              <a:off x="8010960" y="1018924"/>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9" name="矩形 88">
              <a:extLst>
                <a:ext uri="{FF2B5EF4-FFF2-40B4-BE49-F238E27FC236}">
                  <a16:creationId xmlns:a16="http://schemas.microsoft.com/office/drawing/2014/main" id="{B123E783-6862-4580-9F84-57A540FE53C5}"/>
                </a:ext>
              </a:extLst>
            </p:cNvPr>
            <p:cNvSpPr/>
            <p:nvPr/>
          </p:nvSpPr>
          <p:spPr>
            <a:xfrm>
              <a:off x="8758509" y="1018924"/>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93" name="连接符: 肘形 92">
              <a:extLst>
                <a:ext uri="{FF2B5EF4-FFF2-40B4-BE49-F238E27FC236}">
                  <a16:creationId xmlns:a16="http://schemas.microsoft.com/office/drawing/2014/main" id="{E22B6E82-A643-9CC7-A4B6-67A38C195117}"/>
                </a:ext>
              </a:extLst>
            </p:cNvPr>
            <p:cNvCxnSpPr>
              <a:cxnSpLocks/>
              <a:stCxn id="83" idx="2"/>
              <a:endCxn id="87" idx="0"/>
            </p:cNvCxnSpPr>
            <p:nvPr/>
          </p:nvCxnSpPr>
          <p:spPr>
            <a:xfrm rot="16200000" flipH="1">
              <a:off x="7766204" y="1054408"/>
              <a:ext cx="261109" cy="753091"/>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4" name="连接符: 肘形 93">
              <a:extLst>
                <a:ext uri="{FF2B5EF4-FFF2-40B4-BE49-F238E27FC236}">
                  <a16:creationId xmlns:a16="http://schemas.microsoft.com/office/drawing/2014/main" id="{6B49682E-5C4A-2389-0F00-881F7E89D810}"/>
                </a:ext>
              </a:extLst>
            </p:cNvPr>
            <p:cNvCxnSpPr>
              <a:cxnSpLocks/>
              <a:stCxn id="88" idx="2"/>
              <a:endCxn id="87" idx="0"/>
            </p:cNvCxnSpPr>
            <p:nvPr/>
          </p:nvCxnSpPr>
          <p:spPr>
            <a:xfrm rot="16200000" flipH="1">
              <a:off x="8137909" y="1426114"/>
              <a:ext cx="265248" cy="554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5" name="连接符: 肘形 94">
              <a:extLst>
                <a:ext uri="{FF2B5EF4-FFF2-40B4-BE49-F238E27FC236}">
                  <a16:creationId xmlns:a16="http://schemas.microsoft.com/office/drawing/2014/main" id="{905B21BE-BD20-563D-5418-FC3A5B01E108}"/>
                </a:ext>
              </a:extLst>
            </p:cNvPr>
            <p:cNvCxnSpPr>
              <a:cxnSpLocks/>
              <a:stCxn id="89" idx="2"/>
              <a:endCxn id="87" idx="0"/>
            </p:cNvCxnSpPr>
            <p:nvPr/>
          </p:nvCxnSpPr>
          <p:spPr>
            <a:xfrm rot="5400000">
              <a:off x="8511684" y="1057882"/>
              <a:ext cx="265248" cy="742007"/>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6" name="连接符: 肘形 95">
              <a:extLst>
                <a:ext uri="{FF2B5EF4-FFF2-40B4-BE49-F238E27FC236}">
                  <a16:creationId xmlns:a16="http://schemas.microsoft.com/office/drawing/2014/main" id="{BEB3F16B-A9D1-609A-BFD6-90C2C6BC6E0B}"/>
                </a:ext>
              </a:extLst>
            </p:cNvPr>
            <p:cNvCxnSpPr>
              <a:stCxn id="87" idx="4"/>
              <a:endCxn id="85" idx="0"/>
            </p:cNvCxnSpPr>
            <p:nvPr/>
          </p:nvCxnSpPr>
          <p:spPr>
            <a:xfrm rot="5400000">
              <a:off x="8166500" y="1941377"/>
              <a:ext cx="200880" cy="1272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98" name="文本框 97">
            <a:extLst>
              <a:ext uri="{FF2B5EF4-FFF2-40B4-BE49-F238E27FC236}">
                <a16:creationId xmlns:a16="http://schemas.microsoft.com/office/drawing/2014/main" id="{B968841C-344F-1D66-D3A4-7AA0BD27680B}"/>
              </a:ext>
            </a:extLst>
          </p:cNvPr>
          <p:cNvSpPr txBox="1"/>
          <p:nvPr/>
        </p:nvSpPr>
        <p:spPr>
          <a:xfrm>
            <a:off x="1270389" y="1035718"/>
            <a:ext cx="111151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0</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8" name="组合 17">
            <a:extLst>
              <a:ext uri="{FF2B5EF4-FFF2-40B4-BE49-F238E27FC236}">
                <a16:creationId xmlns:a16="http://schemas.microsoft.com/office/drawing/2014/main" id="{C46144A6-F113-49D7-95C3-A21389BDFD79}"/>
              </a:ext>
            </a:extLst>
          </p:cNvPr>
          <p:cNvGrpSpPr/>
          <p:nvPr/>
        </p:nvGrpSpPr>
        <p:grpSpPr>
          <a:xfrm>
            <a:off x="2328012" y="1023064"/>
            <a:ext cx="2008702" cy="1537796"/>
            <a:chOff x="2328012" y="1023064"/>
            <a:chExt cx="2008702" cy="1537796"/>
          </a:xfrm>
        </p:grpSpPr>
        <p:sp>
          <p:nvSpPr>
            <p:cNvPr id="4" name="矩形 3">
              <a:extLst>
                <a:ext uri="{FF2B5EF4-FFF2-40B4-BE49-F238E27FC236}">
                  <a16:creationId xmlns:a16="http://schemas.microsoft.com/office/drawing/2014/main" id="{F50C153D-AD42-63FA-A258-AC8ABA6FA386}"/>
                </a:ext>
              </a:extLst>
            </p:cNvPr>
            <p:cNvSpPr/>
            <p:nvPr/>
          </p:nvSpPr>
          <p:spPr>
            <a:xfrm>
              <a:off x="2328012" y="1027203"/>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FG1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5" name="矩形 34">
              <a:extLst>
                <a:ext uri="{FF2B5EF4-FFF2-40B4-BE49-F238E27FC236}">
                  <a16:creationId xmlns:a16="http://schemas.microsoft.com/office/drawing/2014/main" id="{8ED456CE-CDB2-0F99-127D-FC85136C1557}"/>
                </a:ext>
              </a:extLst>
            </p:cNvPr>
            <p:cNvSpPr/>
            <p:nvPr/>
          </p:nvSpPr>
          <p:spPr>
            <a:xfrm>
              <a:off x="3070019" y="1023064"/>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6" name="矩形 35">
              <a:extLst>
                <a:ext uri="{FF2B5EF4-FFF2-40B4-BE49-F238E27FC236}">
                  <a16:creationId xmlns:a16="http://schemas.microsoft.com/office/drawing/2014/main" id="{9F95BBCC-E80F-9C12-DA73-B2FDBD6393CE}"/>
                </a:ext>
              </a:extLst>
            </p:cNvPr>
            <p:cNvSpPr/>
            <p:nvPr/>
          </p:nvSpPr>
          <p:spPr>
            <a:xfrm>
              <a:off x="3823110" y="1023064"/>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51" name="连接符: 肘形 50">
              <a:extLst>
                <a:ext uri="{FF2B5EF4-FFF2-40B4-BE49-F238E27FC236}">
                  <a16:creationId xmlns:a16="http://schemas.microsoft.com/office/drawing/2014/main" id="{7142FFEB-9BF0-F4D8-80FA-DC76CA37C0C9}"/>
                </a:ext>
              </a:extLst>
            </p:cNvPr>
            <p:cNvCxnSpPr>
              <a:cxnSpLocks/>
              <a:stCxn id="35" idx="2"/>
              <a:endCxn id="34" idx="0"/>
            </p:cNvCxnSpPr>
            <p:nvPr/>
          </p:nvCxnSpPr>
          <p:spPr>
            <a:xfrm rot="16200000" flipH="1">
              <a:off x="3177509" y="1449713"/>
              <a:ext cx="304167" cy="554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连接符: 肘形 53">
              <a:extLst>
                <a:ext uri="{FF2B5EF4-FFF2-40B4-BE49-F238E27FC236}">
                  <a16:creationId xmlns:a16="http://schemas.microsoft.com/office/drawing/2014/main" id="{52E60AB3-8A5C-B25D-890B-1A6ABF8EA500}"/>
                </a:ext>
              </a:extLst>
            </p:cNvPr>
            <p:cNvCxnSpPr>
              <a:cxnSpLocks/>
              <a:stCxn id="36" idx="2"/>
              <a:endCxn id="34" idx="0"/>
            </p:cNvCxnSpPr>
            <p:nvPr/>
          </p:nvCxnSpPr>
          <p:spPr>
            <a:xfrm rot="5400000">
              <a:off x="3554055" y="1078710"/>
              <a:ext cx="304167" cy="747549"/>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6" name="组合 5">
              <a:extLst>
                <a:ext uri="{FF2B5EF4-FFF2-40B4-BE49-F238E27FC236}">
                  <a16:creationId xmlns:a16="http://schemas.microsoft.com/office/drawing/2014/main" id="{DCAB386B-B24B-48E1-EFAE-2B0BE129A64C}"/>
                </a:ext>
              </a:extLst>
            </p:cNvPr>
            <p:cNvGrpSpPr/>
            <p:nvPr/>
          </p:nvGrpSpPr>
          <p:grpSpPr>
            <a:xfrm>
              <a:off x="2618489" y="2097687"/>
              <a:ext cx="635003" cy="462517"/>
              <a:chOff x="2618303" y="1841679"/>
              <a:chExt cx="739175" cy="384518"/>
            </a:xfrm>
          </p:grpSpPr>
          <p:sp>
            <p:nvSpPr>
              <p:cNvPr id="9" name="等腰三角形 8">
                <a:extLst>
                  <a:ext uri="{FF2B5EF4-FFF2-40B4-BE49-F238E27FC236}">
                    <a16:creationId xmlns:a16="http://schemas.microsoft.com/office/drawing/2014/main" id="{8389AC53-0FEF-F30B-2C2F-79338C451B2D}"/>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0" name="文本框 9">
                <a:extLst>
                  <a:ext uri="{FF2B5EF4-FFF2-40B4-BE49-F238E27FC236}">
                    <a16:creationId xmlns:a16="http://schemas.microsoft.com/office/drawing/2014/main" id="{A00E0333-1F17-D6EE-F5E3-1985E78DE314}"/>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34" name="椭圆 33">
              <a:extLst>
                <a:ext uri="{FF2B5EF4-FFF2-40B4-BE49-F238E27FC236}">
                  <a16:creationId xmlns:a16="http://schemas.microsoft.com/office/drawing/2014/main" id="{E5D9B120-AA25-A576-291A-1D6C90F460D4}"/>
                </a:ext>
              </a:extLst>
            </p:cNvPr>
            <p:cNvSpPr/>
            <p:nvPr/>
          </p:nvSpPr>
          <p:spPr>
            <a:xfrm>
              <a:off x="3014862" y="1604568"/>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a:t>
              </a:r>
              <a:endParaRPr kumimoji="0" lang="zh-CN" altLang="en-US"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40" name="组合 39">
              <a:extLst>
                <a:ext uri="{FF2B5EF4-FFF2-40B4-BE49-F238E27FC236}">
                  <a16:creationId xmlns:a16="http://schemas.microsoft.com/office/drawing/2014/main" id="{6D4529ED-A2FD-0F9D-F7E4-52974340E00F}"/>
                </a:ext>
              </a:extLst>
            </p:cNvPr>
            <p:cNvGrpSpPr/>
            <p:nvPr/>
          </p:nvGrpSpPr>
          <p:grpSpPr>
            <a:xfrm>
              <a:off x="3417337" y="2098343"/>
              <a:ext cx="635003" cy="462517"/>
              <a:chOff x="2618303" y="1841679"/>
              <a:chExt cx="739175" cy="384518"/>
            </a:xfrm>
          </p:grpSpPr>
          <p:sp>
            <p:nvSpPr>
              <p:cNvPr id="41" name="等腰三角形 40">
                <a:extLst>
                  <a:ext uri="{FF2B5EF4-FFF2-40B4-BE49-F238E27FC236}">
                    <a16:creationId xmlns:a16="http://schemas.microsoft.com/office/drawing/2014/main" id="{8EB14404-54E0-DC28-85EB-5B494A973187}"/>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42" name="文本框 41">
                <a:extLst>
                  <a:ext uri="{FF2B5EF4-FFF2-40B4-BE49-F238E27FC236}">
                    <a16:creationId xmlns:a16="http://schemas.microsoft.com/office/drawing/2014/main" id="{7F0175BA-0EE1-E70A-B6B8-CA40F4CFF65B}"/>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48" name="连接符: 肘形 47">
              <a:extLst>
                <a:ext uri="{FF2B5EF4-FFF2-40B4-BE49-F238E27FC236}">
                  <a16:creationId xmlns:a16="http://schemas.microsoft.com/office/drawing/2014/main" id="{E4A22449-127B-BC0C-4654-DA3C6A6E72B0}"/>
                </a:ext>
              </a:extLst>
            </p:cNvPr>
            <p:cNvCxnSpPr>
              <a:cxnSpLocks/>
              <a:stCxn id="4" idx="2"/>
              <a:endCxn id="34" idx="0"/>
            </p:cNvCxnSpPr>
            <p:nvPr/>
          </p:nvCxnSpPr>
          <p:spPr>
            <a:xfrm rot="16200000" flipH="1">
              <a:off x="2808574" y="1080779"/>
              <a:ext cx="300028" cy="747549"/>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连接符: 肘形 60">
              <a:extLst>
                <a:ext uri="{FF2B5EF4-FFF2-40B4-BE49-F238E27FC236}">
                  <a16:creationId xmlns:a16="http://schemas.microsoft.com/office/drawing/2014/main" id="{8B16D9CB-0F14-DB8E-337D-D6CDBF264C79}"/>
                </a:ext>
              </a:extLst>
            </p:cNvPr>
            <p:cNvCxnSpPr>
              <a:stCxn id="34" idx="4"/>
              <a:endCxn id="9" idx="0"/>
            </p:cNvCxnSpPr>
            <p:nvPr/>
          </p:nvCxnSpPr>
          <p:spPr>
            <a:xfrm rot="5400000">
              <a:off x="3030514" y="1795837"/>
              <a:ext cx="207327" cy="39637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连接符: 肘形 64">
              <a:extLst>
                <a:ext uri="{FF2B5EF4-FFF2-40B4-BE49-F238E27FC236}">
                  <a16:creationId xmlns:a16="http://schemas.microsoft.com/office/drawing/2014/main" id="{958148C5-0596-58E6-F0D0-2FAD2DC82789}"/>
                </a:ext>
              </a:extLst>
            </p:cNvPr>
            <p:cNvCxnSpPr>
              <a:stCxn id="34" idx="4"/>
              <a:endCxn id="41" idx="0"/>
            </p:cNvCxnSpPr>
            <p:nvPr/>
          </p:nvCxnSpPr>
          <p:spPr>
            <a:xfrm rot="16200000" flipH="1">
              <a:off x="3429610" y="1793113"/>
              <a:ext cx="207983" cy="402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15" name="文本框 114">
            <a:extLst>
              <a:ext uri="{FF2B5EF4-FFF2-40B4-BE49-F238E27FC236}">
                <a16:creationId xmlns:a16="http://schemas.microsoft.com/office/drawing/2014/main" id="{339353AA-890D-D1A9-5826-E3F58543D8C4}"/>
              </a:ext>
            </a:extLst>
          </p:cNvPr>
          <p:cNvSpPr txBox="1"/>
          <p:nvPr/>
        </p:nvSpPr>
        <p:spPr>
          <a:xfrm>
            <a:off x="1270389" y="1631857"/>
            <a:ext cx="111151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1</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21" name="组合 20">
            <a:extLst>
              <a:ext uri="{FF2B5EF4-FFF2-40B4-BE49-F238E27FC236}">
                <a16:creationId xmlns:a16="http://schemas.microsoft.com/office/drawing/2014/main" id="{78F41726-7EB7-D7FE-97F6-B3FBBF59B9CE}"/>
              </a:ext>
            </a:extLst>
          </p:cNvPr>
          <p:cNvGrpSpPr/>
          <p:nvPr/>
        </p:nvGrpSpPr>
        <p:grpSpPr>
          <a:xfrm>
            <a:off x="9552754" y="1003108"/>
            <a:ext cx="2428535" cy="1498591"/>
            <a:chOff x="9552754" y="1003108"/>
            <a:chExt cx="2428535" cy="1498591"/>
          </a:xfrm>
        </p:grpSpPr>
        <p:sp>
          <p:nvSpPr>
            <p:cNvPr id="121" name="矩形 120">
              <a:extLst>
                <a:ext uri="{FF2B5EF4-FFF2-40B4-BE49-F238E27FC236}">
                  <a16:creationId xmlns:a16="http://schemas.microsoft.com/office/drawing/2014/main" id="{98F47075-C605-2ACB-5867-D4022D9DC0DC}"/>
                </a:ext>
              </a:extLst>
            </p:cNvPr>
            <p:cNvSpPr/>
            <p:nvPr/>
          </p:nvSpPr>
          <p:spPr>
            <a:xfrm>
              <a:off x="9786880" y="1007247"/>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22" name="组合 121">
              <a:extLst>
                <a:ext uri="{FF2B5EF4-FFF2-40B4-BE49-F238E27FC236}">
                  <a16:creationId xmlns:a16="http://schemas.microsoft.com/office/drawing/2014/main" id="{EA72A35B-32AE-34A1-AD66-976FD06541DE}"/>
                </a:ext>
              </a:extLst>
            </p:cNvPr>
            <p:cNvGrpSpPr/>
            <p:nvPr/>
          </p:nvGrpSpPr>
          <p:grpSpPr>
            <a:xfrm>
              <a:off x="10473729" y="2026037"/>
              <a:ext cx="635003" cy="462517"/>
              <a:chOff x="3011691" y="1855831"/>
              <a:chExt cx="739175" cy="384518"/>
            </a:xfrm>
          </p:grpSpPr>
          <p:sp>
            <p:nvSpPr>
              <p:cNvPr id="123" name="等腰三角形 122">
                <a:extLst>
                  <a:ext uri="{FF2B5EF4-FFF2-40B4-BE49-F238E27FC236}">
                    <a16:creationId xmlns:a16="http://schemas.microsoft.com/office/drawing/2014/main" id="{F2565306-13E7-1BFE-35C2-9142B61BCE4C}"/>
                  </a:ext>
                </a:extLst>
              </p:cNvPr>
              <p:cNvSpPr/>
              <p:nvPr/>
            </p:nvSpPr>
            <p:spPr>
              <a:xfrm>
                <a:off x="3085095" y="1855831"/>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24" name="文本框 123">
                <a:extLst>
                  <a:ext uri="{FF2B5EF4-FFF2-40B4-BE49-F238E27FC236}">
                    <a16:creationId xmlns:a16="http://schemas.microsoft.com/office/drawing/2014/main" id="{3FF26829-B6E1-0AFB-FCCB-2C3031E94E7B}"/>
                  </a:ext>
                </a:extLst>
              </p:cNvPr>
              <p:cNvSpPr txBox="1"/>
              <p:nvPr/>
            </p:nvSpPr>
            <p:spPr>
              <a:xfrm>
                <a:off x="3011691" y="2031122"/>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125" name="椭圆 124">
              <a:extLst>
                <a:ext uri="{FF2B5EF4-FFF2-40B4-BE49-F238E27FC236}">
                  <a16:creationId xmlns:a16="http://schemas.microsoft.com/office/drawing/2014/main" id="{28C881A6-E853-719A-F8D4-533F32A0ADD7}"/>
                </a:ext>
              </a:extLst>
            </p:cNvPr>
            <p:cNvSpPr/>
            <p:nvPr/>
          </p:nvSpPr>
          <p:spPr>
            <a:xfrm>
              <a:off x="10479272" y="1545693"/>
              <a:ext cx="635002" cy="285792"/>
            </a:xfrm>
            <a:prstGeom prst="ellipse">
              <a:avLst/>
            </a:prstGeom>
            <a:solidFill>
              <a:schemeClr val="tx2">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4</a:t>
              </a:r>
              <a:endParaRPr kumimoji="0" lang="zh-CN" altLang="en-US" sz="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6" name="矩形 125">
              <a:extLst>
                <a:ext uri="{FF2B5EF4-FFF2-40B4-BE49-F238E27FC236}">
                  <a16:creationId xmlns:a16="http://schemas.microsoft.com/office/drawing/2014/main" id="{17537B56-356E-D94D-E601-F5EF346237AA}"/>
                </a:ext>
              </a:extLst>
            </p:cNvPr>
            <p:cNvSpPr/>
            <p:nvPr/>
          </p:nvSpPr>
          <p:spPr>
            <a:xfrm>
              <a:off x="10534429" y="1003108"/>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FG22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7" name="矩形 126">
              <a:extLst>
                <a:ext uri="{FF2B5EF4-FFF2-40B4-BE49-F238E27FC236}">
                  <a16:creationId xmlns:a16="http://schemas.microsoft.com/office/drawing/2014/main" id="{5409D8A5-1415-FADE-31A4-E0F82E51C393}"/>
                </a:ext>
              </a:extLst>
            </p:cNvPr>
            <p:cNvSpPr/>
            <p:nvPr/>
          </p:nvSpPr>
          <p:spPr>
            <a:xfrm>
              <a:off x="11281978" y="1003108"/>
              <a:ext cx="513604" cy="277337"/>
            </a:xfrm>
            <a:prstGeom prst="rect">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nvGrpSpPr>
            <p:cNvPr id="128" name="组合 127">
              <a:extLst>
                <a:ext uri="{FF2B5EF4-FFF2-40B4-BE49-F238E27FC236}">
                  <a16:creationId xmlns:a16="http://schemas.microsoft.com/office/drawing/2014/main" id="{C093BE91-C1BA-F48F-DD86-6F6BCCA808EE}"/>
                </a:ext>
              </a:extLst>
            </p:cNvPr>
            <p:cNvGrpSpPr/>
            <p:nvPr/>
          </p:nvGrpSpPr>
          <p:grpSpPr>
            <a:xfrm>
              <a:off x="11346286" y="2022092"/>
              <a:ext cx="635003" cy="462517"/>
              <a:chOff x="2618303" y="1841679"/>
              <a:chExt cx="739175" cy="384518"/>
            </a:xfrm>
          </p:grpSpPr>
          <p:sp>
            <p:nvSpPr>
              <p:cNvPr id="129" name="等腰三角形 128">
                <a:extLst>
                  <a:ext uri="{FF2B5EF4-FFF2-40B4-BE49-F238E27FC236}">
                    <a16:creationId xmlns:a16="http://schemas.microsoft.com/office/drawing/2014/main" id="{8B39E14E-88DD-B910-74A3-4D147610F7E0}"/>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30" name="文本框 129">
                <a:extLst>
                  <a:ext uri="{FF2B5EF4-FFF2-40B4-BE49-F238E27FC236}">
                    <a16:creationId xmlns:a16="http://schemas.microsoft.com/office/drawing/2014/main" id="{8D14E346-14BC-7D38-28B2-C2A436F98372}"/>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P3/3</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31" name="连接符: 肘形 130">
              <a:extLst>
                <a:ext uri="{FF2B5EF4-FFF2-40B4-BE49-F238E27FC236}">
                  <a16:creationId xmlns:a16="http://schemas.microsoft.com/office/drawing/2014/main" id="{1B484131-82B9-FB39-AB29-AFA6DD8A04B6}"/>
                </a:ext>
              </a:extLst>
            </p:cNvPr>
            <p:cNvCxnSpPr>
              <a:cxnSpLocks/>
              <a:stCxn id="121" idx="2"/>
              <a:endCxn id="125" idx="0"/>
            </p:cNvCxnSpPr>
            <p:nvPr/>
          </p:nvCxnSpPr>
          <p:spPr>
            <a:xfrm rot="16200000" flipH="1">
              <a:off x="10289673" y="1038592"/>
              <a:ext cx="261109" cy="753091"/>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2" name="连接符: 肘形 131">
              <a:extLst>
                <a:ext uri="{FF2B5EF4-FFF2-40B4-BE49-F238E27FC236}">
                  <a16:creationId xmlns:a16="http://schemas.microsoft.com/office/drawing/2014/main" id="{72EE2459-EC56-83F8-0B36-7A329B0F265E}"/>
                </a:ext>
              </a:extLst>
            </p:cNvPr>
            <p:cNvCxnSpPr>
              <a:cxnSpLocks/>
              <a:stCxn id="126" idx="2"/>
              <a:endCxn id="125" idx="0"/>
            </p:cNvCxnSpPr>
            <p:nvPr/>
          </p:nvCxnSpPr>
          <p:spPr>
            <a:xfrm rot="16200000" flipH="1">
              <a:off x="10661378" y="1410298"/>
              <a:ext cx="265248" cy="5542"/>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3" name="连接符: 肘形 132">
              <a:extLst>
                <a:ext uri="{FF2B5EF4-FFF2-40B4-BE49-F238E27FC236}">
                  <a16:creationId xmlns:a16="http://schemas.microsoft.com/office/drawing/2014/main" id="{029B9888-54A1-C017-E605-70799C132B5A}"/>
                </a:ext>
              </a:extLst>
            </p:cNvPr>
            <p:cNvCxnSpPr>
              <a:cxnSpLocks/>
              <a:stCxn id="127" idx="2"/>
              <a:endCxn id="125" idx="0"/>
            </p:cNvCxnSpPr>
            <p:nvPr/>
          </p:nvCxnSpPr>
          <p:spPr>
            <a:xfrm rot="5400000">
              <a:off x="11035153" y="1042066"/>
              <a:ext cx="265248" cy="742007"/>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连接符: 肘形 133">
              <a:extLst>
                <a:ext uri="{FF2B5EF4-FFF2-40B4-BE49-F238E27FC236}">
                  <a16:creationId xmlns:a16="http://schemas.microsoft.com/office/drawing/2014/main" id="{BDF9D0A7-D728-6D28-E27F-18C5FDE0B7C5}"/>
                </a:ext>
              </a:extLst>
            </p:cNvPr>
            <p:cNvCxnSpPr>
              <a:stCxn id="125" idx="4"/>
              <a:endCxn id="123" idx="0"/>
            </p:cNvCxnSpPr>
            <p:nvPr/>
          </p:nvCxnSpPr>
          <p:spPr>
            <a:xfrm rot="16200000" flipH="1">
              <a:off x="10702267" y="1925990"/>
              <a:ext cx="194552" cy="554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5" name="连接符: 肘形 134">
              <a:extLst>
                <a:ext uri="{FF2B5EF4-FFF2-40B4-BE49-F238E27FC236}">
                  <a16:creationId xmlns:a16="http://schemas.microsoft.com/office/drawing/2014/main" id="{F1DFE0D7-B78D-FF2A-3313-A28E3BEB547D}"/>
                </a:ext>
              </a:extLst>
            </p:cNvPr>
            <p:cNvCxnSpPr>
              <a:stCxn id="125" idx="4"/>
              <a:endCxn id="129" idx="0"/>
            </p:cNvCxnSpPr>
            <p:nvPr/>
          </p:nvCxnSpPr>
          <p:spPr>
            <a:xfrm rot="16200000" flipH="1">
              <a:off x="11134977" y="1493280"/>
              <a:ext cx="190607" cy="86701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6" name="组合 135">
              <a:extLst>
                <a:ext uri="{FF2B5EF4-FFF2-40B4-BE49-F238E27FC236}">
                  <a16:creationId xmlns:a16="http://schemas.microsoft.com/office/drawing/2014/main" id="{AE6C98CE-2E8F-D5DD-790F-2E7ABC095FB5}"/>
                </a:ext>
              </a:extLst>
            </p:cNvPr>
            <p:cNvGrpSpPr/>
            <p:nvPr/>
          </p:nvGrpSpPr>
          <p:grpSpPr>
            <a:xfrm>
              <a:off x="9552754" y="2039182"/>
              <a:ext cx="635003" cy="462517"/>
              <a:chOff x="2618303" y="1841679"/>
              <a:chExt cx="739175" cy="384518"/>
            </a:xfrm>
          </p:grpSpPr>
          <p:sp>
            <p:nvSpPr>
              <p:cNvPr id="137" name="等腰三角形 136">
                <a:extLst>
                  <a:ext uri="{FF2B5EF4-FFF2-40B4-BE49-F238E27FC236}">
                    <a16:creationId xmlns:a16="http://schemas.microsoft.com/office/drawing/2014/main" id="{CE619D09-7610-C388-78C8-AC0B65A2C243}"/>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38" name="文本框 137">
                <a:extLst>
                  <a:ext uri="{FF2B5EF4-FFF2-40B4-BE49-F238E27FC236}">
                    <a16:creationId xmlns:a16="http://schemas.microsoft.com/office/drawing/2014/main" id="{E9764D25-1F0A-90A2-F060-ABF39760CE59}"/>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P1/1</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141" name="连接符: 肘形 140">
              <a:extLst>
                <a:ext uri="{FF2B5EF4-FFF2-40B4-BE49-F238E27FC236}">
                  <a16:creationId xmlns:a16="http://schemas.microsoft.com/office/drawing/2014/main" id="{EA8E8DBF-A55E-2B34-AF03-0EC200C1A536}"/>
                </a:ext>
              </a:extLst>
            </p:cNvPr>
            <p:cNvCxnSpPr>
              <a:stCxn id="125" idx="4"/>
              <a:endCxn id="137" idx="0"/>
            </p:cNvCxnSpPr>
            <p:nvPr/>
          </p:nvCxnSpPr>
          <p:spPr>
            <a:xfrm rot="5400000">
              <a:off x="10229667" y="1472075"/>
              <a:ext cx="207697" cy="92651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2" name="组合 141">
            <a:extLst>
              <a:ext uri="{FF2B5EF4-FFF2-40B4-BE49-F238E27FC236}">
                <a16:creationId xmlns:a16="http://schemas.microsoft.com/office/drawing/2014/main" id="{C3F31249-6B23-A29B-8D6E-9096891A6341}"/>
              </a:ext>
            </a:extLst>
          </p:cNvPr>
          <p:cNvGrpSpPr/>
          <p:nvPr/>
        </p:nvGrpSpPr>
        <p:grpSpPr>
          <a:xfrm>
            <a:off x="435161" y="926333"/>
            <a:ext cx="635003" cy="462517"/>
            <a:chOff x="2618303" y="1841679"/>
            <a:chExt cx="739175" cy="384518"/>
          </a:xfrm>
        </p:grpSpPr>
        <p:sp>
          <p:nvSpPr>
            <p:cNvPr id="143" name="等腰三角形 142">
              <a:extLst>
                <a:ext uri="{FF2B5EF4-FFF2-40B4-BE49-F238E27FC236}">
                  <a16:creationId xmlns:a16="http://schemas.microsoft.com/office/drawing/2014/main" id="{4A7B8F8A-D174-3082-24E4-AFF7EAE6C646}"/>
                </a:ext>
              </a:extLst>
            </p:cNvPr>
            <p:cNvSpPr/>
            <p:nvPr/>
          </p:nvSpPr>
          <p:spPr>
            <a:xfrm>
              <a:off x="2678806" y="1841679"/>
              <a:ext cx="618170" cy="384518"/>
            </a:xfrm>
            <a:prstGeom prst="triangle">
              <a:avLst/>
            </a:prstGeom>
            <a:solidFill>
              <a:srgbClr val="093091"/>
            </a:solidFill>
            <a:ln w="1905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144" name="文本框 143">
              <a:extLst>
                <a:ext uri="{FF2B5EF4-FFF2-40B4-BE49-F238E27FC236}">
                  <a16:creationId xmlns:a16="http://schemas.microsoft.com/office/drawing/2014/main" id="{3DB62D9D-669E-0081-260F-3C58D85A3453}"/>
                </a:ext>
              </a:extLst>
            </p:cNvPr>
            <p:cNvSpPr txBox="1"/>
            <p:nvPr/>
          </p:nvSpPr>
          <p:spPr>
            <a:xfrm>
              <a:off x="2618303" y="2033938"/>
              <a:ext cx="739175" cy="179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P1/2</a:t>
              </a:r>
              <a:endParaRPr kumimoji="0" lang="zh-CN" altLang="en-US" sz="8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sp>
        <p:nvSpPr>
          <p:cNvPr id="145" name="文本框 144">
            <a:extLst>
              <a:ext uri="{FF2B5EF4-FFF2-40B4-BE49-F238E27FC236}">
                <a16:creationId xmlns:a16="http://schemas.microsoft.com/office/drawing/2014/main" id="{34A03E9D-66EB-C10C-07E5-D73D76109403}"/>
              </a:ext>
            </a:extLst>
          </p:cNvPr>
          <p:cNvSpPr txBox="1"/>
          <p:nvPr/>
        </p:nvSpPr>
        <p:spPr>
          <a:xfrm>
            <a:off x="251528" y="1560426"/>
            <a:ext cx="10635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优先级为</a:t>
            </a:r>
            <a:r>
              <a:rPr kumimoji="0" lang="en-US" altLang="zh-CN"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，优先级数字越小优先级越高</a:t>
            </a:r>
          </a:p>
        </p:txBody>
      </p:sp>
      <p:grpSp>
        <p:nvGrpSpPr>
          <p:cNvPr id="13" name="组合 12">
            <a:extLst>
              <a:ext uri="{FF2B5EF4-FFF2-40B4-BE49-F238E27FC236}">
                <a16:creationId xmlns:a16="http://schemas.microsoft.com/office/drawing/2014/main" id="{45D20EB1-63BB-A40B-DE1D-2417CBE9E5BF}"/>
              </a:ext>
            </a:extLst>
          </p:cNvPr>
          <p:cNvGrpSpPr/>
          <p:nvPr/>
        </p:nvGrpSpPr>
        <p:grpSpPr>
          <a:xfrm>
            <a:off x="2695980" y="2812836"/>
            <a:ext cx="6447175" cy="1358800"/>
            <a:chOff x="2876203" y="3414101"/>
            <a:chExt cx="4824233" cy="1500120"/>
          </a:xfrm>
        </p:grpSpPr>
        <p:sp>
          <p:nvSpPr>
            <p:cNvPr id="7" name="任意多边形: 形状 6">
              <a:extLst>
                <a:ext uri="{FF2B5EF4-FFF2-40B4-BE49-F238E27FC236}">
                  <a16:creationId xmlns:a16="http://schemas.microsoft.com/office/drawing/2014/main" id="{32BCA203-9B53-5945-6570-DA6150964DDC}"/>
                </a:ext>
              </a:extLst>
            </p:cNvPr>
            <p:cNvSpPr/>
            <p:nvPr/>
          </p:nvSpPr>
          <p:spPr>
            <a:xfrm>
              <a:off x="2876203" y="3591221"/>
              <a:ext cx="4824233" cy="1323000"/>
            </a:xfrm>
            <a:custGeom>
              <a:avLst/>
              <a:gdLst>
                <a:gd name="connsiteX0" fmla="*/ 0 w 4824233"/>
                <a:gd name="connsiteY0" fmla="*/ 0 h 1323000"/>
                <a:gd name="connsiteX1" fmla="*/ 4824233 w 4824233"/>
                <a:gd name="connsiteY1" fmla="*/ 0 h 1323000"/>
                <a:gd name="connsiteX2" fmla="*/ 4824233 w 4824233"/>
                <a:gd name="connsiteY2" fmla="*/ 1323000 h 1323000"/>
                <a:gd name="connsiteX3" fmla="*/ 0 w 4824233"/>
                <a:gd name="connsiteY3" fmla="*/ 1323000 h 1323000"/>
                <a:gd name="connsiteX4" fmla="*/ 0 w 4824233"/>
                <a:gd name="connsiteY4" fmla="*/ 0 h 132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233" h="1323000">
                  <a:moveTo>
                    <a:pt x="0" y="0"/>
                  </a:moveTo>
                  <a:lnTo>
                    <a:pt x="4824233" y="0"/>
                  </a:lnTo>
                  <a:lnTo>
                    <a:pt x="4824233" y="1323000"/>
                  </a:lnTo>
                  <a:lnTo>
                    <a:pt x="0" y="1323000"/>
                  </a:lnTo>
                  <a:lnTo>
                    <a:pt x="0" y="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4414" tIns="249936" rIns="374414" bIns="85344"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由于在</a:t>
              </a:r>
              <a:r>
                <a:rPr kumimoji="0" lang="en-US" altLang="zh-CN" sz="12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a:t>
              </a:r>
              <a:r>
                <a:rPr kumimoji="0" lang="en-US" sz="12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2</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中</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为共用料，所以把</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优先级设置较低优先级。以此来预防用料偏差。</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产品结构中可能都是共用料，也许从历史用量或者</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parts forecast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量来识别共用料。</a:t>
              </a:r>
            </a:p>
          </p:txBody>
        </p:sp>
        <p:sp>
          <p:nvSpPr>
            <p:cNvPr id="8" name="任意多边形: 形状 7">
              <a:extLst>
                <a:ext uri="{FF2B5EF4-FFF2-40B4-BE49-F238E27FC236}">
                  <a16:creationId xmlns:a16="http://schemas.microsoft.com/office/drawing/2014/main" id="{E70F17A1-DC81-9D20-A2BC-F30870D7704F}"/>
                </a:ext>
              </a:extLst>
            </p:cNvPr>
            <p:cNvSpPr/>
            <p:nvPr/>
          </p:nvSpPr>
          <p:spPr>
            <a:xfrm>
              <a:off x="3117414" y="3414101"/>
              <a:ext cx="3376963" cy="354240"/>
            </a:xfrm>
            <a:custGeom>
              <a:avLst/>
              <a:gdLst>
                <a:gd name="connsiteX0" fmla="*/ 0 w 3376963"/>
                <a:gd name="connsiteY0" fmla="*/ 59041 h 354240"/>
                <a:gd name="connsiteX1" fmla="*/ 59041 w 3376963"/>
                <a:gd name="connsiteY1" fmla="*/ 0 h 354240"/>
                <a:gd name="connsiteX2" fmla="*/ 3317922 w 3376963"/>
                <a:gd name="connsiteY2" fmla="*/ 0 h 354240"/>
                <a:gd name="connsiteX3" fmla="*/ 3376963 w 3376963"/>
                <a:gd name="connsiteY3" fmla="*/ 59041 h 354240"/>
                <a:gd name="connsiteX4" fmla="*/ 3376963 w 3376963"/>
                <a:gd name="connsiteY4" fmla="*/ 295199 h 354240"/>
                <a:gd name="connsiteX5" fmla="*/ 3317922 w 3376963"/>
                <a:gd name="connsiteY5" fmla="*/ 354240 h 354240"/>
                <a:gd name="connsiteX6" fmla="*/ 59041 w 3376963"/>
                <a:gd name="connsiteY6" fmla="*/ 354240 h 354240"/>
                <a:gd name="connsiteX7" fmla="*/ 0 w 3376963"/>
                <a:gd name="connsiteY7" fmla="*/ 295199 h 354240"/>
                <a:gd name="connsiteX8" fmla="*/ 0 w 3376963"/>
                <a:gd name="connsiteY8" fmla="*/ 59041 h 35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963" h="354240">
                  <a:moveTo>
                    <a:pt x="0" y="59041"/>
                  </a:moveTo>
                  <a:cubicBezTo>
                    <a:pt x="0" y="26434"/>
                    <a:pt x="26434" y="0"/>
                    <a:pt x="59041" y="0"/>
                  </a:cubicBezTo>
                  <a:lnTo>
                    <a:pt x="3317922" y="0"/>
                  </a:lnTo>
                  <a:cubicBezTo>
                    <a:pt x="3350529" y="0"/>
                    <a:pt x="3376963" y="26434"/>
                    <a:pt x="3376963" y="59041"/>
                  </a:cubicBezTo>
                  <a:lnTo>
                    <a:pt x="3376963" y="295199"/>
                  </a:lnTo>
                  <a:cubicBezTo>
                    <a:pt x="3376963" y="327806"/>
                    <a:pt x="3350529" y="354240"/>
                    <a:pt x="3317922" y="354240"/>
                  </a:cubicBezTo>
                  <a:lnTo>
                    <a:pt x="59041" y="354240"/>
                  </a:lnTo>
                  <a:cubicBezTo>
                    <a:pt x="26434" y="354240"/>
                    <a:pt x="0" y="327806"/>
                    <a:pt x="0" y="295199"/>
                  </a:cubicBezTo>
                  <a:lnTo>
                    <a:pt x="0" y="5904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4934" tIns="17293" rIns="144934" bIns="17293"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一般性做法</a:t>
              </a:r>
            </a:p>
          </p:txBody>
        </p:sp>
      </p:grpSp>
      <p:grpSp>
        <p:nvGrpSpPr>
          <p:cNvPr id="14" name="组合 13">
            <a:extLst>
              <a:ext uri="{FF2B5EF4-FFF2-40B4-BE49-F238E27FC236}">
                <a16:creationId xmlns:a16="http://schemas.microsoft.com/office/drawing/2014/main" id="{2D25716D-4411-EB7A-EF69-90D0AD78E777}"/>
              </a:ext>
            </a:extLst>
          </p:cNvPr>
          <p:cNvGrpSpPr/>
          <p:nvPr/>
        </p:nvGrpSpPr>
        <p:grpSpPr>
          <a:xfrm>
            <a:off x="2694557" y="4186212"/>
            <a:ext cx="6447175" cy="1094755"/>
            <a:chOff x="2876203" y="4979021"/>
            <a:chExt cx="4824233" cy="1273321"/>
          </a:xfrm>
        </p:grpSpPr>
        <p:sp>
          <p:nvSpPr>
            <p:cNvPr id="11" name="任意多边形: 形状 10">
              <a:extLst>
                <a:ext uri="{FF2B5EF4-FFF2-40B4-BE49-F238E27FC236}">
                  <a16:creationId xmlns:a16="http://schemas.microsoft.com/office/drawing/2014/main" id="{5BC95CC7-2731-65A4-B1F4-AFAB8396B963}"/>
                </a:ext>
              </a:extLst>
            </p:cNvPr>
            <p:cNvSpPr/>
            <p:nvPr/>
          </p:nvSpPr>
          <p:spPr>
            <a:xfrm>
              <a:off x="2876203" y="5156142"/>
              <a:ext cx="4824233" cy="1096200"/>
            </a:xfrm>
            <a:custGeom>
              <a:avLst/>
              <a:gdLst>
                <a:gd name="connsiteX0" fmla="*/ 0 w 4824233"/>
                <a:gd name="connsiteY0" fmla="*/ 0 h 1096200"/>
                <a:gd name="connsiteX1" fmla="*/ 4824233 w 4824233"/>
                <a:gd name="connsiteY1" fmla="*/ 0 h 1096200"/>
                <a:gd name="connsiteX2" fmla="*/ 4824233 w 4824233"/>
                <a:gd name="connsiteY2" fmla="*/ 1096200 h 1096200"/>
                <a:gd name="connsiteX3" fmla="*/ 0 w 4824233"/>
                <a:gd name="connsiteY3" fmla="*/ 1096200 h 1096200"/>
                <a:gd name="connsiteX4" fmla="*/ 0 w 4824233"/>
                <a:gd name="connsiteY4" fmla="*/ 0 h 109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233" h="1096200">
                  <a:moveTo>
                    <a:pt x="0" y="0"/>
                  </a:moveTo>
                  <a:lnTo>
                    <a:pt x="4824233" y="0"/>
                  </a:lnTo>
                  <a:lnTo>
                    <a:pt x="4824233" y="1096200"/>
                  </a:lnTo>
                  <a:lnTo>
                    <a:pt x="0" y="1096200"/>
                  </a:lnTo>
                  <a:lnTo>
                    <a:pt x="0" y="0"/>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4414" tIns="249936" rIns="374414" bIns="85344"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大概率找不到所谓共用料。</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由于欠料</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/Missing</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与订单计划</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排产频次不同，也就是说订单计划的需求范围会大于欠料</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/Missing</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，依然会买错用错。</a:t>
              </a:r>
            </a:p>
          </p:txBody>
        </p:sp>
        <p:sp>
          <p:nvSpPr>
            <p:cNvPr id="12" name="任意多边形: 形状 11">
              <a:extLst>
                <a:ext uri="{FF2B5EF4-FFF2-40B4-BE49-F238E27FC236}">
                  <a16:creationId xmlns:a16="http://schemas.microsoft.com/office/drawing/2014/main" id="{1BEB0301-9297-CD76-4911-BD54346E203F}"/>
                </a:ext>
              </a:extLst>
            </p:cNvPr>
            <p:cNvSpPr/>
            <p:nvPr/>
          </p:nvSpPr>
          <p:spPr>
            <a:xfrm>
              <a:off x="3117414" y="4979021"/>
              <a:ext cx="3376963" cy="354240"/>
            </a:xfrm>
            <a:custGeom>
              <a:avLst/>
              <a:gdLst>
                <a:gd name="connsiteX0" fmla="*/ 0 w 3376963"/>
                <a:gd name="connsiteY0" fmla="*/ 59041 h 354240"/>
                <a:gd name="connsiteX1" fmla="*/ 59041 w 3376963"/>
                <a:gd name="connsiteY1" fmla="*/ 0 h 354240"/>
                <a:gd name="connsiteX2" fmla="*/ 3317922 w 3376963"/>
                <a:gd name="connsiteY2" fmla="*/ 0 h 354240"/>
                <a:gd name="connsiteX3" fmla="*/ 3376963 w 3376963"/>
                <a:gd name="connsiteY3" fmla="*/ 59041 h 354240"/>
                <a:gd name="connsiteX4" fmla="*/ 3376963 w 3376963"/>
                <a:gd name="connsiteY4" fmla="*/ 295199 h 354240"/>
                <a:gd name="connsiteX5" fmla="*/ 3317922 w 3376963"/>
                <a:gd name="connsiteY5" fmla="*/ 354240 h 354240"/>
                <a:gd name="connsiteX6" fmla="*/ 59041 w 3376963"/>
                <a:gd name="connsiteY6" fmla="*/ 354240 h 354240"/>
                <a:gd name="connsiteX7" fmla="*/ 0 w 3376963"/>
                <a:gd name="connsiteY7" fmla="*/ 295199 h 354240"/>
                <a:gd name="connsiteX8" fmla="*/ 0 w 3376963"/>
                <a:gd name="connsiteY8" fmla="*/ 59041 h 35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963" h="354240">
                  <a:moveTo>
                    <a:pt x="0" y="59041"/>
                  </a:moveTo>
                  <a:cubicBezTo>
                    <a:pt x="0" y="26434"/>
                    <a:pt x="26434" y="0"/>
                    <a:pt x="59041" y="0"/>
                  </a:cubicBezTo>
                  <a:lnTo>
                    <a:pt x="3317922" y="0"/>
                  </a:lnTo>
                  <a:cubicBezTo>
                    <a:pt x="3350529" y="0"/>
                    <a:pt x="3376963" y="26434"/>
                    <a:pt x="3376963" y="59041"/>
                  </a:cubicBezTo>
                  <a:lnTo>
                    <a:pt x="3376963" y="295199"/>
                  </a:lnTo>
                  <a:cubicBezTo>
                    <a:pt x="3376963" y="327806"/>
                    <a:pt x="3350529" y="354240"/>
                    <a:pt x="3317922" y="354240"/>
                  </a:cubicBezTo>
                  <a:lnTo>
                    <a:pt x="59041" y="354240"/>
                  </a:lnTo>
                  <a:cubicBezTo>
                    <a:pt x="26434" y="354240"/>
                    <a:pt x="0" y="327806"/>
                    <a:pt x="0" y="295199"/>
                  </a:cubicBezTo>
                  <a:lnTo>
                    <a:pt x="0" y="59041"/>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44934" tIns="17293" rIns="144934" bIns="17293"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zh-CN" altLang="en-US" sz="1200" b="1"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问题</a:t>
              </a:r>
            </a:p>
          </p:txBody>
        </p:sp>
      </p:grpSp>
      <p:grpSp>
        <p:nvGrpSpPr>
          <p:cNvPr id="15" name="组合 14">
            <a:extLst>
              <a:ext uri="{FF2B5EF4-FFF2-40B4-BE49-F238E27FC236}">
                <a16:creationId xmlns:a16="http://schemas.microsoft.com/office/drawing/2014/main" id="{63310688-D33B-258B-00EC-CA42A82EF056}"/>
              </a:ext>
            </a:extLst>
          </p:cNvPr>
          <p:cNvGrpSpPr/>
          <p:nvPr/>
        </p:nvGrpSpPr>
        <p:grpSpPr>
          <a:xfrm>
            <a:off x="2694557" y="5325834"/>
            <a:ext cx="6577556" cy="1060218"/>
            <a:chOff x="2876203" y="4979021"/>
            <a:chExt cx="4921793" cy="938080"/>
          </a:xfrm>
        </p:grpSpPr>
        <p:sp>
          <p:nvSpPr>
            <p:cNvPr id="16" name="任意多边形: 形状 15">
              <a:extLst>
                <a:ext uri="{FF2B5EF4-FFF2-40B4-BE49-F238E27FC236}">
                  <a16:creationId xmlns:a16="http://schemas.microsoft.com/office/drawing/2014/main" id="{0D91FCCB-43A7-C119-C04A-AA3FA023DBE4}"/>
                </a:ext>
              </a:extLst>
            </p:cNvPr>
            <p:cNvSpPr/>
            <p:nvPr/>
          </p:nvSpPr>
          <p:spPr>
            <a:xfrm>
              <a:off x="2876203" y="5156142"/>
              <a:ext cx="4921793" cy="760959"/>
            </a:xfrm>
            <a:custGeom>
              <a:avLst/>
              <a:gdLst>
                <a:gd name="connsiteX0" fmla="*/ 0 w 4824233"/>
                <a:gd name="connsiteY0" fmla="*/ 0 h 1096200"/>
                <a:gd name="connsiteX1" fmla="*/ 4824233 w 4824233"/>
                <a:gd name="connsiteY1" fmla="*/ 0 h 1096200"/>
                <a:gd name="connsiteX2" fmla="*/ 4824233 w 4824233"/>
                <a:gd name="connsiteY2" fmla="*/ 1096200 h 1096200"/>
                <a:gd name="connsiteX3" fmla="*/ 0 w 4824233"/>
                <a:gd name="connsiteY3" fmla="*/ 1096200 h 1096200"/>
                <a:gd name="connsiteX4" fmla="*/ 0 w 4824233"/>
                <a:gd name="connsiteY4" fmla="*/ 0 h 109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233" h="1096200">
                  <a:moveTo>
                    <a:pt x="0" y="0"/>
                  </a:moveTo>
                  <a:lnTo>
                    <a:pt x="4824233" y="0"/>
                  </a:lnTo>
                  <a:lnTo>
                    <a:pt x="4824233" y="1096200"/>
                  </a:lnTo>
                  <a:lnTo>
                    <a:pt x="0" y="1096200"/>
                  </a:lnTo>
                  <a:lnTo>
                    <a:pt x="0" y="0"/>
                  </a:lnTo>
                  <a:close/>
                </a:path>
              </a:pathLst>
            </a:custGeom>
            <a:ln>
              <a:solidFill>
                <a:srgbClr val="00B050"/>
              </a:solidFill>
            </a:ln>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74414" tIns="249936" rIns="374414" bIns="85344"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和缺料</a:t>
              </a: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t>
              </a: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欠料分析中的拉料也是分配</a:t>
              </a:r>
              <a:endPar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物料的分配有专属性需要继承</a:t>
              </a:r>
            </a:p>
          </p:txBody>
        </p:sp>
        <p:sp>
          <p:nvSpPr>
            <p:cNvPr id="17" name="任意多边形: 形状 16">
              <a:extLst>
                <a:ext uri="{FF2B5EF4-FFF2-40B4-BE49-F238E27FC236}">
                  <a16:creationId xmlns:a16="http://schemas.microsoft.com/office/drawing/2014/main" id="{D8A8653B-F35A-C7CF-5F62-261B104B39A7}"/>
                </a:ext>
              </a:extLst>
            </p:cNvPr>
            <p:cNvSpPr/>
            <p:nvPr/>
          </p:nvSpPr>
          <p:spPr>
            <a:xfrm>
              <a:off x="3117414" y="4979021"/>
              <a:ext cx="3376963" cy="354240"/>
            </a:xfrm>
            <a:custGeom>
              <a:avLst/>
              <a:gdLst>
                <a:gd name="connsiteX0" fmla="*/ 0 w 3376963"/>
                <a:gd name="connsiteY0" fmla="*/ 59041 h 354240"/>
                <a:gd name="connsiteX1" fmla="*/ 59041 w 3376963"/>
                <a:gd name="connsiteY1" fmla="*/ 0 h 354240"/>
                <a:gd name="connsiteX2" fmla="*/ 3317922 w 3376963"/>
                <a:gd name="connsiteY2" fmla="*/ 0 h 354240"/>
                <a:gd name="connsiteX3" fmla="*/ 3376963 w 3376963"/>
                <a:gd name="connsiteY3" fmla="*/ 59041 h 354240"/>
                <a:gd name="connsiteX4" fmla="*/ 3376963 w 3376963"/>
                <a:gd name="connsiteY4" fmla="*/ 295199 h 354240"/>
                <a:gd name="connsiteX5" fmla="*/ 3317922 w 3376963"/>
                <a:gd name="connsiteY5" fmla="*/ 354240 h 354240"/>
                <a:gd name="connsiteX6" fmla="*/ 59041 w 3376963"/>
                <a:gd name="connsiteY6" fmla="*/ 354240 h 354240"/>
                <a:gd name="connsiteX7" fmla="*/ 0 w 3376963"/>
                <a:gd name="connsiteY7" fmla="*/ 295199 h 354240"/>
                <a:gd name="connsiteX8" fmla="*/ 0 w 3376963"/>
                <a:gd name="connsiteY8" fmla="*/ 59041 h 35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963" h="354240">
                  <a:moveTo>
                    <a:pt x="0" y="59041"/>
                  </a:moveTo>
                  <a:cubicBezTo>
                    <a:pt x="0" y="26434"/>
                    <a:pt x="26434" y="0"/>
                    <a:pt x="59041" y="0"/>
                  </a:cubicBezTo>
                  <a:lnTo>
                    <a:pt x="3317922" y="0"/>
                  </a:lnTo>
                  <a:cubicBezTo>
                    <a:pt x="3350529" y="0"/>
                    <a:pt x="3376963" y="26434"/>
                    <a:pt x="3376963" y="59041"/>
                  </a:cubicBezTo>
                  <a:lnTo>
                    <a:pt x="3376963" y="295199"/>
                  </a:lnTo>
                  <a:cubicBezTo>
                    <a:pt x="3376963" y="327806"/>
                    <a:pt x="3350529" y="354240"/>
                    <a:pt x="3317922" y="354240"/>
                  </a:cubicBezTo>
                  <a:lnTo>
                    <a:pt x="59041" y="354240"/>
                  </a:lnTo>
                  <a:cubicBezTo>
                    <a:pt x="26434" y="354240"/>
                    <a:pt x="0" y="327806"/>
                    <a:pt x="0" y="295199"/>
                  </a:cubicBezTo>
                  <a:lnTo>
                    <a:pt x="0" y="59041"/>
                  </a:lnTo>
                  <a:close/>
                </a:path>
              </a:pathLst>
            </a:custGeom>
            <a:solidFill>
              <a:srgbClr val="00B05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44934" tIns="17293" rIns="144934" bIns="17293"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发现</a:t>
              </a:r>
            </a:p>
          </p:txBody>
        </p:sp>
      </p:grpSp>
    </p:spTree>
    <p:extLst>
      <p:ext uri="{BB962C8B-B14F-4D97-AF65-F5344CB8AC3E}">
        <p14:creationId xmlns:p14="http://schemas.microsoft.com/office/powerpoint/2010/main" val="19298542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B11C7B-02A8-9E50-D680-957433E4AF51}"/>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不完全替代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进一步分析</a:t>
            </a:r>
          </a:p>
        </p:txBody>
      </p:sp>
      <p:sp>
        <p:nvSpPr>
          <p:cNvPr id="3" name="文本框 2">
            <a:extLst>
              <a:ext uri="{FF2B5EF4-FFF2-40B4-BE49-F238E27FC236}">
                <a16:creationId xmlns:a16="http://schemas.microsoft.com/office/drawing/2014/main" id="{F0FB7EE4-8472-E0A7-7B75-431778B28307}"/>
              </a:ext>
            </a:extLst>
          </p:cNvPr>
          <p:cNvSpPr txBox="1"/>
          <p:nvPr/>
        </p:nvSpPr>
        <p:spPr>
          <a:xfrm>
            <a:off x="1358346" y="987287"/>
            <a:ext cx="861391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和物料为唯一标识，其分配</a:t>
            </a:r>
            <a:r>
              <a:rPr kumimoji="0" lang="en-US" altLang="zh-CN" sz="1800" b="1" i="0" u="none" strike="noStrike" kern="1200" cap="none" spc="0" normalizeH="0" baseline="0" noProof="0" dirty="0">
                <a:ln>
                  <a:noFill/>
                </a:ln>
                <a:solidFill>
                  <a:srgbClr val="2643B2"/>
                </a:solidFill>
                <a:effectLst/>
                <a:uLnTx/>
                <a:uFillTx/>
                <a:latin typeface="Arial" panose="020B0604020202020204" pitchFamily="34" charset="0"/>
                <a:ea typeface="微软雅黑" panose="020B0503020204020204" pitchFamily="34" charset="-122"/>
                <a:cs typeface="+mn-cs"/>
              </a:rPr>
              <a:t>allocation</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需要作为</a:t>
            </a:r>
            <a:r>
              <a:rPr kumimoji="0" lang="en-US" altLang="zh-CN" sz="1800" b="1" i="0" u="none" strike="noStrike" kern="1200" cap="none" spc="0" normalizeH="0" baseline="0" noProof="0" dirty="0">
                <a:ln>
                  <a:noFill/>
                </a:ln>
                <a:solidFill>
                  <a:srgbClr val="2643B2"/>
                </a:solidFill>
                <a:effectLst/>
                <a:uLnTx/>
                <a:uFillTx/>
                <a:latin typeface="Arial" panose="020B0604020202020204" pitchFamily="34" charset="0"/>
                <a:ea typeface="微软雅黑" panose="020B0503020204020204" pitchFamily="34" charset="-122"/>
                <a:cs typeface="+mn-cs"/>
              </a:rPr>
              <a:t>allotment</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被继承被</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respect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8" name="表格 7">
            <a:extLst>
              <a:ext uri="{FF2B5EF4-FFF2-40B4-BE49-F238E27FC236}">
                <a16:creationId xmlns:a16="http://schemas.microsoft.com/office/drawing/2014/main" id="{338F6D3C-4BD4-BC50-2581-E19ADB52D28A}"/>
              </a:ext>
            </a:extLst>
          </p:cNvPr>
          <p:cNvGraphicFramePr>
            <a:graphicFrameLocks noGrp="1"/>
          </p:cNvGraphicFramePr>
          <p:nvPr>
            <p:extLst>
              <p:ext uri="{D42A27DB-BD31-4B8C-83A1-F6EECF244321}">
                <p14:modId xmlns:p14="http://schemas.microsoft.com/office/powerpoint/2010/main" val="2870162450"/>
              </p:ext>
            </p:extLst>
          </p:nvPr>
        </p:nvGraphicFramePr>
        <p:xfrm>
          <a:off x="1910784" y="1684007"/>
          <a:ext cx="8666570" cy="2157415"/>
        </p:xfrm>
        <a:graphic>
          <a:graphicData uri="http://schemas.openxmlformats.org/drawingml/2006/table">
            <a:tbl>
              <a:tblPr firstRow="1">
                <a:tableStyleId>{69012ECD-51FC-41F1-AA8D-1B2483CD663E}</a:tableStyleId>
              </a:tblPr>
              <a:tblGrid>
                <a:gridCol w="1249364">
                  <a:extLst>
                    <a:ext uri="{9D8B030D-6E8A-4147-A177-3AD203B41FA5}">
                      <a16:colId xmlns:a16="http://schemas.microsoft.com/office/drawing/2014/main" val="440275212"/>
                    </a:ext>
                  </a:extLst>
                </a:gridCol>
                <a:gridCol w="314326">
                  <a:extLst>
                    <a:ext uri="{9D8B030D-6E8A-4147-A177-3AD203B41FA5}">
                      <a16:colId xmlns:a16="http://schemas.microsoft.com/office/drawing/2014/main" val="1734425430"/>
                    </a:ext>
                  </a:extLst>
                </a:gridCol>
                <a:gridCol w="1141414">
                  <a:extLst>
                    <a:ext uri="{9D8B030D-6E8A-4147-A177-3AD203B41FA5}">
                      <a16:colId xmlns:a16="http://schemas.microsoft.com/office/drawing/2014/main" val="749023830"/>
                    </a:ext>
                  </a:extLst>
                </a:gridCol>
                <a:gridCol w="323851">
                  <a:extLst>
                    <a:ext uri="{9D8B030D-6E8A-4147-A177-3AD203B41FA5}">
                      <a16:colId xmlns:a16="http://schemas.microsoft.com/office/drawing/2014/main" val="1445519153"/>
                    </a:ext>
                  </a:extLst>
                </a:gridCol>
                <a:gridCol w="1223964">
                  <a:extLst>
                    <a:ext uri="{9D8B030D-6E8A-4147-A177-3AD203B41FA5}">
                      <a16:colId xmlns:a16="http://schemas.microsoft.com/office/drawing/2014/main" val="2409092662"/>
                    </a:ext>
                  </a:extLst>
                </a:gridCol>
                <a:gridCol w="949723">
                  <a:extLst>
                    <a:ext uri="{9D8B030D-6E8A-4147-A177-3AD203B41FA5}">
                      <a16:colId xmlns:a16="http://schemas.microsoft.com/office/drawing/2014/main" val="2115952320"/>
                    </a:ext>
                  </a:extLst>
                </a:gridCol>
                <a:gridCol w="1155701">
                  <a:extLst>
                    <a:ext uri="{9D8B030D-6E8A-4147-A177-3AD203B41FA5}">
                      <a16:colId xmlns:a16="http://schemas.microsoft.com/office/drawing/2014/main" val="3764490461"/>
                    </a:ext>
                  </a:extLst>
                </a:gridCol>
                <a:gridCol w="1254126">
                  <a:extLst>
                    <a:ext uri="{9D8B030D-6E8A-4147-A177-3AD203B41FA5}">
                      <a16:colId xmlns:a16="http://schemas.microsoft.com/office/drawing/2014/main" val="249532658"/>
                    </a:ext>
                  </a:extLst>
                </a:gridCol>
                <a:gridCol w="1054101">
                  <a:extLst>
                    <a:ext uri="{9D8B030D-6E8A-4147-A177-3AD203B41FA5}">
                      <a16:colId xmlns:a16="http://schemas.microsoft.com/office/drawing/2014/main" val="3218481998"/>
                    </a:ext>
                  </a:extLst>
                </a:gridCol>
              </a:tblGrid>
              <a:tr h="230257">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Requested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OH</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Planned Order</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Comments</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Allocated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Surplus Supply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Net Req Qty</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766227"/>
                  </a:ext>
                </a:extLst>
              </a:tr>
              <a:tr h="404638">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50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40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i="0" u="none" strike="noStrike" dirty="0">
                          <a:solidFill>
                            <a:schemeClr val="tx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tx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tx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50+40=90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472933"/>
                  </a:ext>
                </a:extLst>
              </a:tr>
              <a:tr h="404638">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tx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tx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tx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30+0=30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464701"/>
                  </a:ext>
                </a:extLst>
              </a:tr>
              <a:tr h="404638">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tx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tx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tx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0+20=20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4599421"/>
                  </a:ext>
                </a:extLst>
              </a:tr>
              <a:tr h="404638">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dirty="0">
                          <a:solidFill>
                            <a:schemeClr val="tx1"/>
                          </a:solidFill>
                          <a:effectLst/>
                          <a:latin typeface="Arial" panose="020B0604020202020204" pitchFamily="34" charset="0"/>
                          <a:ea typeface="微软雅黑" panose="020B0503020204020204" pitchFamily="34" charset="-122"/>
                        </a:rPr>
                        <a:t>P3</a:t>
                      </a:r>
                      <a:endParaRPr 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32" rtl="0" eaLnBrk="1" fontAlgn="b" latinLnBrk="0" hangingPunct="1">
                        <a:lnSpc>
                          <a:spcPct val="100000"/>
                        </a:lnSpc>
                        <a:spcBef>
                          <a:spcPts val="0"/>
                        </a:spcBef>
                        <a:spcAft>
                          <a:spcPts val="0"/>
                        </a:spcAft>
                        <a:buClrTx/>
                        <a:buSzTx/>
                        <a:buFontTx/>
                        <a:buNone/>
                        <a:tabLst/>
                        <a:defRPr/>
                      </a:pPr>
                      <a:r>
                        <a:rPr lang="zh-CN" altLang="en-US" sz="1400" b="0" i="0" u="none" strike="noStrike" dirty="0">
                          <a:solidFill>
                            <a:schemeClr val="tx1"/>
                          </a:solidFill>
                          <a:effectLst/>
                          <a:latin typeface="Arial" panose="020B0604020202020204" pitchFamily="34" charset="0"/>
                          <a:ea typeface="微软雅黑" panose="020B0503020204020204" pitchFamily="34" charset="-122"/>
                        </a:rPr>
                        <a:t>根据</a:t>
                      </a:r>
                      <a:r>
                        <a:rPr lang="en-US" altLang="zh-CN" sz="1400" b="0" i="0" u="none" strike="noStrike" dirty="0">
                          <a:solidFill>
                            <a:schemeClr val="tx1"/>
                          </a:solidFill>
                          <a:effectLst/>
                          <a:latin typeface="Arial" panose="020B0604020202020204" pitchFamily="34" charset="0"/>
                          <a:ea typeface="微软雅黑" panose="020B0503020204020204" pitchFamily="34" charset="-122"/>
                        </a:rPr>
                        <a:t>source</a:t>
                      </a:r>
                      <a:r>
                        <a:rPr lang="zh-CN" altLang="en-US" sz="1400" b="0" i="0" u="none" strike="noStrike" dirty="0">
                          <a:solidFill>
                            <a:schemeClr val="tx1"/>
                          </a:solidFill>
                          <a:effectLst/>
                          <a:latin typeface="Arial" panose="020B0604020202020204" pitchFamily="34" charset="0"/>
                          <a:ea typeface="微软雅黑" panose="020B0503020204020204" pitchFamily="34" charset="-122"/>
                        </a:rPr>
                        <a:t>规则</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80+0=80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034744"/>
                  </a:ext>
                </a:extLst>
              </a:tr>
            </a:tbl>
          </a:graphicData>
        </a:graphic>
      </p:graphicFrame>
      <p:graphicFrame>
        <p:nvGraphicFramePr>
          <p:cNvPr id="9" name="表格 8">
            <a:extLst>
              <a:ext uri="{FF2B5EF4-FFF2-40B4-BE49-F238E27FC236}">
                <a16:creationId xmlns:a16="http://schemas.microsoft.com/office/drawing/2014/main" id="{EDDB85A3-2A64-BCB4-7804-DA262258F7DB}"/>
              </a:ext>
            </a:extLst>
          </p:cNvPr>
          <p:cNvGraphicFramePr>
            <a:graphicFrameLocks noGrp="1"/>
          </p:cNvGraphicFramePr>
          <p:nvPr>
            <p:extLst>
              <p:ext uri="{D42A27DB-BD31-4B8C-83A1-F6EECF244321}">
                <p14:modId xmlns:p14="http://schemas.microsoft.com/office/powerpoint/2010/main" val="1554678719"/>
              </p:ext>
            </p:extLst>
          </p:nvPr>
        </p:nvGraphicFramePr>
        <p:xfrm>
          <a:off x="1910784" y="4021904"/>
          <a:ext cx="2611441" cy="1848809"/>
        </p:xfrm>
        <a:graphic>
          <a:graphicData uri="http://schemas.openxmlformats.org/drawingml/2006/table">
            <a:tbl>
              <a:tblPr firstRow="1">
                <a:tableStyleId>{69012ECD-51FC-41F1-AA8D-1B2483CD663E}</a:tableStyleId>
              </a:tblPr>
              <a:tblGrid>
                <a:gridCol w="314326">
                  <a:extLst>
                    <a:ext uri="{9D8B030D-6E8A-4147-A177-3AD203B41FA5}">
                      <a16:colId xmlns:a16="http://schemas.microsoft.com/office/drawing/2014/main" val="1734425430"/>
                    </a:ext>
                  </a:extLst>
                </a:gridCol>
                <a:gridCol w="1141414">
                  <a:extLst>
                    <a:ext uri="{9D8B030D-6E8A-4147-A177-3AD203B41FA5}">
                      <a16:colId xmlns:a16="http://schemas.microsoft.com/office/drawing/2014/main" val="749023830"/>
                    </a:ext>
                  </a:extLst>
                </a:gridCol>
                <a:gridCol w="1155701">
                  <a:extLst>
                    <a:ext uri="{9D8B030D-6E8A-4147-A177-3AD203B41FA5}">
                      <a16:colId xmlns:a16="http://schemas.microsoft.com/office/drawing/2014/main" val="3764490461"/>
                    </a:ext>
                  </a:extLst>
                </a:gridCol>
              </a:tblGrid>
              <a:tr h="230257">
                <a:tc>
                  <a:txBody>
                    <a:bodyPr/>
                    <a:lstStyle/>
                    <a:p>
                      <a:pPr algn="l" fontAlgn="b"/>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643B2"/>
                    </a:solidFill>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643B2"/>
                    </a:solidFill>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Allotment</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643B2"/>
                    </a:solidFill>
                  </a:tcPr>
                </a:tc>
                <a:extLst>
                  <a:ext uri="{0D108BD9-81ED-4DB2-BD59-A6C34878D82A}">
                    <a16:rowId xmlns:a16="http://schemas.microsoft.com/office/drawing/2014/main" val="712766227"/>
                  </a:ext>
                </a:extLst>
              </a:tr>
              <a:tr h="404638">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90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472933"/>
                  </a:ext>
                </a:extLst>
              </a:tr>
              <a:tr h="404638">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464701"/>
                  </a:ext>
                </a:extLst>
              </a:tr>
              <a:tr h="404638">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4599421"/>
                  </a:ext>
                </a:extLst>
              </a:tr>
              <a:tr h="404638">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80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034744"/>
                  </a:ext>
                </a:extLst>
              </a:tr>
            </a:tbl>
          </a:graphicData>
        </a:graphic>
      </p:graphicFrame>
      <p:sp>
        <p:nvSpPr>
          <p:cNvPr id="10" name="文本框 9">
            <a:extLst>
              <a:ext uri="{FF2B5EF4-FFF2-40B4-BE49-F238E27FC236}">
                <a16:creationId xmlns:a16="http://schemas.microsoft.com/office/drawing/2014/main" id="{258CA5A8-5311-6DD6-8051-7855DDB49F60}"/>
              </a:ext>
            </a:extLst>
          </p:cNvPr>
          <p:cNvSpPr txBox="1"/>
          <p:nvPr/>
        </p:nvSpPr>
        <p:spPr>
          <a:xfrm>
            <a:off x="242735" y="1633618"/>
            <a:ext cx="17782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第一次运算的</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a:t>
            </a: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欠料分析</a:t>
            </a:r>
          </a:p>
        </p:txBody>
      </p:sp>
      <p:sp>
        <p:nvSpPr>
          <p:cNvPr id="11" name="文本框 10">
            <a:extLst>
              <a:ext uri="{FF2B5EF4-FFF2-40B4-BE49-F238E27FC236}">
                <a16:creationId xmlns:a16="http://schemas.microsoft.com/office/drawing/2014/main" id="{9C615E08-E970-60F4-CCD4-50A710A59F6C}"/>
              </a:ext>
            </a:extLst>
          </p:cNvPr>
          <p:cNvSpPr txBox="1"/>
          <p:nvPr/>
        </p:nvSpPr>
        <p:spPr>
          <a:xfrm>
            <a:off x="377687" y="4021904"/>
            <a:ext cx="1119809" cy="646331"/>
          </a:xfrm>
          <a:prstGeom prst="rect">
            <a:avLst/>
          </a:prstGeom>
          <a:noFill/>
        </p:spPr>
        <p:txBody>
          <a:bodyPr wrap="square" rtlCol="0">
            <a:spAutoFit/>
          </a:bodyPr>
          <a:lstStyle>
            <a:defPPr>
              <a:defRPr lang="zh-CN"/>
            </a:defPPr>
            <a:lvl1pPr>
              <a:defRPr sz="1200">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分配的结果转化成配额</a:t>
            </a: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Allotment</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B177966E-0C5F-2D72-99A5-42D6D7DEAE2D}"/>
              </a:ext>
            </a:extLst>
          </p:cNvPr>
          <p:cNvSpPr txBox="1"/>
          <p:nvPr/>
        </p:nvSpPr>
        <p:spPr>
          <a:xfrm>
            <a:off x="5757856" y="5173993"/>
            <a:ext cx="471777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对于</a:t>
            </a:r>
            <a:r>
              <a:rPr kumimoji="0" lang="en-US" altLang="zh-CN" sz="1800" b="1" i="0" u="none" strike="noStrike" kern="1200" cap="none" spc="0" normalizeH="0" baseline="0" noProof="0" dirty="0" err="1">
                <a:ln>
                  <a:noFill/>
                </a:ln>
                <a:solidFill>
                  <a:srgbClr val="FFFFFF"/>
                </a:solidFill>
                <a:effectLst/>
                <a:uLnTx/>
                <a:uFillTx/>
                <a:latin typeface="Arial" panose="020B0604020202020204" pitchFamily="34" charset="0"/>
                <a:ea typeface="微软雅黑" panose="020B0503020204020204" pitchFamily="34" charset="-122"/>
                <a:cs typeface="+mn-cs"/>
              </a:rPr>
              <a:t>alg</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 1</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来说</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的配额是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90.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是所有</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supply</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的汇总，并不需要逐条匹配。</a:t>
            </a:r>
          </a:p>
        </p:txBody>
      </p:sp>
    </p:spTree>
    <p:extLst>
      <p:ext uri="{BB962C8B-B14F-4D97-AF65-F5344CB8AC3E}">
        <p14:creationId xmlns:p14="http://schemas.microsoft.com/office/powerpoint/2010/main" val="108208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913B3-C8FB-9088-0B6E-771BD93F35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167615-D02A-0E9F-0672-180052230E2A}"/>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不完全替代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动态分配步骤一</a:t>
            </a:r>
          </a:p>
        </p:txBody>
      </p:sp>
      <p:graphicFrame>
        <p:nvGraphicFramePr>
          <p:cNvPr id="6" name="表格 5">
            <a:extLst>
              <a:ext uri="{FF2B5EF4-FFF2-40B4-BE49-F238E27FC236}">
                <a16:creationId xmlns:a16="http://schemas.microsoft.com/office/drawing/2014/main" id="{8DD5E2E8-8077-41AE-1BAE-E584B830D8F8}"/>
              </a:ext>
            </a:extLst>
          </p:cNvPr>
          <p:cNvGraphicFramePr>
            <a:graphicFrameLocks noGrp="1"/>
          </p:cNvGraphicFramePr>
          <p:nvPr>
            <p:extLst>
              <p:ext uri="{D42A27DB-BD31-4B8C-83A1-F6EECF244321}">
                <p14:modId xmlns:p14="http://schemas.microsoft.com/office/powerpoint/2010/main" val="1690208290"/>
              </p:ext>
            </p:extLst>
          </p:nvPr>
        </p:nvGraphicFramePr>
        <p:xfrm>
          <a:off x="886690" y="2676831"/>
          <a:ext cx="10159850" cy="3856704"/>
        </p:xfrm>
        <a:graphic>
          <a:graphicData uri="http://schemas.openxmlformats.org/drawingml/2006/table">
            <a:tbl>
              <a:tblPr firstRow="1">
                <a:tableStyleId>{69012ECD-51FC-41F1-AA8D-1B2483CD663E}</a:tableStyleId>
              </a:tblPr>
              <a:tblGrid>
                <a:gridCol w="1184387">
                  <a:extLst>
                    <a:ext uri="{9D8B030D-6E8A-4147-A177-3AD203B41FA5}">
                      <a16:colId xmlns:a16="http://schemas.microsoft.com/office/drawing/2014/main" val="1681094595"/>
                    </a:ext>
                  </a:extLst>
                </a:gridCol>
                <a:gridCol w="552715">
                  <a:extLst>
                    <a:ext uri="{9D8B030D-6E8A-4147-A177-3AD203B41FA5}">
                      <a16:colId xmlns:a16="http://schemas.microsoft.com/office/drawing/2014/main" val="3390090867"/>
                    </a:ext>
                  </a:extLst>
                </a:gridCol>
                <a:gridCol w="1831343">
                  <a:extLst>
                    <a:ext uri="{9D8B030D-6E8A-4147-A177-3AD203B41FA5}">
                      <a16:colId xmlns:a16="http://schemas.microsoft.com/office/drawing/2014/main" val="2954007409"/>
                    </a:ext>
                  </a:extLst>
                </a:gridCol>
                <a:gridCol w="1958695">
                  <a:extLst>
                    <a:ext uri="{9D8B030D-6E8A-4147-A177-3AD203B41FA5}">
                      <a16:colId xmlns:a16="http://schemas.microsoft.com/office/drawing/2014/main" val="2032591101"/>
                    </a:ext>
                  </a:extLst>
                </a:gridCol>
                <a:gridCol w="1151276">
                  <a:extLst>
                    <a:ext uri="{9D8B030D-6E8A-4147-A177-3AD203B41FA5}">
                      <a16:colId xmlns:a16="http://schemas.microsoft.com/office/drawing/2014/main" val="2757897121"/>
                    </a:ext>
                  </a:extLst>
                </a:gridCol>
                <a:gridCol w="1774899">
                  <a:extLst>
                    <a:ext uri="{9D8B030D-6E8A-4147-A177-3AD203B41FA5}">
                      <a16:colId xmlns:a16="http://schemas.microsoft.com/office/drawing/2014/main" val="732837321"/>
                    </a:ext>
                  </a:extLst>
                </a:gridCol>
                <a:gridCol w="1706535">
                  <a:extLst>
                    <a:ext uri="{9D8B030D-6E8A-4147-A177-3AD203B41FA5}">
                      <a16:colId xmlns:a16="http://schemas.microsoft.com/office/drawing/2014/main" val="137730239"/>
                    </a:ext>
                  </a:extLst>
                </a:gridCol>
              </a:tblGrid>
              <a:tr h="460584">
                <a:tc>
                  <a:txBody>
                    <a:bodyPr/>
                    <a:lstStyle/>
                    <a:p>
                      <a:pPr algn="l" fontAlgn="b"/>
                      <a:r>
                        <a:rPr lang="en-US" sz="1400" b="1" u="none" strike="noStrike">
                          <a:solidFill>
                            <a:schemeClr val="tx1"/>
                          </a:solidFill>
                          <a:effectLst/>
                          <a:latin typeface="Arial" panose="020B0604020202020204" pitchFamily="34" charset="0"/>
                          <a:ea typeface="微软雅黑" panose="020B0503020204020204" pitchFamily="34" charset="-122"/>
                        </a:rPr>
                        <a:t>Req Qty</a:t>
                      </a:r>
                      <a:endParaRPr lang="en-US" sz="1400" b="1"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Allotment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Fed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Short by </a:t>
                      </a:r>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Surplus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2449137"/>
                  </a:ext>
                </a:extLst>
              </a:tr>
              <a:tr h="339612">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dirty="0">
                          <a:solidFill>
                            <a:schemeClr val="tx1"/>
                          </a:solidFill>
                          <a:effectLst/>
                          <a:latin typeface="Arial" panose="020B0604020202020204" pitchFamily="34" charset="0"/>
                          <a:ea typeface="微软雅黑" panose="020B0503020204020204" pitchFamily="34" charset="-122"/>
                        </a:rPr>
                        <a:t>P1</a:t>
                      </a:r>
                      <a:endParaRPr 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30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096886"/>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70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70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30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624893"/>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0376732"/>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100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40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9919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3</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0336053"/>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3</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100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100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4238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dirty="0">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849562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177520"/>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310861"/>
                  </a:ext>
                </a:extLst>
              </a:tr>
              <a:tr h="339612">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5</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200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18738"/>
                  </a:ext>
                </a:extLst>
              </a:tr>
            </a:tbl>
          </a:graphicData>
        </a:graphic>
      </p:graphicFrame>
      <p:graphicFrame>
        <p:nvGraphicFramePr>
          <p:cNvPr id="7" name="图示 6">
            <a:extLst>
              <a:ext uri="{FF2B5EF4-FFF2-40B4-BE49-F238E27FC236}">
                <a16:creationId xmlns:a16="http://schemas.microsoft.com/office/drawing/2014/main" id="{43521DB8-A227-6439-0720-4B5382CCF627}"/>
              </a:ext>
            </a:extLst>
          </p:cNvPr>
          <p:cNvGraphicFramePr/>
          <p:nvPr/>
        </p:nvGraphicFramePr>
        <p:xfrm>
          <a:off x="1659193" y="995516"/>
          <a:ext cx="7217840" cy="101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812378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09BB-F40F-2E84-E917-1DC0F9A6C269}"/>
            </a:ext>
          </a:extLst>
        </p:cNvPr>
        <p:cNvGrpSpPr/>
        <p:nvPr/>
      </p:nvGrpSpPr>
      <p:grpSpPr>
        <a:xfrm>
          <a:off x="0" y="0"/>
          <a:ext cx="0" cy="0"/>
          <a:chOff x="0" y="0"/>
          <a:chExt cx="0" cy="0"/>
        </a:xfrm>
      </p:grpSpPr>
      <p:sp>
        <p:nvSpPr>
          <p:cNvPr id="3" name="椭圆 2">
            <a:extLst>
              <a:ext uri="{FF2B5EF4-FFF2-40B4-BE49-F238E27FC236}">
                <a16:creationId xmlns:a16="http://schemas.microsoft.com/office/drawing/2014/main" id="{60C9D5EF-ECCE-7C3B-0DDD-DFC80B0FCA80}"/>
              </a:ext>
            </a:extLst>
          </p:cNvPr>
          <p:cNvSpPr/>
          <p:nvPr/>
        </p:nvSpPr>
        <p:spPr>
          <a:xfrm rot="489083">
            <a:off x="5107085" y="3715544"/>
            <a:ext cx="4115505" cy="823548"/>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 name="标题 1">
            <a:extLst>
              <a:ext uri="{FF2B5EF4-FFF2-40B4-BE49-F238E27FC236}">
                <a16:creationId xmlns:a16="http://schemas.microsoft.com/office/drawing/2014/main" id="{F3FEE064-9046-F657-978A-186BF4FA4758}"/>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不完全替代 </a:t>
            </a:r>
            <a:r>
              <a:rPr lang="en-US" altLang="zh-CN" dirty="0">
                <a:latin typeface="Arial" panose="020B0604020202020204" pitchFamily="34" charset="0"/>
                <a:ea typeface="微软雅黑" panose="020B0503020204020204" pitchFamily="34" charset="-122"/>
              </a:rPr>
              <a:t>– </a:t>
            </a:r>
            <a:r>
              <a:rPr lang="zh-CN" altLang="en-US" dirty="0">
                <a:latin typeface="Arial" panose="020B0604020202020204" pitchFamily="34" charset="0"/>
                <a:ea typeface="微软雅黑" panose="020B0503020204020204" pitchFamily="34" charset="-122"/>
              </a:rPr>
              <a:t>动态分配步骤二</a:t>
            </a:r>
          </a:p>
        </p:txBody>
      </p:sp>
      <p:graphicFrame>
        <p:nvGraphicFramePr>
          <p:cNvPr id="6" name="表格 5">
            <a:extLst>
              <a:ext uri="{FF2B5EF4-FFF2-40B4-BE49-F238E27FC236}">
                <a16:creationId xmlns:a16="http://schemas.microsoft.com/office/drawing/2014/main" id="{9F74750B-A6FA-1162-A281-27D8E15D60F9}"/>
              </a:ext>
            </a:extLst>
          </p:cNvPr>
          <p:cNvGraphicFramePr>
            <a:graphicFrameLocks noGrp="1"/>
          </p:cNvGraphicFramePr>
          <p:nvPr>
            <p:extLst>
              <p:ext uri="{D42A27DB-BD31-4B8C-83A1-F6EECF244321}">
                <p14:modId xmlns:p14="http://schemas.microsoft.com/office/powerpoint/2010/main" val="4183638967"/>
              </p:ext>
            </p:extLst>
          </p:nvPr>
        </p:nvGraphicFramePr>
        <p:xfrm>
          <a:off x="1158798" y="2199458"/>
          <a:ext cx="9303462" cy="4535928"/>
        </p:xfrm>
        <a:graphic>
          <a:graphicData uri="http://schemas.openxmlformats.org/drawingml/2006/table">
            <a:tbl>
              <a:tblPr firstRow="1">
                <a:tableStyleId>{69012ECD-51FC-41F1-AA8D-1B2483CD663E}</a:tableStyleId>
              </a:tblPr>
              <a:tblGrid>
                <a:gridCol w="1169016">
                  <a:extLst>
                    <a:ext uri="{9D8B030D-6E8A-4147-A177-3AD203B41FA5}">
                      <a16:colId xmlns:a16="http://schemas.microsoft.com/office/drawing/2014/main" val="1681094595"/>
                    </a:ext>
                  </a:extLst>
                </a:gridCol>
                <a:gridCol w="545542">
                  <a:extLst>
                    <a:ext uri="{9D8B030D-6E8A-4147-A177-3AD203B41FA5}">
                      <a16:colId xmlns:a16="http://schemas.microsoft.com/office/drawing/2014/main" val="3390090867"/>
                    </a:ext>
                  </a:extLst>
                </a:gridCol>
                <a:gridCol w="1807576">
                  <a:extLst>
                    <a:ext uri="{9D8B030D-6E8A-4147-A177-3AD203B41FA5}">
                      <a16:colId xmlns:a16="http://schemas.microsoft.com/office/drawing/2014/main" val="2954007409"/>
                    </a:ext>
                  </a:extLst>
                </a:gridCol>
                <a:gridCol w="1204946">
                  <a:extLst>
                    <a:ext uri="{9D8B030D-6E8A-4147-A177-3AD203B41FA5}">
                      <a16:colId xmlns:a16="http://schemas.microsoft.com/office/drawing/2014/main" val="2032591101"/>
                    </a:ext>
                  </a:extLst>
                </a:gridCol>
                <a:gridCol w="708238">
                  <a:extLst>
                    <a:ext uri="{9D8B030D-6E8A-4147-A177-3AD203B41FA5}">
                      <a16:colId xmlns:a16="http://schemas.microsoft.com/office/drawing/2014/main" val="2757897121"/>
                    </a:ext>
                  </a:extLst>
                </a:gridCol>
                <a:gridCol w="1091878">
                  <a:extLst>
                    <a:ext uri="{9D8B030D-6E8A-4147-A177-3AD203B41FA5}">
                      <a16:colId xmlns:a16="http://schemas.microsoft.com/office/drawing/2014/main" val="2591860056"/>
                    </a:ext>
                  </a:extLst>
                </a:gridCol>
                <a:gridCol w="1091878">
                  <a:extLst>
                    <a:ext uri="{9D8B030D-6E8A-4147-A177-3AD203B41FA5}">
                      <a16:colId xmlns:a16="http://schemas.microsoft.com/office/drawing/2014/main" val="732837321"/>
                    </a:ext>
                  </a:extLst>
                </a:gridCol>
                <a:gridCol w="1684388">
                  <a:extLst>
                    <a:ext uri="{9D8B030D-6E8A-4147-A177-3AD203B41FA5}">
                      <a16:colId xmlns:a16="http://schemas.microsoft.com/office/drawing/2014/main" val="137730239"/>
                    </a:ext>
                  </a:extLst>
                </a:gridCol>
              </a:tblGrid>
              <a:tr h="460584">
                <a:tc>
                  <a:txBody>
                    <a:bodyPr/>
                    <a:lstStyle/>
                    <a:p>
                      <a:pPr algn="l" fontAlgn="b"/>
                      <a:r>
                        <a:rPr lang="en-US" sz="1400" b="1" u="none" strike="noStrike">
                          <a:solidFill>
                            <a:schemeClr val="tx1"/>
                          </a:solidFill>
                          <a:effectLst/>
                          <a:latin typeface="Arial" panose="020B0604020202020204" pitchFamily="34" charset="0"/>
                          <a:ea typeface="微软雅黑" panose="020B0503020204020204" pitchFamily="34" charset="-122"/>
                        </a:rPr>
                        <a:t>Req Qty</a:t>
                      </a:r>
                      <a:endParaRPr lang="en-US" sz="1400" b="1"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Components</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Allotment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Fed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i="0" u="none" strike="noStrike" dirty="0">
                          <a:solidFill>
                            <a:schemeClr val="tx1"/>
                          </a:solidFill>
                          <a:effectLst/>
                          <a:latin typeface="Arial" panose="020B0604020202020204" pitchFamily="34" charset="0"/>
                          <a:ea typeface="微软雅黑" panose="020B0503020204020204" pitchFamily="34" charset="-122"/>
                        </a:rPr>
                        <a:t>Fed </a:t>
                      </a:r>
                      <a:r>
                        <a:rPr lang="en-US" sz="1400" b="1" i="0"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Short by </a:t>
                      </a:r>
                      <a:r>
                        <a:rPr lang="en-US" sz="1400" b="1" u="none" strike="noStrike" dirty="0" err="1">
                          <a:solidFill>
                            <a:schemeClr val="tx1"/>
                          </a:solidFill>
                          <a:effectLst/>
                          <a:latin typeface="Arial" panose="020B0604020202020204" pitchFamily="34" charset="0"/>
                          <a:ea typeface="微软雅黑" panose="020B0503020204020204" pitchFamily="34" charset="-122"/>
                        </a:rPr>
                        <a:t>Alg</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1" u="none" strike="noStrike" dirty="0">
                          <a:solidFill>
                            <a:schemeClr val="tx1"/>
                          </a:solidFill>
                          <a:effectLst/>
                          <a:latin typeface="Arial" panose="020B0604020202020204" pitchFamily="34" charset="0"/>
                          <a:ea typeface="微软雅黑" panose="020B0503020204020204" pitchFamily="34" charset="-122"/>
                        </a:rPr>
                        <a:t>Surplus Qty</a:t>
                      </a:r>
                      <a:endParaRPr lang="en-US" sz="1400" b="1"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2449137"/>
                  </a:ext>
                </a:extLst>
              </a:tr>
              <a:tr h="339612">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dirty="0">
                          <a:solidFill>
                            <a:schemeClr val="tx1"/>
                          </a:solidFill>
                          <a:effectLst/>
                          <a:latin typeface="Arial" panose="020B0604020202020204" pitchFamily="34" charset="0"/>
                          <a:ea typeface="微软雅黑" panose="020B0503020204020204" pitchFamily="34" charset="-122"/>
                        </a:rPr>
                        <a:t>P1</a:t>
                      </a:r>
                      <a:endParaRPr 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30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096886"/>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70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70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30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dirty="0">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624893"/>
                  </a:ext>
                </a:extLst>
              </a:tr>
              <a:tr h="339612">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150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1</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i="0" u="none" strike="noStrike" dirty="0">
                          <a:solidFill>
                            <a:srgbClr val="FF0000"/>
                          </a:solidFill>
                          <a:effectLst/>
                          <a:latin typeface="Arial" panose="020B0604020202020204" pitchFamily="34" charset="0"/>
                          <a:ea typeface="微软雅黑" panose="020B0503020204020204" pitchFamily="34" charset="-122"/>
                        </a:rPr>
                        <a:t>P2</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70+30=100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30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2</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141610"/>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2</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0376732"/>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rgbClr val="FF0000"/>
                          </a:solidFill>
                          <a:effectLst/>
                          <a:latin typeface="Arial" panose="020B0604020202020204" pitchFamily="34" charset="0"/>
                          <a:ea typeface="微软雅黑" panose="020B0503020204020204" pitchFamily="34" charset="-122"/>
                        </a:rPr>
                        <a:t>100-30=70</a:t>
                      </a:r>
                      <a:endParaRPr lang="en-US" altLang="zh-CN" sz="1400" b="0" i="0" u="none" strike="noStrike" dirty="0">
                        <a:solidFill>
                          <a:srgbClr val="FF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2</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rgbClr val="FF0000"/>
                          </a:solidFill>
                          <a:effectLst/>
                          <a:latin typeface="Arial" panose="020B0604020202020204" pitchFamily="34" charset="0"/>
                          <a:ea typeface="微软雅黑" panose="020B0503020204020204" pitchFamily="34" charset="-122"/>
                        </a:rPr>
                        <a:t>40-30=10</a:t>
                      </a:r>
                      <a:endParaRPr lang="en-US" altLang="zh-CN" sz="1400" b="0" i="0" u="none" strike="noStrike" dirty="0">
                        <a:solidFill>
                          <a:srgbClr val="FF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9919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3</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60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0336053"/>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3</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100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100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3</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74238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P1</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4</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dirty="0">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8495629"/>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P2</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80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4</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177520"/>
                  </a:ext>
                </a:extLst>
              </a:tr>
              <a:tr h="339612">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260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4</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120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4</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20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400" b="0" u="none" strike="noStrike">
                          <a:solidFill>
                            <a:schemeClr val="tx1"/>
                          </a:solidFill>
                          <a:effectLst/>
                          <a:latin typeface="Arial" panose="020B0604020202020204" pitchFamily="34" charset="0"/>
                          <a:ea typeface="微软雅黑" panose="020B0503020204020204" pitchFamily="34" charset="-122"/>
                        </a:rPr>
                        <a:t>　</a:t>
                      </a:r>
                      <a:endParaRPr lang="zh-CN" alt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310861"/>
                  </a:ext>
                </a:extLst>
              </a:tr>
              <a:tr h="339612">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260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5</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i="0" u="none" strike="noStrike" dirty="0">
                          <a:solidFill>
                            <a:schemeClr val="tx1"/>
                          </a:solidFill>
                          <a:effectLst/>
                          <a:latin typeface="Arial" panose="020B0604020202020204" pitchFamily="34" charset="0"/>
                          <a:ea typeface="微软雅黑" panose="020B0503020204020204" pitchFamily="34" charset="-122"/>
                        </a:rPr>
                        <a:t>P3</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120+20=140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20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5</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rgbClr val="FF0000"/>
                          </a:solidFill>
                          <a:effectLst/>
                          <a:latin typeface="Arial" panose="020B0604020202020204" pitchFamily="34" charset="0"/>
                          <a:ea typeface="微软雅黑" panose="020B0503020204020204" pitchFamily="34" charset="-122"/>
                        </a:rPr>
                        <a:t>0</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8754387"/>
                  </a:ext>
                </a:extLst>
              </a:tr>
              <a:tr h="339612">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5</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b="0" u="none" strike="noStrike">
                          <a:solidFill>
                            <a:schemeClr val="tx1"/>
                          </a:solidFill>
                          <a:effectLst/>
                          <a:latin typeface="Arial" panose="020B0604020202020204" pitchFamily="34" charset="0"/>
                          <a:ea typeface="微软雅黑" panose="020B0503020204020204" pitchFamily="34" charset="-122"/>
                        </a:rPr>
                        <a:t>P3</a:t>
                      </a:r>
                      <a:endParaRPr lang="en-US"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rgbClr val="FF0000"/>
                          </a:solidFill>
                          <a:effectLst/>
                          <a:latin typeface="Arial" panose="020B0604020202020204" pitchFamily="34" charset="0"/>
                          <a:ea typeface="微软雅黑" panose="020B0503020204020204" pitchFamily="34" charset="-122"/>
                        </a:rPr>
                        <a:t>200-20=180</a:t>
                      </a:r>
                      <a:endParaRPr lang="en-US" altLang="zh-CN" sz="1400" b="0" i="0" u="none" strike="noStrike" dirty="0">
                        <a:solidFill>
                          <a:srgbClr val="FF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a:solidFill>
                            <a:schemeClr val="tx1"/>
                          </a:solidFill>
                          <a:effectLst/>
                          <a:latin typeface="Arial" panose="020B0604020202020204" pitchFamily="34" charset="0"/>
                          <a:ea typeface="微软雅黑" panose="020B0503020204020204" pitchFamily="34" charset="-122"/>
                        </a:rPr>
                        <a:t>150</a:t>
                      </a:r>
                      <a:endParaRPr lang="en-US" altLang="zh-CN" sz="1400" b="0" i="0" u="none" strike="noStrike">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i="0" u="none" strike="noStrike" dirty="0">
                          <a:solidFill>
                            <a:schemeClr val="tx1"/>
                          </a:solidFill>
                          <a:effectLst/>
                          <a:latin typeface="Arial" panose="020B0604020202020204" pitchFamily="34" charset="0"/>
                          <a:ea typeface="微软雅黑" panose="020B0503020204020204" pitchFamily="34" charset="-122"/>
                        </a:rPr>
                        <a:t>5</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chemeClr val="tx1"/>
                          </a:solidFill>
                          <a:effectLst/>
                          <a:latin typeface="Arial" panose="020B0604020202020204" pitchFamily="34" charset="0"/>
                          <a:ea typeface="微软雅黑" panose="020B0503020204020204" pitchFamily="34" charset="-122"/>
                        </a:rPr>
                        <a:t>0</a:t>
                      </a:r>
                      <a:endParaRPr lang="en-US" altLang="zh-CN" sz="1400" b="0" i="0" u="none" strike="noStrike" dirty="0">
                        <a:solidFill>
                          <a:schemeClr val="tx1"/>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400" b="0" u="none" strike="noStrike" dirty="0">
                          <a:solidFill>
                            <a:srgbClr val="FF0000"/>
                          </a:solidFill>
                          <a:effectLst/>
                          <a:latin typeface="Arial" panose="020B0604020202020204" pitchFamily="34" charset="0"/>
                          <a:ea typeface="微软雅黑" panose="020B0503020204020204" pitchFamily="34" charset="-122"/>
                        </a:rPr>
                        <a:t>50-20=30</a:t>
                      </a:r>
                      <a:endParaRPr lang="en-US" altLang="zh-CN" sz="1400" b="0" i="0" u="none" strike="noStrike" dirty="0">
                        <a:solidFill>
                          <a:srgbClr val="FF0000"/>
                        </a:solidFill>
                        <a:effectLst/>
                        <a:latin typeface="Arial" panose="020B0604020202020204" pitchFamily="34" charset="0"/>
                        <a:ea typeface="微软雅黑" panose="020B0503020204020204" pitchFamily="34" charset="-122"/>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18738"/>
                  </a:ext>
                </a:extLst>
              </a:tr>
            </a:tbl>
          </a:graphicData>
        </a:graphic>
      </p:graphicFrame>
      <p:graphicFrame>
        <p:nvGraphicFramePr>
          <p:cNvPr id="7" name="图示 6">
            <a:extLst>
              <a:ext uri="{FF2B5EF4-FFF2-40B4-BE49-F238E27FC236}">
                <a16:creationId xmlns:a16="http://schemas.microsoft.com/office/drawing/2014/main" id="{880FD0DF-2A49-E84E-9D61-B35ADB53FD56}"/>
              </a:ext>
            </a:extLst>
          </p:cNvPr>
          <p:cNvGraphicFramePr/>
          <p:nvPr/>
        </p:nvGraphicFramePr>
        <p:xfrm>
          <a:off x="1767840" y="739367"/>
          <a:ext cx="7217840" cy="1460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椭圆 3">
            <a:extLst>
              <a:ext uri="{FF2B5EF4-FFF2-40B4-BE49-F238E27FC236}">
                <a16:creationId xmlns:a16="http://schemas.microsoft.com/office/drawing/2014/main" id="{04EBFD4E-C361-E5FC-48FB-3E094529D9AB}"/>
              </a:ext>
            </a:extLst>
          </p:cNvPr>
          <p:cNvSpPr/>
          <p:nvPr/>
        </p:nvSpPr>
        <p:spPr>
          <a:xfrm rot="211191">
            <a:off x="4770854" y="6018476"/>
            <a:ext cx="5151120" cy="716280"/>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311235192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F95CD8A-D75E-E9B8-283C-C308C932A493}"/>
              </a:ext>
            </a:extLst>
          </p:cNvPr>
          <p:cNvSpPr>
            <a:spLocks noGrp="1"/>
          </p:cNvSpPr>
          <p:nvPr>
            <p:ph type="title"/>
          </p:nvPr>
        </p:nvSpPr>
        <p:spPr>
          <a:xfrm>
            <a:off x="813511" y="318443"/>
            <a:ext cx="10972800" cy="491126"/>
          </a:xfrm>
        </p:spPr>
        <p:txBody>
          <a:bodyPr>
            <a:normAutofit/>
          </a:bodyPr>
          <a:lstStyle/>
          <a:p>
            <a:r>
              <a:rPr lang="zh-CN" altLang="en-US" sz="2800" b="1" dirty="0">
                <a:latin typeface="Arial" panose="020B0604020202020204" pitchFamily="34" charset="0"/>
                <a:ea typeface="微软雅黑" panose="020B0503020204020204" pitchFamily="34" charset="-122"/>
              </a:rPr>
              <a:t>组替代 </a:t>
            </a:r>
            <a:r>
              <a:rPr lang="en-US" altLang="zh-CN" sz="2800" b="1" dirty="0">
                <a:latin typeface="Arial" panose="020B0604020202020204" pitchFamily="34" charset="0"/>
                <a:ea typeface="微软雅黑" panose="020B0503020204020204" pitchFamily="34" charset="-122"/>
              </a:rPr>
              <a:t>– New Cost</a:t>
            </a:r>
            <a:r>
              <a:rPr lang="zh-CN" altLang="en-US" sz="2800" b="1" dirty="0">
                <a:latin typeface="Arial" panose="020B0604020202020204" pitchFamily="34" charset="0"/>
                <a:ea typeface="微软雅黑" panose="020B0503020204020204" pitchFamily="34" charset="-122"/>
              </a:rPr>
              <a:t>示例</a:t>
            </a:r>
          </a:p>
        </p:txBody>
      </p:sp>
      <p:sp>
        <p:nvSpPr>
          <p:cNvPr id="7" name="矩形 6">
            <a:extLst>
              <a:ext uri="{FF2B5EF4-FFF2-40B4-BE49-F238E27FC236}">
                <a16:creationId xmlns:a16="http://schemas.microsoft.com/office/drawing/2014/main" id="{AF9C85BC-F59F-D71F-4FD6-14C7953CB4FE}"/>
              </a:ext>
            </a:extLst>
          </p:cNvPr>
          <p:cNvSpPr/>
          <p:nvPr/>
        </p:nvSpPr>
        <p:spPr>
          <a:xfrm>
            <a:off x="5483942" y="1194901"/>
            <a:ext cx="902110" cy="31579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FG1…</a:t>
            </a:r>
            <a:r>
              <a:rPr kumimoji="0" lang="en-US" altLang="zh-CN" sz="1050" b="1"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mn-cs"/>
              </a:rPr>
              <a:t>FGn</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15" name="连接符: 肘形 14">
            <a:extLst>
              <a:ext uri="{FF2B5EF4-FFF2-40B4-BE49-F238E27FC236}">
                <a16:creationId xmlns:a16="http://schemas.microsoft.com/office/drawing/2014/main" id="{E2AA1152-90B7-9DEB-3F97-E39E2E36B4B4}"/>
              </a:ext>
            </a:extLst>
          </p:cNvPr>
          <p:cNvCxnSpPr>
            <a:cxnSpLocks/>
            <a:stCxn id="7" idx="2"/>
            <a:endCxn id="12" idx="0"/>
          </p:cNvCxnSpPr>
          <p:nvPr/>
        </p:nvCxnSpPr>
        <p:spPr>
          <a:xfrm rot="16200000" flipH="1">
            <a:off x="6370884" y="1074806"/>
            <a:ext cx="275610" cy="1147384"/>
          </a:xfrm>
          <a:prstGeom prst="bentConnector3">
            <a:avLst>
              <a:gd name="adj1" fmla="val 50000"/>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00D62E6A-5761-B431-01AF-3C79602AB57F}"/>
              </a:ext>
            </a:extLst>
          </p:cNvPr>
          <p:cNvCxnSpPr>
            <a:cxnSpLocks/>
            <a:stCxn id="7" idx="2"/>
            <a:endCxn id="9" idx="0"/>
          </p:cNvCxnSpPr>
          <p:nvPr/>
        </p:nvCxnSpPr>
        <p:spPr>
          <a:xfrm rot="5400000">
            <a:off x="5138048" y="1017798"/>
            <a:ext cx="304055" cy="1289845"/>
          </a:xfrm>
          <a:prstGeom prst="bentConnector3">
            <a:avLst>
              <a:gd name="adj1" fmla="val 50000"/>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矩形 20">
            <a:extLst>
              <a:ext uri="{FF2B5EF4-FFF2-40B4-BE49-F238E27FC236}">
                <a16:creationId xmlns:a16="http://schemas.microsoft.com/office/drawing/2014/main" id="{A5B672EF-AE57-D4D9-5456-615A61E06A58}"/>
              </a:ext>
            </a:extLst>
          </p:cNvPr>
          <p:cNvSpPr/>
          <p:nvPr/>
        </p:nvSpPr>
        <p:spPr>
          <a:xfrm>
            <a:off x="3434955"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2" name="矩形 21">
            <a:extLst>
              <a:ext uri="{FF2B5EF4-FFF2-40B4-BE49-F238E27FC236}">
                <a16:creationId xmlns:a16="http://schemas.microsoft.com/office/drawing/2014/main" id="{B526DF53-49CA-11A1-DF03-15CBAB70286E}"/>
              </a:ext>
            </a:extLst>
          </p:cNvPr>
          <p:cNvSpPr/>
          <p:nvPr/>
        </p:nvSpPr>
        <p:spPr>
          <a:xfrm>
            <a:off x="4288799"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43BCE43D-1D8F-3610-1F16-572921BFDDAC}"/>
              </a:ext>
            </a:extLst>
          </p:cNvPr>
          <p:cNvSpPr/>
          <p:nvPr/>
        </p:nvSpPr>
        <p:spPr>
          <a:xfrm>
            <a:off x="5142644"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4" name="矩形 23">
            <a:extLst>
              <a:ext uri="{FF2B5EF4-FFF2-40B4-BE49-F238E27FC236}">
                <a16:creationId xmlns:a16="http://schemas.microsoft.com/office/drawing/2014/main" id="{67F3A4E6-A9A6-CA05-5741-B07101293C92}"/>
              </a:ext>
            </a:extLst>
          </p:cNvPr>
          <p:cNvSpPr/>
          <p:nvPr/>
        </p:nvSpPr>
        <p:spPr>
          <a:xfrm>
            <a:off x="5983727"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5" name="矩形 24">
            <a:extLst>
              <a:ext uri="{FF2B5EF4-FFF2-40B4-BE49-F238E27FC236}">
                <a16:creationId xmlns:a16="http://schemas.microsoft.com/office/drawing/2014/main" id="{EA89D41E-71DD-6FFC-77A9-2AC7317072D3}"/>
              </a:ext>
            </a:extLst>
          </p:cNvPr>
          <p:cNvSpPr/>
          <p:nvPr/>
        </p:nvSpPr>
        <p:spPr>
          <a:xfrm>
            <a:off x="6773296"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矩形 25">
            <a:extLst>
              <a:ext uri="{FF2B5EF4-FFF2-40B4-BE49-F238E27FC236}">
                <a16:creationId xmlns:a16="http://schemas.microsoft.com/office/drawing/2014/main" id="{A80208F9-B1F9-360C-A9B8-B7DA363765DA}"/>
              </a:ext>
            </a:extLst>
          </p:cNvPr>
          <p:cNvSpPr/>
          <p:nvPr/>
        </p:nvSpPr>
        <p:spPr>
          <a:xfrm>
            <a:off x="7641621" y="2749824"/>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0" name="连接符: 肘形 29">
            <a:extLst>
              <a:ext uri="{FF2B5EF4-FFF2-40B4-BE49-F238E27FC236}">
                <a16:creationId xmlns:a16="http://schemas.microsoft.com/office/drawing/2014/main" id="{6C70D425-A3D3-4287-8C8F-E1CE31582B75}"/>
              </a:ext>
            </a:extLst>
          </p:cNvPr>
          <p:cNvCxnSpPr>
            <a:cxnSpLocks/>
            <a:stCxn id="10" idx="1"/>
            <a:endCxn id="21" idx="0"/>
          </p:cNvCxnSpPr>
          <p:nvPr/>
        </p:nvCxnSpPr>
        <p:spPr>
          <a:xfrm rot="10800000" flipV="1">
            <a:off x="3776253" y="2089212"/>
            <a:ext cx="606570" cy="660612"/>
          </a:xfrm>
          <a:prstGeom prst="bentConnector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3" name="连接符: 肘形 32">
            <a:extLst>
              <a:ext uri="{FF2B5EF4-FFF2-40B4-BE49-F238E27FC236}">
                <a16:creationId xmlns:a16="http://schemas.microsoft.com/office/drawing/2014/main" id="{B03E31FA-A757-0A9D-449C-B15B97FAC42D}"/>
              </a:ext>
            </a:extLst>
          </p:cNvPr>
          <p:cNvCxnSpPr>
            <a:cxnSpLocks/>
          </p:cNvCxnSpPr>
          <p:nvPr/>
        </p:nvCxnSpPr>
        <p:spPr>
          <a:xfrm rot="16200000" flipH="1">
            <a:off x="4376984" y="2472200"/>
            <a:ext cx="536336" cy="18911"/>
          </a:xfrm>
          <a:prstGeom prst="bentConnector3">
            <a:avLst>
              <a:gd name="adj1" fmla="val -162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7" name="连接符: 肘形 36">
            <a:extLst>
              <a:ext uri="{FF2B5EF4-FFF2-40B4-BE49-F238E27FC236}">
                <a16:creationId xmlns:a16="http://schemas.microsoft.com/office/drawing/2014/main" id="{909FE905-B8EC-54CD-A1ED-39AAF0E634B9}"/>
              </a:ext>
            </a:extLst>
          </p:cNvPr>
          <p:cNvCxnSpPr>
            <a:cxnSpLocks/>
            <a:stCxn id="10" idx="0"/>
            <a:endCxn id="23" idx="0"/>
          </p:cNvCxnSpPr>
          <p:nvPr/>
        </p:nvCxnSpPr>
        <p:spPr>
          <a:xfrm rot="16200000" flipH="1">
            <a:off x="4738928" y="2004810"/>
            <a:ext cx="799112" cy="690916"/>
          </a:xfrm>
          <a:prstGeom prst="bentConnector3">
            <a:avLst>
              <a:gd name="adj1" fmla="val 1893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8" name="组合 7">
            <a:extLst>
              <a:ext uri="{FF2B5EF4-FFF2-40B4-BE49-F238E27FC236}">
                <a16:creationId xmlns:a16="http://schemas.microsoft.com/office/drawing/2014/main" id="{BF7355ED-37DD-0B4C-03AA-63F8EB2BD31B}"/>
              </a:ext>
            </a:extLst>
          </p:cNvPr>
          <p:cNvGrpSpPr/>
          <p:nvPr/>
        </p:nvGrpSpPr>
        <p:grpSpPr>
          <a:xfrm>
            <a:off x="4302101" y="1814748"/>
            <a:ext cx="901127" cy="412963"/>
            <a:chOff x="2678806" y="1841679"/>
            <a:chExt cx="811905" cy="412963"/>
          </a:xfrm>
        </p:grpSpPr>
        <p:sp>
          <p:nvSpPr>
            <p:cNvPr id="9" name="等腰三角形 8">
              <a:extLst>
                <a:ext uri="{FF2B5EF4-FFF2-40B4-BE49-F238E27FC236}">
                  <a16:creationId xmlns:a16="http://schemas.microsoft.com/office/drawing/2014/main" id="{D04C88FE-E940-5BC2-17FF-8234BB15E872}"/>
                </a:ext>
              </a:extLst>
            </p:cNvPr>
            <p:cNvSpPr/>
            <p:nvPr/>
          </p:nvSpPr>
          <p:spPr>
            <a:xfrm>
              <a:off x="2678806" y="1841679"/>
              <a:ext cx="618170" cy="384518"/>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0" name="文本框 9">
              <a:extLst>
                <a:ext uri="{FF2B5EF4-FFF2-40B4-BE49-F238E27FC236}">
                  <a16:creationId xmlns:a16="http://schemas.microsoft.com/office/drawing/2014/main" id="{2A3412E8-51CB-A712-3A31-42137D670504}"/>
                </a:ext>
              </a:extLst>
            </p:cNvPr>
            <p:cNvSpPr txBox="1"/>
            <p:nvPr/>
          </p:nvSpPr>
          <p:spPr>
            <a:xfrm>
              <a:off x="2751536" y="1977643"/>
              <a:ext cx="7391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45" name="连接符: 肘形 44">
            <a:extLst>
              <a:ext uri="{FF2B5EF4-FFF2-40B4-BE49-F238E27FC236}">
                <a16:creationId xmlns:a16="http://schemas.microsoft.com/office/drawing/2014/main" id="{DBD1F788-E5DE-74C1-4E47-82E1C9F9D927}"/>
              </a:ext>
            </a:extLst>
          </p:cNvPr>
          <p:cNvCxnSpPr>
            <a:cxnSpLocks/>
            <a:stCxn id="13" idx="1"/>
            <a:endCxn id="24" idx="0"/>
          </p:cNvCxnSpPr>
          <p:nvPr/>
        </p:nvCxnSpPr>
        <p:spPr>
          <a:xfrm rot="10800000" flipV="1">
            <a:off x="6325026" y="2060766"/>
            <a:ext cx="521001" cy="689057"/>
          </a:xfrm>
          <a:prstGeom prst="bentConnector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连接符: 肘形 49">
            <a:extLst>
              <a:ext uri="{FF2B5EF4-FFF2-40B4-BE49-F238E27FC236}">
                <a16:creationId xmlns:a16="http://schemas.microsoft.com/office/drawing/2014/main" id="{DD02F89B-8224-0B60-1A83-DE13BB8A4BC1}"/>
              </a:ext>
            </a:extLst>
          </p:cNvPr>
          <p:cNvCxnSpPr>
            <a:cxnSpLocks/>
            <a:stCxn id="12" idx="3"/>
            <a:endCxn id="25" idx="0"/>
          </p:cNvCxnSpPr>
          <p:nvPr/>
        </p:nvCxnSpPr>
        <p:spPr>
          <a:xfrm rot="16200000" flipH="1">
            <a:off x="6808986" y="2444215"/>
            <a:ext cx="579003" cy="32213"/>
          </a:xfrm>
          <a:prstGeom prst="bentConnector3">
            <a:avLst>
              <a:gd name="adj1" fmla="val 1065"/>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连接符: 肘形 53">
            <a:extLst>
              <a:ext uri="{FF2B5EF4-FFF2-40B4-BE49-F238E27FC236}">
                <a16:creationId xmlns:a16="http://schemas.microsoft.com/office/drawing/2014/main" id="{704D1A25-7ED0-C366-593A-2A31591C3500}"/>
              </a:ext>
            </a:extLst>
          </p:cNvPr>
          <p:cNvCxnSpPr>
            <a:cxnSpLocks/>
            <a:stCxn id="13" idx="0"/>
            <a:endCxn id="26" idx="0"/>
          </p:cNvCxnSpPr>
          <p:nvPr/>
        </p:nvCxnSpPr>
        <p:spPr>
          <a:xfrm rot="16200000" flipH="1">
            <a:off x="7185487" y="1952393"/>
            <a:ext cx="827557" cy="767305"/>
          </a:xfrm>
          <a:prstGeom prst="bentConnector3">
            <a:avLst>
              <a:gd name="adj1" fmla="val 16730"/>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 name="组合 10">
            <a:extLst>
              <a:ext uri="{FF2B5EF4-FFF2-40B4-BE49-F238E27FC236}">
                <a16:creationId xmlns:a16="http://schemas.microsoft.com/office/drawing/2014/main" id="{8ADE316D-7406-D039-6DB0-DAC4AAAEE741}"/>
              </a:ext>
            </a:extLst>
          </p:cNvPr>
          <p:cNvGrpSpPr/>
          <p:nvPr/>
        </p:nvGrpSpPr>
        <p:grpSpPr>
          <a:xfrm>
            <a:off x="6773296" y="1786303"/>
            <a:ext cx="811905" cy="412963"/>
            <a:chOff x="2678806" y="1841679"/>
            <a:chExt cx="811905" cy="412963"/>
          </a:xfrm>
        </p:grpSpPr>
        <p:sp>
          <p:nvSpPr>
            <p:cNvPr id="12" name="等腰三角形 11">
              <a:extLst>
                <a:ext uri="{FF2B5EF4-FFF2-40B4-BE49-F238E27FC236}">
                  <a16:creationId xmlns:a16="http://schemas.microsoft.com/office/drawing/2014/main" id="{CC95968C-FBD9-ECA6-A949-31143077F411}"/>
                </a:ext>
              </a:extLst>
            </p:cNvPr>
            <p:cNvSpPr/>
            <p:nvPr/>
          </p:nvSpPr>
          <p:spPr>
            <a:xfrm>
              <a:off x="2678806" y="1841679"/>
              <a:ext cx="618170" cy="384518"/>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3" name="文本框 12">
              <a:extLst>
                <a:ext uri="{FF2B5EF4-FFF2-40B4-BE49-F238E27FC236}">
                  <a16:creationId xmlns:a16="http://schemas.microsoft.com/office/drawing/2014/main" id="{C3834AFD-8BCE-9464-21A2-84978FCC1E49}"/>
                </a:ext>
              </a:extLst>
            </p:cNvPr>
            <p:cNvSpPr txBox="1"/>
            <p:nvPr/>
          </p:nvSpPr>
          <p:spPr>
            <a:xfrm>
              <a:off x="2751536" y="1977643"/>
              <a:ext cx="7391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aphicFrame>
        <p:nvGraphicFramePr>
          <p:cNvPr id="61" name="表格 60">
            <a:extLst>
              <a:ext uri="{FF2B5EF4-FFF2-40B4-BE49-F238E27FC236}">
                <a16:creationId xmlns:a16="http://schemas.microsoft.com/office/drawing/2014/main" id="{FED2978C-DC2D-16A4-1605-287B4363DD4E}"/>
              </a:ext>
            </a:extLst>
          </p:cNvPr>
          <p:cNvGraphicFramePr>
            <a:graphicFrameLocks noGrp="1"/>
          </p:cNvGraphicFramePr>
          <p:nvPr>
            <p:extLst>
              <p:ext uri="{D42A27DB-BD31-4B8C-83A1-F6EECF244321}">
                <p14:modId xmlns:p14="http://schemas.microsoft.com/office/powerpoint/2010/main" val="3715718382"/>
              </p:ext>
            </p:extLst>
          </p:nvPr>
        </p:nvGraphicFramePr>
        <p:xfrm>
          <a:off x="1420408" y="3463110"/>
          <a:ext cx="9943224" cy="2996686"/>
        </p:xfrm>
        <a:graphic>
          <a:graphicData uri="http://schemas.openxmlformats.org/drawingml/2006/table">
            <a:tbl>
              <a:tblPr firstRow="1" bandRow="1">
                <a:tableStyleId>{69012ECD-51FC-41F1-AA8D-1B2483CD663E}</a:tableStyleId>
              </a:tblPr>
              <a:tblGrid>
                <a:gridCol w="1170273">
                  <a:extLst>
                    <a:ext uri="{9D8B030D-6E8A-4147-A177-3AD203B41FA5}">
                      <a16:colId xmlns:a16="http://schemas.microsoft.com/office/drawing/2014/main" val="2702206627"/>
                    </a:ext>
                  </a:extLst>
                </a:gridCol>
                <a:gridCol w="1755646">
                  <a:extLst>
                    <a:ext uri="{9D8B030D-6E8A-4147-A177-3AD203B41FA5}">
                      <a16:colId xmlns:a16="http://schemas.microsoft.com/office/drawing/2014/main" val="544131096"/>
                    </a:ext>
                  </a:extLst>
                </a:gridCol>
                <a:gridCol w="1231771">
                  <a:extLst>
                    <a:ext uri="{9D8B030D-6E8A-4147-A177-3AD203B41FA5}">
                      <a16:colId xmlns:a16="http://schemas.microsoft.com/office/drawing/2014/main" val="891064027"/>
                    </a:ext>
                  </a:extLst>
                </a:gridCol>
                <a:gridCol w="985517">
                  <a:extLst>
                    <a:ext uri="{9D8B030D-6E8A-4147-A177-3AD203B41FA5}">
                      <a16:colId xmlns:a16="http://schemas.microsoft.com/office/drawing/2014/main" val="587444214"/>
                    </a:ext>
                  </a:extLst>
                </a:gridCol>
                <a:gridCol w="1431591">
                  <a:extLst>
                    <a:ext uri="{9D8B030D-6E8A-4147-A177-3AD203B41FA5}">
                      <a16:colId xmlns:a16="http://schemas.microsoft.com/office/drawing/2014/main" val="156193062"/>
                    </a:ext>
                  </a:extLst>
                </a:gridCol>
                <a:gridCol w="1869994">
                  <a:extLst>
                    <a:ext uri="{9D8B030D-6E8A-4147-A177-3AD203B41FA5}">
                      <a16:colId xmlns:a16="http://schemas.microsoft.com/office/drawing/2014/main" val="131510548"/>
                    </a:ext>
                  </a:extLst>
                </a:gridCol>
                <a:gridCol w="1498432">
                  <a:extLst>
                    <a:ext uri="{9D8B030D-6E8A-4147-A177-3AD203B41FA5}">
                      <a16:colId xmlns:a16="http://schemas.microsoft.com/office/drawing/2014/main" val="4014451321"/>
                    </a:ext>
                  </a:extLst>
                </a:gridCol>
              </a:tblGrid>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Parent</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Netting Qty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Planned Qty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Unit Cost</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6231092"/>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76864"/>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7485285"/>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C1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744743"/>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463136"/>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9618772"/>
                  </a:ext>
                </a:extLst>
              </a:tr>
              <a:tr h="428098">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C2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724752"/>
                  </a:ext>
                </a:extLst>
              </a:tr>
            </a:tbl>
          </a:graphicData>
        </a:graphic>
      </p:graphicFrame>
      <p:sp>
        <p:nvSpPr>
          <p:cNvPr id="2" name="文本框 1">
            <a:extLst>
              <a:ext uri="{FF2B5EF4-FFF2-40B4-BE49-F238E27FC236}">
                <a16:creationId xmlns:a16="http://schemas.microsoft.com/office/drawing/2014/main" id="{ADB6FF72-9F2D-4627-2EB5-E0AA5781F522}"/>
              </a:ext>
            </a:extLst>
          </p:cNvPr>
          <p:cNvSpPr txBox="1"/>
          <p:nvPr/>
        </p:nvSpPr>
        <p:spPr>
          <a:xfrm>
            <a:off x="4954671" y="1676714"/>
            <a:ext cx="17536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Target:4</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文本框 2">
            <a:extLst>
              <a:ext uri="{FF2B5EF4-FFF2-40B4-BE49-F238E27FC236}">
                <a16:creationId xmlns:a16="http://schemas.microsoft.com/office/drawing/2014/main" id="{5949CF17-23C9-4771-F5C4-9745729D2342}"/>
              </a:ext>
            </a:extLst>
          </p:cNvPr>
          <p:cNvSpPr txBox="1"/>
          <p:nvPr/>
        </p:nvSpPr>
        <p:spPr>
          <a:xfrm>
            <a:off x="7475660" y="1645382"/>
            <a:ext cx="17536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Target:1</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284178976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13E6F-14D4-21FC-2205-B8807D284E17}"/>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C8E4E14B-5BB9-7D0F-879A-D76E4BA8D215}"/>
              </a:ext>
            </a:extLst>
          </p:cNvPr>
          <p:cNvSpPr>
            <a:spLocks noGrp="1"/>
          </p:cNvSpPr>
          <p:nvPr>
            <p:ph type="title"/>
          </p:nvPr>
        </p:nvSpPr>
        <p:spPr>
          <a:xfrm>
            <a:off x="813511" y="318443"/>
            <a:ext cx="10972800" cy="491126"/>
          </a:xfrm>
        </p:spPr>
        <p:txBody>
          <a:bodyPr>
            <a:normAutofit/>
          </a:bodyPr>
          <a:lstStyle/>
          <a:p>
            <a:r>
              <a:rPr lang="zh-CN" altLang="en-US" sz="2800" b="1" dirty="0">
                <a:latin typeface="Arial" panose="020B0604020202020204" pitchFamily="34" charset="0"/>
                <a:ea typeface="微软雅黑" panose="020B0503020204020204" pitchFamily="34" charset="-122"/>
              </a:rPr>
              <a:t>组替代 </a:t>
            </a:r>
            <a:r>
              <a:rPr lang="en-US" altLang="zh-CN" sz="2800" b="1" dirty="0">
                <a:latin typeface="Arial" panose="020B0604020202020204" pitchFamily="34" charset="0"/>
                <a:ea typeface="微软雅黑" panose="020B0503020204020204" pitchFamily="34" charset="-122"/>
              </a:rPr>
              <a:t>– New Cost</a:t>
            </a:r>
            <a:r>
              <a:rPr lang="zh-CN" altLang="en-US" sz="2800" b="1" dirty="0">
                <a:latin typeface="Arial" panose="020B0604020202020204" pitchFamily="34" charset="0"/>
                <a:ea typeface="微软雅黑" panose="020B0503020204020204" pitchFamily="34" charset="-122"/>
              </a:rPr>
              <a:t>方案</a:t>
            </a:r>
          </a:p>
        </p:txBody>
      </p:sp>
      <p:sp>
        <p:nvSpPr>
          <p:cNvPr id="7" name="矩形 6">
            <a:extLst>
              <a:ext uri="{FF2B5EF4-FFF2-40B4-BE49-F238E27FC236}">
                <a16:creationId xmlns:a16="http://schemas.microsoft.com/office/drawing/2014/main" id="{8AE7C6CE-6E8D-A4B8-2119-E34FBA20BF6C}"/>
              </a:ext>
            </a:extLst>
          </p:cNvPr>
          <p:cNvSpPr/>
          <p:nvPr/>
        </p:nvSpPr>
        <p:spPr>
          <a:xfrm>
            <a:off x="4975123" y="1115596"/>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rPr>
              <a:t>FG1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15" name="连接符: 肘形 14">
            <a:extLst>
              <a:ext uri="{FF2B5EF4-FFF2-40B4-BE49-F238E27FC236}">
                <a16:creationId xmlns:a16="http://schemas.microsoft.com/office/drawing/2014/main" id="{1496A9A8-3EA7-7A7A-3CBE-22D76029E384}"/>
              </a:ext>
            </a:extLst>
          </p:cNvPr>
          <p:cNvCxnSpPr>
            <a:cxnSpLocks/>
            <a:stCxn id="7" idx="2"/>
            <a:endCxn id="12" idx="0"/>
          </p:cNvCxnSpPr>
          <p:nvPr/>
        </p:nvCxnSpPr>
        <p:spPr>
          <a:xfrm rot="16200000" flipH="1">
            <a:off x="5785924" y="919360"/>
            <a:ext cx="318134" cy="1257141"/>
          </a:xfrm>
          <a:prstGeom prst="bentConnector3">
            <a:avLst>
              <a:gd name="adj1" fmla="val 50000"/>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连接符: 肘形 17">
            <a:extLst>
              <a:ext uri="{FF2B5EF4-FFF2-40B4-BE49-F238E27FC236}">
                <a16:creationId xmlns:a16="http://schemas.microsoft.com/office/drawing/2014/main" id="{26EB2F37-A331-7970-4984-4922FC7A050F}"/>
              </a:ext>
            </a:extLst>
          </p:cNvPr>
          <p:cNvCxnSpPr>
            <a:cxnSpLocks/>
            <a:stCxn id="7" idx="2"/>
            <a:endCxn id="9" idx="0"/>
          </p:cNvCxnSpPr>
          <p:nvPr/>
        </p:nvCxnSpPr>
        <p:spPr>
          <a:xfrm rot="5400000">
            <a:off x="4553088" y="972109"/>
            <a:ext cx="346579" cy="1180088"/>
          </a:xfrm>
          <a:prstGeom prst="bentConnector3">
            <a:avLst>
              <a:gd name="adj1" fmla="val 50000"/>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矩形 20">
            <a:extLst>
              <a:ext uri="{FF2B5EF4-FFF2-40B4-BE49-F238E27FC236}">
                <a16:creationId xmlns:a16="http://schemas.microsoft.com/office/drawing/2014/main" id="{CEAEFE4A-0AAC-A285-9056-CC862B623550}"/>
              </a:ext>
            </a:extLst>
          </p:cNvPr>
          <p:cNvSpPr/>
          <p:nvPr/>
        </p:nvSpPr>
        <p:spPr>
          <a:xfrm>
            <a:off x="2926136"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2" name="矩形 21">
            <a:extLst>
              <a:ext uri="{FF2B5EF4-FFF2-40B4-BE49-F238E27FC236}">
                <a16:creationId xmlns:a16="http://schemas.microsoft.com/office/drawing/2014/main" id="{C29E1115-BE42-A11D-BC5F-452409B442ED}"/>
              </a:ext>
            </a:extLst>
          </p:cNvPr>
          <p:cNvSpPr/>
          <p:nvPr/>
        </p:nvSpPr>
        <p:spPr>
          <a:xfrm>
            <a:off x="3779980"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3" name="矩形 22">
            <a:extLst>
              <a:ext uri="{FF2B5EF4-FFF2-40B4-BE49-F238E27FC236}">
                <a16:creationId xmlns:a16="http://schemas.microsoft.com/office/drawing/2014/main" id="{6C908D6E-4A38-E5C7-2C36-1CA7E2F2BD47}"/>
              </a:ext>
            </a:extLst>
          </p:cNvPr>
          <p:cNvSpPr/>
          <p:nvPr/>
        </p:nvSpPr>
        <p:spPr>
          <a:xfrm>
            <a:off x="4633825"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C1</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4" name="矩形 23">
            <a:extLst>
              <a:ext uri="{FF2B5EF4-FFF2-40B4-BE49-F238E27FC236}">
                <a16:creationId xmlns:a16="http://schemas.microsoft.com/office/drawing/2014/main" id="{3D1E1A0B-0527-BCC7-CDBA-D557247C94ED}"/>
              </a:ext>
            </a:extLst>
          </p:cNvPr>
          <p:cNvSpPr/>
          <p:nvPr/>
        </p:nvSpPr>
        <p:spPr>
          <a:xfrm>
            <a:off x="5474908"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5" name="矩形 24">
            <a:extLst>
              <a:ext uri="{FF2B5EF4-FFF2-40B4-BE49-F238E27FC236}">
                <a16:creationId xmlns:a16="http://schemas.microsoft.com/office/drawing/2014/main" id="{36458687-E5F2-308B-27AB-B00F78396226}"/>
              </a:ext>
            </a:extLst>
          </p:cNvPr>
          <p:cNvSpPr/>
          <p:nvPr/>
        </p:nvSpPr>
        <p:spPr>
          <a:xfrm>
            <a:off x="6264477"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矩形 25">
            <a:extLst>
              <a:ext uri="{FF2B5EF4-FFF2-40B4-BE49-F238E27FC236}">
                <a16:creationId xmlns:a16="http://schemas.microsoft.com/office/drawing/2014/main" id="{0AB82F97-FCD1-F6AD-A658-2D52F666CCA0}"/>
              </a:ext>
            </a:extLst>
          </p:cNvPr>
          <p:cNvSpPr/>
          <p:nvPr/>
        </p:nvSpPr>
        <p:spPr>
          <a:xfrm>
            <a:off x="7132802" y="2670519"/>
            <a:ext cx="682596" cy="27326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C2</a:t>
            </a:r>
            <a:endParaRPr kumimoji="0" lang="zh-CN" altLang="en-US" sz="105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0" name="连接符: 肘形 29">
            <a:extLst>
              <a:ext uri="{FF2B5EF4-FFF2-40B4-BE49-F238E27FC236}">
                <a16:creationId xmlns:a16="http://schemas.microsoft.com/office/drawing/2014/main" id="{5D9A9930-0B74-F9B9-C1E0-B295B8E1A549}"/>
              </a:ext>
            </a:extLst>
          </p:cNvPr>
          <p:cNvCxnSpPr>
            <a:cxnSpLocks/>
            <a:stCxn id="10" idx="1"/>
            <a:endCxn id="21" idx="0"/>
          </p:cNvCxnSpPr>
          <p:nvPr/>
        </p:nvCxnSpPr>
        <p:spPr>
          <a:xfrm rot="10800000" flipV="1">
            <a:off x="3267434" y="2009907"/>
            <a:ext cx="606570" cy="660612"/>
          </a:xfrm>
          <a:prstGeom prst="bentConnector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3" name="连接符: 肘形 32">
            <a:extLst>
              <a:ext uri="{FF2B5EF4-FFF2-40B4-BE49-F238E27FC236}">
                <a16:creationId xmlns:a16="http://schemas.microsoft.com/office/drawing/2014/main" id="{D5C97F90-2133-5899-321B-2DD88A54E85F}"/>
              </a:ext>
            </a:extLst>
          </p:cNvPr>
          <p:cNvCxnSpPr>
            <a:cxnSpLocks/>
          </p:cNvCxnSpPr>
          <p:nvPr/>
        </p:nvCxnSpPr>
        <p:spPr>
          <a:xfrm rot="16200000" flipH="1">
            <a:off x="3868165" y="2392895"/>
            <a:ext cx="536336" cy="18911"/>
          </a:xfrm>
          <a:prstGeom prst="bentConnector3">
            <a:avLst>
              <a:gd name="adj1" fmla="val -162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7" name="连接符: 肘形 36">
            <a:extLst>
              <a:ext uri="{FF2B5EF4-FFF2-40B4-BE49-F238E27FC236}">
                <a16:creationId xmlns:a16="http://schemas.microsoft.com/office/drawing/2014/main" id="{20A9EC89-1209-775F-87E5-BAD23598D6A0}"/>
              </a:ext>
            </a:extLst>
          </p:cNvPr>
          <p:cNvCxnSpPr>
            <a:cxnSpLocks/>
            <a:stCxn id="10" idx="0"/>
            <a:endCxn id="23" idx="0"/>
          </p:cNvCxnSpPr>
          <p:nvPr/>
        </p:nvCxnSpPr>
        <p:spPr>
          <a:xfrm rot="16200000" flipH="1">
            <a:off x="4230109" y="1925505"/>
            <a:ext cx="799112" cy="690916"/>
          </a:xfrm>
          <a:prstGeom prst="bentConnector3">
            <a:avLst>
              <a:gd name="adj1" fmla="val 1893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8" name="组合 7">
            <a:extLst>
              <a:ext uri="{FF2B5EF4-FFF2-40B4-BE49-F238E27FC236}">
                <a16:creationId xmlns:a16="http://schemas.microsoft.com/office/drawing/2014/main" id="{43E5F559-422D-8970-5FC7-E5767C08C47E}"/>
              </a:ext>
            </a:extLst>
          </p:cNvPr>
          <p:cNvGrpSpPr/>
          <p:nvPr/>
        </p:nvGrpSpPr>
        <p:grpSpPr>
          <a:xfrm>
            <a:off x="3793282" y="1735443"/>
            <a:ext cx="901127" cy="412963"/>
            <a:chOff x="2678806" y="1841679"/>
            <a:chExt cx="811905" cy="412963"/>
          </a:xfrm>
        </p:grpSpPr>
        <p:sp>
          <p:nvSpPr>
            <p:cNvPr id="9" name="等腰三角形 8">
              <a:extLst>
                <a:ext uri="{FF2B5EF4-FFF2-40B4-BE49-F238E27FC236}">
                  <a16:creationId xmlns:a16="http://schemas.microsoft.com/office/drawing/2014/main" id="{36B6F501-9513-FFAE-B14B-AC6B981EB0E2}"/>
                </a:ext>
              </a:extLst>
            </p:cNvPr>
            <p:cNvSpPr/>
            <p:nvPr/>
          </p:nvSpPr>
          <p:spPr>
            <a:xfrm>
              <a:off x="2678806" y="1841679"/>
              <a:ext cx="618170" cy="384518"/>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0" name="文本框 9">
              <a:extLst>
                <a:ext uri="{FF2B5EF4-FFF2-40B4-BE49-F238E27FC236}">
                  <a16:creationId xmlns:a16="http://schemas.microsoft.com/office/drawing/2014/main" id="{817BFD22-6802-7013-EEC8-A0827B6816CA}"/>
                </a:ext>
              </a:extLst>
            </p:cNvPr>
            <p:cNvSpPr txBox="1"/>
            <p:nvPr/>
          </p:nvSpPr>
          <p:spPr>
            <a:xfrm>
              <a:off x="2751536" y="1977643"/>
              <a:ext cx="7391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P1</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cxnSp>
        <p:nvCxnSpPr>
          <p:cNvPr id="45" name="连接符: 肘形 44">
            <a:extLst>
              <a:ext uri="{FF2B5EF4-FFF2-40B4-BE49-F238E27FC236}">
                <a16:creationId xmlns:a16="http://schemas.microsoft.com/office/drawing/2014/main" id="{BB56513D-44E9-BA18-1854-4DDE45645133}"/>
              </a:ext>
            </a:extLst>
          </p:cNvPr>
          <p:cNvCxnSpPr>
            <a:cxnSpLocks/>
            <a:stCxn id="13" idx="1"/>
            <a:endCxn id="24" idx="0"/>
          </p:cNvCxnSpPr>
          <p:nvPr/>
        </p:nvCxnSpPr>
        <p:spPr>
          <a:xfrm rot="10800000" flipV="1">
            <a:off x="5816207" y="1981461"/>
            <a:ext cx="521001" cy="689057"/>
          </a:xfrm>
          <a:prstGeom prst="bentConnector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连接符: 肘形 49">
            <a:extLst>
              <a:ext uri="{FF2B5EF4-FFF2-40B4-BE49-F238E27FC236}">
                <a16:creationId xmlns:a16="http://schemas.microsoft.com/office/drawing/2014/main" id="{5A535200-BAE8-1543-299D-D5BCE228B077}"/>
              </a:ext>
            </a:extLst>
          </p:cNvPr>
          <p:cNvCxnSpPr>
            <a:cxnSpLocks/>
            <a:stCxn id="12" idx="3"/>
            <a:endCxn id="25" idx="0"/>
          </p:cNvCxnSpPr>
          <p:nvPr/>
        </p:nvCxnSpPr>
        <p:spPr>
          <a:xfrm rot="16200000" flipH="1">
            <a:off x="6300167" y="2364910"/>
            <a:ext cx="579003" cy="32213"/>
          </a:xfrm>
          <a:prstGeom prst="bentConnector3">
            <a:avLst>
              <a:gd name="adj1" fmla="val 1065"/>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连接符: 肘形 53">
            <a:extLst>
              <a:ext uri="{FF2B5EF4-FFF2-40B4-BE49-F238E27FC236}">
                <a16:creationId xmlns:a16="http://schemas.microsoft.com/office/drawing/2014/main" id="{703F6DFB-6FDD-B9E2-F37B-8AC7A1252EBE}"/>
              </a:ext>
            </a:extLst>
          </p:cNvPr>
          <p:cNvCxnSpPr>
            <a:cxnSpLocks/>
            <a:stCxn id="13" idx="0"/>
            <a:endCxn id="26" idx="0"/>
          </p:cNvCxnSpPr>
          <p:nvPr/>
        </p:nvCxnSpPr>
        <p:spPr>
          <a:xfrm rot="16200000" flipH="1">
            <a:off x="6676668" y="1873088"/>
            <a:ext cx="827557" cy="767305"/>
          </a:xfrm>
          <a:prstGeom prst="bentConnector3">
            <a:avLst>
              <a:gd name="adj1" fmla="val 16730"/>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 name="组合 10">
            <a:extLst>
              <a:ext uri="{FF2B5EF4-FFF2-40B4-BE49-F238E27FC236}">
                <a16:creationId xmlns:a16="http://schemas.microsoft.com/office/drawing/2014/main" id="{E3D70958-94F4-4512-34EE-544F42DA73D2}"/>
              </a:ext>
            </a:extLst>
          </p:cNvPr>
          <p:cNvGrpSpPr/>
          <p:nvPr/>
        </p:nvGrpSpPr>
        <p:grpSpPr>
          <a:xfrm>
            <a:off x="6264477" y="1706998"/>
            <a:ext cx="811905" cy="412963"/>
            <a:chOff x="2678806" y="1841679"/>
            <a:chExt cx="811905" cy="412963"/>
          </a:xfrm>
        </p:grpSpPr>
        <p:sp>
          <p:nvSpPr>
            <p:cNvPr id="12" name="等腰三角形 11">
              <a:extLst>
                <a:ext uri="{FF2B5EF4-FFF2-40B4-BE49-F238E27FC236}">
                  <a16:creationId xmlns:a16="http://schemas.microsoft.com/office/drawing/2014/main" id="{7874B8F7-1A4A-7722-6C16-55FBE42E4A02}"/>
                </a:ext>
              </a:extLst>
            </p:cNvPr>
            <p:cNvSpPr/>
            <p:nvPr/>
          </p:nvSpPr>
          <p:spPr>
            <a:xfrm>
              <a:off x="2678806" y="1841679"/>
              <a:ext cx="618170" cy="384518"/>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1"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3" name="文本框 12">
              <a:extLst>
                <a:ext uri="{FF2B5EF4-FFF2-40B4-BE49-F238E27FC236}">
                  <a16:creationId xmlns:a16="http://schemas.microsoft.com/office/drawing/2014/main" id="{AA0B9318-9F05-8C40-D921-6BC1BE2D7DE9}"/>
                </a:ext>
              </a:extLst>
            </p:cNvPr>
            <p:cNvSpPr txBox="1"/>
            <p:nvPr/>
          </p:nvSpPr>
          <p:spPr>
            <a:xfrm>
              <a:off x="2751536" y="1977643"/>
              <a:ext cx="7391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endPar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pSp>
      <p:graphicFrame>
        <p:nvGraphicFramePr>
          <p:cNvPr id="62" name="表格 61">
            <a:extLst>
              <a:ext uri="{FF2B5EF4-FFF2-40B4-BE49-F238E27FC236}">
                <a16:creationId xmlns:a16="http://schemas.microsoft.com/office/drawing/2014/main" id="{46BF0DED-9D1D-A39D-E308-F937BA8D3E65}"/>
              </a:ext>
            </a:extLst>
          </p:cNvPr>
          <p:cNvGraphicFramePr>
            <a:graphicFrameLocks noGrp="1"/>
          </p:cNvGraphicFramePr>
          <p:nvPr>
            <p:extLst>
              <p:ext uri="{D42A27DB-BD31-4B8C-83A1-F6EECF244321}">
                <p14:modId xmlns:p14="http://schemas.microsoft.com/office/powerpoint/2010/main" val="824200228"/>
              </p:ext>
            </p:extLst>
          </p:nvPr>
        </p:nvGraphicFramePr>
        <p:xfrm>
          <a:off x="767848" y="3523083"/>
          <a:ext cx="10020598" cy="2595880"/>
        </p:xfrm>
        <a:graphic>
          <a:graphicData uri="http://schemas.openxmlformats.org/drawingml/2006/table">
            <a:tbl>
              <a:tblPr firstRow="1" bandRow="1">
                <a:tableStyleId>{69012ECD-51FC-41F1-AA8D-1B2483CD663E}</a:tableStyleId>
              </a:tblPr>
              <a:tblGrid>
                <a:gridCol w="977713">
                  <a:extLst>
                    <a:ext uri="{9D8B030D-6E8A-4147-A177-3AD203B41FA5}">
                      <a16:colId xmlns:a16="http://schemas.microsoft.com/office/drawing/2014/main" val="2702206627"/>
                    </a:ext>
                  </a:extLst>
                </a:gridCol>
                <a:gridCol w="1615121">
                  <a:extLst>
                    <a:ext uri="{9D8B030D-6E8A-4147-A177-3AD203B41FA5}">
                      <a16:colId xmlns:a16="http://schemas.microsoft.com/office/drawing/2014/main" val="544131096"/>
                    </a:ext>
                  </a:extLst>
                </a:gridCol>
                <a:gridCol w="1090242">
                  <a:extLst>
                    <a:ext uri="{9D8B030D-6E8A-4147-A177-3AD203B41FA5}">
                      <a16:colId xmlns:a16="http://schemas.microsoft.com/office/drawing/2014/main" val="891064027"/>
                    </a:ext>
                  </a:extLst>
                </a:gridCol>
                <a:gridCol w="823358">
                  <a:extLst>
                    <a:ext uri="{9D8B030D-6E8A-4147-A177-3AD203B41FA5}">
                      <a16:colId xmlns:a16="http://schemas.microsoft.com/office/drawing/2014/main" val="587444214"/>
                    </a:ext>
                  </a:extLst>
                </a:gridCol>
                <a:gridCol w="1196036">
                  <a:extLst>
                    <a:ext uri="{9D8B030D-6E8A-4147-A177-3AD203B41FA5}">
                      <a16:colId xmlns:a16="http://schemas.microsoft.com/office/drawing/2014/main" val="156193062"/>
                    </a:ext>
                  </a:extLst>
                </a:gridCol>
                <a:gridCol w="1591584">
                  <a:extLst>
                    <a:ext uri="{9D8B030D-6E8A-4147-A177-3AD203B41FA5}">
                      <a16:colId xmlns:a16="http://schemas.microsoft.com/office/drawing/2014/main" val="131510548"/>
                    </a:ext>
                  </a:extLst>
                </a:gridCol>
                <a:gridCol w="1363272">
                  <a:extLst>
                    <a:ext uri="{9D8B030D-6E8A-4147-A177-3AD203B41FA5}">
                      <a16:colId xmlns:a16="http://schemas.microsoft.com/office/drawing/2014/main" val="3115395869"/>
                    </a:ext>
                  </a:extLst>
                </a:gridCol>
                <a:gridCol w="1363272">
                  <a:extLst>
                    <a:ext uri="{9D8B030D-6E8A-4147-A177-3AD203B41FA5}">
                      <a16:colId xmlns:a16="http://schemas.microsoft.com/office/drawing/2014/main" val="1786259038"/>
                    </a:ext>
                  </a:extLst>
                </a:gridCol>
              </a:tblGrid>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Parent</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kitted Qty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Supply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OH</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SR</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Planned Qty</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Unit Cost</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New Cost</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6231092"/>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76864"/>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11000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7485285"/>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C1</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744743"/>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A2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1000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463136"/>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B2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200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9618772"/>
                  </a:ext>
                </a:extLst>
              </a:tr>
              <a:tr h="370840">
                <a:tc>
                  <a:txBody>
                    <a:bodyPr/>
                    <a:lstStyle/>
                    <a:p>
                      <a:r>
                        <a:rPr lang="en-US" altLang="zh-CN" sz="1200" dirty="0">
                          <a:solidFill>
                            <a:schemeClr val="tx1"/>
                          </a:solidFill>
                          <a:latin typeface="Arial" panose="020B0604020202020204" pitchFamily="34" charset="0"/>
                          <a:ea typeface="微软雅黑" panose="020B0503020204020204" pitchFamily="34" charset="-122"/>
                        </a:rPr>
                        <a:t>P2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Arial" panose="020B0604020202020204" pitchFamily="34" charset="0"/>
                          <a:ea typeface="微软雅黑" panose="020B0503020204020204" pitchFamily="34" charset="-122"/>
                        </a:rPr>
                        <a:t>50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C2</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25</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40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Arial" panose="020B0604020202020204" pitchFamily="34" charset="0"/>
                          <a:ea typeface="微软雅黑" panose="020B0503020204020204" pitchFamily="34" charset="-122"/>
                        </a:rPr>
                        <a:t>1000</a:t>
                      </a:r>
                      <a:endParaRPr lang="zh-CN" altLang="en-US" sz="1200" dirty="0">
                        <a:solidFill>
                          <a:schemeClr val="tx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724752"/>
                  </a:ext>
                </a:extLst>
              </a:tr>
            </a:tbl>
          </a:graphicData>
        </a:graphic>
      </p:graphicFrame>
      <p:sp>
        <p:nvSpPr>
          <p:cNvPr id="2" name="文本框 1">
            <a:extLst>
              <a:ext uri="{FF2B5EF4-FFF2-40B4-BE49-F238E27FC236}">
                <a16:creationId xmlns:a16="http://schemas.microsoft.com/office/drawing/2014/main" id="{E3D2FB33-E4E2-9D00-BC93-84355AFA54D3}"/>
              </a:ext>
            </a:extLst>
          </p:cNvPr>
          <p:cNvSpPr txBox="1"/>
          <p:nvPr/>
        </p:nvSpPr>
        <p:spPr>
          <a:xfrm>
            <a:off x="4445852" y="1597409"/>
            <a:ext cx="17536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Target:4</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F196027-DF7E-BBC7-F265-B9A1AA326EF5}"/>
              </a:ext>
            </a:extLst>
          </p:cNvPr>
          <p:cNvSpPr txBox="1"/>
          <p:nvPr/>
        </p:nvSpPr>
        <p:spPr>
          <a:xfrm>
            <a:off x="6966841" y="1566077"/>
            <a:ext cx="17536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Priority:2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Target:1</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文本框 3">
            <a:extLst>
              <a:ext uri="{FF2B5EF4-FFF2-40B4-BE49-F238E27FC236}">
                <a16:creationId xmlns:a16="http://schemas.microsoft.com/office/drawing/2014/main" id="{DA5CB328-EC93-B1D4-4669-418F75014638}"/>
              </a:ext>
            </a:extLst>
          </p:cNvPr>
          <p:cNvSpPr txBox="1"/>
          <p:nvPr/>
        </p:nvSpPr>
        <p:spPr>
          <a:xfrm>
            <a:off x="3005159" y="6328927"/>
            <a:ext cx="56220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新增成本最低，我们选择</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P2</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相关计划作为结果</a:t>
            </a:r>
          </a:p>
        </p:txBody>
      </p:sp>
    </p:spTree>
    <p:extLst>
      <p:ext uri="{BB962C8B-B14F-4D97-AF65-F5344CB8AC3E}">
        <p14:creationId xmlns:p14="http://schemas.microsoft.com/office/powerpoint/2010/main" val="15637247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D11C0-A163-696A-AE7E-869EBF94962F}"/>
              </a:ext>
            </a:extLst>
          </p:cNvPr>
          <p:cNvSpPr>
            <a:spLocks noGrp="1"/>
          </p:cNvSpPr>
          <p:nvPr>
            <p:ph type="title"/>
          </p:nvPr>
        </p:nvSpPr>
        <p:spPr>
          <a:xfrm>
            <a:off x="609600" y="332635"/>
            <a:ext cx="10972800" cy="478247"/>
          </a:xfrm>
        </p:spPr>
        <p:txBody>
          <a:bodyPr>
            <a:normAutofit/>
          </a:bodyPr>
          <a:lstStyle/>
          <a:p>
            <a:r>
              <a:rPr lang="zh-CN" altLang="en-US" sz="2800" b="1" dirty="0">
                <a:solidFill>
                  <a:schemeClr val="bg1"/>
                </a:solidFill>
                <a:latin typeface="Arial" panose="020B0604020202020204" pitchFamily="34" charset="0"/>
                <a:ea typeface="微软雅黑" panose="020B0503020204020204" pitchFamily="34" charset="-122"/>
              </a:rPr>
              <a:t>跨工厂 </a:t>
            </a:r>
            <a:r>
              <a:rPr lang="en-US" altLang="zh-CN" sz="2800" b="1" dirty="0">
                <a:solidFill>
                  <a:schemeClr val="bg1"/>
                </a:solidFill>
                <a:latin typeface="Arial" panose="020B0604020202020204" pitchFamily="34" charset="0"/>
                <a:ea typeface="微软雅黑" panose="020B0503020204020204" pitchFamily="34" charset="-122"/>
              </a:rPr>
              <a:t>– </a:t>
            </a:r>
            <a:r>
              <a:rPr lang="en-US" altLang="zh-CN" sz="2800" dirty="0">
                <a:solidFill>
                  <a:schemeClr val="bg1"/>
                </a:solidFill>
                <a:latin typeface="Arial" panose="020B0604020202020204" pitchFamily="34" charset="0"/>
                <a:ea typeface="微软雅黑" panose="020B0503020204020204" pitchFamily="34" charset="-122"/>
              </a:rPr>
              <a:t>By</a:t>
            </a:r>
            <a:r>
              <a:rPr lang="zh-CN" altLang="en-US" sz="2800" dirty="0">
                <a:solidFill>
                  <a:schemeClr val="bg1"/>
                </a:solidFill>
                <a:latin typeface="Arial" panose="020B0604020202020204" pitchFamily="34" charset="0"/>
                <a:ea typeface="微软雅黑" panose="020B0503020204020204" pitchFamily="34" charset="-122"/>
              </a:rPr>
              <a:t> </a:t>
            </a:r>
            <a:r>
              <a:rPr lang="en-US" altLang="zh-CN" sz="2800" dirty="0">
                <a:solidFill>
                  <a:schemeClr val="bg1"/>
                </a:solidFill>
                <a:latin typeface="Arial" panose="020B0604020202020204" pitchFamily="34" charset="0"/>
                <a:ea typeface="微软雅黑" panose="020B0503020204020204" pitchFamily="34" charset="-122"/>
              </a:rPr>
              <a:t>Level</a:t>
            </a:r>
            <a:endParaRPr lang="zh-CN" altLang="en-US" sz="2800" b="1" dirty="0">
              <a:solidFill>
                <a:schemeClr val="bg1"/>
              </a:solidFill>
              <a:latin typeface="Arial" panose="020B0604020202020204" pitchFamily="34" charset="0"/>
              <a:ea typeface="微软雅黑" panose="020B0503020204020204" pitchFamily="34" charset="-122"/>
            </a:endParaRPr>
          </a:p>
        </p:txBody>
      </p:sp>
      <p:sp>
        <p:nvSpPr>
          <p:cNvPr id="29" name="矩形 28">
            <a:extLst>
              <a:ext uri="{FF2B5EF4-FFF2-40B4-BE49-F238E27FC236}">
                <a16:creationId xmlns:a16="http://schemas.microsoft.com/office/drawing/2014/main" id="{C3D45BA0-2AD8-324E-1B25-18E7F5983095}"/>
              </a:ext>
            </a:extLst>
          </p:cNvPr>
          <p:cNvSpPr/>
          <p:nvPr/>
        </p:nvSpPr>
        <p:spPr>
          <a:xfrm>
            <a:off x="3000778" y="906506"/>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FG</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0" name="矩形 29">
            <a:extLst>
              <a:ext uri="{FF2B5EF4-FFF2-40B4-BE49-F238E27FC236}">
                <a16:creationId xmlns:a16="http://schemas.microsoft.com/office/drawing/2014/main" id="{3E3A31AB-DA0D-FC60-26E3-D5FB127F96DF}"/>
              </a:ext>
            </a:extLst>
          </p:cNvPr>
          <p:cNvSpPr/>
          <p:nvPr/>
        </p:nvSpPr>
        <p:spPr>
          <a:xfrm>
            <a:off x="2155063" y="1561182"/>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1" name="矩形 30">
            <a:extLst>
              <a:ext uri="{FF2B5EF4-FFF2-40B4-BE49-F238E27FC236}">
                <a16:creationId xmlns:a16="http://schemas.microsoft.com/office/drawing/2014/main" id="{0EA83E31-4D44-6A95-9688-16914C7B895D}"/>
              </a:ext>
            </a:extLst>
          </p:cNvPr>
          <p:cNvSpPr/>
          <p:nvPr/>
        </p:nvSpPr>
        <p:spPr>
          <a:xfrm>
            <a:off x="3769216" y="1567621"/>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2" name="矩形 31">
            <a:extLst>
              <a:ext uri="{FF2B5EF4-FFF2-40B4-BE49-F238E27FC236}">
                <a16:creationId xmlns:a16="http://schemas.microsoft.com/office/drawing/2014/main" id="{1468E749-3A7F-4454-DB5B-6D6136BA2730}"/>
              </a:ext>
            </a:extLst>
          </p:cNvPr>
          <p:cNvSpPr/>
          <p:nvPr/>
        </p:nvSpPr>
        <p:spPr>
          <a:xfrm>
            <a:off x="1695706"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3" name="矩形 32">
            <a:extLst>
              <a:ext uri="{FF2B5EF4-FFF2-40B4-BE49-F238E27FC236}">
                <a16:creationId xmlns:a16="http://schemas.microsoft.com/office/drawing/2014/main" id="{27EF7652-0D9F-E876-9703-1CAF94A49EDD}"/>
              </a:ext>
            </a:extLst>
          </p:cNvPr>
          <p:cNvSpPr/>
          <p:nvPr/>
        </p:nvSpPr>
        <p:spPr>
          <a:xfrm>
            <a:off x="2610117"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4" name="矩形 33">
            <a:extLst>
              <a:ext uri="{FF2B5EF4-FFF2-40B4-BE49-F238E27FC236}">
                <a16:creationId xmlns:a16="http://schemas.microsoft.com/office/drawing/2014/main" id="{2450C6D6-FDDF-D15F-45F9-F8A560DB2517}"/>
              </a:ext>
            </a:extLst>
          </p:cNvPr>
          <p:cNvSpPr/>
          <p:nvPr/>
        </p:nvSpPr>
        <p:spPr>
          <a:xfrm>
            <a:off x="3342063"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5" name="矩形 34">
            <a:extLst>
              <a:ext uri="{FF2B5EF4-FFF2-40B4-BE49-F238E27FC236}">
                <a16:creationId xmlns:a16="http://schemas.microsoft.com/office/drawing/2014/main" id="{B9082934-7DA1-399D-15FE-E56B7AE52111}"/>
              </a:ext>
            </a:extLst>
          </p:cNvPr>
          <p:cNvSpPr/>
          <p:nvPr/>
        </p:nvSpPr>
        <p:spPr>
          <a:xfrm>
            <a:off x="4243593"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37" name="连接符: 肘形 36">
            <a:extLst>
              <a:ext uri="{FF2B5EF4-FFF2-40B4-BE49-F238E27FC236}">
                <a16:creationId xmlns:a16="http://schemas.microsoft.com/office/drawing/2014/main" id="{8F330CFE-0192-8EDC-C3C1-97E2CC81C9E8}"/>
              </a:ext>
            </a:extLst>
          </p:cNvPr>
          <p:cNvCxnSpPr>
            <a:stCxn id="29" idx="2"/>
            <a:endCxn id="30" idx="0"/>
          </p:cNvCxnSpPr>
          <p:nvPr/>
        </p:nvCxnSpPr>
        <p:spPr>
          <a:xfrm rot="5400000">
            <a:off x="2685246" y="978412"/>
            <a:ext cx="319825" cy="8457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D9A06CA4-F97C-CEE2-F3AA-815249892402}"/>
              </a:ext>
            </a:extLst>
          </p:cNvPr>
          <p:cNvCxnSpPr>
            <a:cxnSpLocks/>
            <a:stCxn id="29" idx="2"/>
            <a:endCxn id="31" idx="0"/>
          </p:cNvCxnSpPr>
          <p:nvPr/>
        </p:nvCxnSpPr>
        <p:spPr>
          <a:xfrm rot="16200000" flipH="1">
            <a:off x="3489102" y="1020270"/>
            <a:ext cx="326264" cy="7684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1" name="连接符: 肘形 40">
            <a:extLst>
              <a:ext uri="{FF2B5EF4-FFF2-40B4-BE49-F238E27FC236}">
                <a16:creationId xmlns:a16="http://schemas.microsoft.com/office/drawing/2014/main" id="{27CE99EE-5AB4-3E28-FF8A-ED9532DC25DC}"/>
              </a:ext>
            </a:extLst>
          </p:cNvPr>
          <p:cNvCxnSpPr>
            <a:cxnSpLocks/>
            <a:stCxn id="30" idx="2"/>
            <a:endCxn id="32" idx="0"/>
          </p:cNvCxnSpPr>
          <p:nvPr/>
        </p:nvCxnSpPr>
        <p:spPr>
          <a:xfrm rot="5400000">
            <a:off x="1948997" y="1909980"/>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6FFFDA9B-F311-3CCF-9158-6DC3E114190D}"/>
              </a:ext>
            </a:extLst>
          </p:cNvPr>
          <p:cNvCxnSpPr>
            <a:cxnSpLocks/>
            <a:stCxn id="30" idx="2"/>
            <a:endCxn id="33" idx="0"/>
          </p:cNvCxnSpPr>
          <p:nvPr/>
        </p:nvCxnSpPr>
        <p:spPr>
          <a:xfrm rot="16200000" flipH="1">
            <a:off x="2407275" y="1911058"/>
            <a:ext cx="485104" cy="45505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46962F45-7B87-5BA9-53AC-5CA263B546C2}"/>
              </a:ext>
            </a:extLst>
          </p:cNvPr>
          <p:cNvCxnSpPr>
            <a:cxnSpLocks/>
          </p:cNvCxnSpPr>
          <p:nvPr/>
        </p:nvCxnSpPr>
        <p:spPr>
          <a:xfrm rot="5400000">
            <a:off x="3563150" y="1931446"/>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4D18749C-5012-81A5-D32C-F537A262C237}"/>
              </a:ext>
            </a:extLst>
          </p:cNvPr>
          <p:cNvCxnSpPr>
            <a:cxnSpLocks/>
            <a:stCxn id="31" idx="2"/>
            <a:endCxn id="35" idx="0"/>
          </p:cNvCxnSpPr>
          <p:nvPr/>
        </p:nvCxnSpPr>
        <p:spPr>
          <a:xfrm rot="16200000" flipH="1">
            <a:off x="4034309" y="1904615"/>
            <a:ext cx="478665" cy="474377"/>
          </a:xfrm>
          <a:prstGeom prst="bentConnector3">
            <a:avLst>
              <a:gd name="adj1" fmla="val 54036"/>
            </a:avLst>
          </a:prstGeom>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427E138A-3F19-1D7D-06D8-4A3FA285F899}"/>
              </a:ext>
            </a:extLst>
          </p:cNvPr>
          <p:cNvSpPr/>
          <p:nvPr/>
        </p:nvSpPr>
        <p:spPr>
          <a:xfrm>
            <a:off x="7944119" y="906506"/>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FG</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3" name="矩形 52">
            <a:extLst>
              <a:ext uri="{FF2B5EF4-FFF2-40B4-BE49-F238E27FC236}">
                <a16:creationId xmlns:a16="http://schemas.microsoft.com/office/drawing/2014/main" id="{E6B5E635-5417-3EE4-B3E9-458534846050}"/>
              </a:ext>
            </a:extLst>
          </p:cNvPr>
          <p:cNvSpPr/>
          <p:nvPr/>
        </p:nvSpPr>
        <p:spPr>
          <a:xfrm>
            <a:off x="7098404" y="1561182"/>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4" name="矩形 53">
            <a:extLst>
              <a:ext uri="{FF2B5EF4-FFF2-40B4-BE49-F238E27FC236}">
                <a16:creationId xmlns:a16="http://schemas.microsoft.com/office/drawing/2014/main" id="{B831D327-C198-0545-B87A-65DE27AAC662}"/>
              </a:ext>
            </a:extLst>
          </p:cNvPr>
          <p:cNvSpPr/>
          <p:nvPr/>
        </p:nvSpPr>
        <p:spPr>
          <a:xfrm>
            <a:off x="8712557" y="1567621"/>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B</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5" name="矩形 54">
            <a:extLst>
              <a:ext uri="{FF2B5EF4-FFF2-40B4-BE49-F238E27FC236}">
                <a16:creationId xmlns:a16="http://schemas.microsoft.com/office/drawing/2014/main" id="{21EB22B9-BAFA-A669-45DB-21E31CE72AAB}"/>
              </a:ext>
            </a:extLst>
          </p:cNvPr>
          <p:cNvSpPr/>
          <p:nvPr/>
        </p:nvSpPr>
        <p:spPr>
          <a:xfrm>
            <a:off x="6639047"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C</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6" name="矩形 55">
            <a:extLst>
              <a:ext uri="{FF2B5EF4-FFF2-40B4-BE49-F238E27FC236}">
                <a16:creationId xmlns:a16="http://schemas.microsoft.com/office/drawing/2014/main" id="{FCEF979C-83BB-9403-A160-79975130A1E1}"/>
              </a:ext>
            </a:extLst>
          </p:cNvPr>
          <p:cNvSpPr/>
          <p:nvPr/>
        </p:nvSpPr>
        <p:spPr>
          <a:xfrm>
            <a:off x="7553458"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D</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7" name="矩形 56">
            <a:extLst>
              <a:ext uri="{FF2B5EF4-FFF2-40B4-BE49-F238E27FC236}">
                <a16:creationId xmlns:a16="http://schemas.microsoft.com/office/drawing/2014/main" id="{1606BA3C-9B21-B759-994B-09C28317A78A}"/>
              </a:ext>
            </a:extLst>
          </p:cNvPr>
          <p:cNvSpPr/>
          <p:nvPr/>
        </p:nvSpPr>
        <p:spPr>
          <a:xfrm>
            <a:off x="8285404"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E</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8" name="矩形 57">
            <a:extLst>
              <a:ext uri="{FF2B5EF4-FFF2-40B4-BE49-F238E27FC236}">
                <a16:creationId xmlns:a16="http://schemas.microsoft.com/office/drawing/2014/main" id="{F3EA19F7-D72D-09BF-7D34-8CDC0E80D6A5}"/>
              </a:ext>
            </a:extLst>
          </p:cNvPr>
          <p:cNvSpPr/>
          <p:nvPr/>
        </p:nvSpPr>
        <p:spPr>
          <a:xfrm>
            <a:off x="9186934"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F</a:t>
            </a:r>
            <a:endParaRPr kumimoji="0" lang="zh-CN" altLang="en-US" sz="1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cxnSp>
        <p:nvCxnSpPr>
          <p:cNvPr id="59" name="连接符: 肘形 58">
            <a:extLst>
              <a:ext uri="{FF2B5EF4-FFF2-40B4-BE49-F238E27FC236}">
                <a16:creationId xmlns:a16="http://schemas.microsoft.com/office/drawing/2014/main" id="{E6228760-92C0-D605-7828-31013D3E190E}"/>
              </a:ext>
            </a:extLst>
          </p:cNvPr>
          <p:cNvCxnSpPr>
            <a:stCxn id="52" idx="2"/>
            <a:endCxn id="53" idx="0"/>
          </p:cNvCxnSpPr>
          <p:nvPr/>
        </p:nvCxnSpPr>
        <p:spPr>
          <a:xfrm rot="5400000">
            <a:off x="7628587" y="978412"/>
            <a:ext cx="319825" cy="8457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0" name="连接符: 肘形 59">
            <a:extLst>
              <a:ext uri="{FF2B5EF4-FFF2-40B4-BE49-F238E27FC236}">
                <a16:creationId xmlns:a16="http://schemas.microsoft.com/office/drawing/2014/main" id="{F701AE1A-18FA-9E36-BC0F-9DCF72E0DC72}"/>
              </a:ext>
            </a:extLst>
          </p:cNvPr>
          <p:cNvCxnSpPr>
            <a:cxnSpLocks/>
            <a:stCxn id="52" idx="2"/>
            <a:endCxn id="54" idx="0"/>
          </p:cNvCxnSpPr>
          <p:nvPr/>
        </p:nvCxnSpPr>
        <p:spPr>
          <a:xfrm rot="16200000" flipH="1">
            <a:off x="8432443" y="1020270"/>
            <a:ext cx="326264" cy="7684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0C5C0FCF-2962-9608-937E-6E4327408EB0}"/>
              </a:ext>
            </a:extLst>
          </p:cNvPr>
          <p:cNvCxnSpPr>
            <a:cxnSpLocks/>
            <a:stCxn id="53" idx="2"/>
            <a:endCxn id="55" idx="0"/>
          </p:cNvCxnSpPr>
          <p:nvPr/>
        </p:nvCxnSpPr>
        <p:spPr>
          <a:xfrm rot="5400000">
            <a:off x="6892338" y="1909980"/>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184D4BE6-2949-F847-981B-21B63DC3A139}"/>
              </a:ext>
            </a:extLst>
          </p:cNvPr>
          <p:cNvCxnSpPr>
            <a:cxnSpLocks/>
            <a:stCxn id="53" idx="2"/>
            <a:endCxn id="56" idx="0"/>
          </p:cNvCxnSpPr>
          <p:nvPr/>
        </p:nvCxnSpPr>
        <p:spPr>
          <a:xfrm rot="16200000" flipH="1">
            <a:off x="7350616" y="1911058"/>
            <a:ext cx="485104" cy="45505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337088C2-A19E-8E57-0E4F-307B32109F60}"/>
              </a:ext>
            </a:extLst>
          </p:cNvPr>
          <p:cNvCxnSpPr>
            <a:cxnSpLocks/>
          </p:cNvCxnSpPr>
          <p:nvPr/>
        </p:nvCxnSpPr>
        <p:spPr>
          <a:xfrm rot="5400000">
            <a:off x="8506491" y="1931446"/>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2B157E8A-AD43-8747-7205-1C90BD94F8D5}"/>
              </a:ext>
            </a:extLst>
          </p:cNvPr>
          <p:cNvCxnSpPr>
            <a:cxnSpLocks/>
            <a:stCxn id="54" idx="2"/>
            <a:endCxn id="58" idx="0"/>
          </p:cNvCxnSpPr>
          <p:nvPr/>
        </p:nvCxnSpPr>
        <p:spPr>
          <a:xfrm rot="16200000" flipH="1">
            <a:off x="8977650" y="1904615"/>
            <a:ext cx="478665" cy="474377"/>
          </a:xfrm>
          <a:prstGeom prst="bentConnector3">
            <a:avLst>
              <a:gd name="adj1" fmla="val 54036"/>
            </a:avLst>
          </a:prstGeom>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ED732885-75EA-E450-147E-78A68ED81679}"/>
              </a:ext>
            </a:extLst>
          </p:cNvPr>
          <p:cNvSpPr txBox="1"/>
          <p:nvPr/>
        </p:nvSpPr>
        <p:spPr>
          <a:xfrm>
            <a:off x="4243593" y="906506"/>
            <a:ext cx="7598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Site1</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8" name="文本框 67">
            <a:extLst>
              <a:ext uri="{FF2B5EF4-FFF2-40B4-BE49-F238E27FC236}">
                <a16:creationId xmlns:a16="http://schemas.microsoft.com/office/drawing/2014/main" id="{02F091B4-C07A-1D9E-58EC-4539895C5CD8}"/>
              </a:ext>
            </a:extLst>
          </p:cNvPr>
          <p:cNvSpPr txBox="1"/>
          <p:nvPr/>
        </p:nvSpPr>
        <p:spPr>
          <a:xfrm>
            <a:off x="9247030" y="904291"/>
            <a:ext cx="7598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Site2</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aphicFrame>
        <p:nvGraphicFramePr>
          <p:cNvPr id="69" name="表格 68">
            <a:extLst>
              <a:ext uri="{FF2B5EF4-FFF2-40B4-BE49-F238E27FC236}">
                <a16:creationId xmlns:a16="http://schemas.microsoft.com/office/drawing/2014/main" id="{D158AA7D-E869-D941-8EFF-AEBF4342F88B}"/>
              </a:ext>
            </a:extLst>
          </p:cNvPr>
          <p:cNvGraphicFramePr>
            <a:graphicFrameLocks noGrp="1"/>
          </p:cNvGraphicFramePr>
          <p:nvPr>
            <p:extLst>
              <p:ext uri="{D42A27DB-BD31-4B8C-83A1-F6EECF244321}">
                <p14:modId xmlns:p14="http://schemas.microsoft.com/office/powerpoint/2010/main" val="2124124374"/>
              </p:ext>
            </p:extLst>
          </p:nvPr>
        </p:nvGraphicFramePr>
        <p:xfrm>
          <a:off x="395166" y="2926663"/>
          <a:ext cx="11115951" cy="3886200"/>
        </p:xfrm>
        <a:graphic>
          <a:graphicData uri="http://schemas.openxmlformats.org/drawingml/2006/table">
            <a:tbl>
              <a:tblPr firstRow="1" bandRow="1">
                <a:tableStyleId>{69012ECD-51FC-41F1-AA8D-1B2483CD663E}</a:tableStyleId>
              </a:tblPr>
              <a:tblGrid>
                <a:gridCol w="2549727">
                  <a:extLst>
                    <a:ext uri="{9D8B030D-6E8A-4147-A177-3AD203B41FA5}">
                      <a16:colId xmlns:a16="http://schemas.microsoft.com/office/drawing/2014/main" val="2126420937"/>
                    </a:ext>
                  </a:extLst>
                </a:gridCol>
                <a:gridCol w="2549727">
                  <a:extLst>
                    <a:ext uri="{9D8B030D-6E8A-4147-A177-3AD203B41FA5}">
                      <a16:colId xmlns:a16="http://schemas.microsoft.com/office/drawing/2014/main" val="867906005"/>
                    </a:ext>
                  </a:extLst>
                </a:gridCol>
                <a:gridCol w="2005499">
                  <a:extLst>
                    <a:ext uri="{9D8B030D-6E8A-4147-A177-3AD203B41FA5}">
                      <a16:colId xmlns:a16="http://schemas.microsoft.com/office/drawing/2014/main" val="2354012421"/>
                    </a:ext>
                  </a:extLst>
                </a:gridCol>
                <a:gridCol w="2005499">
                  <a:extLst>
                    <a:ext uri="{9D8B030D-6E8A-4147-A177-3AD203B41FA5}">
                      <a16:colId xmlns:a16="http://schemas.microsoft.com/office/drawing/2014/main" val="1314408603"/>
                    </a:ext>
                  </a:extLst>
                </a:gridCol>
                <a:gridCol w="2005499">
                  <a:extLst>
                    <a:ext uri="{9D8B030D-6E8A-4147-A177-3AD203B41FA5}">
                      <a16:colId xmlns:a16="http://schemas.microsoft.com/office/drawing/2014/main" val="3062802097"/>
                    </a:ext>
                  </a:extLst>
                </a:gridCol>
              </a:tblGrid>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Request Qty</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Site</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Material</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OH</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1" dirty="0">
                          <a:solidFill>
                            <a:schemeClr val="bg1"/>
                          </a:solidFill>
                          <a:latin typeface="Arial" panose="020B0604020202020204" pitchFamily="34" charset="0"/>
                          <a:ea typeface="微软雅黑" panose="020B0503020204020204" pitchFamily="34" charset="-122"/>
                        </a:rPr>
                        <a:t>SR</a:t>
                      </a:r>
                      <a:endParaRPr lang="zh-CN" altLang="en-US" sz="1100" b="1"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42088838"/>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FG</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20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66504362"/>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A</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30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36823452"/>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B</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50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654399965"/>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C</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20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58863721"/>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D</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20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433189271"/>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E</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20</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3112474250"/>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Site1</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F</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420695882"/>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FG</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30</a:t>
                      </a:r>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827940667"/>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A</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18376930"/>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B</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39916799"/>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C</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30</a:t>
                      </a:r>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289057886"/>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D</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30</a:t>
                      </a:r>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2988773222"/>
                  </a:ext>
                </a:extLst>
              </a:tr>
              <a:tr h="197591">
                <a:tc>
                  <a:txBody>
                    <a:bodyPr/>
                    <a:lstStyle/>
                    <a:p>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E</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50</a:t>
                      </a:r>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951093451"/>
                  </a:ext>
                </a:extLst>
              </a:tr>
              <a:tr h="1975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100" b="1" dirty="0">
                          <a:solidFill>
                            <a:schemeClr val="bg1"/>
                          </a:solidFill>
                          <a:latin typeface="Arial" panose="020B0604020202020204" pitchFamily="34" charset="0"/>
                          <a:ea typeface="微软雅黑" panose="020B0503020204020204" pitchFamily="34" charset="-122"/>
                        </a:rPr>
                        <a:t>100</a:t>
                      </a:r>
                      <a:endParaRPr lang="zh-CN" altLang="en-US" sz="1100" b="1"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Site2</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F</a:t>
                      </a:r>
                      <a:endParaRPr lang="zh-CN" altLang="en-US" sz="1100" b="0" dirty="0">
                        <a:solidFill>
                          <a:schemeClr val="bg1"/>
                        </a:solidFill>
                        <a:latin typeface="Arial" panose="020B0604020202020204" pitchFamily="34" charset="0"/>
                        <a:ea typeface="微软雅黑" panose="020B0503020204020204" pitchFamily="34" charset="-122"/>
                      </a:endParaRPr>
                    </a:p>
                  </a:txBody>
                  <a:tcPr/>
                </a:tc>
                <a:tc>
                  <a:txBody>
                    <a:bodyPr/>
                    <a:lstStyle/>
                    <a:p>
                      <a:endParaRPr lang="zh-CN" altLang="en-US" sz="1100" b="0">
                        <a:solidFill>
                          <a:schemeClr val="bg1"/>
                        </a:solidFill>
                        <a:latin typeface="Arial" panose="020B0604020202020204" pitchFamily="34" charset="0"/>
                        <a:ea typeface="微软雅黑" panose="020B0503020204020204" pitchFamily="34" charset="-122"/>
                      </a:endParaRPr>
                    </a:p>
                  </a:txBody>
                  <a:tcPr/>
                </a:tc>
                <a:tc>
                  <a:txBody>
                    <a:bodyPr/>
                    <a:lstStyle/>
                    <a:p>
                      <a:r>
                        <a:rPr lang="en-US" altLang="zh-CN" sz="1100" b="0" dirty="0">
                          <a:solidFill>
                            <a:schemeClr val="bg1"/>
                          </a:solidFill>
                          <a:latin typeface="Arial" panose="020B0604020202020204" pitchFamily="34" charset="0"/>
                          <a:ea typeface="微软雅黑" panose="020B0503020204020204" pitchFamily="34" charset="-122"/>
                        </a:rPr>
                        <a:t>50</a:t>
                      </a:r>
                      <a:endParaRPr lang="zh-CN" altLang="en-US" sz="1100" b="0" dirty="0">
                        <a:solidFill>
                          <a:schemeClr val="bg1"/>
                        </a:solidFill>
                        <a:latin typeface="Arial" panose="020B0604020202020204" pitchFamily="34" charset="0"/>
                        <a:ea typeface="微软雅黑" panose="020B0503020204020204" pitchFamily="34" charset="-122"/>
                      </a:endParaRPr>
                    </a:p>
                  </a:txBody>
                  <a:tcPr/>
                </a:tc>
                <a:extLst>
                  <a:ext uri="{0D108BD9-81ED-4DB2-BD59-A6C34878D82A}">
                    <a16:rowId xmlns:a16="http://schemas.microsoft.com/office/drawing/2014/main" val="1035689677"/>
                  </a:ext>
                </a:extLst>
              </a:tr>
            </a:tbl>
          </a:graphicData>
        </a:graphic>
      </p:graphicFrame>
      <p:cxnSp>
        <p:nvCxnSpPr>
          <p:cNvPr id="5" name="直接连接符 4">
            <a:extLst>
              <a:ext uri="{FF2B5EF4-FFF2-40B4-BE49-F238E27FC236}">
                <a16:creationId xmlns:a16="http://schemas.microsoft.com/office/drawing/2014/main" id="{524FB64F-8266-6FF8-CB9C-3A5B0E2F2949}"/>
              </a:ext>
            </a:extLst>
          </p:cNvPr>
          <p:cNvCxnSpPr/>
          <p:nvPr/>
        </p:nvCxnSpPr>
        <p:spPr>
          <a:xfrm>
            <a:off x="302342" y="1386348"/>
            <a:ext cx="11208774"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 name="直接连接符 5">
            <a:extLst>
              <a:ext uri="{FF2B5EF4-FFF2-40B4-BE49-F238E27FC236}">
                <a16:creationId xmlns:a16="http://schemas.microsoft.com/office/drawing/2014/main" id="{0677C21E-A25A-7F08-FF65-1252FCA16336}"/>
              </a:ext>
            </a:extLst>
          </p:cNvPr>
          <p:cNvCxnSpPr/>
          <p:nvPr/>
        </p:nvCxnSpPr>
        <p:spPr>
          <a:xfrm>
            <a:off x="302342" y="2110248"/>
            <a:ext cx="11208774"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 name="直接连接符 6">
            <a:extLst>
              <a:ext uri="{FF2B5EF4-FFF2-40B4-BE49-F238E27FC236}">
                <a16:creationId xmlns:a16="http://schemas.microsoft.com/office/drawing/2014/main" id="{D05C0025-1256-A274-823C-F8045382DDE1}"/>
              </a:ext>
            </a:extLst>
          </p:cNvPr>
          <p:cNvCxnSpPr/>
          <p:nvPr/>
        </p:nvCxnSpPr>
        <p:spPr>
          <a:xfrm>
            <a:off x="302342" y="2849388"/>
            <a:ext cx="11208774" cy="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文本框 7">
            <a:extLst>
              <a:ext uri="{FF2B5EF4-FFF2-40B4-BE49-F238E27FC236}">
                <a16:creationId xmlns:a16="http://schemas.microsoft.com/office/drawing/2014/main" id="{2ADCF067-659B-737B-88F8-253B3735BA75}"/>
              </a:ext>
            </a:extLst>
          </p:cNvPr>
          <p:cNvSpPr txBox="1"/>
          <p:nvPr/>
        </p:nvSpPr>
        <p:spPr>
          <a:xfrm>
            <a:off x="302342" y="990600"/>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0</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文本框 8">
            <a:extLst>
              <a:ext uri="{FF2B5EF4-FFF2-40B4-BE49-F238E27FC236}">
                <a16:creationId xmlns:a16="http://schemas.microsoft.com/office/drawing/2014/main" id="{2875A846-C0F9-06E5-798C-B456F7A0D87D}"/>
              </a:ext>
            </a:extLst>
          </p:cNvPr>
          <p:cNvSpPr txBox="1"/>
          <p:nvPr/>
        </p:nvSpPr>
        <p:spPr>
          <a:xfrm>
            <a:off x="281193" y="1726141"/>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1</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CD5461D2-FC8C-6026-20E7-3DAF654F8850}"/>
              </a:ext>
            </a:extLst>
          </p:cNvPr>
          <p:cNvSpPr txBox="1"/>
          <p:nvPr/>
        </p:nvSpPr>
        <p:spPr>
          <a:xfrm>
            <a:off x="281193" y="2440594"/>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2</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886336720"/>
      </p:ext>
    </p:extLst>
  </p:cSld>
  <p:clrMapOvr>
    <a:overrideClrMapping bg1="dk1" tx1="lt1" bg2="dk2" tx2="lt2" accent1="accent1" accent2="accent2" accent3="accent3" accent4="accent4" accent5="accent5" accent6="accent6" hlink="hlink" folHlink="folHlink"/>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0838B-3BE2-FD60-8CBD-08FAC5F1AF5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F0154D-4D9C-F880-1B8F-06701A62EE9B}"/>
              </a:ext>
            </a:extLst>
          </p:cNvPr>
          <p:cNvSpPr>
            <a:spLocks noGrp="1"/>
          </p:cNvSpPr>
          <p:nvPr>
            <p:ph type="title"/>
          </p:nvPr>
        </p:nvSpPr>
        <p:spPr>
          <a:xfrm>
            <a:off x="609600" y="332635"/>
            <a:ext cx="10972800" cy="478247"/>
          </a:xfrm>
        </p:spPr>
        <p:txBody>
          <a:bodyPr>
            <a:normAutofit/>
          </a:bodyPr>
          <a:lstStyle/>
          <a:p>
            <a:r>
              <a:rPr lang="zh-CN" altLang="en-US" sz="2800" b="1" dirty="0">
                <a:solidFill>
                  <a:schemeClr val="bg1"/>
                </a:solidFill>
                <a:latin typeface="Arial" panose="020B0604020202020204" pitchFamily="34" charset="0"/>
                <a:ea typeface="微软雅黑" panose="020B0503020204020204" pitchFamily="34" charset="-122"/>
              </a:rPr>
              <a:t>跨工厂 </a:t>
            </a:r>
            <a:r>
              <a:rPr lang="en-US" altLang="zh-CN" sz="2800" b="1" dirty="0">
                <a:solidFill>
                  <a:schemeClr val="bg1"/>
                </a:solidFill>
                <a:latin typeface="Arial" panose="020B0604020202020204" pitchFamily="34" charset="0"/>
                <a:ea typeface="微软雅黑" panose="020B0503020204020204" pitchFamily="34" charset="-122"/>
              </a:rPr>
              <a:t>– </a:t>
            </a:r>
            <a:r>
              <a:rPr lang="en-US" altLang="zh-CN" sz="2800" dirty="0">
                <a:solidFill>
                  <a:schemeClr val="bg1"/>
                </a:solidFill>
                <a:latin typeface="Arial" panose="020B0604020202020204" pitchFamily="34" charset="0"/>
                <a:ea typeface="微软雅黑" panose="020B0503020204020204" pitchFamily="34" charset="-122"/>
              </a:rPr>
              <a:t>By</a:t>
            </a:r>
            <a:r>
              <a:rPr lang="zh-CN" altLang="en-US" sz="2800" dirty="0">
                <a:solidFill>
                  <a:schemeClr val="bg1"/>
                </a:solidFill>
                <a:latin typeface="Arial" panose="020B0604020202020204" pitchFamily="34" charset="0"/>
                <a:ea typeface="微软雅黑" panose="020B0503020204020204" pitchFamily="34" charset="-122"/>
              </a:rPr>
              <a:t> </a:t>
            </a:r>
            <a:r>
              <a:rPr lang="en-US" altLang="zh-CN" sz="2800" dirty="0">
                <a:solidFill>
                  <a:schemeClr val="bg1"/>
                </a:solidFill>
                <a:latin typeface="Arial" panose="020B0604020202020204" pitchFamily="34" charset="0"/>
                <a:ea typeface="微软雅黑" panose="020B0503020204020204" pitchFamily="34" charset="-122"/>
              </a:rPr>
              <a:t>Level</a:t>
            </a:r>
            <a:endParaRPr lang="zh-CN" altLang="en-US" sz="2800" b="1" dirty="0">
              <a:solidFill>
                <a:schemeClr val="bg1"/>
              </a:solidFill>
              <a:latin typeface="Arial" panose="020B0604020202020204" pitchFamily="34" charset="0"/>
              <a:ea typeface="微软雅黑" panose="020B0503020204020204" pitchFamily="34" charset="-122"/>
            </a:endParaRPr>
          </a:p>
        </p:txBody>
      </p:sp>
      <p:sp>
        <p:nvSpPr>
          <p:cNvPr id="29" name="矩形 28">
            <a:extLst>
              <a:ext uri="{FF2B5EF4-FFF2-40B4-BE49-F238E27FC236}">
                <a16:creationId xmlns:a16="http://schemas.microsoft.com/office/drawing/2014/main" id="{BCEF7F40-B0F5-909F-0D8C-7EBC01A39CAF}"/>
              </a:ext>
            </a:extLst>
          </p:cNvPr>
          <p:cNvSpPr/>
          <p:nvPr/>
        </p:nvSpPr>
        <p:spPr>
          <a:xfrm>
            <a:off x="3000778" y="906506"/>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0" name="矩形 29">
            <a:extLst>
              <a:ext uri="{FF2B5EF4-FFF2-40B4-BE49-F238E27FC236}">
                <a16:creationId xmlns:a16="http://schemas.microsoft.com/office/drawing/2014/main" id="{4BC05DE2-9251-EAA8-2577-AB989C70A398}"/>
              </a:ext>
            </a:extLst>
          </p:cNvPr>
          <p:cNvSpPr/>
          <p:nvPr/>
        </p:nvSpPr>
        <p:spPr>
          <a:xfrm>
            <a:off x="2155063" y="1561182"/>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1" name="矩形 30">
            <a:extLst>
              <a:ext uri="{FF2B5EF4-FFF2-40B4-BE49-F238E27FC236}">
                <a16:creationId xmlns:a16="http://schemas.microsoft.com/office/drawing/2014/main" id="{305CCC9A-2A4B-824B-C3C0-02E81B28AA81}"/>
              </a:ext>
            </a:extLst>
          </p:cNvPr>
          <p:cNvSpPr/>
          <p:nvPr/>
        </p:nvSpPr>
        <p:spPr>
          <a:xfrm>
            <a:off x="3769216" y="1567621"/>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2" name="矩形 31">
            <a:extLst>
              <a:ext uri="{FF2B5EF4-FFF2-40B4-BE49-F238E27FC236}">
                <a16:creationId xmlns:a16="http://schemas.microsoft.com/office/drawing/2014/main" id="{8E211460-9001-58BD-81C9-CF75754680AF}"/>
              </a:ext>
            </a:extLst>
          </p:cNvPr>
          <p:cNvSpPr/>
          <p:nvPr/>
        </p:nvSpPr>
        <p:spPr>
          <a:xfrm>
            <a:off x="1695706"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3" name="矩形 32">
            <a:extLst>
              <a:ext uri="{FF2B5EF4-FFF2-40B4-BE49-F238E27FC236}">
                <a16:creationId xmlns:a16="http://schemas.microsoft.com/office/drawing/2014/main" id="{A0117041-EBAE-6587-CD19-A1D47309AB26}"/>
              </a:ext>
            </a:extLst>
          </p:cNvPr>
          <p:cNvSpPr/>
          <p:nvPr/>
        </p:nvSpPr>
        <p:spPr>
          <a:xfrm>
            <a:off x="2610117"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4" name="矩形 33">
            <a:extLst>
              <a:ext uri="{FF2B5EF4-FFF2-40B4-BE49-F238E27FC236}">
                <a16:creationId xmlns:a16="http://schemas.microsoft.com/office/drawing/2014/main" id="{53AC40B5-027B-410A-568F-8B00D435DD19}"/>
              </a:ext>
            </a:extLst>
          </p:cNvPr>
          <p:cNvSpPr/>
          <p:nvPr/>
        </p:nvSpPr>
        <p:spPr>
          <a:xfrm>
            <a:off x="3342063"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5" name="矩形 34">
            <a:extLst>
              <a:ext uri="{FF2B5EF4-FFF2-40B4-BE49-F238E27FC236}">
                <a16:creationId xmlns:a16="http://schemas.microsoft.com/office/drawing/2014/main" id="{A58BE805-7D27-C5A0-B854-2931C3EAA2FA}"/>
              </a:ext>
            </a:extLst>
          </p:cNvPr>
          <p:cNvSpPr/>
          <p:nvPr/>
        </p:nvSpPr>
        <p:spPr>
          <a:xfrm>
            <a:off x="4243593"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37" name="连接符: 肘形 36">
            <a:extLst>
              <a:ext uri="{FF2B5EF4-FFF2-40B4-BE49-F238E27FC236}">
                <a16:creationId xmlns:a16="http://schemas.microsoft.com/office/drawing/2014/main" id="{B81BC48B-EF9B-BCA0-8163-9386FC3F7DE4}"/>
              </a:ext>
            </a:extLst>
          </p:cNvPr>
          <p:cNvCxnSpPr>
            <a:stCxn id="29" idx="2"/>
            <a:endCxn id="30" idx="0"/>
          </p:cNvCxnSpPr>
          <p:nvPr/>
        </p:nvCxnSpPr>
        <p:spPr>
          <a:xfrm rot="5400000">
            <a:off x="2685246" y="978412"/>
            <a:ext cx="319825" cy="8457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221EAF9D-687B-7E7A-FC7C-64FC31DA42CB}"/>
              </a:ext>
            </a:extLst>
          </p:cNvPr>
          <p:cNvCxnSpPr>
            <a:cxnSpLocks/>
            <a:stCxn id="29" idx="2"/>
            <a:endCxn id="31" idx="0"/>
          </p:cNvCxnSpPr>
          <p:nvPr/>
        </p:nvCxnSpPr>
        <p:spPr>
          <a:xfrm rot="16200000" flipH="1">
            <a:off x="3489102" y="1020270"/>
            <a:ext cx="326264" cy="7684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1" name="连接符: 肘形 40">
            <a:extLst>
              <a:ext uri="{FF2B5EF4-FFF2-40B4-BE49-F238E27FC236}">
                <a16:creationId xmlns:a16="http://schemas.microsoft.com/office/drawing/2014/main" id="{C68D1B24-A014-CF3C-52B4-FBC3C7F60ADB}"/>
              </a:ext>
            </a:extLst>
          </p:cNvPr>
          <p:cNvCxnSpPr>
            <a:cxnSpLocks/>
            <a:stCxn id="30" idx="2"/>
            <a:endCxn id="32" idx="0"/>
          </p:cNvCxnSpPr>
          <p:nvPr/>
        </p:nvCxnSpPr>
        <p:spPr>
          <a:xfrm rot="5400000">
            <a:off x="1948997" y="1909980"/>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9E6DC334-60B9-8467-9774-B093CC799971}"/>
              </a:ext>
            </a:extLst>
          </p:cNvPr>
          <p:cNvCxnSpPr>
            <a:cxnSpLocks/>
            <a:stCxn id="30" idx="2"/>
            <a:endCxn id="33" idx="0"/>
          </p:cNvCxnSpPr>
          <p:nvPr/>
        </p:nvCxnSpPr>
        <p:spPr>
          <a:xfrm rot="16200000" flipH="1">
            <a:off x="2407275" y="1911058"/>
            <a:ext cx="485104" cy="45505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B77578E8-3201-2D3E-8E92-EB5726F6EA67}"/>
              </a:ext>
            </a:extLst>
          </p:cNvPr>
          <p:cNvCxnSpPr>
            <a:cxnSpLocks/>
          </p:cNvCxnSpPr>
          <p:nvPr/>
        </p:nvCxnSpPr>
        <p:spPr>
          <a:xfrm rot="5400000">
            <a:off x="3563150" y="1931446"/>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B13CCA48-D6D4-B8B4-AD3B-4598725ABD8D}"/>
              </a:ext>
            </a:extLst>
          </p:cNvPr>
          <p:cNvCxnSpPr>
            <a:cxnSpLocks/>
            <a:stCxn id="31" idx="2"/>
            <a:endCxn id="35" idx="0"/>
          </p:cNvCxnSpPr>
          <p:nvPr/>
        </p:nvCxnSpPr>
        <p:spPr>
          <a:xfrm rot="16200000" flipH="1">
            <a:off x="4034309" y="1904615"/>
            <a:ext cx="478665" cy="474377"/>
          </a:xfrm>
          <a:prstGeom prst="bentConnector3">
            <a:avLst>
              <a:gd name="adj1" fmla="val 54036"/>
            </a:avLst>
          </a:prstGeom>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AA4662B7-726C-3AF7-1A3F-A0CB9BC477F3}"/>
              </a:ext>
            </a:extLst>
          </p:cNvPr>
          <p:cNvSpPr/>
          <p:nvPr/>
        </p:nvSpPr>
        <p:spPr>
          <a:xfrm>
            <a:off x="7944119" y="906506"/>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FG</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3" name="矩形 52">
            <a:extLst>
              <a:ext uri="{FF2B5EF4-FFF2-40B4-BE49-F238E27FC236}">
                <a16:creationId xmlns:a16="http://schemas.microsoft.com/office/drawing/2014/main" id="{18E9E93A-ED5E-EAEA-F15E-7EC95D805CC3}"/>
              </a:ext>
            </a:extLst>
          </p:cNvPr>
          <p:cNvSpPr/>
          <p:nvPr/>
        </p:nvSpPr>
        <p:spPr>
          <a:xfrm>
            <a:off x="7098404" y="1561182"/>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A</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4" name="矩形 53">
            <a:extLst>
              <a:ext uri="{FF2B5EF4-FFF2-40B4-BE49-F238E27FC236}">
                <a16:creationId xmlns:a16="http://schemas.microsoft.com/office/drawing/2014/main" id="{801715B7-A467-166A-641C-D5AAB4FE4AB5}"/>
              </a:ext>
            </a:extLst>
          </p:cNvPr>
          <p:cNvSpPr/>
          <p:nvPr/>
        </p:nvSpPr>
        <p:spPr>
          <a:xfrm>
            <a:off x="8712557" y="1567621"/>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B</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5" name="矩形 54">
            <a:extLst>
              <a:ext uri="{FF2B5EF4-FFF2-40B4-BE49-F238E27FC236}">
                <a16:creationId xmlns:a16="http://schemas.microsoft.com/office/drawing/2014/main" id="{60BF9A4A-FD0D-ACDB-11BC-3AD46AE89CC3}"/>
              </a:ext>
            </a:extLst>
          </p:cNvPr>
          <p:cNvSpPr/>
          <p:nvPr/>
        </p:nvSpPr>
        <p:spPr>
          <a:xfrm>
            <a:off x="6639047"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C</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6" name="矩形 55">
            <a:extLst>
              <a:ext uri="{FF2B5EF4-FFF2-40B4-BE49-F238E27FC236}">
                <a16:creationId xmlns:a16="http://schemas.microsoft.com/office/drawing/2014/main" id="{AF2B6FB8-696E-3E49-ECDE-6322978939F7}"/>
              </a:ext>
            </a:extLst>
          </p:cNvPr>
          <p:cNvSpPr/>
          <p:nvPr/>
        </p:nvSpPr>
        <p:spPr>
          <a:xfrm>
            <a:off x="7553458"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D</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7" name="矩形 56">
            <a:extLst>
              <a:ext uri="{FF2B5EF4-FFF2-40B4-BE49-F238E27FC236}">
                <a16:creationId xmlns:a16="http://schemas.microsoft.com/office/drawing/2014/main" id="{9DAF9912-32DF-11DC-29D1-9002B34874D6}"/>
              </a:ext>
            </a:extLst>
          </p:cNvPr>
          <p:cNvSpPr/>
          <p:nvPr/>
        </p:nvSpPr>
        <p:spPr>
          <a:xfrm>
            <a:off x="8285404" y="2383284"/>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E</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8" name="矩形 57">
            <a:extLst>
              <a:ext uri="{FF2B5EF4-FFF2-40B4-BE49-F238E27FC236}">
                <a16:creationId xmlns:a16="http://schemas.microsoft.com/office/drawing/2014/main" id="{B11DC332-0469-78EC-F90E-71D28764BFC0}"/>
              </a:ext>
            </a:extLst>
          </p:cNvPr>
          <p:cNvSpPr/>
          <p:nvPr/>
        </p:nvSpPr>
        <p:spPr>
          <a:xfrm>
            <a:off x="9186934" y="2381137"/>
            <a:ext cx="534473" cy="33485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F</a:t>
            </a:r>
            <a:endParaRPr kumimoji="0" lang="zh-CN" altLang="en-US" sz="10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cxnSp>
        <p:nvCxnSpPr>
          <p:cNvPr id="59" name="连接符: 肘形 58">
            <a:extLst>
              <a:ext uri="{FF2B5EF4-FFF2-40B4-BE49-F238E27FC236}">
                <a16:creationId xmlns:a16="http://schemas.microsoft.com/office/drawing/2014/main" id="{400909E7-DB53-8839-A7F9-8CD0F279DEB1}"/>
              </a:ext>
            </a:extLst>
          </p:cNvPr>
          <p:cNvCxnSpPr>
            <a:stCxn id="52" idx="2"/>
            <a:endCxn id="53" idx="0"/>
          </p:cNvCxnSpPr>
          <p:nvPr/>
        </p:nvCxnSpPr>
        <p:spPr>
          <a:xfrm rot="5400000">
            <a:off x="7628587" y="978412"/>
            <a:ext cx="319825" cy="8457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0" name="连接符: 肘形 59">
            <a:extLst>
              <a:ext uri="{FF2B5EF4-FFF2-40B4-BE49-F238E27FC236}">
                <a16:creationId xmlns:a16="http://schemas.microsoft.com/office/drawing/2014/main" id="{3ACCD908-C150-B8B6-79C8-8575BB45AA96}"/>
              </a:ext>
            </a:extLst>
          </p:cNvPr>
          <p:cNvCxnSpPr>
            <a:cxnSpLocks/>
            <a:stCxn id="52" idx="2"/>
            <a:endCxn id="54" idx="0"/>
          </p:cNvCxnSpPr>
          <p:nvPr/>
        </p:nvCxnSpPr>
        <p:spPr>
          <a:xfrm rot="16200000" flipH="1">
            <a:off x="8432443" y="1020270"/>
            <a:ext cx="326264" cy="7684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0254FB75-A731-2FD0-E2AE-C398DA26AF71}"/>
              </a:ext>
            </a:extLst>
          </p:cNvPr>
          <p:cNvCxnSpPr>
            <a:cxnSpLocks/>
            <a:stCxn id="53" idx="2"/>
            <a:endCxn id="55" idx="0"/>
          </p:cNvCxnSpPr>
          <p:nvPr/>
        </p:nvCxnSpPr>
        <p:spPr>
          <a:xfrm rot="5400000">
            <a:off x="6892338" y="1909980"/>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CE79E352-1A6E-5D48-C391-B020A3860F15}"/>
              </a:ext>
            </a:extLst>
          </p:cNvPr>
          <p:cNvCxnSpPr>
            <a:cxnSpLocks/>
            <a:stCxn id="53" idx="2"/>
            <a:endCxn id="56" idx="0"/>
          </p:cNvCxnSpPr>
          <p:nvPr/>
        </p:nvCxnSpPr>
        <p:spPr>
          <a:xfrm rot="16200000" flipH="1">
            <a:off x="7350616" y="1911058"/>
            <a:ext cx="485104" cy="45505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752F8265-F1F0-095B-44C8-A969C15B6244}"/>
              </a:ext>
            </a:extLst>
          </p:cNvPr>
          <p:cNvCxnSpPr>
            <a:cxnSpLocks/>
          </p:cNvCxnSpPr>
          <p:nvPr/>
        </p:nvCxnSpPr>
        <p:spPr>
          <a:xfrm rot="5400000">
            <a:off x="8506491" y="1931446"/>
            <a:ext cx="487251" cy="4593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1858E931-5F55-5168-26B8-397896D798C1}"/>
              </a:ext>
            </a:extLst>
          </p:cNvPr>
          <p:cNvCxnSpPr>
            <a:cxnSpLocks/>
            <a:stCxn id="54" idx="2"/>
            <a:endCxn id="58" idx="0"/>
          </p:cNvCxnSpPr>
          <p:nvPr/>
        </p:nvCxnSpPr>
        <p:spPr>
          <a:xfrm rot="16200000" flipH="1">
            <a:off x="8977650" y="1904615"/>
            <a:ext cx="478665" cy="474377"/>
          </a:xfrm>
          <a:prstGeom prst="bentConnector3">
            <a:avLst>
              <a:gd name="adj1" fmla="val 54036"/>
            </a:avLst>
          </a:prstGeom>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6799970A-797D-190A-6AD5-87D97BE90588}"/>
              </a:ext>
            </a:extLst>
          </p:cNvPr>
          <p:cNvSpPr txBox="1"/>
          <p:nvPr/>
        </p:nvSpPr>
        <p:spPr>
          <a:xfrm>
            <a:off x="4243593" y="906506"/>
            <a:ext cx="7598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Site1</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8" name="文本框 67">
            <a:extLst>
              <a:ext uri="{FF2B5EF4-FFF2-40B4-BE49-F238E27FC236}">
                <a16:creationId xmlns:a16="http://schemas.microsoft.com/office/drawing/2014/main" id="{52FBC98B-88FA-853F-4603-B9F1CBA9E150}"/>
              </a:ext>
            </a:extLst>
          </p:cNvPr>
          <p:cNvSpPr txBox="1"/>
          <p:nvPr/>
        </p:nvSpPr>
        <p:spPr>
          <a:xfrm>
            <a:off x="9247030" y="904291"/>
            <a:ext cx="7598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Site2</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69" name="表格 68">
            <a:extLst>
              <a:ext uri="{FF2B5EF4-FFF2-40B4-BE49-F238E27FC236}">
                <a16:creationId xmlns:a16="http://schemas.microsoft.com/office/drawing/2014/main" id="{F9AA5CB4-7CF2-D3F8-25BA-2C9C993E236C}"/>
              </a:ext>
            </a:extLst>
          </p:cNvPr>
          <p:cNvGraphicFramePr>
            <a:graphicFrameLocks noGrp="1"/>
          </p:cNvGraphicFramePr>
          <p:nvPr>
            <p:extLst>
              <p:ext uri="{D42A27DB-BD31-4B8C-83A1-F6EECF244321}">
                <p14:modId xmlns:p14="http://schemas.microsoft.com/office/powerpoint/2010/main" val="3248517125"/>
              </p:ext>
            </p:extLst>
          </p:nvPr>
        </p:nvGraphicFramePr>
        <p:xfrm>
          <a:off x="281193" y="3074085"/>
          <a:ext cx="11415834" cy="3451280"/>
        </p:xfrm>
        <a:graphic>
          <a:graphicData uri="http://schemas.openxmlformats.org/drawingml/2006/table">
            <a:tbl>
              <a:tblPr firstRow="1" bandRow="1">
                <a:tableStyleId>{69012ECD-51FC-41F1-AA8D-1B2483CD663E}</a:tableStyleId>
              </a:tblPr>
              <a:tblGrid>
                <a:gridCol w="2618514">
                  <a:extLst>
                    <a:ext uri="{9D8B030D-6E8A-4147-A177-3AD203B41FA5}">
                      <a16:colId xmlns:a16="http://schemas.microsoft.com/office/drawing/2014/main" val="2126420937"/>
                    </a:ext>
                  </a:extLst>
                </a:gridCol>
                <a:gridCol w="2618514">
                  <a:extLst>
                    <a:ext uri="{9D8B030D-6E8A-4147-A177-3AD203B41FA5}">
                      <a16:colId xmlns:a16="http://schemas.microsoft.com/office/drawing/2014/main" val="867906005"/>
                    </a:ext>
                  </a:extLst>
                </a:gridCol>
                <a:gridCol w="2059602">
                  <a:extLst>
                    <a:ext uri="{9D8B030D-6E8A-4147-A177-3AD203B41FA5}">
                      <a16:colId xmlns:a16="http://schemas.microsoft.com/office/drawing/2014/main" val="2354012421"/>
                    </a:ext>
                  </a:extLst>
                </a:gridCol>
                <a:gridCol w="2059602">
                  <a:extLst>
                    <a:ext uri="{9D8B030D-6E8A-4147-A177-3AD203B41FA5}">
                      <a16:colId xmlns:a16="http://schemas.microsoft.com/office/drawing/2014/main" val="1314408603"/>
                    </a:ext>
                  </a:extLst>
                </a:gridCol>
                <a:gridCol w="2059602">
                  <a:extLst>
                    <a:ext uri="{9D8B030D-6E8A-4147-A177-3AD203B41FA5}">
                      <a16:colId xmlns:a16="http://schemas.microsoft.com/office/drawing/2014/main" val="3062802097"/>
                    </a:ext>
                  </a:extLst>
                </a:gridCol>
              </a:tblGrid>
              <a:tr h="493040">
                <a:tc>
                  <a:txBody>
                    <a:bodyPr/>
                    <a:lstStyle/>
                    <a:p>
                      <a:r>
                        <a:rPr lang="en-US" altLang="zh-CN" sz="1200" b="1" dirty="0">
                          <a:solidFill>
                            <a:schemeClr val="bg1"/>
                          </a:solidFill>
                          <a:latin typeface="Arial" panose="020B0604020202020204" pitchFamily="34" charset="0"/>
                          <a:ea typeface="微软雅黑" panose="020B0503020204020204" pitchFamily="34" charset="-122"/>
                        </a:rPr>
                        <a:t>Request Qty</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Supply Site</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Material</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Fed Qty</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1" dirty="0">
                          <a:solidFill>
                            <a:schemeClr val="bg1"/>
                          </a:solidFill>
                          <a:latin typeface="Arial" panose="020B0604020202020204" pitchFamily="34" charset="0"/>
                          <a:ea typeface="微软雅黑" panose="020B0503020204020204" pitchFamily="34" charset="-122"/>
                        </a:rPr>
                        <a:t>Supply Type</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88838"/>
                  </a:ext>
                </a:extLst>
              </a:tr>
              <a:tr h="493040">
                <a:tc>
                  <a:txBody>
                    <a:bodyPr/>
                    <a:lstStyle/>
                    <a:p>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Site1</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FG</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20</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OH</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6504362"/>
                  </a:ext>
                </a:extLst>
              </a:tr>
              <a:tr h="4930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Site2</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FG</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30</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SR</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823452"/>
                  </a:ext>
                </a:extLst>
              </a:tr>
              <a:tr h="493040">
                <a:tc>
                  <a:txBody>
                    <a:bodyPr/>
                    <a:lstStyle/>
                    <a:p>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Site2</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A</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altLang="zh-CN" sz="1200" b="0" dirty="0">
                          <a:solidFill>
                            <a:schemeClr val="bg1"/>
                          </a:solidFill>
                          <a:latin typeface="Arial" panose="020B0604020202020204" pitchFamily="34" charset="0"/>
                          <a:ea typeface="微软雅黑" panose="020B0503020204020204" pitchFamily="34" charset="-122"/>
                        </a:rPr>
                        <a:t>30</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OH</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4399965"/>
                  </a:ext>
                </a:extLst>
              </a:tr>
              <a:tr h="4930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0" dirty="0">
                          <a:solidFill>
                            <a:schemeClr val="bg1"/>
                          </a:solidFill>
                          <a:latin typeface="Arial" panose="020B0604020202020204" pitchFamily="34" charset="0"/>
                          <a:ea typeface="微软雅黑" panose="020B0503020204020204" pitchFamily="34" charset="-122"/>
                        </a:rPr>
                        <a:t>Site2</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B</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OH</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63721"/>
                  </a:ext>
                </a:extLst>
              </a:tr>
              <a:tr h="493040">
                <a:tc>
                  <a:txBody>
                    <a:bodyPr/>
                    <a:lstStyle/>
                    <a:p>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0" dirty="0">
                          <a:solidFill>
                            <a:schemeClr val="bg1"/>
                          </a:solidFill>
                          <a:latin typeface="Arial" panose="020B0604020202020204" pitchFamily="34" charset="0"/>
                          <a:ea typeface="微软雅黑" panose="020B0503020204020204" pitchFamily="34" charset="-122"/>
                        </a:rPr>
                        <a:t>Site2</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A</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altLang="zh-CN" sz="1200" b="0" dirty="0">
                          <a:solidFill>
                            <a:schemeClr val="bg1"/>
                          </a:solidFill>
                          <a:latin typeface="Arial" panose="020B0604020202020204" pitchFamily="34" charset="0"/>
                          <a:ea typeface="微软雅黑" panose="020B0503020204020204" pitchFamily="34" charset="-122"/>
                        </a:rPr>
                        <a:t>20</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Planned Order</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189271"/>
                  </a:ext>
                </a:extLst>
              </a:tr>
              <a:tr h="49304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1" dirty="0">
                          <a:solidFill>
                            <a:schemeClr val="bg1"/>
                          </a:solidFill>
                          <a:latin typeface="Arial" panose="020B0604020202020204" pitchFamily="34" charset="0"/>
                          <a:ea typeface="微软雅黑" panose="020B0503020204020204" pitchFamily="34" charset="-122"/>
                        </a:rPr>
                        <a:t>100</a:t>
                      </a:r>
                      <a:endParaRPr lang="zh-CN" altLang="en-US" sz="1200" b="1"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altLang="zh-CN" sz="1200" b="0" dirty="0">
                          <a:solidFill>
                            <a:schemeClr val="bg1"/>
                          </a:solidFill>
                          <a:latin typeface="Arial" panose="020B0604020202020204" pitchFamily="34" charset="0"/>
                          <a:ea typeface="微软雅黑" panose="020B0503020204020204" pitchFamily="34" charset="-122"/>
                        </a:rPr>
                        <a:t>Site2</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B</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a:tc>
                <a:tc>
                  <a:txBody>
                    <a:bodyPr/>
                    <a:lstStyle/>
                    <a:p>
                      <a:r>
                        <a:rPr lang="en-US" altLang="zh-CN" sz="1200" b="0" dirty="0">
                          <a:solidFill>
                            <a:schemeClr val="bg1"/>
                          </a:solidFill>
                          <a:latin typeface="Arial" panose="020B0604020202020204" pitchFamily="34" charset="0"/>
                          <a:ea typeface="微软雅黑" panose="020B0503020204020204" pitchFamily="34" charset="-122"/>
                        </a:rPr>
                        <a:t>OH</a:t>
                      </a:r>
                      <a:endParaRPr lang="zh-CN" altLang="en-US" sz="1200" b="0" dirty="0">
                        <a:solidFill>
                          <a:schemeClr val="bg1"/>
                        </a:solidFill>
                        <a:latin typeface="Arial" panose="020B0604020202020204" pitchFamily="34" charset="0"/>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474250"/>
                  </a:ext>
                </a:extLst>
              </a:tr>
            </a:tbl>
          </a:graphicData>
        </a:graphic>
      </p:graphicFrame>
      <p:cxnSp>
        <p:nvCxnSpPr>
          <p:cNvPr id="5" name="直接连接符 4">
            <a:extLst>
              <a:ext uri="{FF2B5EF4-FFF2-40B4-BE49-F238E27FC236}">
                <a16:creationId xmlns:a16="http://schemas.microsoft.com/office/drawing/2014/main" id="{8FD836F1-EB67-144C-1345-684B30317F05}"/>
              </a:ext>
            </a:extLst>
          </p:cNvPr>
          <p:cNvCxnSpPr/>
          <p:nvPr/>
        </p:nvCxnSpPr>
        <p:spPr>
          <a:xfrm>
            <a:off x="302342" y="1386348"/>
            <a:ext cx="11208774" cy="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003DA2B9-0FCF-2054-7D16-0178D327F3E5}"/>
              </a:ext>
            </a:extLst>
          </p:cNvPr>
          <p:cNvCxnSpPr/>
          <p:nvPr/>
        </p:nvCxnSpPr>
        <p:spPr>
          <a:xfrm>
            <a:off x="302342" y="2110248"/>
            <a:ext cx="11208774" cy="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a:extLst>
              <a:ext uri="{FF2B5EF4-FFF2-40B4-BE49-F238E27FC236}">
                <a16:creationId xmlns:a16="http://schemas.microsoft.com/office/drawing/2014/main" id="{707EDF93-ABEE-C2A5-D7D1-EAD8961E6A68}"/>
              </a:ext>
            </a:extLst>
          </p:cNvPr>
          <p:cNvCxnSpPr/>
          <p:nvPr/>
        </p:nvCxnSpPr>
        <p:spPr>
          <a:xfrm>
            <a:off x="302342" y="2849388"/>
            <a:ext cx="11208774" cy="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文本框 7">
            <a:extLst>
              <a:ext uri="{FF2B5EF4-FFF2-40B4-BE49-F238E27FC236}">
                <a16:creationId xmlns:a16="http://schemas.microsoft.com/office/drawing/2014/main" id="{47251401-42F1-88DA-F685-22A1F9DD601E}"/>
              </a:ext>
            </a:extLst>
          </p:cNvPr>
          <p:cNvSpPr txBox="1"/>
          <p:nvPr/>
        </p:nvSpPr>
        <p:spPr>
          <a:xfrm>
            <a:off x="302342" y="990600"/>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0</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文本框 8">
            <a:extLst>
              <a:ext uri="{FF2B5EF4-FFF2-40B4-BE49-F238E27FC236}">
                <a16:creationId xmlns:a16="http://schemas.microsoft.com/office/drawing/2014/main" id="{AC4AEB90-44DE-821B-9B3F-5CECFC99D5C8}"/>
              </a:ext>
            </a:extLst>
          </p:cNvPr>
          <p:cNvSpPr txBox="1"/>
          <p:nvPr/>
        </p:nvSpPr>
        <p:spPr>
          <a:xfrm>
            <a:off x="281193" y="1726141"/>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1</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09275671-210F-500E-F6B0-1C4D356C095F}"/>
              </a:ext>
            </a:extLst>
          </p:cNvPr>
          <p:cNvSpPr txBox="1"/>
          <p:nvPr/>
        </p:nvSpPr>
        <p:spPr>
          <a:xfrm>
            <a:off x="281193" y="2440594"/>
            <a:ext cx="146549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Level 2</a:t>
            </a:r>
            <a:endParaRPr kumimoji="0" lang="zh-CN" altLang="en-US" sz="12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1627635173"/>
      </p:ext>
    </p:extLst>
  </p:cSld>
  <p:clrMapOvr>
    <a:overrideClrMapping bg1="dk1" tx1="lt1" bg2="dk2" tx2="lt2" accent1="accent1" accent2="accent2" accent3="accent3" accent4="accent4" accent5="accent5" accent6="accent6" hlink="hlink" folHlink="folHlink"/>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F092C4-3A31-E5F2-CA0F-52DF6BEF5E08}"/>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组替代逻辑</a:t>
            </a:r>
          </a:p>
        </p:txBody>
      </p:sp>
      <p:graphicFrame>
        <p:nvGraphicFramePr>
          <p:cNvPr id="6" name="表格 5">
            <a:extLst>
              <a:ext uri="{FF2B5EF4-FFF2-40B4-BE49-F238E27FC236}">
                <a16:creationId xmlns:a16="http://schemas.microsoft.com/office/drawing/2014/main" id="{25336AFC-FAB6-6254-363E-71149094D76A}"/>
              </a:ext>
            </a:extLst>
          </p:cNvPr>
          <p:cNvGraphicFramePr>
            <a:graphicFrameLocks noGrp="1"/>
          </p:cNvGraphicFramePr>
          <p:nvPr>
            <p:extLst>
              <p:ext uri="{D42A27DB-BD31-4B8C-83A1-F6EECF244321}">
                <p14:modId xmlns:p14="http://schemas.microsoft.com/office/powerpoint/2010/main" val="1348036905"/>
              </p:ext>
            </p:extLst>
          </p:nvPr>
        </p:nvGraphicFramePr>
        <p:xfrm>
          <a:off x="1167205" y="2283943"/>
          <a:ext cx="6278209" cy="4264534"/>
        </p:xfrm>
        <a:graphic>
          <a:graphicData uri="http://schemas.openxmlformats.org/drawingml/2006/table">
            <a:tbl>
              <a:tblPr firstRow="1" firstCol="1" lastRow="1" lastCol="1" bandRow="1" bandCol="1"/>
              <a:tblGrid>
                <a:gridCol w="1416685">
                  <a:extLst>
                    <a:ext uri="{9D8B030D-6E8A-4147-A177-3AD203B41FA5}">
                      <a16:colId xmlns:a16="http://schemas.microsoft.com/office/drawing/2014/main" val="3950812859"/>
                    </a:ext>
                  </a:extLst>
                </a:gridCol>
                <a:gridCol w="4861524">
                  <a:extLst>
                    <a:ext uri="{9D8B030D-6E8A-4147-A177-3AD203B41FA5}">
                      <a16:colId xmlns:a16="http://schemas.microsoft.com/office/drawing/2014/main" val="4172482731"/>
                    </a:ext>
                  </a:extLst>
                </a:gridCol>
              </a:tblGrid>
              <a:tr h="712463">
                <a:tc>
                  <a:txBody>
                    <a:bodyPr/>
                    <a:lstStyle/>
                    <a:p>
                      <a:pPr>
                        <a:lnSpc>
                          <a:spcPct val="110000"/>
                        </a:lnSpc>
                        <a:spcAft>
                          <a:spcPts val="600"/>
                        </a:spcAft>
                        <a:buNone/>
                      </a:pPr>
                      <a:r>
                        <a:rPr lang="zh-CN" sz="1600" b="1">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规则</a:t>
                      </a:r>
                      <a:r>
                        <a:rPr lang="en-US" sz="1600" b="1">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a:t>
                      </a:r>
                      <a:r>
                        <a:rPr lang="zh-CN" sz="1600" b="1">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逻辑</a:t>
                      </a:r>
                      <a:endPar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0A5D"/>
                    </a:solidFill>
                  </a:tcPr>
                </a:tc>
                <a:tc>
                  <a:txBody>
                    <a:bodyPr/>
                    <a:lstStyle/>
                    <a:p>
                      <a:pPr>
                        <a:lnSpc>
                          <a:spcPct val="110000"/>
                        </a:lnSpc>
                        <a:spcAft>
                          <a:spcPts val="600"/>
                        </a:spcAft>
                        <a:buNone/>
                      </a:pPr>
                      <a:r>
                        <a:rPr lang="zh-CN" sz="1600" b="1"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描述</a:t>
                      </a:r>
                      <a:endParaRPr lang="zh-CN" sz="16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0A5D"/>
                    </a:solidFill>
                  </a:tcPr>
                </a:tc>
                <a:extLst>
                  <a:ext uri="{0D108BD9-81ED-4DB2-BD59-A6C34878D82A}">
                    <a16:rowId xmlns:a16="http://schemas.microsoft.com/office/drawing/2014/main" val="3877863949"/>
                  </a:ext>
                </a:extLst>
              </a:tr>
              <a:tr h="702219">
                <a:tc>
                  <a:txBody>
                    <a:bodyPr/>
                    <a:lstStyle/>
                    <a:p>
                      <a:pPr>
                        <a:lnSpc>
                          <a:spcPct val="110000"/>
                        </a:lnSpc>
                        <a:spcAft>
                          <a:spcPts val="600"/>
                        </a:spcAft>
                        <a:buNone/>
                      </a:pPr>
                      <a:r>
                        <a:rPr lang="zh-CN" sz="1600" b="1">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及时交付</a:t>
                      </a:r>
                      <a:endParaRPr lang="zh-CN" sz="16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EAFF"/>
                    </a:solidFill>
                  </a:tcPr>
                </a:tc>
                <a:tc>
                  <a:txBody>
                    <a:bodyPr/>
                    <a:lstStyle/>
                    <a:p>
                      <a:pPr>
                        <a:lnSpc>
                          <a:spcPct val="110000"/>
                        </a:lnSpc>
                        <a:spcAft>
                          <a:spcPts val="600"/>
                        </a:spcAft>
                        <a:buNone/>
                      </a:pPr>
                      <a:r>
                        <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按时或者最少</a:t>
                      </a:r>
                      <a:r>
                        <a:rPr lang="en-US"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late</a:t>
                      </a:r>
                      <a:r>
                        <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的计划单</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866035"/>
                  </a:ext>
                </a:extLst>
              </a:tr>
              <a:tr h="712463">
                <a:tc>
                  <a:txBody>
                    <a:bodyPr/>
                    <a:lstStyle/>
                    <a:p>
                      <a:pPr>
                        <a:lnSpc>
                          <a:spcPct val="110000"/>
                        </a:lnSpc>
                        <a:spcAft>
                          <a:spcPts val="600"/>
                        </a:spcAft>
                        <a:buNone/>
                      </a:pPr>
                      <a:r>
                        <a:rPr lang="zh-CN" sz="1600" b="1">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供应优先级</a:t>
                      </a:r>
                      <a:endParaRPr lang="zh-CN" sz="16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EAFF"/>
                    </a:solidFill>
                  </a:tcPr>
                </a:tc>
                <a:tc>
                  <a:txBody>
                    <a:bodyPr/>
                    <a:lstStyle/>
                    <a:p>
                      <a:pPr>
                        <a:lnSpc>
                          <a:spcPct val="110000"/>
                        </a:lnSpc>
                        <a:spcAft>
                          <a:spcPts val="600"/>
                        </a:spcAft>
                        <a:buNone/>
                      </a:pPr>
                      <a:r>
                        <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按照替换资源的优先级分配</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21027"/>
                  </a:ext>
                </a:extLst>
              </a:tr>
              <a:tr h="712463">
                <a:tc>
                  <a:txBody>
                    <a:bodyPr/>
                    <a:lstStyle/>
                    <a:p>
                      <a:pPr>
                        <a:lnSpc>
                          <a:spcPct val="110000"/>
                        </a:lnSpc>
                        <a:spcAft>
                          <a:spcPts val="600"/>
                        </a:spcAft>
                        <a:buNone/>
                      </a:pPr>
                      <a:r>
                        <a:rPr lang="zh-CN" sz="1600" b="1">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供应层级</a:t>
                      </a:r>
                      <a:endParaRPr lang="zh-CN" sz="16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EAFF"/>
                    </a:solidFill>
                  </a:tcPr>
                </a:tc>
                <a:tc>
                  <a:txBody>
                    <a:bodyPr/>
                    <a:lstStyle/>
                    <a:p>
                      <a:pPr>
                        <a:lnSpc>
                          <a:spcPct val="110000"/>
                        </a:lnSpc>
                        <a:spcAft>
                          <a:spcPts val="600"/>
                        </a:spcAft>
                        <a:buNone/>
                      </a:pPr>
                      <a:r>
                        <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被供应更少层级的优先选择</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8634192"/>
                  </a:ext>
                </a:extLst>
              </a:tr>
              <a:tr h="712463">
                <a:tc>
                  <a:txBody>
                    <a:bodyPr/>
                    <a:lstStyle/>
                    <a:p>
                      <a:pPr>
                        <a:lnSpc>
                          <a:spcPct val="110000"/>
                        </a:lnSpc>
                        <a:spcAft>
                          <a:spcPts val="600"/>
                        </a:spcAft>
                        <a:buNone/>
                      </a:pPr>
                      <a:r>
                        <a:rPr lang="zh-CN" sz="1600" b="1">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新增采购成本</a:t>
                      </a:r>
                      <a:endParaRPr lang="zh-CN" sz="16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EAFF"/>
                    </a:solidFill>
                  </a:tcPr>
                </a:tc>
                <a:tc>
                  <a:txBody>
                    <a:bodyPr/>
                    <a:lstStyle/>
                    <a:p>
                      <a:pPr>
                        <a:lnSpc>
                          <a:spcPct val="110000"/>
                        </a:lnSpc>
                        <a:spcAft>
                          <a:spcPts val="600"/>
                        </a:spcAft>
                        <a:buNone/>
                      </a:pPr>
                      <a:r>
                        <a:rPr lang="zh-CN" sz="160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计划采购订单的成本</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737349"/>
                  </a:ext>
                </a:extLst>
              </a:tr>
              <a:tr h="712463">
                <a:tc>
                  <a:txBody>
                    <a:bodyPr/>
                    <a:lstStyle/>
                    <a:p>
                      <a:pPr>
                        <a:lnSpc>
                          <a:spcPct val="110000"/>
                        </a:lnSpc>
                        <a:spcAft>
                          <a:spcPts val="600"/>
                        </a:spcAft>
                        <a:buNone/>
                      </a:pPr>
                      <a:r>
                        <a:rPr lang="zh-CN" sz="1600" b="1">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现有成本</a:t>
                      </a:r>
                      <a:endParaRPr lang="zh-CN" sz="16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EAFF"/>
                    </a:solidFill>
                  </a:tcPr>
                </a:tc>
                <a:tc>
                  <a:txBody>
                    <a:bodyPr/>
                    <a:lstStyle/>
                    <a:p>
                      <a:pPr>
                        <a:lnSpc>
                          <a:spcPct val="110000"/>
                        </a:lnSpc>
                        <a:spcAft>
                          <a:spcPts val="600"/>
                        </a:spcAft>
                        <a:buNone/>
                      </a:pPr>
                      <a:r>
                        <a:rPr lang="zh-CN" sz="16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分配的库存，</a:t>
                      </a:r>
                      <a:r>
                        <a:rPr lang="en-US" sz="16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SR</a:t>
                      </a:r>
                      <a:r>
                        <a:rPr lang="zh-CN" sz="1600" dirty="0">
                          <a:solidFill>
                            <a:schemeClr val="tx1"/>
                          </a:solidFill>
                          <a:effectLst/>
                          <a:latin typeface="Arial" panose="020B0604020202020204" pitchFamily="34" charset="0"/>
                          <a:ea typeface="微软雅黑" panose="020B0503020204020204" pitchFamily="34" charset="-122"/>
                          <a:cs typeface="Times New Roman" panose="02020603050405020304" pitchFamily="18" charset="0"/>
                        </a:rPr>
                        <a:t>和现存计划单据的成本</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344262"/>
                  </a:ext>
                </a:extLst>
              </a:tr>
            </a:tbl>
          </a:graphicData>
        </a:graphic>
      </p:graphicFrame>
      <p:sp>
        <p:nvSpPr>
          <p:cNvPr id="7" name="文本框 6">
            <a:extLst>
              <a:ext uri="{FF2B5EF4-FFF2-40B4-BE49-F238E27FC236}">
                <a16:creationId xmlns:a16="http://schemas.microsoft.com/office/drawing/2014/main" id="{7CA070A3-135B-59A3-434E-6B4CE31D1047}"/>
              </a:ext>
            </a:extLst>
          </p:cNvPr>
          <p:cNvSpPr txBox="1"/>
          <p:nvPr/>
        </p:nvSpPr>
        <p:spPr>
          <a:xfrm>
            <a:off x="1242509" y="984325"/>
            <a:ext cx="80897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先根据</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LLC</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和规则逻辑利用</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Kitting</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限定</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MRP</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范围</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然后根据</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OTP</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做交期承诺，供需分配</a:t>
            </a:r>
          </a:p>
        </p:txBody>
      </p:sp>
    </p:spTree>
    <p:extLst>
      <p:ext uri="{BB962C8B-B14F-4D97-AF65-F5344CB8AC3E}">
        <p14:creationId xmlns:p14="http://schemas.microsoft.com/office/powerpoint/2010/main" val="210800093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0459C6E-D7F7-E306-7839-2F84A1D0413E}"/>
              </a:ext>
            </a:extLst>
          </p:cNvPr>
          <p:cNvSpPr>
            <a:spLocks noGrp="1"/>
          </p:cNvSpPr>
          <p:nvPr>
            <p:ph type="ctrTitle"/>
          </p:nvPr>
        </p:nvSpPr>
        <p:spPr/>
        <p:txBody>
          <a:bodyPr/>
          <a:lstStyle/>
          <a:p>
            <a:r>
              <a:rPr lang="zh-CN" altLang="en-US" dirty="0">
                <a:latin typeface="Arial" panose="020B0604020202020204" pitchFamily="34" charset="0"/>
                <a:ea typeface="微软雅黑" panose="020B0503020204020204" pitchFamily="34" charset="-122"/>
              </a:rPr>
              <a:t>维度规划</a:t>
            </a:r>
            <a:r>
              <a:rPr lang="en-US" altLang="zh-CN" dirty="0">
                <a:latin typeface="Arial" panose="020B0604020202020204" pitchFamily="34" charset="0"/>
                <a:ea typeface="微软雅黑" panose="020B0503020204020204" pitchFamily="34" charset="-122"/>
              </a:rPr>
              <a:t>Dimension Planning</a:t>
            </a:r>
            <a:endParaRPr lang="zh-CN" altLang="en-US"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7493892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0A2CAC8-E121-33A5-C7EF-47F36F212BC6}"/>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维度规划的概念</a:t>
            </a:r>
          </a:p>
        </p:txBody>
      </p:sp>
      <p:sp>
        <p:nvSpPr>
          <p:cNvPr id="4" name="文本框 3">
            <a:extLst>
              <a:ext uri="{FF2B5EF4-FFF2-40B4-BE49-F238E27FC236}">
                <a16:creationId xmlns:a16="http://schemas.microsoft.com/office/drawing/2014/main" id="{CA92E823-1777-80AA-B057-EEF883A0097B}"/>
              </a:ext>
            </a:extLst>
          </p:cNvPr>
          <p:cNvSpPr txBox="1"/>
          <p:nvPr/>
        </p:nvSpPr>
        <p:spPr>
          <a:xfrm>
            <a:off x="1055988" y="869182"/>
            <a:ext cx="86013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将业务特征转化为数据动力，使供应链从僵化的响应体系进化为柔性的智能网络。</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graphicFrame>
        <p:nvGraphicFramePr>
          <p:cNvPr id="5" name="表格 4">
            <a:extLst>
              <a:ext uri="{FF2B5EF4-FFF2-40B4-BE49-F238E27FC236}">
                <a16:creationId xmlns:a16="http://schemas.microsoft.com/office/drawing/2014/main" id="{E7D93985-2C0C-843A-5360-8089709EA31A}"/>
              </a:ext>
            </a:extLst>
          </p:cNvPr>
          <p:cNvGraphicFramePr>
            <a:graphicFrameLocks noGrp="1"/>
          </p:cNvGraphicFramePr>
          <p:nvPr>
            <p:extLst>
              <p:ext uri="{D42A27DB-BD31-4B8C-83A1-F6EECF244321}">
                <p14:modId xmlns:p14="http://schemas.microsoft.com/office/powerpoint/2010/main" val="2180272060"/>
              </p:ext>
            </p:extLst>
          </p:nvPr>
        </p:nvGraphicFramePr>
        <p:xfrm>
          <a:off x="1133920" y="1478017"/>
          <a:ext cx="9125447" cy="4812251"/>
        </p:xfrm>
        <a:graphic>
          <a:graphicData uri="http://schemas.openxmlformats.org/drawingml/2006/table">
            <a:tbl>
              <a:tblPr/>
              <a:tblGrid>
                <a:gridCol w="2157423">
                  <a:extLst>
                    <a:ext uri="{9D8B030D-6E8A-4147-A177-3AD203B41FA5}">
                      <a16:colId xmlns:a16="http://schemas.microsoft.com/office/drawing/2014/main" val="161805493"/>
                    </a:ext>
                  </a:extLst>
                </a:gridCol>
                <a:gridCol w="6968024">
                  <a:extLst>
                    <a:ext uri="{9D8B030D-6E8A-4147-A177-3AD203B41FA5}">
                      <a16:colId xmlns:a16="http://schemas.microsoft.com/office/drawing/2014/main" val="1983816085"/>
                    </a:ext>
                  </a:extLst>
                </a:gridCol>
              </a:tblGrid>
              <a:tr h="330644">
                <a:tc>
                  <a:txBody>
                    <a:bodyPr/>
                    <a:lstStyle/>
                    <a:p>
                      <a:pPr>
                        <a:buNone/>
                      </a:pPr>
                      <a:r>
                        <a:rPr lang="zh-CN" altLang="en-US" sz="1600" b="1" dirty="0">
                          <a:solidFill>
                            <a:srgbClr val="FFFFFF"/>
                          </a:solidFill>
                          <a:latin typeface="Arial" panose="020B0604020202020204" pitchFamily="34" charset="0"/>
                          <a:ea typeface="微软雅黑" panose="020B0503020204020204" pitchFamily="34" charset="-122"/>
                        </a:rPr>
                        <a:t>方面</a:t>
                      </a:r>
                    </a:p>
                  </a:txBody>
                  <a:tcPr marL="55598" marR="55598" marT="27799" marB="27799" anchor="ctr">
                    <a:lnL>
                      <a:solidFill>
                        <a:srgbClr val="674188"/>
                      </a:solidFill>
                      <a:prstDash val="solid"/>
                    </a:lnL>
                    <a:lnR>
                      <a:solidFill>
                        <a:srgbClr val="674188"/>
                      </a:solidFill>
                      <a:prstDash val="solid"/>
                    </a:lnR>
                    <a:lnT>
                      <a:solidFill>
                        <a:srgbClr val="674188"/>
                      </a:solidFill>
                      <a:prstDash val="solid"/>
                    </a:lnT>
                    <a:lnB>
                      <a:solidFill>
                        <a:srgbClr val="674188"/>
                      </a:solidFill>
                      <a:prstDash val="solid"/>
                    </a:lnB>
                    <a:solidFill>
                      <a:srgbClr val="674188"/>
                    </a:solidFill>
                  </a:tcPr>
                </a:tc>
                <a:tc>
                  <a:txBody>
                    <a:bodyPr/>
                    <a:lstStyle/>
                    <a:p>
                      <a:pPr>
                        <a:buNone/>
                      </a:pPr>
                      <a:r>
                        <a:rPr lang="zh-CN" altLang="en-US" sz="1600" b="1" dirty="0">
                          <a:solidFill>
                            <a:srgbClr val="FFFFFF"/>
                          </a:solidFill>
                          <a:latin typeface="Arial" panose="020B0604020202020204" pitchFamily="34" charset="0"/>
                          <a:ea typeface="微软雅黑" panose="020B0503020204020204" pitchFamily="34" charset="-122"/>
                        </a:rPr>
                        <a:t>核心阐述</a:t>
                      </a:r>
                    </a:p>
                  </a:txBody>
                  <a:tcPr marL="55598" marR="55598" marT="27799" marB="27799" anchor="ctr">
                    <a:lnL>
                      <a:solidFill>
                        <a:srgbClr val="674188"/>
                      </a:solidFill>
                      <a:prstDash val="solid"/>
                    </a:lnL>
                    <a:lnR>
                      <a:solidFill>
                        <a:srgbClr val="674188"/>
                      </a:solidFill>
                      <a:prstDash val="solid"/>
                    </a:lnR>
                    <a:lnT>
                      <a:solidFill>
                        <a:srgbClr val="674188"/>
                      </a:solidFill>
                      <a:prstDash val="solid"/>
                    </a:lnT>
                    <a:lnB>
                      <a:solidFill>
                        <a:srgbClr val="674188"/>
                      </a:solidFill>
                      <a:prstDash val="solid"/>
                    </a:lnB>
                    <a:solidFill>
                      <a:srgbClr val="674188"/>
                    </a:solidFill>
                  </a:tcPr>
                </a:tc>
                <a:extLst>
                  <a:ext uri="{0D108BD9-81ED-4DB2-BD59-A6C34878D82A}">
                    <a16:rowId xmlns:a16="http://schemas.microsoft.com/office/drawing/2014/main" val="3767968590"/>
                  </a:ext>
                </a:extLst>
              </a:tr>
              <a:tr h="798094">
                <a:tc>
                  <a:txBody>
                    <a:bodyPr/>
                    <a:lstStyle/>
                    <a:p>
                      <a:pPr>
                        <a:buNone/>
                      </a:pPr>
                      <a:r>
                        <a:rPr lang="zh-CN" altLang="en-US" sz="1400" b="1">
                          <a:solidFill>
                            <a:srgbClr val="000000"/>
                          </a:solidFill>
                          <a:latin typeface="Arial" panose="020B0604020202020204" pitchFamily="34" charset="0"/>
                          <a:ea typeface="微软雅黑" panose="020B0503020204020204" pitchFamily="34" charset="-122"/>
                        </a:rPr>
                        <a:t>本质定义</a:t>
                      </a:r>
                    </a:p>
                  </a:txBody>
                  <a:tcPr marL="55598" marR="55598" marT="27799" marB="27799" anchor="ctr">
                    <a:lnL>
                      <a:solidFill>
                        <a:srgbClr val="674188"/>
                      </a:solidFill>
                      <a:prstDash val="solid"/>
                    </a:lnL>
                    <a:lnR>
                      <a:solidFill>
                        <a:srgbClr val="674188"/>
                      </a:solidFill>
                      <a:prstDash val="solid"/>
                    </a:lnR>
                    <a:lnT>
                      <a:solidFill>
                        <a:srgbClr val="674188"/>
                      </a:solidFill>
                      <a:prstDash val="solid"/>
                    </a:lnT>
                    <a:lnB>
                      <a:solidFill>
                        <a:srgbClr val="DDDDDD"/>
                      </a:solidFill>
                      <a:prstDash val="solid"/>
                    </a:lnB>
                    <a:solidFill>
                      <a:srgbClr val="DACDE4"/>
                    </a:solidFill>
                  </a:tcPr>
                </a:tc>
                <a:tc>
                  <a:txBody>
                    <a:bodyPr/>
                    <a:lstStyle/>
                    <a:p>
                      <a:pPr>
                        <a:buNone/>
                      </a:pPr>
                      <a:r>
                        <a:rPr lang="zh-CN" altLang="en-US" sz="1400" b="1" dirty="0">
                          <a:solidFill>
                            <a:schemeClr val="tx1"/>
                          </a:solidFill>
                          <a:latin typeface="Arial" panose="020B0604020202020204" pitchFamily="34" charset="0"/>
                          <a:ea typeface="微软雅黑" panose="020B0503020204020204" pitchFamily="34" charset="-122"/>
                        </a:rPr>
                        <a:t>维度是描述业务对象（产品结构、需求、供应、资源）关键特征的标准化属性。</a:t>
                      </a:r>
                      <a:r>
                        <a:rPr lang="zh-CN" altLang="en-US" sz="1400" dirty="0">
                          <a:solidFill>
                            <a:schemeClr val="tx1"/>
                          </a:solidFill>
                          <a:latin typeface="Arial" panose="020B0604020202020204" pitchFamily="34" charset="0"/>
                          <a:ea typeface="微软雅黑" panose="020B0503020204020204" pitchFamily="34" charset="-122"/>
                        </a:rPr>
                        <a:t> 它是将复杂业务现实（如“红色</a:t>
                      </a:r>
                      <a:r>
                        <a:rPr lang="en-US" altLang="zh-CN" sz="1400" dirty="0">
                          <a:solidFill>
                            <a:schemeClr val="tx1"/>
                          </a:solidFill>
                          <a:latin typeface="Arial" panose="020B0604020202020204" pitchFamily="34" charset="0"/>
                          <a:ea typeface="微软雅黑" panose="020B0503020204020204" pitchFamily="34" charset="-122"/>
                        </a:rPr>
                        <a:t>256G</a:t>
                      </a:r>
                      <a:r>
                        <a:rPr lang="zh-CN" altLang="en-US" sz="1400" dirty="0">
                          <a:solidFill>
                            <a:schemeClr val="tx1"/>
                          </a:solidFill>
                          <a:latin typeface="Arial" panose="020B0604020202020204" pitchFamily="34" charset="0"/>
                          <a:ea typeface="微软雅黑" panose="020B0503020204020204" pitchFamily="34" charset="-122"/>
                        </a:rPr>
                        <a:t>手机壳”）抽象为可被计算机理解和处理的结构化数据单元。</a:t>
                      </a:r>
                    </a:p>
                  </a:txBody>
                  <a:tcPr marL="55598" marR="55598" marT="27799" marB="27799" anchor="ctr">
                    <a:lnL>
                      <a:solidFill>
                        <a:srgbClr val="674188"/>
                      </a:solidFill>
                      <a:prstDash val="solid"/>
                    </a:lnL>
                    <a:lnR>
                      <a:solidFill>
                        <a:srgbClr val="674188"/>
                      </a:solidFill>
                      <a:prstDash val="solid"/>
                    </a:lnR>
                    <a:lnT>
                      <a:solidFill>
                        <a:srgbClr val="674188"/>
                      </a:solidFill>
                      <a:prstDash val="solid"/>
                    </a:lnT>
                    <a:lnB>
                      <a:solidFill>
                        <a:srgbClr val="DDDDDD"/>
                      </a:solidFill>
                      <a:prstDash val="solid"/>
                    </a:lnB>
                    <a:noFill/>
                  </a:tcPr>
                </a:tc>
                <a:extLst>
                  <a:ext uri="{0D108BD9-81ED-4DB2-BD59-A6C34878D82A}">
                    <a16:rowId xmlns:a16="http://schemas.microsoft.com/office/drawing/2014/main" val="2718644698"/>
                  </a:ext>
                </a:extLst>
              </a:tr>
              <a:tr h="1166446">
                <a:tc>
                  <a:txBody>
                    <a:bodyPr/>
                    <a:lstStyle/>
                    <a:p>
                      <a:pPr>
                        <a:buNone/>
                      </a:pPr>
                      <a:r>
                        <a:rPr lang="zh-CN" altLang="en-US" sz="1400" b="1">
                          <a:solidFill>
                            <a:srgbClr val="000000"/>
                          </a:solidFill>
                          <a:latin typeface="Arial" panose="020B0604020202020204" pitchFamily="34" charset="0"/>
                          <a:ea typeface="微软雅黑" panose="020B0503020204020204" pitchFamily="34" charset="-122"/>
                        </a:rPr>
                        <a:t>要解决的核心问题</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solidFill>
                      <a:srgbClr val="DACDE4"/>
                    </a:solidFill>
                  </a:tcPr>
                </a:tc>
                <a:tc>
                  <a:txBody>
                    <a:bodyPr/>
                    <a:lstStyle/>
                    <a:p>
                      <a:pPr>
                        <a:buNone/>
                      </a:pPr>
                      <a:r>
                        <a:rPr lang="zh-CN" altLang="en-US" sz="1400" b="1">
                          <a:solidFill>
                            <a:schemeClr val="tx1"/>
                          </a:solidFill>
                          <a:latin typeface="Arial" panose="020B0604020202020204" pitchFamily="34" charset="0"/>
                          <a:ea typeface="微软雅黑" panose="020B0503020204020204" pitchFamily="34" charset="-122"/>
                        </a:rPr>
                        <a:t>应对复杂性、提升敏捷性、实现协同。</a:t>
                      </a:r>
                      <a:r>
                        <a:rPr lang="zh-CN" altLang="en-US" sz="1400">
                          <a:solidFill>
                            <a:schemeClr val="tx1"/>
                          </a:solidFill>
                          <a:latin typeface="Arial" panose="020B0604020202020204" pitchFamily="34" charset="0"/>
                          <a:ea typeface="微软雅黑" panose="020B0503020204020204" pitchFamily="34" charset="-122"/>
                        </a:rPr>
                        <a:t> 具体表现为：</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en-US" altLang="zh-CN" sz="1400" b="1">
                          <a:solidFill>
                            <a:schemeClr val="tx1"/>
                          </a:solidFill>
                          <a:latin typeface="Arial" panose="020B0604020202020204" pitchFamily="34" charset="0"/>
                          <a:ea typeface="微软雅黑" panose="020B0503020204020204" pitchFamily="34" charset="-122"/>
                        </a:rPr>
                        <a:t>SKU</a:t>
                      </a:r>
                      <a:r>
                        <a:rPr lang="zh-CN" altLang="en-US" sz="1400" b="1">
                          <a:solidFill>
                            <a:schemeClr val="tx1"/>
                          </a:solidFill>
                          <a:latin typeface="Arial" panose="020B0604020202020204" pitchFamily="34" charset="0"/>
                          <a:ea typeface="微软雅黑" panose="020B0503020204020204" pitchFamily="34" charset="-122"/>
                        </a:rPr>
                        <a:t>爆炸</a:t>
                      </a:r>
                      <a:r>
                        <a:rPr lang="zh-CN" altLang="en-US" sz="1400">
                          <a:solidFill>
                            <a:schemeClr val="tx1"/>
                          </a:solidFill>
                          <a:latin typeface="Arial" panose="020B0604020202020204" pitchFamily="34" charset="0"/>
                          <a:ea typeface="微软雅黑" panose="020B0503020204020204" pitchFamily="34" charset="-122"/>
                        </a:rPr>
                        <a:t>：用维度组合替代海量唯一物料编码。</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zh-CN" altLang="en-US" sz="1400" b="1">
                          <a:solidFill>
                            <a:schemeClr val="tx1"/>
                          </a:solidFill>
                          <a:latin typeface="Arial" panose="020B0604020202020204" pitchFamily="34" charset="0"/>
                          <a:ea typeface="微软雅黑" panose="020B0503020204020204" pitchFamily="34" charset="-122"/>
                        </a:rPr>
                        <a:t>响应迟缓</a:t>
                      </a:r>
                      <a:r>
                        <a:rPr lang="zh-CN" altLang="en-US" sz="1400">
                          <a:solidFill>
                            <a:schemeClr val="tx1"/>
                          </a:solidFill>
                          <a:latin typeface="Arial" panose="020B0604020202020204" pitchFamily="34" charset="0"/>
                          <a:ea typeface="微软雅黑" panose="020B0503020204020204" pitchFamily="34" charset="-122"/>
                        </a:rPr>
                        <a:t>：通过维度规则快速匹配定制化需求与供应。</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zh-CN" altLang="en-US" sz="1400" b="1">
                          <a:solidFill>
                            <a:schemeClr val="tx1"/>
                          </a:solidFill>
                          <a:latin typeface="Arial" panose="020B0604020202020204" pitchFamily="34" charset="0"/>
                          <a:ea typeface="微软雅黑" panose="020B0503020204020204" pitchFamily="34" charset="-122"/>
                        </a:rPr>
                        <a:t>系统孤岛</a:t>
                      </a:r>
                      <a:r>
                        <a:rPr lang="zh-CN" altLang="en-US" sz="1400">
                          <a:solidFill>
                            <a:schemeClr val="tx1"/>
                          </a:solidFill>
                          <a:latin typeface="Arial" panose="020B0604020202020204" pitchFamily="34" charset="0"/>
                          <a:ea typeface="微软雅黑" panose="020B0503020204020204" pitchFamily="34" charset="-122"/>
                        </a:rPr>
                        <a:t>：建立统一的维度语言，打通战略、战术、执行各层计划。</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noFill/>
                  </a:tcPr>
                </a:tc>
                <a:extLst>
                  <a:ext uri="{0D108BD9-81ED-4DB2-BD59-A6C34878D82A}">
                    <a16:rowId xmlns:a16="http://schemas.microsoft.com/office/drawing/2014/main" val="2427945386"/>
                  </a:ext>
                </a:extLst>
              </a:tr>
              <a:tr h="1534797">
                <a:tc>
                  <a:txBody>
                    <a:bodyPr/>
                    <a:lstStyle/>
                    <a:p>
                      <a:pPr>
                        <a:buNone/>
                      </a:pPr>
                      <a:r>
                        <a:rPr lang="zh-CN" altLang="en-US" sz="1400" b="1">
                          <a:solidFill>
                            <a:srgbClr val="000000"/>
                          </a:solidFill>
                          <a:latin typeface="Arial" panose="020B0604020202020204" pitchFamily="34" charset="0"/>
                          <a:ea typeface="微软雅黑" panose="020B0503020204020204" pitchFamily="34" charset="-122"/>
                        </a:rPr>
                        <a:t>解决方案的精髓</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solidFill>
                      <a:srgbClr val="DACDE4"/>
                    </a:solidFill>
                  </a:tcPr>
                </a:tc>
                <a:tc>
                  <a:txBody>
                    <a:bodyPr/>
                    <a:lstStyle/>
                    <a:p>
                      <a:pPr>
                        <a:buNone/>
                      </a:pPr>
                      <a:r>
                        <a:rPr lang="zh-CN" altLang="en-US" sz="1400" b="1">
                          <a:solidFill>
                            <a:schemeClr val="tx1"/>
                          </a:solidFill>
                          <a:latin typeface="Arial" panose="020B0604020202020204" pitchFamily="34" charset="0"/>
                          <a:ea typeface="微软雅黑" panose="020B0503020204020204" pitchFamily="34" charset="-122"/>
                        </a:rPr>
                        <a:t>“以维度为中心”的规划范式。</a:t>
                      </a:r>
                      <a:r>
                        <a:rPr lang="zh-CN" altLang="en-US" sz="1400">
                          <a:solidFill>
                            <a:schemeClr val="tx1"/>
                          </a:solidFill>
                          <a:latin typeface="Arial" panose="020B0604020202020204" pitchFamily="34" charset="0"/>
                          <a:ea typeface="微软雅黑" panose="020B0503020204020204" pitchFamily="34" charset="-122"/>
                        </a:rPr>
                        <a:t> 不再是围绕固定的物料清单做计划，而是围绕可灵活组合的维度特征来驱动整个供应链的决策：</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zh-CN" altLang="en-US" sz="1400" b="1">
                          <a:solidFill>
                            <a:schemeClr val="tx1"/>
                          </a:solidFill>
                          <a:latin typeface="Arial" panose="020B0604020202020204" pitchFamily="34" charset="0"/>
                          <a:ea typeface="微软雅黑" panose="020B0503020204020204" pitchFamily="34" charset="-122"/>
                        </a:rPr>
                        <a:t>需求端</a:t>
                      </a:r>
                      <a:r>
                        <a:rPr lang="zh-CN" altLang="en-US" sz="1400">
                          <a:solidFill>
                            <a:schemeClr val="tx1"/>
                          </a:solidFill>
                          <a:latin typeface="Arial" panose="020B0604020202020204" pitchFamily="34" charset="0"/>
                          <a:ea typeface="微软雅黑" panose="020B0503020204020204" pitchFamily="34" charset="-122"/>
                        </a:rPr>
                        <a:t>：订单指定所需的维度值（如颜色</a:t>
                      </a:r>
                      <a:r>
                        <a:rPr lang="en-US" altLang="zh-CN" sz="1400">
                          <a:solidFill>
                            <a:schemeClr val="tx1"/>
                          </a:solidFill>
                          <a:latin typeface="Arial" panose="020B0604020202020204" pitchFamily="34" charset="0"/>
                          <a:ea typeface="微软雅黑" panose="020B0503020204020204" pitchFamily="34" charset="-122"/>
                        </a:rPr>
                        <a:t>=</a:t>
                      </a:r>
                      <a:r>
                        <a:rPr lang="zh-CN" altLang="en-US" sz="1400">
                          <a:solidFill>
                            <a:schemeClr val="tx1"/>
                          </a:solidFill>
                          <a:latin typeface="Arial" panose="020B0604020202020204" pitchFamily="34" charset="0"/>
                          <a:ea typeface="微软雅黑" panose="020B0503020204020204" pitchFamily="34" charset="-122"/>
                        </a:rPr>
                        <a:t>红，内存</a:t>
                      </a:r>
                      <a:r>
                        <a:rPr lang="en-US" altLang="zh-CN" sz="1400">
                          <a:solidFill>
                            <a:schemeClr val="tx1"/>
                          </a:solidFill>
                          <a:latin typeface="Arial" panose="020B0604020202020204" pitchFamily="34" charset="0"/>
                          <a:ea typeface="微软雅黑" panose="020B0503020204020204" pitchFamily="34" charset="-122"/>
                        </a:rPr>
                        <a:t>=8G</a:t>
                      </a:r>
                      <a:r>
                        <a:rPr lang="zh-CN" altLang="en-US" sz="1400">
                          <a:solidFill>
                            <a:schemeClr val="tx1"/>
                          </a:solidFill>
                          <a:latin typeface="Arial" panose="020B0604020202020204" pitchFamily="34" charset="0"/>
                          <a:ea typeface="微软雅黑" panose="020B0503020204020204" pitchFamily="34" charset="-122"/>
                        </a:rPr>
                        <a:t>）。</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zh-CN" altLang="en-US" sz="1400" b="1">
                          <a:solidFill>
                            <a:schemeClr val="tx1"/>
                          </a:solidFill>
                          <a:latin typeface="Arial" panose="020B0604020202020204" pitchFamily="34" charset="0"/>
                          <a:ea typeface="微软雅黑" panose="020B0503020204020204" pitchFamily="34" charset="-122"/>
                        </a:rPr>
                        <a:t>供应端</a:t>
                      </a:r>
                      <a:r>
                        <a:rPr lang="zh-CN" altLang="en-US" sz="1400">
                          <a:solidFill>
                            <a:schemeClr val="tx1"/>
                          </a:solidFill>
                          <a:latin typeface="Arial" panose="020B0604020202020204" pitchFamily="34" charset="0"/>
                          <a:ea typeface="微软雅黑" panose="020B0503020204020204" pitchFamily="34" charset="-122"/>
                        </a:rPr>
                        <a:t>：库存、产能、</a:t>
                      </a:r>
                      <a:r>
                        <a:rPr lang="en-US" altLang="zh-CN" sz="1400">
                          <a:solidFill>
                            <a:schemeClr val="tx1"/>
                          </a:solidFill>
                          <a:latin typeface="Arial" panose="020B0604020202020204" pitchFamily="34" charset="0"/>
                          <a:ea typeface="微软雅黑" panose="020B0503020204020204" pitchFamily="34" charset="-122"/>
                        </a:rPr>
                        <a:t>BOM</a:t>
                      </a:r>
                      <a:r>
                        <a:rPr lang="zh-CN" altLang="en-US" sz="1400">
                          <a:solidFill>
                            <a:schemeClr val="tx1"/>
                          </a:solidFill>
                          <a:latin typeface="Arial" panose="020B0604020202020204" pitchFamily="34" charset="0"/>
                          <a:ea typeface="微软雅黑" panose="020B0503020204020204" pitchFamily="34" charset="-122"/>
                        </a:rPr>
                        <a:t>都带有维度标签。</a:t>
                      </a:r>
                      <a:br>
                        <a:rPr lang="zh-CN" altLang="en-US" sz="1400">
                          <a:solidFill>
                            <a:schemeClr val="tx1"/>
                          </a:solidFill>
                          <a:latin typeface="Arial" panose="020B0604020202020204" pitchFamily="34" charset="0"/>
                          <a:ea typeface="微软雅黑" panose="020B0503020204020204" pitchFamily="34" charset="-122"/>
                        </a:rPr>
                      </a:br>
                      <a:r>
                        <a:rPr lang="en-US" altLang="zh-CN" sz="1400">
                          <a:solidFill>
                            <a:schemeClr val="tx1"/>
                          </a:solidFill>
                          <a:latin typeface="Arial" panose="020B0604020202020204" pitchFamily="34" charset="0"/>
                          <a:ea typeface="微软雅黑" panose="020B0503020204020204" pitchFamily="34" charset="-122"/>
                        </a:rPr>
                        <a:t>• </a:t>
                      </a:r>
                      <a:r>
                        <a:rPr lang="zh-CN" altLang="en-US" sz="1400" b="1">
                          <a:solidFill>
                            <a:schemeClr val="tx1"/>
                          </a:solidFill>
                          <a:latin typeface="Arial" panose="020B0604020202020204" pitchFamily="34" charset="0"/>
                          <a:ea typeface="微软雅黑" panose="020B0503020204020204" pitchFamily="34" charset="-122"/>
                        </a:rPr>
                        <a:t>规划引擎</a:t>
                      </a:r>
                      <a:r>
                        <a:rPr lang="zh-CN" altLang="en-US" sz="1400">
                          <a:solidFill>
                            <a:schemeClr val="tx1"/>
                          </a:solidFill>
                          <a:latin typeface="Arial" panose="020B0604020202020204" pitchFamily="34" charset="0"/>
                          <a:ea typeface="微软雅黑" panose="020B0503020204020204" pitchFamily="34" charset="-122"/>
                        </a:rPr>
                        <a:t>：基于维度匹配规则，自动、精准地完成供需平衡和资源调度。 </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noFill/>
                  </a:tcPr>
                </a:tc>
                <a:extLst>
                  <a:ext uri="{0D108BD9-81ED-4DB2-BD59-A6C34878D82A}">
                    <a16:rowId xmlns:a16="http://schemas.microsoft.com/office/drawing/2014/main" val="180886472"/>
                  </a:ext>
                </a:extLst>
              </a:tr>
              <a:tr h="982270">
                <a:tc>
                  <a:txBody>
                    <a:bodyPr/>
                    <a:lstStyle/>
                    <a:p>
                      <a:pPr>
                        <a:buNone/>
                      </a:pPr>
                      <a:r>
                        <a:rPr lang="zh-CN" altLang="en-US" sz="1400" b="1">
                          <a:solidFill>
                            <a:srgbClr val="000000"/>
                          </a:solidFill>
                          <a:latin typeface="Arial" panose="020B0604020202020204" pitchFamily="34" charset="0"/>
                          <a:ea typeface="微软雅黑" panose="020B0503020204020204" pitchFamily="34" charset="-122"/>
                        </a:rPr>
                        <a:t>数据模型的核心思想</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solidFill>
                      <a:srgbClr val="DACDE4"/>
                    </a:solidFill>
                  </a:tcPr>
                </a:tc>
                <a:tc>
                  <a:txBody>
                    <a:bodyPr/>
                    <a:lstStyle/>
                    <a:p>
                      <a:pPr>
                        <a:buNone/>
                      </a:pPr>
                      <a:r>
                        <a:rPr lang="zh-CN" altLang="en-US" sz="1400" b="1" dirty="0">
                          <a:solidFill>
                            <a:schemeClr val="tx1"/>
                          </a:solidFill>
                          <a:latin typeface="Arial" panose="020B0604020202020204" pitchFamily="34" charset="0"/>
                          <a:ea typeface="微软雅黑" panose="020B0503020204020204" pitchFamily="34" charset="-122"/>
                        </a:rPr>
                        <a:t>“定义一次，随处引用”。</a:t>
                      </a:r>
                      <a:r>
                        <a:rPr lang="zh-CN" altLang="en-US" sz="1400" dirty="0">
                          <a:solidFill>
                            <a:schemeClr val="tx1"/>
                          </a:solidFill>
                          <a:latin typeface="Arial" panose="020B0604020202020204" pitchFamily="34" charset="0"/>
                          <a:ea typeface="微软雅黑" panose="020B0503020204020204" pitchFamily="34" charset="-122"/>
                        </a:rPr>
                        <a:t> 通过核心表（维度、维度值、维度组）定义业务规则，再通过关联表（产品维度、需求维度、供应维度）将维度信息“贴附”到所有相关的业务对象上，形成统一的、全链路的数据视图。</a:t>
                      </a:r>
                    </a:p>
                  </a:txBody>
                  <a:tcPr marL="55598" marR="55598" marT="27799" marB="27799" anchor="ctr">
                    <a:lnL>
                      <a:solidFill>
                        <a:srgbClr val="674188"/>
                      </a:solidFill>
                      <a:prstDash val="solid"/>
                    </a:lnL>
                    <a:lnR>
                      <a:solidFill>
                        <a:srgbClr val="674188"/>
                      </a:solidFill>
                      <a:prstDash val="solid"/>
                    </a:lnR>
                    <a:lnT>
                      <a:solidFill>
                        <a:srgbClr val="DDDDDD"/>
                      </a:solidFill>
                      <a:prstDash val="solid"/>
                    </a:lnT>
                    <a:lnB>
                      <a:solidFill>
                        <a:srgbClr val="DDDDDD"/>
                      </a:solidFill>
                      <a:prstDash val="solid"/>
                    </a:lnB>
                    <a:noFill/>
                  </a:tcPr>
                </a:tc>
                <a:extLst>
                  <a:ext uri="{0D108BD9-81ED-4DB2-BD59-A6C34878D82A}">
                    <a16:rowId xmlns:a16="http://schemas.microsoft.com/office/drawing/2014/main" val="485833788"/>
                  </a:ext>
                </a:extLst>
              </a:tr>
            </a:tbl>
          </a:graphicData>
        </a:graphic>
      </p:graphicFrame>
    </p:spTree>
    <p:extLst>
      <p:ext uri="{BB962C8B-B14F-4D97-AF65-F5344CB8AC3E}">
        <p14:creationId xmlns:p14="http://schemas.microsoft.com/office/powerpoint/2010/main" val="292051579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678047-40AF-0B98-954F-357EB0D54A6C}"/>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场景</a:t>
            </a:r>
          </a:p>
        </p:txBody>
      </p:sp>
      <p:graphicFrame>
        <p:nvGraphicFramePr>
          <p:cNvPr id="76" name="图示 75">
            <a:extLst>
              <a:ext uri="{FF2B5EF4-FFF2-40B4-BE49-F238E27FC236}">
                <a16:creationId xmlns:a16="http://schemas.microsoft.com/office/drawing/2014/main" id="{5EFA6898-0351-5FE7-4D29-7C83F159982D}"/>
              </a:ext>
            </a:extLst>
          </p:cNvPr>
          <p:cNvGraphicFramePr/>
          <p:nvPr/>
        </p:nvGraphicFramePr>
        <p:xfrm>
          <a:off x="983944" y="864523"/>
          <a:ext cx="10642791" cy="5428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860135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5C2CD1-4D9F-3C88-9D3E-C2C57EB54A77}"/>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Data Model</a:t>
            </a:r>
            <a:endParaRPr lang="zh-CN" altLang="en-US" dirty="0">
              <a:latin typeface="Arial" panose="020B0604020202020204" pitchFamily="34" charset="0"/>
              <a:ea typeface="微软雅黑" panose="020B0503020204020204" pitchFamily="34" charset="-122"/>
            </a:endParaRPr>
          </a:p>
        </p:txBody>
      </p:sp>
      <p:pic>
        <p:nvPicPr>
          <p:cNvPr id="8" name="图片 7">
            <a:extLst>
              <a:ext uri="{FF2B5EF4-FFF2-40B4-BE49-F238E27FC236}">
                <a16:creationId xmlns:a16="http://schemas.microsoft.com/office/drawing/2014/main" id="{E91E18CF-7858-831B-9DF4-E47D02075C64}"/>
              </a:ext>
            </a:extLst>
          </p:cNvPr>
          <p:cNvPicPr>
            <a:picLocks noChangeAspect="1"/>
          </p:cNvPicPr>
          <p:nvPr/>
        </p:nvPicPr>
        <p:blipFill>
          <a:blip r:embed="rId19"/>
          <a:stretch>
            <a:fillRect/>
          </a:stretch>
        </p:blipFill>
        <p:spPr>
          <a:xfrm>
            <a:off x="6262211" y="1110344"/>
            <a:ext cx="5559516" cy="4923692"/>
          </a:xfrm>
          <a:prstGeom prst="rect">
            <a:avLst/>
          </a:prstGeom>
        </p:spPr>
      </p:pic>
      <p:grpSp>
        <p:nvGrpSpPr>
          <p:cNvPr id="12" name="组合 11">
            <a:extLst>
              <a:ext uri="{FF2B5EF4-FFF2-40B4-BE49-F238E27FC236}">
                <a16:creationId xmlns:a16="http://schemas.microsoft.com/office/drawing/2014/main" id="{E5C1D3F4-FBAA-5412-CACD-54493A3EEE5F}"/>
              </a:ext>
            </a:extLst>
          </p:cNvPr>
          <p:cNvGrpSpPr>
            <a:grpSpLocks noChangeAspect="1"/>
          </p:cNvGrpSpPr>
          <p:nvPr>
            <p:custDataLst>
              <p:tags r:id="rId1"/>
            </p:custDataLst>
          </p:nvPr>
        </p:nvGrpSpPr>
        <p:grpSpPr>
          <a:xfrm>
            <a:off x="341232" y="1191197"/>
            <a:ext cx="5588558" cy="3508346"/>
            <a:chOff x="2904417" y="1674827"/>
            <a:chExt cx="6268865" cy="3508346"/>
          </a:xfrm>
        </p:grpSpPr>
        <p:grpSp>
          <p:nvGrpSpPr>
            <p:cNvPr id="13" name="组合 12">
              <a:extLst>
                <a:ext uri="{FF2B5EF4-FFF2-40B4-BE49-F238E27FC236}">
                  <a16:creationId xmlns:a16="http://schemas.microsoft.com/office/drawing/2014/main" id="{7D5067D5-3277-DD88-1A4D-EFAA7733F30D}"/>
                </a:ext>
              </a:extLst>
            </p:cNvPr>
            <p:cNvGrpSpPr/>
            <p:nvPr/>
          </p:nvGrpSpPr>
          <p:grpSpPr>
            <a:xfrm>
              <a:off x="2904417" y="1674827"/>
              <a:ext cx="6268865" cy="738359"/>
              <a:chOff x="2904417" y="1674827"/>
              <a:chExt cx="6268865" cy="738359"/>
            </a:xfrm>
          </p:grpSpPr>
          <p:sp>
            <p:nvSpPr>
              <p:cNvPr id="32" name="1">
                <a:extLst>
                  <a:ext uri="{FF2B5EF4-FFF2-40B4-BE49-F238E27FC236}">
                    <a16:creationId xmlns:a16="http://schemas.microsoft.com/office/drawing/2014/main" id="{E7B39235-4A88-DFB1-AF4B-30B2AE64A98C}"/>
                  </a:ext>
                </a:extLst>
              </p:cNvPr>
              <p:cNvSpPr/>
              <p:nvPr>
                <p:custDataLst>
                  <p:tags r:id="rId14"/>
                </p:custDataLst>
              </p:nvPr>
            </p:nvSpPr>
            <p:spPr>
              <a:xfrm>
                <a:off x="2904417" y="1675734"/>
                <a:ext cx="6268865" cy="736545"/>
              </a:xfrm>
              <a:prstGeom prst="roundRect">
                <a:avLst>
                  <a:gd name="adj" fmla="val 28076"/>
                </a:avLst>
              </a:prstGeom>
              <a:solidFill>
                <a:schemeClr val="bg1">
                  <a:lumMod val="95000"/>
                </a:schemeClr>
              </a:solidFill>
              <a:ln w="25400">
                <a:noFill/>
              </a:ln>
              <a:effectLst>
                <a:outerShdw blurRad="381000" dist="63500" sx="90000" sy="90000" algn="ctr" rotWithShape="0">
                  <a:schemeClr val="tx1">
                    <a:lumMod val="50000"/>
                    <a:lumOff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33" name="1">
                <a:extLst>
                  <a:ext uri="{FF2B5EF4-FFF2-40B4-BE49-F238E27FC236}">
                    <a16:creationId xmlns:a16="http://schemas.microsoft.com/office/drawing/2014/main" id="{C6A96C2D-229E-B79B-5218-6EE83778A40E}"/>
                  </a:ext>
                </a:extLst>
              </p:cNvPr>
              <p:cNvSpPr/>
              <p:nvPr>
                <p:custDataLst>
                  <p:tags r:id="rId15"/>
                </p:custDataLst>
              </p:nvPr>
            </p:nvSpPr>
            <p:spPr>
              <a:xfrm>
                <a:off x="2904418" y="1674827"/>
                <a:ext cx="1687065" cy="738359"/>
              </a:xfrm>
              <a:custGeom>
                <a:avLst/>
                <a:gdLst>
                  <a:gd name="connsiteX0" fmla="*/ 709001 w 1687065"/>
                  <a:gd name="connsiteY0" fmla="*/ 0 h 738359"/>
                  <a:gd name="connsiteX1" fmla="*/ 1120121 w 1687065"/>
                  <a:gd name="connsiteY1" fmla="*/ 0 h 738359"/>
                  <a:gd name="connsiteX2" fmla="*/ 1120121 w 1687065"/>
                  <a:gd name="connsiteY2" fmla="*/ 359 h 738359"/>
                  <a:gd name="connsiteX3" fmla="*/ 1687065 w 1687065"/>
                  <a:gd name="connsiteY3" fmla="*/ 359 h 738359"/>
                  <a:gd name="connsiteX4" fmla="*/ 1120121 w 1687065"/>
                  <a:gd name="connsiteY4" fmla="*/ 738359 h 738359"/>
                  <a:gd name="connsiteX5" fmla="*/ 1120121 w 1687065"/>
                  <a:gd name="connsiteY5" fmla="*/ 738000 h 738359"/>
                  <a:gd name="connsiteX6" fmla="*/ 833457 w 1687065"/>
                  <a:gd name="connsiteY6" fmla="*/ 738000 h 738359"/>
                  <a:gd name="connsiteX7" fmla="*/ 829906 w 1687065"/>
                  <a:gd name="connsiteY7" fmla="*/ 738358 h 738359"/>
                  <a:gd name="connsiteX8" fmla="*/ 191954 w 1687065"/>
                  <a:gd name="connsiteY8" fmla="*/ 738358 h 738359"/>
                  <a:gd name="connsiteX9" fmla="*/ 0 w 1687065"/>
                  <a:gd name="connsiteY9" fmla="*/ 546404 h 738359"/>
                  <a:gd name="connsiteX10" fmla="*/ 0 w 1687065"/>
                  <a:gd name="connsiteY10" fmla="*/ 192312 h 738359"/>
                  <a:gd name="connsiteX11" fmla="*/ 191954 w 1687065"/>
                  <a:gd name="connsiteY11" fmla="*/ 358 h 738359"/>
                  <a:gd name="connsiteX12" fmla="*/ 709001 w 1687065"/>
                  <a:gd name="connsiteY12" fmla="*/ 358 h 73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7065" h="738359">
                    <a:moveTo>
                      <a:pt x="709001" y="0"/>
                    </a:moveTo>
                    <a:lnTo>
                      <a:pt x="1120121" y="0"/>
                    </a:lnTo>
                    <a:lnTo>
                      <a:pt x="1120121" y="359"/>
                    </a:lnTo>
                    <a:lnTo>
                      <a:pt x="1687065" y="359"/>
                    </a:lnTo>
                    <a:lnTo>
                      <a:pt x="1120121" y="738359"/>
                    </a:lnTo>
                    <a:lnTo>
                      <a:pt x="1120121" y="738000"/>
                    </a:lnTo>
                    <a:lnTo>
                      <a:pt x="833457" y="738000"/>
                    </a:lnTo>
                    <a:lnTo>
                      <a:pt x="829906" y="738358"/>
                    </a:lnTo>
                    <a:lnTo>
                      <a:pt x="191954" y="738358"/>
                    </a:lnTo>
                    <a:cubicBezTo>
                      <a:pt x="85941" y="738358"/>
                      <a:pt x="0" y="652417"/>
                      <a:pt x="0" y="546404"/>
                    </a:cubicBezTo>
                    <a:lnTo>
                      <a:pt x="0" y="192312"/>
                    </a:lnTo>
                    <a:cubicBezTo>
                      <a:pt x="0" y="86299"/>
                      <a:pt x="85941" y="358"/>
                      <a:pt x="191954" y="358"/>
                    </a:cubicBezTo>
                    <a:lnTo>
                      <a:pt x="709001" y="358"/>
                    </a:lnTo>
                    <a:close/>
                  </a:path>
                </a:pathLst>
              </a:custGeom>
              <a:gradFill flip="none" rotWithShape="1">
                <a:gsLst>
                  <a:gs pos="0">
                    <a:schemeClr val="accent1"/>
                  </a:gs>
                  <a:gs pos="100000">
                    <a:schemeClr val="accent1">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34" name="Title-1">
                <a:extLst>
                  <a:ext uri="{FF2B5EF4-FFF2-40B4-BE49-F238E27FC236}">
                    <a16:creationId xmlns:a16="http://schemas.microsoft.com/office/drawing/2014/main" id="{D558B6F8-8FB6-AC06-370F-7770BD69AC17}"/>
                  </a:ext>
                </a:extLst>
              </p:cNvPr>
              <p:cNvSpPr txBox="1"/>
              <p:nvPr>
                <p:custDataLst>
                  <p:tags r:id="rId16"/>
                </p:custDataLst>
              </p:nvPr>
            </p:nvSpPr>
            <p:spPr>
              <a:xfrm>
                <a:off x="3018719" y="1873837"/>
                <a:ext cx="1129809" cy="34033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rPr>
                  <a:t>维度</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6" name="Body-1">
                <a:extLst>
                  <a:ext uri="{FF2B5EF4-FFF2-40B4-BE49-F238E27FC236}">
                    <a16:creationId xmlns:a16="http://schemas.microsoft.com/office/drawing/2014/main" id="{90211211-16C3-D432-6C89-9503CEFA0A37}"/>
                  </a:ext>
                </a:extLst>
              </p:cNvPr>
              <p:cNvSpPr>
                <a:spLocks/>
              </p:cNvSpPr>
              <p:nvPr>
                <p:custDataLst>
                  <p:tags r:id="rId17"/>
                </p:custDataLst>
              </p:nvPr>
            </p:nvSpPr>
            <p:spPr>
              <a:xfrm>
                <a:off x="4419387" y="1808571"/>
                <a:ext cx="3604046"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具体的属性，如颜色、大小，亮度</a:t>
                </a:r>
                <a:r>
                  <a:rPr kumimoji="0" lang="en-US" altLang="zh-CN"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etc.</a:t>
                </a:r>
                <a:endParaRPr kumimoji="0" lang="en-GB" altLang="zh-CN"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nvGrpSpPr>
            <p:cNvPr id="14" name="组合 13">
              <a:extLst>
                <a:ext uri="{FF2B5EF4-FFF2-40B4-BE49-F238E27FC236}">
                  <a16:creationId xmlns:a16="http://schemas.microsoft.com/office/drawing/2014/main" id="{F002CA1A-28EE-8974-6579-A5E2F6CC673F}"/>
                </a:ext>
              </a:extLst>
            </p:cNvPr>
            <p:cNvGrpSpPr/>
            <p:nvPr/>
          </p:nvGrpSpPr>
          <p:grpSpPr>
            <a:xfrm>
              <a:off x="2904417" y="2598156"/>
              <a:ext cx="6268865" cy="738359"/>
              <a:chOff x="2904417" y="2598156"/>
              <a:chExt cx="6268865" cy="738359"/>
            </a:xfrm>
          </p:grpSpPr>
          <p:sp>
            <p:nvSpPr>
              <p:cNvPr id="27" name="2">
                <a:extLst>
                  <a:ext uri="{FF2B5EF4-FFF2-40B4-BE49-F238E27FC236}">
                    <a16:creationId xmlns:a16="http://schemas.microsoft.com/office/drawing/2014/main" id="{B62EFA27-4957-A529-9E74-68A3F8E02555}"/>
                  </a:ext>
                </a:extLst>
              </p:cNvPr>
              <p:cNvSpPr/>
              <p:nvPr>
                <p:custDataLst>
                  <p:tags r:id="rId10"/>
                </p:custDataLst>
              </p:nvPr>
            </p:nvSpPr>
            <p:spPr>
              <a:xfrm>
                <a:off x="2904417" y="2599063"/>
                <a:ext cx="6268865" cy="736545"/>
              </a:xfrm>
              <a:prstGeom prst="roundRect">
                <a:avLst>
                  <a:gd name="adj" fmla="val 28076"/>
                </a:avLst>
              </a:prstGeom>
              <a:solidFill>
                <a:schemeClr val="bg1">
                  <a:lumMod val="95000"/>
                </a:schemeClr>
              </a:solidFill>
              <a:ln w="25400">
                <a:noFill/>
              </a:ln>
              <a:effectLst>
                <a:outerShdw blurRad="381000" dist="63500" sx="90000" sy="90000" algn="ctr" rotWithShape="0">
                  <a:schemeClr val="tx1">
                    <a:lumMod val="50000"/>
                    <a:lumOff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28" name="2">
                <a:extLst>
                  <a:ext uri="{FF2B5EF4-FFF2-40B4-BE49-F238E27FC236}">
                    <a16:creationId xmlns:a16="http://schemas.microsoft.com/office/drawing/2014/main" id="{6DA70CB4-2328-CEE4-7252-EAE83306C869}"/>
                  </a:ext>
                </a:extLst>
              </p:cNvPr>
              <p:cNvSpPr/>
              <p:nvPr>
                <p:custDataLst>
                  <p:tags r:id="rId11"/>
                </p:custDataLst>
              </p:nvPr>
            </p:nvSpPr>
            <p:spPr>
              <a:xfrm>
                <a:off x="2904418" y="2598156"/>
                <a:ext cx="1687065" cy="738359"/>
              </a:xfrm>
              <a:custGeom>
                <a:avLst/>
                <a:gdLst>
                  <a:gd name="connsiteX0" fmla="*/ 709001 w 1687065"/>
                  <a:gd name="connsiteY0" fmla="*/ 0 h 738359"/>
                  <a:gd name="connsiteX1" fmla="*/ 1120121 w 1687065"/>
                  <a:gd name="connsiteY1" fmla="*/ 0 h 738359"/>
                  <a:gd name="connsiteX2" fmla="*/ 1120121 w 1687065"/>
                  <a:gd name="connsiteY2" fmla="*/ 359 h 738359"/>
                  <a:gd name="connsiteX3" fmla="*/ 1687065 w 1687065"/>
                  <a:gd name="connsiteY3" fmla="*/ 359 h 738359"/>
                  <a:gd name="connsiteX4" fmla="*/ 1120121 w 1687065"/>
                  <a:gd name="connsiteY4" fmla="*/ 738359 h 738359"/>
                  <a:gd name="connsiteX5" fmla="*/ 1120121 w 1687065"/>
                  <a:gd name="connsiteY5" fmla="*/ 738000 h 738359"/>
                  <a:gd name="connsiteX6" fmla="*/ 833457 w 1687065"/>
                  <a:gd name="connsiteY6" fmla="*/ 738000 h 738359"/>
                  <a:gd name="connsiteX7" fmla="*/ 829906 w 1687065"/>
                  <a:gd name="connsiteY7" fmla="*/ 738358 h 738359"/>
                  <a:gd name="connsiteX8" fmla="*/ 191954 w 1687065"/>
                  <a:gd name="connsiteY8" fmla="*/ 738358 h 738359"/>
                  <a:gd name="connsiteX9" fmla="*/ 0 w 1687065"/>
                  <a:gd name="connsiteY9" fmla="*/ 546404 h 738359"/>
                  <a:gd name="connsiteX10" fmla="*/ 0 w 1687065"/>
                  <a:gd name="connsiteY10" fmla="*/ 192312 h 738359"/>
                  <a:gd name="connsiteX11" fmla="*/ 191954 w 1687065"/>
                  <a:gd name="connsiteY11" fmla="*/ 358 h 738359"/>
                  <a:gd name="connsiteX12" fmla="*/ 709001 w 1687065"/>
                  <a:gd name="connsiteY12" fmla="*/ 358 h 73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7065" h="738359">
                    <a:moveTo>
                      <a:pt x="709001" y="0"/>
                    </a:moveTo>
                    <a:lnTo>
                      <a:pt x="1120121" y="0"/>
                    </a:lnTo>
                    <a:lnTo>
                      <a:pt x="1120121" y="359"/>
                    </a:lnTo>
                    <a:lnTo>
                      <a:pt x="1687065" y="359"/>
                    </a:lnTo>
                    <a:lnTo>
                      <a:pt x="1120121" y="738359"/>
                    </a:lnTo>
                    <a:lnTo>
                      <a:pt x="1120121" y="738000"/>
                    </a:lnTo>
                    <a:lnTo>
                      <a:pt x="833457" y="738000"/>
                    </a:lnTo>
                    <a:lnTo>
                      <a:pt x="829906" y="738358"/>
                    </a:lnTo>
                    <a:lnTo>
                      <a:pt x="191954" y="738358"/>
                    </a:lnTo>
                    <a:cubicBezTo>
                      <a:pt x="85941" y="738358"/>
                      <a:pt x="0" y="652417"/>
                      <a:pt x="0" y="546404"/>
                    </a:cubicBezTo>
                    <a:lnTo>
                      <a:pt x="0" y="192312"/>
                    </a:lnTo>
                    <a:cubicBezTo>
                      <a:pt x="0" y="86299"/>
                      <a:pt x="85941" y="358"/>
                      <a:pt x="191954" y="358"/>
                    </a:cubicBezTo>
                    <a:lnTo>
                      <a:pt x="709001" y="358"/>
                    </a:lnTo>
                    <a:close/>
                  </a:path>
                </a:pathLst>
              </a:custGeom>
              <a:gradFill flip="none" rotWithShape="1">
                <a:gsLst>
                  <a:gs pos="0">
                    <a:schemeClr val="accent2"/>
                  </a:gs>
                  <a:gs pos="100000">
                    <a:schemeClr val="accent2">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29" name="Title-2">
                <a:extLst>
                  <a:ext uri="{FF2B5EF4-FFF2-40B4-BE49-F238E27FC236}">
                    <a16:creationId xmlns:a16="http://schemas.microsoft.com/office/drawing/2014/main" id="{92AF1387-FED0-EAF7-A148-4EF8C6CC65F5}"/>
                  </a:ext>
                </a:extLst>
              </p:cNvPr>
              <p:cNvSpPr txBox="1"/>
              <p:nvPr>
                <p:custDataLst>
                  <p:tags r:id="rId12"/>
                </p:custDataLst>
              </p:nvPr>
            </p:nvSpPr>
            <p:spPr>
              <a:xfrm>
                <a:off x="3018719" y="2797166"/>
                <a:ext cx="1129809" cy="34033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rPr>
                  <a:t>维度值</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1" name="Body-2">
                <a:extLst>
                  <a:ext uri="{FF2B5EF4-FFF2-40B4-BE49-F238E27FC236}">
                    <a16:creationId xmlns:a16="http://schemas.microsoft.com/office/drawing/2014/main" id="{FA54E08B-7F10-D0F1-F585-A927A9B1D57E}"/>
                  </a:ext>
                </a:extLst>
              </p:cNvPr>
              <p:cNvSpPr>
                <a:spLocks/>
              </p:cNvSpPr>
              <p:nvPr>
                <p:custDataLst>
                  <p:tags r:id="rId13"/>
                </p:custDataLst>
              </p:nvPr>
            </p:nvSpPr>
            <p:spPr>
              <a:xfrm>
                <a:off x="4419387" y="2731900"/>
                <a:ext cx="3604046"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具体属性的值，如红色、</a:t>
                </a:r>
                <a:r>
                  <a:rPr kumimoji="0" lang="en-US" altLang="zh-CN" sz="1400" b="0" i="0" u="none" strike="noStrike" kern="1200" cap="none" spc="0" normalizeH="0" baseline="0" noProof="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1T etc.</a:t>
                </a:r>
                <a:endParaRPr kumimoji="0" lang="en-GB" altLang="zh-CN"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nvGrpSpPr>
            <p:cNvPr id="15" name="组合 14">
              <a:extLst>
                <a:ext uri="{FF2B5EF4-FFF2-40B4-BE49-F238E27FC236}">
                  <a16:creationId xmlns:a16="http://schemas.microsoft.com/office/drawing/2014/main" id="{AA36FBF7-A5B4-ED45-DE35-075982B36E32}"/>
                </a:ext>
              </a:extLst>
            </p:cNvPr>
            <p:cNvGrpSpPr/>
            <p:nvPr/>
          </p:nvGrpSpPr>
          <p:grpSpPr>
            <a:xfrm>
              <a:off x="2904417" y="3520578"/>
              <a:ext cx="6268865" cy="739266"/>
              <a:chOff x="2904417" y="3520578"/>
              <a:chExt cx="6268865" cy="739266"/>
            </a:xfrm>
          </p:grpSpPr>
          <p:sp>
            <p:nvSpPr>
              <p:cNvPr id="22" name="3">
                <a:extLst>
                  <a:ext uri="{FF2B5EF4-FFF2-40B4-BE49-F238E27FC236}">
                    <a16:creationId xmlns:a16="http://schemas.microsoft.com/office/drawing/2014/main" id="{C9C56BDC-D99E-3C78-9C2D-9212673CF8A3}"/>
                  </a:ext>
                </a:extLst>
              </p:cNvPr>
              <p:cNvSpPr/>
              <p:nvPr>
                <p:custDataLst>
                  <p:tags r:id="rId6"/>
                </p:custDataLst>
              </p:nvPr>
            </p:nvSpPr>
            <p:spPr>
              <a:xfrm>
                <a:off x="2904417" y="3522392"/>
                <a:ext cx="6268865" cy="736545"/>
              </a:xfrm>
              <a:prstGeom prst="roundRect">
                <a:avLst>
                  <a:gd name="adj" fmla="val 28076"/>
                </a:avLst>
              </a:prstGeom>
              <a:solidFill>
                <a:schemeClr val="bg1">
                  <a:lumMod val="95000"/>
                </a:schemeClr>
              </a:solidFill>
              <a:ln w="25400">
                <a:noFill/>
              </a:ln>
              <a:effectLst>
                <a:outerShdw blurRad="381000" dist="63500" sx="90000" sy="90000" algn="ctr" rotWithShape="0">
                  <a:schemeClr val="tx1">
                    <a:lumMod val="50000"/>
                    <a:lumOff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23" name="3">
                <a:extLst>
                  <a:ext uri="{FF2B5EF4-FFF2-40B4-BE49-F238E27FC236}">
                    <a16:creationId xmlns:a16="http://schemas.microsoft.com/office/drawing/2014/main" id="{149BACF8-A329-B6B9-3C90-68A209E4CD88}"/>
                  </a:ext>
                </a:extLst>
              </p:cNvPr>
              <p:cNvSpPr/>
              <p:nvPr>
                <p:custDataLst>
                  <p:tags r:id="rId7"/>
                </p:custDataLst>
              </p:nvPr>
            </p:nvSpPr>
            <p:spPr>
              <a:xfrm>
                <a:off x="2904418" y="3521485"/>
                <a:ext cx="1687065" cy="738359"/>
              </a:xfrm>
              <a:custGeom>
                <a:avLst/>
                <a:gdLst>
                  <a:gd name="connsiteX0" fmla="*/ 709001 w 1687065"/>
                  <a:gd name="connsiteY0" fmla="*/ 0 h 738359"/>
                  <a:gd name="connsiteX1" fmla="*/ 1120121 w 1687065"/>
                  <a:gd name="connsiteY1" fmla="*/ 0 h 738359"/>
                  <a:gd name="connsiteX2" fmla="*/ 1120121 w 1687065"/>
                  <a:gd name="connsiteY2" fmla="*/ 359 h 738359"/>
                  <a:gd name="connsiteX3" fmla="*/ 1687065 w 1687065"/>
                  <a:gd name="connsiteY3" fmla="*/ 359 h 738359"/>
                  <a:gd name="connsiteX4" fmla="*/ 1120121 w 1687065"/>
                  <a:gd name="connsiteY4" fmla="*/ 738359 h 738359"/>
                  <a:gd name="connsiteX5" fmla="*/ 1120121 w 1687065"/>
                  <a:gd name="connsiteY5" fmla="*/ 738000 h 738359"/>
                  <a:gd name="connsiteX6" fmla="*/ 833457 w 1687065"/>
                  <a:gd name="connsiteY6" fmla="*/ 738000 h 738359"/>
                  <a:gd name="connsiteX7" fmla="*/ 829906 w 1687065"/>
                  <a:gd name="connsiteY7" fmla="*/ 738358 h 738359"/>
                  <a:gd name="connsiteX8" fmla="*/ 191954 w 1687065"/>
                  <a:gd name="connsiteY8" fmla="*/ 738358 h 738359"/>
                  <a:gd name="connsiteX9" fmla="*/ 0 w 1687065"/>
                  <a:gd name="connsiteY9" fmla="*/ 546404 h 738359"/>
                  <a:gd name="connsiteX10" fmla="*/ 0 w 1687065"/>
                  <a:gd name="connsiteY10" fmla="*/ 192312 h 738359"/>
                  <a:gd name="connsiteX11" fmla="*/ 191954 w 1687065"/>
                  <a:gd name="connsiteY11" fmla="*/ 358 h 738359"/>
                  <a:gd name="connsiteX12" fmla="*/ 709001 w 1687065"/>
                  <a:gd name="connsiteY12" fmla="*/ 358 h 73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7065" h="738359">
                    <a:moveTo>
                      <a:pt x="709001" y="0"/>
                    </a:moveTo>
                    <a:lnTo>
                      <a:pt x="1120121" y="0"/>
                    </a:lnTo>
                    <a:lnTo>
                      <a:pt x="1120121" y="359"/>
                    </a:lnTo>
                    <a:lnTo>
                      <a:pt x="1687065" y="359"/>
                    </a:lnTo>
                    <a:lnTo>
                      <a:pt x="1120121" y="738359"/>
                    </a:lnTo>
                    <a:lnTo>
                      <a:pt x="1120121" y="738000"/>
                    </a:lnTo>
                    <a:lnTo>
                      <a:pt x="833457" y="738000"/>
                    </a:lnTo>
                    <a:lnTo>
                      <a:pt x="829906" y="738358"/>
                    </a:lnTo>
                    <a:lnTo>
                      <a:pt x="191954" y="738358"/>
                    </a:lnTo>
                    <a:cubicBezTo>
                      <a:pt x="85941" y="738358"/>
                      <a:pt x="0" y="652417"/>
                      <a:pt x="0" y="546404"/>
                    </a:cubicBezTo>
                    <a:lnTo>
                      <a:pt x="0" y="192312"/>
                    </a:lnTo>
                    <a:cubicBezTo>
                      <a:pt x="0" y="86299"/>
                      <a:pt x="85941" y="358"/>
                      <a:pt x="191954" y="358"/>
                    </a:cubicBezTo>
                    <a:lnTo>
                      <a:pt x="709001" y="358"/>
                    </a:lnTo>
                    <a:close/>
                  </a:path>
                </a:pathLst>
              </a:custGeom>
              <a:gradFill flip="none" rotWithShape="1">
                <a:gsLst>
                  <a:gs pos="0">
                    <a:schemeClr val="accent3"/>
                  </a:gs>
                  <a:gs pos="100000">
                    <a:schemeClr val="accent3">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24" name="Title-3">
                <a:extLst>
                  <a:ext uri="{FF2B5EF4-FFF2-40B4-BE49-F238E27FC236}">
                    <a16:creationId xmlns:a16="http://schemas.microsoft.com/office/drawing/2014/main" id="{004AC54C-B761-B810-AB3E-4527A33AAB46}"/>
                  </a:ext>
                </a:extLst>
              </p:cNvPr>
              <p:cNvSpPr txBox="1"/>
              <p:nvPr>
                <p:custDataLst>
                  <p:tags r:id="rId8"/>
                </p:custDataLst>
              </p:nvPr>
            </p:nvSpPr>
            <p:spPr>
              <a:xfrm>
                <a:off x="3018719" y="3720495"/>
                <a:ext cx="1129809" cy="34033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rPr>
                  <a:t>维度组</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6" name="Body-3">
                <a:extLst>
                  <a:ext uri="{FF2B5EF4-FFF2-40B4-BE49-F238E27FC236}">
                    <a16:creationId xmlns:a16="http://schemas.microsoft.com/office/drawing/2014/main" id="{C385BF4D-EA2A-C268-984E-E41873B2B5CA}"/>
                  </a:ext>
                </a:extLst>
              </p:cNvPr>
              <p:cNvSpPr>
                <a:spLocks/>
              </p:cNvSpPr>
              <p:nvPr>
                <p:custDataLst>
                  <p:tags r:id="rId9"/>
                </p:custDataLst>
              </p:nvPr>
            </p:nvSpPr>
            <p:spPr>
              <a:xfrm>
                <a:off x="4419387" y="3520578"/>
                <a:ext cx="3604046"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代表维度与值的组合、可以应用的范围如预测冲减、预测调整、供需匹配</a:t>
                </a:r>
                <a:endParaRPr kumimoji="0" lang="en-GB" altLang="zh-CN"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nvGrpSpPr>
            <p:cNvPr id="16" name="组合 15">
              <a:extLst>
                <a:ext uri="{FF2B5EF4-FFF2-40B4-BE49-F238E27FC236}">
                  <a16:creationId xmlns:a16="http://schemas.microsoft.com/office/drawing/2014/main" id="{45A753E6-79E0-78DB-6D20-0FAA853AF7E1}"/>
                </a:ext>
              </a:extLst>
            </p:cNvPr>
            <p:cNvGrpSpPr/>
            <p:nvPr/>
          </p:nvGrpSpPr>
          <p:grpSpPr>
            <a:xfrm>
              <a:off x="2904417" y="4444814"/>
              <a:ext cx="6268865" cy="738359"/>
              <a:chOff x="2904417" y="4444814"/>
              <a:chExt cx="6268865" cy="738359"/>
            </a:xfrm>
          </p:grpSpPr>
          <p:sp>
            <p:nvSpPr>
              <p:cNvPr id="17" name="4">
                <a:extLst>
                  <a:ext uri="{FF2B5EF4-FFF2-40B4-BE49-F238E27FC236}">
                    <a16:creationId xmlns:a16="http://schemas.microsoft.com/office/drawing/2014/main" id="{EBE1446A-9E13-419D-2DC3-4426ECB79AC0}"/>
                  </a:ext>
                </a:extLst>
              </p:cNvPr>
              <p:cNvSpPr/>
              <p:nvPr>
                <p:custDataLst>
                  <p:tags r:id="rId2"/>
                </p:custDataLst>
              </p:nvPr>
            </p:nvSpPr>
            <p:spPr>
              <a:xfrm>
                <a:off x="2904417" y="4445721"/>
                <a:ext cx="6268865" cy="736545"/>
              </a:xfrm>
              <a:prstGeom prst="roundRect">
                <a:avLst>
                  <a:gd name="adj" fmla="val 28076"/>
                </a:avLst>
              </a:prstGeom>
              <a:solidFill>
                <a:schemeClr val="bg1">
                  <a:lumMod val="95000"/>
                </a:schemeClr>
              </a:solidFill>
              <a:ln w="25400">
                <a:noFill/>
              </a:ln>
              <a:effectLst>
                <a:outerShdw blurRad="381000" dist="63500" sx="90000" sy="90000" algn="ctr" rotWithShape="0">
                  <a:schemeClr val="tx1">
                    <a:lumMod val="50000"/>
                    <a:lumOff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18" name="4">
                <a:extLst>
                  <a:ext uri="{FF2B5EF4-FFF2-40B4-BE49-F238E27FC236}">
                    <a16:creationId xmlns:a16="http://schemas.microsoft.com/office/drawing/2014/main" id="{8B2D14BB-925A-F5DC-62B9-1E78EE05CBD1}"/>
                  </a:ext>
                </a:extLst>
              </p:cNvPr>
              <p:cNvSpPr/>
              <p:nvPr>
                <p:custDataLst>
                  <p:tags r:id="rId3"/>
                </p:custDataLst>
              </p:nvPr>
            </p:nvSpPr>
            <p:spPr>
              <a:xfrm>
                <a:off x="2904418" y="4444814"/>
                <a:ext cx="1687065" cy="738359"/>
              </a:xfrm>
              <a:custGeom>
                <a:avLst/>
                <a:gdLst>
                  <a:gd name="connsiteX0" fmla="*/ 709001 w 1687065"/>
                  <a:gd name="connsiteY0" fmla="*/ 0 h 738359"/>
                  <a:gd name="connsiteX1" fmla="*/ 1120121 w 1687065"/>
                  <a:gd name="connsiteY1" fmla="*/ 0 h 738359"/>
                  <a:gd name="connsiteX2" fmla="*/ 1120121 w 1687065"/>
                  <a:gd name="connsiteY2" fmla="*/ 359 h 738359"/>
                  <a:gd name="connsiteX3" fmla="*/ 1687065 w 1687065"/>
                  <a:gd name="connsiteY3" fmla="*/ 359 h 738359"/>
                  <a:gd name="connsiteX4" fmla="*/ 1120121 w 1687065"/>
                  <a:gd name="connsiteY4" fmla="*/ 738359 h 738359"/>
                  <a:gd name="connsiteX5" fmla="*/ 1120121 w 1687065"/>
                  <a:gd name="connsiteY5" fmla="*/ 738000 h 738359"/>
                  <a:gd name="connsiteX6" fmla="*/ 833457 w 1687065"/>
                  <a:gd name="connsiteY6" fmla="*/ 738000 h 738359"/>
                  <a:gd name="connsiteX7" fmla="*/ 829906 w 1687065"/>
                  <a:gd name="connsiteY7" fmla="*/ 738358 h 738359"/>
                  <a:gd name="connsiteX8" fmla="*/ 191954 w 1687065"/>
                  <a:gd name="connsiteY8" fmla="*/ 738358 h 738359"/>
                  <a:gd name="connsiteX9" fmla="*/ 0 w 1687065"/>
                  <a:gd name="connsiteY9" fmla="*/ 546404 h 738359"/>
                  <a:gd name="connsiteX10" fmla="*/ 0 w 1687065"/>
                  <a:gd name="connsiteY10" fmla="*/ 192312 h 738359"/>
                  <a:gd name="connsiteX11" fmla="*/ 191954 w 1687065"/>
                  <a:gd name="connsiteY11" fmla="*/ 358 h 738359"/>
                  <a:gd name="connsiteX12" fmla="*/ 709001 w 1687065"/>
                  <a:gd name="connsiteY12" fmla="*/ 358 h 73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7065" h="738359">
                    <a:moveTo>
                      <a:pt x="709001" y="0"/>
                    </a:moveTo>
                    <a:lnTo>
                      <a:pt x="1120121" y="0"/>
                    </a:lnTo>
                    <a:lnTo>
                      <a:pt x="1120121" y="359"/>
                    </a:lnTo>
                    <a:lnTo>
                      <a:pt x="1687065" y="359"/>
                    </a:lnTo>
                    <a:lnTo>
                      <a:pt x="1120121" y="738359"/>
                    </a:lnTo>
                    <a:lnTo>
                      <a:pt x="1120121" y="738000"/>
                    </a:lnTo>
                    <a:lnTo>
                      <a:pt x="833457" y="738000"/>
                    </a:lnTo>
                    <a:lnTo>
                      <a:pt x="829906" y="738358"/>
                    </a:lnTo>
                    <a:lnTo>
                      <a:pt x="191954" y="738358"/>
                    </a:lnTo>
                    <a:cubicBezTo>
                      <a:pt x="85941" y="738358"/>
                      <a:pt x="0" y="652417"/>
                      <a:pt x="0" y="546404"/>
                    </a:cubicBezTo>
                    <a:lnTo>
                      <a:pt x="0" y="192312"/>
                    </a:lnTo>
                    <a:cubicBezTo>
                      <a:pt x="0" y="86299"/>
                      <a:pt x="85941" y="358"/>
                      <a:pt x="191954" y="358"/>
                    </a:cubicBezTo>
                    <a:lnTo>
                      <a:pt x="709001" y="358"/>
                    </a:lnTo>
                    <a:close/>
                  </a:path>
                </a:pathLst>
              </a:custGeom>
              <a:gradFill flip="none" rotWithShape="1">
                <a:gsLst>
                  <a:gs pos="0">
                    <a:schemeClr val="accent4"/>
                  </a:gs>
                  <a:gs pos="100000">
                    <a:schemeClr val="accent4">
                      <a:lumMod val="60000"/>
                      <a:lumOff val="40000"/>
                    </a:schemeClr>
                  </a:gs>
                </a:gsLst>
                <a:lin ang="0" scaled="1"/>
                <a:tileRect/>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p:txBody>
          </p:sp>
          <p:sp>
            <p:nvSpPr>
              <p:cNvPr id="19" name="Title-4">
                <a:extLst>
                  <a:ext uri="{FF2B5EF4-FFF2-40B4-BE49-F238E27FC236}">
                    <a16:creationId xmlns:a16="http://schemas.microsoft.com/office/drawing/2014/main" id="{0E0EC693-1EC0-76ED-2145-CBED8F22E91E}"/>
                  </a:ext>
                </a:extLst>
              </p:cNvPr>
              <p:cNvSpPr txBox="1"/>
              <p:nvPr>
                <p:custDataLst>
                  <p:tags r:id="rId4"/>
                </p:custDataLst>
              </p:nvPr>
            </p:nvSpPr>
            <p:spPr>
              <a:xfrm>
                <a:off x="3018719" y="4476413"/>
                <a:ext cx="1312012" cy="34033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维度组冲突列表</a:t>
                </a:r>
              </a:p>
            </p:txBody>
          </p:sp>
          <p:sp>
            <p:nvSpPr>
              <p:cNvPr id="21" name="Body-4">
                <a:extLst>
                  <a:ext uri="{FF2B5EF4-FFF2-40B4-BE49-F238E27FC236}">
                    <a16:creationId xmlns:a16="http://schemas.microsoft.com/office/drawing/2014/main" id="{9C202A30-1C46-4413-32D3-3B7BBF1AB208}"/>
                  </a:ext>
                </a:extLst>
              </p:cNvPr>
              <p:cNvSpPr>
                <a:spLocks/>
              </p:cNvSpPr>
              <p:nvPr>
                <p:custDataLst>
                  <p:tags r:id="rId5"/>
                </p:custDataLst>
              </p:nvPr>
            </p:nvSpPr>
            <p:spPr>
              <a:xfrm>
                <a:off x="4470108" y="4476413"/>
                <a:ext cx="3604046" cy="470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zh-CN" altLang="en-US"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rPr>
                  <a:t>哪些维度组冲突，意味着不冲突的就是匹配</a:t>
                </a:r>
                <a:endParaRPr kumimoji="0" lang="en-GB" altLang="zh-CN" sz="1400" b="0" i="0" u="none" strike="noStrike" kern="1200" cap="none" spc="0" normalizeH="0" baseline="0" noProof="0" dirty="0">
                  <a:ln>
                    <a:noFill/>
                  </a:ln>
                  <a:solidFill>
                    <a:srgbClr val="F6FBFC">
                      <a:lumMod val="75000"/>
                      <a:lumOff val="25000"/>
                    </a:srgbClr>
                  </a:solidFill>
                  <a:effectLst/>
                  <a:uLnTx/>
                  <a:uFillTx/>
                  <a:latin typeface="Arial" panose="020B0604020202020204" pitchFamily="34" charset="0"/>
                  <a:ea typeface="微软雅黑" panose="020B0503020204020204" pitchFamily="34" charset="-122"/>
                  <a:cs typeface="+mn-cs"/>
                </a:endParaRPr>
              </a:p>
            </p:txBody>
          </p:sp>
        </p:grpSp>
      </p:grpSp>
    </p:spTree>
    <p:extLst>
      <p:ext uri="{BB962C8B-B14F-4D97-AF65-F5344CB8AC3E}">
        <p14:creationId xmlns:p14="http://schemas.microsoft.com/office/powerpoint/2010/main" val="122087235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AF633-2E35-FBE1-3901-B8A9E8C04588}"/>
            </a:ext>
          </a:extLst>
        </p:cNvPr>
        <p:cNvGrpSpPr/>
        <p:nvPr/>
      </p:nvGrpSpPr>
      <p:grpSpPr>
        <a:xfrm>
          <a:off x="0" y="0"/>
          <a:ext cx="0" cy="0"/>
          <a:chOff x="0" y="0"/>
          <a:chExt cx="0" cy="0"/>
        </a:xfrm>
      </p:grpSpPr>
      <p:sp>
        <p:nvSpPr>
          <p:cNvPr id="61" name="箭头: 右 60">
            <a:extLst>
              <a:ext uri="{FF2B5EF4-FFF2-40B4-BE49-F238E27FC236}">
                <a16:creationId xmlns:a16="http://schemas.microsoft.com/office/drawing/2014/main" id="{AA034DC6-590B-83D5-1F2B-2A2F8D35BF2E}"/>
              </a:ext>
            </a:extLst>
          </p:cNvPr>
          <p:cNvSpPr/>
          <p:nvPr/>
        </p:nvSpPr>
        <p:spPr>
          <a:xfrm>
            <a:off x="3252018" y="4358148"/>
            <a:ext cx="5771535" cy="1002891"/>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选择</a:t>
            </a:r>
          </a:p>
        </p:txBody>
      </p:sp>
      <p:sp>
        <p:nvSpPr>
          <p:cNvPr id="4" name="标题 3">
            <a:extLst>
              <a:ext uri="{FF2B5EF4-FFF2-40B4-BE49-F238E27FC236}">
                <a16:creationId xmlns:a16="http://schemas.microsoft.com/office/drawing/2014/main" id="{D5BA07AE-6737-974D-128C-0034945CAC1A}"/>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维度规划 </a:t>
            </a:r>
            <a:r>
              <a:rPr lang="en-US" altLang="zh-CN" dirty="0">
                <a:latin typeface="Arial" panose="020B0604020202020204" pitchFamily="34" charset="0"/>
                <a:ea typeface="微软雅黑" panose="020B0503020204020204" pitchFamily="34" charset="-122"/>
              </a:rPr>
              <a:t>– Dimension Planning</a:t>
            </a:r>
            <a:endParaRPr lang="zh-CN" altLang="en-US" sz="2000" dirty="0">
              <a:latin typeface="Arial" panose="020B0604020202020204" pitchFamily="34" charset="0"/>
              <a:ea typeface="微软雅黑" panose="020B0503020204020204" pitchFamily="34" charset="-122"/>
            </a:endParaRPr>
          </a:p>
        </p:txBody>
      </p:sp>
      <p:sp>
        <p:nvSpPr>
          <p:cNvPr id="2" name="流程图: 多文档 1">
            <a:extLst>
              <a:ext uri="{FF2B5EF4-FFF2-40B4-BE49-F238E27FC236}">
                <a16:creationId xmlns:a16="http://schemas.microsoft.com/office/drawing/2014/main" id="{672F1DA2-5809-0DC7-DFDB-DABBEE3003C5}"/>
              </a:ext>
            </a:extLst>
          </p:cNvPr>
          <p:cNvSpPr/>
          <p:nvPr/>
        </p:nvSpPr>
        <p:spPr>
          <a:xfrm>
            <a:off x="1058587" y="4793156"/>
            <a:ext cx="1651653" cy="830536"/>
          </a:xfrm>
          <a:prstGeom prst="flowChartMultidocument">
            <a:avLst/>
          </a:prstGeom>
          <a:solidFill>
            <a:srgbClr val="525354"/>
          </a:solidFill>
          <a:ln w="12700" cap="flat" cmpd="sng" algn="ctr">
            <a:solidFill>
              <a:srgbClr val="52535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需求</a:t>
            </a:r>
          </a:p>
        </p:txBody>
      </p:sp>
      <p:sp>
        <p:nvSpPr>
          <p:cNvPr id="3" name="立方体 2">
            <a:extLst>
              <a:ext uri="{FF2B5EF4-FFF2-40B4-BE49-F238E27FC236}">
                <a16:creationId xmlns:a16="http://schemas.microsoft.com/office/drawing/2014/main" id="{43A62FAD-30AC-4C6A-95AD-A495A6715F91}"/>
              </a:ext>
            </a:extLst>
          </p:cNvPr>
          <p:cNvSpPr/>
          <p:nvPr/>
        </p:nvSpPr>
        <p:spPr>
          <a:xfrm>
            <a:off x="9480614" y="4793156"/>
            <a:ext cx="1217929" cy="764667"/>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供应</a:t>
            </a:r>
          </a:p>
        </p:txBody>
      </p:sp>
      <p:grpSp>
        <p:nvGrpSpPr>
          <p:cNvPr id="40" name="组合 39">
            <a:extLst>
              <a:ext uri="{FF2B5EF4-FFF2-40B4-BE49-F238E27FC236}">
                <a16:creationId xmlns:a16="http://schemas.microsoft.com/office/drawing/2014/main" id="{DC7C325F-5037-BF63-2BAE-74B924B153EE}"/>
              </a:ext>
            </a:extLst>
          </p:cNvPr>
          <p:cNvGrpSpPr/>
          <p:nvPr/>
        </p:nvGrpSpPr>
        <p:grpSpPr>
          <a:xfrm>
            <a:off x="-48216" y="2153265"/>
            <a:ext cx="4011561" cy="1275735"/>
            <a:chOff x="-1" y="1290484"/>
            <a:chExt cx="5670755" cy="1600200"/>
          </a:xfrm>
        </p:grpSpPr>
        <p:graphicFrame>
          <p:nvGraphicFramePr>
            <p:cNvPr id="32" name="图示 31">
              <a:extLst>
                <a:ext uri="{FF2B5EF4-FFF2-40B4-BE49-F238E27FC236}">
                  <a16:creationId xmlns:a16="http://schemas.microsoft.com/office/drawing/2014/main" id="{B37A63EB-179D-CD48-3AA7-C4109D9F0571}"/>
                </a:ext>
              </a:extLst>
            </p:cNvPr>
            <p:cNvGraphicFramePr/>
            <p:nvPr/>
          </p:nvGraphicFramePr>
          <p:xfrm>
            <a:off x="2524431" y="1290485"/>
            <a:ext cx="3146323" cy="1600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3" name="图示 32">
              <a:extLst>
                <a:ext uri="{FF2B5EF4-FFF2-40B4-BE49-F238E27FC236}">
                  <a16:creationId xmlns:a16="http://schemas.microsoft.com/office/drawing/2014/main" id="{6A5B375F-C11E-C643-AF01-7A55C89EED0A}"/>
                </a:ext>
              </a:extLst>
            </p:cNvPr>
            <p:cNvGraphicFramePr/>
            <p:nvPr/>
          </p:nvGraphicFramePr>
          <p:xfrm>
            <a:off x="-1" y="1290484"/>
            <a:ext cx="3146323" cy="16001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4" name="箭头: 右 33">
              <a:extLst>
                <a:ext uri="{FF2B5EF4-FFF2-40B4-BE49-F238E27FC236}">
                  <a16:creationId xmlns:a16="http://schemas.microsoft.com/office/drawing/2014/main" id="{E3962959-5AC9-BA1B-F50A-2A45BC8908A6}"/>
                </a:ext>
              </a:extLst>
            </p:cNvPr>
            <p:cNvSpPr/>
            <p:nvPr/>
          </p:nvSpPr>
          <p:spPr>
            <a:xfrm>
              <a:off x="2415272" y="1923499"/>
              <a:ext cx="909555" cy="521033"/>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Arial" panose="020B0604020202020204" pitchFamily="34" charset="0"/>
                  <a:ea typeface="微软雅黑" panose="020B0503020204020204" pitchFamily="34" charset="-122"/>
                  <a:cs typeface="+mn-cs"/>
                </a:rPr>
                <a:t>关联</a:t>
              </a:r>
            </a:p>
          </p:txBody>
        </p:sp>
      </p:grpSp>
      <p:sp>
        <p:nvSpPr>
          <p:cNvPr id="45" name="加号 44">
            <a:extLst>
              <a:ext uri="{FF2B5EF4-FFF2-40B4-BE49-F238E27FC236}">
                <a16:creationId xmlns:a16="http://schemas.microsoft.com/office/drawing/2014/main" id="{1E5F9E66-E6A7-BD58-89E5-C593935203DF}"/>
              </a:ext>
            </a:extLst>
          </p:cNvPr>
          <p:cNvSpPr/>
          <p:nvPr/>
        </p:nvSpPr>
        <p:spPr>
          <a:xfrm>
            <a:off x="1593193" y="3707707"/>
            <a:ext cx="566209" cy="655353"/>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nvGrpSpPr>
          <p:cNvPr id="46" name="组合 45">
            <a:extLst>
              <a:ext uri="{FF2B5EF4-FFF2-40B4-BE49-F238E27FC236}">
                <a16:creationId xmlns:a16="http://schemas.microsoft.com/office/drawing/2014/main" id="{95A69FEB-99DE-8327-5D95-0F4B42FADB3F}"/>
              </a:ext>
            </a:extLst>
          </p:cNvPr>
          <p:cNvGrpSpPr/>
          <p:nvPr/>
        </p:nvGrpSpPr>
        <p:grpSpPr>
          <a:xfrm>
            <a:off x="4080374" y="2153265"/>
            <a:ext cx="4011561" cy="1275735"/>
            <a:chOff x="-1" y="1290484"/>
            <a:chExt cx="5670755" cy="1600200"/>
          </a:xfrm>
        </p:grpSpPr>
        <p:graphicFrame>
          <p:nvGraphicFramePr>
            <p:cNvPr id="47" name="图示 46">
              <a:extLst>
                <a:ext uri="{FF2B5EF4-FFF2-40B4-BE49-F238E27FC236}">
                  <a16:creationId xmlns:a16="http://schemas.microsoft.com/office/drawing/2014/main" id="{0A55BFEA-5563-63B6-9948-4C929A9E3563}"/>
                </a:ext>
              </a:extLst>
            </p:cNvPr>
            <p:cNvGraphicFramePr/>
            <p:nvPr/>
          </p:nvGraphicFramePr>
          <p:xfrm>
            <a:off x="2524431" y="1290485"/>
            <a:ext cx="3146323" cy="16001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48" name="图示 47">
              <a:extLst>
                <a:ext uri="{FF2B5EF4-FFF2-40B4-BE49-F238E27FC236}">
                  <a16:creationId xmlns:a16="http://schemas.microsoft.com/office/drawing/2014/main" id="{A1300264-F03C-19B2-9648-631E7814CABE}"/>
                </a:ext>
              </a:extLst>
            </p:cNvPr>
            <p:cNvGraphicFramePr/>
            <p:nvPr/>
          </p:nvGraphicFramePr>
          <p:xfrm>
            <a:off x="-1" y="1290484"/>
            <a:ext cx="3146323" cy="160019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49" name="箭头: 右 48">
              <a:extLst>
                <a:ext uri="{FF2B5EF4-FFF2-40B4-BE49-F238E27FC236}">
                  <a16:creationId xmlns:a16="http://schemas.microsoft.com/office/drawing/2014/main" id="{90317F75-1287-5834-7A45-63178DB127B8}"/>
                </a:ext>
              </a:extLst>
            </p:cNvPr>
            <p:cNvSpPr/>
            <p:nvPr/>
          </p:nvSpPr>
          <p:spPr>
            <a:xfrm>
              <a:off x="2415272" y="1923499"/>
              <a:ext cx="909555" cy="521033"/>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Arial" panose="020B0604020202020204" pitchFamily="34" charset="0"/>
                  <a:ea typeface="微软雅黑" panose="020B0503020204020204" pitchFamily="34" charset="-122"/>
                  <a:cs typeface="+mn-cs"/>
                </a:rPr>
                <a:t>关联</a:t>
              </a:r>
            </a:p>
          </p:txBody>
        </p:sp>
      </p:grpSp>
      <p:sp>
        <p:nvSpPr>
          <p:cNvPr id="50" name="加号 49">
            <a:extLst>
              <a:ext uri="{FF2B5EF4-FFF2-40B4-BE49-F238E27FC236}">
                <a16:creationId xmlns:a16="http://schemas.microsoft.com/office/drawing/2014/main" id="{EE7E114E-3807-B725-23A1-C46B560F6FF2}"/>
              </a:ext>
            </a:extLst>
          </p:cNvPr>
          <p:cNvSpPr/>
          <p:nvPr/>
        </p:nvSpPr>
        <p:spPr>
          <a:xfrm>
            <a:off x="5827577" y="3694658"/>
            <a:ext cx="566209" cy="655353"/>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nvGrpSpPr>
          <p:cNvPr id="51" name="组合 50">
            <a:extLst>
              <a:ext uri="{FF2B5EF4-FFF2-40B4-BE49-F238E27FC236}">
                <a16:creationId xmlns:a16="http://schemas.microsoft.com/office/drawing/2014/main" id="{7DD4D8BA-ABB6-66BD-8BCB-21DA621F8A43}"/>
              </a:ext>
            </a:extLst>
          </p:cNvPr>
          <p:cNvGrpSpPr/>
          <p:nvPr/>
        </p:nvGrpSpPr>
        <p:grpSpPr>
          <a:xfrm>
            <a:off x="7728141" y="2153265"/>
            <a:ext cx="4011561" cy="1275735"/>
            <a:chOff x="-1" y="1290484"/>
            <a:chExt cx="5670755" cy="1600200"/>
          </a:xfrm>
        </p:grpSpPr>
        <p:graphicFrame>
          <p:nvGraphicFramePr>
            <p:cNvPr id="52" name="图示 51">
              <a:extLst>
                <a:ext uri="{FF2B5EF4-FFF2-40B4-BE49-F238E27FC236}">
                  <a16:creationId xmlns:a16="http://schemas.microsoft.com/office/drawing/2014/main" id="{927FCC62-EC46-439F-7D27-3411D00942DE}"/>
                </a:ext>
              </a:extLst>
            </p:cNvPr>
            <p:cNvGraphicFramePr/>
            <p:nvPr/>
          </p:nvGraphicFramePr>
          <p:xfrm>
            <a:off x="2524431" y="1290485"/>
            <a:ext cx="3146323" cy="1600199"/>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53" name="图示 52">
              <a:extLst>
                <a:ext uri="{FF2B5EF4-FFF2-40B4-BE49-F238E27FC236}">
                  <a16:creationId xmlns:a16="http://schemas.microsoft.com/office/drawing/2014/main" id="{6AD6FC39-77FD-074F-C56C-8CCDBA429403}"/>
                </a:ext>
              </a:extLst>
            </p:cNvPr>
            <p:cNvGraphicFramePr/>
            <p:nvPr/>
          </p:nvGraphicFramePr>
          <p:xfrm>
            <a:off x="-1" y="1290484"/>
            <a:ext cx="3146323" cy="1600199"/>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54" name="箭头: 右 53">
              <a:extLst>
                <a:ext uri="{FF2B5EF4-FFF2-40B4-BE49-F238E27FC236}">
                  <a16:creationId xmlns:a16="http://schemas.microsoft.com/office/drawing/2014/main" id="{7D3258E5-CCEB-1053-B084-687449D329ED}"/>
                </a:ext>
              </a:extLst>
            </p:cNvPr>
            <p:cNvSpPr/>
            <p:nvPr/>
          </p:nvSpPr>
          <p:spPr>
            <a:xfrm>
              <a:off x="2415272" y="1923499"/>
              <a:ext cx="909555" cy="521033"/>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Arial" panose="020B0604020202020204" pitchFamily="34" charset="0"/>
                  <a:ea typeface="微软雅黑" panose="020B0503020204020204" pitchFamily="34" charset="-122"/>
                  <a:cs typeface="+mn-cs"/>
                </a:rPr>
                <a:t>关联</a:t>
              </a:r>
            </a:p>
          </p:txBody>
        </p:sp>
      </p:grpSp>
      <p:sp>
        <p:nvSpPr>
          <p:cNvPr id="55" name="加号 54">
            <a:extLst>
              <a:ext uri="{FF2B5EF4-FFF2-40B4-BE49-F238E27FC236}">
                <a16:creationId xmlns:a16="http://schemas.microsoft.com/office/drawing/2014/main" id="{F6CB79B0-C645-B645-6305-83239E9C9264}"/>
              </a:ext>
            </a:extLst>
          </p:cNvPr>
          <p:cNvSpPr/>
          <p:nvPr/>
        </p:nvSpPr>
        <p:spPr>
          <a:xfrm>
            <a:off x="9670783" y="3694657"/>
            <a:ext cx="566209" cy="655353"/>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cxnSp>
        <p:nvCxnSpPr>
          <p:cNvPr id="57" name="直接连接符 56">
            <a:extLst>
              <a:ext uri="{FF2B5EF4-FFF2-40B4-BE49-F238E27FC236}">
                <a16:creationId xmlns:a16="http://schemas.microsoft.com/office/drawing/2014/main" id="{95732E08-BD1C-A026-53F4-403E7670CF3B}"/>
              </a:ext>
            </a:extLst>
          </p:cNvPr>
          <p:cNvCxnSpPr>
            <a:cxnSpLocks/>
          </p:cNvCxnSpPr>
          <p:nvPr/>
        </p:nvCxnSpPr>
        <p:spPr>
          <a:xfrm>
            <a:off x="4055039" y="1858297"/>
            <a:ext cx="25335" cy="4999703"/>
          </a:xfrm>
          <a:prstGeom prst="line">
            <a:avLst/>
          </a:prstGeom>
          <a:ln w="25400">
            <a:solidFill>
              <a:schemeClr val="tx1"/>
            </a:solidFill>
            <a:tailEnd type="none"/>
          </a:ln>
        </p:spPr>
        <p:style>
          <a:lnRef idx="3">
            <a:schemeClr val="accent1"/>
          </a:lnRef>
          <a:fillRef idx="0">
            <a:schemeClr val="accent1"/>
          </a:fillRef>
          <a:effectRef idx="2">
            <a:schemeClr val="accent1"/>
          </a:effectRef>
          <a:fontRef idx="minor">
            <a:schemeClr val="tx1"/>
          </a:fontRef>
        </p:style>
      </p:cxnSp>
      <p:cxnSp>
        <p:nvCxnSpPr>
          <p:cNvPr id="59" name="直接连接符 58">
            <a:extLst>
              <a:ext uri="{FF2B5EF4-FFF2-40B4-BE49-F238E27FC236}">
                <a16:creationId xmlns:a16="http://schemas.microsoft.com/office/drawing/2014/main" id="{1D64EAE3-8030-9F61-6593-9BD1870940AF}"/>
              </a:ext>
            </a:extLst>
          </p:cNvPr>
          <p:cNvCxnSpPr>
            <a:cxnSpLocks/>
          </p:cNvCxnSpPr>
          <p:nvPr/>
        </p:nvCxnSpPr>
        <p:spPr>
          <a:xfrm>
            <a:off x="8014714" y="1858297"/>
            <a:ext cx="77221" cy="5154561"/>
          </a:xfrm>
          <a:prstGeom prst="line">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0" name="箭头: 右 59">
            <a:extLst>
              <a:ext uri="{FF2B5EF4-FFF2-40B4-BE49-F238E27FC236}">
                <a16:creationId xmlns:a16="http://schemas.microsoft.com/office/drawing/2014/main" id="{65F7220F-21DC-1263-3562-C3B42D805F4C}"/>
              </a:ext>
            </a:extLst>
          </p:cNvPr>
          <p:cNvSpPr/>
          <p:nvPr/>
        </p:nvSpPr>
        <p:spPr>
          <a:xfrm>
            <a:off x="3252019" y="4358148"/>
            <a:ext cx="1283704" cy="1002891"/>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选择</a:t>
            </a:r>
          </a:p>
        </p:txBody>
      </p:sp>
      <p:pic>
        <p:nvPicPr>
          <p:cNvPr id="63" name="图片 62">
            <a:extLst>
              <a:ext uri="{FF2B5EF4-FFF2-40B4-BE49-F238E27FC236}">
                <a16:creationId xmlns:a16="http://schemas.microsoft.com/office/drawing/2014/main" id="{6EB04760-09E3-8AC3-BBB7-2583EBBD1793}"/>
              </a:ext>
            </a:extLst>
          </p:cNvPr>
          <p:cNvPicPr>
            <a:picLocks noChangeAspect="1"/>
          </p:cNvPicPr>
          <p:nvPr/>
        </p:nvPicPr>
        <p:blipFill>
          <a:blip r:embed="rId32"/>
          <a:stretch>
            <a:fillRect/>
          </a:stretch>
        </p:blipFill>
        <p:spPr>
          <a:xfrm>
            <a:off x="4496594" y="4435577"/>
            <a:ext cx="3328512" cy="2256663"/>
          </a:xfrm>
          <a:prstGeom prst="rect">
            <a:avLst/>
          </a:prstGeom>
        </p:spPr>
      </p:pic>
      <p:sp>
        <p:nvSpPr>
          <p:cNvPr id="64" name="文本框 63">
            <a:extLst>
              <a:ext uri="{FF2B5EF4-FFF2-40B4-BE49-F238E27FC236}">
                <a16:creationId xmlns:a16="http://schemas.microsoft.com/office/drawing/2014/main" id="{5927C7F7-3884-45A2-7FEC-0448E69949ED}"/>
              </a:ext>
            </a:extLst>
          </p:cNvPr>
          <p:cNvSpPr txBox="1"/>
          <p:nvPr/>
        </p:nvSpPr>
        <p:spPr>
          <a:xfrm>
            <a:off x="619432" y="943897"/>
            <a:ext cx="57715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维护了维度的说明对维度有指定，没维护的没有限制</a:t>
            </a:r>
            <a:endPar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8050533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996"/>
  <p:tag name="OP_SCP_COMPONENT_INFO" val="{&quot;title&quot;:&quot;阴影2项列表PPT组件&quot;,&quot;description&quot;:&quot;阴影2项列表PPT组件：双项列表布局，阴影设计，信息展示清晰美观。&quot;,&quot;keywords&quot;:[&quot;阴影&quot;,&quot;2项&quot;,&quot;列表&quot;,&quot;PPT组件&quot;],&quot;labels&quot;:[]}"/>
  <p:tag name="OP_SCP_GROUP_ID" val="b8bc9425-7e4f-5dea-476d-68d025d9b766"/>
  <p:tag name="OP_SCP_ITEM_COUNT" val="2"/>
</p:tagLst>
</file>

<file path=ppt/tags/tag10.xml><?xml version="1.0" encoding="utf-8"?>
<p:tagLst xmlns:a="http://schemas.openxmlformats.org/drawingml/2006/main" xmlns:r="http://schemas.openxmlformats.org/officeDocument/2006/relationships" xmlns:p="http://schemas.openxmlformats.org/presentationml/2006/main">
  <p:tag name="OP_SCP_ITEM_INDEX" val="2"/>
</p:tagLst>
</file>

<file path=ppt/tags/tag11.xml><?xml version="1.0" encoding="utf-8"?>
<p:tagLst xmlns:a="http://schemas.openxmlformats.org/drawingml/2006/main" xmlns:r="http://schemas.openxmlformats.org/officeDocument/2006/relationships" xmlns:p="http://schemas.openxmlformats.org/presentationml/2006/main">
  <p:tag name="OP_SCP_ITEM_INDEX" val="2"/>
</p:tagLst>
</file>

<file path=ppt/tags/tag1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02 添加标题"/>
</p:tagLst>
</file>

<file path=ppt/tags/tag1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
</p:tagLst>
</file>

<file path=ppt/tags/tag14.xml><?xml version="1.0" encoding="utf-8"?>
<p:tagLst xmlns:a="http://schemas.openxmlformats.org/drawingml/2006/main" xmlns:r="http://schemas.openxmlformats.org/officeDocument/2006/relationships" xmlns:p="http://schemas.openxmlformats.org/presentationml/2006/main">
  <p:tag name="OP_SCP_ITEM_INDEX" val="1"/>
</p:tagLst>
</file>

<file path=ppt/tags/tag15.xml><?xml version="1.0" encoding="utf-8"?>
<p:tagLst xmlns:a="http://schemas.openxmlformats.org/drawingml/2006/main" xmlns:r="http://schemas.openxmlformats.org/officeDocument/2006/relationships" xmlns:p="http://schemas.openxmlformats.org/presentationml/2006/main">
  <p:tag name="OP_SCP_ITEM_INDEX" val="1"/>
</p:tagLst>
</file>

<file path=ppt/tags/tag1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01 添加标题"/>
</p:tagLst>
</file>

<file path=ppt/tags/tag1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
</p:tagLst>
</file>

<file path=ppt/tags/tag18.xml><?xml version="1.0" encoding="utf-8"?>
<p:tagLst xmlns:a="http://schemas.openxmlformats.org/drawingml/2006/main" xmlns:r="http://schemas.openxmlformats.org/officeDocument/2006/relationships" xmlns:p="http://schemas.openxmlformats.org/presentationml/2006/main">
  <p:tag name="OP_SCP_ITEM_INDEX" val="1"/>
</p:tagLst>
</file>

<file path=ppt/tags/tag19.xml><?xml version="1.0" encoding="utf-8"?>
<p:tagLst xmlns:a="http://schemas.openxmlformats.org/drawingml/2006/main" xmlns:r="http://schemas.openxmlformats.org/officeDocument/2006/relationships" xmlns:p="http://schemas.openxmlformats.org/presentationml/2006/main">
  <p:tag name="OP_SCP_ITEM_INDEX" val="1"/>
</p:tagLst>
</file>

<file path=ppt/tags/tag2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2.xml><?xml version="1.0" encoding="utf-8"?>
<p:tagLst xmlns:a="http://schemas.openxmlformats.org/drawingml/2006/main" xmlns:r="http://schemas.openxmlformats.org/officeDocument/2006/relationships" xmlns:p="http://schemas.openxmlformats.org/presentationml/2006/main">
  <p:tag name="OP_SCP_ITEM_INDEX" val="2"/>
</p:tagLst>
</file>

<file path=ppt/tags/tag2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2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11"/>
  <p:tag name="OP_SCP_COMPONENT_INFO" val="{&quot;title&quot;:&quot;简约蓝色圆角3项列表&quot;,&quot;description&quot;:&quot;3项,列表,蓝色&quot;,&quot;keywords&quot;:[&quot;3项&quot;,&quot;列表&quot;,&quot;蓝色&quot;],&quot;labels&quot;:[]}"/>
  <p:tag name="OP_SCP_GROUP_ID" val="4ec3abdb-d431-5f2c-645a-545ff3419325"/>
  <p:tag name="OP_SCP_ITEM_COUNT" val="3"/>
</p:tagLst>
</file>

<file path=ppt/tags/tag27.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3"/>
</p:tagLst>
</file>

<file path=ppt/tags/tag28.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
</p:tagLst>
</file>

<file path=ppt/tags/tag29.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3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
</p:tagLst>
</file>

<file path=ppt/tags/tag3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2.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33.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798"/>
  <p:tag name="OP_SCP_COMPONENT_INFO" val="{&quot;title&quot;:&quot;简约白色4项纯文本&quot;,&quot;description&quot;:&quot;4项,纯文本,蓝色&quot;,&quot;keywords&quot;:[&quot;4项&quot;,&quot;纯文本&quot;,&quot;蓝色&quot;],&quot;labels&quot;:[]}"/>
  <p:tag name="OP_SCP_GROUP_ID" val="a6f55e63-6b0c-e5cf-6974-42a0f74c1298"/>
  <p:tag name="OP_SCP_ITEM_COUNT" val="4"/>
</p:tagLst>
</file>

<file path=ppt/tags/tag34.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609"/>
  <p:tag name="OP_SCP_COMPONENT_INFO" val="{&quot;title&quot;:&quot;扁平3项纯文本PPT组件&quot;,&quot;description&quot;:&quot;扁平3项纯文本PPT组件：三项纯文本展示，信息清晰，设计简约大方。&quot;,&quot;keywords&quot;:[&quot;扁平&quot;,&quot;3项&quot;,&quot;纯文本&quot;,&quot;PPT组件&quot;],&quot;labels&quot;:[]}"/>
  <p:tag name="OP_SCP_GROUP_ID" val="1d4980a9-2ef7-ea7b-a0c5-07d8cea0ac8d"/>
  <p:tag name="OP_SCP_ITEM_COUNT" val="3"/>
</p:tagLst>
</file>

<file path=ppt/tags/tag35.xml><?xml version="1.0" encoding="utf-8"?>
<p:tagLst xmlns:a="http://schemas.openxmlformats.org/drawingml/2006/main" xmlns:r="http://schemas.openxmlformats.org/officeDocument/2006/relationships" xmlns:p="http://schemas.openxmlformats.org/presentationml/2006/main">
  <p:tag name="OP_SCP_ITEM_INDEX" val="3"/>
</p:tagLst>
</file>

<file path=ppt/tags/tag36.xml><?xml version="1.0" encoding="utf-8"?>
<p:tagLst xmlns:a="http://schemas.openxmlformats.org/drawingml/2006/main" xmlns:r="http://schemas.openxmlformats.org/officeDocument/2006/relationships" xmlns:p="http://schemas.openxmlformats.org/presentationml/2006/main">
  <p:tag name="OP_SCP_ITEM_INDEX" val="3"/>
</p:tagLst>
</file>

<file path=ppt/tags/tag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8.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3"/>
</p:tagLst>
</file>

<file path=ppt/tags/tag39.xml><?xml version="1.0" encoding="utf-8"?>
<p:tagLst xmlns:a="http://schemas.openxmlformats.org/drawingml/2006/main" xmlns:r="http://schemas.openxmlformats.org/officeDocument/2006/relationships" xmlns:p="http://schemas.openxmlformats.org/presentationml/2006/main">
  <p:tag name="OP_SCP_ITEM_INDEX" val="2"/>
</p:tagLst>
</file>

<file path=ppt/tags/tag40.xml><?xml version="1.0" encoding="utf-8"?>
<p:tagLst xmlns:a="http://schemas.openxmlformats.org/drawingml/2006/main" xmlns:r="http://schemas.openxmlformats.org/officeDocument/2006/relationships" xmlns:p="http://schemas.openxmlformats.org/presentationml/2006/main">
  <p:tag name="OP_SCP_ITEM_INDEX" val="2"/>
</p:tagLst>
</file>

<file path=ppt/tags/tag4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42.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43.xml><?xml version="1.0" encoding="utf-8"?>
<p:tagLst xmlns:a="http://schemas.openxmlformats.org/drawingml/2006/main" xmlns:r="http://schemas.openxmlformats.org/officeDocument/2006/relationships" xmlns:p="http://schemas.openxmlformats.org/presentationml/2006/main">
  <p:tag name="OP_SCP_ITEM_INDEX" val="1"/>
</p:tagLst>
</file>

<file path=ppt/tags/tag44.xml><?xml version="1.0" encoding="utf-8"?>
<p:tagLst xmlns:a="http://schemas.openxmlformats.org/drawingml/2006/main" xmlns:r="http://schemas.openxmlformats.org/officeDocument/2006/relationships" xmlns:p="http://schemas.openxmlformats.org/presentationml/2006/main">
  <p:tag name="OP_SCP_ITEM_INDEX" val="1"/>
</p:tagLst>
</file>

<file path=ppt/tags/tag4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46.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1"/>
</p:tagLst>
</file>

<file path=ppt/tags/tag47.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4"/>
</p:tagLst>
</file>

<file path=ppt/tags/tag48.xml><?xml version="1.0" encoding="utf-8"?>
<p:tagLst xmlns:a="http://schemas.openxmlformats.org/drawingml/2006/main" xmlns:r="http://schemas.openxmlformats.org/officeDocument/2006/relationships" xmlns:p="http://schemas.openxmlformats.org/presentationml/2006/main">
  <p:tag name="OP_SCP_SHAPE_TYPE" val="Body"/>
  <p:tag name="OP_SCP_ITEM_INDEX" val="4"/>
  <p:tag name="OP_SCP_DEFAULT_TEXT" val="单击此处添加文本，单击此处添加文本，单击此处添加文本，单击此处添加文本，单击此处添加文本。"/>
</p:tagLst>
</file>

<file path=ppt/tags/tag49.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5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
</p:tagLst>
</file>

<file path=ppt/tags/tag51.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3"/>
</p:tagLst>
</file>

<file path=ppt/tags/tag52.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
</p:tagLst>
</file>

<file path=ppt/tags/tag5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5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5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35"/>
  <p:tag name="OP_SCP_COMPONENT_INFO" val="{&quot;title&quot;:&quot;简约蓝色圆角2项列表&quot;,&quot;description&quot;:&quot;2项,列表,蓝色&quot;,&quot;keywords&quot;:[&quot;2项&quot;,&quot;列表&quot;,&quot;蓝色&quot;],&quot;labels&quot;:[]}"/>
  <p:tag name="OP_SCP_GROUP_ID" val="4ec3abdb-d431-5f2c-645a-545ff3419325"/>
  <p:tag name="OP_SCP_ITEM_COUNT" val="2"/>
</p:tagLst>
</file>

<file path=ppt/tags/tag5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57.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58.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5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0.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6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62.xml><?xml version="1.0" encoding="utf-8"?>
<p:tagLst xmlns:a="http://schemas.openxmlformats.org/drawingml/2006/main" xmlns:r="http://schemas.openxmlformats.org/officeDocument/2006/relationships" xmlns:p="http://schemas.openxmlformats.org/presentationml/2006/main">
  <p:tag name="OP_SCP_ITEM_INDEX" val="3"/>
</p:tagLst>
</file>

<file path=ppt/tags/tag6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6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65.xml><?xml version="1.0" encoding="utf-8"?>
<p:tagLst xmlns:a="http://schemas.openxmlformats.org/drawingml/2006/main" xmlns:r="http://schemas.openxmlformats.org/officeDocument/2006/relationships" xmlns:p="http://schemas.openxmlformats.org/presentationml/2006/main">
  <p:tag name="OP_SCP_ITEM_INDEX" val="1"/>
</p:tagLst>
</file>

<file path=ppt/tags/tag6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68.xml><?xml version="1.0" encoding="utf-8"?>
<p:tagLst xmlns:a="http://schemas.openxmlformats.org/drawingml/2006/main" xmlns:r="http://schemas.openxmlformats.org/officeDocument/2006/relationships" xmlns:p="http://schemas.openxmlformats.org/presentationml/2006/main">
  <p:tag name="OP_SCP_ITEM_INDEX" val="2"/>
</p:tagLst>
</file>

<file path=ppt/tags/tag6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7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7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22247"/>
  <p:tag name="OP_SCP_COMPONENT_INFO" val="{&quot;title&quot;:&quot;商务风2项红蓝色优劣对比&quot;,&quot;description&quot;:&quot;商务风2项红蓝色优劣对比&quot;,&quot;keywords&quot;:[&quot;商务风&quot;,&quot;2项&quot;,&quot;红蓝色&quot;,&quot;优劣&quot;,&quot;对比&quot;],&quot;labels&quot;:[]}"/>
  <p:tag name="OP_SCP_GROUP_ID" val="f4fd1a18-0ad3-acf3-6176-051c91f96984"/>
  <p:tag name="OP_SCP_ITEM_COUNT" val="2"/>
</p:tagLst>
</file>

<file path=ppt/tags/tag72.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7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7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
</p:tagLst>
</file>

<file path=ppt/tags/tag7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12"/>
  <p:tag name="OP_SCP_COMPONENT_INFO" val="{&quot;title&quot;:&quot;简约蓝紫色2项纯文本&quot;,&quot;description&quot;:&quot;2项,纯文本,蓝色&quot;,&quot;keywords&quot;:[&quot;2项&quot;,&quot;纯文本&quot;,&quot;蓝色&quot;],&quot;labels&quot;:[]}"/>
  <p:tag name="OP_SCP_GROUP_ID" val="720c2b49-b2ba-8460-1403-3bcb29234e89"/>
  <p:tag name="OP_SCP_ITEM_COUNT" val="2"/>
</p:tagLst>
</file>

<file path=ppt/tags/tag7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77.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78.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单击此处添加文本，单击此处添加文本。"/>
  <p:tag name="OP_SCP_ITEM_INDEX" val="2"/>
</p:tagLst>
</file>

<file path=ppt/tags/tag79.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80.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8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867"/>
  <p:tag name="OP_SCP_COMPONENT_INFO" val="{&quot;title&quot;:&quot;渐变3项纯文本PPT组件&quot;,&quot;description&quot;:&quot;渐变3项纯文本PPT组件：三项纯文本展示，渐变设计，信息清晰直观。&quot;,&quot;keywords&quot;:[&quot;渐变&quot;,&quot;3项&quot;,&quot;纯文本&quot;,&quot;PPT组件&quot;],&quot;labels&quot;:[]}"/>
  <p:tag name="OP_SCP_GROUP_ID" val="07628e5f-1a7b-adcb-7869-8eab2de73f42"/>
  <p:tag name="OP_SCP_ITEM_COUNT" val="3"/>
</p:tagLst>
</file>

<file path=ppt/tags/tag82.xml><?xml version="1.0" encoding="utf-8"?>
<p:tagLst xmlns:a="http://schemas.openxmlformats.org/drawingml/2006/main" xmlns:r="http://schemas.openxmlformats.org/officeDocument/2006/relationships" xmlns:p="http://schemas.openxmlformats.org/presentationml/2006/main">
  <p:tag name="OP_SCP_ITEM_INDEX" val="3"/>
</p:tagLst>
</file>

<file path=ppt/tags/tag8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3"/>
</p:tagLst>
</file>

<file path=ppt/tags/tag8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85.xml><?xml version="1.0" encoding="utf-8"?>
<p:tagLst xmlns:a="http://schemas.openxmlformats.org/drawingml/2006/main" xmlns:r="http://schemas.openxmlformats.org/officeDocument/2006/relationships" xmlns:p="http://schemas.openxmlformats.org/presentationml/2006/main">
  <p:tag name="OP_SCP_ITEM_INDEX" val="2"/>
</p:tagLst>
</file>

<file path=ppt/tags/tag8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2"/>
</p:tagLst>
</file>

<file path=ppt/tags/tag8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88.xml><?xml version="1.0" encoding="utf-8"?>
<p:tagLst xmlns:a="http://schemas.openxmlformats.org/drawingml/2006/main" xmlns:r="http://schemas.openxmlformats.org/officeDocument/2006/relationships" xmlns:p="http://schemas.openxmlformats.org/presentationml/2006/main">
  <p:tag name="OP_SCP_ITEM_INDEX" val="1"/>
</p:tagLst>
</file>

<file path=ppt/tags/tag89.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1"/>
</p:tagLst>
</file>

<file path=ppt/tags/tag9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35"/>
  <p:tag name="OP_SCP_COMPONENT_INFO" val="{&quot;title&quot;:&quot;简约蓝色圆角2项列表&quot;,&quot;description&quot;:&quot;2项,列表,蓝色&quot;,&quot;keywords&quot;:[&quot;2项&quot;,&quot;列表&quot;,&quot;蓝色&quot;],&quot;labels&quot;:[]}"/>
  <p:tag name="OP_SCP_GROUP_ID" val="4ec3abdb-d431-5f2c-645a-545ff3419325"/>
  <p:tag name="OP_SCP_ITEM_COUNT" val="2"/>
</p:tagLst>
</file>

<file path=ppt/tags/tag9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93.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94.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
</p:tagLst>
</file>

<file path=ppt/tags/tag9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9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737"/>
  <p:tag name="OP_SCP_COMPONENT_INFO" val="{&quot;title&quot;:&quot;扁平箭头2项列表关系&quot;,&quot;description&quot;:&quot;2项,列表,蓝色&quot;,&quot;keywords&quot;:[&quot;2项&quot;,&quot;列表&quot;,&quot;蓝色&quot;],&quot;labels&quot;:[]}"/>
  <p:tag name="OP_SCP_GROUP_ID" val="df59efc7-33e2-8009-4aa2-013c743b206b"/>
  <p:tag name="OP_SCP_ITEM_COUNT" val="2"/>
</p:tagLst>
</file>

<file path=ppt/tags/tag9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100.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单击此处添加文本，单击此处添加文本。"/>
  <p:tag name="OP_SCP_ITEM_INDEX" val="2"/>
</p:tagLst>
</file>

<file path=ppt/tags/tag10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10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11"/>
  <p:tag name="OP_SCP_COMPONENT_INFO" val="{&quot;title&quot;:&quot;简约蓝色圆角3项列表&quot;,&quot;description&quot;:&quot;3项,列表,蓝色&quot;,&quot;keywords&quot;:[&quot;3项&quot;,&quot;列表&quot;,&quot;蓝色&quot;],&quot;labels&quot;:[]}"/>
  <p:tag name="OP_SCP_GROUP_ID" val="4ec3abdb-d431-5f2c-645a-545ff3419325"/>
  <p:tag name="OP_SCP_ITEM_COUNT" val="3"/>
</p:tagLst>
</file>

<file path=ppt/tags/tag103.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3"/>
</p:tagLst>
</file>

<file path=ppt/tags/tag104.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10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12"/>
  <p:tag name="OP_SCP_COMPONENT_INFO" val="{&quot;title&quot;:&quot;简约蓝紫色2项纯文本&quot;,&quot;description&quot;:&quot;2项,纯文本,蓝色&quot;,&quot;keywords&quot;:[&quot;2项&quot;,&quot;纯文本&quot;,&quot;蓝色&quot;],&quot;labels&quot;:[]}"/>
  <p:tag name="OP_SCP_GROUP_ID" val="720c2b49-b2ba-8460-1403-3bcb29234e89"/>
  <p:tag name="OP_SCP_ITEM_COUNT" val="2"/>
</p:tagLst>
</file>

<file path=ppt/tags/tag10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108.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109.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单击此处添加文本，单击此处添加文本。"/>
  <p:tag name="OP_SCP_ITEM_INDEX" val="2"/>
</p:tagLst>
</file>

<file path=ppt/tags/tag1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11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1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012"/>
  <p:tag name="OP_SCP_COMPONENT_INFO" val="{&quot;title&quot;:&quot;阴影2项列表PPT组件&quot;,&quot;description&quot;:&quot;阴影2项列表PPT组件：双项列表布局，阴影设计，信息展示清晰美观。&quot;,&quot;keywords&quot;:[&quot;阴影&quot;,&quot;2项&quot;,&quot;列表&quot;,&quot;PPT组件&quot;],&quot;labels&quot;:[]}"/>
  <p:tag name="OP_SCP_GROUP_ID" val="e6d3a219-83fd-cd01-e0e8-ec88ec25c67f"/>
  <p:tag name="OP_SCP_ITEM_COUNT" val="2"/>
</p:tagLst>
</file>

<file path=ppt/tags/tag113.xml><?xml version="1.0" encoding="utf-8"?>
<p:tagLst xmlns:a="http://schemas.openxmlformats.org/drawingml/2006/main" xmlns:r="http://schemas.openxmlformats.org/officeDocument/2006/relationships" xmlns:p="http://schemas.openxmlformats.org/presentationml/2006/main">
  <p:tag name="OP_SCP_ITEM_INDEX" val="2"/>
</p:tagLst>
</file>

<file path=ppt/tags/tag114.xml><?xml version="1.0" encoding="utf-8"?>
<p:tagLst xmlns:a="http://schemas.openxmlformats.org/drawingml/2006/main" xmlns:r="http://schemas.openxmlformats.org/officeDocument/2006/relationships" xmlns:p="http://schemas.openxmlformats.org/presentationml/2006/main">
  <p:tag name="OP_SCP_ITEM_INDEX" val="2"/>
</p:tagLst>
</file>

<file path=ppt/tags/tag11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02 添加标题"/>
</p:tagLst>
</file>

<file path=ppt/tags/tag11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
</p:tagLst>
</file>

<file path=ppt/tags/tag117.xml><?xml version="1.0" encoding="utf-8"?>
<p:tagLst xmlns:a="http://schemas.openxmlformats.org/drawingml/2006/main" xmlns:r="http://schemas.openxmlformats.org/officeDocument/2006/relationships" xmlns:p="http://schemas.openxmlformats.org/presentationml/2006/main">
  <p:tag name="OP_SCP_ITEM_INDEX" val="1"/>
</p:tagLst>
</file>

<file path=ppt/tags/tag118.xml><?xml version="1.0" encoding="utf-8"?>
<p:tagLst xmlns:a="http://schemas.openxmlformats.org/drawingml/2006/main" xmlns:r="http://schemas.openxmlformats.org/officeDocument/2006/relationships" xmlns:p="http://schemas.openxmlformats.org/presentationml/2006/main">
  <p:tag name="OP_SCP_ITEM_INDEX" val="1"/>
</p:tagLst>
</file>

<file path=ppt/tags/tag11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01 添加标题"/>
</p:tagLst>
</file>

<file path=ppt/tags/tag120.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
</p:tagLst>
</file>

<file path=ppt/tags/tag12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795"/>
  <p:tag name="OP_SCP_COMPONENT_INFO" val="{&quot;title&quot;:&quot;简约蓝色2项纯文本&quot;,&quot;description&quot;:&quot;2项,纯文本,蓝色&quot;,&quot;keywords&quot;:[&quot;2项&quot;,&quot;纯文本&quot;,&quot;蓝色&quot;],&quot;labels&quot;:[]}"/>
  <p:tag name="OP_SCP_GROUP_ID" val="e02eaea5-9dbc-ef0c-9fb6-aa6adee4dc12"/>
  <p:tag name="OP_SCP_ITEM_COUNT" val="2"/>
</p:tagLst>
</file>

<file path=ppt/tags/tag12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123.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124.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
</p:tagLst>
</file>

<file path=ppt/tags/tag12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12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2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128.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860"/>
  <p:tag name="OP_SCP_COMPONENT_INFO" val="{&quot;title&quot;:&quot;渐变2项纯文本PPT组件&quot;,&quot;description&quot;:&quot;渐变2项纯文本PPT组件：双项纯文本布局，渐变设计，适用于信息对比展示。&quot;,&quot;keywords&quot;:[&quot;渐变&quot;,&quot;2项&quot;,&quot;纯文本&quot;,&quot;PPT组件&quot;],&quot;labels&quot;:[]}"/>
  <p:tag name="OP_SCP_GROUP_ID" val="07628e5f-1a7b-adcb-7869-8eab2de73f42"/>
  <p:tag name="OP_SCP_ITEM_COUNT" val="2"/>
</p:tagLst>
</file>

<file path=ppt/tags/tag12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23"/>
  <p:tag name="OP_SCP_COMPONENT_INFO" val="{&quot;title&quot;:&quot;扁平3项纯文本PPT组件&quot;,&quot;description&quot;:&quot;扁平3项纯文本PPT组件&quot;,&quot;keywords&quot;:[&quot;扁平&quot;,&quot;3项&quot;,&quot;纯文本&quot;,&quot;PPT组件&quot;],&quot;labels&quot;:[]}"/>
  <p:tag name="OP_SCP_GROUP_ID" val="8cd59e33-68c6-1f9e-eb51-926fd752c31f"/>
  <p:tag name="OP_SCP_ITEM_COUNT" val="3"/>
</p:tagLst>
</file>

<file path=ppt/tags/tag13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
</p:tagLst>
</file>

<file path=ppt/tags/tag131.xml><?xml version="1.0" encoding="utf-8"?>
<p:tagLst xmlns:a="http://schemas.openxmlformats.org/drawingml/2006/main" xmlns:r="http://schemas.openxmlformats.org/officeDocument/2006/relationships" xmlns:p="http://schemas.openxmlformats.org/presentationml/2006/main">
  <p:tag name="OP_SCP_ITEM_INDEX" val="2"/>
</p:tagLst>
</file>

<file path=ppt/tags/tag132.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添加文本。"/>
</p:tagLst>
</file>

<file path=ppt/tags/tag133.xml><?xml version="1.0" encoding="utf-8"?>
<p:tagLst xmlns:a="http://schemas.openxmlformats.org/drawingml/2006/main" xmlns:r="http://schemas.openxmlformats.org/officeDocument/2006/relationships" xmlns:p="http://schemas.openxmlformats.org/presentationml/2006/main">
  <p:tag name="OP_SCP_ITEM_INDEX" val="3"/>
</p:tagLst>
</file>

<file path=ppt/tags/tag1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135.xml><?xml version="1.0" encoding="utf-8"?>
<p:tagLst xmlns:a="http://schemas.openxmlformats.org/drawingml/2006/main" xmlns:r="http://schemas.openxmlformats.org/officeDocument/2006/relationships" xmlns:p="http://schemas.openxmlformats.org/presentationml/2006/main">
  <p:tag name="OP_SCP_ITEM_INDEX" val="1"/>
</p:tagLst>
</file>

<file path=ppt/tags/tag136.xml><?xml version="1.0" encoding="utf-8"?>
<p:tagLst xmlns:a="http://schemas.openxmlformats.org/drawingml/2006/main" xmlns:r="http://schemas.openxmlformats.org/officeDocument/2006/relationships" xmlns:p="http://schemas.openxmlformats.org/presentationml/2006/main">
  <p:tag name="OP_SCP_ITEM_INDEX" val="2"/>
</p:tagLst>
</file>

<file path=ppt/tags/tag13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2"/>
</p:tagLst>
</file>

<file path=ppt/tags/tag13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39.xml><?xml version="1.0" encoding="utf-8"?>
<p:tagLst xmlns:a="http://schemas.openxmlformats.org/drawingml/2006/main" xmlns:r="http://schemas.openxmlformats.org/officeDocument/2006/relationships" xmlns:p="http://schemas.openxmlformats.org/presentationml/2006/main">
  <p:tag name="OP_SCP_ITEM_INDEX" val="1"/>
</p:tagLst>
</file>

<file path=ppt/tags/tag14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1"/>
</p:tagLst>
</file>

<file path=ppt/tags/tag14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2.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43.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144.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07"/>
  <p:tag name="OP_SCP_COMPONENT_INFO" val="{&quot;title&quot;:&quot;扁平1项纯文本PPT组件&quot;,&quot;description&quot;:&quot;扁平1项纯文本PPT组件&quot;,&quot;keywords&quot;:[&quot;扁平&quot;,&quot;1项&quot;,&quot;纯文本&quot;,&quot;PPT组件&quot;],&quot;labels&quot;:[]}"/>
  <p:tag name="OP_SCP_GROUP_ID" val="ef7c8520-5870-154c-9fe2-daae3c374e0e"/>
  <p:tag name="OP_SCP_ITEM_COUNT" val="1"/>
</p:tagLst>
</file>

<file path=ppt/tags/tag14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07"/>
  <p:tag name="OP_SCP_COMPONENT_INFO" val="{&quot;title&quot;:&quot;扁平1项纯文本PPT组件&quot;,&quot;description&quot;:&quot;扁平1项纯文本PPT组件&quot;,&quot;keywords&quot;:[&quot;扁平&quot;,&quot;1项&quot;,&quot;纯文本&quot;,&quot;PPT组件&quot;],&quot;labels&quot;:[]}"/>
  <p:tag name="OP_SCP_GROUP_ID" val="ef7c8520-5870-154c-9fe2-daae3c374e0e"/>
  <p:tag name="OP_SCP_ITEM_COUNT" val="1"/>
</p:tagLst>
</file>

<file path=ppt/tags/tag146.xml><?xml version="1.0" encoding="utf-8"?>
<p:tagLst xmlns:a="http://schemas.openxmlformats.org/drawingml/2006/main" xmlns:r="http://schemas.openxmlformats.org/officeDocument/2006/relationships" xmlns:p="http://schemas.openxmlformats.org/presentationml/2006/main">
  <p:tag name="OP_SCP_ITEM_INDEX" val="1"/>
</p:tagLst>
</file>

<file path=ppt/tags/tag14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8.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49.xml><?xml version="1.0" encoding="utf-8"?>
<p:tagLst xmlns:a="http://schemas.openxmlformats.org/drawingml/2006/main" xmlns:r="http://schemas.openxmlformats.org/officeDocument/2006/relationships" xmlns:p="http://schemas.openxmlformats.org/presentationml/2006/main">
  <p:tag name="OP_SCP_ITEM_INDEX" val="1"/>
</p:tagLst>
</file>

<file path=ppt/tags/tag15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5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52.xml><?xml version="1.0" encoding="utf-8"?>
<p:tagLst xmlns:a="http://schemas.openxmlformats.org/drawingml/2006/main" xmlns:r="http://schemas.openxmlformats.org/officeDocument/2006/relationships" xmlns:p="http://schemas.openxmlformats.org/presentationml/2006/main">
  <p:tag name="OP_SCP_ITEM_INDEX" val="3"/>
</p:tagLst>
</file>

<file path=ppt/tags/tag15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5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155.xml><?xml version="1.0" encoding="utf-8"?>
<p:tagLst xmlns:a="http://schemas.openxmlformats.org/drawingml/2006/main" xmlns:r="http://schemas.openxmlformats.org/officeDocument/2006/relationships" xmlns:p="http://schemas.openxmlformats.org/presentationml/2006/main">
  <p:tag name="OP_SCP_ITEM_INDEX" val="1"/>
</p:tagLst>
</file>

<file path=ppt/tags/tag15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5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58.xml><?xml version="1.0" encoding="utf-8"?>
<p:tagLst xmlns:a="http://schemas.openxmlformats.org/drawingml/2006/main" xmlns:r="http://schemas.openxmlformats.org/officeDocument/2006/relationships" xmlns:p="http://schemas.openxmlformats.org/presentationml/2006/main">
  <p:tag name="OP_SCP_ITEM_INDEX" val="2"/>
</p:tagLst>
</file>

<file path=ppt/tags/tag15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6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16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162.xml><?xml version="1.0" encoding="utf-8"?>
<p:tagLst xmlns:a="http://schemas.openxmlformats.org/drawingml/2006/main" xmlns:r="http://schemas.openxmlformats.org/officeDocument/2006/relationships" xmlns:p="http://schemas.openxmlformats.org/presentationml/2006/main">
  <p:tag name="OP_SCP_ITEM_INDEX" val="3"/>
</p:tagLst>
</file>

<file path=ppt/tags/tag16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6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165.xml><?xml version="1.0" encoding="utf-8"?>
<p:tagLst xmlns:a="http://schemas.openxmlformats.org/drawingml/2006/main" xmlns:r="http://schemas.openxmlformats.org/officeDocument/2006/relationships" xmlns:p="http://schemas.openxmlformats.org/presentationml/2006/main">
  <p:tag name="OP_SCP_ITEM_INDEX" val="1"/>
</p:tagLst>
</file>

<file path=ppt/tags/tag16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6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68.xml><?xml version="1.0" encoding="utf-8"?>
<p:tagLst xmlns:a="http://schemas.openxmlformats.org/drawingml/2006/main" xmlns:r="http://schemas.openxmlformats.org/officeDocument/2006/relationships" xmlns:p="http://schemas.openxmlformats.org/presentationml/2006/main">
  <p:tag name="OP_SCP_ITEM_INDEX" val="2"/>
</p:tagLst>
</file>

<file path=ppt/tags/tag16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7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17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172.xml><?xml version="1.0" encoding="utf-8"?>
<p:tagLst xmlns:a="http://schemas.openxmlformats.org/drawingml/2006/main" xmlns:r="http://schemas.openxmlformats.org/officeDocument/2006/relationships" xmlns:p="http://schemas.openxmlformats.org/presentationml/2006/main">
  <p:tag name="OP_SCP_ITEM_INDEX" val="3"/>
</p:tagLst>
</file>

<file path=ppt/tags/tag17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7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175.xml><?xml version="1.0" encoding="utf-8"?>
<p:tagLst xmlns:a="http://schemas.openxmlformats.org/drawingml/2006/main" xmlns:r="http://schemas.openxmlformats.org/officeDocument/2006/relationships" xmlns:p="http://schemas.openxmlformats.org/presentationml/2006/main">
  <p:tag name="OP_SCP_ITEM_INDEX" val="1"/>
</p:tagLst>
</file>

<file path=ppt/tags/tag17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7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78.xml><?xml version="1.0" encoding="utf-8"?>
<p:tagLst xmlns:a="http://schemas.openxmlformats.org/drawingml/2006/main" xmlns:r="http://schemas.openxmlformats.org/officeDocument/2006/relationships" xmlns:p="http://schemas.openxmlformats.org/presentationml/2006/main">
  <p:tag name="OP_SCP_ITEM_INDEX" val="2"/>
</p:tagLst>
</file>

<file path=ppt/tags/tag17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8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18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182.xml><?xml version="1.0" encoding="utf-8"?>
<p:tagLst xmlns:a="http://schemas.openxmlformats.org/drawingml/2006/main" xmlns:r="http://schemas.openxmlformats.org/officeDocument/2006/relationships" xmlns:p="http://schemas.openxmlformats.org/presentationml/2006/main">
  <p:tag name="OP_SCP_ITEM_INDEX" val="3"/>
</p:tagLst>
</file>

<file path=ppt/tags/tag18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8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185.xml><?xml version="1.0" encoding="utf-8"?>
<p:tagLst xmlns:a="http://schemas.openxmlformats.org/drawingml/2006/main" xmlns:r="http://schemas.openxmlformats.org/officeDocument/2006/relationships" xmlns:p="http://schemas.openxmlformats.org/presentationml/2006/main">
  <p:tag name="OP_SCP_ITEM_INDEX" val="1"/>
</p:tagLst>
</file>

<file path=ppt/tags/tag18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8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188.xml><?xml version="1.0" encoding="utf-8"?>
<p:tagLst xmlns:a="http://schemas.openxmlformats.org/drawingml/2006/main" xmlns:r="http://schemas.openxmlformats.org/officeDocument/2006/relationships" xmlns:p="http://schemas.openxmlformats.org/presentationml/2006/main">
  <p:tag name="OP_SCP_ITEM_INDEX" val="2"/>
</p:tagLst>
</file>

<file path=ppt/tags/tag18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9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19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34"/>
  <p:tag name="OP_SCP_COMPONENT_INFO" val="{&quot;title&quot;:&quot;扁平3项列表PPT组件&quot;,&quot;description&quot;:&quot;扁平3项列表PPT组件&quot;,&quot;keywords&quot;:[&quot;扁平&quot;,&quot;3项&quot;,&quot;列表&quot;,&quot;PPT组件&quot;],&quot;labels&quot;:[]}"/>
  <p:tag name="OP_SCP_GROUP_ID" val="c43786e3-ca88-9a76-de86-377acc86b5ff"/>
  <p:tag name="OP_SCP_ITEM_COUNT" val="3"/>
</p:tagLst>
</file>

<file path=ppt/tags/tag192.xml><?xml version="1.0" encoding="utf-8"?>
<p:tagLst xmlns:a="http://schemas.openxmlformats.org/drawingml/2006/main" xmlns:r="http://schemas.openxmlformats.org/officeDocument/2006/relationships" xmlns:p="http://schemas.openxmlformats.org/presentationml/2006/main">
  <p:tag name="OP_SCP_ITEM_INDEX" val="3"/>
</p:tagLst>
</file>

<file path=ppt/tags/tag19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94.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
</p:tagLst>
</file>

<file path=ppt/tags/tag19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196.xml><?xml version="1.0" encoding="utf-8"?>
<p:tagLst xmlns:a="http://schemas.openxmlformats.org/drawingml/2006/main" xmlns:r="http://schemas.openxmlformats.org/officeDocument/2006/relationships" xmlns:p="http://schemas.openxmlformats.org/presentationml/2006/main">
  <p:tag name="OP_SCP_ITEM_INDEX" val="3"/>
</p:tagLst>
</file>

<file path=ppt/tags/tag197.xml><?xml version="1.0" encoding="utf-8"?>
<p:tagLst xmlns:a="http://schemas.openxmlformats.org/drawingml/2006/main" xmlns:r="http://schemas.openxmlformats.org/officeDocument/2006/relationships" xmlns:p="http://schemas.openxmlformats.org/presentationml/2006/main">
  <p:tag name="OP_SCP_ITEM_INDEX" val="2"/>
</p:tagLst>
</file>

<file path=ppt/tags/tag198.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9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0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01.xml><?xml version="1.0" encoding="utf-8"?>
<p:tagLst xmlns:a="http://schemas.openxmlformats.org/drawingml/2006/main" xmlns:r="http://schemas.openxmlformats.org/officeDocument/2006/relationships" xmlns:p="http://schemas.openxmlformats.org/presentationml/2006/main">
  <p:tag name="OP_SCP_ITEM_INDEX" val="2"/>
</p:tagLst>
</file>

<file path=ppt/tags/tag202.xml><?xml version="1.0" encoding="utf-8"?>
<p:tagLst xmlns:a="http://schemas.openxmlformats.org/drawingml/2006/main" xmlns:r="http://schemas.openxmlformats.org/officeDocument/2006/relationships" xmlns:p="http://schemas.openxmlformats.org/presentationml/2006/main">
  <p:tag name="OP_SCP_ITEM_INDEX" val="1"/>
</p:tagLst>
</file>

<file path=ppt/tags/tag20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0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0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06.xml><?xml version="1.0" encoding="utf-8"?>
<p:tagLst xmlns:a="http://schemas.openxmlformats.org/drawingml/2006/main" xmlns:r="http://schemas.openxmlformats.org/officeDocument/2006/relationships" xmlns:p="http://schemas.openxmlformats.org/presentationml/2006/main">
  <p:tag name="OP_SCP_ITEM_INDEX" val="1"/>
</p:tagLst>
</file>

<file path=ppt/tags/tag207.xml><?xml version="1.0" encoding="utf-8"?>
<p:tagLst xmlns:a="http://schemas.openxmlformats.org/drawingml/2006/main" xmlns:r="http://schemas.openxmlformats.org/officeDocument/2006/relationships" xmlns:p="http://schemas.openxmlformats.org/presentationml/2006/main">
  <p:tag name="TIMING" val="|155.2|25.3|11.9|1.4|10.1|31.2"/>
</p:tagLst>
</file>

<file path=ppt/tags/tag208.xml><?xml version="1.0" encoding="utf-8"?>
<p:tagLst xmlns:a="http://schemas.openxmlformats.org/drawingml/2006/main" xmlns:r="http://schemas.openxmlformats.org/officeDocument/2006/relationships" xmlns:p="http://schemas.openxmlformats.org/presentationml/2006/main">
  <p:tag name="TIMING" val="|32.9|77.6|20.1|1.5|24.3|26.9"/>
</p:tagLst>
</file>

<file path=ppt/tags/tag209.xml><?xml version="1.0" encoding="utf-8"?>
<p:tagLst xmlns:a="http://schemas.openxmlformats.org/drawingml/2006/main" xmlns:r="http://schemas.openxmlformats.org/officeDocument/2006/relationships" xmlns:p="http://schemas.openxmlformats.org/presentationml/2006/main">
  <p:tag name="TIMING" val="|6.7|2.7|21.6"/>
</p:tagLst>
</file>

<file path=ppt/tags/tag210.xml><?xml version="1.0" encoding="utf-8"?>
<p:tagLst xmlns:a="http://schemas.openxmlformats.org/drawingml/2006/main" xmlns:r="http://schemas.openxmlformats.org/officeDocument/2006/relationships" xmlns:p="http://schemas.openxmlformats.org/presentationml/2006/main">
  <p:tag name="TIMING" val="|26.4|23|11.7|15.1|0.9|12.3|1.2"/>
</p:tagLst>
</file>

<file path=ppt/tags/tag211.xml><?xml version="1.0" encoding="utf-8"?>
<p:tagLst xmlns:a="http://schemas.openxmlformats.org/drawingml/2006/main" xmlns:r="http://schemas.openxmlformats.org/officeDocument/2006/relationships" xmlns:p="http://schemas.openxmlformats.org/presentationml/2006/main">
  <p:tag name="TIMING" val="|28|20.1|2.4|39.6"/>
</p:tagLst>
</file>

<file path=ppt/tags/tag212.xml><?xml version="1.0" encoding="utf-8"?>
<p:tagLst xmlns:a="http://schemas.openxmlformats.org/drawingml/2006/main" xmlns:r="http://schemas.openxmlformats.org/officeDocument/2006/relationships" xmlns:p="http://schemas.openxmlformats.org/presentationml/2006/main">
  <p:tag name="TIMING" val="|23.9|18.4|8.8"/>
</p:tagLst>
</file>

<file path=ppt/tags/tag213.xml><?xml version="1.0" encoding="utf-8"?>
<p:tagLst xmlns:a="http://schemas.openxmlformats.org/drawingml/2006/main" xmlns:r="http://schemas.openxmlformats.org/officeDocument/2006/relationships" xmlns:p="http://schemas.openxmlformats.org/presentationml/2006/main">
  <p:tag name="TIMING" val="|9|21.8"/>
</p:tagLst>
</file>

<file path=ppt/tags/tag214.xml><?xml version="1.0" encoding="utf-8"?>
<p:tagLst xmlns:a="http://schemas.openxmlformats.org/drawingml/2006/main" xmlns:r="http://schemas.openxmlformats.org/officeDocument/2006/relationships" xmlns:p="http://schemas.openxmlformats.org/presentationml/2006/main">
  <p:tag name="TIMING" val="|4.5|1"/>
</p:tagLst>
</file>

<file path=ppt/tags/tag215.xml><?xml version="1.0" encoding="utf-8"?>
<p:tagLst xmlns:a="http://schemas.openxmlformats.org/drawingml/2006/main" xmlns:r="http://schemas.openxmlformats.org/officeDocument/2006/relationships" xmlns:p="http://schemas.openxmlformats.org/presentationml/2006/main">
  <p:tag name="TIMING" val="|1.7|18.7"/>
</p:tagLst>
</file>

<file path=ppt/tags/tag216.xml><?xml version="1.0" encoding="utf-8"?>
<p:tagLst xmlns:a="http://schemas.openxmlformats.org/drawingml/2006/main" xmlns:r="http://schemas.openxmlformats.org/officeDocument/2006/relationships" xmlns:p="http://schemas.openxmlformats.org/presentationml/2006/main">
  <p:tag name="TIMING" val="|66.4"/>
</p:tagLst>
</file>

<file path=ppt/tags/tag217.xml><?xml version="1.0" encoding="utf-8"?>
<p:tagLst xmlns:a="http://schemas.openxmlformats.org/drawingml/2006/main" xmlns:r="http://schemas.openxmlformats.org/officeDocument/2006/relationships" xmlns:p="http://schemas.openxmlformats.org/presentationml/2006/main">
  <p:tag name="TIMING" val="|35|5.9|8|13.6|1|1.8|1.1|0.9|4|9.2|9.3|13|1.1|1.8|2.4|0.9|46.8"/>
</p:tagLst>
</file>

<file path=ppt/tags/tag218.xml><?xml version="1.0" encoding="utf-8"?>
<p:tagLst xmlns:a="http://schemas.openxmlformats.org/drawingml/2006/main" xmlns:r="http://schemas.openxmlformats.org/officeDocument/2006/relationships" xmlns:p="http://schemas.openxmlformats.org/presentationml/2006/main">
  <p:tag name="TIMING" val="|14.6|4.6|0.7|2.8|0.7|1.2|3.1|1.2|1.3|171.5|1.1|1|0.8"/>
</p:tagLst>
</file>

<file path=ppt/tags/tag21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2"/>
  <p:tag name="OP_SCP_COMPONENT_INFO" val="{&quot;title&quot;:&quot;扁平3项流程PPT组件&quot;,&quot;description&quot;:&quot;扁平3项流程PPT组件&quot;,&quot;keywords&quot;:[&quot;扁平&quot;,&quot;3项&quot;,&quot;流程&quot;,&quot;PPT组件&quot;],&quot;labels&quot;:[]}"/>
  <p:tag name="OP_SCP_GROUP_ID" val="58d686c4-3f4b-2285-b3f0-fac42d8e4929"/>
  <p:tag name="OP_SCP_ITEM_COUNT" val="3"/>
</p:tagLst>
</file>

<file path=ppt/tags/tag220.xml><?xml version="1.0" encoding="utf-8"?>
<p:tagLst xmlns:a="http://schemas.openxmlformats.org/drawingml/2006/main" xmlns:r="http://schemas.openxmlformats.org/officeDocument/2006/relationships" xmlns:p="http://schemas.openxmlformats.org/presentationml/2006/main">
  <p:tag name="OP_SCP_ITEM_INDEX" val="3"/>
</p:tagLst>
</file>

<file path=ppt/tags/tag22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22.xml><?xml version="1.0" encoding="utf-8"?>
<p:tagLst xmlns:a="http://schemas.openxmlformats.org/drawingml/2006/main" xmlns:r="http://schemas.openxmlformats.org/officeDocument/2006/relationships" xmlns:p="http://schemas.openxmlformats.org/presentationml/2006/main">
  <p:tag name="OP_SCP_ITEM_INDEX" val="3"/>
</p:tagLst>
</file>

<file path=ppt/tags/tag22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24.xml><?xml version="1.0" encoding="utf-8"?>
<p:tagLst xmlns:a="http://schemas.openxmlformats.org/drawingml/2006/main" xmlns:r="http://schemas.openxmlformats.org/officeDocument/2006/relationships" xmlns:p="http://schemas.openxmlformats.org/presentationml/2006/main">
  <p:tag name="OP_SCP_ITEM_INDEX" val="2"/>
</p:tagLst>
</file>

<file path=ppt/tags/tag22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26.xml><?xml version="1.0" encoding="utf-8"?>
<p:tagLst xmlns:a="http://schemas.openxmlformats.org/drawingml/2006/main" xmlns:r="http://schemas.openxmlformats.org/officeDocument/2006/relationships" xmlns:p="http://schemas.openxmlformats.org/presentationml/2006/main">
  <p:tag name="OP_SCP_ITEM_INDEX" val="2"/>
</p:tagLst>
</file>

<file path=ppt/tags/tag22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2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29.xml><?xml version="1.0" encoding="utf-8"?>
<p:tagLst xmlns:a="http://schemas.openxmlformats.org/drawingml/2006/main" xmlns:r="http://schemas.openxmlformats.org/officeDocument/2006/relationships" xmlns:p="http://schemas.openxmlformats.org/presentationml/2006/main">
  <p:tag name="OP_SCP_ITEM_INDEX" val="1"/>
</p:tagLst>
</file>

<file path=ppt/tags/tag230.xml><?xml version="1.0" encoding="utf-8"?>
<p:tagLst xmlns:a="http://schemas.openxmlformats.org/drawingml/2006/main" xmlns:r="http://schemas.openxmlformats.org/officeDocument/2006/relationships" xmlns:p="http://schemas.openxmlformats.org/presentationml/2006/main">
  <p:tag name="OP_SCP_ITEM_INDEX" val="1"/>
</p:tagLst>
</file>

<file path=ppt/tags/tag23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3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9"/>
  <p:tag name="OP_SCP_COMPONENT_INFO" val="{&quot;title&quot;:&quot;渐变1项列表PPT组件&quot;,&quot;description&quot;:&quot;渐变1项列表PPT组件&quot;,&quot;keywords&quot;:[&quot;渐变&quot;,&quot;1项&quot;,&quot;列表&quot;,&quot;PPT组件&quot;],&quot;labels&quot;:[]}"/>
  <p:tag name="OP_SCP_GROUP_ID" val="a98e64a8-f5dd-5a2f-ba65-f5ebfb2cd4f6"/>
  <p:tag name="OP_SCP_ITEM_COUNT" val="1"/>
</p:tagLst>
</file>

<file path=ppt/tags/tag233.xml><?xml version="1.0" encoding="utf-8"?>
<p:tagLst xmlns:a="http://schemas.openxmlformats.org/drawingml/2006/main" xmlns:r="http://schemas.openxmlformats.org/officeDocument/2006/relationships" xmlns:p="http://schemas.openxmlformats.org/presentationml/2006/main">
  <p:tag name="OP_SCP_ITEM_INDEX" val="1"/>
</p:tagLst>
</file>

<file path=ppt/tags/tag234.xml><?xml version="1.0" encoding="utf-8"?>
<p:tagLst xmlns:a="http://schemas.openxmlformats.org/drawingml/2006/main" xmlns:r="http://schemas.openxmlformats.org/officeDocument/2006/relationships" xmlns:p="http://schemas.openxmlformats.org/presentationml/2006/main">
  <p:tag name="OP_SCP_ITEM_INDEX" val="1"/>
</p:tagLst>
</file>

<file path=ppt/tags/tag23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23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3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238.xml><?xml version="1.0" encoding="utf-8"?>
<p:tagLst xmlns:a="http://schemas.openxmlformats.org/drawingml/2006/main" xmlns:r="http://schemas.openxmlformats.org/officeDocument/2006/relationships" xmlns:p="http://schemas.openxmlformats.org/presentationml/2006/main">
  <p:tag name="OP_SCP_ITEM_INDEX" val="3"/>
</p:tagLst>
</file>

<file path=ppt/tags/tag23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4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241.xml><?xml version="1.0" encoding="utf-8"?>
<p:tagLst xmlns:a="http://schemas.openxmlformats.org/drawingml/2006/main" xmlns:r="http://schemas.openxmlformats.org/officeDocument/2006/relationships" xmlns:p="http://schemas.openxmlformats.org/presentationml/2006/main">
  <p:tag name="OP_SCP_ITEM_INDEX" val="1"/>
</p:tagLst>
</file>

<file path=ppt/tags/tag24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4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244.xml><?xml version="1.0" encoding="utf-8"?>
<p:tagLst xmlns:a="http://schemas.openxmlformats.org/drawingml/2006/main" xmlns:r="http://schemas.openxmlformats.org/officeDocument/2006/relationships" xmlns:p="http://schemas.openxmlformats.org/presentationml/2006/main">
  <p:tag name="OP_SCP_ITEM_INDEX" val="2"/>
</p:tagLst>
</file>

<file path=ppt/tags/tag24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4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247.xml><?xml version="1.0" encoding="utf-8"?>
<p:tagLst xmlns:a="http://schemas.openxmlformats.org/drawingml/2006/main" xmlns:r="http://schemas.openxmlformats.org/officeDocument/2006/relationships" xmlns:p="http://schemas.openxmlformats.org/presentationml/2006/main">
  <p:tag name="OP_SCP_ITEM_INDEX" val="3"/>
</p:tagLst>
</file>

<file path=ppt/tags/tag24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49.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
</p:tagLst>
</file>

<file path=ppt/tags/tag25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51.xml><?xml version="1.0" encoding="utf-8"?>
<p:tagLst xmlns:a="http://schemas.openxmlformats.org/drawingml/2006/main" xmlns:r="http://schemas.openxmlformats.org/officeDocument/2006/relationships" xmlns:p="http://schemas.openxmlformats.org/presentationml/2006/main">
  <p:tag name="OP_SCP_ITEM_INDEX" val="3"/>
</p:tagLst>
</file>

<file path=ppt/tags/tag252.xml><?xml version="1.0" encoding="utf-8"?>
<p:tagLst xmlns:a="http://schemas.openxmlformats.org/drawingml/2006/main" xmlns:r="http://schemas.openxmlformats.org/officeDocument/2006/relationships" xmlns:p="http://schemas.openxmlformats.org/presentationml/2006/main">
  <p:tag name="OP_SCP_ITEM_INDEX" val="2"/>
</p:tagLst>
</file>

<file path=ppt/tags/tag25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25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5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56.xml><?xml version="1.0" encoding="utf-8"?>
<p:tagLst xmlns:a="http://schemas.openxmlformats.org/drawingml/2006/main" xmlns:r="http://schemas.openxmlformats.org/officeDocument/2006/relationships" xmlns:p="http://schemas.openxmlformats.org/presentationml/2006/main">
  <p:tag name="OP_SCP_ITEM_INDEX" val="2"/>
</p:tagLst>
</file>

<file path=ppt/tags/tag257.xml><?xml version="1.0" encoding="utf-8"?>
<p:tagLst xmlns:a="http://schemas.openxmlformats.org/drawingml/2006/main" xmlns:r="http://schemas.openxmlformats.org/officeDocument/2006/relationships" xmlns:p="http://schemas.openxmlformats.org/presentationml/2006/main">
  <p:tag name="OP_SCP_ITEM_INDEX" val="1"/>
</p:tagLst>
</file>

<file path=ppt/tags/tag25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5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6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61.xml><?xml version="1.0" encoding="utf-8"?>
<p:tagLst xmlns:a="http://schemas.openxmlformats.org/drawingml/2006/main" xmlns:r="http://schemas.openxmlformats.org/officeDocument/2006/relationships" xmlns:p="http://schemas.openxmlformats.org/presentationml/2006/main">
  <p:tag name="OP_SCP_ITEM_INDEX" val="1"/>
</p:tagLst>
</file>

<file path=ppt/tags/tag262.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41"/>
  <p:tag name="OP_SCP_COMPONENT_INFO" val="{&quot;title&quot;:&quot;渐变2项列表PPT组件&quot;,&quot;description&quot;:&quot;渐变2项列表PPT组件&quot;,&quot;keywords&quot;:[&quot;渐变&quot;,&quot;2项&quot;,&quot;列表&quot;,&quot;PPT组件&quot;],&quot;labels&quot;:[]}"/>
  <p:tag name="OP_SCP_GROUP_ID" val="e2292e4c-04d8-b0eb-431f-cdd2e2ce3ff0"/>
  <p:tag name="OP_SCP_ITEM_COUNT" val="2"/>
</p:tagLst>
</file>

<file path=ppt/tags/tag26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64.xml><?xml version="1.0" encoding="utf-8"?>
<p:tagLst xmlns:a="http://schemas.openxmlformats.org/drawingml/2006/main" xmlns:r="http://schemas.openxmlformats.org/officeDocument/2006/relationships" xmlns:p="http://schemas.openxmlformats.org/presentationml/2006/main">
  <p:tag name="OP_SCP_ITEM_INDEX" val="2"/>
</p:tagLst>
</file>

<file path=ppt/tags/tag265.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26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67.xml><?xml version="1.0" encoding="utf-8"?>
<p:tagLst xmlns:a="http://schemas.openxmlformats.org/drawingml/2006/main" xmlns:r="http://schemas.openxmlformats.org/officeDocument/2006/relationships" xmlns:p="http://schemas.openxmlformats.org/presentationml/2006/main">
  <p:tag name="OP_SCP_ITEM_INDEX" val="1"/>
</p:tagLst>
</file>

<file path=ppt/tags/tag268.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6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70.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927"/>
  <p:tag name="OP_SCP_COMPONENT_INFO" val="{&quot;title&quot;:&quot;简约风列表_3项&quot;,&quot;description&quot;:&quot;蓝色,3项&quot;,&quot;keywords&quot;:[&quot;蓝色&quot;,&quot;3项&quot;],&quot;labels&quot;:[]}"/>
  <p:tag name="OP_SCP_GROUP_ID" val="b8d99be3-46f9-32f8-9823-e4808276a9e3"/>
  <p:tag name="OP_SCP_ITEM_COUNT" val="3"/>
</p:tagLst>
</file>

<file path=ppt/tags/tag27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7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73.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
</p:tagLst>
</file>

<file path=ppt/tags/tag27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7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76.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
</p:tagLst>
</file>

<file path=ppt/tags/tag27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27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7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8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8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009"/>
  <p:tag name="OP_SCP_COMPONENT_INFO" val="{&quot;title&quot;:&quot;阴影4项列表PPT组件&quot;,&quot;description&quot;:&quot;阴影4项列表PPT组件：四项列表布局，阴影设计，信息展示简洁清晰。&quot;,&quot;keywords&quot;:[&quot;阴影&quot;,&quot;4项&quot;,&quot;列表&quot;,&quot;PPT组件&quot;],&quot;labels&quot;:[]}"/>
  <p:tag name="OP_SCP_GROUP_ID" val="88fab6e5-0ffa-30b5-9373-417eed8cc267"/>
  <p:tag name="OP_SCP_ITEM_COUNT" val="4"/>
</p:tagLst>
</file>

<file path=ppt/tags/tag282.xml><?xml version="1.0" encoding="utf-8"?>
<p:tagLst xmlns:a="http://schemas.openxmlformats.org/drawingml/2006/main" xmlns:r="http://schemas.openxmlformats.org/officeDocument/2006/relationships" xmlns:p="http://schemas.openxmlformats.org/presentationml/2006/main">
  <p:tag name="OP_SCP_ITEM_INDEX" val="4"/>
</p:tagLst>
</file>

<file path=ppt/tags/tag28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4"/>
  <p:tag name="OP_SCP_DEFAULT_TEXT" val="4"/>
</p:tagLst>
</file>

<file path=ppt/tags/tag28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285.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4"/>
</p:tagLst>
</file>

<file path=ppt/tags/tag286.xml><?xml version="1.0" encoding="utf-8"?>
<p:tagLst xmlns:a="http://schemas.openxmlformats.org/drawingml/2006/main" xmlns:r="http://schemas.openxmlformats.org/officeDocument/2006/relationships" xmlns:p="http://schemas.openxmlformats.org/presentationml/2006/main">
  <p:tag name="OP_SCP_ITEM_INDEX" val="3"/>
</p:tagLst>
</file>

<file path=ppt/tags/tag28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3"/>
</p:tagLst>
</file>

<file path=ppt/tags/tag28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89.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3"/>
</p:tagLst>
</file>

<file path=ppt/tags/tag290.xml><?xml version="1.0" encoding="utf-8"?>
<p:tagLst xmlns:a="http://schemas.openxmlformats.org/drawingml/2006/main" xmlns:r="http://schemas.openxmlformats.org/officeDocument/2006/relationships" xmlns:p="http://schemas.openxmlformats.org/presentationml/2006/main">
  <p:tag name="OP_SCP_ITEM_INDEX" val="2"/>
</p:tagLst>
</file>

<file path=ppt/tags/tag29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2"/>
</p:tagLst>
</file>

<file path=ppt/tags/tag29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9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294.xml><?xml version="1.0" encoding="utf-8"?>
<p:tagLst xmlns:a="http://schemas.openxmlformats.org/drawingml/2006/main" xmlns:r="http://schemas.openxmlformats.org/officeDocument/2006/relationships" xmlns:p="http://schemas.openxmlformats.org/presentationml/2006/main">
  <p:tag name="OP_SCP_ITEM_INDEX" val="1"/>
</p:tagLst>
</file>

<file path=ppt/tags/tag29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1"/>
</p:tagLst>
</file>

<file path=ppt/tags/tag29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97.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1"/>
</p:tagLst>
</file>

<file path=ppt/tags/tag298.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009"/>
  <p:tag name="OP_SCP_COMPONENT_INFO" val="{&quot;title&quot;:&quot;阴影4项列表PPT组件&quot;,&quot;description&quot;:&quot;阴影4项列表PPT组件：四项列表布局，阴影设计，信息展示简洁清晰。&quot;,&quot;keywords&quot;:[&quot;阴影&quot;,&quot;4项&quot;,&quot;列表&quot;,&quot;PPT组件&quot;],&quot;labels&quot;:[]}"/>
  <p:tag name="OP_SCP_GROUP_ID" val="88fab6e5-0ffa-30b5-9373-417eed8cc267"/>
  <p:tag name="OP_SCP_ITEM_COUNT" val="4"/>
</p:tagLst>
</file>

<file path=ppt/tags/tag299.xml><?xml version="1.0" encoding="utf-8"?>
<p:tagLst xmlns:a="http://schemas.openxmlformats.org/drawingml/2006/main" xmlns:r="http://schemas.openxmlformats.org/officeDocument/2006/relationships" xmlns:p="http://schemas.openxmlformats.org/presentationml/2006/main">
  <p:tag name="OP_SCP_ITEM_INDEX" val="4"/>
</p:tagLst>
</file>

<file path=ppt/tags/tag30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4"/>
  <p:tag name="OP_SCP_DEFAULT_TEXT" val="4"/>
</p:tagLst>
</file>

<file path=ppt/tags/tag30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302.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4"/>
</p:tagLst>
</file>

<file path=ppt/tags/tag303.xml><?xml version="1.0" encoding="utf-8"?>
<p:tagLst xmlns:a="http://schemas.openxmlformats.org/drawingml/2006/main" xmlns:r="http://schemas.openxmlformats.org/officeDocument/2006/relationships" xmlns:p="http://schemas.openxmlformats.org/presentationml/2006/main">
  <p:tag name="OP_SCP_ITEM_INDEX" val="3"/>
</p:tagLst>
</file>

<file path=ppt/tags/tag30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3"/>
</p:tagLst>
</file>

<file path=ppt/tags/tag30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06.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3"/>
</p:tagLst>
</file>

<file path=ppt/tags/tag307.xml><?xml version="1.0" encoding="utf-8"?>
<p:tagLst xmlns:a="http://schemas.openxmlformats.org/drawingml/2006/main" xmlns:r="http://schemas.openxmlformats.org/officeDocument/2006/relationships" xmlns:p="http://schemas.openxmlformats.org/presentationml/2006/main">
  <p:tag name="OP_SCP_ITEM_INDEX" val="2"/>
</p:tagLst>
</file>

<file path=ppt/tags/tag308.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2"/>
</p:tagLst>
</file>

<file path=ppt/tags/tag30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31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311.xml><?xml version="1.0" encoding="utf-8"?>
<p:tagLst xmlns:a="http://schemas.openxmlformats.org/drawingml/2006/main" xmlns:r="http://schemas.openxmlformats.org/officeDocument/2006/relationships" xmlns:p="http://schemas.openxmlformats.org/presentationml/2006/main">
  <p:tag name="OP_SCP_ITEM_INDEX" val="1"/>
</p:tagLst>
</file>

<file path=ppt/tags/tag31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1"/>
</p:tagLst>
</file>

<file path=ppt/tags/tag3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4.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1"/>
</p:tagLst>
</file>

<file path=ppt/tags/tag31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31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31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1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32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321.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23.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29"/>
  <p:tag name="OP_SCP_COMPONENT_INFO" val="{&quot;title&quot;:&quot;扁平3项纯文本PPT组件&quot;,&quot;description&quot;:&quot;扁平3项纯文本PPT组件&quot;,&quot;keywords&quot;:[&quot;扁平&quot;,&quot;3项&quot;,&quot;纯文本&quot;,&quot;PPT组件&quot;],&quot;labels&quot;:[]}"/>
  <p:tag name="OP_SCP_GROUP_ID" val="ef7c8520-5870-154c-9fe2-daae3c374e0e"/>
  <p:tag name="OP_SCP_ITEM_COUNT" val="3"/>
</p:tagLst>
</file>

<file path=ppt/tags/tag32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32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2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2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
  <p:tag name="OP_SCP_COMPONENT_INFO" val="{&quot;title&quot;:&quot;渐变阴影1项列表PPT组件&quot;,&quot;description&quot;:&quot;渐变阴影1项列表PPT组件&quot;,&quot;keywords&quot;:[&quot;渐变&quot;,&quot;阴影&quot;,&quot;1项&quot;,&quot;列表&quot;,&quot;PPT组件&quot;],&quot;labels&quot;:[]}"/>
  <p:tag name="OP_SCP_GROUP_ID" val="15a7d6af-d08e-5c6b-3d5d-176e5c157829"/>
  <p:tag name="OP_SCP_ITEM_COUNT" val="1"/>
</p:tagLst>
</file>

<file path=ppt/tags/tag328.xml><?xml version="1.0" encoding="utf-8"?>
<p:tagLst xmlns:a="http://schemas.openxmlformats.org/drawingml/2006/main" xmlns:r="http://schemas.openxmlformats.org/officeDocument/2006/relationships" xmlns:p="http://schemas.openxmlformats.org/presentationml/2006/main">
  <p:tag name="OP_SCP_ITEM_INDEX" val="1"/>
</p:tagLst>
</file>

<file path=ppt/tags/tag32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0.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33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
  <p:tag name="OP_SCP_COMPONENT_INFO" val="{&quot;title&quot;:&quot;渐变阴影1项列表PPT组件&quot;,&quot;description&quot;:&quot;渐变阴影1项列表PPT组件&quot;,&quot;keywords&quot;:[&quot;渐变&quot;,&quot;阴影&quot;,&quot;1项&quot;,&quot;列表&quot;,&quot;PPT组件&quot;],&quot;labels&quot;:[]}"/>
  <p:tag name="OP_SCP_GROUP_ID" val="15a7d6af-d08e-5c6b-3d5d-176e5c157829"/>
  <p:tag name="OP_SCP_ITEM_COUNT" val="1"/>
</p:tagLst>
</file>

<file path=ppt/tags/tag332.xml><?xml version="1.0" encoding="utf-8"?>
<p:tagLst xmlns:a="http://schemas.openxmlformats.org/drawingml/2006/main" xmlns:r="http://schemas.openxmlformats.org/officeDocument/2006/relationships" xmlns:p="http://schemas.openxmlformats.org/presentationml/2006/main">
  <p:tag name="OP_SCP_ITEM_INDEX" val="1"/>
</p:tagLst>
</file>

<file path=ppt/tags/tag33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335.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8"/>
  <p:tag name="OP_SCP_COMPONENT_INFO" val="{&quot;title&quot;:&quot;渐变阴影1项列表PPT组件&quot;,&quot;description&quot;:&quot;渐变阴影1项列表PPT组件&quot;,&quot;keywords&quot;:[&quot;渐变&quot;,&quot;阴影&quot;,&quot;1项&quot;,&quot;列表&quot;,&quot;PPT组件&quot;],&quot;labels&quot;:[]}"/>
  <p:tag name="OP_SCP_GROUP_ID" val="15a7d6af-d08e-5c6b-3d5d-176e5c157829"/>
  <p:tag name="OP_SCP_ITEM_COUNT" val="1"/>
</p:tagLst>
</file>

<file path=ppt/tags/tag336.xml><?xml version="1.0" encoding="utf-8"?>
<p:tagLst xmlns:a="http://schemas.openxmlformats.org/drawingml/2006/main" xmlns:r="http://schemas.openxmlformats.org/officeDocument/2006/relationships" xmlns:p="http://schemas.openxmlformats.org/presentationml/2006/main">
  <p:tag name="OP_SCP_ITEM_INDEX" val="1"/>
</p:tagLst>
</file>

<file path=ppt/tags/tag3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8.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339.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973"/>
  <p:tag name="OP_SCP_COMPONENT_INFO" val="{&quot;title&quot;:&quot;渐变4项列表PPT组件&quot;,&quot;description&quot;:&quot;渐变4项列表PPT组件：四项列表布局，渐变设计，信息展示简洁清晰。&quot;,&quot;keywords&quot;:[&quot;渐变&quot;,&quot;4项&quot;,&quot;列表&quot;,&quot;PPT组件&quot;],&quot;labels&quot;:[]}"/>
  <p:tag name="OP_SCP_GROUP_ID" val="5b0a17f7-387d-ba9c-952c-dadbb26c3a5d"/>
  <p:tag name="OP_SCP_ITEM_COUNT" val="4"/>
</p:tagLst>
</file>

<file path=ppt/tags/tag340.xml><?xml version="1.0" encoding="utf-8"?>
<p:tagLst xmlns:a="http://schemas.openxmlformats.org/drawingml/2006/main" xmlns:r="http://schemas.openxmlformats.org/officeDocument/2006/relationships" xmlns:p="http://schemas.openxmlformats.org/presentationml/2006/main">
  <p:tag name="OP_SCP_ITEM_INDEX" val="4"/>
</p:tagLst>
</file>

<file path=ppt/tags/tag341.xml><?xml version="1.0" encoding="utf-8"?>
<p:tagLst xmlns:a="http://schemas.openxmlformats.org/drawingml/2006/main" xmlns:r="http://schemas.openxmlformats.org/officeDocument/2006/relationships" xmlns:p="http://schemas.openxmlformats.org/presentationml/2006/main">
  <p:tag name="OP_SCP_ITEM_INDEX" val="4"/>
</p:tagLst>
</file>

<file path=ppt/tags/tag34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343.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4"/>
</p:tagLst>
</file>

<file path=ppt/tags/tag344.xml><?xml version="1.0" encoding="utf-8"?>
<p:tagLst xmlns:a="http://schemas.openxmlformats.org/drawingml/2006/main" xmlns:r="http://schemas.openxmlformats.org/officeDocument/2006/relationships" xmlns:p="http://schemas.openxmlformats.org/presentationml/2006/main">
  <p:tag name="OP_SCP_ITEM_INDEX" val="3"/>
</p:tagLst>
</file>

<file path=ppt/tags/tag345.xml><?xml version="1.0" encoding="utf-8"?>
<p:tagLst xmlns:a="http://schemas.openxmlformats.org/drawingml/2006/main" xmlns:r="http://schemas.openxmlformats.org/officeDocument/2006/relationships" xmlns:p="http://schemas.openxmlformats.org/presentationml/2006/main">
  <p:tag name="OP_SCP_ITEM_INDEX" val="3"/>
</p:tagLst>
</file>

<file path=ppt/tags/tag34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347.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3"/>
</p:tagLst>
</file>

<file path=ppt/tags/tag348.xml><?xml version="1.0" encoding="utf-8"?>
<p:tagLst xmlns:a="http://schemas.openxmlformats.org/drawingml/2006/main" xmlns:r="http://schemas.openxmlformats.org/officeDocument/2006/relationships" xmlns:p="http://schemas.openxmlformats.org/presentationml/2006/main">
  <p:tag name="OP_SCP_ITEM_INDEX" val="2"/>
</p:tagLst>
</file>

<file path=ppt/tags/tag349.xml><?xml version="1.0" encoding="utf-8"?>
<p:tagLst xmlns:a="http://schemas.openxmlformats.org/drawingml/2006/main" xmlns:r="http://schemas.openxmlformats.org/officeDocument/2006/relationships" xmlns:p="http://schemas.openxmlformats.org/presentationml/2006/main">
  <p:tag name="OP_SCP_ITEM_INDEX" val="2"/>
</p:tagLst>
</file>

<file path=ppt/tags/tag35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35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
</p:tagLst>
</file>

<file path=ppt/tags/tag352.xml><?xml version="1.0" encoding="utf-8"?>
<p:tagLst xmlns:a="http://schemas.openxmlformats.org/drawingml/2006/main" xmlns:r="http://schemas.openxmlformats.org/officeDocument/2006/relationships" xmlns:p="http://schemas.openxmlformats.org/presentationml/2006/main">
  <p:tag name="OP_SCP_ITEM_INDEX" val="1"/>
</p:tagLst>
</file>

<file path=ppt/tags/tag353.xml><?xml version="1.0" encoding="utf-8"?>
<p:tagLst xmlns:a="http://schemas.openxmlformats.org/drawingml/2006/main" xmlns:r="http://schemas.openxmlformats.org/officeDocument/2006/relationships" xmlns:p="http://schemas.openxmlformats.org/presentationml/2006/main">
  <p:tag name="OP_SCP_ITEM_INDEX" val="1"/>
</p:tagLst>
</file>

<file path=ppt/tags/tag35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55.xml><?xml version="1.0" encoding="utf-8"?>
<p:tagLst xmlns:a="http://schemas.openxmlformats.org/drawingml/2006/main" xmlns:r="http://schemas.openxmlformats.org/officeDocument/2006/relationships" xmlns:p="http://schemas.openxmlformats.org/presentationml/2006/main">
  <p:tag name="OP_SCP_SHAPE_TYPE" val="Body"/>
  <p:tag name="OP_SCP_DEFAULT_TEXT" val="单击此处添加文本，单击此处添加文本。"/>
  <p:tag name="OP_SCP_ITEM_INDEX" val="1"/>
</p:tagLst>
</file>

<file path=ppt/theme/theme1.xml><?xml version="1.0" encoding="utf-8"?>
<a:theme xmlns:a="http://schemas.openxmlformats.org/drawingml/2006/main" name="IPC2026">
  <a:themeElements>
    <a:clrScheme name="Office">
      <a:dk1>
        <a:srgbClr val="FFFFFF"/>
      </a:dk1>
      <a:lt1>
        <a:srgbClr val="000000"/>
      </a:lt1>
      <a:dk2>
        <a:srgbClr val="F6FBFC"/>
      </a:dk2>
      <a:lt2>
        <a:srgbClr val="12303A"/>
      </a:lt2>
      <a:accent1>
        <a:srgbClr val="418AB3"/>
      </a:accent1>
      <a:accent2>
        <a:srgbClr val="A6B727"/>
      </a:accent2>
      <a:accent3>
        <a:srgbClr val="F69200"/>
      </a:accent3>
      <a:accent4>
        <a:srgbClr val="838383"/>
      </a:accent4>
      <a:accent5>
        <a:srgbClr val="FEC306"/>
      </a:accent5>
      <a:accent6>
        <a:srgbClr val="DF5327"/>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IPC2026" id="{C80D97FA-8EB4-4CDB-A397-A36A44DBA27E}" vid="{85BC5208-31F3-4A3B-A122-04171D41D36A}"/>
    </a:ext>
  </a:extLst>
</a:theme>
</file>

<file path=ppt/theme/theme2.xml><?xml version="1.0" encoding="utf-8"?>
<a:theme xmlns:a="http://schemas.openxmlformats.org/drawingml/2006/main" name="IPC">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chemeClr val="bg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IPC" id="{F7429D6A-0B8F-4495-BC6B-4365F448E2CB}" vid="{B04CB5D7-7835-44D3-8EEE-FFE472CCCA57}"/>
    </a:ext>
  </a:extLst>
</a:theme>
</file>

<file path=ppt/theme/theme3.xml><?xml version="1.0" encoding="utf-8"?>
<a:theme xmlns:a="http://schemas.openxmlformats.org/drawingml/2006/main" name="4_GritBlack">
  <a:themeElements>
    <a:clrScheme name="Office">
      <a:dk1>
        <a:srgbClr val="FFFFFF"/>
      </a:dk1>
      <a:lt1>
        <a:srgbClr val="000000"/>
      </a:lt1>
      <a:dk2>
        <a:srgbClr val="E3E7F2"/>
      </a:dk2>
      <a:lt2>
        <a:srgbClr val="1C2541"/>
      </a:lt2>
      <a:accent1>
        <a:srgbClr val="4674C1"/>
      </a:accent1>
      <a:accent2>
        <a:srgbClr val="EB7E3B"/>
      </a:accent2>
      <a:accent3>
        <a:srgbClr val="A5A5A5"/>
      </a:accent3>
      <a:accent4>
        <a:srgbClr val="FDBF2E"/>
      </a:accent4>
      <a:accent5>
        <a:srgbClr val="5D9CD3"/>
      </a:accent5>
      <a:accent6>
        <a:srgbClr val="72AC4C"/>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alpha val="0"/>
              </a:schemeClr>
            </a:gs>
            <a:gs pos="100000">
              <a:schemeClr val="accent1"/>
            </a:gs>
          </a:gsLst>
          <a:lin ang="16200000" scaled="1"/>
          <a:tileRect/>
        </a:gradFill>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2">
              <a:lumMod val="75000"/>
            </a:schemeClr>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ritBlack" id="{47A64F43-B8D2-4D39-9491-035DA55FC86E}" vid="{D9B5375E-5AA2-4398-B587-74231A18DD1F}"/>
    </a:ext>
  </a:extLst>
</a:theme>
</file>

<file path=ppt/theme/theme4.xml><?xml version="1.0" encoding="utf-8"?>
<a:theme xmlns:a="http://schemas.openxmlformats.org/drawingml/2006/main" name="3_GritBlack">
  <a:themeElements>
    <a:clrScheme name="Office">
      <a:dk1>
        <a:srgbClr val="FFFFFF"/>
      </a:dk1>
      <a:lt1>
        <a:srgbClr val="000000"/>
      </a:lt1>
      <a:dk2>
        <a:srgbClr val="F6FBFC"/>
      </a:dk2>
      <a:lt2>
        <a:srgbClr val="12303A"/>
      </a:lt2>
      <a:accent1>
        <a:srgbClr val="418AB3"/>
      </a:accent1>
      <a:accent2>
        <a:srgbClr val="A6B727"/>
      </a:accent2>
      <a:accent3>
        <a:srgbClr val="F69200"/>
      </a:accent3>
      <a:accent4>
        <a:srgbClr val="838383"/>
      </a:accent4>
      <a:accent5>
        <a:srgbClr val="FEC306"/>
      </a:accent5>
      <a:accent6>
        <a:srgbClr val="DF5327"/>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GritBlack" id="{47A64F43-B8D2-4D39-9491-035DA55FC86E}" vid="{D9B5375E-5AA2-4398-B587-74231A18DD1F}"/>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20253</TotalTime>
  <Words>23107</Words>
  <Application>Microsoft Office PowerPoint</Application>
  <PresentationFormat>宽屏</PresentationFormat>
  <Paragraphs>3836</Paragraphs>
  <Slides>159</Slides>
  <Notes>10</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159</vt:i4>
      </vt:variant>
    </vt:vector>
  </HeadingPairs>
  <TitlesOfParts>
    <vt:vector size="174" baseType="lpstr">
      <vt:lpstr>Microsoft YaHei (标题)</vt:lpstr>
      <vt:lpstr>PingFang SC</vt:lpstr>
      <vt:lpstr>quote-cjk-patch</vt:lpstr>
      <vt:lpstr>等线</vt:lpstr>
      <vt:lpstr>黑体</vt:lpstr>
      <vt:lpstr>微软雅黑</vt:lpstr>
      <vt:lpstr>Arial</vt:lpstr>
      <vt:lpstr>Calibri</vt:lpstr>
      <vt:lpstr>Courier New</vt:lpstr>
      <vt:lpstr>Symbol</vt:lpstr>
      <vt:lpstr>Verdana</vt:lpstr>
      <vt:lpstr>IPC2026</vt:lpstr>
      <vt:lpstr>IPC</vt:lpstr>
      <vt:lpstr>4_GritBlack</vt:lpstr>
      <vt:lpstr>3_GritBlack</vt:lpstr>
      <vt:lpstr>价值链管理从经验走向科学  开放复杂巨系统的治理法则</vt:lpstr>
      <vt:lpstr>规模不经济的世纪悖论</vt:lpstr>
      <vt:lpstr>彼岸可达——联想及其ODM的批量实例</vt:lpstr>
      <vt:lpstr>为什么偏偏是联想系，孤本般把这道题解开了？</vt:lpstr>
      <vt:lpstr>定性到定量——从范式到方案</vt:lpstr>
      <vt:lpstr>THE PHYSICS OF VALUE CHAIN 价值链物理学</vt:lpstr>
      <vt:lpstr>问题的定义和解决——范式对么？</vt:lpstr>
      <vt:lpstr>目的论——价值链管理的本源追问（计划为什么存在）</vt:lpstr>
      <vt:lpstr>目的论——价值链断裂（C/P/D的天然裂痕）</vt:lpstr>
      <vt:lpstr>目的论——协同（Orchestration）陷阱（越协越乱）</vt:lpstr>
      <vt:lpstr>目的论——推论</vt:lpstr>
      <vt:lpstr>目的论——全域统御</vt:lpstr>
      <vt:lpstr>本质论——价值链的世界观是非独立同分布（Non IID）</vt:lpstr>
      <vt:lpstr>本质论——从Non-IID到N！的统御复杂度</vt:lpstr>
      <vt:lpstr>本质论——硅基代偿的必然性</vt:lpstr>
      <vt:lpstr>本质论——人才黑洞</vt:lpstr>
      <vt:lpstr>方案论——业务统御算符Π的物理本体</vt:lpstr>
      <vt:lpstr>方案论——数据模型（五维正交基元）</vt:lpstr>
      <vt:lpstr>方案论——业务算法的三层结构</vt:lpstr>
      <vt:lpstr>第一重螺旋 —— 降维感知的五维时空容器</vt:lpstr>
      <vt:lpstr>第一重螺旋 —— 降维感知的五维时空容器（继续）</vt:lpstr>
      <vt:lpstr>第一重螺旋 —— 降维感知的五维时空容器（继续）</vt:lpstr>
      <vt:lpstr>第一重螺旋 —— 降维感知的五维时空容器（继续）</vt:lpstr>
      <vt:lpstr>第一重螺旋—— 进阶</vt:lpstr>
      <vt:lpstr>第二重螺旋：业务算法——驱动系统演化与宏观涌现的动力学引擎</vt:lpstr>
      <vt:lpstr>重塑第一重螺旋的绝对闭环：动能物质化</vt:lpstr>
      <vt:lpstr>方案论——决策速度的阶跃突破</vt:lpstr>
      <vt:lpstr>方案论——为什么这件事这么难？</vt:lpstr>
      <vt:lpstr>方案论——业务不可分</vt:lpstr>
      <vt:lpstr>能力论——业务不可分，能力也不可分</vt:lpstr>
      <vt:lpstr>能力论——懂业务，懂到耦合层面</vt:lpstr>
      <vt:lpstr>能力论——把业务变成可计算的模型</vt:lpstr>
      <vt:lpstr>能力论——让模型落地到异构系统</vt:lpstr>
      <vt:lpstr>能力论——三种能力，只能融合在一个大脑</vt:lpstr>
      <vt:lpstr>能力论——知识工程化，结构和进化</vt:lpstr>
      <vt:lpstr>机制论——设计权集中，机制只能刚性确权</vt:lpstr>
      <vt:lpstr>机制论——刚性确权，人在环外</vt:lpstr>
      <vt:lpstr>路径论——从哪儿下手？</vt:lpstr>
      <vt:lpstr>路径论——宏观精准，微观爆炸</vt:lpstr>
      <vt:lpstr>路径论——割裂主计划与执行，等于切断脊髓</vt:lpstr>
      <vt:lpstr>路径论——不可观测即不可控制</vt:lpstr>
      <vt:lpstr>路径论——自上而下定战略，自下而上建能力、系统</vt:lpstr>
      <vt:lpstr>机路径论——排兵布阵，必须对应物理节点</vt:lpstr>
      <vt:lpstr>动力论——体系有了，为什么推不动？</vt:lpstr>
      <vt:lpstr>动力论——Sponsor举手，形成引力场</vt:lpstr>
      <vt:lpstr>动力论——双核力场</vt:lpstr>
      <vt:lpstr>动力论——两层夹角，都必须消灭</vt:lpstr>
      <vt:lpstr>动力论——权力热耗散与双长制</vt:lpstr>
      <vt:lpstr>进化论——上线，才是衰退的起点</vt:lpstr>
      <vt:lpstr>进化论——哥德尔边界</vt:lpstr>
      <vt:lpstr>进化论——主动运营体系</vt:lpstr>
      <vt:lpstr>进化论——必须有人跳出系统</vt:lpstr>
      <vt:lpstr>进化论——碳硅共生，生生不息</vt:lpstr>
      <vt:lpstr>西方的方案已经远离战场多年 我们需要自主突破</vt:lpstr>
      <vt:lpstr>One Plan协同引擎：如何化解矩阵中的复杂度挑战——横纵生态协同</vt:lpstr>
      <vt:lpstr>从“智能大脑”到“全局指挥中心”：为什么需要Control Tower？</vt:lpstr>
      <vt:lpstr>智能业务规划IBP(Intelligent Business Planning)</vt:lpstr>
      <vt:lpstr>IBP详细流程</vt:lpstr>
      <vt:lpstr>智能战术规划ITP(Intelligent Tactical Planning)</vt:lpstr>
      <vt:lpstr>智能运营计划IOP(Intelligent Operation Planning)</vt:lpstr>
      <vt:lpstr>  IPS(Intelligent Planning Solution)</vt:lpstr>
      <vt:lpstr>IPS – Operation Frequency</vt:lpstr>
      <vt:lpstr>“难”，从业务方案到模型算法的剥丝抽茧</vt:lpstr>
      <vt:lpstr>IOP Intelligent Operational Planning</vt:lpstr>
      <vt:lpstr>PowerPoint 演示文稿</vt:lpstr>
      <vt:lpstr>PowerPoint 演示文稿</vt:lpstr>
      <vt:lpstr>IOP – IPS 情景演示</vt:lpstr>
      <vt:lpstr>场景 #1: 挑战 A</vt:lpstr>
      <vt:lpstr>场景#1: 挑战 B</vt:lpstr>
      <vt:lpstr>场景 #1: 挑战A &amp; B 的方案</vt:lpstr>
      <vt:lpstr>场景 #1: 挑战 C</vt:lpstr>
      <vt:lpstr>场景 #1: 挑战C的方案</vt:lpstr>
      <vt:lpstr>场景 #1: 挑战 D、第1天</vt:lpstr>
      <vt:lpstr>场景 #1: 挑战 D，第2天</vt:lpstr>
      <vt:lpstr>场景 #1: 挑战 D，第3天</vt:lpstr>
      <vt:lpstr>场景 #1: 方案</vt:lpstr>
      <vt:lpstr>IPS 方案 – 情景演示</vt:lpstr>
      <vt:lpstr>场景 #2: 挑战E</vt:lpstr>
      <vt:lpstr>场景 #2: 挑战E</vt:lpstr>
      <vt:lpstr>IPS 方案 – 情景演示</vt:lpstr>
      <vt:lpstr>保交期的物料和资源预留带来的挑战</vt:lpstr>
      <vt:lpstr>物料和资源分配可以优化</vt:lpstr>
      <vt:lpstr>保交期的物料和资源预留带来的挑战</vt:lpstr>
      <vt:lpstr>物料和资源分配可以优化– 供应pull-in带来的挑战</vt:lpstr>
      <vt:lpstr>物料和资源分配可以优化– 供应pull-in带来的挑战</vt:lpstr>
      <vt:lpstr>OTP(Optimized to promise)</vt:lpstr>
      <vt:lpstr>推拉结合的计划模型 – Traditional Algorithms </vt:lpstr>
      <vt:lpstr>推拉结合的计划模型 – Patented Algorithms</vt:lpstr>
      <vt:lpstr>推拉结合的计划模型 – Patented Algorithms(cont.)</vt:lpstr>
      <vt:lpstr>推拉结合的计划模型 – Patented Algorithms(cont.)</vt:lpstr>
      <vt:lpstr>IPC Solution - DEMOs</vt:lpstr>
      <vt:lpstr>资源被前序需求占用</vt:lpstr>
      <vt:lpstr>资源跟前序需求置换（Scenario 1）</vt:lpstr>
      <vt:lpstr>资源跟前序需求置换 (Scenario 2)</vt:lpstr>
      <vt:lpstr>Changeover出现</vt:lpstr>
      <vt:lpstr>继续优化Changeover</vt:lpstr>
      <vt:lpstr>临近区间有资源空闲</vt:lpstr>
      <vt:lpstr>动态填补临近资源</vt:lpstr>
      <vt:lpstr>多级排产</vt:lpstr>
      <vt:lpstr>计划的脊梁-PEGGING</vt:lpstr>
      <vt:lpstr>Alternate Production line/Resource</vt:lpstr>
      <vt:lpstr>主资源先分配，然后可作为替换资源再分配</vt:lpstr>
      <vt:lpstr>可配置仪表盘内置与计划引擎</vt:lpstr>
      <vt:lpstr>ITP Intelligent Tactical Planning</vt:lpstr>
      <vt:lpstr>Prioritization</vt:lpstr>
      <vt:lpstr>优先级 – 从战略到执行的端到端管理</vt:lpstr>
      <vt:lpstr>优先级管理 – 插单</vt:lpstr>
      <vt:lpstr>IPS –主计划和执行计划的协同Allocation/Allotment</vt:lpstr>
      <vt:lpstr>智能战术规划ITP(Intelligent Tactical Planning)</vt:lpstr>
      <vt:lpstr>S&amp;OP/MP落地 - 纵向协同的断点</vt:lpstr>
      <vt:lpstr>Allocation – Examples</vt:lpstr>
      <vt:lpstr>Allocation – Examples 战略优先，公平公正</vt:lpstr>
      <vt:lpstr>Allocation – 战略优先，公平公正</vt:lpstr>
      <vt:lpstr>Allocation – 分配规则与优先级</vt:lpstr>
      <vt:lpstr>Fair Share</vt:lpstr>
      <vt:lpstr>Allocation – 分配的结果作为配额即约束性指导</vt:lpstr>
      <vt:lpstr>纵向协同</vt:lpstr>
      <vt:lpstr>Forecast Consumption</vt:lpstr>
      <vt:lpstr>业务和DT方案 – 效率，响应和柔性 </vt:lpstr>
      <vt:lpstr>业务和DT方案 – 供应链类型与产品匹配</vt:lpstr>
      <vt:lpstr>业务和DT方案 – S&amp;OP  </vt:lpstr>
      <vt:lpstr>SC Network Design </vt:lpstr>
      <vt:lpstr>Forecast Consumption</vt:lpstr>
      <vt:lpstr>Planning BOM – 传统做法</vt:lpstr>
      <vt:lpstr>Planning BOM – 升级</vt:lpstr>
      <vt:lpstr>Supplier Deep Collaboration</vt:lpstr>
      <vt:lpstr>Supplier Deep Collaboration</vt:lpstr>
      <vt:lpstr>Supplier Deep Collaboration</vt:lpstr>
      <vt:lpstr>E2E Intelligent Solutions</vt:lpstr>
      <vt:lpstr>High Performance</vt:lpstr>
      <vt:lpstr>OTP - Traditional Solution</vt:lpstr>
      <vt:lpstr>OTP - Disruptive Solutions</vt:lpstr>
      <vt:lpstr>Level by Level</vt:lpstr>
      <vt:lpstr>替换料</vt:lpstr>
      <vt:lpstr>替换 - Overview</vt:lpstr>
      <vt:lpstr>替换 – Overview（cont.)</vt:lpstr>
      <vt:lpstr>切换 - 硬切</vt:lpstr>
      <vt:lpstr>ECN – 硬切</vt:lpstr>
      <vt:lpstr>切换 - 软切</vt:lpstr>
      <vt:lpstr>ECN – 软切</vt:lpstr>
      <vt:lpstr>Last Time Buy</vt:lpstr>
      <vt:lpstr>寻源规则 - 动态平衡分配，适合灵活调整场景 </vt:lpstr>
      <vt:lpstr>寻源规则 – 优先维持历史分配比例，适合长期的合作关系</vt:lpstr>
      <vt:lpstr>寻源规则 – 动态调整比例，减少因批量导致的超额供应</vt:lpstr>
      <vt:lpstr>不完全替代 – 问题</vt:lpstr>
      <vt:lpstr>不完全替代 – 分析</vt:lpstr>
      <vt:lpstr>不完全替代 – 进一步分析</vt:lpstr>
      <vt:lpstr>不完全替代 – 动态分配步骤一</vt:lpstr>
      <vt:lpstr>不完全替代 – 动态分配步骤二</vt:lpstr>
      <vt:lpstr>组替代 – New Cost示例</vt:lpstr>
      <vt:lpstr>组替代 – New Cost方案</vt:lpstr>
      <vt:lpstr>跨工厂 – By Level</vt:lpstr>
      <vt:lpstr>跨工厂 – By Level</vt:lpstr>
      <vt:lpstr>组替代逻辑</vt:lpstr>
      <vt:lpstr>维度规划Dimension Planning</vt:lpstr>
      <vt:lpstr>维度规划的概念</vt:lpstr>
      <vt:lpstr>场景</vt:lpstr>
      <vt:lpstr>Data Model</vt:lpstr>
      <vt:lpstr>维度规划 – Dimension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博理 孟</dc:creator>
  <cp:lastModifiedBy>博理 孟</cp:lastModifiedBy>
  <cp:revision>74</cp:revision>
  <dcterms:created xsi:type="dcterms:W3CDTF">2026-04-20T06:48:36Z</dcterms:created>
  <dcterms:modified xsi:type="dcterms:W3CDTF">2026-09-18T11:52:57Z</dcterms:modified>
</cp:coreProperties>
</file>